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665" r:id="rId2"/>
    <p:sldId id="582" r:id="rId3"/>
    <p:sldId id="583" r:id="rId4"/>
    <p:sldId id="584" r:id="rId5"/>
    <p:sldId id="585" r:id="rId6"/>
    <p:sldId id="586" r:id="rId7"/>
    <p:sldId id="587" r:id="rId8"/>
    <p:sldId id="588" r:id="rId9"/>
    <p:sldId id="589" r:id="rId10"/>
    <p:sldId id="590" r:id="rId11"/>
    <p:sldId id="591" r:id="rId12"/>
    <p:sldId id="592" r:id="rId13"/>
    <p:sldId id="593" r:id="rId14"/>
    <p:sldId id="594" r:id="rId15"/>
    <p:sldId id="595" r:id="rId16"/>
    <p:sldId id="596" r:id="rId17"/>
    <p:sldId id="597" r:id="rId18"/>
    <p:sldId id="598" r:id="rId19"/>
    <p:sldId id="599" r:id="rId20"/>
    <p:sldId id="666" r:id="rId21"/>
  </p:sldIdLst>
  <p:sldSz cx="9144000" cy="6858000" type="screen4x3"/>
  <p:notesSz cx="6946900" cy="92329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3" autoAdjust="0"/>
    <p:restoredTop sz="94601" autoAdjust="0"/>
  </p:normalViewPr>
  <p:slideViewPr>
    <p:cSldViewPr>
      <p:cViewPr varScale="1">
        <p:scale>
          <a:sx n="141" d="100"/>
          <a:sy n="141" d="100"/>
        </p:scale>
        <p:origin x="1896" y="192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emf"/><Relationship Id="rId6" Type="http://schemas.openxmlformats.org/officeDocument/2006/relationships/image" Target="../media/image18.emf"/><Relationship Id="rId5" Type="http://schemas.openxmlformats.org/officeDocument/2006/relationships/image" Target="../media/image17.wmf"/><Relationship Id="rId4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104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86263"/>
            <a:ext cx="5097463" cy="41513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6066" tIns="48035" rIns="96066" bIns="480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07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6338" y="700088"/>
            <a:ext cx="4597400" cy="3448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41757563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695325"/>
            <a:ext cx="4611687" cy="3459163"/>
          </a:xfrm>
          <a:solidFill>
            <a:srgbClr val="FFFFFF"/>
          </a:solidFill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5513" y="4386263"/>
            <a:ext cx="5095875" cy="415131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865" tIns="45428" rIns="90865" bIns="45428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9568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5617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830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059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63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860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627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49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44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415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609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8964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1116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1116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5000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448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237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29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/>
              <a:t>02/14/2018		</a:t>
            </a:r>
            <a:r>
              <a:rPr lang="en-US" baseline="0" dirty="0"/>
              <a:t>      </a:t>
            </a:r>
            <a:r>
              <a:rPr lang="en-US" dirty="0"/>
              <a:t>Introduction to Data Mining, 2</a:t>
            </a:r>
            <a:r>
              <a:rPr lang="en-US" baseline="30000" dirty="0"/>
              <a:t>nd</a:t>
            </a:r>
            <a:r>
              <a:rPr lang="en-US" dirty="0"/>
              <a:t> Edition 			              </a:t>
            </a:r>
            <a:fld id="{D85E90EB-AD9D-48EC-8D84-2576A3EA70C6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charset="0"/>
        <a:buChar char="–"/>
        <a:defRPr sz="28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3.png"/><Relationship Id="rId4" Type="http://schemas.openxmlformats.org/officeDocument/2006/relationships/image" Target="../media/image22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4.wmf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r>
              <a:rPr lang="en-US" altLang="en-US"/>
              <a:t>Data Mining</a:t>
            </a:r>
            <a:endParaRPr lang="en-US" altLang="en-US" sz="2800"/>
          </a:p>
        </p:txBody>
      </p:sp>
      <p:sp>
        <p:nvSpPr>
          <p:cNvPr id="2051" name="Rectangle 1027"/>
          <p:cNvSpPr>
            <a:spLocks noChangeArrowheads="1"/>
          </p:cNvSpPr>
          <p:nvPr/>
        </p:nvSpPr>
        <p:spPr bwMode="auto">
          <a:xfrm>
            <a:off x="381000" y="1341438"/>
            <a:ext cx="8229600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altLang="en-US" sz="3200" b="0" dirty="0"/>
              <a:t>Lecture Notes for Chapter 4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altLang="en-US" sz="3200" b="0" dirty="0"/>
              <a:t> </a:t>
            </a:r>
            <a:br>
              <a:rPr lang="en-US" altLang="en-US" sz="3200" b="0" dirty="0"/>
            </a:br>
            <a:r>
              <a:rPr lang="en-US" altLang="en-US" sz="3200" b="0" dirty="0"/>
              <a:t>Artificial Neural Networks</a:t>
            </a:r>
            <a:endParaRPr lang="en-US" altLang="en-US" sz="14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3200" b="0" dirty="0"/>
              <a:t>Introduction to Data Mining , 2</a:t>
            </a:r>
            <a:r>
              <a:rPr lang="en-US" altLang="en-US" sz="3200" b="0" baseline="30000" dirty="0"/>
              <a:t>nd</a:t>
            </a:r>
            <a:r>
              <a:rPr lang="en-US" altLang="en-US" sz="3200" b="0" dirty="0"/>
              <a:t> Edition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b="0" dirty="0"/>
              <a:t>by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b="0" dirty="0"/>
              <a:t>Tan, Steinbach, Karpatne, Kumar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Artificial Neural Networks (ANN)</a:t>
            </a:r>
          </a:p>
        </p:txBody>
      </p:sp>
      <p:graphicFrame>
        <p:nvGraphicFramePr>
          <p:cNvPr id="3075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533400" y="1219200"/>
          <a:ext cx="8078788" cy="350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Visio" r:id="rId3" imgW="8939428" imgH="3877354" progId="Visio.Drawing.6">
                  <p:embed/>
                </p:oleObj>
              </mc:Choice>
              <mc:Fallback>
                <p:oleObj name="Visio" r:id="rId3" imgW="8939428" imgH="3877354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8078788" cy="350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143000" y="5334000"/>
            <a:ext cx="670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Output Y is 1 if at least two of the three inputs are equal to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Artificial Neural Networks (ANN)</a:t>
            </a:r>
          </a:p>
        </p:txBody>
      </p:sp>
      <p:graphicFrame>
        <p:nvGraphicFramePr>
          <p:cNvPr id="4099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530225" y="1144588"/>
          <a:ext cx="8078788" cy="350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Visio" r:id="rId3" imgW="8939428" imgH="3877354" progId="Visio.Drawing.6">
                  <p:embed/>
                </p:oleObj>
              </mc:Choice>
              <mc:Fallback>
                <p:oleObj name="Visio" r:id="rId3" imgW="8939428" imgH="3877354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1144588"/>
                        <a:ext cx="8078788" cy="350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3"/>
          <p:cNvGraphicFramePr>
            <a:graphicFrameLocks noChangeAspect="1"/>
          </p:cNvGraphicFramePr>
          <p:nvPr/>
        </p:nvGraphicFramePr>
        <p:xfrm>
          <a:off x="1931988" y="4953000"/>
          <a:ext cx="5346700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5" imgW="2362200" imgH="711200" progId="Equation.3">
                  <p:embed/>
                </p:oleObj>
              </mc:Choice>
              <mc:Fallback>
                <p:oleObj name="Equation" r:id="rId5" imgW="2362200" imgH="7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988" y="4953000"/>
                        <a:ext cx="5346700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Artificial Neural Networks (ANN)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Model is an assembly of inter-connected nodes and weighted links</a:t>
            </a:r>
          </a:p>
          <a:p>
            <a:endParaRPr lang="en-US" altLang="en-US" sz="2400"/>
          </a:p>
          <a:p>
            <a:r>
              <a:rPr lang="en-US" altLang="en-US" sz="2400"/>
              <a:t>Output node sums up each of its input value according to the weights of its links</a:t>
            </a:r>
          </a:p>
          <a:p>
            <a:endParaRPr lang="en-US" altLang="en-US" sz="2400"/>
          </a:p>
          <a:p>
            <a:r>
              <a:rPr lang="en-US" altLang="en-US" sz="2400"/>
              <a:t>Compare output node against some threshold t</a:t>
            </a:r>
          </a:p>
        </p:txBody>
      </p:sp>
      <p:graphicFrame>
        <p:nvGraphicFramePr>
          <p:cNvPr id="5124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267200" y="990600"/>
          <a:ext cx="4800600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Visio" r:id="rId3" imgW="6766001" imgH="4291319" progId="Visio.Drawing.6">
                  <p:embed/>
                </p:oleObj>
              </mc:Choice>
              <mc:Fallback>
                <p:oleObj name="Visio" r:id="rId3" imgW="6766001" imgH="4291319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990600"/>
                        <a:ext cx="4800600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4572000" y="3962400"/>
            <a:ext cx="2590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Perceptron Model</a:t>
            </a:r>
          </a:p>
        </p:txBody>
      </p:sp>
      <p:graphicFrame>
        <p:nvGraphicFramePr>
          <p:cNvPr id="5126" name="Object 3"/>
          <p:cNvGraphicFramePr>
            <a:graphicFrameLocks noChangeAspect="1"/>
          </p:cNvGraphicFramePr>
          <p:nvPr/>
        </p:nvGraphicFramePr>
        <p:xfrm>
          <a:off x="5410200" y="4419600"/>
          <a:ext cx="2901950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Equation" r:id="rId5" imgW="1333500" imgH="889000" progId="Equation.3">
                  <p:embed/>
                </p:oleObj>
              </mc:Choice>
              <mc:Fallback>
                <p:oleObj name="Equation" r:id="rId5" imgW="1333500" imgH="889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19600"/>
                        <a:ext cx="2901950" cy="193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General Structure of ANN</a:t>
            </a:r>
          </a:p>
        </p:txBody>
      </p:sp>
      <p:graphicFrame>
        <p:nvGraphicFramePr>
          <p:cNvPr id="6147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4572000" y="1981200"/>
          <a:ext cx="4419600" cy="246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Visio" r:id="rId3" imgW="7962595" imgH="4433250" progId="Visio.Drawing.11">
                  <p:embed/>
                </p:oleObj>
              </mc:Choice>
              <mc:Fallback>
                <p:oleObj name="Visio" r:id="rId3" imgW="7962595" imgH="443325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981200"/>
                        <a:ext cx="4419600" cy="246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381000" y="1143000"/>
          <a:ext cx="390525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Visio" r:id="rId5" imgW="5417922" imgH="6555254" progId="Visio.Drawing.6">
                  <p:embed/>
                </p:oleObj>
              </mc:Choice>
              <mc:Fallback>
                <p:oleObj name="Visio" r:id="rId5" imgW="5417922" imgH="6555254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3905250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5334000" y="4800600"/>
            <a:ext cx="3505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Training ANN means learning the weights of the neurons</a:t>
            </a:r>
          </a:p>
        </p:txBody>
      </p:sp>
      <p:sp>
        <p:nvSpPr>
          <p:cNvPr id="6150" name="AutoShape 6"/>
          <p:cNvSpPr>
            <a:spLocks noChangeArrowheads="1"/>
          </p:cNvSpPr>
          <p:nvPr/>
        </p:nvSpPr>
        <p:spPr bwMode="auto">
          <a:xfrm>
            <a:off x="3429000" y="3886200"/>
            <a:ext cx="2743200" cy="685800"/>
          </a:xfrm>
          <a:prstGeom prst="curvedUpArrow">
            <a:avLst>
              <a:gd name="adj1" fmla="val 44296"/>
              <a:gd name="adj2" fmla="val 124296"/>
              <a:gd name="adj3" fmla="val 3729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Artificial Neural Networks (ANN)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Various types of neural network topology</a:t>
            </a:r>
          </a:p>
          <a:p>
            <a:pPr lvl="1"/>
            <a:r>
              <a:rPr lang="en-US" altLang="en-US" dirty="0"/>
              <a:t>single-layered network (perceptron) versus </a:t>
            </a:r>
            <a:br>
              <a:rPr lang="en-US" altLang="en-US" dirty="0"/>
            </a:br>
            <a:r>
              <a:rPr lang="en-US" altLang="en-US" dirty="0"/>
              <a:t>multi-layered network</a:t>
            </a:r>
          </a:p>
          <a:p>
            <a:pPr lvl="1"/>
            <a:r>
              <a:rPr lang="en-US" altLang="en-US" dirty="0"/>
              <a:t>Feed-forward versus recurrent network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Various types of </a:t>
            </a:r>
            <a:br>
              <a:rPr lang="en-US" altLang="en-US" dirty="0"/>
            </a:br>
            <a:r>
              <a:rPr lang="en-US" altLang="en-US" dirty="0"/>
              <a:t>activation functions (f)</a:t>
            </a:r>
          </a:p>
          <a:p>
            <a:pPr lvl="1"/>
            <a:endParaRPr lang="en-US" altLang="en-US" dirty="0"/>
          </a:p>
        </p:txBody>
      </p:sp>
      <p:graphicFrame>
        <p:nvGraphicFramePr>
          <p:cNvPr id="7172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066800" y="4957763"/>
          <a:ext cx="24034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Equation" r:id="rId3" imgW="990360" imgH="342720" progId="Equation.3">
                  <p:embed/>
                </p:oleObj>
              </mc:Choice>
              <mc:Fallback>
                <p:oleObj name="Equation" r:id="rId3" imgW="990360" imgH="3427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957763"/>
                        <a:ext cx="240347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3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262313"/>
            <a:ext cx="4083050" cy="3062287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Perceptron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Single layer network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Contains only input and output nodes</a:t>
            </a:r>
          </a:p>
          <a:p>
            <a:pPr lvl="3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Activation function:  f = sign(</a:t>
            </a:r>
            <a:r>
              <a:rPr lang="en-US" altLang="en-US" dirty="0" err="1"/>
              <a:t>w</a:t>
            </a:r>
            <a:r>
              <a:rPr lang="en-US" altLang="en-US" dirty="0" err="1">
                <a:sym typeface="Symbol" pitchFamily="18" charset="2"/>
              </a:rPr>
              <a:t></a:t>
            </a:r>
            <a:r>
              <a:rPr lang="en-US" altLang="en-US" dirty="0" err="1"/>
              <a:t>x</a:t>
            </a:r>
            <a:r>
              <a:rPr lang="en-US" altLang="en-US" dirty="0"/>
              <a:t>)</a:t>
            </a:r>
          </a:p>
          <a:p>
            <a:pPr lvl="3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Applying model is straightforward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 = 1, X</a:t>
            </a:r>
            <a:r>
              <a:rPr lang="en-US" altLang="en-US" baseline="-25000" dirty="0"/>
              <a:t>2</a:t>
            </a:r>
            <a:r>
              <a:rPr lang="en-US" altLang="en-US" dirty="0"/>
              <a:t> = 0, X</a:t>
            </a:r>
            <a:r>
              <a:rPr lang="en-US" altLang="en-US" baseline="-25000" dirty="0"/>
              <a:t>3</a:t>
            </a:r>
            <a:r>
              <a:rPr lang="en-US" altLang="en-US" dirty="0"/>
              <a:t> =1 =&gt; y = sign(0.2) = 1</a:t>
            </a:r>
          </a:p>
        </p:txBody>
      </p:sp>
      <p:graphicFrame>
        <p:nvGraphicFramePr>
          <p:cNvPr id="8196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828800" y="3886200"/>
          <a:ext cx="5257800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Equation" r:id="rId3" imgW="2362200" imgH="711200" progId="Equation.3">
                  <p:embed/>
                </p:oleObj>
              </mc:Choice>
              <mc:Fallback>
                <p:oleObj name="Equation" r:id="rId3" imgW="23622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86200"/>
                        <a:ext cx="5257800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Perceptron Learning Rule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Initialize the weights (w</a:t>
            </a:r>
            <a:r>
              <a:rPr lang="en-US" altLang="en-US" baseline="-25000"/>
              <a:t>0</a:t>
            </a:r>
            <a:r>
              <a:rPr lang="en-US" altLang="en-US"/>
              <a:t>, w</a:t>
            </a:r>
            <a:r>
              <a:rPr lang="en-US" altLang="en-US" baseline="-25000"/>
              <a:t>1</a:t>
            </a:r>
            <a:r>
              <a:rPr lang="en-US" altLang="en-US"/>
              <a:t>, …, w</a:t>
            </a:r>
            <a:r>
              <a:rPr lang="en-US" altLang="en-US" baseline="-25000"/>
              <a:t>d</a:t>
            </a:r>
            <a:r>
              <a:rPr lang="en-US" altLang="en-US"/>
              <a:t>)</a:t>
            </a:r>
          </a:p>
          <a:p>
            <a:r>
              <a:rPr lang="en-US" altLang="en-US"/>
              <a:t>Repeat</a:t>
            </a:r>
          </a:p>
          <a:p>
            <a:pPr lvl="1"/>
            <a:r>
              <a:rPr lang="en-US" altLang="en-US"/>
              <a:t>For each training example (x</a:t>
            </a:r>
            <a:r>
              <a:rPr lang="en-US" altLang="en-US" baseline="-25000"/>
              <a:t>i</a:t>
            </a:r>
            <a:r>
              <a:rPr lang="en-US" altLang="en-US"/>
              <a:t>, y</a:t>
            </a:r>
            <a:r>
              <a:rPr lang="en-US" altLang="en-US" baseline="-25000"/>
              <a:t>i</a:t>
            </a:r>
            <a:r>
              <a:rPr lang="en-US" altLang="en-US"/>
              <a:t>)</a:t>
            </a:r>
          </a:p>
          <a:p>
            <a:pPr lvl="2"/>
            <a:r>
              <a:rPr lang="en-US" altLang="en-US"/>
              <a:t> Compute f(w, x</a:t>
            </a:r>
            <a:r>
              <a:rPr lang="en-US" altLang="en-US" baseline="-25000"/>
              <a:t>i</a:t>
            </a:r>
            <a:r>
              <a:rPr lang="en-US" altLang="en-US"/>
              <a:t>)</a:t>
            </a:r>
          </a:p>
          <a:p>
            <a:pPr lvl="2"/>
            <a:r>
              <a:rPr lang="en-US" altLang="en-US"/>
              <a:t> Update the weights: </a:t>
            </a:r>
          </a:p>
          <a:p>
            <a:pPr lvl="2"/>
            <a:endParaRPr lang="en-US" altLang="en-US"/>
          </a:p>
          <a:p>
            <a:pPr lvl="2"/>
            <a:endParaRPr lang="en-US" altLang="en-US"/>
          </a:p>
          <a:p>
            <a:r>
              <a:rPr lang="en-US" altLang="en-US"/>
              <a:t>Until stopping condition is met</a:t>
            </a:r>
          </a:p>
        </p:txBody>
      </p:sp>
      <p:graphicFrame>
        <p:nvGraphicFramePr>
          <p:cNvPr id="9220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667000" y="3716338"/>
          <a:ext cx="48768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Equation" r:id="rId3" imgW="2082800" imgH="241300" progId="Equation.3">
                  <p:embed/>
                </p:oleObj>
              </mc:Choice>
              <mc:Fallback>
                <p:oleObj name="Equation" r:id="rId3" imgW="20828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716338"/>
                        <a:ext cx="48768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Perceptron Learning Rule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Weight update formula: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Intuition:</a:t>
            </a:r>
          </a:p>
          <a:p>
            <a:pPr lvl="1"/>
            <a:r>
              <a:rPr lang="en-US" altLang="en-US"/>
              <a:t>Update weight based on error:  </a:t>
            </a:r>
          </a:p>
          <a:p>
            <a:pPr lvl="1"/>
            <a:r>
              <a:rPr lang="en-US" altLang="en-US"/>
              <a:t>If y=f(x,w), e=0: no update needed</a:t>
            </a:r>
          </a:p>
          <a:p>
            <a:pPr lvl="1"/>
            <a:r>
              <a:rPr lang="en-US" altLang="en-US"/>
              <a:t>If y&gt;f(x,w), e=2: weight must be increased so that f(x,w) will increase</a:t>
            </a:r>
          </a:p>
          <a:p>
            <a:pPr lvl="1"/>
            <a:r>
              <a:rPr lang="en-US" altLang="en-US"/>
              <a:t>If y&lt;f(x,w), e=-2: weight must be decreased so that f(x,w) will decrease</a:t>
            </a:r>
          </a:p>
        </p:txBody>
      </p:sp>
      <p:graphicFrame>
        <p:nvGraphicFramePr>
          <p:cNvPr id="10244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066800" y="1830388"/>
          <a:ext cx="7620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name="Equation" r:id="rId3" imgW="3213100" imgH="241300" progId="Equation.3">
                  <p:embed/>
                </p:oleObj>
              </mc:Choice>
              <mc:Fallback>
                <p:oleObj name="Equation" r:id="rId3" imgW="32131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830388"/>
                        <a:ext cx="76200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248400" y="3225800"/>
          <a:ext cx="2590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name="Equation" r:id="rId5" imgW="1231366" imgH="241195" progId="Equation.3">
                  <p:embed/>
                </p:oleObj>
              </mc:Choice>
              <mc:Fallback>
                <p:oleObj name="Equation" r:id="rId5" imgW="1231366" imgH="2411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225800"/>
                        <a:ext cx="2590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altLang="en-US"/>
              <a:t>Example of Perceptron Learning</a:t>
            </a:r>
          </a:p>
        </p:txBody>
      </p:sp>
      <p:graphicFrame>
        <p:nvGraphicFramePr>
          <p:cNvPr id="11267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52400" y="3352800"/>
          <a:ext cx="181927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" name="Worksheet" r:id="rId3" imgW="2445859" imgH="2979548" progId="Excel.Sheet.8">
                  <p:embed/>
                </p:oleObj>
              </mc:Choice>
              <mc:Fallback>
                <p:oleObj name="Worksheet" r:id="rId3" imgW="2445859" imgH="2979548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352800"/>
                        <a:ext cx="1819275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09600" y="1219200"/>
          <a:ext cx="54864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" name="Equation" r:id="rId5" imgW="2082800" imgH="241300" progId="Equation.3">
                  <p:embed/>
                </p:oleObj>
              </mc:Choice>
              <mc:Fallback>
                <p:oleObj name="Equation" r:id="rId5" imgW="20828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219200"/>
                        <a:ext cx="54864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3400" y="1905000"/>
          <a:ext cx="22098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" name="Equation" r:id="rId7" imgW="1143000" imgH="431640" progId="Equation.3">
                  <p:embed/>
                </p:oleObj>
              </mc:Choice>
              <mc:Fallback>
                <p:oleObj name="Equation" r:id="rId7" imgW="11430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05000"/>
                        <a:ext cx="22098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5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854498954"/>
              </p:ext>
            </p:extLst>
          </p:nvPr>
        </p:nvGraphicFramePr>
        <p:xfrm>
          <a:off x="6172200" y="3352800"/>
          <a:ext cx="2760902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4" name="Worksheet" r:id="rId9" imgW="3169848" imgH="2712744" progId="Excel.Sheet.8">
                  <p:embed/>
                </p:oleObj>
              </mc:Choice>
              <mc:Fallback>
                <p:oleObj name="Worksheet" r:id="rId9" imgW="3169848" imgH="2712744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352800"/>
                        <a:ext cx="2760902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6"/>
          <p:cNvGraphicFramePr>
            <a:graphicFrameLocks noChangeAspect="1"/>
          </p:cNvGraphicFramePr>
          <p:nvPr/>
        </p:nvGraphicFramePr>
        <p:xfrm>
          <a:off x="3581400" y="2895600"/>
          <a:ext cx="908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5" name="Equation" r:id="rId11" imgW="469800" imgH="177480" progId="Equation.3">
                  <p:embed/>
                </p:oleObj>
              </mc:Choice>
              <mc:Fallback>
                <p:oleObj name="Equation" r:id="rId11" imgW="469800" imgH="177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895600"/>
                        <a:ext cx="9080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700829"/>
              </p:ext>
            </p:extLst>
          </p:nvPr>
        </p:nvGraphicFramePr>
        <p:xfrm>
          <a:off x="2667000" y="3352800"/>
          <a:ext cx="3144838" cy="265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" name="Worksheet" r:id="rId13" imgW="3916712" imgH="3291840" progId="Excel.Sheet.8">
                  <p:embed/>
                </p:oleObj>
              </mc:Choice>
              <mc:Fallback>
                <p:oleObj name="Worksheet" r:id="rId13" imgW="3916712" imgH="329184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352800"/>
                        <a:ext cx="3144838" cy="265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Perceptron Learning Rule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Since f(w,x) is a linear </a:t>
            </a:r>
            <a:br>
              <a:rPr lang="en-US" altLang="en-US"/>
            </a:br>
            <a:r>
              <a:rPr lang="en-US" altLang="en-US"/>
              <a:t>combination of input </a:t>
            </a:r>
            <a:br>
              <a:rPr lang="en-US" altLang="en-US"/>
            </a:br>
            <a:r>
              <a:rPr lang="en-US" altLang="en-US"/>
              <a:t>variables, decision </a:t>
            </a:r>
            <a:br>
              <a:rPr lang="en-US" altLang="en-US"/>
            </a:br>
            <a:r>
              <a:rPr lang="en-US" altLang="en-US"/>
              <a:t>boundary is linear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For nonlinearly separable problems, perceptron learning algorithm will fail because no linear hyperplane can separate the data perfectly </a:t>
            </a:r>
          </a:p>
        </p:txBody>
      </p:sp>
      <p:pic>
        <p:nvPicPr>
          <p:cNvPr id="12292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1219200"/>
            <a:ext cx="4083050" cy="3062288"/>
          </a:xfr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Nonlinearly Separable Data</a:t>
            </a:r>
          </a:p>
        </p:txBody>
      </p:sp>
      <p:graphicFrame>
        <p:nvGraphicFramePr>
          <p:cNvPr id="13315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685800" y="2066925"/>
          <a:ext cx="7924800" cy="402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name="VISIO" r:id="rId3" imgW="9586620" imgH="4684064" progId="Visio.Drawing.6">
                  <p:embed/>
                </p:oleObj>
              </mc:Choice>
              <mc:Fallback>
                <p:oleObj name="VISIO" r:id="rId3" imgW="9586620" imgH="4684064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922"/>
                      <a:stretch>
                        <a:fillRect/>
                      </a:stretch>
                    </p:blipFill>
                    <p:spPr bwMode="auto">
                      <a:xfrm>
                        <a:off x="685800" y="2066925"/>
                        <a:ext cx="7924800" cy="402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685800" y="2133600"/>
          <a:ext cx="20923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1" name="Equation" r:id="rId5" imgW="710891" imgH="215806" progId="Equation.3">
                  <p:embed/>
                </p:oleObj>
              </mc:Choice>
              <mc:Fallback>
                <p:oleObj name="Equation" r:id="rId5" imgW="710891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133600"/>
                        <a:ext cx="209232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5486400" y="1676400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XOR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Multilayer Neural Network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Hidden layers</a:t>
            </a:r>
          </a:p>
          <a:p>
            <a:pPr lvl="1"/>
            <a:r>
              <a:rPr lang="en-US" altLang="en-US" dirty="0"/>
              <a:t>intermediary layers between input &amp; output layers</a:t>
            </a:r>
          </a:p>
          <a:p>
            <a:pPr marL="0" indent="0">
              <a:buNone/>
            </a:pPr>
            <a:endParaRPr lang="en-US" altLang="en-US"/>
          </a:p>
          <a:p>
            <a:pPr lvl="1"/>
            <a:endParaRPr lang="en-US" altLang="en-US" dirty="0"/>
          </a:p>
          <a:p>
            <a:r>
              <a:rPr lang="en-US" altLang="en-US" dirty="0"/>
              <a:t>More general activation functions (sigmoid, linear, </a:t>
            </a:r>
            <a:r>
              <a:rPr lang="en-US" altLang="en-US" dirty="0" err="1"/>
              <a:t>etc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Multi-layer Neural Network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Multi-layer neural network can solve any type of classification task involving nonlinear decision surfaces</a:t>
            </a:r>
          </a:p>
        </p:txBody>
      </p:sp>
      <p:graphicFrame>
        <p:nvGraphicFramePr>
          <p:cNvPr id="15364" name="Object 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57200" y="3276600"/>
          <a:ext cx="398145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" name="Visio" r:id="rId3" imgW="6980428" imgH="4408899" progId="Visio.Drawing.6">
                  <p:embed/>
                </p:oleObj>
              </mc:Choice>
              <mc:Fallback>
                <p:oleObj name="Visio" r:id="rId3" imgW="6980428" imgH="4408899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76600"/>
                        <a:ext cx="398145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5" name="Picture 5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838450"/>
            <a:ext cx="4343400" cy="3257550"/>
          </a:xfrm>
          <a:noFill/>
        </p:spPr>
      </p:pic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5715000" y="2514600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XOR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Multi-layer Neural Network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Can we apply perceptron learning rule to each node, including hidden nodes?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Perceptron learning rule computes error term e = y-f(</a:t>
            </a:r>
            <a:r>
              <a:rPr lang="en-US" altLang="en-US" dirty="0" err="1"/>
              <a:t>w,x</a:t>
            </a:r>
            <a:r>
              <a:rPr lang="en-US" altLang="en-US" dirty="0"/>
              <a:t>) and updates weights accordingly</a:t>
            </a:r>
          </a:p>
          <a:p>
            <a:pPr marL="1254125" lvl="2" indent="-339725">
              <a:lnSpc>
                <a:spcPct val="90000"/>
              </a:lnSpc>
            </a:pPr>
            <a:r>
              <a:rPr lang="en-US" altLang="en-US" dirty="0"/>
              <a:t>Problem: how to determine the true value of y for hidden nodes?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Approximate error in hidden nodes by error in the output nodes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 Problem: 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Not clear how adjustment in the hidden nodes affect overall error 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No guarantee of convergence to optimal solution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Gradient Descent for Multilayer NN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Weight update: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Error function: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Activation function f must be differentiable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For sigmoid function: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Stochastic gradient descent (update the weight immediately)</a:t>
            </a:r>
          </a:p>
        </p:txBody>
      </p:sp>
      <p:graphicFrame>
        <p:nvGraphicFramePr>
          <p:cNvPr id="17412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429000" y="1066800"/>
          <a:ext cx="28956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6" name="Equation" r:id="rId3" imgW="1282700" imgH="444500" progId="Equation.3">
                  <p:embed/>
                </p:oleObj>
              </mc:Choice>
              <mc:Fallback>
                <p:oleObj name="Equation" r:id="rId3" imgW="12827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066800"/>
                        <a:ext cx="28956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429000" y="1981200"/>
          <a:ext cx="34290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7" name="Equation" r:id="rId5" imgW="1663700" imgH="482600" progId="Equation.3">
                  <p:embed/>
                </p:oleObj>
              </mc:Choice>
              <mc:Fallback>
                <p:oleObj name="Equation" r:id="rId5" imgW="16637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981200"/>
                        <a:ext cx="34290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209800" y="4648200"/>
          <a:ext cx="49530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8" name="Equation" r:id="rId7" imgW="2298700" imgH="342900" progId="Equation.3">
                  <p:embed/>
                </p:oleObj>
              </mc:Choice>
              <mc:Fallback>
                <p:oleObj name="Equation" r:id="rId7" imgW="2298700" imgH="342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648200"/>
                        <a:ext cx="49530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96000" y="3505200"/>
                <a:ext cx="3048000" cy="1076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charset="0"/>
                      </a:rPr>
                      <m:t>𝒐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𝟏</m:t>
                        </m:r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l-GR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b="1" i="1" smtClean="0">
                                <a:solidFill>
                                  <a:srgbClr val="0000FF"/>
                                </a:solidFill>
                                <a:latin typeface="Cambria Math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l-GR" b="1" i="1" smtClean="0">
                                <a:solidFill>
                                  <a:srgbClr val="0000FF"/>
                                </a:solidFill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charset="0"/>
                              </a:rPr>
                              <m:t>𝒚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from sigmoid output, where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charset="0"/>
                      </a:rPr>
                      <m:t>𝒚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1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charset="0"/>
                              </a:rPr>
                              <m:t>𝒋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00FF"/>
                                </a:solidFill>
                                <a:latin typeface="Cambria Math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charset="0"/>
                      </a:rPr>
                      <m:t>𝒕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the revised output from down-stream neuron (also based on GD).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505200"/>
                <a:ext cx="3048000" cy="1076770"/>
              </a:xfrm>
              <a:prstGeom prst="rect">
                <a:avLst/>
              </a:prstGeom>
              <a:blipFill rotWithShape="0">
                <a:blip r:embed="rId9"/>
                <a:stretch>
                  <a:fillRect l="-600" t="-565" r="-600" b="-4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Gradient Descent for MultiLayer NN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For output neurons, weight update formula is the same as before (gradient descent for perceptron)</a:t>
            </a:r>
          </a:p>
          <a:p>
            <a:endParaRPr lang="en-US" altLang="en-US" sz="2400"/>
          </a:p>
          <a:p>
            <a:r>
              <a:rPr lang="en-US" altLang="en-US" sz="2400"/>
              <a:t>For hidden neurons:</a:t>
            </a:r>
          </a:p>
        </p:txBody>
      </p:sp>
      <p:graphicFrame>
        <p:nvGraphicFramePr>
          <p:cNvPr id="18436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762000" y="4311650"/>
          <a:ext cx="5334000" cy="216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Equation" r:id="rId3" imgW="2501900" imgH="1016000" progId="Equation.3">
                  <p:embed/>
                </p:oleObj>
              </mc:Choice>
              <mc:Fallback>
                <p:oleObj name="Equation" r:id="rId3" imgW="2501900" imgH="1016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311650"/>
                        <a:ext cx="5334000" cy="216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4800600" y="1143000"/>
          <a:ext cx="4006850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name="Visio" r:id="rId5" imgW="6912153" imgH="5175951" progId="Visio.Drawing.6">
                  <p:embed/>
                </p:oleObj>
              </mc:Choice>
              <mc:Fallback>
                <p:oleObj name="Visio" r:id="rId5" imgW="6912153" imgH="5175951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143000"/>
                        <a:ext cx="4006850" cy="300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Issues in ANN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Number of nodes in input layer </a:t>
            </a:r>
          </a:p>
          <a:p>
            <a:pPr lvl="1"/>
            <a:r>
              <a:rPr lang="en-US" altLang="en-US"/>
              <a:t>One input node per binary/continuous attribute</a:t>
            </a:r>
          </a:p>
          <a:p>
            <a:pPr lvl="1"/>
            <a:r>
              <a:rPr lang="en-US" altLang="en-US"/>
              <a:t>k or log</a:t>
            </a:r>
            <a:r>
              <a:rPr lang="en-US" altLang="en-US" baseline="-25000"/>
              <a:t>2</a:t>
            </a:r>
            <a:r>
              <a:rPr lang="en-US" altLang="en-US"/>
              <a:t> k nodes for each categorical attribute with k values</a:t>
            </a:r>
          </a:p>
          <a:p>
            <a:r>
              <a:rPr lang="en-US" altLang="en-US"/>
              <a:t>Number of nodes in output layer</a:t>
            </a:r>
          </a:p>
          <a:p>
            <a:pPr lvl="1"/>
            <a:r>
              <a:rPr lang="en-US" altLang="en-US"/>
              <a:t>One output for binary class problem</a:t>
            </a:r>
          </a:p>
          <a:p>
            <a:pPr lvl="1"/>
            <a:r>
              <a:rPr lang="en-US" altLang="en-US"/>
              <a:t>k or log</a:t>
            </a:r>
            <a:r>
              <a:rPr lang="en-US" altLang="en-US" baseline="-25000"/>
              <a:t>2</a:t>
            </a:r>
            <a:r>
              <a:rPr lang="en-US" altLang="en-US"/>
              <a:t> k nodes for k-class problem</a:t>
            </a:r>
          </a:p>
          <a:p>
            <a:r>
              <a:rPr lang="en-US" altLang="en-US"/>
              <a:t>Number of nodes in hidden layer</a:t>
            </a:r>
          </a:p>
          <a:p>
            <a:r>
              <a:rPr lang="en-US" altLang="en-US"/>
              <a:t>Initial weights and biases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Characteristics of ANN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Multilayer ANN are universal </a:t>
            </a:r>
            <a:r>
              <a:rPr lang="en-US" altLang="en-US" sz="2400" dirty="0" err="1"/>
              <a:t>approximators</a:t>
            </a:r>
            <a:r>
              <a:rPr lang="en-US" altLang="en-US" sz="2400" dirty="0"/>
              <a:t> but could suffer from </a:t>
            </a:r>
            <a:r>
              <a:rPr lang="en-US" altLang="en-US" sz="2400" dirty="0" err="1"/>
              <a:t>overfitting</a:t>
            </a:r>
            <a:r>
              <a:rPr lang="en-US" altLang="en-US" sz="2400" dirty="0"/>
              <a:t> if the network is too large</a:t>
            </a:r>
          </a:p>
          <a:p>
            <a:r>
              <a:rPr lang="en-US" altLang="en-US" sz="2400" dirty="0"/>
              <a:t>Gradient descent may converge to local minimum</a:t>
            </a:r>
          </a:p>
          <a:p>
            <a:r>
              <a:rPr lang="en-US" altLang="en-US" sz="2400" dirty="0"/>
              <a:t>Model building can be very time consuming, but testing can be very fast </a:t>
            </a:r>
          </a:p>
          <a:p>
            <a:r>
              <a:rPr lang="en-US" altLang="en-US" sz="2400" dirty="0"/>
              <a:t>Can handle redundant attributes because weights are automatically learnt</a:t>
            </a:r>
          </a:p>
          <a:p>
            <a:r>
              <a:rPr lang="en-US" altLang="en-US" sz="2400" dirty="0"/>
              <a:t>Sensitive to noise in training data</a:t>
            </a:r>
          </a:p>
          <a:p>
            <a:r>
              <a:rPr lang="en-US" altLang="en-US" sz="2400" dirty="0"/>
              <a:t>Difficult to handle missing attributes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Recent Noteworthy Developments in ANN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in deep learning and unsupervised feature learning </a:t>
            </a:r>
          </a:p>
          <a:p>
            <a:pPr lvl="1"/>
            <a:r>
              <a:rPr lang="en-US" dirty="0"/>
              <a:t>Seek to automatically learn a good representation of the input from unlabeled data</a:t>
            </a:r>
          </a:p>
          <a:p>
            <a:r>
              <a:rPr lang="en-US" dirty="0"/>
              <a:t>Google Brain project </a:t>
            </a:r>
          </a:p>
          <a:p>
            <a:pPr lvl="1"/>
            <a:r>
              <a:rPr lang="en-US" dirty="0"/>
              <a:t>Learned the concept of a ‘cat’ by looking at unlabeled pictures from YouTube</a:t>
            </a:r>
          </a:p>
          <a:p>
            <a:pPr lvl="1"/>
            <a:r>
              <a:rPr lang="en-US" dirty="0"/>
              <a:t>One billion connection network</a:t>
            </a:r>
          </a:p>
          <a:p>
            <a:pPr marL="457200" lvl="1" indent="0">
              <a:buNone/>
            </a:pP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3867108"/>
      </p:ext>
    </p:extLst>
  </p:cSld>
  <p:clrMapOvr>
    <a:masterClrMapping/>
  </p:clrMapOvr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146477449</TotalTime>
  <Pages>3</Pages>
  <Words>748</Words>
  <Application>Microsoft Macintosh PowerPoint</Application>
  <PresentationFormat>On-screen Show (4:3)</PresentationFormat>
  <Paragraphs>121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Cambria Math</vt:lpstr>
      <vt:lpstr>Monotype Sorts</vt:lpstr>
      <vt:lpstr>Tahoma</vt:lpstr>
      <vt:lpstr>Times New Roman</vt:lpstr>
      <vt:lpstr>Wingdings</vt:lpstr>
      <vt:lpstr>LC.BRev.FY97</vt:lpstr>
      <vt:lpstr>Visio</vt:lpstr>
      <vt:lpstr>Equation</vt:lpstr>
      <vt:lpstr>Worksheet</vt:lpstr>
      <vt:lpstr>VISIO</vt:lpstr>
      <vt:lpstr>Data Mining</vt:lpstr>
      <vt:lpstr>Artificial Neural Networks (ANN)</vt:lpstr>
      <vt:lpstr>Artificial Neural Networks (ANN)</vt:lpstr>
      <vt:lpstr>Artificial Neural Networks (ANN)</vt:lpstr>
      <vt:lpstr>General Structure of ANN</vt:lpstr>
      <vt:lpstr>Artificial Neural Networks (ANN)</vt:lpstr>
      <vt:lpstr>Perceptron</vt:lpstr>
      <vt:lpstr>Perceptron Learning Rule</vt:lpstr>
      <vt:lpstr>Perceptron Learning Rule</vt:lpstr>
      <vt:lpstr>Example of Perceptron Learning</vt:lpstr>
      <vt:lpstr>Perceptron Learning Rule</vt:lpstr>
      <vt:lpstr>Nonlinearly Separable Data</vt:lpstr>
      <vt:lpstr>Multilayer Neural Network</vt:lpstr>
      <vt:lpstr>Multi-layer Neural Network</vt:lpstr>
      <vt:lpstr>Learning Multi-layer Neural Network</vt:lpstr>
      <vt:lpstr>Gradient Descent for Multilayer NN</vt:lpstr>
      <vt:lpstr>Gradient Descent for MultiLayer NN</vt:lpstr>
      <vt:lpstr>Design Issues in ANN</vt:lpstr>
      <vt:lpstr>Characteristics of ANN</vt:lpstr>
      <vt:lpstr>Recent Noteworthy Developments in ANN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Ryan Balachandran</cp:lastModifiedBy>
  <cp:revision>384</cp:revision>
  <cp:lastPrinted>2001-08-28T17:59:37Z</cp:lastPrinted>
  <dcterms:created xsi:type="dcterms:W3CDTF">1998-03-18T13:44:31Z</dcterms:created>
  <dcterms:modified xsi:type="dcterms:W3CDTF">2021-10-13T21:15:49Z</dcterms:modified>
</cp:coreProperties>
</file>