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283" r:id="rId2"/>
    <p:sldId id="285" r:id="rId3"/>
    <p:sldId id="286" r:id="rId4"/>
    <p:sldId id="287" r:id="rId5"/>
    <p:sldId id="288" r:id="rId6"/>
    <p:sldId id="289" r:id="rId7"/>
    <p:sldId id="290" r:id="rId8"/>
    <p:sldId id="291" r:id="rId9"/>
    <p:sldId id="292" r:id="rId10"/>
    <p:sldId id="293" r:id="rId11"/>
    <p:sldId id="317" r:id="rId12"/>
    <p:sldId id="320" r:id="rId13"/>
    <p:sldId id="299" r:id="rId14"/>
    <p:sldId id="319" r:id="rId15"/>
    <p:sldId id="300" r:id="rId16"/>
    <p:sldId id="301" r:id="rId17"/>
    <p:sldId id="302" r:id="rId18"/>
    <p:sldId id="304" r:id="rId19"/>
    <p:sldId id="305" r:id="rId20"/>
    <p:sldId id="306" r:id="rId21"/>
    <p:sldId id="307" r:id="rId22"/>
    <p:sldId id="308" r:id="rId23"/>
    <p:sldId id="309" r:id="rId24"/>
    <p:sldId id="310" r:id="rId25"/>
    <p:sldId id="311" r:id="rId26"/>
    <p:sldId id="312" r:id="rId27"/>
    <p:sldId id="278"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33" autoAdjust="0"/>
    <p:restoredTop sz="88947" autoAdjust="0"/>
  </p:normalViewPr>
  <p:slideViewPr>
    <p:cSldViewPr>
      <p:cViewPr varScale="1">
        <p:scale>
          <a:sx n="133" d="100"/>
          <a:sy n="133" d="100"/>
        </p:scale>
        <p:origin x="2344" y="19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385708A-E39E-40DB-98F9-6E514B308B3D}" type="datetimeFigureOut">
              <a:rPr lang="zh-CN" altLang="en-US" smtClean="0"/>
              <a:t>2021/11/26</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446067C-41AE-4BC6-922D-E0BD4AE7863B}" type="slidenum">
              <a:rPr lang="zh-CN" altLang="en-US" smtClean="0"/>
              <a:t>‹#›</a:t>
            </a:fld>
            <a:endParaRPr lang="zh-CN" altLang="en-US"/>
          </a:p>
        </p:txBody>
      </p:sp>
    </p:spTree>
    <p:extLst>
      <p:ext uri="{BB962C8B-B14F-4D97-AF65-F5344CB8AC3E}">
        <p14:creationId xmlns:p14="http://schemas.microsoft.com/office/powerpoint/2010/main" val="250805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en.wikipedia.org/wiki/Classification_tree"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446067C-41AE-4BC6-922D-E0BD4AE7863B}" type="slidenum">
              <a:rPr lang="zh-CN" altLang="en-US" smtClean="0"/>
              <a:t>1</a:t>
            </a:fld>
            <a:endParaRPr lang="zh-CN" altLang="en-US"/>
          </a:p>
        </p:txBody>
      </p:sp>
    </p:spTree>
    <p:extLst>
      <p:ext uri="{BB962C8B-B14F-4D97-AF65-F5344CB8AC3E}">
        <p14:creationId xmlns:p14="http://schemas.microsoft.com/office/powerpoint/2010/main" val="25135749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 this presentation, </a:t>
            </a:r>
            <a:r>
              <a:rPr lang="en-US" altLang="zh-CN" baseline="0" dirty="0"/>
              <a:t>I am going to talk about the motivation of our work first. Then I will show two algorithms we designed to solve the problem we identified. After that I will talk about how we improve the performance of our algorithms. At last I am going to show some experiment results of our work.</a:t>
            </a:r>
            <a:endParaRPr lang="zh-CN" altLang="en-US" dirty="0"/>
          </a:p>
        </p:txBody>
      </p:sp>
      <p:sp>
        <p:nvSpPr>
          <p:cNvPr id="4" name="灯片编号占位符 3"/>
          <p:cNvSpPr>
            <a:spLocks noGrp="1"/>
          </p:cNvSpPr>
          <p:nvPr>
            <p:ph type="sldNum" sz="quarter" idx="10"/>
          </p:nvPr>
        </p:nvSpPr>
        <p:spPr/>
        <p:txBody>
          <a:bodyPr/>
          <a:lstStyle/>
          <a:p>
            <a:fld id="{4CA8B8DC-0AB8-41E4-901F-BDF168660745}" type="slidenum">
              <a:rPr lang="en-US" smtClean="0"/>
              <a:pPr/>
              <a:t>2</a:t>
            </a:fld>
            <a:endParaRPr lang="en-US"/>
          </a:p>
        </p:txBody>
      </p:sp>
    </p:spTree>
    <p:extLst>
      <p:ext uri="{BB962C8B-B14F-4D97-AF65-F5344CB8AC3E}">
        <p14:creationId xmlns:p14="http://schemas.microsoft.com/office/powerpoint/2010/main" val="17353663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see the motivation first. We are living in the so called big data era where </a:t>
            </a:r>
            <a:r>
              <a:rPr lang="en-US" altLang="zh-CN" dirty="0"/>
              <a:t>sensors are everywhere. We have </a:t>
            </a:r>
            <a:r>
              <a:rPr lang="en-US" altLang="zh-CN" dirty="0" err="1"/>
              <a:t>smartBand</a:t>
            </a:r>
            <a:r>
              <a:rPr lang="en-US" altLang="zh-CN" dirty="0"/>
              <a:t> to record our daily activities, GPS to record our location, and even smart phones have lots of sensors in it.</a:t>
            </a:r>
          </a:p>
        </p:txBody>
      </p:sp>
      <p:sp>
        <p:nvSpPr>
          <p:cNvPr id="4" name="Slide Number Placeholder 3"/>
          <p:cNvSpPr>
            <a:spLocks noGrp="1"/>
          </p:cNvSpPr>
          <p:nvPr>
            <p:ph type="sldNum" sz="quarter" idx="10"/>
          </p:nvPr>
        </p:nvSpPr>
        <p:spPr/>
        <p:txBody>
          <a:bodyPr/>
          <a:lstStyle/>
          <a:p>
            <a:fld id="{4CA8B8DC-0AB8-41E4-901F-BDF168660745}" type="slidenum">
              <a:rPr lang="en-US" smtClean="0"/>
              <a:pPr/>
              <a:t>3</a:t>
            </a:fld>
            <a:endParaRPr lang="en-US"/>
          </a:p>
        </p:txBody>
      </p:sp>
    </p:spTree>
    <p:extLst>
      <p:ext uri="{BB962C8B-B14F-4D97-AF65-F5344CB8AC3E}">
        <p14:creationId xmlns:p14="http://schemas.microsoft.com/office/powerpoint/2010/main" val="16334837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These</a:t>
            </a:r>
            <a:r>
              <a:rPr lang="en-US" altLang="zh-CN" baseline="0" dirty="0"/>
              <a:t> sensors continue sensing create relational sequence data where one of the attributes is time. Along with any number of other attributes.</a:t>
            </a:r>
          </a:p>
          <a:p>
            <a:r>
              <a:rPr lang="en-US" altLang="zh-CN" baseline="0" dirty="0"/>
              <a:t>Here I am showing a sequence data of a person’s morning activities.</a:t>
            </a:r>
          </a:p>
          <a:p>
            <a:r>
              <a:rPr lang="en-US" altLang="zh-CN" baseline="0" dirty="0"/>
              <a:t>The other four attributes in here represent 4 sensors in a smart house. The first one is bed sensor in a bedroom, the second one is faucet sensor in bathroom, the third one is oven sensor in the Kitchen, the last one is living room door sensor. </a:t>
            </a:r>
          </a:p>
          <a:p>
            <a:r>
              <a:rPr lang="en-US" altLang="zh-CN" baseline="0" dirty="0"/>
              <a:t>These four attributes are binary attributes. The value 1 in here means the sensor is active at that time.</a:t>
            </a:r>
          </a:p>
          <a:p>
            <a:endParaRPr lang="en-US" altLang="zh-CN" baseline="0" dirty="0"/>
          </a:p>
          <a:p>
            <a:r>
              <a:rPr lang="en-US" altLang="zh-CN" baseline="0" dirty="0"/>
              <a:t>Each event in each timestamp, we call it a tuple. Each tuple in the sequence describes the state at an instant of time, which often implies the event, activity, or action that is happening.</a:t>
            </a:r>
          </a:p>
          <a:p>
            <a:pPr defTabSz="914363">
              <a:defRPr/>
            </a:pPr>
            <a:r>
              <a:rPr lang="en-US" dirty="0"/>
              <a:t>Certain events and activities often have some patterns within a time unit(typically a day or the duration of a process), and the same pattern is repeated periodically over many time units. It is useful to find out the model of such regularity, and to identify irregular or unusual events when they happen. Let us look at some example.</a:t>
            </a:r>
          </a:p>
          <a:p>
            <a:endParaRPr lang="en-US" altLang="zh-CN" baseline="0" dirty="0"/>
          </a:p>
          <a:p>
            <a:endParaRPr lang="zh-CN" altLang="en-US" dirty="0"/>
          </a:p>
        </p:txBody>
      </p:sp>
      <p:sp>
        <p:nvSpPr>
          <p:cNvPr id="4" name="灯片编号占位符 3"/>
          <p:cNvSpPr>
            <a:spLocks noGrp="1"/>
          </p:cNvSpPr>
          <p:nvPr>
            <p:ph type="sldNum" sz="quarter" idx="10"/>
          </p:nvPr>
        </p:nvSpPr>
        <p:spPr/>
        <p:txBody>
          <a:bodyPr/>
          <a:lstStyle/>
          <a:p>
            <a:fld id="{4CA8B8DC-0AB8-41E4-901F-BDF168660745}" type="slidenum">
              <a:rPr lang="en-US" smtClean="0"/>
              <a:pPr/>
              <a:t>4</a:t>
            </a:fld>
            <a:endParaRPr lang="en-US"/>
          </a:p>
        </p:txBody>
      </p:sp>
    </p:spTree>
    <p:extLst>
      <p:ext uri="{BB962C8B-B14F-4D97-AF65-F5344CB8AC3E}">
        <p14:creationId xmlns:p14="http://schemas.microsoft.com/office/powerpoint/2010/main" val="6959133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Elderly people (or persons with autism) who live alone often lead a dangerous life. If they fall down on the floor, or pass out in the bathroom, no one may notice it for a long time. It would be useful to have software program automatically and continuously recording the location, movement, and other signals of the person, Since these people’s normal daily activities are usually simple, we</a:t>
            </a:r>
            <a:r>
              <a:rPr lang="en-US" baseline="0" dirty="0"/>
              <a:t> can easily built a regular model of their routine</a:t>
            </a:r>
            <a:r>
              <a:rPr lang="en-US" dirty="0"/>
              <a:t> and find irregular events as soon as they happen. Many lives could be saved from such continuous automatic monitoring.</a:t>
            </a:r>
          </a:p>
        </p:txBody>
      </p:sp>
      <p:sp>
        <p:nvSpPr>
          <p:cNvPr id="4" name="Slide Number Placeholder 3"/>
          <p:cNvSpPr>
            <a:spLocks noGrp="1"/>
          </p:cNvSpPr>
          <p:nvPr>
            <p:ph type="sldNum" sz="quarter" idx="10"/>
          </p:nvPr>
        </p:nvSpPr>
        <p:spPr/>
        <p:txBody>
          <a:bodyPr/>
          <a:lstStyle/>
          <a:p>
            <a:fld id="{4CA8B8DC-0AB8-41E4-901F-BDF168660745}" type="slidenum">
              <a:rPr lang="en-US" smtClean="0"/>
              <a:pPr/>
              <a:t>5</a:t>
            </a:fld>
            <a:endParaRPr lang="en-US"/>
          </a:p>
        </p:txBody>
      </p:sp>
    </p:spTree>
    <p:extLst>
      <p:ext uri="{BB962C8B-B14F-4D97-AF65-F5344CB8AC3E}">
        <p14:creationId xmlns:p14="http://schemas.microsoft.com/office/powerpoint/2010/main" val="15636755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On March 24, 2015, a </a:t>
                </a:r>
                <a:r>
                  <a:rPr lang="en-US" altLang="zh-CN" dirty="0" err="1"/>
                  <a:t>Germanwings</a:t>
                </a:r>
                <a:r>
                  <a:rPr lang="en-US" altLang="zh-CN" dirty="0"/>
                  <a:t> flight copilot </a:t>
                </a:r>
                <a:r>
                  <a:rPr lang="en-US" altLang="zh-CN" dirty="0" err="1"/>
                  <a:t>Lubiz</a:t>
                </a:r>
                <a:r>
                  <a:rPr lang="en-US" altLang="zh-CN" dirty="0"/>
                  <a:t> crashed airplane, killing all 150 people on board. It turned out that the</a:t>
                </a:r>
                <a:r>
                  <a:rPr lang="en-US" altLang="zh-CN" baseline="0" dirty="0"/>
                  <a:t> copilot had some mental issue. He </a:t>
                </a:r>
                <a:r>
                  <a:rPr lang="en-US" altLang="zh-CN" dirty="0"/>
                  <a:t>seemed to be toying with the airplane's settings on the </a:t>
                </a:r>
                <a:r>
                  <a:rPr lang="en-US" altLang="zh-CN" dirty="0">
                    <a:solidFill>
                      <a:srgbClr val="FF0000"/>
                    </a:solidFill>
                  </a:rPr>
                  <a:t>earlier</a:t>
                </a:r>
                <a:r>
                  <a:rPr lang="en-US" altLang="zh-CN" dirty="0"/>
                  <a:t> flight from Dusseldorf to Barcelona, programming it for a sharp descent </a:t>
                </a:r>
                <a:r>
                  <a:rPr lang="en-US" altLang="zh-CN" dirty="0">
                    <a:solidFill>
                      <a:srgbClr val="FF0000"/>
                    </a:solidFill>
                  </a:rPr>
                  <a:t>multiple times.</a:t>
                </a:r>
                <a:r>
                  <a:rPr lang="en-US" altLang="zh-CN" dirty="0"/>
                  <a:t> The airline company technically could have known about these</a:t>
                </a:r>
                <a:r>
                  <a:rPr lang="en-US" altLang="zh-CN" baseline="0" dirty="0"/>
                  <a:t> </a:t>
                </a:r>
                <a:r>
                  <a:rPr lang="en-US" altLang="zh-CN" dirty="0"/>
                  <a:t>unusual</a:t>
                </a:r>
                <a:r>
                  <a:rPr lang="en-US" altLang="zh-CN" baseline="0" dirty="0"/>
                  <a:t> operation data</a:t>
                </a:r>
                <a:r>
                  <a:rPr lang="en-US" altLang="zh-CN" dirty="0"/>
                  <a:t>, but only if they had looked at the flight data and find the irregular</a:t>
                </a:r>
                <a:r>
                  <a:rPr lang="en-US" altLang="zh-CN" baseline="0" dirty="0"/>
                  <a:t> operations, </a:t>
                </a:r>
                <a:r>
                  <a:rPr lang="en-US" altLang="zh-CN" dirty="0"/>
                  <a:t>the tragedy could have been prevented.</a:t>
                </a:r>
                <a:endParaRPr lang="en-US" dirty="0"/>
              </a:p>
            </p:txBody>
          </p:sp>
        </mc:Choice>
        <mc:Fallback xmlns="">
          <p:sp>
            <p:nvSpPr>
              <p:cNvPr id="3" name="Notes Placeholder 2"/>
              <p:cNvSpPr>
                <a:spLocks noGrp="1"/>
              </p:cNvSpPr>
              <p:nvPr>
                <p:ph type="body" idx="1"/>
              </p:nvPr>
            </p:nvSpPr>
            <p:spPr/>
            <p:txBody>
              <a:bodyPr/>
              <a:lstStyle/>
              <a:p>
                <a:r>
                  <a:rPr lang="en-US" sz="1200" kern="1200" dirty="0" smtClean="0">
                    <a:solidFill>
                      <a:schemeClr val="tx1"/>
                    </a:solidFill>
                    <a:effectLst/>
                    <a:latin typeface="Arial" charset="0"/>
                    <a:ea typeface="+mn-ea"/>
                    <a:cs typeface="Arial" charset="0"/>
                  </a:rPr>
                  <a:t>in a shopping mall, customers’ locations (estimated from their smartphones’ GPS or </a:t>
                </a:r>
                <a:r>
                  <a:rPr lang="en-US" sz="1200" kern="1200" dirty="0" err="1" smtClean="0">
                    <a:solidFill>
                      <a:schemeClr val="tx1"/>
                    </a:solidFill>
                    <a:effectLst/>
                    <a:latin typeface="Arial" charset="0"/>
                    <a:ea typeface="+mn-ea"/>
                    <a:cs typeface="Arial" charset="0"/>
                  </a:rPr>
                  <a:t>WiFi</a:t>
                </a:r>
                <a:r>
                  <a:rPr lang="en-US" sz="1200" kern="1200" dirty="0" smtClean="0">
                    <a:solidFill>
                      <a:schemeClr val="tx1"/>
                    </a:solidFill>
                    <a:effectLst/>
                    <a:latin typeface="Arial" charset="0"/>
                    <a:ea typeface="+mn-ea"/>
                    <a:cs typeface="Arial" charset="0"/>
                  </a:rPr>
                  <a:t>) combined with a map [25] give a noisy stream of each customer’s visit sequence</a:t>
                </a:r>
              </a:p>
              <a:p>
                <a:endParaRPr lang="en-US" sz="1200" kern="1200" dirty="0" smtClean="0">
                  <a:solidFill>
                    <a:schemeClr val="tx1"/>
                  </a:solidFill>
                  <a:effectLst/>
                  <a:latin typeface="Arial" charset="0"/>
                  <a:ea typeface="+mn-ea"/>
                  <a:cs typeface="Arial" charset="0"/>
                </a:endParaRPr>
              </a:p>
              <a:p>
                <a:r>
                  <a:rPr lang="en-US" sz="1200" kern="1200" dirty="0" smtClean="0">
                    <a:solidFill>
                      <a:schemeClr val="tx1"/>
                    </a:solidFill>
                    <a:effectLst/>
                    <a:latin typeface="Arial" charset="0"/>
                    <a:ea typeface="+mn-ea"/>
                    <a:cs typeface="Arial" charset="0"/>
                  </a:rPr>
                  <a:t>This provides valuable information for business intelligence</a:t>
                </a:r>
              </a:p>
              <a:p>
                <a:endParaRPr lang="en-US" sz="1200" kern="1200" dirty="0" smtClean="0">
                  <a:solidFill>
                    <a:schemeClr val="tx1"/>
                  </a:solidFill>
                  <a:effectLst/>
                  <a:latin typeface="Arial" charset="0"/>
                  <a:ea typeface="+mn-ea"/>
                  <a:cs typeface="Arial" charset="0"/>
                </a:endParaRPr>
              </a:p>
              <a:p>
                <a:r>
                  <a:rPr lang="en-US" sz="1200" kern="1200" dirty="0" smtClean="0">
                    <a:solidFill>
                      <a:schemeClr val="tx1"/>
                    </a:solidFill>
                    <a:effectLst/>
                    <a:latin typeface="Arial" charset="0"/>
                    <a:ea typeface="+mn-ea"/>
                    <a:cs typeface="Arial" charset="0"/>
                  </a:rPr>
                  <a:t>. For example, the shoe department manager at Macy’s would like to find a pattern that “</a:t>
                </a:r>
                <a:r>
                  <a:rPr lang="en-US" sz="1200" i="1" kern="1200" dirty="0">
                    <a:solidFill>
                      <a:schemeClr val="tx1"/>
                    </a:solidFill>
                    <a:effectLst/>
                    <a:latin typeface="Arial" charset="0"/>
                    <a:ea typeface="+mn-ea"/>
                    <a:cs typeface="Arial" charset="0"/>
                  </a:rPr>
                  <a:t>a customer visited other shoe stores in the mall as well as Macy’s and eventually decided to buy shoes at Macy’s</a:t>
                </a:r>
                <a:r>
                  <a:rPr lang="en-US" sz="1200" kern="1200" dirty="0">
                    <a:solidFill>
                      <a:schemeClr val="tx1"/>
                    </a:solidFill>
                    <a:effectLst/>
                    <a:latin typeface="Arial" charset="0"/>
                    <a:ea typeface="+mn-ea"/>
                    <a:cs typeface="Arial" charset="0"/>
                  </a:rPr>
                  <a:t>”. Suppose there are three shoe stores </a:t>
                </a:r>
                <a:r>
                  <a:rPr lang="en-US" sz="1200" i="0" kern="1200">
                    <a:solidFill>
                      <a:schemeClr val="tx1"/>
                    </a:solidFill>
                    <a:effectLst/>
                    <a:latin typeface="Arial" charset="0"/>
                    <a:ea typeface="+mn-ea"/>
                    <a:cs typeface="Arial" charset="0"/>
                  </a:rPr>
                  <a:t>𝑆_1</a:t>
                </a:r>
                <a:r>
                  <a:rPr lang="en-US" sz="1200" kern="1200" dirty="0">
                    <a:solidFill>
                      <a:schemeClr val="tx1"/>
                    </a:solidFill>
                    <a:effectLst/>
                    <a:latin typeface="Arial" charset="0"/>
                    <a:ea typeface="+mn-ea"/>
                    <a:cs typeface="Arial" charset="0"/>
                  </a:rPr>
                  <a:t>, </a:t>
                </a:r>
                <a:r>
                  <a:rPr lang="en-US" sz="1200" i="0" kern="1200">
                    <a:solidFill>
                      <a:schemeClr val="tx1"/>
                    </a:solidFill>
                    <a:effectLst/>
                    <a:latin typeface="Arial" charset="0"/>
                    <a:ea typeface="+mn-ea"/>
                    <a:cs typeface="Arial" charset="0"/>
                  </a:rPr>
                  <a:t>𝑆_2</a:t>
                </a:r>
                <a:r>
                  <a:rPr lang="en-US" sz="1200" kern="1200" dirty="0">
                    <a:solidFill>
                      <a:schemeClr val="tx1"/>
                    </a:solidFill>
                    <a:effectLst/>
                    <a:latin typeface="Arial" charset="0"/>
                    <a:ea typeface="+mn-ea"/>
                    <a:cs typeface="Arial" charset="0"/>
                  </a:rPr>
                  <a:t>, and </a:t>
                </a:r>
                <a:r>
                  <a:rPr lang="en-US" sz="1200" i="0" kern="1200">
                    <a:solidFill>
                      <a:schemeClr val="tx1"/>
                    </a:solidFill>
                    <a:effectLst/>
                    <a:latin typeface="Arial" charset="0"/>
                    <a:ea typeface="+mn-ea"/>
                    <a:cs typeface="Arial" charset="0"/>
                  </a:rPr>
                  <a:t>𝑆_3</a:t>
                </a:r>
                <a:r>
                  <a:rPr lang="en-US" sz="1200" kern="1200" dirty="0">
                    <a:solidFill>
                      <a:schemeClr val="tx1"/>
                    </a:solidFill>
                    <a:effectLst/>
                    <a:latin typeface="Arial" charset="0"/>
                    <a:ea typeface="+mn-ea"/>
                    <a:cs typeface="Arial" charset="0"/>
                  </a:rPr>
                  <a:t>. Then we can use the pattern:</a:t>
                </a:r>
              </a:p>
              <a:p>
                <a:r>
                  <a:rPr lang="en-US" sz="1200" kern="1200" dirty="0">
                    <a:solidFill>
                      <a:schemeClr val="tx1"/>
                    </a:solidFill>
                    <a:effectLst/>
                    <a:latin typeface="Arial" charset="0"/>
                    <a:ea typeface="+mn-ea"/>
                    <a:cs typeface="Arial" charset="0"/>
                  </a:rPr>
                  <a:t>             </a:t>
                </a:r>
                <a:r>
                  <a:rPr lang="en-US" sz="1200" i="0" kern="1200">
                    <a:solidFill>
                      <a:schemeClr val="tx1"/>
                    </a:solidFill>
                    <a:effectLst/>
                    <a:latin typeface="Arial" charset="0"/>
                    <a:ea typeface="+mn-ea"/>
                    <a:cs typeface="Arial" charset="0"/>
                  </a:rPr>
                  <a:t>𝑟_3=[((𝑆_1 |𝑆_2 | 𝑆_3 )^+ 𝑀)┤|(𝑀(𝑆_1 |𝑆_2 | 𝑆_3 )^+)] 𝐵</a:t>
                </a:r>
                <a:endParaRPr lang="en-US" dirty="0"/>
              </a:p>
            </p:txBody>
          </p:sp>
        </mc:Fallback>
      </mc:AlternateContent>
      <p:sp>
        <p:nvSpPr>
          <p:cNvPr id="4" name="Slide Number Placeholder 3"/>
          <p:cNvSpPr>
            <a:spLocks noGrp="1"/>
          </p:cNvSpPr>
          <p:nvPr>
            <p:ph type="sldNum" sz="quarter" idx="10"/>
          </p:nvPr>
        </p:nvSpPr>
        <p:spPr/>
        <p:txBody>
          <a:bodyPr/>
          <a:lstStyle/>
          <a:p>
            <a:fld id="{4CA8B8DC-0AB8-41E4-901F-BDF168660745}" type="slidenum">
              <a:rPr lang="en-US" smtClean="0"/>
              <a:pPr/>
              <a:t>6</a:t>
            </a:fld>
            <a:endParaRPr lang="en-US"/>
          </a:p>
        </p:txBody>
      </p:sp>
    </p:spTree>
    <p:extLst>
      <p:ext uri="{BB962C8B-B14F-4D97-AF65-F5344CB8AC3E}">
        <p14:creationId xmlns:p14="http://schemas.microsoft.com/office/powerpoint/2010/main" val="36985414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No</a:t>
            </a:r>
            <a:r>
              <a:rPr lang="en-US" altLang="zh-CN" baseline="0" dirty="0"/>
              <a:t>w let’s see the algorithms we designed to solve the problem we just mentioned.</a:t>
            </a:r>
            <a:endParaRPr lang="zh-CN" altLang="en-US" dirty="0"/>
          </a:p>
        </p:txBody>
      </p:sp>
      <p:sp>
        <p:nvSpPr>
          <p:cNvPr id="4" name="灯片编号占位符 3"/>
          <p:cNvSpPr>
            <a:spLocks noGrp="1"/>
          </p:cNvSpPr>
          <p:nvPr>
            <p:ph type="sldNum" sz="quarter" idx="10"/>
          </p:nvPr>
        </p:nvSpPr>
        <p:spPr/>
        <p:txBody>
          <a:bodyPr/>
          <a:lstStyle/>
          <a:p>
            <a:fld id="{4CA8B8DC-0AB8-41E4-901F-BDF168660745}" type="slidenum">
              <a:rPr lang="en-US" smtClean="0"/>
              <a:pPr/>
              <a:t>7</a:t>
            </a:fld>
            <a:endParaRPr lang="en-US"/>
          </a:p>
        </p:txBody>
      </p:sp>
    </p:spTree>
    <p:extLst>
      <p:ext uri="{BB962C8B-B14F-4D97-AF65-F5344CB8AC3E}">
        <p14:creationId xmlns:p14="http://schemas.microsoft.com/office/powerpoint/2010/main" val="17353663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Given a set of relational sequence data. First we want to build a regular model based on it. Then for a new sequence,</a:t>
            </a:r>
            <a:r>
              <a:rPr lang="en-US" altLang="zh-CN" baseline="0" dirty="0"/>
              <a:t> we will calculate the regularity score of each event in the sequence, an further we can get the regularity score of the whole sequence. Eventually we are able to find the irregular event and irregular sequence by checking the score.</a:t>
            </a:r>
            <a:endParaRPr lang="zh-CN" altLang="en-US" dirty="0"/>
          </a:p>
        </p:txBody>
      </p:sp>
      <p:sp>
        <p:nvSpPr>
          <p:cNvPr id="4" name="灯片编号占位符 3"/>
          <p:cNvSpPr>
            <a:spLocks noGrp="1"/>
          </p:cNvSpPr>
          <p:nvPr>
            <p:ph type="sldNum" sz="quarter" idx="10"/>
          </p:nvPr>
        </p:nvSpPr>
        <p:spPr/>
        <p:txBody>
          <a:bodyPr/>
          <a:lstStyle/>
          <a:p>
            <a:fld id="{5446067C-41AE-4BC6-922D-E0BD4AE7863B}" type="slidenum">
              <a:rPr lang="zh-CN" altLang="en-US" smtClean="0"/>
              <a:t>8</a:t>
            </a:fld>
            <a:endParaRPr lang="zh-CN" altLang="en-US"/>
          </a:p>
        </p:txBody>
      </p:sp>
    </p:spTree>
    <p:extLst>
      <p:ext uri="{BB962C8B-B14F-4D97-AF65-F5344CB8AC3E}">
        <p14:creationId xmlns:p14="http://schemas.microsoft.com/office/powerpoint/2010/main" val="24169207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Before building a regular model, we first did a data prepossessing</a:t>
            </a:r>
            <a:r>
              <a:rPr lang="en-US" altLang="zh-CN" baseline="0" dirty="0"/>
              <a:t> which is building an event hierarchy tree.</a:t>
            </a:r>
            <a:endParaRPr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The idea is that a new generalized higher-level event incorporates multiple more specific events, hence allowing us to model variations of the same general event. For example, the events “making coffee” and “making tea” can be generalized to a higher level event “making beverage”, even though “making beverage” is not an event in the original sequence set. Then</a:t>
            </a:r>
            <a:r>
              <a:rPr lang="en-US" altLang="zh-CN" baseline="0" dirty="0"/>
              <a:t> making beverage and eating meal can be generalized into eating/drinking then further be generalized to kitchen or food activities.</a:t>
            </a:r>
            <a:endParaRPr lang="zh-CN" altLang="en-US" dirty="0"/>
          </a:p>
        </p:txBody>
      </p:sp>
      <p:sp>
        <p:nvSpPr>
          <p:cNvPr id="4" name="灯片编号占位符 3"/>
          <p:cNvSpPr>
            <a:spLocks noGrp="1"/>
          </p:cNvSpPr>
          <p:nvPr>
            <p:ph type="sldNum" sz="quarter" idx="10"/>
          </p:nvPr>
        </p:nvSpPr>
        <p:spPr/>
        <p:txBody>
          <a:bodyPr/>
          <a:lstStyle/>
          <a:p>
            <a:fld id="{5446067C-41AE-4BC6-922D-E0BD4AE7863B}" type="slidenum">
              <a:rPr lang="zh-CN" altLang="en-US" smtClean="0"/>
              <a:t>9</a:t>
            </a:fld>
            <a:endParaRPr lang="zh-CN" altLang="en-US"/>
          </a:p>
        </p:txBody>
      </p:sp>
    </p:spTree>
    <p:extLst>
      <p:ext uri="{BB962C8B-B14F-4D97-AF65-F5344CB8AC3E}">
        <p14:creationId xmlns:p14="http://schemas.microsoft.com/office/powerpoint/2010/main" val="42490428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To build the hierarchy</a:t>
            </a:r>
            <a:r>
              <a:rPr lang="en-US" altLang="zh-CN" baseline="0" dirty="0"/>
              <a:t> tree. We use a Conceptual clustering method, in particular, cobweb in our work.</a:t>
            </a:r>
            <a:endParaRPr lang="en-US" altLang="zh-CN" dirty="0"/>
          </a:p>
          <a:p>
            <a:r>
              <a:rPr lang="en-US" altLang="zh-CN" dirty="0"/>
              <a:t>COBWEB </a:t>
            </a:r>
            <a:r>
              <a:rPr lang="en-US" altLang="zh-CN" baseline="0" dirty="0"/>
              <a:t>is a machine learning algorithm for unsupervised classification. It </a:t>
            </a:r>
            <a:r>
              <a:rPr lang="en-US" altLang="zh-CN" dirty="0"/>
              <a:t>incrementally organizes observations into a </a:t>
            </a:r>
            <a:r>
              <a:rPr lang="en-US" altLang="zh-CN" dirty="0">
                <a:hlinkClick r:id="rId3" tooltip="Classification tree"/>
              </a:rPr>
              <a:t>classification tree</a:t>
            </a:r>
            <a:r>
              <a:rPr lang="en-US" altLang="zh-CN" dirty="0"/>
              <a:t>. Each node in a classification tree represents a class (concept) and is labeled by a probabilistic concept that summarizes the attribute-value distributions of objects classified under the node. </a:t>
            </a:r>
          </a:p>
          <a:p>
            <a:r>
              <a:rPr lang="en-US" altLang="zh-CN" dirty="0"/>
              <a:t>This a an</a:t>
            </a:r>
            <a:r>
              <a:rPr lang="en-US" altLang="zh-CN" baseline="0" dirty="0"/>
              <a:t> example of a classification tree based on animal data.</a:t>
            </a:r>
            <a:endParaRPr lang="en-US" altLang="zh-CN" dirty="0"/>
          </a:p>
          <a:p>
            <a:r>
              <a:rPr lang="en-US" altLang="zh-CN" dirty="0"/>
              <a:t>As you can see, in the leaf node we have, fish,</a:t>
            </a:r>
            <a:r>
              <a:rPr lang="en-US" altLang="zh-CN" baseline="0" dirty="0"/>
              <a:t> amphibian, bird and mammal. Then</a:t>
            </a:r>
            <a:r>
              <a:rPr lang="en-US" altLang="zh-CN" dirty="0"/>
              <a:t> bird and mammal can be merged to an internal node mammal/bird, because of the similarity of them. Then all of the nodes can be generalized to a root node animal.</a:t>
            </a:r>
            <a:endParaRPr lang="zh-CN" altLang="en-US" dirty="0"/>
          </a:p>
        </p:txBody>
      </p:sp>
      <p:sp>
        <p:nvSpPr>
          <p:cNvPr id="4" name="灯片编号占位符 3"/>
          <p:cNvSpPr>
            <a:spLocks noGrp="1"/>
          </p:cNvSpPr>
          <p:nvPr>
            <p:ph type="sldNum" sz="quarter" idx="10"/>
          </p:nvPr>
        </p:nvSpPr>
        <p:spPr/>
        <p:txBody>
          <a:bodyPr/>
          <a:lstStyle/>
          <a:p>
            <a:fld id="{4CA8B8DC-0AB8-41E4-901F-BDF168660745}" type="slidenum">
              <a:rPr lang="en-US" smtClean="0"/>
              <a:pPr/>
              <a:t>10</a:t>
            </a:fld>
            <a:endParaRPr lang="en-US"/>
          </a:p>
        </p:txBody>
      </p:sp>
    </p:spTree>
    <p:extLst>
      <p:ext uri="{BB962C8B-B14F-4D97-AF65-F5344CB8AC3E}">
        <p14:creationId xmlns:p14="http://schemas.microsoft.com/office/powerpoint/2010/main" val="931545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After building</a:t>
            </a:r>
            <a:r>
              <a:rPr lang="en-US" altLang="zh-CN" baseline="0" dirty="0"/>
              <a:t> the event hierarchy tree, we then start to build our regular model.</a:t>
            </a:r>
          </a:p>
          <a:p>
            <a:r>
              <a:rPr lang="en-US" altLang="zh-CN" baseline="0" dirty="0"/>
              <a:t>The input is a set of relational sequence data. Each event in each sequence will send a message to it’s neighbor, the message will propagate to the last node of the sequence. By doing this, we will have some event pairs. However some of them are redundant because of the message reachability. For example a sends a message to c is same to a sends the message to b first and then b to c. Therefore in here wo don’t consider these redundant event pairs.</a:t>
            </a:r>
          </a:p>
        </p:txBody>
      </p:sp>
      <p:sp>
        <p:nvSpPr>
          <p:cNvPr id="4" name="灯片编号占位符 3"/>
          <p:cNvSpPr>
            <a:spLocks noGrp="1"/>
          </p:cNvSpPr>
          <p:nvPr>
            <p:ph type="sldNum" sz="quarter" idx="10"/>
          </p:nvPr>
        </p:nvSpPr>
        <p:spPr/>
        <p:txBody>
          <a:bodyPr/>
          <a:lstStyle/>
          <a:p>
            <a:fld id="{5446067C-41AE-4BC6-922D-E0BD4AE7863B}" type="slidenum">
              <a:rPr lang="zh-CN" altLang="en-US" smtClean="0"/>
              <a:t>11</a:t>
            </a:fld>
            <a:endParaRPr lang="zh-CN" altLang="en-US"/>
          </a:p>
        </p:txBody>
      </p:sp>
    </p:spTree>
    <p:extLst>
      <p:ext uri="{BB962C8B-B14F-4D97-AF65-F5344CB8AC3E}">
        <p14:creationId xmlns:p14="http://schemas.microsoft.com/office/powerpoint/2010/main" val="3776299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After we get the event pairs, we</a:t>
            </a:r>
            <a:r>
              <a:rPr lang="en-US" altLang="zh-CN" baseline="0" dirty="0"/>
              <a:t> will build a bitmap to count the number of the event pairs. In this example each cell contains 4 bits which represent 4 sequence. For the first event pair ab, it only appears in the first sequence, therefore we set the bit to 1000. For event pair </a:t>
            </a:r>
            <a:r>
              <a:rPr lang="en-US" altLang="zh-CN" baseline="0" dirty="0" err="1"/>
              <a:t>bc</a:t>
            </a:r>
            <a:r>
              <a:rPr lang="en-US" altLang="zh-CN" baseline="0" dirty="0"/>
              <a:t>, it appears in the 1</a:t>
            </a:r>
            <a:r>
              <a:rPr lang="en-US" altLang="zh-CN" baseline="30000" dirty="0"/>
              <a:t>st</a:t>
            </a:r>
            <a:r>
              <a:rPr lang="en-US" altLang="zh-CN" baseline="0" dirty="0"/>
              <a:t> and 2</a:t>
            </a:r>
            <a:r>
              <a:rPr lang="en-US" altLang="zh-CN" baseline="30000" dirty="0"/>
              <a:t>nd</a:t>
            </a:r>
            <a:r>
              <a:rPr lang="en-US" altLang="zh-CN" baseline="0" dirty="0"/>
              <a:t> sequence, therefore we set the bit to 1100. Then we keep doing this until all event pairs are set in the bitmap.</a:t>
            </a:r>
            <a:endParaRPr lang="zh-CN" altLang="en-US" dirty="0"/>
          </a:p>
        </p:txBody>
      </p:sp>
      <p:sp>
        <p:nvSpPr>
          <p:cNvPr id="4" name="灯片编号占位符 3"/>
          <p:cNvSpPr>
            <a:spLocks noGrp="1"/>
          </p:cNvSpPr>
          <p:nvPr>
            <p:ph type="sldNum" sz="quarter" idx="10"/>
          </p:nvPr>
        </p:nvSpPr>
        <p:spPr/>
        <p:txBody>
          <a:bodyPr/>
          <a:lstStyle/>
          <a:p>
            <a:fld id="{5446067C-41AE-4BC6-922D-E0BD4AE7863B}" type="slidenum">
              <a:rPr lang="zh-CN" altLang="en-US" smtClean="0"/>
              <a:t>12</a:t>
            </a:fld>
            <a:endParaRPr lang="zh-CN" altLang="en-US"/>
          </a:p>
        </p:txBody>
      </p:sp>
    </p:spTree>
    <p:extLst>
      <p:ext uri="{BB962C8B-B14F-4D97-AF65-F5344CB8AC3E}">
        <p14:creationId xmlns:p14="http://schemas.microsoft.com/office/powerpoint/2010/main" val="24281735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Our next step is to find out the qualified event pairs from the bitmap. </a:t>
            </a:r>
            <a:r>
              <a:rPr lang="en-US" dirty="0"/>
              <a:t>Let’s assume the</a:t>
            </a:r>
            <a:r>
              <a:rPr lang="en-US" baseline="0" dirty="0"/>
              <a:t> frequency threshold parameter is ½. We can easily find the pairs that satisfy the threshold from the bitmap.</a:t>
            </a:r>
            <a:endParaRPr lang="en-US" dirty="0"/>
          </a:p>
        </p:txBody>
      </p:sp>
      <p:sp>
        <p:nvSpPr>
          <p:cNvPr id="4" name="Slide Number Placeholder 3"/>
          <p:cNvSpPr>
            <a:spLocks noGrp="1"/>
          </p:cNvSpPr>
          <p:nvPr>
            <p:ph type="sldNum" sz="quarter" idx="10"/>
          </p:nvPr>
        </p:nvSpPr>
        <p:spPr/>
        <p:txBody>
          <a:bodyPr/>
          <a:lstStyle/>
          <a:p>
            <a:fld id="{4CA8B8DC-0AB8-41E4-901F-BDF168660745}" type="slidenum">
              <a:rPr lang="en-US" smtClean="0"/>
              <a:pPr/>
              <a:t>13</a:t>
            </a:fld>
            <a:endParaRPr lang="en-US"/>
          </a:p>
        </p:txBody>
      </p:sp>
    </p:spTree>
    <p:extLst>
      <p:ext uri="{BB962C8B-B14F-4D97-AF65-F5344CB8AC3E}">
        <p14:creationId xmlns:p14="http://schemas.microsoft.com/office/powerpoint/2010/main" val="4820875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t>
            </a:r>
            <a:r>
              <a:rPr lang="en-US" baseline="0" dirty="0"/>
              <a:t> then use these satisfied event pairs to build a regular model. The next we want to do it to calculate the regular score of the event and the sequence.</a:t>
            </a:r>
            <a:endParaRPr lang="en-US" dirty="0"/>
          </a:p>
        </p:txBody>
      </p:sp>
      <p:sp>
        <p:nvSpPr>
          <p:cNvPr id="4" name="Slide Number Placeholder 3"/>
          <p:cNvSpPr>
            <a:spLocks noGrp="1"/>
          </p:cNvSpPr>
          <p:nvPr>
            <p:ph type="sldNum" sz="quarter" idx="10"/>
          </p:nvPr>
        </p:nvSpPr>
        <p:spPr/>
        <p:txBody>
          <a:bodyPr/>
          <a:lstStyle/>
          <a:p>
            <a:fld id="{4CA8B8DC-0AB8-41E4-901F-BDF168660745}" type="slidenum">
              <a:rPr lang="en-US" smtClean="0"/>
              <a:pPr/>
              <a:t>14</a:t>
            </a:fld>
            <a:endParaRPr lang="en-US"/>
          </a:p>
        </p:txBody>
      </p:sp>
    </p:spTree>
    <p:extLst>
      <p:ext uri="{BB962C8B-B14F-4D97-AF65-F5344CB8AC3E}">
        <p14:creationId xmlns:p14="http://schemas.microsoft.com/office/powerpoint/2010/main" val="4820875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04433" fontAlgn="base">
              <a:spcBef>
                <a:spcPct val="30000"/>
              </a:spcBef>
              <a:spcAft>
                <a:spcPct val="0"/>
              </a:spcAft>
              <a:defRPr/>
            </a:pPr>
            <a:r>
              <a:rPr lang="en-US" dirty="0"/>
              <a:t>Having</a:t>
            </a:r>
            <a:r>
              <a:rPr lang="en-US" baseline="0" dirty="0"/>
              <a:t> had the regular model. Our next step is to calculate the regularity score and find irregular event.  </a:t>
            </a:r>
          </a:p>
          <a:p>
            <a:pPr defTabSz="904433" fontAlgn="base">
              <a:spcBef>
                <a:spcPct val="30000"/>
              </a:spcBef>
              <a:spcAft>
                <a:spcPct val="0"/>
              </a:spcAft>
              <a:defRPr/>
            </a:pPr>
            <a:r>
              <a:rPr lang="en-US" baseline="0" dirty="0"/>
              <a:t>Let’s assume we have a sequence s1: and regular model. The discount factor is 0.8. And the formula we used to calculate the regularity score of an edge is this.</a:t>
            </a:r>
            <a:endParaRPr lang="en-US" dirty="0"/>
          </a:p>
          <a:p>
            <a:pPr defTabSz="904433" fontAlgn="base">
              <a:spcBef>
                <a:spcPct val="30000"/>
              </a:spcBef>
              <a:spcAft>
                <a:spcPct val="0"/>
              </a:spcAft>
              <a:defRPr/>
            </a:pPr>
            <a:r>
              <a:rPr lang="en-US" baseline="0" dirty="0"/>
              <a:t>Since in the event hierarchy tree, lower event is more specific however higher event is more general and unspecific, so the lower the event is the higher the score will be. That’s why we set the discount factor between 0 and 1.</a:t>
            </a:r>
          </a:p>
          <a:p>
            <a:pPr defTabSz="904433" fontAlgn="base">
              <a:spcBef>
                <a:spcPct val="30000"/>
              </a:spcBef>
              <a:spcAft>
                <a:spcPct val="0"/>
              </a:spcAft>
              <a:defRPr/>
            </a:pPr>
            <a:r>
              <a:rPr lang="en-US" baseline="0" dirty="0"/>
              <a:t>Let’s se how we calculate the score.</a:t>
            </a:r>
          </a:p>
          <a:p>
            <a:pPr defTabSz="904433" fontAlgn="base">
              <a:spcBef>
                <a:spcPct val="30000"/>
              </a:spcBef>
              <a:spcAft>
                <a:spcPct val="0"/>
              </a:spcAft>
              <a:defRPr/>
            </a:pPr>
            <a:r>
              <a:rPr lang="en-US" baseline="0" dirty="0"/>
              <a:t>We have event pair a b1 in the sequence and a </a:t>
            </a:r>
            <a:r>
              <a:rPr lang="en-US" baseline="0" dirty="0" err="1"/>
              <a:t>captical</a:t>
            </a:r>
            <a:r>
              <a:rPr lang="en-US" baseline="0" dirty="0"/>
              <a:t> B in the regular model. In the Hierarchy three, </a:t>
            </a:r>
            <a:r>
              <a:rPr lang="en-US" baseline="0" dirty="0" err="1"/>
              <a:t>Captical</a:t>
            </a:r>
            <a:r>
              <a:rPr lang="en-US" baseline="0" dirty="0"/>
              <a:t> B is the parent of the leaf node b1. Therefore it is level two. So the score will be 0.8 to the power of 1 plus 2. Similarly we can calculate the score of b1 to c12 and so on. The event regularity score is the product of this node’s connecting edges score. And for the first and last event, the score is just the score of the edge connecting to it.</a:t>
            </a:r>
          </a:p>
          <a:p>
            <a:pPr defTabSz="904433" fontAlgn="base">
              <a:spcBef>
                <a:spcPct val="30000"/>
              </a:spcBef>
              <a:spcAft>
                <a:spcPct val="0"/>
              </a:spcAft>
              <a:defRPr/>
            </a:pPr>
            <a:r>
              <a:rPr lang="en-US" baseline="0" dirty="0"/>
              <a:t>After we calculating all the event regularity score, we can easily find for those events whose message receives no respond or who does not respond to anyone else’s ping will have a pretty low score. Then we call them irregular events.</a:t>
            </a:r>
          </a:p>
        </p:txBody>
      </p:sp>
      <p:sp>
        <p:nvSpPr>
          <p:cNvPr id="4" name="Slide Number Placeholder 3"/>
          <p:cNvSpPr>
            <a:spLocks noGrp="1"/>
          </p:cNvSpPr>
          <p:nvPr>
            <p:ph type="sldNum" sz="quarter" idx="10"/>
          </p:nvPr>
        </p:nvSpPr>
        <p:spPr/>
        <p:txBody>
          <a:bodyPr/>
          <a:lstStyle/>
          <a:p>
            <a:fld id="{4CA8B8DC-0AB8-41E4-901F-BDF168660745}" type="slidenum">
              <a:rPr lang="en-US" smtClean="0"/>
              <a:pPr/>
              <a:t>15</a:t>
            </a:fld>
            <a:endParaRPr lang="en-US"/>
          </a:p>
        </p:txBody>
      </p:sp>
    </p:spTree>
    <p:extLst>
      <p:ext uri="{BB962C8B-B14F-4D97-AF65-F5344CB8AC3E}">
        <p14:creationId xmlns:p14="http://schemas.microsoft.com/office/powerpoint/2010/main" val="25385935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We</a:t>
            </a:r>
            <a:r>
              <a:rPr lang="en-US" altLang="zh-CN" baseline="0" dirty="0"/>
              <a:t> then designed two enhancement methods to improve the performance of our algorithms.</a:t>
            </a:r>
            <a:endParaRPr lang="zh-CN" altLang="en-US" dirty="0"/>
          </a:p>
        </p:txBody>
      </p:sp>
      <p:sp>
        <p:nvSpPr>
          <p:cNvPr id="4" name="灯片编号占位符 3"/>
          <p:cNvSpPr>
            <a:spLocks noGrp="1"/>
          </p:cNvSpPr>
          <p:nvPr>
            <p:ph type="sldNum" sz="quarter" idx="10"/>
          </p:nvPr>
        </p:nvSpPr>
        <p:spPr/>
        <p:txBody>
          <a:bodyPr/>
          <a:lstStyle/>
          <a:p>
            <a:fld id="{4CA8B8DC-0AB8-41E4-901F-BDF168660745}" type="slidenum">
              <a:rPr lang="en-US" smtClean="0"/>
              <a:pPr/>
              <a:t>16</a:t>
            </a:fld>
            <a:endParaRPr lang="en-US"/>
          </a:p>
        </p:txBody>
      </p:sp>
    </p:spTree>
    <p:extLst>
      <p:ext uri="{BB962C8B-B14F-4D97-AF65-F5344CB8AC3E}">
        <p14:creationId xmlns:p14="http://schemas.microsoft.com/office/powerpoint/2010/main" val="17353663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basic idea is</a:t>
            </a:r>
            <a:r>
              <a:rPr lang="en-US" baseline="0" dirty="0"/>
              <a:t> a</a:t>
            </a:r>
            <a:r>
              <a:rPr lang="en-US" dirty="0"/>
              <a:t>s a message propagates a long way, the chance that it will form new edges in the graph becomes very small. This is because it is more likely to have a “path” between two farther nodes as the number of possible paths increases. Therefore, when the edge probability becomes low enough, we may stop the lengthy message propagation process.</a:t>
            </a:r>
          </a:p>
          <a:p>
            <a:r>
              <a:rPr lang="en-US" dirty="0"/>
              <a:t>We defined two functions to calculate the probability.</a:t>
            </a:r>
          </a:p>
          <a:p>
            <a:endParaRPr lang="en-US" dirty="0">
              <a:latin typeface="Arial" charset="0"/>
              <a:cs typeface="Arial" charset="0"/>
            </a:endParaRPr>
          </a:p>
          <a:p>
            <a:r>
              <a:rPr lang="en-US" dirty="0">
                <a:latin typeface="Arial" charset="0"/>
                <a:cs typeface="Arial" charset="0"/>
              </a:rPr>
              <a:t>The 1</a:t>
            </a:r>
            <a:r>
              <a:rPr lang="en-US" baseline="30000" dirty="0">
                <a:latin typeface="Arial" charset="0"/>
                <a:cs typeface="Arial" charset="0"/>
              </a:rPr>
              <a:t>st</a:t>
            </a:r>
            <a:r>
              <a:rPr lang="en-US" dirty="0">
                <a:latin typeface="Arial" charset="0"/>
                <a:cs typeface="Arial" charset="0"/>
              </a:rPr>
              <a:t> function tells that there</a:t>
            </a:r>
            <a:r>
              <a:rPr lang="en-US" baseline="0" dirty="0">
                <a:latin typeface="Arial" charset="0"/>
                <a:cs typeface="Arial" charset="0"/>
              </a:rPr>
              <a:t> is an edge to a vertex n hops away, if and only if.</a:t>
            </a:r>
          </a:p>
          <a:p>
            <a:r>
              <a:rPr lang="en-US" baseline="0" dirty="0">
                <a:latin typeface="Arial" charset="0"/>
                <a:cs typeface="Arial" charset="0"/>
              </a:rPr>
              <a:t>Similarly the second one shows the case of existing</a:t>
            </a:r>
          </a:p>
          <a:p>
            <a:r>
              <a:rPr lang="en-US" dirty="0">
                <a:latin typeface="Arial" charset="0"/>
                <a:cs typeface="Arial" charset="0"/>
              </a:rPr>
              <a:t>It</a:t>
            </a:r>
            <a:r>
              <a:rPr lang="en-US" baseline="0" dirty="0">
                <a:latin typeface="Arial" charset="0"/>
                <a:cs typeface="Arial" charset="0"/>
              </a:rPr>
              <a:t> is not hard to see that, by applying equations 2 and 1 alternately, we can iteratively obtain all qi and pi. We can stop the process, as well as the algorithm, when </a:t>
            </a:r>
            <a:r>
              <a:rPr lang="en-US" baseline="0" dirty="0" err="1">
                <a:latin typeface="Arial" charset="0"/>
                <a:cs typeface="Arial" charset="0"/>
              </a:rPr>
              <a:t>pn</a:t>
            </a:r>
            <a:r>
              <a:rPr lang="en-US" baseline="0" dirty="0">
                <a:latin typeface="Arial" charset="0"/>
                <a:cs typeface="Arial" charset="0"/>
              </a:rPr>
              <a:t> is small enough.</a:t>
            </a:r>
            <a:endParaRPr lang="en-US" dirty="0">
              <a:latin typeface="Arial" charset="0"/>
              <a:cs typeface="Arial" charset="0"/>
            </a:endParaRPr>
          </a:p>
        </p:txBody>
      </p:sp>
      <p:sp>
        <p:nvSpPr>
          <p:cNvPr id="4" name="Slide Number Placeholder 3"/>
          <p:cNvSpPr>
            <a:spLocks noGrp="1"/>
          </p:cNvSpPr>
          <p:nvPr>
            <p:ph type="sldNum" sz="quarter" idx="10"/>
          </p:nvPr>
        </p:nvSpPr>
        <p:spPr/>
        <p:txBody>
          <a:bodyPr/>
          <a:lstStyle/>
          <a:p>
            <a:fld id="{4CA8B8DC-0AB8-41E4-901F-BDF168660745}" type="slidenum">
              <a:rPr lang="en-US" smtClean="0"/>
              <a:pPr/>
              <a:t>17</a:t>
            </a:fld>
            <a:endParaRPr lang="en-US"/>
          </a:p>
        </p:txBody>
      </p:sp>
    </p:spTree>
    <p:extLst>
      <p:ext uri="{BB962C8B-B14F-4D97-AF65-F5344CB8AC3E}">
        <p14:creationId xmlns:p14="http://schemas.microsoft.com/office/powerpoint/2010/main" val="20052117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b="0" i="0" u="none" strike="noStrike" kern="1200" baseline="0" dirty="0">
                <a:solidFill>
                  <a:schemeClr val="tx1"/>
                </a:solidFill>
                <a:latin typeface="+mn-lt"/>
                <a:ea typeface="+mn-ea"/>
                <a:cs typeface="+mn-cs"/>
              </a:rPr>
              <a:t>Recall that, in the BUILDREGULARMODEL algorithm, we need to maintain a bitmap for each ordered pair (u; v) in S, which may be very space consuming when the number of events is large</a:t>
            </a:r>
          </a:p>
          <a:p>
            <a:r>
              <a:rPr lang="en-US" altLang="zh-CN" sz="1200" b="0" i="0" u="none" strike="noStrike" kern="1200" baseline="0" dirty="0">
                <a:solidFill>
                  <a:schemeClr val="tx1"/>
                </a:solidFill>
                <a:latin typeface="+mn-lt"/>
                <a:ea typeface="+mn-ea"/>
                <a:cs typeface="+mn-cs"/>
              </a:rPr>
              <a:t>We devise a novel approximation technique, which we call blended bitmap set to solve this problem.</a:t>
            </a:r>
            <a:endParaRPr lang="zh-CN" altLang="en-US" dirty="0"/>
          </a:p>
          <a:p>
            <a:endParaRPr lang="en-US" dirty="0"/>
          </a:p>
          <a:p>
            <a:r>
              <a:rPr lang="en-US" dirty="0"/>
              <a:t>The basic idea is as follows. Whenever an element-group pair (e; g) arrives (meaning element e is in group g), we apply each of the k hash functions hi to e and get the hash value be hi(e). We take log w bits from hi(e), which corresponds to a column (say, column j) in the </a:t>
            </a:r>
            <a:r>
              <a:rPr lang="en-US" dirty="0" err="1"/>
              <a:t>ith</a:t>
            </a:r>
            <a:r>
              <a:rPr lang="en-US" dirty="0"/>
              <a:t> row. Then we set the group information (group g) in the bitmap of cell (</a:t>
            </a:r>
            <a:r>
              <a:rPr lang="en-US" dirty="0" err="1"/>
              <a:t>i</a:t>
            </a:r>
            <a:r>
              <a:rPr lang="en-US" dirty="0"/>
              <a:t>; j), denoted as </a:t>
            </a:r>
            <a:r>
              <a:rPr lang="en-US" dirty="0" err="1"/>
              <a:t>bm</a:t>
            </a:r>
            <a:r>
              <a:rPr lang="en-US" dirty="0"/>
              <a:t>[</a:t>
            </a:r>
            <a:r>
              <a:rPr lang="en-US" dirty="0" err="1"/>
              <a:t>i</a:t>
            </a:r>
            <a:r>
              <a:rPr lang="en-US" dirty="0"/>
              <a:t>; j]. However, we do not directly set bit g of </a:t>
            </a:r>
            <a:r>
              <a:rPr lang="en-US" dirty="0" err="1"/>
              <a:t>bm</a:t>
            </a:r>
            <a:r>
              <a:rPr lang="en-US" dirty="0"/>
              <a:t>[</a:t>
            </a:r>
            <a:r>
              <a:rPr lang="en-US" dirty="0" err="1"/>
              <a:t>i</a:t>
            </a:r>
            <a:r>
              <a:rPr lang="en-US" dirty="0"/>
              <a:t>; j]. Instead, we apply a random permutation </a:t>
            </a:r>
            <a:r>
              <a:rPr lang="en-US" dirty="0" err="1"/>
              <a:t>permi</a:t>
            </a:r>
            <a:r>
              <a:rPr lang="en-US" dirty="0"/>
              <a:t> over the m bits,</a:t>
            </a:r>
          </a:p>
          <a:p>
            <a:r>
              <a:rPr lang="en-US" dirty="0"/>
              <a:t>where </a:t>
            </a:r>
            <a:r>
              <a:rPr lang="en-US" dirty="0" err="1"/>
              <a:t>permi</a:t>
            </a:r>
            <a:r>
              <a:rPr lang="en-US" dirty="0"/>
              <a:t> is also determined by hi(e) (by taking a few bits from it). Suppose bit g maps to bit g0 with this permutation. Then we set bit g0 of </a:t>
            </a:r>
            <a:r>
              <a:rPr lang="en-US" dirty="0" err="1"/>
              <a:t>bm</a:t>
            </a:r>
            <a:r>
              <a:rPr lang="en-US" dirty="0"/>
              <a:t>[</a:t>
            </a:r>
            <a:r>
              <a:rPr lang="en-US" dirty="0" err="1"/>
              <a:t>i</a:t>
            </a:r>
            <a:r>
              <a:rPr lang="en-US" dirty="0"/>
              <a:t>; j]. This is done for each of the k hash functions (k rows).</a:t>
            </a:r>
          </a:p>
          <a:p>
            <a:endParaRPr lang="en-US" dirty="0"/>
          </a:p>
          <a:p>
            <a:r>
              <a:rPr lang="en-US" dirty="0"/>
              <a:t>The query/lookup function on a BBS also first applies each of the k hash functions and locates cell (</a:t>
            </a:r>
            <a:r>
              <a:rPr lang="en-US" dirty="0" err="1"/>
              <a:t>i</a:t>
            </a:r>
            <a:r>
              <a:rPr lang="en-US" dirty="0"/>
              <a:t>; j) and </a:t>
            </a:r>
            <a:r>
              <a:rPr lang="en-US" dirty="0" err="1"/>
              <a:t>bm</a:t>
            </a:r>
            <a:r>
              <a:rPr lang="en-US" dirty="0"/>
              <a:t>[</a:t>
            </a:r>
            <a:r>
              <a:rPr lang="en-US" dirty="0" err="1"/>
              <a:t>i</a:t>
            </a:r>
            <a:r>
              <a:rPr lang="en-US" dirty="0"/>
              <a:t>; j] in the same way. Then it applies the reverse of the permutation perm-1i on </a:t>
            </a:r>
            <a:r>
              <a:rPr lang="en-US" dirty="0" err="1"/>
              <a:t>bm</a:t>
            </a:r>
            <a:r>
              <a:rPr lang="en-US" dirty="0"/>
              <a:t>[</a:t>
            </a:r>
            <a:r>
              <a:rPr lang="en-US" dirty="0" err="1"/>
              <a:t>i</a:t>
            </a:r>
            <a:r>
              <a:rPr lang="en-US" dirty="0"/>
              <a:t>; j] (for each 1  </a:t>
            </a:r>
            <a:r>
              <a:rPr lang="en-US" dirty="0" err="1"/>
              <a:t>i</a:t>
            </a:r>
            <a:r>
              <a:rPr lang="en-US" dirty="0"/>
              <a:t>  k). This gets the original bitmaps back. Then we do a bitwise AND over the k recovered bitmaps to estimate the group membership and group count. The bit permutations in BBS operations are for balancing the collision probabilities at each bit position (robust to group size skewness) to accurately estimate group counts.</a:t>
            </a:r>
          </a:p>
          <a:p>
            <a:endParaRPr lang="en-US" dirty="0"/>
          </a:p>
          <a:p>
            <a:endParaRPr lang="en-US" dirty="0"/>
          </a:p>
        </p:txBody>
      </p:sp>
      <p:sp>
        <p:nvSpPr>
          <p:cNvPr id="4" name="Slide Number Placeholder 3"/>
          <p:cNvSpPr>
            <a:spLocks noGrp="1"/>
          </p:cNvSpPr>
          <p:nvPr>
            <p:ph type="sldNum" sz="quarter" idx="10"/>
          </p:nvPr>
        </p:nvSpPr>
        <p:spPr/>
        <p:txBody>
          <a:bodyPr/>
          <a:lstStyle/>
          <a:p>
            <a:fld id="{4CA8B8DC-0AB8-41E4-901F-BDF168660745}" type="slidenum">
              <a:rPr lang="en-US" smtClean="0"/>
              <a:pPr/>
              <a:t>18</a:t>
            </a:fld>
            <a:endParaRPr lang="en-US"/>
          </a:p>
        </p:txBody>
      </p:sp>
    </p:spTree>
    <p:extLst>
      <p:ext uri="{BB962C8B-B14F-4D97-AF65-F5344CB8AC3E}">
        <p14:creationId xmlns:p14="http://schemas.microsoft.com/office/powerpoint/2010/main" val="20052117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Let’s see some of our experiment</a:t>
            </a:r>
            <a:r>
              <a:rPr lang="en-US" altLang="zh-CN" baseline="0" dirty="0"/>
              <a:t> results.</a:t>
            </a:r>
            <a:endParaRPr lang="zh-CN" altLang="en-US" dirty="0"/>
          </a:p>
        </p:txBody>
      </p:sp>
      <p:sp>
        <p:nvSpPr>
          <p:cNvPr id="4" name="灯片编号占位符 3"/>
          <p:cNvSpPr>
            <a:spLocks noGrp="1"/>
          </p:cNvSpPr>
          <p:nvPr>
            <p:ph type="sldNum" sz="quarter" idx="10"/>
          </p:nvPr>
        </p:nvSpPr>
        <p:spPr/>
        <p:txBody>
          <a:bodyPr/>
          <a:lstStyle/>
          <a:p>
            <a:fld id="{4CA8B8DC-0AB8-41E4-901F-BDF168660745}" type="slidenum">
              <a:rPr lang="en-US" smtClean="0"/>
              <a:pPr/>
              <a:t>19</a:t>
            </a:fld>
            <a:endParaRPr lang="en-US"/>
          </a:p>
        </p:txBody>
      </p:sp>
    </p:spTree>
    <p:extLst>
      <p:ext uri="{BB962C8B-B14F-4D97-AF65-F5344CB8AC3E}">
        <p14:creationId xmlns:p14="http://schemas.microsoft.com/office/powerpoint/2010/main" val="17353663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There are 77 and 84 sensors that were installed in everyday objects such as drawers, refrigerators, containers and so on. They collect 2 weeks indoor human activities.</a:t>
            </a:r>
            <a:r>
              <a:rPr lang="en-US" altLang="zh-CN" baseline="0" dirty="0"/>
              <a:t> </a:t>
            </a:r>
            <a:r>
              <a:rPr lang="en-US" altLang="zh-CN" dirty="0"/>
              <a:t>Activities associated with the sensor signals are labeled in the data.</a:t>
            </a:r>
            <a:endParaRPr lang="en-US" dirty="0"/>
          </a:p>
        </p:txBody>
      </p:sp>
      <p:sp>
        <p:nvSpPr>
          <p:cNvPr id="4" name="Slide Number Placeholder 3"/>
          <p:cNvSpPr>
            <a:spLocks noGrp="1"/>
          </p:cNvSpPr>
          <p:nvPr>
            <p:ph type="sldNum" sz="quarter" idx="10"/>
          </p:nvPr>
        </p:nvSpPr>
        <p:spPr/>
        <p:txBody>
          <a:bodyPr/>
          <a:lstStyle/>
          <a:p>
            <a:fld id="{4CA8B8DC-0AB8-41E4-901F-BDF168660745}" type="slidenum">
              <a:rPr lang="en-US" smtClean="0"/>
              <a:pPr/>
              <a:t>20</a:t>
            </a:fld>
            <a:endParaRPr lang="en-US"/>
          </a:p>
        </p:txBody>
      </p:sp>
    </p:spTree>
    <p:extLst>
      <p:ext uri="{BB962C8B-B14F-4D97-AF65-F5344CB8AC3E}">
        <p14:creationId xmlns:p14="http://schemas.microsoft.com/office/powerpoint/2010/main" val="42503465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 is</a:t>
            </a:r>
            <a:r>
              <a:rPr lang="en-US" altLang="zh-CN" baseline="0" dirty="0"/>
              <a:t> one of event hierarchy trees we used in our experiment.</a:t>
            </a:r>
            <a:endParaRPr lang="zh-CN" altLang="en-US" dirty="0"/>
          </a:p>
        </p:txBody>
      </p:sp>
      <p:sp>
        <p:nvSpPr>
          <p:cNvPr id="4" name="灯片编号占位符 3"/>
          <p:cNvSpPr>
            <a:spLocks noGrp="1"/>
          </p:cNvSpPr>
          <p:nvPr>
            <p:ph type="sldNum" sz="quarter" idx="10"/>
          </p:nvPr>
        </p:nvSpPr>
        <p:spPr/>
        <p:txBody>
          <a:bodyPr/>
          <a:lstStyle/>
          <a:p>
            <a:fld id="{4CA8B8DC-0AB8-41E4-901F-BDF168660745}" type="slidenum">
              <a:rPr lang="en-US" smtClean="0"/>
              <a:pPr/>
              <a:t>21</a:t>
            </a:fld>
            <a:endParaRPr lang="en-US"/>
          </a:p>
        </p:txBody>
      </p:sp>
    </p:spTree>
    <p:extLst>
      <p:ext uri="{BB962C8B-B14F-4D97-AF65-F5344CB8AC3E}">
        <p14:creationId xmlns:p14="http://schemas.microsoft.com/office/powerpoint/2010/main" val="29318805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subgraph</a:t>
            </a:r>
            <a:r>
              <a:rPr lang="en-US" baseline="0" dirty="0"/>
              <a:t> of regular model we learned from the hybrid data which is similar to smart house dataset. We only show the leaf to leaf edges in here, but our regular model also includes event vertices at various levels of event hierarchy produced by cobweb.</a:t>
            </a:r>
            <a:endParaRPr lang="en-US" dirty="0"/>
          </a:p>
        </p:txBody>
      </p:sp>
      <p:sp>
        <p:nvSpPr>
          <p:cNvPr id="4" name="Slide Number Placeholder 3"/>
          <p:cNvSpPr>
            <a:spLocks noGrp="1"/>
          </p:cNvSpPr>
          <p:nvPr>
            <p:ph type="sldNum" sz="quarter" idx="10"/>
          </p:nvPr>
        </p:nvSpPr>
        <p:spPr/>
        <p:txBody>
          <a:bodyPr/>
          <a:lstStyle/>
          <a:p>
            <a:fld id="{4CA8B8DC-0AB8-41E4-901F-BDF168660745}" type="slidenum">
              <a:rPr lang="en-US" smtClean="0"/>
              <a:pPr/>
              <a:t>22</a:t>
            </a:fld>
            <a:endParaRPr lang="en-US"/>
          </a:p>
        </p:txBody>
      </p:sp>
    </p:spTree>
    <p:extLst>
      <p:ext uri="{BB962C8B-B14F-4D97-AF65-F5344CB8AC3E}">
        <p14:creationId xmlns:p14="http://schemas.microsoft.com/office/powerpoint/2010/main" val="28368462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 and 2 shows</a:t>
            </a:r>
            <a:r>
              <a:rPr lang="en-US" baseline="0" dirty="0"/>
              <a:t> the relation between leaf degree and the threshold parameter. As threshold increase, the degree will decrease because fewer event pairs are qualified for edges.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The last two figures in this slide</a:t>
            </a:r>
            <a:r>
              <a:rPr lang="en-US" altLang="zh-CN" baseline="0" dirty="0"/>
              <a:t> </a:t>
            </a:r>
            <a:r>
              <a:rPr lang="en-US" altLang="zh-CN" dirty="0"/>
              <a:t>shows our algorithm</a:t>
            </a:r>
            <a:r>
              <a:rPr lang="en-US" altLang="zh-CN" baseline="0" dirty="0"/>
              <a:t> can run on a multicore processor which will save the running time.</a:t>
            </a:r>
          </a:p>
          <a:p>
            <a:endParaRPr lang="en-US" dirty="0"/>
          </a:p>
        </p:txBody>
      </p:sp>
      <p:sp>
        <p:nvSpPr>
          <p:cNvPr id="4" name="Slide Number Placeholder 3"/>
          <p:cNvSpPr>
            <a:spLocks noGrp="1"/>
          </p:cNvSpPr>
          <p:nvPr>
            <p:ph type="sldNum" sz="quarter" idx="10"/>
          </p:nvPr>
        </p:nvSpPr>
        <p:spPr/>
        <p:txBody>
          <a:bodyPr/>
          <a:lstStyle/>
          <a:p>
            <a:fld id="{4CA8B8DC-0AB8-41E4-901F-BDF168660745}" type="slidenum">
              <a:rPr lang="en-US" smtClean="0"/>
              <a:pPr/>
              <a:t>23</a:t>
            </a:fld>
            <a:endParaRPr lang="en-US"/>
          </a:p>
        </p:txBody>
      </p:sp>
    </p:spTree>
    <p:extLst>
      <p:ext uri="{BB962C8B-B14F-4D97-AF65-F5344CB8AC3E}">
        <p14:creationId xmlns:p14="http://schemas.microsoft.com/office/powerpoint/2010/main" val="42026370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A8B8DC-0AB8-41E4-901F-BDF168660745}" type="slidenum">
              <a:rPr lang="en-US" smtClean="0"/>
              <a:pPr/>
              <a:t>24</a:t>
            </a:fld>
            <a:endParaRPr lang="en-US"/>
          </a:p>
        </p:txBody>
      </p:sp>
    </p:spTree>
    <p:extLst>
      <p:ext uri="{BB962C8B-B14F-4D97-AF65-F5344CB8AC3E}">
        <p14:creationId xmlns:p14="http://schemas.microsoft.com/office/powerpoint/2010/main" val="34821936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figures in</a:t>
            </a:r>
            <a:r>
              <a:rPr lang="en-US" baseline="0" dirty="0"/>
              <a:t> here shows with BBS we can save 8 MB memory and the execution time only increase 0.1 second. The accuracy is pretty high in here too.</a:t>
            </a:r>
            <a:endParaRPr lang="en-US" dirty="0"/>
          </a:p>
        </p:txBody>
      </p:sp>
      <p:sp>
        <p:nvSpPr>
          <p:cNvPr id="4" name="Slide Number Placeholder 3"/>
          <p:cNvSpPr>
            <a:spLocks noGrp="1"/>
          </p:cNvSpPr>
          <p:nvPr>
            <p:ph type="sldNum" sz="quarter" idx="10"/>
          </p:nvPr>
        </p:nvSpPr>
        <p:spPr/>
        <p:txBody>
          <a:bodyPr/>
          <a:lstStyle/>
          <a:p>
            <a:fld id="{4CA8B8DC-0AB8-41E4-901F-BDF168660745}" type="slidenum">
              <a:rPr lang="en-US" smtClean="0"/>
              <a:pPr/>
              <a:t>25</a:t>
            </a:fld>
            <a:endParaRPr lang="en-US"/>
          </a:p>
        </p:txBody>
      </p:sp>
    </p:spTree>
    <p:extLst>
      <p:ext uri="{BB962C8B-B14F-4D97-AF65-F5344CB8AC3E}">
        <p14:creationId xmlns:p14="http://schemas.microsoft.com/office/powerpoint/2010/main" val="34821936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identified a new problem that is</a:t>
            </a:r>
          </a:p>
          <a:p>
            <a:r>
              <a:rPr lang="en-US" dirty="0"/>
              <a:t>We design</a:t>
            </a:r>
          </a:p>
          <a:p>
            <a:r>
              <a:rPr lang="en-US" dirty="0"/>
              <a:t>We</a:t>
            </a:r>
            <a:r>
              <a:rPr lang="en-US" baseline="0" dirty="0"/>
              <a:t> use two enhancement method to improve performance. And the experiments shows that they saved both time and space.</a:t>
            </a:r>
            <a:endParaRPr lang="en-US" dirty="0"/>
          </a:p>
        </p:txBody>
      </p:sp>
      <p:sp>
        <p:nvSpPr>
          <p:cNvPr id="4" name="Slide Number Placeholder 3"/>
          <p:cNvSpPr>
            <a:spLocks noGrp="1"/>
          </p:cNvSpPr>
          <p:nvPr>
            <p:ph type="sldNum" sz="quarter" idx="10"/>
          </p:nvPr>
        </p:nvSpPr>
        <p:spPr/>
        <p:txBody>
          <a:bodyPr/>
          <a:lstStyle/>
          <a:p>
            <a:fld id="{4CA8B8DC-0AB8-41E4-901F-BDF168660745}" type="slidenum">
              <a:rPr lang="en-US" smtClean="0"/>
              <a:pPr/>
              <a:t>26</a:t>
            </a:fld>
            <a:endParaRPr lang="en-US"/>
          </a:p>
        </p:txBody>
      </p:sp>
    </p:spTree>
    <p:extLst>
      <p:ext uri="{BB962C8B-B14F-4D97-AF65-F5344CB8AC3E}">
        <p14:creationId xmlns:p14="http://schemas.microsoft.com/office/powerpoint/2010/main" val="17804542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446067C-41AE-4BC6-922D-E0BD4AE7863B}" type="slidenum">
              <a:rPr lang="zh-CN" altLang="en-US" smtClean="0"/>
              <a:t>27</a:t>
            </a:fld>
            <a:endParaRPr lang="zh-CN" altLang="en-US"/>
          </a:p>
        </p:txBody>
      </p:sp>
    </p:spTree>
    <p:extLst>
      <p:ext uri="{BB962C8B-B14F-4D97-AF65-F5344CB8AC3E}">
        <p14:creationId xmlns:p14="http://schemas.microsoft.com/office/powerpoint/2010/main" val="393273378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hemeOverride" Target="../theme/themeOverride2.xml"/><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9" name="Picture 8" descr="logo_small.png"/>
          <p:cNvPicPr>
            <a:picLocks noChangeAspect="1"/>
          </p:cNvPicPr>
          <p:nvPr/>
        </p:nvPicPr>
        <p:blipFill>
          <a:blip r:embed="rId2" cstate="print"/>
          <a:stretch>
            <a:fillRect/>
          </a:stretch>
        </p:blipFill>
        <p:spPr>
          <a:xfrm>
            <a:off x="8375905" y="6071616"/>
            <a:ext cx="572609" cy="685800"/>
          </a:xfrm>
          <a:prstGeom prst="rect">
            <a:avLst/>
          </a:prstGeom>
          <a:noFill/>
        </p:spPr>
      </p:pic>
      <p:pic>
        <p:nvPicPr>
          <p:cNvPr id="10" name="Picture 9" descr="cover_footer.png"/>
          <p:cNvPicPr>
            <a:picLocks noChangeAspect="1"/>
          </p:cNvPicPr>
          <p:nvPr/>
        </p:nvPicPr>
        <p:blipFill>
          <a:blip r:embed="rId3" cstate="print"/>
          <a:stretch>
            <a:fillRect/>
          </a:stretch>
        </p:blipFill>
        <p:spPr>
          <a:xfrm>
            <a:off x="0" y="4875610"/>
            <a:ext cx="9220200" cy="1982391"/>
          </a:xfrm>
          <a:prstGeom prst="rect">
            <a:avLst/>
          </a:prstGeom>
        </p:spPr>
      </p:pic>
      <p:pic>
        <p:nvPicPr>
          <p:cNvPr id="11" name="Picture 10" descr="logo_small.png"/>
          <p:cNvPicPr>
            <a:picLocks noChangeAspect="1"/>
          </p:cNvPicPr>
          <p:nvPr/>
        </p:nvPicPr>
        <p:blipFill>
          <a:blip r:embed="rId4" cstate="print"/>
          <a:stretch>
            <a:fillRect/>
          </a:stretch>
        </p:blipFill>
        <p:spPr>
          <a:xfrm>
            <a:off x="8375905" y="6071616"/>
            <a:ext cx="572609" cy="685800"/>
          </a:xfrm>
          <a:prstGeom prst="rect">
            <a:avLst/>
          </a:prstGeom>
        </p:spPr>
      </p:pic>
      <p:sp>
        <p:nvSpPr>
          <p:cNvPr id="4" name="TextBox 3"/>
          <p:cNvSpPr txBox="1"/>
          <p:nvPr/>
        </p:nvSpPr>
        <p:spPr>
          <a:xfrm>
            <a:off x="143536" y="6548474"/>
            <a:ext cx="3377761" cy="215444"/>
          </a:xfrm>
          <a:prstGeom prst="rect">
            <a:avLst/>
          </a:prstGeom>
          <a:noFill/>
        </p:spPr>
        <p:txBody>
          <a:bodyPr wrap="square" rtlCol="0">
            <a:spAutoFit/>
          </a:bodyPr>
          <a:lstStyle/>
          <a:p>
            <a:r>
              <a:rPr lang="en-US" sz="800" b="1" i="1" dirty="0">
                <a:solidFill>
                  <a:srgbClr val="003E8A"/>
                </a:solidFill>
                <a:latin typeface="Verdana" pitchFamily="34" charset="0"/>
                <a:ea typeface="Verdana" pitchFamily="34" charset="0"/>
                <a:cs typeface="Verdana" pitchFamily="34" charset="0"/>
              </a:rPr>
              <a:t>Learning</a:t>
            </a:r>
            <a:r>
              <a:rPr lang="en-US" sz="800" b="1" i="1" baseline="0" dirty="0">
                <a:solidFill>
                  <a:srgbClr val="003E8A"/>
                </a:solidFill>
                <a:latin typeface="Verdana" pitchFamily="34" charset="0"/>
                <a:ea typeface="Verdana" pitchFamily="34" charset="0"/>
                <a:cs typeface="Verdana" pitchFamily="34" charset="0"/>
              </a:rPr>
              <a:t> with Purpose</a:t>
            </a:r>
            <a:endParaRPr lang="en-US" sz="800" b="1" i="1" dirty="0">
              <a:solidFill>
                <a:srgbClr val="003E8A"/>
              </a:solidFill>
              <a:latin typeface="Verdana" pitchFamily="34" charset="0"/>
              <a:ea typeface="Verdana" pitchFamily="34" charset="0"/>
              <a:cs typeface="Verdana" pitchFamily="34" charset="0"/>
            </a:endParaRPr>
          </a:p>
        </p:txBody>
      </p:sp>
      <p:sp>
        <p:nvSpPr>
          <p:cNvPr id="7" name="Rounded Rectangle 6"/>
          <p:cNvSpPr/>
          <p:nvPr/>
        </p:nvSpPr>
        <p:spPr>
          <a:xfrm>
            <a:off x="1104900" y="1752600"/>
            <a:ext cx="6934200" cy="3352800"/>
          </a:xfrm>
          <a:prstGeom prst="roundRect">
            <a:avLst>
              <a:gd name="adj" fmla="val 6764"/>
            </a:avLst>
          </a:prstGeom>
          <a:gradFill>
            <a:gsLst>
              <a:gs pos="100000">
                <a:schemeClr val="bg1">
                  <a:lumMod val="95000"/>
                </a:schemeClr>
              </a:gs>
              <a:gs pos="1667">
                <a:schemeClr val="bg1">
                  <a:lumMod val="95000"/>
                </a:schemeClr>
              </a:gs>
              <a:gs pos="50000">
                <a:schemeClr val="bg1"/>
              </a:gs>
            </a:gsLst>
            <a:lin ang="0" scaled="0"/>
          </a:gradFill>
          <a:ln>
            <a:noFill/>
          </a:ln>
          <a:effectLst>
            <a:outerShdw blurRad="1270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1295400" y="1981201"/>
            <a:ext cx="6553200" cy="1447799"/>
          </a:xfrm>
          <a:prstGeom prst="rect">
            <a:avLst/>
          </a:prstGeom>
        </p:spPr>
        <p:txBody>
          <a:bodyPr anchor="b">
            <a:normAutofit/>
          </a:bodyPr>
          <a:lstStyle>
            <a:lvl1pPr>
              <a:defRPr sz="3000" b="1">
                <a:solidFill>
                  <a:srgbClr val="003C9E"/>
                </a:solidFill>
                <a:latin typeface="Verdana" pitchFamily="34" charset="0"/>
                <a:ea typeface="Verdana" pitchFamily="34" charset="0"/>
                <a:cs typeface="Verdana"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371600" y="3505200"/>
            <a:ext cx="6400800" cy="1447800"/>
          </a:xfrm>
          <a:prstGeom prst="rect">
            <a:avLst/>
          </a:prstGeom>
        </p:spPr>
        <p:txBody>
          <a:bodyPr>
            <a:normAutofit/>
          </a:bodyPr>
          <a:lstStyle>
            <a:lvl1pPr marL="0" indent="0" algn="ctr">
              <a:buNone/>
              <a:defRPr lang="en-US" sz="2500" b="0" kern="1200" dirty="0">
                <a:solidFill>
                  <a:srgbClr val="24B0E3"/>
                </a:solidFill>
                <a:latin typeface="Verdana" pitchFamily="34" charset="0"/>
                <a:ea typeface="Verdana" pitchFamily="34" charset="0"/>
                <a:cs typeface="Verdana" pitchFamily="34" charset="0"/>
              </a:defRPr>
            </a:lvl1pPr>
            <a:lvl2pPr marL="457146" indent="0" algn="ctr">
              <a:buNone/>
              <a:defRPr>
                <a:solidFill>
                  <a:schemeClr val="tx1">
                    <a:tint val="75000"/>
                  </a:schemeClr>
                </a:solidFill>
              </a:defRPr>
            </a:lvl2pPr>
            <a:lvl3pPr marL="914293" indent="0" algn="ctr">
              <a:buNone/>
              <a:defRPr>
                <a:solidFill>
                  <a:schemeClr val="tx1">
                    <a:tint val="75000"/>
                  </a:schemeClr>
                </a:solidFill>
              </a:defRPr>
            </a:lvl3pPr>
            <a:lvl4pPr marL="1371440" indent="0" algn="ctr">
              <a:buNone/>
              <a:defRPr>
                <a:solidFill>
                  <a:schemeClr val="tx1">
                    <a:tint val="75000"/>
                  </a:schemeClr>
                </a:solidFill>
              </a:defRPr>
            </a:lvl4pPr>
            <a:lvl5pPr marL="1828586" indent="0" algn="ctr">
              <a:buNone/>
              <a:defRPr>
                <a:solidFill>
                  <a:schemeClr val="tx1">
                    <a:tint val="75000"/>
                  </a:schemeClr>
                </a:solidFill>
              </a:defRPr>
            </a:lvl5pPr>
            <a:lvl6pPr marL="2285733" indent="0" algn="ctr">
              <a:buNone/>
              <a:defRPr>
                <a:solidFill>
                  <a:schemeClr val="tx1">
                    <a:tint val="75000"/>
                  </a:schemeClr>
                </a:solidFill>
              </a:defRPr>
            </a:lvl6pPr>
            <a:lvl7pPr marL="2742879" indent="0" algn="ctr">
              <a:buNone/>
              <a:defRPr>
                <a:solidFill>
                  <a:schemeClr val="tx1">
                    <a:tint val="75000"/>
                  </a:schemeClr>
                </a:solidFill>
              </a:defRPr>
            </a:lvl7pPr>
            <a:lvl8pPr marL="3200026" indent="0" algn="ctr">
              <a:buNone/>
              <a:defRPr>
                <a:solidFill>
                  <a:schemeClr val="tx1">
                    <a:tint val="75000"/>
                  </a:schemeClr>
                </a:solidFill>
              </a:defRPr>
            </a:lvl8pPr>
            <a:lvl9pPr marL="3657172" indent="0" algn="ctr">
              <a:buNone/>
              <a:defRPr>
                <a:solidFill>
                  <a:schemeClr val="tx1">
                    <a:tint val="75000"/>
                  </a:schemeClr>
                </a:solidFill>
              </a:defRPr>
            </a:lvl9pPr>
          </a:lstStyle>
          <a:p>
            <a:r>
              <a:rPr lang="en-US"/>
              <a:t>Click to edit Master subtitle style</a:t>
            </a: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1"/>
            <a:ext cx="8229600" cy="4876799"/>
          </a:xfrm>
          <a:prstGeom prst="rect">
            <a:avLst/>
          </a:prstGeom>
        </p:spPr>
        <p:txBody>
          <a:bodyPr/>
          <a:lstStyle>
            <a:lvl1pPr marL="342860" indent="-342860">
              <a:buFontTx/>
              <a:buBlip>
                <a:blip r:embed="rId3"/>
              </a:buBlip>
              <a:defRPr sz="2500">
                <a:solidFill>
                  <a:schemeClr val="tx1">
                    <a:lumMod val="50000"/>
                    <a:lumOff val="50000"/>
                  </a:schemeClr>
                </a:solidFill>
                <a:latin typeface="Verdana" pitchFamily="34" charset="0"/>
                <a:ea typeface="Verdana" pitchFamily="34" charset="0"/>
                <a:cs typeface="Verdana" pitchFamily="34" charset="0"/>
              </a:defRPr>
            </a:lvl1pPr>
            <a:lvl2pPr marL="742863" indent="-285717">
              <a:buClr>
                <a:srgbClr val="24B0E3"/>
              </a:buClr>
              <a:buFont typeface="Arial" pitchFamily="34" charset="0"/>
              <a:buChar char="•"/>
              <a:defRPr sz="2200">
                <a:solidFill>
                  <a:schemeClr val="tx1">
                    <a:lumMod val="50000"/>
                    <a:lumOff val="50000"/>
                  </a:schemeClr>
                </a:solidFill>
                <a:latin typeface="Verdana" pitchFamily="34" charset="0"/>
                <a:ea typeface="Verdana" pitchFamily="34" charset="0"/>
                <a:cs typeface="Verdana" pitchFamily="34" charset="0"/>
              </a:defRPr>
            </a:lvl2pPr>
            <a:lvl3pPr marL="1142867" indent="-228573">
              <a:buClr>
                <a:schemeClr val="bg1"/>
              </a:buClr>
              <a:buFont typeface="Arial" pitchFamily="34" charset="0"/>
              <a:buChar char="•"/>
              <a:defRPr sz="2000">
                <a:solidFill>
                  <a:schemeClr val="tx1">
                    <a:lumMod val="50000"/>
                    <a:lumOff val="50000"/>
                  </a:schemeClr>
                </a:solidFill>
                <a:latin typeface="Verdana" pitchFamily="34" charset="0"/>
                <a:ea typeface="Verdana" pitchFamily="34" charset="0"/>
                <a:cs typeface="Verdana" pitchFamily="34" charset="0"/>
              </a:defRPr>
            </a:lvl3pPr>
            <a:lvl4pPr>
              <a:defRPr sz="1800">
                <a:solidFill>
                  <a:schemeClr val="tx1">
                    <a:lumMod val="50000"/>
                    <a:lumOff val="50000"/>
                  </a:schemeClr>
                </a:solidFill>
                <a:latin typeface="Verdana" pitchFamily="34" charset="0"/>
                <a:ea typeface="Verdana" pitchFamily="34" charset="0"/>
                <a:cs typeface="Verdana" pitchFamily="34" charset="0"/>
              </a:defRPr>
            </a:lvl4pPr>
            <a:lvl5pPr>
              <a:defRPr sz="1600">
                <a:solidFill>
                  <a:schemeClr val="tx1">
                    <a:lumMod val="50000"/>
                    <a:lumOff val="50000"/>
                  </a:schemeClr>
                </a:solidFill>
                <a:latin typeface="Verdana" pitchFamily="34" charset="0"/>
                <a:ea typeface="Verdana" pitchFamily="34" charset="0"/>
                <a:cs typeface="Verdan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itle 13"/>
          <p:cNvSpPr>
            <a:spLocks noGrp="1"/>
          </p:cNvSpPr>
          <p:nvPr>
            <p:ph type="title" hasCustomPrompt="1"/>
          </p:nvPr>
        </p:nvSpPr>
        <p:spPr>
          <a:xfrm>
            <a:off x="457200" y="274638"/>
            <a:ext cx="8229600" cy="639762"/>
          </a:xfrm>
          <a:prstGeom prst="rect">
            <a:avLst/>
          </a:prstGeom>
          <a:gradFill>
            <a:gsLst>
              <a:gs pos="100000">
                <a:schemeClr val="bg1">
                  <a:lumMod val="95000"/>
                </a:schemeClr>
              </a:gs>
              <a:gs pos="1667">
                <a:schemeClr val="bg1">
                  <a:lumMod val="95000"/>
                </a:schemeClr>
              </a:gs>
              <a:gs pos="50000">
                <a:schemeClr val="bg1"/>
              </a:gs>
            </a:gsLst>
            <a:lin ang="0" scaled="0"/>
          </a:gradFill>
          <a:ln>
            <a:noFill/>
          </a:ln>
          <a:effectLst>
            <a:outerShdw blurRad="1270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3000" b="1" baseline="0" dirty="0">
                <a:solidFill>
                  <a:srgbClr val="003C9E"/>
                </a:solidFill>
                <a:latin typeface="Verdana" pitchFamily="34" charset="0"/>
                <a:ea typeface="Verdana" pitchFamily="34" charset="0"/>
                <a:cs typeface="Verdana" pitchFamily="34" charset="0"/>
              </a:defRPr>
            </a:lvl1pPr>
          </a:lstStyle>
          <a:p>
            <a:pPr marL="0" lvl="0" indent="-342860">
              <a:lnSpc>
                <a:spcPct val="100000"/>
              </a:lnSpc>
              <a:spcBef>
                <a:spcPct val="20000"/>
              </a:spcBef>
              <a:buFont typeface="Arial" pitchFamily="34" charset="0"/>
              <a:buChar char="•"/>
            </a:pPr>
            <a:r>
              <a:rPr lang="en-US" dirty="0"/>
              <a:t>Main Title</a:t>
            </a:r>
          </a:p>
        </p:txBody>
      </p:sp>
      <p:sp>
        <p:nvSpPr>
          <p:cNvPr id="16" name="Text Placeholder 15"/>
          <p:cNvSpPr>
            <a:spLocks noGrp="1"/>
          </p:cNvSpPr>
          <p:nvPr>
            <p:ph type="body" sz="quarter" idx="10" hasCustomPrompt="1"/>
          </p:nvPr>
        </p:nvSpPr>
        <p:spPr>
          <a:xfrm>
            <a:off x="457200" y="990600"/>
            <a:ext cx="8229600" cy="533400"/>
          </a:xfrm>
          <a:prstGeom prst="rect">
            <a:avLst/>
          </a:prstGeom>
        </p:spPr>
        <p:txBody>
          <a:bodyPr anchor="ctr"/>
          <a:lstStyle>
            <a:lvl1pPr marL="0" indent="0" algn="ctr">
              <a:buNone/>
              <a:defRPr kumimoji="0" lang="en-US" sz="2300" b="0" i="0" u="none" strike="noStrike" kern="1200" cap="none" spc="0" normalizeH="0" baseline="0" dirty="0" smtClean="0">
                <a:ln>
                  <a:noFill/>
                </a:ln>
                <a:solidFill>
                  <a:srgbClr val="24B0E3"/>
                </a:solidFill>
                <a:effectLst/>
                <a:uLnTx/>
                <a:uFillTx/>
                <a:latin typeface="Verdana" pitchFamily="34" charset="0"/>
                <a:ea typeface="Verdana" pitchFamily="34" charset="0"/>
                <a:cs typeface="Verdana" pitchFamily="34" charset="0"/>
              </a:defRPr>
            </a:lvl1pPr>
          </a:lstStyle>
          <a:p>
            <a:pPr lvl="0"/>
            <a:r>
              <a:rPr lang="en-US" dirty="0"/>
              <a:t>Sub Title</a:t>
            </a: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4" name="Title 13"/>
          <p:cNvSpPr>
            <a:spLocks noGrp="1"/>
          </p:cNvSpPr>
          <p:nvPr>
            <p:ph type="title" hasCustomPrompt="1"/>
          </p:nvPr>
        </p:nvSpPr>
        <p:spPr>
          <a:xfrm>
            <a:off x="457200" y="2895600"/>
            <a:ext cx="8229600" cy="639762"/>
          </a:xfrm>
          <a:prstGeom prst="rect">
            <a:avLst/>
          </a:prstGeom>
          <a:gradFill>
            <a:gsLst>
              <a:gs pos="100000">
                <a:schemeClr val="bg1">
                  <a:lumMod val="95000"/>
                </a:schemeClr>
              </a:gs>
              <a:gs pos="1667">
                <a:schemeClr val="bg1">
                  <a:lumMod val="95000"/>
                </a:schemeClr>
              </a:gs>
              <a:gs pos="50000">
                <a:schemeClr val="bg1"/>
              </a:gs>
            </a:gsLst>
            <a:lin ang="0" scaled="0"/>
          </a:gradFill>
          <a:ln>
            <a:noFill/>
          </a:ln>
          <a:effectLst>
            <a:outerShdw blurRad="1270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3000" b="1" baseline="0" dirty="0">
                <a:solidFill>
                  <a:srgbClr val="003C9E"/>
                </a:solidFill>
                <a:latin typeface="Verdana" pitchFamily="34" charset="0"/>
                <a:ea typeface="Verdana" pitchFamily="34" charset="0"/>
                <a:cs typeface="Verdana" pitchFamily="34" charset="0"/>
              </a:defRPr>
            </a:lvl1pPr>
          </a:lstStyle>
          <a:p>
            <a:pPr marL="0" lvl="0" indent="-342860">
              <a:lnSpc>
                <a:spcPct val="100000"/>
              </a:lnSpc>
              <a:spcBef>
                <a:spcPct val="20000"/>
              </a:spcBef>
              <a:buFont typeface="Arial" pitchFamily="34" charset="0"/>
              <a:buChar char="•"/>
            </a:pPr>
            <a:r>
              <a:rPr lang="en-US" dirty="0"/>
              <a:t>Main Title</a:t>
            </a:r>
          </a:p>
        </p:txBody>
      </p:sp>
      <p:sp>
        <p:nvSpPr>
          <p:cNvPr id="5" name="Text Placeholder 15"/>
          <p:cNvSpPr>
            <a:spLocks noGrp="1"/>
          </p:cNvSpPr>
          <p:nvPr>
            <p:ph type="body" sz="quarter" idx="10" hasCustomPrompt="1"/>
          </p:nvPr>
        </p:nvSpPr>
        <p:spPr>
          <a:xfrm>
            <a:off x="457200" y="3611562"/>
            <a:ext cx="8229600" cy="533400"/>
          </a:xfrm>
          <a:prstGeom prst="rect">
            <a:avLst/>
          </a:prstGeom>
        </p:spPr>
        <p:txBody>
          <a:bodyPr anchor="ctr"/>
          <a:lstStyle>
            <a:lvl1pPr>
              <a:defRPr kumimoji="0" lang="en-US" sz="2300" b="0" i="0" u="none" strike="noStrike" cap="none" spc="0" normalizeH="0" baseline="0" dirty="0" smtClean="0">
                <a:ln>
                  <a:noFill/>
                </a:ln>
                <a:solidFill>
                  <a:srgbClr val="24B0E3"/>
                </a:solidFill>
                <a:effectLst/>
                <a:uLnTx/>
                <a:uFillTx/>
                <a:latin typeface="Verdana" pitchFamily="34" charset="0"/>
                <a:ea typeface="Verdana" pitchFamily="34" charset="0"/>
                <a:cs typeface="Verdana" pitchFamily="34" charset="0"/>
              </a:defRPr>
            </a:lvl1pPr>
          </a:lstStyle>
          <a:p>
            <a:pPr marL="0" lvl="0" indent="0" algn="ctr">
              <a:buNone/>
            </a:pPr>
            <a:r>
              <a:rPr lang="en-US" dirty="0"/>
              <a:t>Sub Title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600201"/>
            <a:ext cx="4038600" cy="5029199"/>
          </a:xfrm>
          <a:prstGeom prst="rect">
            <a:avLst/>
          </a:prstGeom>
        </p:spPr>
        <p:txBody>
          <a:bodyPr/>
          <a:lstStyle>
            <a:lvl1pPr>
              <a:defRPr lang="en-US" sz="2500" smtClean="0">
                <a:solidFill>
                  <a:schemeClr val="tx1">
                    <a:lumMod val="50000"/>
                    <a:lumOff val="50000"/>
                  </a:schemeClr>
                </a:solidFill>
                <a:latin typeface="Verdana" pitchFamily="34" charset="0"/>
                <a:ea typeface="Verdana" pitchFamily="34" charset="0"/>
                <a:cs typeface="Verdana" pitchFamily="34" charset="0"/>
              </a:defRPr>
            </a:lvl1pPr>
            <a:lvl2pPr>
              <a:defRPr lang="en-US" sz="2200" smtClean="0">
                <a:solidFill>
                  <a:schemeClr val="tx1">
                    <a:lumMod val="50000"/>
                    <a:lumOff val="50000"/>
                  </a:schemeClr>
                </a:solidFill>
                <a:latin typeface="Verdana" pitchFamily="34" charset="0"/>
                <a:ea typeface="Verdana" pitchFamily="34" charset="0"/>
                <a:cs typeface="Verdana" pitchFamily="34" charset="0"/>
              </a:defRPr>
            </a:lvl2pPr>
            <a:lvl3pPr>
              <a:defRPr lang="en-US" sz="2000" smtClean="0">
                <a:solidFill>
                  <a:schemeClr val="tx1">
                    <a:lumMod val="50000"/>
                    <a:lumOff val="50000"/>
                  </a:schemeClr>
                </a:solidFill>
                <a:latin typeface="Verdana" pitchFamily="34" charset="0"/>
                <a:ea typeface="Verdana" pitchFamily="34" charset="0"/>
                <a:cs typeface="Verdana" pitchFamily="34" charset="0"/>
              </a:defRPr>
            </a:lvl3pPr>
            <a:lvl4pPr>
              <a:defRPr lang="en-US" sz="1800" smtClean="0">
                <a:solidFill>
                  <a:schemeClr val="tx1">
                    <a:lumMod val="50000"/>
                    <a:lumOff val="50000"/>
                  </a:schemeClr>
                </a:solidFill>
                <a:latin typeface="Verdana" pitchFamily="34" charset="0"/>
                <a:ea typeface="Verdana" pitchFamily="34" charset="0"/>
                <a:cs typeface="Verdana" pitchFamily="34" charset="0"/>
              </a:defRPr>
            </a:lvl4pPr>
            <a:lvl5pPr>
              <a:defRPr lang="en-US" sz="1600">
                <a:solidFill>
                  <a:schemeClr val="tx1">
                    <a:lumMod val="50000"/>
                    <a:lumOff val="50000"/>
                  </a:schemeClr>
                </a:solidFill>
                <a:latin typeface="Verdana" pitchFamily="34" charset="0"/>
                <a:ea typeface="Verdana" pitchFamily="34" charset="0"/>
                <a:cs typeface="Verdana" pitchFamily="34" charset="0"/>
              </a:defRPr>
            </a:lvl5pPr>
          </a:lstStyle>
          <a:p>
            <a:pPr lvl="0">
              <a:buFontTx/>
              <a:buBlip>
                <a:blip r:embed="rId2"/>
              </a:buBlip>
            </a:pPr>
            <a:r>
              <a:rPr lang="en-US"/>
              <a:t>Click to edit Master text styles</a:t>
            </a:r>
          </a:p>
          <a:p>
            <a:pPr lvl="1">
              <a:buFontTx/>
              <a:buBlip>
                <a:blip r:embed="rId2"/>
              </a:buBlip>
            </a:pPr>
            <a:r>
              <a:rPr lang="en-US"/>
              <a:t>Second level</a:t>
            </a:r>
          </a:p>
          <a:p>
            <a:pPr lvl="2">
              <a:buFontTx/>
              <a:buBlip>
                <a:blip r:embed="rId2"/>
              </a:buBlip>
            </a:pPr>
            <a:r>
              <a:rPr lang="en-US"/>
              <a:t>Third level</a:t>
            </a:r>
          </a:p>
          <a:p>
            <a:pPr lvl="3">
              <a:buFontTx/>
              <a:buBlip>
                <a:blip r:embed="rId2"/>
              </a:buBlip>
            </a:pPr>
            <a:r>
              <a:rPr lang="en-US"/>
              <a:t>Fourth level</a:t>
            </a:r>
          </a:p>
          <a:p>
            <a:pPr lvl="4">
              <a:buFontTx/>
              <a:buBlip>
                <a:blip r:embed="rId2"/>
              </a:buBlip>
            </a:pPr>
            <a:r>
              <a:rPr lang="en-US"/>
              <a:t>Fifth level</a:t>
            </a:r>
          </a:p>
        </p:txBody>
      </p:sp>
      <p:sp>
        <p:nvSpPr>
          <p:cNvPr id="4" name="Content Placeholder 3"/>
          <p:cNvSpPr>
            <a:spLocks noGrp="1"/>
          </p:cNvSpPr>
          <p:nvPr>
            <p:ph sz="half" idx="2"/>
          </p:nvPr>
        </p:nvSpPr>
        <p:spPr>
          <a:xfrm>
            <a:off x="4648200" y="1600201"/>
            <a:ext cx="4038600" cy="5029199"/>
          </a:xfrm>
          <a:prstGeom prst="rect">
            <a:avLst/>
          </a:prstGeom>
        </p:spPr>
        <p:txBody>
          <a:bodyPr/>
          <a:lstStyle>
            <a:lvl1pPr>
              <a:defRPr lang="en-US" sz="2500" smtClean="0">
                <a:solidFill>
                  <a:schemeClr val="tx1">
                    <a:lumMod val="50000"/>
                    <a:lumOff val="50000"/>
                  </a:schemeClr>
                </a:solidFill>
                <a:latin typeface="Verdana" pitchFamily="34" charset="0"/>
                <a:ea typeface="Verdana" pitchFamily="34" charset="0"/>
                <a:cs typeface="Verdana" pitchFamily="34" charset="0"/>
              </a:defRPr>
            </a:lvl1pPr>
            <a:lvl2pPr>
              <a:defRPr lang="en-US" sz="2200" smtClean="0">
                <a:solidFill>
                  <a:schemeClr val="tx1">
                    <a:lumMod val="50000"/>
                    <a:lumOff val="50000"/>
                  </a:schemeClr>
                </a:solidFill>
                <a:latin typeface="Verdana" pitchFamily="34" charset="0"/>
                <a:ea typeface="Verdana" pitchFamily="34" charset="0"/>
                <a:cs typeface="Verdana" pitchFamily="34" charset="0"/>
              </a:defRPr>
            </a:lvl2pPr>
            <a:lvl3pPr>
              <a:defRPr lang="en-US" sz="2000" smtClean="0">
                <a:solidFill>
                  <a:schemeClr val="tx1">
                    <a:lumMod val="50000"/>
                    <a:lumOff val="50000"/>
                  </a:schemeClr>
                </a:solidFill>
                <a:latin typeface="Verdana" pitchFamily="34" charset="0"/>
                <a:ea typeface="Verdana" pitchFamily="34" charset="0"/>
                <a:cs typeface="Verdana" pitchFamily="34" charset="0"/>
              </a:defRPr>
            </a:lvl3pPr>
            <a:lvl4pPr>
              <a:defRPr lang="en-US" sz="1800" smtClean="0">
                <a:solidFill>
                  <a:schemeClr val="tx1">
                    <a:lumMod val="50000"/>
                    <a:lumOff val="50000"/>
                  </a:schemeClr>
                </a:solidFill>
                <a:latin typeface="Verdana" pitchFamily="34" charset="0"/>
                <a:ea typeface="Verdana" pitchFamily="34" charset="0"/>
                <a:cs typeface="Verdana" pitchFamily="34" charset="0"/>
              </a:defRPr>
            </a:lvl4pPr>
            <a:lvl5pPr>
              <a:defRPr lang="en-US" sz="1600">
                <a:solidFill>
                  <a:schemeClr val="tx1">
                    <a:lumMod val="50000"/>
                    <a:lumOff val="50000"/>
                  </a:schemeClr>
                </a:solidFill>
                <a:latin typeface="Verdana" pitchFamily="34" charset="0"/>
                <a:ea typeface="Verdana" pitchFamily="34" charset="0"/>
                <a:cs typeface="Verdana" pitchFamily="34" charset="0"/>
              </a:defRPr>
            </a:lvl5pPr>
          </a:lstStyle>
          <a:p>
            <a:pPr lvl="0">
              <a:buFontTx/>
              <a:buBlip>
                <a:blip r:embed="rId2"/>
              </a:buBlip>
            </a:pPr>
            <a:r>
              <a:rPr lang="en-US"/>
              <a:t>Click to edit Master text styles</a:t>
            </a:r>
          </a:p>
          <a:p>
            <a:pPr lvl="1">
              <a:buFontTx/>
              <a:buBlip>
                <a:blip r:embed="rId2"/>
              </a:buBlip>
            </a:pPr>
            <a:r>
              <a:rPr lang="en-US"/>
              <a:t>Second level</a:t>
            </a:r>
          </a:p>
          <a:p>
            <a:pPr lvl="2">
              <a:buFontTx/>
              <a:buBlip>
                <a:blip r:embed="rId2"/>
              </a:buBlip>
            </a:pPr>
            <a:r>
              <a:rPr lang="en-US"/>
              <a:t>Third level</a:t>
            </a:r>
          </a:p>
          <a:p>
            <a:pPr lvl="3">
              <a:buFontTx/>
              <a:buBlip>
                <a:blip r:embed="rId2"/>
              </a:buBlip>
            </a:pPr>
            <a:r>
              <a:rPr lang="en-US"/>
              <a:t>Fourth level</a:t>
            </a:r>
          </a:p>
          <a:p>
            <a:pPr lvl="4">
              <a:buFontTx/>
              <a:buBlip>
                <a:blip r:embed="rId2"/>
              </a:buBlip>
            </a:pPr>
            <a:r>
              <a:rPr lang="en-US"/>
              <a:t>Fifth level</a:t>
            </a:r>
            <a:endParaRPr lang="en-US" dirty="0"/>
          </a:p>
        </p:txBody>
      </p:sp>
      <p:sp>
        <p:nvSpPr>
          <p:cNvPr id="6" name="Title 13"/>
          <p:cNvSpPr>
            <a:spLocks noGrp="1"/>
          </p:cNvSpPr>
          <p:nvPr>
            <p:ph type="title" hasCustomPrompt="1"/>
          </p:nvPr>
        </p:nvSpPr>
        <p:spPr>
          <a:xfrm>
            <a:off x="457200" y="274638"/>
            <a:ext cx="8229600" cy="639762"/>
          </a:xfrm>
          <a:prstGeom prst="rect">
            <a:avLst/>
          </a:prstGeom>
          <a:gradFill>
            <a:gsLst>
              <a:gs pos="100000">
                <a:schemeClr val="bg1">
                  <a:lumMod val="95000"/>
                </a:schemeClr>
              </a:gs>
              <a:gs pos="1667">
                <a:schemeClr val="bg1">
                  <a:lumMod val="95000"/>
                </a:schemeClr>
              </a:gs>
              <a:gs pos="50000">
                <a:schemeClr val="bg1"/>
              </a:gs>
            </a:gsLst>
            <a:lin ang="0" scaled="0"/>
          </a:gradFill>
          <a:ln>
            <a:noFill/>
          </a:ln>
          <a:effectLst>
            <a:outerShdw blurRad="1270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3000" b="1" baseline="0" dirty="0">
                <a:solidFill>
                  <a:srgbClr val="003C9E"/>
                </a:solidFill>
                <a:latin typeface="Verdana" pitchFamily="34" charset="0"/>
                <a:ea typeface="Verdana" pitchFamily="34" charset="0"/>
                <a:cs typeface="Verdana" pitchFamily="34" charset="0"/>
              </a:defRPr>
            </a:lvl1pPr>
          </a:lstStyle>
          <a:p>
            <a:pPr marL="0" lvl="0" indent="-342860">
              <a:lnSpc>
                <a:spcPct val="100000"/>
              </a:lnSpc>
              <a:spcBef>
                <a:spcPct val="20000"/>
              </a:spcBef>
              <a:buFont typeface="Arial" pitchFamily="34" charset="0"/>
              <a:buChar char="•"/>
            </a:pPr>
            <a:r>
              <a:rPr lang="en-US" dirty="0"/>
              <a:t>Main Title</a:t>
            </a:r>
          </a:p>
        </p:txBody>
      </p:sp>
      <p:sp>
        <p:nvSpPr>
          <p:cNvPr id="7" name="Text Placeholder 15"/>
          <p:cNvSpPr>
            <a:spLocks noGrp="1"/>
          </p:cNvSpPr>
          <p:nvPr>
            <p:ph type="body" sz="quarter" idx="10" hasCustomPrompt="1"/>
          </p:nvPr>
        </p:nvSpPr>
        <p:spPr>
          <a:xfrm>
            <a:off x="457200" y="990600"/>
            <a:ext cx="8229600" cy="533400"/>
          </a:xfrm>
          <a:prstGeom prst="rect">
            <a:avLst/>
          </a:prstGeom>
        </p:spPr>
        <p:txBody>
          <a:bodyPr anchor="ctr"/>
          <a:lstStyle>
            <a:lvl1pPr marL="0" indent="0" algn="ctr">
              <a:buNone/>
              <a:defRPr kumimoji="0" lang="en-US" sz="2500" b="0" i="0" u="none" strike="noStrike" kern="1200" cap="none" spc="0" normalizeH="0" baseline="0" dirty="0" smtClean="0">
                <a:ln>
                  <a:noFill/>
                </a:ln>
                <a:solidFill>
                  <a:srgbClr val="24B0E3"/>
                </a:solidFill>
                <a:effectLst/>
                <a:uLnTx/>
                <a:uFillTx/>
                <a:latin typeface="Verdana" pitchFamily="34" charset="0"/>
                <a:ea typeface="Verdana" pitchFamily="34" charset="0"/>
                <a:cs typeface="Verdana" pitchFamily="34" charset="0"/>
              </a:defRPr>
            </a:lvl1pPr>
          </a:lstStyle>
          <a:p>
            <a:pPr lvl="0"/>
            <a:r>
              <a:rPr lang="en-US" dirty="0"/>
              <a:t>Sub Title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bg>
      <p:bgPr>
        <a:blipFill dpi="0" rotWithShape="1">
          <a:blip r:embed="rId3" cstate="print">
            <a:lum/>
          </a:blip>
          <a:srcRect/>
          <a:stretch>
            <a:fillRect/>
          </a:stretch>
        </a:blipFill>
        <a:effectLst/>
      </p:bgPr>
    </p:bg>
    <p:spTree>
      <p:nvGrpSpPr>
        <p:cNvPr id="1" name=""/>
        <p:cNvGrpSpPr/>
        <p:nvPr/>
      </p:nvGrpSpPr>
      <p:grpSpPr>
        <a:xfrm>
          <a:off x="0" y="0"/>
          <a:ext cx="0" cy="0"/>
          <a:chOff x="0" y="0"/>
          <a:chExt cx="0" cy="0"/>
        </a:xfrm>
      </p:grpSpPr>
      <p:sp>
        <p:nvSpPr>
          <p:cNvPr id="10" name="Content Placeholder 2"/>
          <p:cNvSpPr>
            <a:spLocks noGrp="1"/>
          </p:cNvSpPr>
          <p:nvPr>
            <p:ph sz="half" idx="1"/>
          </p:nvPr>
        </p:nvSpPr>
        <p:spPr>
          <a:xfrm>
            <a:off x="457200" y="1600201"/>
            <a:ext cx="4038600" cy="5029199"/>
          </a:xfrm>
          <a:prstGeom prst="rect">
            <a:avLst/>
          </a:prstGeom>
        </p:spPr>
        <p:txBody>
          <a:bodyPr/>
          <a:lstStyle>
            <a:lvl1pPr>
              <a:defRPr lang="en-US" sz="2500" smtClean="0">
                <a:solidFill>
                  <a:schemeClr val="tx1">
                    <a:lumMod val="50000"/>
                    <a:lumOff val="50000"/>
                  </a:schemeClr>
                </a:solidFill>
                <a:latin typeface="Verdana" pitchFamily="34" charset="0"/>
                <a:ea typeface="Verdana" pitchFamily="34" charset="0"/>
                <a:cs typeface="Verdana" pitchFamily="34" charset="0"/>
              </a:defRPr>
            </a:lvl1pPr>
            <a:lvl2pPr>
              <a:defRPr lang="en-US" sz="2200" smtClean="0">
                <a:solidFill>
                  <a:schemeClr val="tx1">
                    <a:lumMod val="50000"/>
                    <a:lumOff val="50000"/>
                  </a:schemeClr>
                </a:solidFill>
                <a:latin typeface="Verdana" pitchFamily="34" charset="0"/>
                <a:ea typeface="Verdana" pitchFamily="34" charset="0"/>
                <a:cs typeface="Verdana" pitchFamily="34" charset="0"/>
              </a:defRPr>
            </a:lvl2pPr>
            <a:lvl3pPr>
              <a:defRPr lang="en-US" sz="2000" smtClean="0">
                <a:solidFill>
                  <a:schemeClr val="tx1">
                    <a:lumMod val="50000"/>
                    <a:lumOff val="50000"/>
                  </a:schemeClr>
                </a:solidFill>
                <a:latin typeface="Verdana" pitchFamily="34" charset="0"/>
                <a:ea typeface="Verdana" pitchFamily="34" charset="0"/>
                <a:cs typeface="Verdana" pitchFamily="34" charset="0"/>
              </a:defRPr>
            </a:lvl3pPr>
            <a:lvl4pPr>
              <a:defRPr lang="en-US" sz="1800" smtClean="0">
                <a:solidFill>
                  <a:schemeClr val="tx1">
                    <a:lumMod val="50000"/>
                    <a:lumOff val="50000"/>
                  </a:schemeClr>
                </a:solidFill>
                <a:latin typeface="Verdana" pitchFamily="34" charset="0"/>
                <a:ea typeface="Verdana" pitchFamily="34" charset="0"/>
                <a:cs typeface="Verdana" pitchFamily="34" charset="0"/>
              </a:defRPr>
            </a:lvl4pPr>
            <a:lvl5pPr>
              <a:defRPr lang="en-US" sz="1600">
                <a:solidFill>
                  <a:schemeClr val="tx1">
                    <a:lumMod val="50000"/>
                    <a:lumOff val="50000"/>
                  </a:schemeClr>
                </a:solidFill>
                <a:latin typeface="Verdana" pitchFamily="34" charset="0"/>
                <a:ea typeface="Verdana" pitchFamily="34" charset="0"/>
                <a:cs typeface="Verdana" pitchFamily="34" charset="0"/>
              </a:defRPr>
            </a:lvl5pPr>
          </a:lstStyle>
          <a:p>
            <a:pPr lvl="0">
              <a:buFontTx/>
              <a:buBlip>
                <a:blip r:embed="rId4"/>
              </a:buBlip>
            </a:pPr>
            <a:r>
              <a:rPr lang="en-US"/>
              <a:t>Click to edit Master text styles</a:t>
            </a:r>
          </a:p>
          <a:p>
            <a:pPr lvl="1">
              <a:buFontTx/>
              <a:buBlip>
                <a:blip r:embed="rId4"/>
              </a:buBlip>
            </a:pPr>
            <a:r>
              <a:rPr lang="en-US"/>
              <a:t>Second level</a:t>
            </a:r>
          </a:p>
          <a:p>
            <a:pPr lvl="2">
              <a:buFontTx/>
              <a:buBlip>
                <a:blip r:embed="rId4"/>
              </a:buBlip>
            </a:pPr>
            <a:r>
              <a:rPr lang="en-US"/>
              <a:t>Third level</a:t>
            </a:r>
          </a:p>
          <a:p>
            <a:pPr lvl="3">
              <a:buFontTx/>
              <a:buBlip>
                <a:blip r:embed="rId4"/>
              </a:buBlip>
            </a:pPr>
            <a:r>
              <a:rPr lang="en-US"/>
              <a:t>Fourth level</a:t>
            </a:r>
          </a:p>
          <a:p>
            <a:pPr lvl="4">
              <a:buFontTx/>
              <a:buBlip>
                <a:blip r:embed="rId4"/>
              </a:buBlip>
            </a:pPr>
            <a:r>
              <a:rPr lang="en-US"/>
              <a:t>Fifth level</a:t>
            </a:r>
          </a:p>
        </p:txBody>
      </p:sp>
      <p:sp>
        <p:nvSpPr>
          <p:cNvPr id="11" name="Content Placeholder 3"/>
          <p:cNvSpPr>
            <a:spLocks noGrp="1"/>
          </p:cNvSpPr>
          <p:nvPr>
            <p:ph sz="half" idx="2"/>
          </p:nvPr>
        </p:nvSpPr>
        <p:spPr>
          <a:xfrm>
            <a:off x="4648200" y="1600201"/>
            <a:ext cx="4038600" cy="5029199"/>
          </a:xfrm>
          <a:prstGeom prst="rect">
            <a:avLst/>
          </a:prstGeom>
        </p:spPr>
        <p:txBody>
          <a:bodyPr/>
          <a:lstStyle>
            <a:lvl1pPr>
              <a:defRPr lang="en-US" sz="2500" smtClean="0">
                <a:solidFill>
                  <a:schemeClr val="tx1">
                    <a:lumMod val="50000"/>
                    <a:lumOff val="50000"/>
                  </a:schemeClr>
                </a:solidFill>
                <a:latin typeface="Verdana" pitchFamily="34" charset="0"/>
                <a:ea typeface="Verdana" pitchFamily="34" charset="0"/>
                <a:cs typeface="Verdana" pitchFamily="34" charset="0"/>
              </a:defRPr>
            </a:lvl1pPr>
            <a:lvl2pPr>
              <a:defRPr lang="en-US" sz="2200" smtClean="0">
                <a:solidFill>
                  <a:schemeClr val="tx1">
                    <a:lumMod val="50000"/>
                    <a:lumOff val="50000"/>
                  </a:schemeClr>
                </a:solidFill>
                <a:latin typeface="Verdana" pitchFamily="34" charset="0"/>
                <a:ea typeface="Verdana" pitchFamily="34" charset="0"/>
                <a:cs typeface="Verdana" pitchFamily="34" charset="0"/>
              </a:defRPr>
            </a:lvl2pPr>
            <a:lvl3pPr>
              <a:defRPr lang="en-US" sz="2000" smtClean="0">
                <a:solidFill>
                  <a:schemeClr val="tx1">
                    <a:lumMod val="50000"/>
                    <a:lumOff val="50000"/>
                  </a:schemeClr>
                </a:solidFill>
                <a:latin typeface="Verdana" pitchFamily="34" charset="0"/>
                <a:ea typeface="Verdana" pitchFamily="34" charset="0"/>
                <a:cs typeface="Verdana" pitchFamily="34" charset="0"/>
              </a:defRPr>
            </a:lvl3pPr>
            <a:lvl4pPr>
              <a:defRPr lang="en-US" sz="1800" smtClean="0">
                <a:solidFill>
                  <a:schemeClr val="tx1">
                    <a:lumMod val="50000"/>
                    <a:lumOff val="50000"/>
                  </a:schemeClr>
                </a:solidFill>
                <a:latin typeface="Verdana" pitchFamily="34" charset="0"/>
                <a:ea typeface="Verdana" pitchFamily="34" charset="0"/>
                <a:cs typeface="Verdana" pitchFamily="34" charset="0"/>
              </a:defRPr>
            </a:lvl4pPr>
            <a:lvl5pPr>
              <a:defRPr lang="en-US" sz="1600">
                <a:solidFill>
                  <a:schemeClr val="tx1">
                    <a:lumMod val="50000"/>
                    <a:lumOff val="50000"/>
                  </a:schemeClr>
                </a:solidFill>
                <a:latin typeface="Verdana" pitchFamily="34" charset="0"/>
                <a:ea typeface="Verdana" pitchFamily="34" charset="0"/>
                <a:cs typeface="Verdana" pitchFamily="34" charset="0"/>
              </a:defRPr>
            </a:lvl5pPr>
          </a:lstStyle>
          <a:p>
            <a:pPr lvl="0">
              <a:buFontTx/>
              <a:buBlip>
                <a:blip r:embed="rId4"/>
              </a:buBlip>
            </a:pPr>
            <a:r>
              <a:rPr lang="en-US"/>
              <a:t>Click to edit Master text styles</a:t>
            </a:r>
          </a:p>
          <a:p>
            <a:pPr lvl="1">
              <a:buFontTx/>
              <a:buBlip>
                <a:blip r:embed="rId4"/>
              </a:buBlip>
            </a:pPr>
            <a:r>
              <a:rPr lang="en-US"/>
              <a:t>Second level</a:t>
            </a:r>
          </a:p>
          <a:p>
            <a:pPr lvl="2">
              <a:buFontTx/>
              <a:buBlip>
                <a:blip r:embed="rId4"/>
              </a:buBlip>
            </a:pPr>
            <a:r>
              <a:rPr lang="en-US"/>
              <a:t>Third level</a:t>
            </a:r>
          </a:p>
          <a:p>
            <a:pPr lvl="3">
              <a:buFontTx/>
              <a:buBlip>
                <a:blip r:embed="rId4"/>
              </a:buBlip>
            </a:pPr>
            <a:r>
              <a:rPr lang="en-US"/>
              <a:t>Fourth level</a:t>
            </a:r>
          </a:p>
          <a:p>
            <a:pPr lvl="4">
              <a:buFontTx/>
              <a:buBlip>
                <a:blip r:embed="rId4"/>
              </a:buBlip>
            </a:pPr>
            <a:r>
              <a:rPr lang="en-US"/>
              <a:t>Fifth level</a:t>
            </a:r>
          </a:p>
        </p:txBody>
      </p:sp>
      <p:sp>
        <p:nvSpPr>
          <p:cNvPr id="6" name="Title 13"/>
          <p:cNvSpPr>
            <a:spLocks noGrp="1"/>
          </p:cNvSpPr>
          <p:nvPr>
            <p:ph type="title" hasCustomPrompt="1"/>
          </p:nvPr>
        </p:nvSpPr>
        <p:spPr>
          <a:xfrm>
            <a:off x="457200" y="274638"/>
            <a:ext cx="8229600" cy="639762"/>
          </a:xfrm>
          <a:prstGeom prst="rect">
            <a:avLst/>
          </a:prstGeom>
          <a:gradFill>
            <a:gsLst>
              <a:gs pos="100000">
                <a:schemeClr val="bg1">
                  <a:lumMod val="95000"/>
                </a:schemeClr>
              </a:gs>
              <a:gs pos="1667">
                <a:schemeClr val="bg1">
                  <a:lumMod val="95000"/>
                </a:schemeClr>
              </a:gs>
              <a:gs pos="50000">
                <a:schemeClr val="bg1"/>
              </a:gs>
            </a:gsLst>
            <a:lin ang="0" scaled="0"/>
          </a:gradFill>
          <a:ln>
            <a:noFill/>
          </a:ln>
          <a:effectLst>
            <a:outerShdw blurRad="1270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FontTx/>
              <a:buNone/>
              <a:defRPr lang="en-US" sz="3000" b="1" baseline="0">
                <a:solidFill>
                  <a:srgbClr val="003C9E"/>
                </a:solidFill>
                <a:latin typeface="Verdana" pitchFamily="34" charset="0"/>
                <a:ea typeface="Verdana" pitchFamily="34" charset="0"/>
                <a:cs typeface="Verdana" pitchFamily="34" charset="0"/>
              </a:defRPr>
            </a:lvl1pPr>
          </a:lstStyle>
          <a:p>
            <a:pPr marL="0" lvl="0" indent="-342860">
              <a:lnSpc>
                <a:spcPct val="100000"/>
              </a:lnSpc>
              <a:spcBef>
                <a:spcPct val="20000"/>
              </a:spcBef>
              <a:buFont typeface="Arial" pitchFamily="34" charset="0"/>
              <a:buChar char="•"/>
            </a:pPr>
            <a:r>
              <a:rPr lang="en-US" dirty="0"/>
              <a:t>Main Title</a:t>
            </a:r>
          </a:p>
        </p:txBody>
      </p:sp>
      <p:sp>
        <p:nvSpPr>
          <p:cNvPr id="7" name="Text Placeholder 15"/>
          <p:cNvSpPr>
            <a:spLocks noGrp="1"/>
          </p:cNvSpPr>
          <p:nvPr>
            <p:ph type="body" sz="quarter" idx="10" hasCustomPrompt="1"/>
          </p:nvPr>
        </p:nvSpPr>
        <p:spPr>
          <a:xfrm>
            <a:off x="457200" y="990600"/>
            <a:ext cx="8229600" cy="533400"/>
          </a:xfrm>
          <a:prstGeom prst="rect">
            <a:avLst/>
          </a:prstGeom>
        </p:spPr>
        <p:txBody>
          <a:bodyPr anchor="ctr"/>
          <a:lstStyle>
            <a:lvl1pPr marL="0" indent="0" algn="ctr">
              <a:buNone/>
              <a:defRPr kumimoji="0" lang="en-US" sz="2500" b="0" i="0" u="none" strike="noStrike" kern="1200" cap="none" spc="0" normalizeH="0" baseline="0" dirty="0" smtClean="0">
                <a:ln>
                  <a:noFill/>
                </a:ln>
                <a:solidFill>
                  <a:srgbClr val="24B0E3"/>
                </a:solidFill>
                <a:effectLst/>
                <a:uLnTx/>
                <a:uFillTx/>
                <a:latin typeface="Verdana" pitchFamily="34" charset="0"/>
                <a:ea typeface="Verdana" pitchFamily="34" charset="0"/>
                <a:cs typeface="Verdana" pitchFamily="34" charset="0"/>
              </a:defRPr>
            </a:lvl1pPr>
          </a:lstStyle>
          <a:p>
            <a:pPr lvl="0"/>
            <a:r>
              <a:rPr lang="en-US" dirty="0"/>
              <a:t>Sub Title</a:t>
            </a:r>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Title 13"/>
          <p:cNvSpPr>
            <a:spLocks noGrp="1"/>
          </p:cNvSpPr>
          <p:nvPr>
            <p:ph type="title" hasCustomPrompt="1"/>
          </p:nvPr>
        </p:nvSpPr>
        <p:spPr>
          <a:xfrm>
            <a:off x="457200" y="274638"/>
            <a:ext cx="8229600" cy="639762"/>
          </a:xfrm>
          <a:prstGeom prst="rect">
            <a:avLst/>
          </a:prstGeom>
          <a:gradFill>
            <a:gsLst>
              <a:gs pos="100000">
                <a:schemeClr val="bg1">
                  <a:lumMod val="95000"/>
                </a:schemeClr>
              </a:gs>
              <a:gs pos="1667">
                <a:schemeClr val="bg1">
                  <a:lumMod val="95000"/>
                </a:schemeClr>
              </a:gs>
              <a:gs pos="50000">
                <a:schemeClr val="bg1"/>
              </a:gs>
            </a:gsLst>
            <a:lin ang="0" scaled="0"/>
          </a:gradFill>
          <a:ln>
            <a:noFill/>
          </a:ln>
          <a:effectLst>
            <a:outerShdw blurRad="1270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3000" b="1" baseline="0" dirty="0">
                <a:solidFill>
                  <a:srgbClr val="003C9E"/>
                </a:solidFill>
                <a:latin typeface="Verdana" pitchFamily="34" charset="0"/>
                <a:ea typeface="Verdana" pitchFamily="34" charset="0"/>
                <a:cs typeface="Verdana" pitchFamily="34" charset="0"/>
              </a:defRPr>
            </a:lvl1pPr>
          </a:lstStyle>
          <a:p>
            <a:pPr marL="0" lvl="0" indent="-342860">
              <a:lnSpc>
                <a:spcPct val="100000"/>
              </a:lnSpc>
              <a:spcBef>
                <a:spcPct val="20000"/>
              </a:spcBef>
              <a:buFont typeface="Arial" pitchFamily="34" charset="0"/>
              <a:buChar char="•"/>
            </a:pPr>
            <a:r>
              <a:rPr lang="en-US" dirty="0"/>
              <a:t>Main Title</a:t>
            </a:r>
          </a:p>
        </p:txBody>
      </p:sp>
      <p:sp>
        <p:nvSpPr>
          <p:cNvPr id="5" name="Text Placeholder 15"/>
          <p:cNvSpPr>
            <a:spLocks noGrp="1"/>
          </p:cNvSpPr>
          <p:nvPr>
            <p:ph type="body" sz="quarter" idx="10" hasCustomPrompt="1"/>
          </p:nvPr>
        </p:nvSpPr>
        <p:spPr>
          <a:xfrm>
            <a:off x="457200" y="990600"/>
            <a:ext cx="8229600" cy="533400"/>
          </a:xfrm>
          <a:prstGeom prst="rect">
            <a:avLst/>
          </a:prstGeom>
        </p:spPr>
        <p:txBody>
          <a:bodyPr anchor="ctr"/>
          <a:lstStyle>
            <a:lvl1pPr marL="0" indent="0" algn="ctr">
              <a:buNone/>
              <a:defRPr kumimoji="0" lang="en-US" sz="2500" b="0" i="0" u="none" strike="noStrike" kern="1200" cap="none" spc="0" normalizeH="0" baseline="0" dirty="0" smtClean="0">
                <a:ln>
                  <a:noFill/>
                </a:ln>
                <a:solidFill>
                  <a:srgbClr val="24B0E3"/>
                </a:solidFill>
                <a:effectLst/>
                <a:uLnTx/>
                <a:uFillTx/>
                <a:latin typeface="Verdana" pitchFamily="34" charset="0"/>
                <a:ea typeface="Verdana" pitchFamily="34" charset="0"/>
                <a:cs typeface="Verdana" pitchFamily="34" charset="0"/>
              </a:defRPr>
            </a:lvl1pPr>
          </a:lstStyle>
          <a:p>
            <a:pPr lvl="0"/>
            <a:r>
              <a:rPr lang="en-US" dirty="0"/>
              <a:t>Sub Title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a:prstGeom prst="rect">
            <a:avLst/>
          </a:prstGeo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0"/>
            <a:ext cx="3008313" cy="4691063"/>
          </a:xfrm>
          <a:prstGeom prst="rect">
            <a:avLst/>
          </a:prstGeom>
        </p:spPr>
        <p:txBody>
          <a:bodyPr/>
          <a:lstStyle>
            <a:lvl1pPr marL="0" indent="0">
              <a:buNone/>
              <a:defRPr sz="1400"/>
            </a:lvl1pPr>
            <a:lvl2pPr marL="457146" indent="0">
              <a:buNone/>
              <a:defRPr sz="1200"/>
            </a:lvl2pPr>
            <a:lvl3pPr marL="914293" indent="0">
              <a:buNone/>
              <a:defRPr sz="1000"/>
            </a:lvl3pPr>
            <a:lvl4pPr marL="1371440" indent="0">
              <a:buNone/>
              <a:defRPr sz="900"/>
            </a:lvl4pPr>
            <a:lvl5pPr marL="1828586" indent="0">
              <a:buNone/>
              <a:defRPr sz="900"/>
            </a:lvl5pPr>
            <a:lvl6pPr marL="2285733" indent="0">
              <a:buNone/>
              <a:defRPr sz="900"/>
            </a:lvl6pPr>
            <a:lvl7pPr marL="2742879" indent="0">
              <a:buNone/>
              <a:defRPr sz="900"/>
            </a:lvl7pPr>
            <a:lvl8pPr marL="3200026" indent="0">
              <a:buNone/>
              <a:defRPr sz="900"/>
            </a:lvl8pPr>
            <a:lvl9pPr marL="3657172" indent="0">
              <a:buNone/>
              <a:defRPr sz="900"/>
            </a:lvl9pPr>
          </a:lstStyle>
          <a:p>
            <a:pPr lvl="0"/>
            <a:r>
              <a:rPr lang="en-US"/>
              <a:t>Click to edit Master text styles</a:t>
            </a:r>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8B59107C-10C1-4101-9AF2-4E409E49C30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146" indent="0">
              <a:buNone/>
              <a:defRPr sz="2800"/>
            </a:lvl2pPr>
            <a:lvl3pPr marL="914293" indent="0">
              <a:buNone/>
              <a:defRPr sz="2400"/>
            </a:lvl3pPr>
            <a:lvl4pPr marL="1371440" indent="0">
              <a:buNone/>
              <a:defRPr sz="2000"/>
            </a:lvl4pPr>
            <a:lvl5pPr marL="1828586" indent="0">
              <a:buNone/>
              <a:defRPr sz="2000"/>
            </a:lvl5pPr>
            <a:lvl6pPr marL="2285733" indent="0">
              <a:buNone/>
              <a:defRPr sz="2000"/>
            </a:lvl6pPr>
            <a:lvl7pPr marL="2742879" indent="0">
              <a:buNone/>
              <a:defRPr sz="2000"/>
            </a:lvl7pPr>
            <a:lvl8pPr marL="3200026" indent="0">
              <a:buNone/>
              <a:defRPr sz="2000"/>
            </a:lvl8pPr>
            <a:lvl9pPr marL="3657172" indent="0">
              <a:buNone/>
              <a:defRPr sz="2000"/>
            </a:lvl9pPr>
          </a:lstStyle>
          <a:p>
            <a:r>
              <a:rPr lang="en-US"/>
              <a:t>Click icon to add picture</a:t>
            </a:r>
          </a:p>
        </p:txBody>
      </p:sp>
      <p:sp>
        <p:nvSpPr>
          <p:cNvPr id="5" name="Title 13"/>
          <p:cNvSpPr>
            <a:spLocks noGrp="1"/>
          </p:cNvSpPr>
          <p:nvPr>
            <p:ph type="title" hasCustomPrompt="1"/>
          </p:nvPr>
        </p:nvSpPr>
        <p:spPr>
          <a:xfrm>
            <a:off x="457200" y="4953000"/>
            <a:ext cx="8229600" cy="639762"/>
          </a:xfrm>
          <a:prstGeom prst="rect">
            <a:avLst/>
          </a:prstGeom>
          <a:gradFill>
            <a:gsLst>
              <a:gs pos="100000">
                <a:schemeClr val="bg1">
                  <a:lumMod val="95000"/>
                </a:schemeClr>
              </a:gs>
              <a:gs pos="1667">
                <a:schemeClr val="bg1">
                  <a:lumMod val="95000"/>
                </a:schemeClr>
              </a:gs>
              <a:gs pos="50000">
                <a:schemeClr val="bg1"/>
              </a:gs>
            </a:gsLst>
            <a:lin ang="0" scaled="0"/>
          </a:gradFill>
          <a:ln>
            <a:noFill/>
          </a:ln>
          <a:effectLst>
            <a:outerShdw blurRad="1270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3000" b="1" baseline="0" dirty="0">
                <a:solidFill>
                  <a:srgbClr val="003C9E"/>
                </a:solidFill>
                <a:latin typeface="Verdana" pitchFamily="34" charset="0"/>
                <a:ea typeface="Verdana" pitchFamily="34" charset="0"/>
                <a:cs typeface="Verdana" pitchFamily="34" charset="0"/>
              </a:defRPr>
            </a:lvl1pPr>
          </a:lstStyle>
          <a:p>
            <a:pPr marL="0" lvl="0" indent="-342860">
              <a:lnSpc>
                <a:spcPct val="100000"/>
              </a:lnSpc>
              <a:spcBef>
                <a:spcPct val="20000"/>
              </a:spcBef>
              <a:buFont typeface="Arial" pitchFamily="34" charset="0"/>
              <a:buChar char="•"/>
            </a:pPr>
            <a:r>
              <a:rPr lang="en-US" dirty="0"/>
              <a:t>Main Title</a:t>
            </a:r>
          </a:p>
        </p:txBody>
      </p:sp>
      <p:sp>
        <p:nvSpPr>
          <p:cNvPr id="6" name="Text Placeholder 15"/>
          <p:cNvSpPr>
            <a:spLocks noGrp="1"/>
          </p:cNvSpPr>
          <p:nvPr>
            <p:ph type="body" sz="quarter" idx="10" hasCustomPrompt="1"/>
          </p:nvPr>
        </p:nvSpPr>
        <p:spPr>
          <a:xfrm>
            <a:off x="457200" y="5668962"/>
            <a:ext cx="8229600" cy="533400"/>
          </a:xfrm>
          <a:prstGeom prst="rect">
            <a:avLst/>
          </a:prstGeom>
        </p:spPr>
        <p:txBody>
          <a:bodyPr anchor="ctr"/>
          <a:lstStyle>
            <a:lvl1pPr marL="0" indent="0" algn="ctr">
              <a:buNone/>
              <a:defRPr kumimoji="0" lang="en-US" sz="2500" b="0" i="0" u="none" strike="noStrike" kern="1200" cap="none" spc="0" normalizeH="0" baseline="0" dirty="0" smtClean="0">
                <a:ln>
                  <a:noFill/>
                </a:ln>
                <a:solidFill>
                  <a:srgbClr val="24B0E3"/>
                </a:solidFill>
                <a:effectLst/>
                <a:uLnTx/>
                <a:uFillTx/>
                <a:latin typeface="Verdana" pitchFamily="34" charset="0"/>
                <a:ea typeface="Verdana" pitchFamily="34" charset="0"/>
                <a:cs typeface="Verdana" pitchFamily="34" charset="0"/>
              </a:defRPr>
            </a:lvl1pPr>
          </a:lstStyle>
          <a:p>
            <a:pPr lvl="0"/>
            <a:r>
              <a:rPr lang="en-US" dirty="0"/>
              <a:t>Sub Title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600201"/>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8B59107C-10C1-4101-9AF2-4E409E49C30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8B59107C-10C1-4101-9AF2-4E409E49C30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805488F1-6E80-4E2C-9F94-B761D750000A}" type="datetimeFigureOut">
              <a:rPr lang="en-US" smtClean="0"/>
              <a:pPr/>
              <a:t>11/26/21</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8B59107C-10C1-4101-9AF2-4E409E49C30B}" type="slidenum">
              <a:rPr lang="en-US" smtClean="0"/>
              <a:pPr/>
              <a:t>‹#›</a:t>
            </a:fld>
            <a:endParaRPr lang="en-US"/>
          </a:p>
        </p:txBody>
      </p:sp>
    </p:spTree>
    <p:extLst>
      <p:ext uri="{BB962C8B-B14F-4D97-AF65-F5344CB8AC3E}">
        <p14:creationId xmlns:p14="http://schemas.microsoft.com/office/powerpoint/2010/main" val="22475108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cstate="print">
            <a:lum/>
          </a:blip>
          <a:srcRect/>
          <a:stretch>
            <a:fillRect/>
          </a:stretch>
        </a:blipFill>
        <a:effectLst/>
      </p:bgPr>
    </p:bg>
    <p:spTree>
      <p:nvGrpSpPr>
        <p:cNvPr id="1" name=""/>
        <p:cNvGrpSpPr/>
        <p:nvPr/>
      </p:nvGrpSpPr>
      <p:grpSpPr>
        <a:xfrm>
          <a:off x="0" y="0"/>
          <a:ext cx="0" cy="0"/>
          <a:chOff x="0" y="0"/>
          <a:chExt cx="0" cy="0"/>
        </a:xfrm>
      </p:grpSpPr>
      <p:pic>
        <p:nvPicPr>
          <p:cNvPr id="5" name="Picture 4" descr="logo_small.png"/>
          <p:cNvPicPr>
            <a:picLocks noChangeAspect="1"/>
          </p:cNvPicPr>
          <p:nvPr/>
        </p:nvPicPr>
        <p:blipFill>
          <a:blip r:embed="rId15" cstate="print"/>
          <a:stretch>
            <a:fillRect/>
          </a:stretch>
        </p:blipFill>
        <p:spPr>
          <a:xfrm>
            <a:off x="8375905" y="6071616"/>
            <a:ext cx="572609" cy="685800"/>
          </a:xfrm>
          <a:prstGeom prst="rect">
            <a:avLst/>
          </a:prstGeom>
        </p:spPr>
      </p:pic>
      <p:sp>
        <p:nvSpPr>
          <p:cNvPr id="2" name="Rectangle 1"/>
          <p:cNvSpPr/>
          <p:nvPr/>
        </p:nvSpPr>
        <p:spPr>
          <a:xfrm>
            <a:off x="8305800" y="5901068"/>
            <a:ext cx="685170" cy="8206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p:cNvSpPr txBox="1"/>
          <p:nvPr/>
        </p:nvSpPr>
        <p:spPr>
          <a:xfrm>
            <a:off x="143536" y="6553200"/>
            <a:ext cx="3377761" cy="215444"/>
          </a:xfrm>
          <a:prstGeom prst="rect">
            <a:avLst/>
          </a:prstGeom>
          <a:noFill/>
        </p:spPr>
        <p:txBody>
          <a:bodyPr wrap="square" rtlCol="0">
            <a:spAutoFit/>
          </a:bodyPr>
          <a:lstStyle/>
          <a:p>
            <a:r>
              <a:rPr lang="en-US" sz="800" b="1" i="1" dirty="0">
                <a:solidFill>
                  <a:srgbClr val="003C9E"/>
                </a:solidFill>
                <a:latin typeface="Verdana" pitchFamily="34" charset="0"/>
                <a:ea typeface="Verdana" pitchFamily="34" charset="0"/>
                <a:cs typeface="Verdana" pitchFamily="34" charset="0"/>
              </a:rPr>
              <a:t>Learning</a:t>
            </a:r>
            <a:r>
              <a:rPr lang="en-US" sz="800" b="1" i="1" baseline="0" dirty="0">
                <a:solidFill>
                  <a:srgbClr val="003C9E"/>
                </a:solidFill>
                <a:latin typeface="Verdana" pitchFamily="34" charset="0"/>
                <a:ea typeface="Verdana" pitchFamily="34" charset="0"/>
                <a:cs typeface="Verdana" pitchFamily="34" charset="0"/>
              </a:rPr>
              <a:t> with Purpose</a:t>
            </a:r>
            <a:endParaRPr lang="en-US" sz="800" b="1" i="1" dirty="0">
              <a:solidFill>
                <a:srgbClr val="003C9E"/>
              </a:solidFill>
              <a:latin typeface="Verdana" pitchFamily="34" charset="0"/>
              <a:ea typeface="Verdana" pitchFamily="34" charset="0"/>
              <a:cs typeface="Verdana"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defTabSz="914293" rtl="0" eaLnBrk="1" latinLnBrk="0" hangingPunct="1">
        <a:spcBef>
          <a:spcPct val="0"/>
        </a:spcBef>
        <a:buNone/>
        <a:defRPr sz="4400" kern="1200">
          <a:solidFill>
            <a:schemeClr val="tx1"/>
          </a:solidFill>
          <a:latin typeface="+mj-lt"/>
          <a:ea typeface="+mj-ea"/>
          <a:cs typeface="+mj-cs"/>
        </a:defRPr>
      </a:lvl1pPr>
    </p:titleStyle>
    <p:bodyStyle>
      <a:lvl1pPr marL="342860" indent="-342860" algn="l" defTabSz="914293"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863" indent="-285717" algn="l" defTabSz="914293"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867" indent="-228573" algn="l" defTabSz="914293"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013" indent="-228573" algn="l" defTabSz="914293"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159" indent="-228573" algn="l" defTabSz="914293"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306" indent="-228573" algn="l" defTabSz="91429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53" indent="-228573" algn="l" defTabSz="91429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599" indent="-228573" algn="l" defTabSz="91429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746" indent="-228573" algn="l" defTabSz="91429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293" rtl="0" eaLnBrk="1" latinLnBrk="0" hangingPunct="1">
        <a:defRPr sz="1800" kern="1200">
          <a:solidFill>
            <a:schemeClr val="tx1"/>
          </a:solidFill>
          <a:latin typeface="+mn-lt"/>
          <a:ea typeface="+mn-ea"/>
          <a:cs typeface="+mn-cs"/>
        </a:defRPr>
      </a:lvl1pPr>
      <a:lvl2pPr marL="457146" algn="l" defTabSz="914293" rtl="0" eaLnBrk="1" latinLnBrk="0" hangingPunct="1">
        <a:defRPr sz="1800" kern="1200">
          <a:solidFill>
            <a:schemeClr val="tx1"/>
          </a:solidFill>
          <a:latin typeface="+mn-lt"/>
          <a:ea typeface="+mn-ea"/>
          <a:cs typeface="+mn-cs"/>
        </a:defRPr>
      </a:lvl2pPr>
      <a:lvl3pPr marL="914293" algn="l" defTabSz="914293" rtl="0" eaLnBrk="1" latinLnBrk="0" hangingPunct="1">
        <a:defRPr sz="1800" kern="1200">
          <a:solidFill>
            <a:schemeClr val="tx1"/>
          </a:solidFill>
          <a:latin typeface="+mn-lt"/>
          <a:ea typeface="+mn-ea"/>
          <a:cs typeface="+mn-cs"/>
        </a:defRPr>
      </a:lvl3pPr>
      <a:lvl4pPr marL="1371440" algn="l" defTabSz="914293" rtl="0" eaLnBrk="1" latinLnBrk="0" hangingPunct="1">
        <a:defRPr sz="1800" kern="1200">
          <a:solidFill>
            <a:schemeClr val="tx1"/>
          </a:solidFill>
          <a:latin typeface="+mn-lt"/>
          <a:ea typeface="+mn-ea"/>
          <a:cs typeface="+mn-cs"/>
        </a:defRPr>
      </a:lvl4pPr>
      <a:lvl5pPr marL="1828586" algn="l" defTabSz="914293" rtl="0" eaLnBrk="1" latinLnBrk="0" hangingPunct="1">
        <a:defRPr sz="1800" kern="1200">
          <a:solidFill>
            <a:schemeClr val="tx1"/>
          </a:solidFill>
          <a:latin typeface="+mn-lt"/>
          <a:ea typeface="+mn-ea"/>
          <a:cs typeface="+mn-cs"/>
        </a:defRPr>
      </a:lvl5pPr>
      <a:lvl6pPr marL="2285733" algn="l" defTabSz="914293" rtl="0" eaLnBrk="1" latinLnBrk="0" hangingPunct="1">
        <a:defRPr sz="1800" kern="1200">
          <a:solidFill>
            <a:schemeClr val="tx1"/>
          </a:solidFill>
          <a:latin typeface="+mn-lt"/>
          <a:ea typeface="+mn-ea"/>
          <a:cs typeface="+mn-cs"/>
        </a:defRPr>
      </a:lvl6pPr>
      <a:lvl7pPr marL="2742879" algn="l" defTabSz="914293" rtl="0" eaLnBrk="1" latinLnBrk="0" hangingPunct="1">
        <a:defRPr sz="1800" kern="1200">
          <a:solidFill>
            <a:schemeClr val="tx1"/>
          </a:solidFill>
          <a:latin typeface="+mn-lt"/>
          <a:ea typeface="+mn-ea"/>
          <a:cs typeface="+mn-cs"/>
        </a:defRPr>
      </a:lvl7pPr>
      <a:lvl8pPr marL="3200026" algn="l" defTabSz="914293" rtl="0" eaLnBrk="1" latinLnBrk="0" hangingPunct="1">
        <a:defRPr sz="1800" kern="1200">
          <a:solidFill>
            <a:schemeClr val="tx1"/>
          </a:solidFill>
          <a:latin typeface="+mn-lt"/>
          <a:ea typeface="+mn-ea"/>
          <a:cs typeface="+mn-cs"/>
        </a:defRPr>
      </a:lvl8pPr>
      <a:lvl9pPr marL="3657172" algn="l" defTabSz="91429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7.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10.png"/><Relationship Id="rId7"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140.png"/><Relationship Id="rId5" Type="http://schemas.openxmlformats.org/officeDocument/2006/relationships/image" Target="../media/image130.png"/><Relationship Id="rId10" Type="http://schemas.openxmlformats.org/officeDocument/2006/relationships/image" Target="../media/image24.png"/><Relationship Id="rId4" Type="http://schemas.openxmlformats.org/officeDocument/2006/relationships/image" Target="../media/image120.png"/><Relationship Id="rId9" Type="http://schemas.openxmlformats.org/officeDocument/2006/relationships/image" Target="../media/image7.png"/></Relationships>
</file>

<file path=ppt/slides/_rels/slide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70.png"/><Relationship Id="rId7" Type="http://schemas.openxmlformats.org/officeDocument/2006/relationships/image" Target="../media/image210.png"/><Relationship Id="rId2" Type="http://schemas.openxmlformats.org/officeDocument/2006/relationships/notesSlide" Target="../notesSlides/notesSlide12.xml"/><Relationship Id="rId1" Type="http://schemas.openxmlformats.org/officeDocument/2006/relationships/slideLayout" Target="../slideLayouts/slideLayout10.xml"/><Relationship Id="rId6" Type="http://schemas.openxmlformats.org/officeDocument/2006/relationships/image" Target="../media/image201.png"/><Relationship Id="rId5" Type="http://schemas.openxmlformats.org/officeDocument/2006/relationships/image" Target="../media/image191.png"/><Relationship Id="rId4" Type="http://schemas.openxmlformats.org/officeDocument/2006/relationships/image" Target="../media/image180.png"/></Relationships>
</file>

<file path=ppt/slides/_rels/slide13.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240.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52.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6.png"/><Relationship Id="rId7"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12.xml"/><Relationship Id="rId11" Type="http://schemas.openxmlformats.org/officeDocument/2006/relationships/image" Target="../media/image7.png"/><Relationship Id="rId5" Type="http://schemas.openxmlformats.org/officeDocument/2006/relationships/image" Target="../media/image200.png"/><Relationship Id="rId10" Type="http://schemas.openxmlformats.org/officeDocument/2006/relationships/image" Target="../media/image27.png"/><Relationship Id="rId4" Type="http://schemas.openxmlformats.org/officeDocument/2006/relationships/image" Target="../media/image190.png"/><Relationship Id="rId9"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8" Type="http://schemas.openxmlformats.org/officeDocument/2006/relationships/image" Target="../media/image290.png"/><Relationship Id="rId3" Type="http://schemas.openxmlformats.org/officeDocument/2006/relationships/image" Target="../media/image250.png"/><Relationship Id="rId7"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270.png"/><Relationship Id="rId11" Type="http://schemas.openxmlformats.org/officeDocument/2006/relationships/image" Target="../media/image7.png"/><Relationship Id="rId5" Type="http://schemas.openxmlformats.org/officeDocument/2006/relationships/image" Target="../media/image260.png"/><Relationship Id="rId10" Type="http://schemas.openxmlformats.org/officeDocument/2006/relationships/image" Target="../media/image310.png"/><Relationship Id="rId9" Type="http://schemas.openxmlformats.org/officeDocument/2006/relationships/image" Target="../media/image300.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12.xml"/><Relationship Id="rId5" Type="http://schemas.openxmlformats.org/officeDocument/2006/relationships/image" Target="../media/image39.png"/><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40.png"/></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41.png"/></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sz="2800" dirty="0"/>
              <a:t>Event Regularity and Irregularity in a Time Unit</a:t>
            </a:r>
            <a:endParaRPr lang="zh-CN" altLang="en-US" dirty="0"/>
          </a:p>
        </p:txBody>
      </p:sp>
      <p:sp>
        <p:nvSpPr>
          <p:cNvPr id="3" name="副标题 2"/>
          <p:cNvSpPr>
            <a:spLocks noGrp="1"/>
          </p:cNvSpPr>
          <p:nvPr>
            <p:ph type="subTitle" idx="1"/>
          </p:nvPr>
        </p:nvSpPr>
        <p:spPr/>
        <p:txBody>
          <a:bodyPr/>
          <a:lstStyle/>
          <a:p>
            <a:r>
              <a:rPr lang="en-US" altLang="zh-CN" sz="2400" dirty="0" err="1"/>
              <a:t>Lijian</a:t>
            </a:r>
            <a:r>
              <a:rPr lang="en-US" altLang="zh-CN" sz="2400" dirty="0"/>
              <a:t> Wan, </a:t>
            </a:r>
            <a:r>
              <a:rPr lang="en-US" altLang="zh-CN" sz="2400" dirty="0" err="1"/>
              <a:t>Tingjian</a:t>
            </a:r>
            <a:r>
              <a:rPr lang="en-US" altLang="zh-CN" sz="2400" dirty="0"/>
              <a:t> Ge</a:t>
            </a:r>
          </a:p>
          <a:p>
            <a:r>
              <a:rPr lang="en-US" altLang="zh-CN" sz="2400" dirty="0"/>
              <a:t>lwan@cs.uml.edu, ge@cs.uml.edu</a:t>
            </a:r>
          </a:p>
          <a:p>
            <a:r>
              <a:rPr lang="en-US" altLang="zh-CN" sz="2400" dirty="0"/>
              <a:t>University of Massachusetts Lowell</a:t>
            </a:r>
          </a:p>
          <a:p>
            <a:endParaRPr lang="zh-CN" alt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6597650"/>
            <a:ext cx="1571625" cy="219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64494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pPr>
              <a:spcAft>
                <a:spcPts val="3000"/>
              </a:spcAft>
            </a:pPr>
            <a:r>
              <a:rPr lang="en-US" sz="2000" dirty="0">
                <a:solidFill>
                  <a:srgbClr val="FF0000"/>
                </a:solidFill>
              </a:rPr>
              <a:t>Motivation</a:t>
            </a:r>
          </a:p>
          <a:p>
            <a:pPr>
              <a:spcAft>
                <a:spcPts val="3000"/>
              </a:spcAft>
            </a:pPr>
            <a:r>
              <a:rPr lang="en-US" sz="2000" dirty="0">
                <a:latin typeface="+mj-lt"/>
              </a:rPr>
              <a:t>Regular Model and Regularity Score</a:t>
            </a:r>
          </a:p>
          <a:p>
            <a:pPr lvl="0">
              <a:spcAft>
                <a:spcPts val="3000"/>
              </a:spcAft>
            </a:pPr>
            <a:r>
              <a:rPr lang="en-US" sz="2000" dirty="0"/>
              <a:t>Further Enhancements</a:t>
            </a:r>
          </a:p>
          <a:p>
            <a:r>
              <a:rPr lang="en-US" sz="2000" dirty="0"/>
              <a:t>Experiments</a:t>
            </a:r>
          </a:p>
        </p:txBody>
      </p:sp>
      <p:sp>
        <p:nvSpPr>
          <p:cNvPr id="4" name="Slide Number Placeholder 3"/>
          <p:cNvSpPr>
            <a:spLocks noGrp="1"/>
          </p:cNvSpPr>
          <p:nvPr>
            <p:ph type="sldNum" sz="quarter" idx="12"/>
          </p:nvPr>
        </p:nvSpPr>
        <p:spPr/>
        <p:txBody>
          <a:bodyPr/>
          <a:lstStyle/>
          <a:p>
            <a:fld id="{32B29A66-CFD5-4F33-88E2-E7F8EEB50249}" type="slidenum">
              <a:rPr lang="en-US" altLang="en-US" smtClean="0"/>
              <a:pPr/>
              <a:t>2</a:t>
            </a:fld>
            <a:endParaRPr lang="en-US" alt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168313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The Need to </a:t>
            </a:r>
            <a:r>
              <a:rPr lang="en-US" altLang="zh-CN" sz="4000" dirty="0"/>
              <a:t>Make Use of Sensors and Data</a:t>
            </a:r>
            <a:endParaRPr lang="en-US" sz="4000" dirty="0"/>
          </a:p>
        </p:txBody>
      </p:sp>
      <p:sp>
        <p:nvSpPr>
          <p:cNvPr id="4" name="Slide Number Placeholder 3"/>
          <p:cNvSpPr>
            <a:spLocks noGrp="1"/>
          </p:cNvSpPr>
          <p:nvPr>
            <p:ph type="sldNum" sz="quarter" idx="12"/>
          </p:nvPr>
        </p:nvSpPr>
        <p:spPr/>
        <p:txBody>
          <a:bodyPr/>
          <a:lstStyle/>
          <a:p>
            <a:fld id="{32B29A66-CFD5-4F33-88E2-E7F8EEB50249}" type="slidenum">
              <a:rPr lang="en-US" altLang="en-US" smtClean="0"/>
              <a:pPr/>
              <a:t>3</a:t>
            </a:fld>
            <a:endParaRPr lang="en-US" altLang="en-US"/>
          </a:p>
        </p:txBody>
      </p:sp>
      <p:sp>
        <p:nvSpPr>
          <p:cNvPr id="5" name="Text Box 9"/>
          <p:cNvSpPr txBox="1">
            <a:spLocks noChangeArrowheads="1"/>
          </p:cNvSpPr>
          <p:nvPr/>
        </p:nvSpPr>
        <p:spPr bwMode="auto">
          <a:xfrm>
            <a:off x="5562600" y="2590800"/>
            <a:ext cx="23622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dirty="0">
                <a:solidFill>
                  <a:srgbClr val="FF0000"/>
                </a:solidFill>
              </a:rPr>
              <a:t>Smart Phones</a:t>
            </a:r>
          </a:p>
        </p:txBody>
      </p:sp>
      <p:sp>
        <p:nvSpPr>
          <p:cNvPr id="10" name="Text Box 44"/>
          <p:cNvSpPr txBox="1">
            <a:spLocks noChangeArrowheads="1"/>
          </p:cNvSpPr>
          <p:nvPr/>
        </p:nvSpPr>
        <p:spPr bwMode="auto">
          <a:xfrm>
            <a:off x="3038475" y="4495800"/>
            <a:ext cx="275272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dirty="0">
                <a:solidFill>
                  <a:srgbClr val="FF0000"/>
                </a:solidFill>
              </a:rPr>
              <a:t>GPS</a:t>
            </a:r>
          </a:p>
        </p:txBody>
      </p:sp>
      <p:sp>
        <p:nvSpPr>
          <p:cNvPr id="19" name="Text Box 44"/>
          <p:cNvSpPr txBox="1">
            <a:spLocks noChangeArrowheads="1"/>
          </p:cNvSpPr>
          <p:nvPr/>
        </p:nvSpPr>
        <p:spPr bwMode="auto">
          <a:xfrm>
            <a:off x="1578961" y="1612590"/>
            <a:ext cx="29337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dirty="0" err="1">
                <a:solidFill>
                  <a:srgbClr val="FF0000"/>
                </a:solidFill>
              </a:rPr>
              <a:t>Smart</a:t>
            </a:r>
            <a:r>
              <a:rPr lang="en-US" altLang="zh-CN" dirty="0" err="1">
                <a:solidFill>
                  <a:srgbClr val="FF0000"/>
                </a:solidFill>
              </a:rPr>
              <a:t>Band</a:t>
            </a:r>
            <a:endParaRPr lang="en-US" dirty="0">
              <a:solidFill>
                <a:srgbClr val="FF0000"/>
              </a:solidFill>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950" y="1995684"/>
            <a:ext cx="4419600" cy="25196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022" y="4783489"/>
            <a:ext cx="3335507" cy="20013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63371" y="3124200"/>
            <a:ext cx="3825657" cy="21119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6881" y="6492693"/>
            <a:ext cx="1402080" cy="30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194557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3722" y="304800"/>
            <a:ext cx="7543800" cy="1295400"/>
          </a:xfrm>
        </p:spPr>
        <p:txBody>
          <a:bodyPr/>
          <a:lstStyle/>
          <a:p>
            <a:r>
              <a:rPr lang="en-US" dirty="0"/>
              <a:t>Relational Sequence Data</a:t>
            </a:r>
          </a:p>
        </p:txBody>
      </p:sp>
      <p:sp>
        <p:nvSpPr>
          <p:cNvPr id="3" name="Content Placeholder 2"/>
          <p:cNvSpPr>
            <a:spLocks noGrp="1"/>
          </p:cNvSpPr>
          <p:nvPr>
            <p:ph idx="1"/>
          </p:nvPr>
        </p:nvSpPr>
        <p:spPr>
          <a:xfrm>
            <a:off x="1847429" y="1661702"/>
            <a:ext cx="7406314" cy="4378325"/>
          </a:xfrm>
        </p:spPr>
        <p:txBody>
          <a:bodyPr/>
          <a:lstStyle/>
          <a:p>
            <a:pPr marL="0" indent="0">
              <a:spcAft>
                <a:spcPts val="3000"/>
              </a:spcAft>
              <a:buNone/>
            </a:pPr>
            <a:r>
              <a:rPr lang="en-US" sz="2000" dirty="0"/>
              <a:t>   </a:t>
            </a:r>
            <a:r>
              <a:rPr lang="en-US" sz="2000" dirty="0" err="1"/>
              <a:t>Wake_up</a:t>
            </a:r>
            <a:r>
              <a:rPr lang="en-US" sz="2000" dirty="0"/>
              <a:t> </a:t>
            </a:r>
            <a:r>
              <a:rPr lang="en-US" sz="2000" dirty="0">
                <a:sym typeface="Wingdings" panose="05000000000000000000" pitchFamily="2" charset="2"/>
              </a:rPr>
              <a:t>  Shower   Breakfast  </a:t>
            </a:r>
            <a:r>
              <a:rPr lang="en-US" sz="2000" dirty="0" err="1">
                <a:sym typeface="Wingdings" panose="05000000000000000000" pitchFamily="2" charset="2"/>
              </a:rPr>
              <a:t>Go_to_Work</a:t>
            </a:r>
            <a:endParaRPr lang="en-US" sz="2000" dirty="0">
              <a:sym typeface="Wingdings" panose="05000000000000000000" pitchFamily="2" charset="2"/>
            </a:endParaRPr>
          </a:p>
          <a:p>
            <a:pPr marL="0" indent="0">
              <a:spcAft>
                <a:spcPts val="3000"/>
              </a:spcAft>
              <a:buNone/>
            </a:pPr>
            <a:endParaRPr lang="en-US" sz="2000" dirty="0"/>
          </a:p>
        </p:txBody>
      </p:sp>
      <p:sp>
        <p:nvSpPr>
          <p:cNvPr id="4" name="Slide Number Placeholder 3"/>
          <p:cNvSpPr>
            <a:spLocks noGrp="1"/>
          </p:cNvSpPr>
          <p:nvPr>
            <p:ph type="sldNum" sz="quarter" idx="12"/>
          </p:nvPr>
        </p:nvSpPr>
        <p:spPr/>
        <p:txBody>
          <a:bodyPr/>
          <a:lstStyle/>
          <a:p>
            <a:fld id="{32B29A66-CFD5-4F33-88E2-E7F8EEB50249}" type="slidenum">
              <a:rPr lang="en-US" altLang="en-US" smtClean="0"/>
              <a:pPr/>
              <a:t>4</a:t>
            </a:fld>
            <a:endParaRPr lang="en-US" altLang="en-US"/>
          </a:p>
        </p:txBody>
      </p:sp>
      <p:sp>
        <p:nvSpPr>
          <p:cNvPr id="5" name="下箭头 4"/>
          <p:cNvSpPr/>
          <p:nvPr/>
        </p:nvSpPr>
        <p:spPr>
          <a:xfrm>
            <a:off x="2570619" y="2037173"/>
            <a:ext cx="341884" cy="685800"/>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下箭头 5"/>
          <p:cNvSpPr/>
          <p:nvPr/>
        </p:nvSpPr>
        <p:spPr>
          <a:xfrm>
            <a:off x="5406242" y="2037173"/>
            <a:ext cx="341884" cy="685800"/>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下箭头 6"/>
          <p:cNvSpPr/>
          <p:nvPr/>
        </p:nvSpPr>
        <p:spPr>
          <a:xfrm>
            <a:off x="4003738" y="2037173"/>
            <a:ext cx="341884" cy="685800"/>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下箭头 7"/>
          <p:cNvSpPr/>
          <p:nvPr/>
        </p:nvSpPr>
        <p:spPr>
          <a:xfrm>
            <a:off x="6750863" y="2037173"/>
            <a:ext cx="341884" cy="685800"/>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1" name="表格 10"/>
          <p:cNvGraphicFramePr>
            <a:graphicFrameLocks noGrp="1"/>
          </p:cNvGraphicFramePr>
          <p:nvPr>
            <p:extLst>
              <p:ext uri="{D42A27DB-BD31-4B8C-83A1-F6EECF244321}">
                <p14:modId xmlns:p14="http://schemas.microsoft.com/office/powerpoint/2010/main" val="9058597"/>
              </p:ext>
            </p:extLst>
          </p:nvPr>
        </p:nvGraphicFramePr>
        <p:xfrm>
          <a:off x="2166432" y="2903016"/>
          <a:ext cx="1150257" cy="370113"/>
        </p:xfrm>
        <a:graphic>
          <a:graphicData uri="http://schemas.openxmlformats.org/drawingml/2006/table">
            <a:tbl>
              <a:tblPr/>
              <a:tblGrid>
                <a:gridCol w="1150257">
                  <a:extLst>
                    <a:ext uri="{9D8B030D-6E8A-4147-A177-3AD203B41FA5}">
                      <a16:colId xmlns:a16="http://schemas.microsoft.com/office/drawing/2014/main" val="20000"/>
                    </a:ext>
                  </a:extLst>
                </a:gridCol>
              </a:tblGrid>
              <a:tr h="370113">
                <a:tc>
                  <a:txBody>
                    <a:bodyPr/>
                    <a:lstStyle/>
                    <a:p>
                      <a:r>
                        <a:rPr lang="en-US" altLang="zh-CN" dirty="0"/>
                        <a:t>6:30 AM</a:t>
                      </a:r>
                      <a:endParaRPr lang="zh-CN" altLang="en-US"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0000"/>
                  </a:ext>
                </a:extLst>
              </a:tr>
            </a:tbl>
          </a:graphicData>
        </a:graphic>
      </p:graphicFrame>
      <p:graphicFrame>
        <p:nvGraphicFramePr>
          <p:cNvPr id="12" name="表格 11"/>
          <p:cNvGraphicFramePr>
            <a:graphicFrameLocks noGrp="1"/>
          </p:cNvGraphicFramePr>
          <p:nvPr>
            <p:extLst>
              <p:ext uri="{D42A27DB-BD31-4B8C-83A1-F6EECF244321}">
                <p14:modId xmlns:p14="http://schemas.microsoft.com/office/powerpoint/2010/main" val="1027015677"/>
              </p:ext>
            </p:extLst>
          </p:nvPr>
        </p:nvGraphicFramePr>
        <p:xfrm>
          <a:off x="3593499" y="2909942"/>
          <a:ext cx="1150257" cy="370113"/>
        </p:xfrm>
        <a:graphic>
          <a:graphicData uri="http://schemas.openxmlformats.org/drawingml/2006/table">
            <a:tbl>
              <a:tblPr/>
              <a:tblGrid>
                <a:gridCol w="1150257">
                  <a:extLst>
                    <a:ext uri="{9D8B030D-6E8A-4147-A177-3AD203B41FA5}">
                      <a16:colId xmlns:a16="http://schemas.microsoft.com/office/drawing/2014/main" val="20000"/>
                    </a:ext>
                  </a:extLst>
                </a:gridCol>
              </a:tblGrid>
              <a:tr h="370113">
                <a:tc>
                  <a:txBody>
                    <a:bodyPr/>
                    <a:lstStyle/>
                    <a:p>
                      <a:r>
                        <a:rPr lang="en-US" altLang="zh-CN" dirty="0"/>
                        <a:t>6:45 AM</a:t>
                      </a:r>
                      <a:endParaRPr lang="zh-CN" altLang="en-US"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0000"/>
                  </a:ext>
                </a:extLst>
              </a:tr>
            </a:tbl>
          </a:graphicData>
        </a:graphic>
      </p:graphicFrame>
      <p:graphicFrame>
        <p:nvGraphicFramePr>
          <p:cNvPr id="15" name="表格 14"/>
          <p:cNvGraphicFramePr>
            <a:graphicFrameLocks noGrp="1"/>
          </p:cNvGraphicFramePr>
          <p:nvPr>
            <p:extLst>
              <p:ext uri="{D42A27DB-BD31-4B8C-83A1-F6EECF244321}">
                <p14:modId xmlns:p14="http://schemas.microsoft.com/office/powerpoint/2010/main" val="3773372468"/>
              </p:ext>
            </p:extLst>
          </p:nvPr>
        </p:nvGraphicFramePr>
        <p:xfrm>
          <a:off x="4994741" y="2909942"/>
          <a:ext cx="1150257" cy="370113"/>
        </p:xfrm>
        <a:graphic>
          <a:graphicData uri="http://schemas.openxmlformats.org/drawingml/2006/table">
            <a:tbl>
              <a:tblPr/>
              <a:tblGrid>
                <a:gridCol w="1150257">
                  <a:extLst>
                    <a:ext uri="{9D8B030D-6E8A-4147-A177-3AD203B41FA5}">
                      <a16:colId xmlns:a16="http://schemas.microsoft.com/office/drawing/2014/main" val="20000"/>
                    </a:ext>
                  </a:extLst>
                </a:gridCol>
              </a:tblGrid>
              <a:tr h="370113">
                <a:tc>
                  <a:txBody>
                    <a:bodyPr/>
                    <a:lstStyle/>
                    <a:p>
                      <a:r>
                        <a:rPr lang="en-US" altLang="zh-CN" dirty="0"/>
                        <a:t>7:00 AM</a:t>
                      </a:r>
                      <a:endParaRPr lang="zh-CN" altLang="en-US"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0000"/>
                  </a:ext>
                </a:extLst>
              </a:tr>
            </a:tbl>
          </a:graphicData>
        </a:graphic>
      </p:graphicFrame>
      <p:graphicFrame>
        <p:nvGraphicFramePr>
          <p:cNvPr id="16" name="表格 15"/>
          <p:cNvGraphicFramePr>
            <a:graphicFrameLocks noGrp="1"/>
          </p:cNvGraphicFramePr>
          <p:nvPr>
            <p:extLst>
              <p:ext uri="{D42A27DB-BD31-4B8C-83A1-F6EECF244321}">
                <p14:modId xmlns:p14="http://schemas.microsoft.com/office/powerpoint/2010/main" val="1714064116"/>
              </p:ext>
            </p:extLst>
          </p:nvPr>
        </p:nvGraphicFramePr>
        <p:xfrm>
          <a:off x="6395983" y="2914295"/>
          <a:ext cx="1150257" cy="365760"/>
        </p:xfrm>
        <a:graphic>
          <a:graphicData uri="http://schemas.openxmlformats.org/drawingml/2006/table">
            <a:tbl>
              <a:tblPr/>
              <a:tblGrid>
                <a:gridCol w="1150257">
                  <a:extLst>
                    <a:ext uri="{9D8B030D-6E8A-4147-A177-3AD203B41FA5}">
                      <a16:colId xmlns:a16="http://schemas.microsoft.com/office/drawing/2014/main" val="20000"/>
                    </a:ext>
                  </a:extLst>
                </a:gridCol>
              </a:tblGrid>
              <a:tr h="348710">
                <a:tc>
                  <a:txBody>
                    <a:bodyPr/>
                    <a:lstStyle/>
                    <a:p>
                      <a:r>
                        <a:rPr lang="en-US" altLang="zh-CN" dirty="0"/>
                        <a:t>7:30 AM</a:t>
                      </a:r>
                      <a:endParaRPr lang="zh-CN" altLang="en-US"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0000"/>
                  </a:ext>
                </a:extLst>
              </a:tr>
            </a:tbl>
          </a:graphicData>
        </a:graphic>
      </p:graphicFrame>
      <p:graphicFrame>
        <p:nvGraphicFramePr>
          <p:cNvPr id="17" name="表格 16"/>
          <p:cNvGraphicFramePr>
            <a:graphicFrameLocks noGrp="1"/>
          </p:cNvGraphicFramePr>
          <p:nvPr>
            <p:extLst>
              <p:ext uri="{D42A27DB-BD31-4B8C-83A1-F6EECF244321}">
                <p14:modId xmlns:p14="http://schemas.microsoft.com/office/powerpoint/2010/main" val="1900053027"/>
              </p:ext>
            </p:extLst>
          </p:nvPr>
        </p:nvGraphicFramePr>
        <p:xfrm>
          <a:off x="2471682" y="3352800"/>
          <a:ext cx="616857" cy="1752600"/>
        </p:xfrm>
        <a:graphic>
          <a:graphicData uri="http://schemas.openxmlformats.org/drawingml/2006/table">
            <a:tbl>
              <a:tblPr/>
              <a:tblGrid>
                <a:gridCol w="616857">
                  <a:extLst>
                    <a:ext uri="{9D8B030D-6E8A-4147-A177-3AD203B41FA5}">
                      <a16:colId xmlns:a16="http://schemas.microsoft.com/office/drawing/2014/main" val="20000"/>
                    </a:ext>
                  </a:extLst>
                </a:gridCol>
              </a:tblGrid>
              <a:tr h="438150">
                <a:tc>
                  <a:txBody>
                    <a:bodyPr/>
                    <a:lstStyle/>
                    <a:p>
                      <a:r>
                        <a:rPr lang="en-US" altLang="zh-CN" dirty="0"/>
                        <a:t>1</a:t>
                      </a:r>
                      <a:endParaRPr lang="zh-CN" altLang="en-US"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38150">
                <a:tc>
                  <a:txBody>
                    <a:bodyPr/>
                    <a:lstStyle/>
                    <a:p>
                      <a:r>
                        <a:rPr lang="en-US" altLang="zh-CN" dirty="0"/>
                        <a:t>0</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38150">
                <a:tc>
                  <a:txBody>
                    <a:bodyPr/>
                    <a:lstStyle/>
                    <a:p>
                      <a:r>
                        <a:rPr lang="en-US" altLang="zh-CN" dirty="0"/>
                        <a:t>0</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38150">
                <a:tc>
                  <a:txBody>
                    <a:bodyPr/>
                    <a:lstStyle/>
                    <a:p>
                      <a:r>
                        <a:rPr lang="en-US" altLang="zh-CN" dirty="0"/>
                        <a:t>0</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extLst>
                  <a:ext uri="{0D108BD9-81ED-4DB2-BD59-A6C34878D82A}">
                    <a16:rowId xmlns:a16="http://schemas.microsoft.com/office/drawing/2014/main" val="10003"/>
                  </a:ext>
                </a:extLst>
              </a:tr>
            </a:tbl>
          </a:graphicData>
        </a:graphic>
      </p:graphicFrame>
      <p:graphicFrame>
        <p:nvGraphicFramePr>
          <p:cNvPr id="19" name="表格 18"/>
          <p:cNvGraphicFramePr>
            <a:graphicFrameLocks noGrp="1"/>
          </p:cNvGraphicFramePr>
          <p:nvPr>
            <p:extLst>
              <p:ext uri="{D42A27DB-BD31-4B8C-83A1-F6EECF244321}">
                <p14:modId xmlns:p14="http://schemas.microsoft.com/office/powerpoint/2010/main" val="3920315686"/>
              </p:ext>
            </p:extLst>
          </p:nvPr>
        </p:nvGraphicFramePr>
        <p:xfrm>
          <a:off x="3876492" y="3352800"/>
          <a:ext cx="616857" cy="1752600"/>
        </p:xfrm>
        <a:graphic>
          <a:graphicData uri="http://schemas.openxmlformats.org/drawingml/2006/table">
            <a:tbl>
              <a:tblPr/>
              <a:tblGrid>
                <a:gridCol w="616857">
                  <a:extLst>
                    <a:ext uri="{9D8B030D-6E8A-4147-A177-3AD203B41FA5}">
                      <a16:colId xmlns:a16="http://schemas.microsoft.com/office/drawing/2014/main" val="20000"/>
                    </a:ext>
                  </a:extLst>
                </a:gridCol>
              </a:tblGrid>
              <a:tr h="438150">
                <a:tc>
                  <a:txBody>
                    <a:bodyPr/>
                    <a:lstStyle/>
                    <a:p>
                      <a:r>
                        <a:rPr lang="en-US" altLang="zh-CN" dirty="0"/>
                        <a:t>0</a:t>
                      </a:r>
                      <a:endParaRPr lang="zh-CN" altLang="en-US"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38150">
                <a:tc>
                  <a:txBody>
                    <a:bodyPr/>
                    <a:lstStyle/>
                    <a:p>
                      <a:r>
                        <a:rPr lang="en-US" altLang="zh-CN" dirty="0"/>
                        <a:t>1</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38150">
                <a:tc>
                  <a:txBody>
                    <a:bodyPr/>
                    <a:lstStyle/>
                    <a:p>
                      <a:r>
                        <a:rPr lang="en-US" altLang="zh-CN" dirty="0"/>
                        <a:t>0</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38150">
                <a:tc>
                  <a:txBody>
                    <a:bodyPr/>
                    <a:lstStyle/>
                    <a:p>
                      <a:r>
                        <a:rPr lang="en-US" altLang="zh-CN" dirty="0"/>
                        <a:t>0</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extLst>
                  <a:ext uri="{0D108BD9-81ED-4DB2-BD59-A6C34878D82A}">
                    <a16:rowId xmlns:a16="http://schemas.microsoft.com/office/drawing/2014/main" val="10003"/>
                  </a:ext>
                </a:extLst>
              </a:tr>
            </a:tbl>
          </a:graphicData>
        </a:graphic>
      </p:graphicFrame>
      <p:graphicFrame>
        <p:nvGraphicFramePr>
          <p:cNvPr id="20" name="表格 19"/>
          <p:cNvGraphicFramePr>
            <a:graphicFrameLocks noGrp="1"/>
          </p:cNvGraphicFramePr>
          <p:nvPr>
            <p:extLst>
              <p:ext uri="{D42A27DB-BD31-4B8C-83A1-F6EECF244321}">
                <p14:modId xmlns:p14="http://schemas.microsoft.com/office/powerpoint/2010/main" val="409666931"/>
              </p:ext>
            </p:extLst>
          </p:nvPr>
        </p:nvGraphicFramePr>
        <p:xfrm>
          <a:off x="5275220" y="3352800"/>
          <a:ext cx="616857" cy="1752600"/>
        </p:xfrm>
        <a:graphic>
          <a:graphicData uri="http://schemas.openxmlformats.org/drawingml/2006/table">
            <a:tbl>
              <a:tblPr/>
              <a:tblGrid>
                <a:gridCol w="616857">
                  <a:extLst>
                    <a:ext uri="{9D8B030D-6E8A-4147-A177-3AD203B41FA5}">
                      <a16:colId xmlns:a16="http://schemas.microsoft.com/office/drawing/2014/main" val="20000"/>
                    </a:ext>
                  </a:extLst>
                </a:gridCol>
              </a:tblGrid>
              <a:tr h="438150">
                <a:tc>
                  <a:txBody>
                    <a:bodyPr/>
                    <a:lstStyle/>
                    <a:p>
                      <a:r>
                        <a:rPr lang="en-US" altLang="zh-CN" dirty="0"/>
                        <a:t>0</a:t>
                      </a:r>
                      <a:endParaRPr lang="zh-CN" altLang="en-US"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38150">
                <a:tc>
                  <a:txBody>
                    <a:bodyPr/>
                    <a:lstStyle/>
                    <a:p>
                      <a:r>
                        <a:rPr lang="en-US" altLang="zh-CN" dirty="0"/>
                        <a:t>0</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38150">
                <a:tc>
                  <a:txBody>
                    <a:bodyPr/>
                    <a:lstStyle/>
                    <a:p>
                      <a:r>
                        <a:rPr lang="en-US" altLang="zh-CN" dirty="0"/>
                        <a:t>1</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38150">
                <a:tc>
                  <a:txBody>
                    <a:bodyPr/>
                    <a:lstStyle/>
                    <a:p>
                      <a:r>
                        <a:rPr lang="en-US" altLang="zh-CN" dirty="0"/>
                        <a:t>0</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extLst>
                  <a:ext uri="{0D108BD9-81ED-4DB2-BD59-A6C34878D82A}">
                    <a16:rowId xmlns:a16="http://schemas.microsoft.com/office/drawing/2014/main" val="10003"/>
                  </a:ext>
                </a:extLst>
              </a:tr>
            </a:tbl>
          </a:graphicData>
        </a:graphic>
      </p:graphicFrame>
      <p:graphicFrame>
        <p:nvGraphicFramePr>
          <p:cNvPr id="21" name="表格 20"/>
          <p:cNvGraphicFramePr>
            <a:graphicFrameLocks noGrp="1"/>
          </p:cNvGraphicFramePr>
          <p:nvPr>
            <p:extLst>
              <p:ext uri="{D42A27DB-BD31-4B8C-83A1-F6EECF244321}">
                <p14:modId xmlns:p14="http://schemas.microsoft.com/office/powerpoint/2010/main" val="3555285823"/>
              </p:ext>
            </p:extLst>
          </p:nvPr>
        </p:nvGraphicFramePr>
        <p:xfrm>
          <a:off x="6613376" y="3352800"/>
          <a:ext cx="616857" cy="1752600"/>
        </p:xfrm>
        <a:graphic>
          <a:graphicData uri="http://schemas.openxmlformats.org/drawingml/2006/table">
            <a:tbl>
              <a:tblPr/>
              <a:tblGrid>
                <a:gridCol w="616857">
                  <a:extLst>
                    <a:ext uri="{9D8B030D-6E8A-4147-A177-3AD203B41FA5}">
                      <a16:colId xmlns:a16="http://schemas.microsoft.com/office/drawing/2014/main" val="20000"/>
                    </a:ext>
                  </a:extLst>
                </a:gridCol>
              </a:tblGrid>
              <a:tr h="438150">
                <a:tc>
                  <a:txBody>
                    <a:bodyPr/>
                    <a:lstStyle/>
                    <a:p>
                      <a:r>
                        <a:rPr lang="en-US" altLang="zh-CN" dirty="0"/>
                        <a:t>0</a:t>
                      </a:r>
                      <a:endParaRPr lang="zh-CN" altLang="en-US"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38150">
                <a:tc>
                  <a:txBody>
                    <a:bodyPr/>
                    <a:lstStyle/>
                    <a:p>
                      <a:r>
                        <a:rPr lang="en-US" altLang="zh-CN" dirty="0"/>
                        <a:t>0</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38150">
                <a:tc>
                  <a:txBody>
                    <a:bodyPr/>
                    <a:lstStyle/>
                    <a:p>
                      <a:r>
                        <a:rPr lang="en-US" altLang="zh-CN" dirty="0"/>
                        <a:t>0</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38150">
                <a:tc>
                  <a:txBody>
                    <a:bodyPr/>
                    <a:lstStyle/>
                    <a:p>
                      <a:r>
                        <a:rPr lang="en-US" altLang="zh-CN" dirty="0"/>
                        <a:t>1</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extLst>
                  <a:ext uri="{0D108BD9-81ED-4DB2-BD59-A6C34878D82A}">
                    <a16:rowId xmlns:a16="http://schemas.microsoft.com/office/drawing/2014/main" val="10003"/>
                  </a:ext>
                </a:extLst>
              </a:tr>
            </a:tbl>
          </a:graphicData>
        </a:graphic>
      </p:graphicFrame>
      <p:graphicFrame>
        <p:nvGraphicFramePr>
          <p:cNvPr id="22" name="表格 16"/>
          <p:cNvGraphicFramePr>
            <a:graphicFrameLocks noGrp="1"/>
          </p:cNvGraphicFramePr>
          <p:nvPr>
            <p:extLst>
              <p:ext uri="{D42A27DB-BD31-4B8C-83A1-F6EECF244321}">
                <p14:modId xmlns:p14="http://schemas.microsoft.com/office/powerpoint/2010/main" val="2763054616"/>
              </p:ext>
            </p:extLst>
          </p:nvPr>
        </p:nvGraphicFramePr>
        <p:xfrm>
          <a:off x="381371" y="3355888"/>
          <a:ext cx="1524000" cy="1749512"/>
        </p:xfrm>
        <a:graphic>
          <a:graphicData uri="http://schemas.openxmlformats.org/drawingml/2006/table">
            <a:tbl>
              <a:tblPr/>
              <a:tblGrid>
                <a:gridCol w="1524000">
                  <a:extLst>
                    <a:ext uri="{9D8B030D-6E8A-4147-A177-3AD203B41FA5}">
                      <a16:colId xmlns:a16="http://schemas.microsoft.com/office/drawing/2014/main" val="20000"/>
                    </a:ext>
                  </a:extLst>
                </a:gridCol>
              </a:tblGrid>
              <a:tr h="447602">
                <a:tc>
                  <a:txBody>
                    <a:bodyPr/>
                    <a:lstStyle/>
                    <a:p>
                      <a:r>
                        <a:rPr lang="en-US" altLang="zh-CN" sz="1600" dirty="0"/>
                        <a:t>Bed</a:t>
                      </a:r>
                      <a:r>
                        <a:rPr lang="en-US" altLang="zh-CN" sz="1600" baseline="0" dirty="0"/>
                        <a:t> Sensor</a:t>
                      </a:r>
                      <a:endParaRPr lang="zh-CN" altLang="en-US" sz="1600"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29817">
                <a:tc>
                  <a:txBody>
                    <a:bodyPr/>
                    <a:lstStyle/>
                    <a:p>
                      <a:r>
                        <a:rPr lang="en-US" altLang="zh-CN" sz="1600" dirty="0"/>
                        <a:t>Faucet</a:t>
                      </a:r>
                      <a:r>
                        <a:rPr lang="en-US" altLang="zh-CN" sz="1600" baseline="0" dirty="0"/>
                        <a:t> Sensor</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51366">
                <a:tc>
                  <a:txBody>
                    <a:bodyPr/>
                    <a:lstStyle/>
                    <a:p>
                      <a:r>
                        <a:rPr lang="en-US" altLang="zh-CN" sz="1600" dirty="0"/>
                        <a:t>Oven</a:t>
                      </a:r>
                      <a:r>
                        <a:rPr lang="en-US" altLang="zh-CN" sz="1600" baseline="0" dirty="0"/>
                        <a:t> Sensor</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20727">
                <a:tc>
                  <a:txBody>
                    <a:bodyPr/>
                    <a:lstStyle/>
                    <a:p>
                      <a:r>
                        <a:rPr lang="en-US" altLang="zh-CN" sz="1600" dirty="0"/>
                        <a:t>Door</a:t>
                      </a:r>
                      <a:r>
                        <a:rPr lang="en-US" altLang="zh-CN" sz="1600" baseline="0" dirty="0"/>
                        <a:t> Sensor</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extLst>
                  <a:ext uri="{0D108BD9-81ED-4DB2-BD59-A6C34878D82A}">
                    <a16:rowId xmlns:a16="http://schemas.microsoft.com/office/drawing/2014/main" val="10003"/>
                  </a:ext>
                </a:extLst>
              </a:tr>
            </a:tbl>
          </a:graphicData>
        </a:graphic>
      </p:graphicFrame>
      <p:graphicFrame>
        <p:nvGraphicFramePr>
          <p:cNvPr id="23" name="表格 10"/>
          <p:cNvGraphicFramePr>
            <a:graphicFrameLocks noGrp="1"/>
          </p:cNvGraphicFramePr>
          <p:nvPr>
            <p:extLst>
              <p:ext uri="{D42A27DB-BD31-4B8C-83A1-F6EECF244321}">
                <p14:modId xmlns:p14="http://schemas.microsoft.com/office/powerpoint/2010/main" val="104067318"/>
              </p:ext>
            </p:extLst>
          </p:nvPr>
        </p:nvGraphicFramePr>
        <p:xfrm>
          <a:off x="568243" y="2909944"/>
          <a:ext cx="1150257" cy="370113"/>
        </p:xfrm>
        <a:graphic>
          <a:graphicData uri="http://schemas.openxmlformats.org/drawingml/2006/table">
            <a:tbl>
              <a:tblPr/>
              <a:tblGrid>
                <a:gridCol w="1150257">
                  <a:extLst>
                    <a:ext uri="{9D8B030D-6E8A-4147-A177-3AD203B41FA5}">
                      <a16:colId xmlns:a16="http://schemas.microsoft.com/office/drawing/2014/main" val="20000"/>
                    </a:ext>
                  </a:extLst>
                </a:gridCol>
              </a:tblGrid>
              <a:tr h="370113">
                <a:tc>
                  <a:txBody>
                    <a:bodyPr/>
                    <a:lstStyle/>
                    <a:p>
                      <a:pPr algn="ctr"/>
                      <a:r>
                        <a:rPr lang="en-US" altLang="zh-CN" dirty="0"/>
                        <a:t>TIME</a:t>
                      </a:r>
                      <a:endParaRPr lang="zh-CN" altLang="en-US"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0000"/>
                  </a:ext>
                </a:extLst>
              </a:tr>
            </a:tbl>
          </a:graphicData>
        </a:graphic>
      </p:graphicFrame>
      <p:pic>
        <p:nvPicPr>
          <p:cNvPr id="2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60199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anim calcmode="lin" valueType="num">
                                      <p:cBhvr additive="base">
                                        <p:cTn id="29" dur="500" fill="hold"/>
                                        <p:tgtEl>
                                          <p:spTgt spid="23"/>
                                        </p:tgtEl>
                                        <p:attrNameLst>
                                          <p:attrName>ppt_x</p:attrName>
                                        </p:attrNameLst>
                                      </p:cBhvr>
                                      <p:tavLst>
                                        <p:tav tm="0">
                                          <p:val>
                                            <p:strVal val="#ppt_x"/>
                                          </p:val>
                                        </p:tav>
                                        <p:tav tm="100000">
                                          <p:val>
                                            <p:strVal val="#ppt_x"/>
                                          </p:val>
                                        </p:tav>
                                      </p:tavLst>
                                    </p:anim>
                                    <p:anim calcmode="lin" valueType="num">
                                      <p:cBhvr additive="base">
                                        <p:cTn id="30" dur="500" fill="hold"/>
                                        <p:tgtEl>
                                          <p:spTgt spid="23"/>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ppt_x"/>
                                          </p:val>
                                        </p:tav>
                                        <p:tav tm="100000">
                                          <p:val>
                                            <p:strVal val="#ppt_x"/>
                                          </p:val>
                                        </p:tav>
                                      </p:tavLst>
                                    </p:anim>
                                    <p:anim calcmode="lin" valueType="num">
                                      <p:cBhvr additive="base">
                                        <p:cTn id="34" dur="500" fill="hold"/>
                                        <p:tgtEl>
                                          <p:spTgt spid="12"/>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additive="base">
                                        <p:cTn id="37" dur="500" fill="hold"/>
                                        <p:tgtEl>
                                          <p:spTgt spid="15"/>
                                        </p:tgtEl>
                                        <p:attrNameLst>
                                          <p:attrName>ppt_x</p:attrName>
                                        </p:attrNameLst>
                                      </p:cBhvr>
                                      <p:tavLst>
                                        <p:tav tm="0">
                                          <p:val>
                                            <p:strVal val="#ppt_x"/>
                                          </p:val>
                                        </p:tav>
                                        <p:tav tm="100000">
                                          <p:val>
                                            <p:strVal val="#ppt_x"/>
                                          </p:val>
                                        </p:tav>
                                      </p:tavLst>
                                    </p:anim>
                                    <p:anim calcmode="lin" valueType="num">
                                      <p:cBhvr additive="base">
                                        <p:cTn id="38" dur="500" fill="hold"/>
                                        <p:tgtEl>
                                          <p:spTgt spid="15"/>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6"/>
                                        </p:tgtEl>
                                        <p:attrNameLst>
                                          <p:attrName>style.visibility</p:attrName>
                                        </p:attrNameLst>
                                      </p:cBhvr>
                                      <p:to>
                                        <p:strVal val="visible"/>
                                      </p:to>
                                    </p:set>
                                    <p:anim calcmode="lin" valueType="num">
                                      <p:cBhvr additive="base">
                                        <p:cTn id="41" dur="500" fill="hold"/>
                                        <p:tgtEl>
                                          <p:spTgt spid="16"/>
                                        </p:tgtEl>
                                        <p:attrNameLst>
                                          <p:attrName>ppt_x</p:attrName>
                                        </p:attrNameLst>
                                      </p:cBhvr>
                                      <p:tavLst>
                                        <p:tav tm="0">
                                          <p:val>
                                            <p:strVal val="#ppt_x"/>
                                          </p:val>
                                        </p:tav>
                                        <p:tav tm="100000">
                                          <p:val>
                                            <p:strVal val="#ppt_x"/>
                                          </p:val>
                                        </p:tav>
                                      </p:tavLst>
                                    </p:anim>
                                    <p:anim calcmode="lin" valueType="num">
                                      <p:cBhvr additive="base">
                                        <p:cTn id="4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22"/>
                                        </p:tgtEl>
                                        <p:attrNameLst>
                                          <p:attrName>style.visibility</p:attrName>
                                        </p:attrNameLst>
                                      </p:cBhvr>
                                      <p:to>
                                        <p:strVal val="visible"/>
                                      </p:to>
                                    </p:set>
                                    <p:anim calcmode="lin" valueType="num">
                                      <p:cBhvr additive="base">
                                        <p:cTn id="47" dur="500" fill="hold"/>
                                        <p:tgtEl>
                                          <p:spTgt spid="22"/>
                                        </p:tgtEl>
                                        <p:attrNameLst>
                                          <p:attrName>ppt_x</p:attrName>
                                        </p:attrNameLst>
                                      </p:cBhvr>
                                      <p:tavLst>
                                        <p:tav tm="0">
                                          <p:val>
                                            <p:strVal val="#ppt_x"/>
                                          </p:val>
                                        </p:tav>
                                        <p:tav tm="100000">
                                          <p:val>
                                            <p:strVal val="#ppt_x"/>
                                          </p:val>
                                        </p:tav>
                                      </p:tavLst>
                                    </p:anim>
                                    <p:anim calcmode="lin" valueType="num">
                                      <p:cBhvr additive="base">
                                        <p:cTn id="48" dur="500" fill="hold"/>
                                        <p:tgtEl>
                                          <p:spTgt spid="22"/>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500" fill="hold"/>
                                        <p:tgtEl>
                                          <p:spTgt spid="17"/>
                                        </p:tgtEl>
                                        <p:attrNameLst>
                                          <p:attrName>ppt_x</p:attrName>
                                        </p:attrNameLst>
                                      </p:cBhvr>
                                      <p:tavLst>
                                        <p:tav tm="0">
                                          <p:val>
                                            <p:strVal val="#ppt_x"/>
                                          </p:val>
                                        </p:tav>
                                        <p:tav tm="100000">
                                          <p:val>
                                            <p:strVal val="#ppt_x"/>
                                          </p:val>
                                        </p:tav>
                                      </p:tavLst>
                                    </p:anim>
                                    <p:anim calcmode="lin" valueType="num">
                                      <p:cBhvr additive="base">
                                        <p:cTn id="52" dur="500" fill="hold"/>
                                        <p:tgtEl>
                                          <p:spTgt spid="17"/>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500" fill="hold"/>
                                        <p:tgtEl>
                                          <p:spTgt spid="19"/>
                                        </p:tgtEl>
                                        <p:attrNameLst>
                                          <p:attrName>ppt_x</p:attrName>
                                        </p:attrNameLst>
                                      </p:cBhvr>
                                      <p:tavLst>
                                        <p:tav tm="0">
                                          <p:val>
                                            <p:strVal val="#ppt_x"/>
                                          </p:val>
                                        </p:tav>
                                        <p:tav tm="100000">
                                          <p:val>
                                            <p:strVal val="#ppt_x"/>
                                          </p:val>
                                        </p:tav>
                                      </p:tavLst>
                                    </p:anim>
                                    <p:anim calcmode="lin" valueType="num">
                                      <p:cBhvr additive="base">
                                        <p:cTn id="56" dur="500" fill="hold"/>
                                        <p:tgtEl>
                                          <p:spTgt spid="19"/>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20"/>
                                        </p:tgtEl>
                                        <p:attrNameLst>
                                          <p:attrName>style.visibility</p:attrName>
                                        </p:attrNameLst>
                                      </p:cBhvr>
                                      <p:to>
                                        <p:strVal val="visible"/>
                                      </p:to>
                                    </p:set>
                                    <p:anim calcmode="lin" valueType="num">
                                      <p:cBhvr additive="base">
                                        <p:cTn id="59" dur="500" fill="hold"/>
                                        <p:tgtEl>
                                          <p:spTgt spid="20"/>
                                        </p:tgtEl>
                                        <p:attrNameLst>
                                          <p:attrName>ppt_x</p:attrName>
                                        </p:attrNameLst>
                                      </p:cBhvr>
                                      <p:tavLst>
                                        <p:tav tm="0">
                                          <p:val>
                                            <p:strVal val="#ppt_x"/>
                                          </p:val>
                                        </p:tav>
                                        <p:tav tm="100000">
                                          <p:val>
                                            <p:strVal val="#ppt_x"/>
                                          </p:val>
                                        </p:tav>
                                      </p:tavLst>
                                    </p:anim>
                                    <p:anim calcmode="lin" valueType="num">
                                      <p:cBhvr additive="base">
                                        <p:cTn id="60" dur="500" fill="hold"/>
                                        <p:tgtEl>
                                          <p:spTgt spid="20"/>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21"/>
                                        </p:tgtEl>
                                        <p:attrNameLst>
                                          <p:attrName>style.visibility</p:attrName>
                                        </p:attrNameLst>
                                      </p:cBhvr>
                                      <p:to>
                                        <p:strVal val="visible"/>
                                      </p:to>
                                    </p:set>
                                    <p:anim calcmode="lin" valueType="num">
                                      <p:cBhvr additive="base">
                                        <p:cTn id="63" dur="500" fill="hold"/>
                                        <p:tgtEl>
                                          <p:spTgt spid="21"/>
                                        </p:tgtEl>
                                        <p:attrNameLst>
                                          <p:attrName>ppt_x</p:attrName>
                                        </p:attrNameLst>
                                      </p:cBhvr>
                                      <p:tavLst>
                                        <p:tav tm="0">
                                          <p:val>
                                            <p:strVal val="#ppt_x"/>
                                          </p:val>
                                        </p:tav>
                                        <p:tav tm="100000">
                                          <p:val>
                                            <p:strVal val="#ppt_x"/>
                                          </p:val>
                                        </p:tav>
                                      </p:tavLst>
                                    </p:anim>
                                    <p:anim calcmode="lin" valueType="num">
                                      <p:cBhvr additive="base">
                                        <p:cTn id="6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Example</a:t>
            </a:r>
            <a:endParaRPr lang="en-US" dirty="0"/>
          </a:p>
        </p:txBody>
      </p:sp>
      <p:sp>
        <p:nvSpPr>
          <p:cNvPr id="4" name="Slide Number Placeholder 3"/>
          <p:cNvSpPr>
            <a:spLocks noGrp="1"/>
          </p:cNvSpPr>
          <p:nvPr>
            <p:ph type="sldNum" sz="quarter" idx="12"/>
          </p:nvPr>
        </p:nvSpPr>
        <p:spPr/>
        <p:txBody>
          <a:bodyPr/>
          <a:lstStyle/>
          <a:p>
            <a:fld id="{32B29A66-CFD5-4F33-88E2-E7F8EEB50249}" type="slidenum">
              <a:rPr lang="en-US" altLang="en-US" smtClean="0"/>
              <a:pPr/>
              <a:t>5</a:t>
            </a:fld>
            <a:endParaRPr lang="en-US" alt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738" y="1447800"/>
            <a:ext cx="4648748" cy="304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7800" y="2133600"/>
            <a:ext cx="3511605" cy="19529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874745" y="4648200"/>
            <a:ext cx="7431055" cy="923330"/>
          </a:xfrm>
          <a:prstGeom prst="rect">
            <a:avLst/>
          </a:prstGeom>
          <a:noFill/>
        </p:spPr>
        <p:txBody>
          <a:bodyPr wrap="square" rtlCol="0">
            <a:spAutoFit/>
          </a:bodyPr>
          <a:lstStyle/>
          <a:p>
            <a:r>
              <a:rPr lang="en-US" dirty="0"/>
              <a:t>Model:</a:t>
            </a:r>
          </a:p>
          <a:p>
            <a:r>
              <a:rPr lang="en-US" dirty="0" err="1"/>
              <a:t>Wake_up</a:t>
            </a:r>
            <a:r>
              <a:rPr lang="en-US" dirty="0" err="1">
                <a:sym typeface="Wingdings" panose="05000000000000000000" pitchFamily="2" charset="2"/>
              </a:rPr>
              <a:t>Shower</a:t>
            </a:r>
            <a:r>
              <a:rPr lang="en-US" altLang="zh-CN" dirty="0" err="1">
                <a:sym typeface="Wingdings" panose="05000000000000000000" pitchFamily="2" charset="2"/>
              </a:rPr>
              <a:t>BreakfastNewspaperTVOutsideHome</a:t>
            </a:r>
            <a:endParaRPr lang="en-US" altLang="zh-CN" dirty="0">
              <a:sym typeface="Wingdings" panose="05000000000000000000" pitchFamily="2" charset="2"/>
            </a:endParaRPr>
          </a:p>
          <a:p>
            <a:endParaRPr lang="en-US" dirty="0"/>
          </a:p>
        </p:txBody>
      </p:sp>
      <p:sp>
        <p:nvSpPr>
          <p:cNvPr id="7" name="TextBox 6"/>
          <p:cNvSpPr txBox="1"/>
          <p:nvPr/>
        </p:nvSpPr>
        <p:spPr>
          <a:xfrm>
            <a:off x="845655" y="5329535"/>
            <a:ext cx="5409879" cy="923330"/>
          </a:xfrm>
          <a:prstGeom prst="rect">
            <a:avLst/>
          </a:prstGeom>
          <a:noFill/>
        </p:spPr>
        <p:txBody>
          <a:bodyPr wrap="none" rtlCol="0">
            <a:spAutoFit/>
          </a:bodyPr>
          <a:lstStyle/>
          <a:p>
            <a:r>
              <a:rPr lang="en-US" dirty="0">
                <a:sym typeface="Wingdings" panose="05000000000000000000" pitchFamily="2" charset="2"/>
              </a:rPr>
              <a:t>Irregular Events:</a:t>
            </a:r>
          </a:p>
          <a:p>
            <a:r>
              <a:rPr lang="en-US" dirty="0" err="1">
                <a:sym typeface="Wingdings" panose="05000000000000000000" pitchFamily="2" charset="2"/>
              </a:rPr>
              <a:t>Wake_upShower</a:t>
            </a:r>
            <a:r>
              <a:rPr lang="en-US" dirty="0" err="1">
                <a:solidFill>
                  <a:srgbClr val="FF00FF"/>
                </a:solidFill>
                <a:sym typeface="Wingdings" panose="05000000000000000000" pitchFamily="2" charset="2"/>
              </a:rPr>
              <a:t>Shower</a:t>
            </a:r>
            <a:r>
              <a:rPr lang="en-US" dirty="0" err="1">
                <a:solidFill>
                  <a:srgbClr val="FF6600"/>
                </a:solidFill>
                <a:sym typeface="Wingdings" panose="05000000000000000000" pitchFamily="2" charset="2"/>
              </a:rPr>
              <a:t>Shower</a:t>
            </a:r>
            <a:r>
              <a:rPr lang="en-US" dirty="0" err="1">
                <a:solidFill>
                  <a:srgbClr val="A50021"/>
                </a:solidFill>
                <a:sym typeface="Wingdings" panose="05000000000000000000" pitchFamily="2" charset="2"/>
              </a:rPr>
              <a:t>Shower</a:t>
            </a:r>
            <a:r>
              <a:rPr lang="en-US" dirty="0">
                <a:solidFill>
                  <a:srgbClr val="A50021"/>
                </a:solidFill>
                <a:sym typeface="Wingdings" panose="05000000000000000000" pitchFamily="2" charset="2"/>
              </a:rPr>
              <a:t></a:t>
            </a:r>
          </a:p>
          <a:p>
            <a:endParaRPr lang="en-US" dirty="0"/>
          </a:p>
        </p:txBody>
      </p:sp>
      <p:pic>
        <p:nvPicPr>
          <p:cNvPr id="10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03516" y="5329535"/>
            <a:ext cx="1070002" cy="9458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34449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600200"/>
            <a:ext cx="5267008" cy="3429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9476" y="5050971"/>
            <a:ext cx="7473096" cy="11740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extBox 7"/>
          <p:cNvSpPr txBox="1"/>
          <p:nvPr/>
        </p:nvSpPr>
        <p:spPr>
          <a:xfrm>
            <a:off x="1219200" y="2178180"/>
            <a:ext cx="1770676" cy="369332"/>
          </a:xfrm>
          <a:prstGeom prst="rect">
            <a:avLst/>
          </a:prstGeom>
          <a:noFill/>
          <a:ln w="38100">
            <a:solidFill>
              <a:srgbClr val="FF0000"/>
            </a:solidFill>
          </a:ln>
        </p:spPr>
        <p:txBody>
          <a:bodyPr wrap="square" rtlCol="0">
            <a:spAutoFit/>
          </a:bodyPr>
          <a:lstStyle/>
          <a:p>
            <a:endParaRPr lang="en-US" dirty="0"/>
          </a:p>
        </p:txBody>
      </p:sp>
      <p:sp>
        <p:nvSpPr>
          <p:cNvPr id="9" name="TextBox 8"/>
          <p:cNvSpPr txBox="1"/>
          <p:nvPr/>
        </p:nvSpPr>
        <p:spPr>
          <a:xfrm>
            <a:off x="5181600" y="2590801"/>
            <a:ext cx="3350972" cy="1754326"/>
          </a:xfrm>
          <a:prstGeom prst="rect">
            <a:avLst/>
          </a:prstGeom>
          <a:noFill/>
        </p:spPr>
        <p:txBody>
          <a:bodyPr wrap="square" rtlCol="0">
            <a:spAutoFit/>
          </a:bodyPr>
          <a:lstStyle/>
          <a:p>
            <a:r>
              <a:rPr lang="en-US" dirty="0"/>
              <a:t>Lubitz seemed to be toying with the airplane's settings on the </a:t>
            </a:r>
            <a:r>
              <a:rPr lang="en-US" dirty="0">
                <a:solidFill>
                  <a:srgbClr val="FF0000"/>
                </a:solidFill>
              </a:rPr>
              <a:t>earlier</a:t>
            </a:r>
            <a:r>
              <a:rPr lang="en-US" dirty="0"/>
              <a:t> flight from Dusseldorf to Barcelona, programming it for a sharp descent </a:t>
            </a:r>
            <a:r>
              <a:rPr lang="en-US" dirty="0">
                <a:solidFill>
                  <a:srgbClr val="FF0000"/>
                </a:solidFill>
              </a:rPr>
              <a:t>multiple times.</a:t>
            </a:r>
          </a:p>
        </p:txBody>
      </p:sp>
      <p:pic>
        <p:nvPicPr>
          <p:cNvPr id="7"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24868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par>
                                <p:cTn id="8" presetID="1"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pPr>
              <a:spcAft>
                <a:spcPts val="3000"/>
              </a:spcAft>
            </a:pPr>
            <a:r>
              <a:rPr lang="en-US" sz="2000" dirty="0"/>
              <a:t>Motivation</a:t>
            </a:r>
          </a:p>
          <a:p>
            <a:pPr>
              <a:spcAft>
                <a:spcPts val="3000"/>
              </a:spcAft>
            </a:pPr>
            <a:r>
              <a:rPr lang="en-US" sz="2000" dirty="0">
                <a:solidFill>
                  <a:srgbClr val="FF0000"/>
                </a:solidFill>
                <a:latin typeface="+mj-lt"/>
              </a:rPr>
              <a:t>Regular Model and Regularity Score</a:t>
            </a:r>
          </a:p>
          <a:p>
            <a:pPr lvl="0">
              <a:spcAft>
                <a:spcPts val="3000"/>
              </a:spcAft>
            </a:pPr>
            <a:r>
              <a:rPr lang="en-US" sz="2000" dirty="0"/>
              <a:t>Further Enhancements</a:t>
            </a:r>
          </a:p>
          <a:p>
            <a:r>
              <a:rPr lang="en-US" sz="2000" dirty="0"/>
              <a:t>Experiments</a:t>
            </a:r>
          </a:p>
        </p:txBody>
      </p:sp>
      <p:sp>
        <p:nvSpPr>
          <p:cNvPr id="4" name="Slide Number Placeholder 3"/>
          <p:cNvSpPr>
            <a:spLocks noGrp="1"/>
          </p:cNvSpPr>
          <p:nvPr>
            <p:ph type="sldNum" sz="quarter" idx="12"/>
          </p:nvPr>
        </p:nvSpPr>
        <p:spPr/>
        <p:txBody>
          <a:bodyPr/>
          <a:lstStyle/>
          <a:p>
            <a:fld id="{32B29A66-CFD5-4F33-88E2-E7F8EEB50249}" type="slidenum">
              <a:rPr lang="en-US" altLang="en-US" smtClean="0"/>
              <a:pPr/>
              <a:t>7</a:t>
            </a:fld>
            <a:endParaRPr lang="en-US" altLang="en-US"/>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99044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Our Proposal</a:t>
            </a:r>
          </a:p>
        </p:txBody>
      </p:sp>
      <p:sp>
        <p:nvSpPr>
          <p:cNvPr id="3" name="Content Placeholder 2"/>
          <p:cNvSpPr>
            <a:spLocks noGrp="1"/>
          </p:cNvSpPr>
          <p:nvPr>
            <p:ph idx="1"/>
          </p:nvPr>
        </p:nvSpPr>
        <p:spPr>
          <a:xfrm>
            <a:off x="441960" y="1772730"/>
            <a:ext cx="8229600" cy="4411662"/>
          </a:xfrm>
        </p:spPr>
        <p:txBody>
          <a:bodyPr/>
          <a:lstStyle/>
          <a:p>
            <a:pPr marL="0" indent="0">
              <a:buNone/>
            </a:pPr>
            <a:endParaRPr lang="en-US" dirty="0"/>
          </a:p>
          <a:p>
            <a:pPr marL="0" indent="0">
              <a:buNone/>
            </a:pPr>
            <a:endParaRPr lang="en-US" dirty="0"/>
          </a:p>
        </p:txBody>
      </p:sp>
      <p:sp>
        <p:nvSpPr>
          <p:cNvPr id="4" name="Slide Number Placeholder 3"/>
          <p:cNvSpPr>
            <a:spLocks noGrp="1"/>
          </p:cNvSpPr>
          <p:nvPr>
            <p:ph type="sldNum" sz="quarter" idx="12"/>
          </p:nvPr>
        </p:nvSpPr>
        <p:spPr/>
        <p:txBody>
          <a:bodyPr/>
          <a:lstStyle/>
          <a:p>
            <a:fld id="{32B29A66-CFD5-4F33-88E2-E7F8EEB50249}" type="slidenum">
              <a:rPr lang="en-US" altLang="en-US" smtClean="0"/>
              <a:pPr/>
              <a:t>8</a:t>
            </a:fld>
            <a:endParaRPr lang="en-US" altLang="en-US"/>
          </a:p>
        </p:txBody>
      </p:sp>
      <p:sp>
        <p:nvSpPr>
          <p:cNvPr id="5" name="Oval 4"/>
          <p:cNvSpPr/>
          <p:nvPr/>
        </p:nvSpPr>
        <p:spPr>
          <a:xfrm>
            <a:off x="1340586" y="1600098"/>
            <a:ext cx="457200"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a:t>
            </a:r>
          </a:p>
        </p:txBody>
      </p:sp>
      <p:sp>
        <p:nvSpPr>
          <p:cNvPr id="7" name="Oval 6"/>
          <p:cNvSpPr/>
          <p:nvPr/>
        </p:nvSpPr>
        <p:spPr>
          <a:xfrm>
            <a:off x="3410940" y="1600098"/>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a:t>
            </a:r>
          </a:p>
        </p:txBody>
      </p:sp>
      <p:sp>
        <p:nvSpPr>
          <p:cNvPr id="8" name="Oval 7"/>
          <p:cNvSpPr/>
          <p:nvPr/>
        </p:nvSpPr>
        <p:spPr>
          <a:xfrm>
            <a:off x="5549112" y="1580854"/>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e</a:t>
            </a:r>
          </a:p>
        </p:txBody>
      </p:sp>
      <p:sp>
        <p:nvSpPr>
          <p:cNvPr id="9" name="Oval 8"/>
          <p:cNvSpPr/>
          <p:nvPr/>
        </p:nvSpPr>
        <p:spPr>
          <a:xfrm>
            <a:off x="4480026" y="1600098"/>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
            </a:r>
          </a:p>
        </p:txBody>
      </p:sp>
      <p:sp>
        <p:nvSpPr>
          <p:cNvPr id="10" name="Oval 9"/>
          <p:cNvSpPr/>
          <p:nvPr/>
        </p:nvSpPr>
        <p:spPr>
          <a:xfrm>
            <a:off x="3410940" y="2385912"/>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
            </a:r>
          </a:p>
        </p:txBody>
      </p:sp>
      <p:sp>
        <p:nvSpPr>
          <p:cNvPr id="12" name="Oval 11"/>
          <p:cNvSpPr/>
          <p:nvPr/>
        </p:nvSpPr>
        <p:spPr>
          <a:xfrm>
            <a:off x="1342872" y="2354100"/>
            <a:ext cx="457200"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a:t>
            </a:r>
          </a:p>
        </p:txBody>
      </p:sp>
      <p:sp>
        <p:nvSpPr>
          <p:cNvPr id="13" name="Oval 12"/>
          <p:cNvSpPr/>
          <p:nvPr/>
        </p:nvSpPr>
        <p:spPr>
          <a:xfrm>
            <a:off x="4518063" y="3134175"/>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
            </a:r>
          </a:p>
        </p:txBody>
      </p:sp>
      <p:sp>
        <p:nvSpPr>
          <p:cNvPr id="14" name="Oval 13"/>
          <p:cNvSpPr/>
          <p:nvPr/>
        </p:nvSpPr>
        <p:spPr>
          <a:xfrm>
            <a:off x="3382302" y="3134175"/>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f</a:t>
            </a:r>
          </a:p>
        </p:txBody>
      </p:sp>
      <p:sp>
        <p:nvSpPr>
          <p:cNvPr id="16" name="Oval 15"/>
          <p:cNvSpPr/>
          <p:nvPr/>
        </p:nvSpPr>
        <p:spPr>
          <a:xfrm>
            <a:off x="1314234" y="3119825"/>
            <a:ext cx="457200"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a:t>
            </a:r>
          </a:p>
        </p:txBody>
      </p:sp>
      <p:sp>
        <p:nvSpPr>
          <p:cNvPr id="17" name="Oval 16"/>
          <p:cNvSpPr/>
          <p:nvPr/>
        </p:nvSpPr>
        <p:spPr>
          <a:xfrm>
            <a:off x="2375763" y="1580855"/>
            <a:ext cx="457200" cy="4571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a:t>
            </a:r>
          </a:p>
        </p:txBody>
      </p:sp>
      <p:sp>
        <p:nvSpPr>
          <p:cNvPr id="18" name="Oval 17"/>
          <p:cNvSpPr/>
          <p:nvPr/>
        </p:nvSpPr>
        <p:spPr>
          <a:xfrm>
            <a:off x="2380335" y="2354100"/>
            <a:ext cx="452628"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a:t>
            </a:r>
          </a:p>
        </p:txBody>
      </p:sp>
      <p:sp>
        <p:nvSpPr>
          <p:cNvPr id="19" name="Oval 18"/>
          <p:cNvSpPr/>
          <p:nvPr/>
        </p:nvSpPr>
        <p:spPr>
          <a:xfrm>
            <a:off x="2351697" y="3119825"/>
            <a:ext cx="457200"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g</a:t>
            </a:r>
          </a:p>
        </p:txBody>
      </p:sp>
      <p:cxnSp>
        <p:nvCxnSpPr>
          <p:cNvPr id="36" name="Straight Arrow Connector 35"/>
          <p:cNvCxnSpPr>
            <a:stCxn id="7" idx="6"/>
            <a:endCxn id="9" idx="2"/>
          </p:cNvCxnSpPr>
          <p:nvPr/>
        </p:nvCxnSpPr>
        <p:spPr>
          <a:xfrm>
            <a:off x="3868140" y="1828698"/>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a:xfrm>
            <a:off x="2832963" y="1809454"/>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a:off x="4937226" y="1823868"/>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a:off x="1763877" y="1828698"/>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a:off x="1797786" y="2563999"/>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a:off x="2832963" y="2576191"/>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a:off x="1769148" y="3362775"/>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a:off x="2804325" y="3362775"/>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a:off x="3891318" y="3362775"/>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8" name="Right Brace 67"/>
          <p:cNvSpPr/>
          <p:nvPr/>
        </p:nvSpPr>
        <p:spPr>
          <a:xfrm>
            <a:off x="6087491" y="1853440"/>
            <a:ext cx="364999" cy="2477556"/>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2" name="Oval 71"/>
          <p:cNvSpPr/>
          <p:nvPr/>
        </p:nvSpPr>
        <p:spPr>
          <a:xfrm>
            <a:off x="8522772" y="3373548"/>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
            </a:r>
          </a:p>
        </p:txBody>
      </p:sp>
      <p:sp>
        <p:nvSpPr>
          <p:cNvPr id="73" name="Oval 72"/>
          <p:cNvSpPr/>
          <p:nvPr/>
        </p:nvSpPr>
        <p:spPr>
          <a:xfrm>
            <a:off x="6454704" y="3341736"/>
            <a:ext cx="457200"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a:t>
            </a:r>
          </a:p>
        </p:txBody>
      </p:sp>
      <p:sp>
        <p:nvSpPr>
          <p:cNvPr id="74" name="Oval 73"/>
          <p:cNvSpPr/>
          <p:nvPr/>
        </p:nvSpPr>
        <p:spPr>
          <a:xfrm>
            <a:off x="7492167" y="3341736"/>
            <a:ext cx="452628"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a:t>
            </a:r>
          </a:p>
        </p:txBody>
      </p:sp>
      <p:cxnSp>
        <p:nvCxnSpPr>
          <p:cNvPr id="75" name="Straight Arrow Connector 74"/>
          <p:cNvCxnSpPr/>
          <p:nvPr/>
        </p:nvCxnSpPr>
        <p:spPr>
          <a:xfrm>
            <a:off x="6909618" y="3551635"/>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p:nvPr/>
        </p:nvCxnSpPr>
        <p:spPr>
          <a:xfrm>
            <a:off x="7944795" y="3563827"/>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p:cNvSpPr txBox="1"/>
              <p:nvPr/>
            </p:nvSpPr>
            <p:spPr>
              <a:xfrm>
                <a:off x="291819" y="1283196"/>
                <a:ext cx="838200" cy="10910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nor/>
                        </m:rPr>
                        <a:rPr lang="en-US" altLang="zh-CN" sz="4800" dirty="0" smtClean="0">
                          <a:latin typeface="Cambria Math"/>
                        </a:rPr>
                        <m:t>s</m:t>
                      </m:r>
                      <m:r>
                        <m:rPr>
                          <m:nor/>
                        </m:rPr>
                        <a:rPr lang="en-US" altLang="zh-CN" sz="4800" baseline="-25000" dirty="0">
                          <a:latin typeface="Cambria Math"/>
                        </a:rPr>
                        <m:t>1</m:t>
                      </m:r>
                    </m:oMath>
                  </m:oMathPara>
                </a14:m>
                <a:endParaRPr lang="en-US" altLang="zh-CN" sz="4800" baseline="-25000" dirty="0"/>
              </a:p>
              <a:p>
                <a:endParaRPr lang="zh-CN" altLang="en-US" dirty="0"/>
              </a:p>
            </p:txBody>
          </p:sp>
        </mc:Choice>
        <mc:Fallback xmlns="">
          <p:sp>
            <p:nvSpPr>
              <p:cNvPr id="11" name="TextBox 10"/>
              <p:cNvSpPr txBox="1">
                <a:spLocks noRot="1" noChangeAspect="1" noMove="1" noResize="1" noEditPoints="1" noAdjustHandles="1" noChangeArrowheads="1" noChangeShapeType="1" noTextEdit="1"/>
              </p:cNvSpPr>
              <p:nvPr/>
            </p:nvSpPr>
            <p:spPr>
              <a:xfrm>
                <a:off x="291819" y="1283196"/>
                <a:ext cx="838200" cy="1091004"/>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TextBox 45"/>
              <p:cNvSpPr txBox="1"/>
              <p:nvPr/>
            </p:nvSpPr>
            <p:spPr>
              <a:xfrm>
                <a:off x="278167" y="2051621"/>
                <a:ext cx="838200" cy="10910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nor/>
                        </m:rPr>
                        <a:rPr lang="en-US" altLang="zh-CN" sz="4800" dirty="0" smtClean="0">
                          <a:latin typeface="Cambria Math"/>
                        </a:rPr>
                        <m:t>s</m:t>
                      </m:r>
                      <m:r>
                        <m:rPr>
                          <m:nor/>
                        </m:rPr>
                        <a:rPr lang="en-US" altLang="zh-CN" sz="4800" b="0" i="0" baseline="-25000" dirty="0" smtClean="0">
                          <a:latin typeface="Cambria Math"/>
                        </a:rPr>
                        <m:t>2</m:t>
                      </m:r>
                    </m:oMath>
                  </m:oMathPara>
                </a14:m>
                <a:endParaRPr lang="en-US" altLang="zh-CN" sz="4800" baseline="-25000" dirty="0"/>
              </a:p>
              <a:p>
                <a:endParaRPr lang="zh-CN" altLang="en-US" dirty="0"/>
              </a:p>
            </p:txBody>
          </p:sp>
        </mc:Choice>
        <mc:Fallback xmlns="">
          <p:sp>
            <p:nvSpPr>
              <p:cNvPr id="46" name="TextBox 45"/>
              <p:cNvSpPr txBox="1">
                <a:spLocks noRot="1" noChangeAspect="1" noMove="1" noResize="1" noEditPoints="1" noAdjustHandles="1" noChangeArrowheads="1" noChangeShapeType="1" noTextEdit="1"/>
              </p:cNvSpPr>
              <p:nvPr/>
            </p:nvSpPr>
            <p:spPr>
              <a:xfrm>
                <a:off x="278167" y="2051621"/>
                <a:ext cx="838200" cy="1091004"/>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TextBox 46"/>
              <p:cNvSpPr txBox="1"/>
              <p:nvPr/>
            </p:nvSpPr>
            <p:spPr>
              <a:xfrm>
                <a:off x="249529" y="2831651"/>
                <a:ext cx="838200" cy="10910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nor/>
                        </m:rPr>
                        <a:rPr lang="en-US" altLang="zh-CN" sz="4800" dirty="0" smtClean="0">
                          <a:latin typeface="Cambria Math"/>
                        </a:rPr>
                        <m:t>s</m:t>
                      </m:r>
                      <m:r>
                        <m:rPr>
                          <m:nor/>
                        </m:rPr>
                        <a:rPr lang="en-US" altLang="zh-CN" sz="4800" b="0" i="0" baseline="-25000" dirty="0" smtClean="0">
                          <a:latin typeface="Cambria Math"/>
                        </a:rPr>
                        <m:t>3</m:t>
                      </m:r>
                    </m:oMath>
                  </m:oMathPara>
                </a14:m>
                <a:endParaRPr lang="en-US" altLang="zh-CN" sz="4800" baseline="-25000" dirty="0"/>
              </a:p>
              <a:p>
                <a:endParaRPr lang="zh-CN" altLang="en-US" dirty="0"/>
              </a:p>
            </p:txBody>
          </p:sp>
        </mc:Choice>
        <mc:Fallback xmlns="">
          <p:sp>
            <p:nvSpPr>
              <p:cNvPr id="47" name="TextBox 46"/>
              <p:cNvSpPr txBox="1">
                <a:spLocks noRot="1" noChangeAspect="1" noMove="1" noResize="1" noEditPoints="1" noAdjustHandles="1" noChangeArrowheads="1" noChangeShapeType="1" noTextEdit="1"/>
              </p:cNvSpPr>
              <p:nvPr/>
            </p:nvSpPr>
            <p:spPr>
              <a:xfrm>
                <a:off x="249529" y="2831651"/>
                <a:ext cx="838200" cy="1091004"/>
              </a:xfrm>
              <a:prstGeom prst="rect">
                <a:avLst/>
              </a:prstGeom>
              <a:blipFill rotWithShape="1">
                <a:blip r:embed="rId5"/>
                <a:stretch>
                  <a:fillRect/>
                </a:stretch>
              </a:blipFill>
            </p:spPr>
            <p:txBody>
              <a:bodyPr/>
              <a:lstStyle/>
              <a:p>
                <a:r>
                  <a:rPr lang="zh-CN" altLang="en-US">
                    <a:noFill/>
                  </a:rPr>
                  <a:t> </a:t>
                </a:r>
              </a:p>
            </p:txBody>
          </p:sp>
        </mc:Fallback>
      </mc:AlternateContent>
      <p:sp>
        <p:nvSpPr>
          <p:cNvPr id="48" name="Oval 12"/>
          <p:cNvSpPr/>
          <p:nvPr/>
        </p:nvSpPr>
        <p:spPr>
          <a:xfrm>
            <a:off x="4555882" y="3944209"/>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
            </a:r>
          </a:p>
        </p:txBody>
      </p:sp>
      <p:sp>
        <p:nvSpPr>
          <p:cNvPr id="49" name="Oval 13"/>
          <p:cNvSpPr/>
          <p:nvPr/>
        </p:nvSpPr>
        <p:spPr>
          <a:xfrm>
            <a:off x="3420121" y="3944209"/>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f</a:t>
            </a:r>
          </a:p>
        </p:txBody>
      </p:sp>
      <p:sp>
        <p:nvSpPr>
          <p:cNvPr id="50" name="Oval 15"/>
          <p:cNvSpPr/>
          <p:nvPr/>
        </p:nvSpPr>
        <p:spPr>
          <a:xfrm>
            <a:off x="1352053" y="3929859"/>
            <a:ext cx="457200"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a:t>
            </a:r>
          </a:p>
        </p:txBody>
      </p:sp>
      <p:sp>
        <p:nvSpPr>
          <p:cNvPr id="59" name="Oval 18"/>
          <p:cNvSpPr/>
          <p:nvPr/>
        </p:nvSpPr>
        <p:spPr>
          <a:xfrm>
            <a:off x="2389516" y="3929859"/>
            <a:ext cx="457200"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g</a:t>
            </a:r>
          </a:p>
        </p:txBody>
      </p:sp>
      <p:cxnSp>
        <p:nvCxnSpPr>
          <p:cNvPr id="60" name="Straight Arrow Connector 55"/>
          <p:cNvCxnSpPr/>
          <p:nvPr/>
        </p:nvCxnSpPr>
        <p:spPr>
          <a:xfrm>
            <a:off x="1806967" y="4172809"/>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56"/>
          <p:cNvCxnSpPr/>
          <p:nvPr/>
        </p:nvCxnSpPr>
        <p:spPr>
          <a:xfrm>
            <a:off x="2842144" y="4172809"/>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57"/>
          <p:cNvCxnSpPr/>
          <p:nvPr/>
        </p:nvCxnSpPr>
        <p:spPr>
          <a:xfrm>
            <a:off x="3929137" y="4172809"/>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7" name="TextBox 66"/>
              <p:cNvSpPr txBox="1"/>
              <p:nvPr/>
            </p:nvSpPr>
            <p:spPr>
              <a:xfrm>
                <a:off x="287348" y="3641685"/>
                <a:ext cx="838200" cy="10910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nor/>
                        </m:rPr>
                        <a:rPr lang="en-US" altLang="zh-CN" sz="4800" dirty="0" smtClean="0">
                          <a:latin typeface="Cambria Math"/>
                        </a:rPr>
                        <m:t>s</m:t>
                      </m:r>
                      <m:r>
                        <m:rPr>
                          <m:nor/>
                        </m:rPr>
                        <a:rPr lang="en-US" altLang="zh-CN" sz="4800" b="0" i="0" baseline="-25000" dirty="0" smtClean="0">
                          <a:latin typeface="Cambria Math"/>
                        </a:rPr>
                        <m:t>4</m:t>
                      </m:r>
                    </m:oMath>
                  </m:oMathPara>
                </a14:m>
                <a:endParaRPr lang="en-US" altLang="zh-CN" sz="4800" baseline="-25000" dirty="0"/>
              </a:p>
              <a:p>
                <a:endParaRPr lang="zh-CN" altLang="en-US" dirty="0"/>
              </a:p>
            </p:txBody>
          </p:sp>
        </mc:Choice>
        <mc:Fallback xmlns="">
          <p:sp>
            <p:nvSpPr>
              <p:cNvPr id="67" name="TextBox 66"/>
              <p:cNvSpPr txBox="1">
                <a:spLocks noRot="1" noChangeAspect="1" noMove="1" noResize="1" noEditPoints="1" noAdjustHandles="1" noChangeArrowheads="1" noChangeShapeType="1" noTextEdit="1"/>
              </p:cNvSpPr>
              <p:nvPr/>
            </p:nvSpPr>
            <p:spPr>
              <a:xfrm>
                <a:off x="287348" y="3641685"/>
                <a:ext cx="838200" cy="1091004"/>
              </a:xfrm>
              <a:prstGeom prst="rect">
                <a:avLst/>
              </a:prstGeom>
              <a:blipFill rotWithShape="1">
                <a:blip r:embed="rId6"/>
                <a:stretch>
                  <a:fillRect/>
                </a:stretch>
              </a:blipFill>
            </p:spPr>
            <p:txBody>
              <a:bodyPr/>
              <a:lstStyle/>
              <a:p>
                <a:r>
                  <a:rPr lang="zh-CN" altLang="en-US">
                    <a:noFill/>
                  </a:rPr>
                  <a:t> </a:t>
                </a:r>
              </a:p>
            </p:txBody>
          </p:sp>
        </mc:Fallback>
      </mc:AlternateContent>
      <p:sp>
        <p:nvSpPr>
          <p:cNvPr id="90" name="Oval 72"/>
          <p:cNvSpPr/>
          <p:nvPr/>
        </p:nvSpPr>
        <p:spPr>
          <a:xfrm>
            <a:off x="6877995" y="2553345"/>
            <a:ext cx="457200"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g</a:t>
            </a:r>
          </a:p>
        </p:txBody>
      </p:sp>
      <p:sp>
        <p:nvSpPr>
          <p:cNvPr id="91" name="Oval 73"/>
          <p:cNvSpPr/>
          <p:nvPr/>
        </p:nvSpPr>
        <p:spPr>
          <a:xfrm>
            <a:off x="7915458" y="2553345"/>
            <a:ext cx="452628"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f</a:t>
            </a:r>
          </a:p>
        </p:txBody>
      </p:sp>
      <p:cxnSp>
        <p:nvCxnSpPr>
          <p:cNvPr id="92" name="Straight Arrow Connector 74"/>
          <p:cNvCxnSpPr/>
          <p:nvPr/>
        </p:nvCxnSpPr>
        <p:spPr>
          <a:xfrm>
            <a:off x="7332909" y="2763244"/>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75"/>
          <p:cNvCxnSpPr>
            <a:endCxn id="72" idx="0"/>
          </p:cNvCxnSpPr>
          <p:nvPr/>
        </p:nvCxnSpPr>
        <p:spPr>
          <a:xfrm>
            <a:off x="8368086" y="2775436"/>
            <a:ext cx="383286" cy="59811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74"/>
          <p:cNvCxnSpPr>
            <a:stCxn id="73" idx="0"/>
            <a:endCxn id="90" idx="3"/>
          </p:cNvCxnSpPr>
          <p:nvPr/>
        </p:nvCxnSpPr>
        <p:spPr>
          <a:xfrm flipV="1">
            <a:off x="6683304" y="2928685"/>
            <a:ext cx="261646" cy="41305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78" name="Oval 12"/>
          <p:cNvSpPr/>
          <p:nvPr/>
        </p:nvSpPr>
        <p:spPr>
          <a:xfrm>
            <a:off x="4522635" y="5035509"/>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h</a:t>
            </a:r>
          </a:p>
        </p:txBody>
      </p:sp>
      <p:sp>
        <p:nvSpPr>
          <p:cNvPr id="79" name="Oval 13"/>
          <p:cNvSpPr/>
          <p:nvPr/>
        </p:nvSpPr>
        <p:spPr>
          <a:xfrm>
            <a:off x="3386874" y="5035509"/>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
            </a:r>
          </a:p>
        </p:txBody>
      </p:sp>
      <p:sp>
        <p:nvSpPr>
          <p:cNvPr id="94" name="Oval 15"/>
          <p:cNvSpPr/>
          <p:nvPr/>
        </p:nvSpPr>
        <p:spPr>
          <a:xfrm>
            <a:off x="1318806" y="5021159"/>
            <a:ext cx="457200"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g</a:t>
            </a:r>
          </a:p>
        </p:txBody>
      </p:sp>
      <p:sp>
        <p:nvSpPr>
          <p:cNvPr id="95" name="Oval 18"/>
          <p:cNvSpPr/>
          <p:nvPr/>
        </p:nvSpPr>
        <p:spPr>
          <a:xfrm>
            <a:off x="2356269" y="5021159"/>
            <a:ext cx="457200"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f</a:t>
            </a:r>
          </a:p>
        </p:txBody>
      </p:sp>
      <p:cxnSp>
        <p:nvCxnSpPr>
          <p:cNvPr id="96" name="Straight Arrow Connector 55"/>
          <p:cNvCxnSpPr/>
          <p:nvPr/>
        </p:nvCxnSpPr>
        <p:spPr>
          <a:xfrm>
            <a:off x="1773720" y="5264109"/>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56"/>
          <p:cNvCxnSpPr/>
          <p:nvPr/>
        </p:nvCxnSpPr>
        <p:spPr>
          <a:xfrm>
            <a:off x="2808897" y="5264109"/>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57"/>
          <p:cNvCxnSpPr/>
          <p:nvPr/>
        </p:nvCxnSpPr>
        <p:spPr>
          <a:xfrm>
            <a:off x="3895890" y="5264109"/>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0" name="TextBox 99"/>
              <p:cNvSpPr txBox="1"/>
              <p:nvPr/>
            </p:nvSpPr>
            <p:spPr>
              <a:xfrm>
                <a:off x="254101" y="4732985"/>
                <a:ext cx="838200" cy="10910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nor/>
                        </m:rPr>
                        <a:rPr lang="en-US" altLang="zh-CN" sz="4800" dirty="0" smtClean="0">
                          <a:latin typeface="Cambria Math"/>
                        </a:rPr>
                        <m:t>s</m:t>
                      </m:r>
                      <m:r>
                        <m:rPr>
                          <m:nor/>
                        </m:rPr>
                        <a:rPr lang="en-US" altLang="zh-CN" sz="4800" b="0" i="0" baseline="-25000" dirty="0" smtClean="0">
                          <a:latin typeface="Cambria Math"/>
                        </a:rPr>
                        <m:t>i</m:t>
                      </m:r>
                    </m:oMath>
                  </m:oMathPara>
                </a14:m>
                <a:endParaRPr lang="en-US" altLang="zh-CN" sz="4800" baseline="-25000" dirty="0"/>
              </a:p>
              <a:p>
                <a:endParaRPr lang="zh-CN" altLang="en-US" dirty="0"/>
              </a:p>
            </p:txBody>
          </p:sp>
        </mc:Choice>
        <mc:Fallback xmlns="">
          <p:sp>
            <p:nvSpPr>
              <p:cNvPr id="100" name="TextBox 99"/>
              <p:cNvSpPr txBox="1">
                <a:spLocks noRot="1" noChangeAspect="1" noMove="1" noResize="1" noEditPoints="1" noAdjustHandles="1" noChangeArrowheads="1" noChangeShapeType="1" noTextEdit="1"/>
              </p:cNvSpPr>
              <p:nvPr/>
            </p:nvSpPr>
            <p:spPr>
              <a:xfrm>
                <a:off x="254101" y="4732985"/>
                <a:ext cx="838200" cy="1091004"/>
              </a:xfrm>
              <a:prstGeom prst="rect">
                <a:avLst/>
              </a:prstGeom>
              <a:blipFill rotWithShape="1">
                <a:blip r:embed="rId7"/>
                <a:stretch>
                  <a:fillRect/>
                </a:stretch>
              </a:blipFill>
            </p:spPr>
            <p:txBody>
              <a:bodyPr/>
              <a:lstStyle/>
              <a:p>
                <a:r>
                  <a:rPr lang="zh-CN" altLang="en-US">
                    <a:noFill/>
                  </a:rPr>
                  <a:t> </a:t>
                </a:r>
              </a:p>
            </p:txBody>
          </p:sp>
        </mc:Fallback>
      </mc:AlternateContent>
      <p:sp>
        <p:nvSpPr>
          <p:cNvPr id="101" name="TextBox 100"/>
          <p:cNvSpPr txBox="1"/>
          <p:nvPr/>
        </p:nvSpPr>
        <p:spPr>
          <a:xfrm>
            <a:off x="1314234" y="4662482"/>
            <a:ext cx="495019" cy="338554"/>
          </a:xfrm>
          <a:prstGeom prst="rect">
            <a:avLst/>
          </a:prstGeom>
          <a:noFill/>
          <a:ln>
            <a:noFill/>
          </a:ln>
        </p:spPr>
        <p:txBody>
          <a:bodyPr wrap="square" rtlCol="0">
            <a:spAutoFit/>
          </a:bodyPr>
          <a:lstStyle/>
          <a:p>
            <a:r>
              <a:rPr lang="en-US" sz="1600" b="1" dirty="0"/>
              <a:t>0.5</a:t>
            </a:r>
          </a:p>
        </p:txBody>
      </p:sp>
      <p:sp>
        <p:nvSpPr>
          <p:cNvPr id="102" name="TextBox 101"/>
          <p:cNvSpPr txBox="1"/>
          <p:nvPr/>
        </p:nvSpPr>
        <p:spPr>
          <a:xfrm>
            <a:off x="4384940" y="4666180"/>
            <a:ext cx="858229" cy="369330"/>
          </a:xfrm>
          <a:prstGeom prst="rect">
            <a:avLst/>
          </a:prstGeom>
          <a:noFill/>
          <a:ln>
            <a:noFill/>
          </a:ln>
        </p:spPr>
        <p:txBody>
          <a:bodyPr wrap="square" rtlCol="0">
            <a:spAutoFit/>
          </a:bodyPr>
          <a:lstStyle/>
          <a:p>
            <a:r>
              <a:rPr lang="en-US" b="1" dirty="0"/>
              <a:t>0.001</a:t>
            </a:r>
          </a:p>
        </p:txBody>
      </p:sp>
      <p:sp>
        <p:nvSpPr>
          <p:cNvPr id="103" name="TextBox 102"/>
          <p:cNvSpPr txBox="1"/>
          <p:nvPr/>
        </p:nvSpPr>
        <p:spPr>
          <a:xfrm>
            <a:off x="3416211" y="4651827"/>
            <a:ext cx="512926" cy="369332"/>
          </a:xfrm>
          <a:prstGeom prst="rect">
            <a:avLst/>
          </a:prstGeom>
          <a:noFill/>
          <a:ln>
            <a:noFill/>
          </a:ln>
        </p:spPr>
        <p:txBody>
          <a:bodyPr wrap="square" rtlCol="0">
            <a:spAutoFit/>
          </a:bodyPr>
          <a:lstStyle/>
          <a:p>
            <a:r>
              <a:rPr lang="en-US" b="1" dirty="0"/>
              <a:t>0.9</a:t>
            </a:r>
          </a:p>
        </p:txBody>
      </p:sp>
      <p:sp>
        <p:nvSpPr>
          <p:cNvPr id="104" name="TextBox 103"/>
          <p:cNvSpPr txBox="1"/>
          <p:nvPr/>
        </p:nvSpPr>
        <p:spPr>
          <a:xfrm>
            <a:off x="2368651" y="4619562"/>
            <a:ext cx="603149" cy="369332"/>
          </a:xfrm>
          <a:prstGeom prst="rect">
            <a:avLst/>
          </a:prstGeom>
          <a:noFill/>
          <a:ln>
            <a:noFill/>
          </a:ln>
        </p:spPr>
        <p:txBody>
          <a:bodyPr wrap="square" rtlCol="0">
            <a:spAutoFit/>
          </a:bodyPr>
          <a:lstStyle/>
          <a:p>
            <a:r>
              <a:rPr lang="en-US" b="1" dirty="0"/>
              <a:t>0.5</a:t>
            </a:r>
          </a:p>
        </p:txBody>
      </p:sp>
      <p:sp>
        <p:nvSpPr>
          <p:cNvPr id="32" name="矩形 31"/>
          <p:cNvSpPr/>
          <p:nvPr/>
        </p:nvSpPr>
        <p:spPr>
          <a:xfrm>
            <a:off x="4384940" y="4714774"/>
            <a:ext cx="720460" cy="8731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3"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3869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childTnLst>
                                </p:cTn>
                              </p:par>
                              <p:par>
                                <p:cTn id="7" presetID="16" presetClass="entr" presetSubtype="21" fill="hold" grpId="0" nodeType="withEffect">
                                  <p:stCondLst>
                                    <p:cond delay="0"/>
                                  </p:stCondLst>
                                  <p:childTnLst>
                                    <p:set>
                                      <p:cBhvr>
                                        <p:cTn id="8" dur="1" fill="hold">
                                          <p:stCondLst>
                                            <p:cond delay="0"/>
                                          </p:stCondLst>
                                        </p:cTn>
                                        <p:tgtEl>
                                          <p:spTgt spid="74"/>
                                        </p:tgtEl>
                                        <p:attrNameLst>
                                          <p:attrName>style.visibility</p:attrName>
                                        </p:attrNameLst>
                                      </p:cBhvr>
                                      <p:to>
                                        <p:strVal val="visible"/>
                                      </p:to>
                                    </p:set>
                                    <p:animEffect transition="in" filter="barn(inVertical)">
                                      <p:cBhvr>
                                        <p:cTn id="9" dur="500"/>
                                        <p:tgtEl>
                                          <p:spTgt spid="74"/>
                                        </p:tgtEl>
                                      </p:cBhvr>
                                    </p:animEffect>
                                  </p:childTnLst>
                                </p:cTn>
                              </p:par>
                              <p:par>
                                <p:cTn id="10" presetID="16" presetClass="entr" presetSubtype="21" fill="hold" grpId="0" nodeType="withEffect">
                                  <p:stCondLst>
                                    <p:cond delay="0"/>
                                  </p:stCondLst>
                                  <p:childTnLst>
                                    <p:set>
                                      <p:cBhvr>
                                        <p:cTn id="11" dur="1" fill="hold">
                                          <p:stCondLst>
                                            <p:cond delay="0"/>
                                          </p:stCondLst>
                                        </p:cTn>
                                        <p:tgtEl>
                                          <p:spTgt spid="90"/>
                                        </p:tgtEl>
                                        <p:attrNameLst>
                                          <p:attrName>style.visibility</p:attrName>
                                        </p:attrNameLst>
                                      </p:cBhvr>
                                      <p:to>
                                        <p:strVal val="visible"/>
                                      </p:to>
                                    </p:set>
                                    <p:animEffect transition="in" filter="barn(inVertical)">
                                      <p:cBhvr>
                                        <p:cTn id="12" dur="500"/>
                                        <p:tgtEl>
                                          <p:spTgt spid="90"/>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91"/>
                                        </p:tgtEl>
                                        <p:attrNameLst>
                                          <p:attrName>style.visibility</p:attrName>
                                        </p:attrNameLst>
                                      </p:cBhvr>
                                      <p:to>
                                        <p:strVal val="visible"/>
                                      </p:to>
                                    </p:set>
                                    <p:animEffect transition="in" filter="barn(inVertical)">
                                      <p:cBhvr>
                                        <p:cTn id="15" dur="500"/>
                                        <p:tgtEl>
                                          <p:spTgt spid="91"/>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73"/>
                                        </p:tgtEl>
                                        <p:attrNameLst>
                                          <p:attrName>style.visibility</p:attrName>
                                        </p:attrNameLst>
                                      </p:cBhvr>
                                      <p:to>
                                        <p:strVal val="visible"/>
                                      </p:to>
                                    </p:set>
                                    <p:animEffect transition="in" filter="barn(inVertical)">
                                      <p:cBhvr>
                                        <p:cTn id="18" dur="500"/>
                                        <p:tgtEl>
                                          <p:spTgt spid="73"/>
                                        </p:tgtEl>
                                      </p:cBhvr>
                                    </p:animEffect>
                                  </p:childTnLst>
                                </p:cTn>
                              </p:par>
                              <p:par>
                                <p:cTn id="19" presetID="16" presetClass="entr" presetSubtype="21" fill="hold" nodeType="withEffect">
                                  <p:stCondLst>
                                    <p:cond delay="0"/>
                                  </p:stCondLst>
                                  <p:childTnLst>
                                    <p:set>
                                      <p:cBhvr>
                                        <p:cTn id="20" dur="1" fill="hold">
                                          <p:stCondLst>
                                            <p:cond delay="0"/>
                                          </p:stCondLst>
                                        </p:cTn>
                                        <p:tgtEl>
                                          <p:spTgt spid="98"/>
                                        </p:tgtEl>
                                        <p:attrNameLst>
                                          <p:attrName>style.visibility</p:attrName>
                                        </p:attrNameLst>
                                      </p:cBhvr>
                                      <p:to>
                                        <p:strVal val="visible"/>
                                      </p:to>
                                    </p:set>
                                    <p:animEffect transition="in" filter="barn(inVertical)">
                                      <p:cBhvr>
                                        <p:cTn id="21" dur="500"/>
                                        <p:tgtEl>
                                          <p:spTgt spid="98"/>
                                        </p:tgtEl>
                                      </p:cBhvr>
                                    </p:animEffect>
                                  </p:childTnLst>
                                </p:cTn>
                              </p:par>
                              <p:par>
                                <p:cTn id="22" presetID="16" presetClass="entr" presetSubtype="21" fill="hold" nodeType="withEffect">
                                  <p:stCondLst>
                                    <p:cond delay="0"/>
                                  </p:stCondLst>
                                  <p:childTnLst>
                                    <p:set>
                                      <p:cBhvr>
                                        <p:cTn id="23" dur="1" fill="hold">
                                          <p:stCondLst>
                                            <p:cond delay="0"/>
                                          </p:stCondLst>
                                        </p:cTn>
                                        <p:tgtEl>
                                          <p:spTgt spid="93"/>
                                        </p:tgtEl>
                                        <p:attrNameLst>
                                          <p:attrName>style.visibility</p:attrName>
                                        </p:attrNameLst>
                                      </p:cBhvr>
                                      <p:to>
                                        <p:strVal val="visible"/>
                                      </p:to>
                                    </p:set>
                                    <p:animEffect transition="in" filter="barn(inVertical)">
                                      <p:cBhvr>
                                        <p:cTn id="24" dur="500"/>
                                        <p:tgtEl>
                                          <p:spTgt spid="93"/>
                                        </p:tgtEl>
                                      </p:cBhvr>
                                    </p:animEffect>
                                  </p:childTnLst>
                                </p:cTn>
                              </p:par>
                              <p:par>
                                <p:cTn id="25" presetID="16" presetClass="entr" presetSubtype="21" fill="hold" nodeType="withEffect">
                                  <p:stCondLst>
                                    <p:cond delay="0"/>
                                  </p:stCondLst>
                                  <p:childTnLst>
                                    <p:set>
                                      <p:cBhvr>
                                        <p:cTn id="26" dur="1" fill="hold">
                                          <p:stCondLst>
                                            <p:cond delay="0"/>
                                          </p:stCondLst>
                                        </p:cTn>
                                        <p:tgtEl>
                                          <p:spTgt spid="76"/>
                                        </p:tgtEl>
                                        <p:attrNameLst>
                                          <p:attrName>style.visibility</p:attrName>
                                        </p:attrNameLst>
                                      </p:cBhvr>
                                      <p:to>
                                        <p:strVal val="visible"/>
                                      </p:to>
                                    </p:set>
                                    <p:animEffect transition="in" filter="barn(inVertical)">
                                      <p:cBhvr>
                                        <p:cTn id="27" dur="500"/>
                                        <p:tgtEl>
                                          <p:spTgt spid="76"/>
                                        </p:tgtEl>
                                      </p:cBhvr>
                                    </p:animEffect>
                                  </p:childTnLst>
                                </p:cTn>
                              </p:par>
                              <p:par>
                                <p:cTn id="28" presetID="16" presetClass="entr" presetSubtype="21" fill="hold" grpId="0" nodeType="withEffect">
                                  <p:stCondLst>
                                    <p:cond delay="0"/>
                                  </p:stCondLst>
                                  <p:childTnLst>
                                    <p:set>
                                      <p:cBhvr>
                                        <p:cTn id="29" dur="1" fill="hold">
                                          <p:stCondLst>
                                            <p:cond delay="0"/>
                                          </p:stCondLst>
                                        </p:cTn>
                                        <p:tgtEl>
                                          <p:spTgt spid="72"/>
                                        </p:tgtEl>
                                        <p:attrNameLst>
                                          <p:attrName>style.visibility</p:attrName>
                                        </p:attrNameLst>
                                      </p:cBhvr>
                                      <p:to>
                                        <p:strVal val="visible"/>
                                      </p:to>
                                    </p:set>
                                    <p:animEffect transition="in" filter="barn(inVertical)">
                                      <p:cBhvr>
                                        <p:cTn id="30" dur="500"/>
                                        <p:tgtEl>
                                          <p:spTgt spid="72"/>
                                        </p:tgtEl>
                                      </p:cBhvr>
                                    </p:animEffect>
                                  </p:childTnLst>
                                </p:cTn>
                              </p:par>
                              <p:par>
                                <p:cTn id="31" presetID="16" presetClass="entr" presetSubtype="21" fill="hold" nodeType="withEffect">
                                  <p:stCondLst>
                                    <p:cond delay="0"/>
                                  </p:stCondLst>
                                  <p:childTnLst>
                                    <p:set>
                                      <p:cBhvr>
                                        <p:cTn id="32" dur="1" fill="hold">
                                          <p:stCondLst>
                                            <p:cond delay="0"/>
                                          </p:stCondLst>
                                        </p:cTn>
                                        <p:tgtEl>
                                          <p:spTgt spid="75"/>
                                        </p:tgtEl>
                                        <p:attrNameLst>
                                          <p:attrName>style.visibility</p:attrName>
                                        </p:attrNameLst>
                                      </p:cBhvr>
                                      <p:to>
                                        <p:strVal val="visible"/>
                                      </p:to>
                                    </p:set>
                                    <p:animEffect transition="in" filter="barn(inVertical)">
                                      <p:cBhvr>
                                        <p:cTn id="33" dur="500"/>
                                        <p:tgtEl>
                                          <p:spTgt spid="75"/>
                                        </p:tgtEl>
                                      </p:cBhvr>
                                    </p:animEffect>
                                  </p:childTnLst>
                                </p:cTn>
                              </p:par>
                              <p:par>
                                <p:cTn id="34" presetID="16" presetClass="entr" presetSubtype="21" fill="hold" nodeType="withEffect">
                                  <p:stCondLst>
                                    <p:cond delay="0"/>
                                  </p:stCondLst>
                                  <p:childTnLst>
                                    <p:set>
                                      <p:cBhvr>
                                        <p:cTn id="35" dur="1" fill="hold">
                                          <p:stCondLst>
                                            <p:cond delay="0"/>
                                          </p:stCondLst>
                                        </p:cTn>
                                        <p:tgtEl>
                                          <p:spTgt spid="92"/>
                                        </p:tgtEl>
                                        <p:attrNameLst>
                                          <p:attrName>style.visibility</p:attrName>
                                        </p:attrNameLst>
                                      </p:cBhvr>
                                      <p:to>
                                        <p:strVal val="visible"/>
                                      </p:to>
                                    </p:set>
                                    <p:animEffect transition="in" filter="barn(inVertical)">
                                      <p:cBhvr>
                                        <p:cTn id="36" dur="500"/>
                                        <p:tgtEl>
                                          <p:spTgt spid="92"/>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00"/>
                                        </p:tgtEl>
                                        <p:attrNameLst>
                                          <p:attrName>style.visibility</p:attrName>
                                        </p:attrNameLst>
                                      </p:cBhvr>
                                      <p:to>
                                        <p:strVal val="visible"/>
                                      </p:to>
                                    </p:set>
                                    <p:anim calcmode="lin" valueType="num">
                                      <p:cBhvr additive="base">
                                        <p:cTn id="41" dur="500" fill="hold"/>
                                        <p:tgtEl>
                                          <p:spTgt spid="100"/>
                                        </p:tgtEl>
                                        <p:attrNameLst>
                                          <p:attrName>ppt_x</p:attrName>
                                        </p:attrNameLst>
                                      </p:cBhvr>
                                      <p:tavLst>
                                        <p:tav tm="0">
                                          <p:val>
                                            <p:strVal val="#ppt_x"/>
                                          </p:val>
                                        </p:tav>
                                        <p:tav tm="100000">
                                          <p:val>
                                            <p:strVal val="#ppt_x"/>
                                          </p:val>
                                        </p:tav>
                                      </p:tavLst>
                                    </p:anim>
                                    <p:anim calcmode="lin" valueType="num">
                                      <p:cBhvr additive="base">
                                        <p:cTn id="42" dur="500" fill="hold"/>
                                        <p:tgtEl>
                                          <p:spTgt spid="100"/>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94"/>
                                        </p:tgtEl>
                                        <p:attrNameLst>
                                          <p:attrName>style.visibility</p:attrName>
                                        </p:attrNameLst>
                                      </p:cBhvr>
                                      <p:to>
                                        <p:strVal val="visible"/>
                                      </p:to>
                                    </p:set>
                                    <p:anim calcmode="lin" valueType="num">
                                      <p:cBhvr additive="base">
                                        <p:cTn id="45" dur="500" fill="hold"/>
                                        <p:tgtEl>
                                          <p:spTgt spid="94"/>
                                        </p:tgtEl>
                                        <p:attrNameLst>
                                          <p:attrName>ppt_x</p:attrName>
                                        </p:attrNameLst>
                                      </p:cBhvr>
                                      <p:tavLst>
                                        <p:tav tm="0">
                                          <p:val>
                                            <p:strVal val="#ppt_x"/>
                                          </p:val>
                                        </p:tav>
                                        <p:tav tm="100000">
                                          <p:val>
                                            <p:strVal val="#ppt_x"/>
                                          </p:val>
                                        </p:tav>
                                      </p:tavLst>
                                    </p:anim>
                                    <p:anim calcmode="lin" valueType="num">
                                      <p:cBhvr additive="base">
                                        <p:cTn id="46" dur="500" fill="hold"/>
                                        <p:tgtEl>
                                          <p:spTgt spid="94"/>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96"/>
                                        </p:tgtEl>
                                        <p:attrNameLst>
                                          <p:attrName>style.visibility</p:attrName>
                                        </p:attrNameLst>
                                      </p:cBhvr>
                                      <p:to>
                                        <p:strVal val="visible"/>
                                      </p:to>
                                    </p:set>
                                    <p:anim calcmode="lin" valueType="num">
                                      <p:cBhvr additive="base">
                                        <p:cTn id="49" dur="500" fill="hold"/>
                                        <p:tgtEl>
                                          <p:spTgt spid="96"/>
                                        </p:tgtEl>
                                        <p:attrNameLst>
                                          <p:attrName>ppt_x</p:attrName>
                                        </p:attrNameLst>
                                      </p:cBhvr>
                                      <p:tavLst>
                                        <p:tav tm="0">
                                          <p:val>
                                            <p:strVal val="#ppt_x"/>
                                          </p:val>
                                        </p:tav>
                                        <p:tav tm="100000">
                                          <p:val>
                                            <p:strVal val="#ppt_x"/>
                                          </p:val>
                                        </p:tav>
                                      </p:tavLst>
                                    </p:anim>
                                    <p:anim calcmode="lin" valueType="num">
                                      <p:cBhvr additive="base">
                                        <p:cTn id="50" dur="500" fill="hold"/>
                                        <p:tgtEl>
                                          <p:spTgt spid="96"/>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95"/>
                                        </p:tgtEl>
                                        <p:attrNameLst>
                                          <p:attrName>style.visibility</p:attrName>
                                        </p:attrNameLst>
                                      </p:cBhvr>
                                      <p:to>
                                        <p:strVal val="visible"/>
                                      </p:to>
                                    </p:set>
                                    <p:anim calcmode="lin" valueType="num">
                                      <p:cBhvr additive="base">
                                        <p:cTn id="53" dur="500" fill="hold"/>
                                        <p:tgtEl>
                                          <p:spTgt spid="95"/>
                                        </p:tgtEl>
                                        <p:attrNameLst>
                                          <p:attrName>ppt_x</p:attrName>
                                        </p:attrNameLst>
                                      </p:cBhvr>
                                      <p:tavLst>
                                        <p:tav tm="0">
                                          <p:val>
                                            <p:strVal val="#ppt_x"/>
                                          </p:val>
                                        </p:tav>
                                        <p:tav tm="100000">
                                          <p:val>
                                            <p:strVal val="#ppt_x"/>
                                          </p:val>
                                        </p:tav>
                                      </p:tavLst>
                                    </p:anim>
                                    <p:anim calcmode="lin" valueType="num">
                                      <p:cBhvr additive="base">
                                        <p:cTn id="54" dur="500" fill="hold"/>
                                        <p:tgtEl>
                                          <p:spTgt spid="95"/>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97"/>
                                        </p:tgtEl>
                                        <p:attrNameLst>
                                          <p:attrName>style.visibility</p:attrName>
                                        </p:attrNameLst>
                                      </p:cBhvr>
                                      <p:to>
                                        <p:strVal val="visible"/>
                                      </p:to>
                                    </p:set>
                                    <p:anim calcmode="lin" valueType="num">
                                      <p:cBhvr additive="base">
                                        <p:cTn id="57" dur="500" fill="hold"/>
                                        <p:tgtEl>
                                          <p:spTgt spid="97"/>
                                        </p:tgtEl>
                                        <p:attrNameLst>
                                          <p:attrName>ppt_x</p:attrName>
                                        </p:attrNameLst>
                                      </p:cBhvr>
                                      <p:tavLst>
                                        <p:tav tm="0">
                                          <p:val>
                                            <p:strVal val="#ppt_x"/>
                                          </p:val>
                                        </p:tav>
                                        <p:tav tm="100000">
                                          <p:val>
                                            <p:strVal val="#ppt_x"/>
                                          </p:val>
                                        </p:tav>
                                      </p:tavLst>
                                    </p:anim>
                                    <p:anim calcmode="lin" valueType="num">
                                      <p:cBhvr additive="base">
                                        <p:cTn id="58" dur="500" fill="hold"/>
                                        <p:tgtEl>
                                          <p:spTgt spid="97"/>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79"/>
                                        </p:tgtEl>
                                        <p:attrNameLst>
                                          <p:attrName>style.visibility</p:attrName>
                                        </p:attrNameLst>
                                      </p:cBhvr>
                                      <p:to>
                                        <p:strVal val="visible"/>
                                      </p:to>
                                    </p:set>
                                    <p:anim calcmode="lin" valueType="num">
                                      <p:cBhvr additive="base">
                                        <p:cTn id="61" dur="500" fill="hold"/>
                                        <p:tgtEl>
                                          <p:spTgt spid="79"/>
                                        </p:tgtEl>
                                        <p:attrNameLst>
                                          <p:attrName>ppt_x</p:attrName>
                                        </p:attrNameLst>
                                      </p:cBhvr>
                                      <p:tavLst>
                                        <p:tav tm="0">
                                          <p:val>
                                            <p:strVal val="#ppt_x"/>
                                          </p:val>
                                        </p:tav>
                                        <p:tav tm="100000">
                                          <p:val>
                                            <p:strVal val="#ppt_x"/>
                                          </p:val>
                                        </p:tav>
                                      </p:tavLst>
                                    </p:anim>
                                    <p:anim calcmode="lin" valueType="num">
                                      <p:cBhvr additive="base">
                                        <p:cTn id="62" dur="500" fill="hold"/>
                                        <p:tgtEl>
                                          <p:spTgt spid="79"/>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99"/>
                                        </p:tgtEl>
                                        <p:attrNameLst>
                                          <p:attrName>style.visibility</p:attrName>
                                        </p:attrNameLst>
                                      </p:cBhvr>
                                      <p:to>
                                        <p:strVal val="visible"/>
                                      </p:to>
                                    </p:set>
                                    <p:anim calcmode="lin" valueType="num">
                                      <p:cBhvr additive="base">
                                        <p:cTn id="65" dur="500" fill="hold"/>
                                        <p:tgtEl>
                                          <p:spTgt spid="99"/>
                                        </p:tgtEl>
                                        <p:attrNameLst>
                                          <p:attrName>ppt_x</p:attrName>
                                        </p:attrNameLst>
                                      </p:cBhvr>
                                      <p:tavLst>
                                        <p:tav tm="0">
                                          <p:val>
                                            <p:strVal val="#ppt_x"/>
                                          </p:val>
                                        </p:tav>
                                        <p:tav tm="100000">
                                          <p:val>
                                            <p:strVal val="#ppt_x"/>
                                          </p:val>
                                        </p:tav>
                                      </p:tavLst>
                                    </p:anim>
                                    <p:anim calcmode="lin" valueType="num">
                                      <p:cBhvr additive="base">
                                        <p:cTn id="66" dur="500" fill="hold"/>
                                        <p:tgtEl>
                                          <p:spTgt spid="99"/>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78"/>
                                        </p:tgtEl>
                                        <p:attrNameLst>
                                          <p:attrName>style.visibility</p:attrName>
                                        </p:attrNameLst>
                                      </p:cBhvr>
                                      <p:to>
                                        <p:strVal val="visible"/>
                                      </p:to>
                                    </p:set>
                                    <p:anim calcmode="lin" valueType="num">
                                      <p:cBhvr additive="base">
                                        <p:cTn id="69" dur="500" fill="hold"/>
                                        <p:tgtEl>
                                          <p:spTgt spid="78"/>
                                        </p:tgtEl>
                                        <p:attrNameLst>
                                          <p:attrName>ppt_x</p:attrName>
                                        </p:attrNameLst>
                                      </p:cBhvr>
                                      <p:tavLst>
                                        <p:tav tm="0">
                                          <p:val>
                                            <p:strVal val="#ppt_x"/>
                                          </p:val>
                                        </p:tav>
                                        <p:tav tm="100000">
                                          <p:val>
                                            <p:strVal val="#ppt_x"/>
                                          </p:val>
                                        </p:tav>
                                      </p:tavLst>
                                    </p:anim>
                                    <p:anim calcmode="lin" valueType="num">
                                      <p:cBhvr additive="base">
                                        <p:cTn id="70" dur="500" fill="hold"/>
                                        <p:tgtEl>
                                          <p:spTgt spid="78"/>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grpId="0" nodeType="clickEffect">
                                  <p:stCondLst>
                                    <p:cond delay="0"/>
                                  </p:stCondLst>
                                  <p:childTnLst>
                                    <p:set>
                                      <p:cBhvr>
                                        <p:cTn id="74" dur="1" fill="hold">
                                          <p:stCondLst>
                                            <p:cond delay="0"/>
                                          </p:stCondLst>
                                        </p:cTn>
                                        <p:tgtEl>
                                          <p:spTgt spid="101"/>
                                        </p:tgtEl>
                                        <p:attrNameLst>
                                          <p:attrName>style.visibility</p:attrName>
                                        </p:attrNameLst>
                                      </p:cBhvr>
                                      <p:to>
                                        <p:strVal val="visible"/>
                                      </p:to>
                                    </p:set>
                                    <p:animEffect transition="in" filter="fade">
                                      <p:cBhvr>
                                        <p:cTn id="75" dur="1000"/>
                                        <p:tgtEl>
                                          <p:spTgt spid="101"/>
                                        </p:tgtEl>
                                      </p:cBhvr>
                                    </p:animEffect>
                                    <p:anim calcmode="lin" valueType="num">
                                      <p:cBhvr>
                                        <p:cTn id="76" dur="1000" fill="hold"/>
                                        <p:tgtEl>
                                          <p:spTgt spid="101"/>
                                        </p:tgtEl>
                                        <p:attrNameLst>
                                          <p:attrName>ppt_x</p:attrName>
                                        </p:attrNameLst>
                                      </p:cBhvr>
                                      <p:tavLst>
                                        <p:tav tm="0">
                                          <p:val>
                                            <p:strVal val="#ppt_x"/>
                                          </p:val>
                                        </p:tav>
                                        <p:tav tm="100000">
                                          <p:val>
                                            <p:strVal val="#ppt_x"/>
                                          </p:val>
                                        </p:tav>
                                      </p:tavLst>
                                    </p:anim>
                                    <p:anim calcmode="lin" valueType="num">
                                      <p:cBhvr>
                                        <p:cTn id="77" dur="1000" fill="hold"/>
                                        <p:tgtEl>
                                          <p:spTgt spid="101"/>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104"/>
                                        </p:tgtEl>
                                        <p:attrNameLst>
                                          <p:attrName>style.visibility</p:attrName>
                                        </p:attrNameLst>
                                      </p:cBhvr>
                                      <p:to>
                                        <p:strVal val="visible"/>
                                      </p:to>
                                    </p:set>
                                    <p:animEffect transition="in" filter="fade">
                                      <p:cBhvr>
                                        <p:cTn id="80" dur="1000"/>
                                        <p:tgtEl>
                                          <p:spTgt spid="104"/>
                                        </p:tgtEl>
                                      </p:cBhvr>
                                    </p:animEffect>
                                    <p:anim calcmode="lin" valueType="num">
                                      <p:cBhvr>
                                        <p:cTn id="81" dur="1000" fill="hold"/>
                                        <p:tgtEl>
                                          <p:spTgt spid="104"/>
                                        </p:tgtEl>
                                        <p:attrNameLst>
                                          <p:attrName>ppt_x</p:attrName>
                                        </p:attrNameLst>
                                      </p:cBhvr>
                                      <p:tavLst>
                                        <p:tav tm="0">
                                          <p:val>
                                            <p:strVal val="#ppt_x"/>
                                          </p:val>
                                        </p:tav>
                                        <p:tav tm="100000">
                                          <p:val>
                                            <p:strVal val="#ppt_x"/>
                                          </p:val>
                                        </p:tav>
                                      </p:tavLst>
                                    </p:anim>
                                    <p:anim calcmode="lin" valueType="num">
                                      <p:cBhvr>
                                        <p:cTn id="82" dur="1000" fill="hold"/>
                                        <p:tgtEl>
                                          <p:spTgt spid="104"/>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103"/>
                                        </p:tgtEl>
                                        <p:attrNameLst>
                                          <p:attrName>style.visibility</p:attrName>
                                        </p:attrNameLst>
                                      </p:cBhvr>
                                      <p:to>
                                        <p:strVal val="visible"/>
                                      </p:to>
                                    </p:set>
                                    <p:animEffect transition="in" filter="fade">
                                      <p:cBhvr>
                                        <p:cTn id="85" dur="1000"/>
                                        <p:tgtEl>
                                          <p:spTgt spid="103"/>
                                        </p:tgtEl>
                                      </p:cBhvr>
                                    </p:animEffect>
                                    <p:anim calcmode="lin" valueType="num">
                                      <p:cBhvr>
                                        <p:cTn id="86" dur="1000" fill="hold"/>
                                        <p:tgtEl>
                                          <p:spTgt spid="103"/>
                                        </p:tgtEl>
                                        <p:attrNameLst>
                                          <p:attrName>ppt_x</p:attrName>
                                        </p:attrNameLst>
                                      </p:cBhvr>
                                      <p:tavLst>
                                        <p:tav tm="0">
                                          <p:val>
                                            <p:strVal val="#ppt_x"/>
                                          </p:val>
                                        </p:tav>
                                        <p:tav tm="100000">
                                          <p:val>
                                            <p:strVal val="#ppt_x"/>
                                          </p:val>
                                        </p:tav>
                                      </p:tavLst>
                                    </p:anim>
                                    <p:anim calcmode="lin" valueType="num">
                                      <p:cBhvr>
                                        <p:cTn id="87" dur="1000" fill="hold"/>
                                        <p:tgtEl>
                                          <p:spTgt spid="103"/>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102"/>
                                        </p:tgtEl>
                                        <p:attrNameLst>
                                          <p:attrName>style.visibility</p:attrName>
                                        </p:attrNameLst>
                                      </p:cBhvr>
                                      <p:to>
                                        <p:strVal val="visible"/>
                                      </p:to>
                                    </p:set>
                                    <p:animEffect transition="in" filter="fade">
                                      <p:cBhvr>
                                        <p:cTn id="90" dur="1000"/>
                                        <p:tgtEl>
                                          <p:spTgt spid="102"/>
                                        </p:tgtEl>
                                      </p:cBhvr>
                                    </p:animEffect>
                                    <p:anim calcmode="lin" valueType="num">
                                      <p:cBhvr>
                                        <p:cTn id="91" dur="1000" fill="hold"/>
                                        <p:tgtEl>
                                          <p:spTgt spid="102"/>
                                        </p:tgtEl>
                                        <p:attrNameLst>
                                          <p:attrName>ppt_x</p:attrName>
                                        </p:attrNameLst>
                                      </p:cBhvr>
                                      <p:tavLst>
                                        <p:tav tm="0">
                                          <p:val>
                                            <p:strVal val="#ppt_x"/>
                                          </p:val>
                                        </p:tav>
                                        <p:tav tm="100000">
                                          <p:val>
                                            <p:strVal val="#ppt_x"/>
                                          </p:val>
                                        </p:tav>
                                      </p:tavLst>
                                    </p:anim>
                                    <p:anim calcmode="lin" valueType="num">
                                      <p:cBhvr>
                                        <p:cTn id="92" dur="1000" fill="hold"/>
                                        <p:tgtEl>
                                          <p:spTgt spid="102"/>
                                        </p:tgtEl>
                                        <p:attrNameLst>
                                          <p:attrName>ppt_y</p:attrName>
                                        </p:attrNameLst>
                                      </p:cBhvr>
                                      <p:tavLst>
                                        <p:tav tm="0">
                                          <p:val>
                                            <p:strVal val="#ppt_y+.1"/>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2" presetClass="entr" presetSubtype="4" fill="hold" grpId="0" nodeType="clickEffect">
                                  <p:stCondLst>
                                    <p:cond delay="0"/>
                                  </p:stCondLst>
                                  <p:childTnLst>
                                    <p:set>
                                      <p:cBhvr>
                                        <p:cTn id="96" dur="1" fill="hold">
                                          <p:stCondLst>
                                            <p:cond delay="0"/>
                                          </p:stCondLst>
                                        </p:cTn>
                                        <p:tgtEl>
                                          <p:spTgt spid="32"/>
                                        </p:tgtEl>
                                        <p:attrNameLst>
                                          <p:attrName>style.visibility</p:attrName>
                                        </p:attrNameLst>
                                      </p:cBhvr>
                                      <p:to>
                                        <p:strVal val="visible"/>
                                      </p:to>
                                    </p:set>
                                    <p:animEffect transition="in" filter="wipe(down)">
                                      <p:cBhvr>
                                        <p:cTn id="9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P spid="72" grpId="0" animBg="1"/>
      <p:bldP spid="73" grpId="0" animBg="1"/>
      <p:bldP spid="74" grpId="0" animBg="1"/>
      <p:bldP spid="90" grpId="0" animBg="1"/>
      <p:bldP spid="91" grpId="0" animBg="1"/>
      <p:bldP spid="78" grpId="0" animBg="1"/>
      <p:bldP spid="79" grpId="0" animBg="1"/>
      <p:bldP spid="94" grpId="0" animBg="1"/>
      <p:bldP spid="95" grpId="0" animBg="1"/>
      <p:bldP spid="100" grpId="0"/>
      <p:bldP spid="101" grpId="0"/>
      <p:bldP spid="102" grpId="0"/>
      <p:bldP spid="103" grpId="0"/>
      <p:bldP spid="104" grpId="0"/>
      <p:bldP spid="3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Event Hierarchy Tree</a:t>
            </a:r>
          </a:p>
        </p:txBody>
      </p:sp>
      <p:sp>
        <p:nvSpPr>
          <p:cNvPr id="4" name="Slide Number Placeholder 3"/>
          <p:cNvSpPr>
            <a:spLocks noGrp="1"/>
          </p:cNvSpPr>
          <p:nvPr>
            <p:ph type="sldNum" sz="quarter" idx="12"/>
          </p:nvPr>
        </p:nvSpPr>
        <p:spPr/>
        <p:txBody>
          <a:bodyPr/>
          <a:lstStyle/>
          <a:p>
            <a:fld id="{32B29A66-CFD5-4F33-88E2-E7F8EEB50249}" type="slidenum">
              <a:rPr lang="en-US" altLang="en-US" smtClean="0"/>
              <a:pPr/>
              <a:t>9</a:t>
            </a:fld>
            <a:endParaRPr lang="en-US" altLang="en-US"/>
          </a:p>
        </p:txBody>
      </p:sp>
      <p:sp>
        <p:nvSpPr>
          <p:cNvPr id="9" name="Rounded Rectangle 8"/>
          <p:cNvSpPr/>
          <p:nvPr/>
        </p:nvSpPr>
        <p:spPr>
          <a:xfrm>
            <a:off x="2151888" y="1842110"/>
            <a:ext cx="1978152" cy="6573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kitchen/</a:t>
            </a:r>
          </a:p>
          <a:p>
            <a:pPr algn="ctr"/>
            <a:r>
              <a:rPr lang="en-US" b="1" dirty="0"/>
              <a:t>food activities</a:t>
            </a:r>
          </a:p>
        </p:txBody>
      </p:sp>
      <p:sp>
        <p:nvSpPr>
          <p:cNvPr id="10" name="Rounded Rectangle 9"/>
          <p:cNvSpPr/>
          <p:nvPr/>
        </p:nvSpPr>
        <p:spPr>
          <a:xfrm>
            <a:off x="665989" y="3032892"/>
            <a:ext cx="1315211" cy="5244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preparing meal</a:t>
            </a:r>
          </a:p>
        </p:txBody>
      </p:sp>
      <p:sp>
        <p:nvSpPr>
          <p:cNvPr id="11" name="Rounded Rectangle 10"/>
          <p:cNvSpPr/>
          <p:nvPr/>
        </p:nvSpPr>
        <p:spPr>
          <a:xfrm>
            <a:off x="2506980" y="3032892"/>
            <a:ext cx="1275588"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washing dishes</a:t>
            </a:r>
          </a:p>
        </p:txBody>
      </p:sp>
      <p:sp>
        <p:nvSpPr>
          <p:cNvPr id="12" name="Rounded Rectangle 11"/>
          <p:cNvSpPr/>
          <p:nvPr/>
        </p:nvSpPr>
        <p:spPr>
          <a:xfrm>
            <a:off x="4416552" y="3032891"/>
            <a:ext cx="1183385" cy="52450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eating/</a:t>
            </a:r>
          </a:p>
          <a:p>
            <a:pPr algn="ctr"/>
            <a:r>
              <a:rPr lang="en-US" b="1" dirty="0"/>
              <a:t>drinking</a:t>
            </a:r>
          </a:p>
        </p:txBody>
      </p:sp>
      <p:sp>
        <p:nvSpPr>
          <p:cNvPr id="13" name="Rounded Rectangle 12"/>
          <p:cNvSpPr/>
          <p:nvPr/>
        </p:nvSpPr>
        <p:spPr>
          <a:xfrm>
            <a:off x="2506980" y="4099692"/>
            <a:ext cx="1275588" cy="55999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making</a:t>
            </a:r>
          </a:p>
          <a:p>
            <a:pPr algn="ctr"/>
            <a:r>
              <a:rPr lang="en-US" b="1" dirty="0"/>
              <a:t>beverage</a:t>
            </a:r>
          </a:p>
        </p:txBody>
      </p:sp>
      <p:sp>
        <p:nvSpPr>
          <p:cNvPr id="14" name="Rounded Rectangle 13"/>
          <p:cNvSpPr/>
          <p:nvPr/>
        </p:nvSpPr>
        <p:spPr>
          <a:xfrm>
            <a:off x="6553200" y="4099692"/>
            <a:ext cx="1295400" cy="55999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eating</a:t>
            </a:r>
          </a:p>
          <a:p>
            <a:pPr algn="ctr"/>
            <a:r>
              <a:rPr lang="en-US" b="1" dirty="0"/>
              <a:t>meal</a:t>
            </a:r>
          </a:p>
        </p:txBody>
      </p:sp>
      <p:sp>
        <p:nvSpPr>
          <p:cNvPr id="15" name="Rounded Rectangle 14"/>
          <p:cNvSpPr/>
          <p:nvPr/>
        </p:nvSpPr>
        <p:spPr>
          <a:xfrm>
            <a:off x="1600200" y="5084446"/>
            <a:ext cx="1141476"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making tea</a:t>
            </a:r>
          </a:p>
        </p:txBody>
      </p:sp>
      <p:sp>
        <p:nvSpPr>
          <p:cNvPr id="16" name="Rounded Rectangle 15"/>
          <p:cNvSpPr/>
          <p:nvPr/>
        </p:nvSpPr>
        <p:spPr>
          <a:xfrm>
            <a:off x="3429000" y="5084446"/>
            <a:ext cx="121920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making</a:t>
            </a:r>
          </a:p>
          <a:p>
            <a:pPr algn="ctr"/>
            <a:r>
              <a:rPr lang="en-US" b="1" dirty="0"/>
              <a:t>coffee</a:t>
            </a:r>
          </a:p>
        </p:txBody>
      </p:sp>
      <p:sp>
        <p:nvSpPr>
          <p:cNvPr id="17" name="Rounded Rectangle 16"/>
          <p:cNvSpPr/>
          <p:nvPr/>
        </p:nvSpPr>
        <p:spPr>
          <a:xfrm>
            <a:off x="8001000" y="5115289"/>
            <a:ext cx="1121664"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dinner</a:t>
            </a:r>
          </a:p>
        </p:txBody>
      </p:sp>
      <p:sp>
        <p:nvSpPr>
          <p:cNvPr id="18" name="Rounded Rectangle 17"/>
          <p:cNvSpPr/>
          <p:nvPr/>
        </p:nvSpPr>
        <p:spPr>
          <a:xfrm>
            <a:off x="6705600" y="5115288"/>
            <a:ext cx="1028700" cy="50255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lunch</a:t>
            </a:r>
          </a:p>
        </p:txBody>
      </p:sp>
      <p:sp>
        <p:nvSpPr>
          <p:cNvPr id="19" name="Rounded Rectangle 18"/>
          <p:cNvSpPr/>
          <p:nvPr/>
        </p:nvSpPr>
        <p:spPr>
          <a:xfrm>
            <a:off x="5105400" y="5094584"/>
            <a:ext cx="1314450" cy="533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breakfast</a:t>
            </a:r>
          </a:p>
        </p:txBody>
      </p:sp>
      <p:cxnSp>
        <p:nvCxnSpPr>
          <p:cNvPr id="21" name="Straight Connector 20"/>
          <p:cNvCxnSpPr>
            <a:stCxn id="9" idx="2"/>
            <a:endCxn id="11" idx="0"/>
          </p:cNvCxnSpPr>
          <p:nvPr/>
        </p:nvCxnSpPr>
        <p:spPr>
          <a:xfrm>
            <a:off x="3140964" y="2499492"/>
            <a:ext cx="3810" cy="5334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9" idx="2"/>
            <a:endCxn id="10" idx="0"/>
          </p:cNvCxnSpPr>
          <p:nvPr/>
        </p:nvCxnSpPr>
        <p:spPr>
          <a:xfrm flipH="1">
            <a:off x="1323595" y="2499492"/>
            <a:ext cx="1817369" cy="5334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Straight Connector 24"/>
          <p:cNvCxnSpPr>
            <a:stCxn id="9" idx="2"/>
            <a:endCxn id="12" idx="0"/>
          </p:cNvCxnSpPr>
          <p:nvPr/>
        </p:nvCxnSpPr>
        <p:spPr>
          <a:xfrm>
            <a:off x="3140964" y="2499492"/>
            <a:ext cx="1867281" cy="53339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9" name="Straight Connector 28"/>
          <p:cNvCxnSpPr>
            <a:stCxn id="12" idx="2"/>
            <a:endCxn id="13" idx="0"/>
          </p:cNvCxnSpPr>
          <p:nvPr/>
        </p:nvCxnSpPr>
        <p:spPr>
          <a:xfrm flipH="1">
            <a:off x="3144774" y="3557392"/>
            <a:ext cx="1863471" cy="5423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1" name="Straight Connector 30"/>
          <p:cNvCxnSpPr>
            <a:stCxn id="12" idx="2"/>
            <a:endCxn id="14" idx="0"/>
          </p:cNvCxnSpPr>
          <p:nvPr/>
        </p:nvCxnSpPr>
        <p:spPr>
          <a:xfrm>
            <a:off x="5008245" y="3557392"/>
            <a:ext cx="2192655" cy="5423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3" name="Straight Connector 32"/>
          <p:cNvCxnSpPr>
            <a:stCxn id="13" idx="2"/>
            <a:endCxn id="15" idx="0"/>
          </p:cNvCxnSpPr>
          <p:nvPr/>
        </p:nvCxnSpPr>
        <p:spPr>
          <a:xfrm flipH="1">
            <a:off x="2170938" y="4659682"/>
            <a:ext cx="973836" cy="42476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5" name="Straight Connector 34"/>
          <p:cNvCxnSpPr>
            <a:stCxn id="13" idx="2"/>
            <a:endCxn id="16" idx="0"/>
          </p:cNvCxnSpPr>
          <p:nvPr/>
        </p:nvCxnSpPr>
        <p:spPr>
          <a:xfrm>
            <a:off x="3144774" y="4659682"/>
            <a:ext cx="893826" cy="42476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14" idx="2"/>
            <a:endCxn id="19" idx="0"/>
          </p:cNvCxnSpPr>
          <p:nvPr/>
        </p:nvCxnSpPr>
        <p:spPr>
          <a:xfrm flipH="1">
            <a:off x="5762625" y="4659682"/>
            <a:ext cx="1438275" cy="43490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9" name="Straight Connector 38"/>
          <p:cNvCxnSpPr>
            <a:stCxn id="14" idx="2"/>
            <a:endCxn id="18" idx="0"/>
          </p:cNvCxnSpPr>
          <p:nvPr/>
        </p:nvCxnSpPr>
        <p:spPr>
          <a:xfrm>
            <a:off x="7200900" y="4659682"/>
            <a:ext cx="19050" cy="45560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1" name="Straight Connector 40"/>
          <p:cNvCxnSpPr>
            <a:stCxn id="14" idx="2"/>
            <a:endCxn id="17" idx="0"/>
          </p:cNvCxnSpPr>
          <p:nvPr/>
        </p:nvCxnSpPr>
        <p:spPr>
          <a:xfrm>
            <a:off x="7200900" y="4659682"/>
            <a:ext cx="1360932" cy="455607"/>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47877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5"/>
                                        </p:tgtEl>
                                        <p:attrNameLst>
                                          <p:attrName>style.visibility</p:attrName>
                                        </p:attrNameLst>
                                      </p:cBhvr>
                                      <p:to>
                                        <p:strVal val="visible"/>
                                      </p:to>
                                    </p:set>
                                    <p:anim calcmode="lin" valueType="num">
                                      <p:cBhvr additive="base">
                                        <p:cTn id="11" dur="500" fill="hold"/>
                                        <p:tgtEl>
                                          <p:spTgt spid="35"/>
                                        </p:tgtEl>
                                        <p:attrNameLst>
                                          <p:attrName>ppt_x</p:attrName>
                                        </p:attrNameLst>
                                      </p:cBhvr>
                                      <p:tavLst>
                                        <p:tav tm="0">
                                          <p:val>
                                            <p:strVal val="#ppt_x"/>
                                          </p:val>
                                        </p:tav>
                                        <p:tav tm="100000">
                                          <p:val>
                                            <p:strVal val="#ppt_x"/>
                                          </p:val>
                                        </p:tav>
                                      </p:tavLst>
                                    </p:anim>
                                    <p:anim calcmode="lin" valueType="num">
                                      <p:cBhvr additive="base">
                                        <p:cTn id="12" dur="500" fill="hold"/>
                                        <p:tgtEl>
                                          <p:spTgt spid="35"/>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7"/>
                                        </p:tgtEl>
                                        <p:attrNameLst>
                                          <p:attrName>style.visibility</p:attrName>
                                        </p:attrNameLst>
                                      </p:cBhvr>
                                      <p:to>
                                        <p:strVal val="visible"/>
                                      </p:to>
                                    </p:set>
                                    <p:anim calcmode="lin" valueType="num">
                                      <p:cBhvr additive="base">
                                        <p:cTn id="15" dur="500" fill="hold"/>
                                        <p:tgtEl>
                                          <p:spTgt spid="37"/>
                                        </p:tgtEl>
                                        <p:attrNameLst>
                                          <p:attrName>ppt_x</p:attrName>
                                        </p:attrNameLst>
                                      </p:cBhvr>
                                      <p:tavLst>
                                        <p:tav tm="0">
                                          <p:val>
                                            <p:strVal val="#ppt_x"/>
                                          </p:val>
                                        </p:tav>
                                        <p:tav tm="100000">
                                          <p:val>
                                            <p:strVal val="#ppt_x"/>
                                          </p:val>
                                        </p:tav>
                                      </p:tavLst>
                                    </p:anim>
                                    <p:anim calcmode="lin" valueType="num">
                                      <p:cBhvr additive="base">
                                        <p:cTn id="16" dur="500" fill="hold"/>
                                        <p:tgtEl>
                                          <p:spTgt spid="37"/>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9"/>
                                        </p:tgtEl>
                                        <p:attrNameLst>
                                          <p:attrName>style.visibility</p:attrName>
                                        </p:attrNameLst>
                                      </p:cBhvr>
                                      <p:to>
                                        <p:strVal val="visible"/>
                                      </p:to>
                                    </p:set>
                                    <p:anim calcmode="lin" valueType="num">
                                      <p:cBhvr additive="base">
                                        <p:cTn id="19" dur="500" fill="hold"/>
                                        <p:tgtEl>
                                          <p:spTgt spid="39"/>
                                        </p:tgtEl>
                                        <p:attrNameLst>
                                          <p:attrName>ppt_x</p:attrName>
                                        </p:attrNameLst>
                                      </p:cBhvr>
                                      <p:tavLst>
                                        <p:tav tm="0">
                                          <p:val>
                                            <p:strVal val="#ppt_x"/>
                                          </p:val>
                                        </p:tav>
                                        <p:tav tm="100000">
                                          <p:val>
                                            <p:strVal val="#ppt_x"/>
                                          </p:val>
                                        </p:tav>
                                      </p:tavLst>
                                    </p:anim>
                                    <p:anim calcmode="lin" valueType="num">
                                      <p:cBhvr additive="base">
                                        <p:cTn id="20" dur="500" fill="hold"/>
                                        <p:tgtEl>
                                          <p:spTgt spid="39"/>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1"/>
                                        </p:tgtEl>
                                        <p:attrNameLst>
                                          <p:attrName>style.visibility</p:attrName>
                                        </p:attrNameLst>
                                      </p:cBhvr>
                                      <p:to>
                                        <p:strVal val="visible"/>
                                      </p:to>
                                    </p:set>
                                    <p:anim calcmode="lin" valueType="num">
                                      <p:cBhvr additive="base">
                                        <p:cTn id="23" dur="500" fill="hold"/>
                                        <p:tgtEl>
                                          <p:spTgt spid="41"/>
                                        </p:tgtEl>
                                        <p:attrNameLst>
                                          <p:attrName>ppt_x</p:attrName>
                                        </p:attrNameLst>
                                      </p:cBhvr>
                                      <p:tavLst>
                                        <p:tav tm="0">
                                          <p:val>
                                            <p:strVal val="#ppt_x"/>
                                          </p:val>
                                        </p:tav>
                                        <p:tav tm="100000">
                                          <p:val>
                                            <p:strVal val="#ppt_x"/>
                                          </p:val>
                                        </p:tav>
                                      </p:tavLst>
                                    </p:anim>
                                    <p:anim calcmode="lin" valueType="num">
                                      <p:cBhvr additive="base">
                                        <p:cTn id="24" dur="500" fill="hold"/>
                                        <p:tgtEl>
                                          <p:spTgt spid="41"/>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ppt_x"/>
                                          </p:val>
                                        </p:tav>
                                        <p:tav tm="100000">
                                          <p:val>
                                            <p:strVal val="#ppt_x"/>
                                          </p:val>
                                        </p:tav>
                                      </p:tavLst>
                                    </p:anim>
                                    <p:anim calcmode="lin" valueType="num">
                                      <p:cBhvr additive="base">
                                        <p:cTn id="3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anim calcmode="lin" valueType="num">
                                      <p:cBhvr additive="base">
                                        <p:cTn id="37" dur="500" fill="hold"/>
                                        <p:tgtEl>
                                          <p:spTgt spid="29"/>
                                        </p:tgtEl>
                                        <p:attrNameLst>
                                          <p:attrName>ppt_x</p:attrName>
                                        </p:attrNameLst>
                                      </p:cBhvr>
                                      <p:tavLst>
                                        <p:tav tm="0">
                                          <p:val>
                                            <p:strVal val="#ppt_x"/>
                                          </p:val>
                                        </p:tav>
                                        <p:tav tm="100000">
                                          <p:val>
                                            <p:strVal val="#ppt_x"/>
                                          </p:val>
                                        </p:tav>
                                      </p:tavLst>
                                    </p:anim>
                                    <p:anim calcmode="lin" valueType="num">
                                      <p:cBhvr additive="base">
                                        <p:cTn id="38" dur="500" fill="hold"/>
                                        <p:tgtEl>
                                          <p:spTgt spid="29"/>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 calcmode="lin" valueType="num">
                                      <p:cBhvr additive="base">
                                        <p:cTn id="41" dur="500" fill="hold"/>
                                        <p:tgtEl>
                                          <p:spTgt spid="31"/>
                                        </p:tgtEl>
                                        <p:attrNameLst>
                                          <p:attrName>ppt_x</p:attrName>
                                        </p:attrNameLst>
                                      </p:cBhvr>
                                      <p:tavLst>
                                        <p:tav tm="0">
                                          <p:val>
                                            <p:strVal val="#ppt_x"/>
                                          </p:val>
                                        </p:tav>
                                        <p:tav tm="100000">
                                          <p:val>
                                            <p:strVal val="#ppt_x"/>
                                          </p:val>
                                        </p:tav>
                                      </p:tavLst>
                                    </p:anim>
                                    <p:anim calcmode="lin" valueType="num">
                                      <p:cBhvr additive="base">
                                        <p:cTn id="42" dur="500" fill="hold"/>
                                        <p:tgtEl>
                                          <p:spTgt spid="31"/>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500" fill="hold"/>
                                        <p:tgtEl>
                                          <p:spTgt spid="12"/>
                                        </p:tgtEl>
                                        <p:attrNameLst>
                                          <p:attrName>ppt_x</p:attrName>
                                        </p:attrNameLst>
                                      </p:cBhvr>
                                      <p:tavLst>
                                        <p:tav tm="0">
                                          <p:val>
                                            <p:strVal val="#ppt_x"/>
                                          </p:val>
                                        </p:tav>
                                        <p:tav tm="100000">
                                          <p:val>
                                            <p:strVal val="#ppt_x"/>
                                          </p:val>
                                        </p:tav>
                                      </p:tavLst>
                                    </p:anim>
                                    <p:anim calcmode="lin" valueType="num">
                                      <p:cBhvr additive="base">
                                        <p:cTn id="4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23"/>
                                        </p:tgtEl>
                                        <p:attrNameLst>
                                          <p:attrName>style.visibility</p:attrName>
                                        </p:attrNameLst>
                                      </p:cBhvr>
                                      <p:to>
                                        <p:strVal val="visible"/>
                                      </p:to>
                                    </p:set>
                                    <p:anim calcmode="lin" valueType="num">
                                      <p:cBhvr additive="base">
                                        <p:cTn id="51" dur="500" fill="hold"/>
                                        <p:tgtEl>
                                          <p:spTgt spid="23"/>
                                        </p:tgtEl>
                                        <p:attrNameLst>
                                          <p:attrName>ppt_x</p:attrName>
                                        </p:attrNameLst>
                                      </p:cBhvr>
                                      <p:tavLst>
                                        <p:tav tm="0">
                                          <p:val>
                                            <p:strVal val="#ppt_x"/>
                                          </p:val>
                                        </p:tav>
                                        <p:tav tm="100000">
                                          <p:val>
                                            <p:strVal val="#ppt_x"/>
                                          </p:val>
                                        </p:tav>
                                      </p:tavLst>
                                    </p:anim>
                                    <p:anim calcmode="lin" valueType="num">
                                      <p:cBhvr additive="base">
                                        <p:cTn id="52" dur="500" fill="hold"/>
                                        <p:tgtEl>
                                          <p:spTgt spid="23"/>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21"/>
                                        </p:tgtEl>
                                        <p:attrNameLst>
                                          <p:attrName>style.visibility</p:attrName>
                                        </p:attrNameLst>
                                      </p:cBhvr>
                                      <p:to>
                                        <p:strVal val="visible"/>
                                      </p:to>
                                    </p:set>
                                    <p:anim calcmode="lin" valueType="num">
                                      <p:cBhvr additive="base">
                                        <p:cTn id="55" dur="500" fill="hold"/>
                                        <p:tgtEl>
                                          <p:spTgt spid="21"/>
                                        </p:tgtEl>
                                        <p:attrNameLst>
                                          <p:attrName>ppt_x</p:attrName>
                                        </p:attrNameLst>
                                      </p:cBhvr>
                                      <p:tavLst>
                                        <p:tav tm="0">
                                          <p:val>
                                            <p:strVal val="#ppt_x"/>
                                          </p:val>
                                        </p:tav>
                                        <p:tav tm="100000">
                                          <p:val>
                                            <p:strVal val="#ppt_x"/>
                                          </p:val>
                                        </p:tav>
                                      </p:tavLst>
                                    </p:anim>
                                    <p:anim calcmode="lin" valueType="num">
                                      <p:cBhvr additive="base">
                                        <p:cTn id="56" dur="500" fill="hold"/>
                                        <p:tgtEl>
                                          <p:spTgt spid="21"/>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25"/>
                                        </p:tgtEl>
                                        <p:attrNameLst>
                                          <p:attrName>style.visibility</p:attrName>
                                        </p:attrNameLst>
                                      </p:cBhvr>
                                      <p:to>
                                        <p:strVal val="visible"/>
                                      </p:to>
                                    </p:set>
                                    <p:anim calcmode="lin" valueType="num">
                                      <p:cBhvr additive="base">
                                        <p:cTn id="59" dur="500" fill="hold"/>
                                        <p:tgtEl>
                                          <p:spTgt spid="25"/>
                                        </p:tgtEl>
                                        <p:attrNameLst>
                                          <p:attrName>ppt_x</p:attrName>
                                        </p:attrNameLst>
                                      </p:cBhvr>
                                      <p:tavLst>
                                        <p:tav tm="0">
                                          <p:val>
                                            <p:strVal val="#ppt_x"/>
                                          </p:val>
                                        </p:tav>
                                        <p:tav tm="100000">
                                          <p:val>
                                            <p:strVal val="#ppt_x"/>
                                          </p:val>
                                        </p:tav>
                                      </p:tavLst>
                                    </p:anim>
                                    <p:anim calcmode="lin" valueType="num">
                                      <p:cBhvr additive="base">
                                        <p:cTn id="60" dur="500" fill="hold"/>
                                        <p:tgtEl>
                                          <p:spTgt spid="25"/>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9"/>
                                        </p:tgtEl>
                                        <p:attrNameLst>
                                          <p:attrName>style.visibility</p:attrName>
                                        </p:attrNameLst>
                                      </p:cBhvr>
                                      <p:to>
                                        <p:strVal val="visible"/>
                                      </p:to>
                                    </p:set>
                                    <p:anim calcmode="lin" valueType="num">
                                      <p:cBhvr additive="base">
                                        <p:cTn id="63" dur="500" fill="hold"/>
                                        <p:tgtEl>
                                          <p:spTgt spid="9"/>
                                        </p:tgtEl>
                                        <p:attrNameLst>
                                          <p:attrName>ppt_x</p:attrName>
                                        </p:attrNameLst>
                                      </p:cBhvr>
                                      <p:tavLst>
                                        <p:tav tm="0">
                                          <p:val>
                                            <p:strVal val="#ppt_x"/>
                                          </p:val>
                                        </p:tav>
                                        <p:tav tm="100000">
                                          <p:val>
                                            <p:strVal val="#ppt_x"/>
                                          </p:val>
                                        </p:tav>
                                      </p:tavLst>
                                    </p:anim>
                                    <p:anim calcmode="lin" valueType="num">
                                      <p:cBhvr additive="base">
                                        <p:cTn id="6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3" grpId="0" animBg="1"/>
      <p:bldP spid="1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Conceptual Clustering—</a:t>
            </a:r>
            <a:r>
              <a:rPr lang="en-US" altLang="zh-CN" sz="4000" dirty="0"/>
              <a:t>COBWEB</a:t>
            </a:r>
            <a:endParaRPr lang="zh-CN" altLang="en-US" dirty="0"/>
          </a:p>
        </p:txBody>
      </p:sp>
      <p:sp>
        <p:nvSpPr>
          <p:cNvPr id="4" name="灯片编号占位符 3"/>
          <p:cNvSpPr>
            <a:spLocks noGrp="1"/>
          </p:cNvSpPr>
          <p:nvPr>
            <p:ph type="sldNum" sz="quarter" idx="12"/>
          </p:nvPr>
        </p:nvSpPr>
        <p:spPr/>
        <p:txBody>
          <a:bodyPr/>
          <a:lstStyle/>
          <a:p>
            <a:fld id="{32B29A66-CFD5-4F33-88E2-E7F8EEB50249}" type="slidenum">
              <a:rPr lang="en-US" altLang="en-US" smtClean="0"/>
              <a:pPr/>
              <a:t>10</a:t>
            </a:fld>
            <a:endParaRPr lang="en-US" altLang="en-US"/>
          </a:p>
        </p:txBody>
      </p:sp>
      <p:pic>
        <p:nvPicPr>
          <p:cNvPr id="3075"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66725" y="1829594"/>
            <a:ext cx="8210550" cy="419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953899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Building a Regular Model</a:t>
            </a:r>
          </a:p>
        </p:txBody>
      </p:sp>
      <p:sp>
        <p:nvSpPr>
          <p:cNvPr id="3" name="Content Placeholder 2"/>
          <p:cNvSpPr>
            <a:spLocks noGrp="1"/>
          </p:cNvSpPr>
          <p:nvPr>
            <p:ph idx="1"/>
          </p:nvPr>
        </p:nvSpPr>
        <p:spPr>
          <a:xfrm>
            <a:off x="441960" y="1772730"/>
            <a:ext cx="8229600" cy="4411662"/>
          </a:xfrm>
        </p:spPr>
        <p:txBody>
          <a:bodyPr/>
          <a:lstStyle/>
          <a:p>
            <a:pPr marL="0" indent="0">
              <a:buNone/>
            </a:pPr>
            <a:endParaRPr lang="en-US" dirty="0"/>
          </a:p>
          <a:p>
            <a:pPr marL="0" indent="0">
              <a:buNone/>
            </a:pPr>
            <a:endParaRPr lang="en-US" dirty="0"/>
          </a:p>
        </p:txBody>
      </p:sp>
      <p:sp>
        <p:nvSpPr>
          <p:cNvPr id="4" name="Slide Number Placeholder 3"/>
          <p:cNvSpPr>
            <a:spLocks noGrp="1"/>
          </p:cNvSpPr>
          <p:nvPr>
            <p:ph type="sldNum" sz="quarter" idx="12"/>
          </p:nvPr>
        </p:nvSpPr>
        <p:spPr/>
        <p:txBody>
          <a:bodyPr/>
          <a:lstStyle/>
          <a:p>
            <a:fld id="{32B29A66-CFD5-4F33-88E2-E7F8EEB50249}" type="slidenum">
              <a:rPr lang="en-US" altLang="en-US" smtClean="0"/>
              <a:pPr/>
              <a:t>11</a:t>
            </a:fld>
            <a:endParaRPr lang="en-US" altLang="en-US"/>
          </a:p>
        </p:txBody>
      </p:sp>
      <p:sp>
        <p:nvSpPr>
          <p:cNvPr id="5" name="Oval 4"/>
          <p:cNvSpPr/>
          <p:nvPr/>
        </p:nvSpPr>
        <p:spPr>
          <a:xfrm>
            <a:off x="1367219" y="2393444"/>
            <a:ext cx="457200"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a:t>
            </a:r>
          </a:p>
        </p:txBody>
      </p:sp>
      <p:sp>
        <p:nvSpPr>
          <p:cNvPr id="7" name="Oval 6"/>
          <p:cNvSpPr/>
          <p:nvPr/>
        </p:nvSpPr>
        <p:spPr>
          <a:xfrm>
            <a:off x="3437573" y="2393444"/>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a:t>
            </a:r>
          </a:p>
        </p:txBody>
      </p:sp>
      <p:sp>
        <p:nvSpPr>
          <p:cNvPr id="8" name="Oval 7"/>
          <p:cNvSpPr/>
          <p:nvPr/>
        </p:nvSpPr>
        <p:spPr>
          <a:xfrm>
            <a:off x="5575745" y="237420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e</a:t>
            </a:r>
          </a:p>
        </p:txBody>
      </p:sp>
      <p:sp>
        <p:nvSpPr>
          <p:cNvPr id="9" name="Oval 8"/>
          <p:cNvSpPr/>
          <p:nvPr/>
        </p:nvSpPr>
        <p:spPr>
          <a:xfrm>
            <a:off x="4506659" y="2393444"/>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
            </a:r>
          </a:p>
        </p:txBody>
      </p:sp>
      <p:sp>
        <p:nvSpPr>
          <p:cNvPr id="10" name="Oval 9"/>
          <p:cNvSpPr/>
          <p:nvPr/>
        </p:nvSpPr>
        <p:spPr>
          <a:xfrm>
            <a:off x="3437573" y="3462782"/>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
            </a:r>
          </a:p>
        </p:txBody>
      </p:sp>
      <p:sp>
        <p:nvSpPr>
          <p:cNvPr id="12" name="Oval 11"/>
          <p:cNvSpPr/>
          <p:nvPr/>
        </p:nvSpPr>
        <p:spPr>
          <a:xfrm>
            <a:off x="1369505" y="3430970"/>
            <a:ext cx="457200"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a:t>
            </a:r>
          </a:p>
        </p:txBody>
      </p:sp>
      <p:sp>
        <p:nvSpPr>
          <p:cNvPr id="13" name="Oval 12"/>
          <p:cNvSpPr/>
          <p:nvPr/>
        </p:nvSpPr>
        <p:spPr>
          <a:xfrm>
            <a:off x="4573334" y="454552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
            </a:r>
          </a:p>
        </p:txBody>
      </p:sp>
      <p:sp>
        <p:nvSpPr>
          <p:cNvPr id="14" name="Oval 13"/>
          <p:cNvSpPr/>
          <p:nvPr/>
        </p:nvSpPr>
        <p:spPr>
          <a:xfrm>
            <a:off x="3437573" y="454552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f</a:t>
            </a:r>
          </a:p>
        </p:txBody>
      </p:sp>
      <p:sp>
        <p:nvSpPr>
          <p:cNvPr id="16" name="Oval 15"/>
          <p:cNvSpPr/>
          <p:nvPr/>
        </p:nvSpPr>
        <p:spPr>
          <a:xfrm>
            <a:off x="1369505" y="4531170"/>
            <a:ext cx="457200"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a:t>
            </a:r>
          </a:p>
        </p:txBody>
      </p:sp>
      <p:sp>
        <p:nvSpPr>
          <p:cNvPr id="17" name="Oval 16"/>
          <p:cNvSpPr/>
          <p:nvPr/>
        </p:nvSpPr>
        <p:spPr>
          <a:xfrm>
            <a:off x="2402396" y="2374201"/>
            <a:ext cx="457200" cy="4571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a:t>
            </a:r>
          </a:p>
        </p:txBody>
      </p:sp>
      <p:sp>
        <p:nvSpPr>
          <p:cNvPr id="18" name="Oval 17"/>
          <p:cNvSpPr/>
          <p:nvPr/>
        </p:nvSpPr>
        <p:spPr>
          <a:xfrm>
            <a:off x="2406968" y="3430970"/>
            <a:ext cx="452628"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a:t>
            </a:r>
          </a:p>
        </p:txBody>
      </p:sp>
      <p:sp>
        <p:nvSpPr>
          <p:cNvPr id="19" name="Oval 18"/>
          <p:cNvSpPr/>
          <p:nvPr/>
        </p:nvSpPr>
        <p:spPr>
          <a:xfrm>
            <a:off x="2406968" y="4531170"/>
            <a:ext cx="457200"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g</a:t>
            </a:r>
          </a:p>
        </p:txBody>
      </p:sp>
      <p:cxnSp>
        <p:nvCxnSpPr>
          <p:cNvPr id="36" name="Straight Arrow Connector 35"/>
          <p:cNvCxnSpPr>
            <a:stCxn id="7" idx="6"/>
            <a:endCxn id="9" idx="2"/>
          </p:cNvCxnSpPr>
          <p:nvPr/>
        </p:nvCxnSpPr>
        <p:spPr>
          <a:xfrm>
            <a:off x="3894773" y="2622044"/>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a:xfrm>
            <a:off x="2859596" y="2602800"/>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a:off x="4963859" y="2617214"/>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a:off x="1790510" y="2622044"/>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a:off x="1824419" y="3640869"/>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a:off x="2859596" y="3653061"/>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a:off x="1824419" y="4774120"/>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a:off x="2859596" y="4774120"/>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a:off x="3946589" y="4774120"/>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p:cNvSpPr txBox="1"/>
              <p:nvPr/>
            </p:nvSpPr>
            <p:spPr>
              <a:xfrm>
                <a:off x="304800" y="2109396"/>
                <a:ext cx="838200" cy="10910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nor/>
                        </m:rPr>
                        <a:rPr lang="en-US" altLang="zh-CN" sz="4800" dirty="0" smtClean="0">
                          <a:latin typeface="Cambria Math"/>
                        </a:rPr>
                        <m:t>s</m:t>
                      </m:r>
                      <m:r>
                        <m:rPr>
                          <m:nor/>
                        </m:rPr>
                        <a:rPr lang="en-US" altLang="zh-CN" sz="4800" baseline="-25000" dirty="0">
                          <a:latin typeface="Cambria Math"/>
                        </a:rPr>
                        <m:t>1</m:t>
                      </m:r>
                    </m:oMath>
                  </m:oMathPara>
                </a14:m>
                <a:endParaRPr lang="en-US" altLang="zh-CN" sz="4800" baseline="-25000" dirty="0"/>
              </a:p>
              <a:p>
                <a:endParaRPr lang="zh-CN" altLang="en-US" dirty="0"/>
              </a:p>
            </p:txBody>
          </p:sp>
        </mc:Choice>
        <mc:Fallback xmlns="">
          <p:sp>
            <p:nvSpPr>
              <p:cNvPr id="11" name="TextBox 10"/>
              <p:cNvSpPr txBox="1">
                <a:spLocks noRot="1" noChangeAspect="1" noMove="1" noResize="1" noEditPoints="1" noAdjustHandles="1" noChangeArrowheads="1" noChangeShapeType="1" noTextEdit="1"/>
              </p:cNvSpPr>
              <p:nvPr/>
            </p:nvSpPr>
            <p:spPr>
              <a:xfrm>
                <a:off x="304800" y="2109396"/>
                <a:ext cx="838200" cy="1091004"/>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TextBox 45"/>
              <p:cNvSpPr txBox="1"/>
              <p:nvPr/>
            </p:nvSpPr>
            <p:spPr>
              <a:xfrm>
                <a:off x="304800" y="3128491"/>
                <a:ext cx="838200" cy="10910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nor/>
                        </m:rPr>
                        <a:rPr lang="en-US" altLang="zh-CN" sz="4800" dirty="0" smtClean="0">
                          <a:latin typeface="Cambria Math"/>
                        </a:rPr>
                        <m:t>s</m:t>
                      </m:r>
                      <m:r>
                        <m:rPr>
                          <m:nor/>
                        </m:rPr>
                        <a:rPr lang="en-US" altLang="zh-CN" sz="4800" b="0" i="0" baseline="-25000" dirty="0" smtClean="0">
                          <a:latin typeface="Cambria Math"/>
                        </a:rPr>
                        <m:t>2</m:t>
                      </m:r>
                    </m:oMath>
                  </m:oMathPara>
                </a14:m>
                <a:endParaRPr lang="en-US" altLang="zh-CN" sz="4800" baseline="-25000" dirty="0"/>
              </a:p>
              <a:p>
                <a:endParaRPr lang="zh-CN" altLang="en-US" dirty="0"/>
              </a:p>
            </p:txBody>
          </p:sp>
        </mc:Choice>
        <mc:Fallback xmlns="">
          <p:sp>
            <p:nvSpPr>
              <p:cNvPr id="46" name="TextBox 45"/>
              <p:cNvSpPr txBox="1">
                <a:spLocks noRot="1" noChangeAspect="1" noMove="1" noResize="1" noEditPoints="1" noAdjustHandles="1" noChangeArrowheads="1" noChangeShapeType="1" noTextEdit="1"/>
              </p:cNvSpPr>
              <p:nvPr/>
            </p:nvSpPr>
            <p:spPr>
              <a:xfrm>
                <a:off x="304800" y="3128491"/>
                <a:ext cx="838200" cy="1091004"/>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TextBox 46"/>
              <p:cNvSpPr txBox="1"/>
              <p:nvPr/>
            </p:nvSpPr>
            <p:spPr>
              <a:xfrm>
                <a:off x="304800" y="4242996"/>
                <a:ext cx="838200" cy="10910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nor/>
                        </m:rPr>
                        <a:rPr lang="en-US" altLang="zh-CN" sz="4800" dirty="0" smtClean="0">
                          <a:latin typeface="Cambria Math"/>
                        </a:rPr>
                        <m:t>s</m:t>
                      </m:r>
                      <m:r>
                        <m:rPr>
                          <m:nor/>
                        </m:rPr>
                        <a:rPr lang="en-US" altLang="zh-CN" sz="4800" b="0" i="0" baseline="-25000" dirty="0" smtClean="0">
                          <a:latin typeface="Cambria Math"/>
                        </a:rPr>
                        <m:t>3</m:t>
                      </m:r>
                    </m:oMath>
                  </m:oMathPara>
                </a14:m>
                <a:endParaRPr lang="en-US" altLang="zh-CN" sz="4800" baseline="-25000" dirty="0"/>
              </a:p>
              <a:p>
                <a:endParaRPr lang="zh-CN" altLang="en-US" dirty="0"/>
              </a:p>
            </p:txBody>
          </p:sp>
        </mc:Choice>
        <mc:Fallback xmlns="">
          <p:sp>
            <p:nvSpPr>
              <p:cNvPr id="47" name="TextBox 46"/>
              <p:cNvSpPr txBox="1">
                <a:spLocks noRot="1" noChangeAspect="1" noMove="1" noResize="1" noEditPoints="1" noAdjustHandles="1" noChangeArrowheads="1" noChangeShapeType="1" noTextEdit="1"/>
              </p:cNvSpPr>
              <p:nvPr/>
            </p:nvSpPr>
            <p:spPr>
              <a:xfrm>
                <a:off x="304800" y="4242996"/>
                <a:ext cx="838200" cy="1091004"/>
              </a:xfrm>
              <a:prstGeom prst="rect">
                <a:avLst/>
              </a:prstGeom>
              <a:blipFill rotWithShape="1">
                <a:blip r:embed="rId5"/>
                <a:stretch>
                  <a:fillRect/>
                </a:stretch>
              </a:blipFill>
            </p:spPr>
            <p:txBody>
              <a:bodyPr/>
              <a:lstStyle/>
              <a:p>
                <a:r>
                  <a:rPr lang="zh-CN" altLang="en-US">
                    <a:noFill/>
                  </a:rPr>
                  <a:t> </a:t>
                </a:r>
              </a:p>
            </p:txBody>
          </p:sp>
        </mc:Fallback>
      </mc:AlternateContent>
      <p:sp>
        <p:nvSpPr>
          <p:cNvPr id="48" name="Oval 12"/>
          <p:cNvSpPr/>
          <p:nvPr/>
        </p:nvSpPr>
        <p:spPr>
          <a:xfrm>
            <a:off x="4560353" y="570323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
            </a:r>
          </a:p>
        </p:txBody>
      </p:sp>
      <p:sp>
        <p:nvSpPr>
          <p:cNvPr id="49" name="Oval 13"/>
          <p:cNvSpPr/>
          <p:nvPr/>
        </p:nvSpPr>
        <p:spPr>
          <a:xfrm>
            <a:off x="3424592" y="5703230"/>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f</a:t>
            </a:r>
          </a:p>
        </p:txBody>
      </p:sp>
      <p:sp>
        <p:nvSpPr>
          <p:cNvPr id="50" name="Oval 15"/>
          <p:cNvSpPr/>
          <p:nvPr/>
        </p:nvSpPr>
        <p:spPr>
          <a:xfrm>
            <a:off x="1356524" y="5688880"/>
            <a:ext cx="457200"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a:t>
            </a:r>
          </a:p>
        </p:txBody>
      </p:sp>
      <p:sp>
        <p:nvSpPr>
          <p:cNvPr id="59" name="Oval 18"/>
          <p:cNvSpPr/>
          <p:nvPr/>
        </p:nvSpPr>
        <p:spPr>
          <a:xfrm>
            <a:off x="2393987" y="5688880"/>
            <a:ext cx="457200"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g</a:t>
            </a:r>
          </a:p>
        </p:txBody>
      </p:sp>
      <p:cxnSp>
        <p:nvCxnSpPr>
          <p:cNvPr id="60" name="Straight Arrow Connector 55"/>
          <p:cNvCxnSpPr/>
          <p:nvPr/>
        </p:nvCxnSpPr>
        <p:spPr>
          <a:xfrm>
            <a:off x="1811438" y="5931830"/>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56"/>
          <p:cNvCxnSpPr/>
          <p:nvPr/>
        </p:nvCxnSpPr>
        <p:spPr>
          <a:xfrm>
            <a:off x="2846615" y="5931830"/>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57"/>
          <p:cNvCxnSpPr/>
          <p:nvPr/>
        </p:nvCxnSpPr>
        <p:spPr>
          <a:xfrm>
            <a:off x="3933608" y="5931830"/>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7" name="TextBox 66"/>
              <p:cNvSpPr txBox="1"/>
              <p:nvPr/>
            </p:nvSpPr>
            <p:spPr>
              <a:xfrm>
                <a:off x="291819" y="5400706"/>
                <a:ext cx="838200" cy="10910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nor/>
                        </m:rPr>
                        <a:rPr lang="en-US" altLang="zh-CN" sz="4800" dirty="0" smtClean="0">
                          <a:latin typeface="Cambria Math"/>
                        </a:rPr>
                        <m:t>s</m:t>
                      </m:r>
                      <m:r>
                        <m:rPr>
                          <m:nor/>
                        </m:rPr>
                        <a:rPr lang="en-US" altLang="zh-CN" sz="4800" b="0" i="0" baseline="-25000" dirty="0" smtClean="0">
                          <a:latin typeface="Cambria Math"/>
                        </a:rPr>
                        <m:t>4</m:t>
                      </m:r>
                    </m:oMath>
                  </m:oMathPara>
                </a14:m>
                <a:endParaRPr lang="en-US" altLang="zh-CN" sz="4800" baseline="-25000" dirty="0"/>
              </a:p>
              <a:p>
                <a:endParaRPr lang="zh-CN" altLang="en-US" dirty="0"/>
              </a:p>
            </p:txBody>
          </p:sp>
        </mc:Choice>
        <mc:Fallback xmlns="">
          <p:sp>
            <p:nvSpPr>
              <p:cNvPr id="67" name="TextBox 66"/>
              <p:cNvSpPr txBox="1">
                <a:spLocks noRot="1" noChangeAspect="1" noMove="1" noResize="1" noEditPoints="1" noAdjustHandles="1" noChangeArrowheads="1" noChangeShapeType="1" noTextEdit="1"/>
              </p:cNvSpPr>
              <p:nvPr/>
            </p:nvSpPr>
            <p:spPr>
              <a:xfrm>
                <a:off x="291819" y="5400706"/>
                <a:ext cx="838200" cy="1091004"/>
              </a:xfrm>
              <a:prstGeom prst="rect">
                <a:avLst/>
              </a:prstGeom>
              <a:blipFill rotWithShape="1">
                <a:blip r:embed="rId6"/>
                <a:stretch>
                  <a:fillRect/>
                </a:stretch>
              </a:blipFill>
            </p:spPr>
            <p:txBody>
              <a:bodyPr/>
              <a:lstStyle/>
              <a:p>
                <a:r>
                  <a:rPr lang="zh-CN" altLang="en-US">
                    <a:noFill/>
                  </a:rPr>
                  <a:t> </a:t>
                </a:r>
              </a:p>
            </p:txBody>
          </p:sp>
        </mc:Fallback>
      </mc:AlternateContent>
      <p:sp>
        <p:nvSpPr>
          <p:cNvPr id="94" name="TextBox 93"/>
          <p:cNvSpPr txBox="1"/>
          <p:nvPr/>
        </p:nvSpPr>
        <p:spPr>
          <a:xfrm>
            <a:off x="1403414" y="2004868"/>
            <a:ext cx="423291" cy="369332"/>
          </a:xfrm>
          <a:prstGeom prst="rect">
            <a:avLst/>
          </a:prstGeom>
          <a:noFill/>
          <a:ln>
            <a:solidFill>
              <a:schemeClr val="tx2">
                <a:lumMod val="60000"/>
                <a:lumOff val="40000"/>
              </a:schemeClr>
            </a:solidFill>
          </a:ln>
        </p:spPr>
        <p:txBody>
          <a:bodyPr wrap="square" rtlCol="0">
            <a:spAutoFit/>
          </a:bodyPr>
          <a:lstStyle/>
          <a:p>
            <a:r>
              <a:rPr lang="en-US" b="1" dirty="0"/>
              <a:t>M</a:t>
            </a:r>
          </a:p>
        </p:txBody>
      </p:sp>
      <p:sp>
        <p:nvSpPr>
          <p:cNvPr id="69" name="TextBox 68"/>
          <p:cNvSpPr txBox="1"/>
          <p:nvPr/>
        </p:nvSpPr>
        <p:spPr>
          <a:xfrm>
            <a:off x="1362682" y="3015734"/>
            <a:ext cx="423291" cy="369332"/>
          </a:xfrm>
          <a:prstGeom prst="rect">
            <a:avLst/>
          </a:prstGeom>
          <a:noFill/>
          <a:ln>
            <a:solidFill>
              <a:schemeClr val="tx2">
                <a:lumMod val="60000"/>
                <a:lumOff val="40000"/>
              </a:schemeClr>
            </a:solidFill>
          </a:ln>
        </p:spPr>
        <p:txBody>
          <a:bodyPr wrap="square" rtlCol="0">
            <a:spAutoFit/>
          </a:bodyPr>
          <a:lstStyle/>
          <a:p>
            <a:r>
              <a:rPr lang="en-US" b="1" dirty="0"/>
              <a:t>M</a:t>
            </a:r>
          </a:p>
        </p:txBody>
      </p:sp>
      <p:sp>
        <p:nvSpPr>
          <p:cNvPr id="70" name="TextBox 69"/>
          <p:cNvSpPr txBox="1"/>
          <p:nvPr/>
        </p:nvSpPr>
        <p:spPr>
          <a:xfrm>
            <a:off x="1362681" y="4161838"/>
            <a:ext cx="423291" cy="369332"/>
          </a:xfrm>
          <a:prstGeom prst="rect">
            <a:avLst/>
          </a:prstGeom>
          <a:noFill/>
          <a:ln>
            <a:solidFill>
              <a:schemeClr val="tx2">
                <a:lumMod val="60000"/>
                <a:lumOff val="40000"/>
              </a:schemeClr>
            </a:solidFill>
          </a:ln>
        </p:spPr>
        <p:txBody>
          <a:bodyPr wrap="square" rtlCol="0">
            <a:spAutoFit/>
          </a:bodyPr>
          <a:lstStyle/>
          <a:p>
            <a:r>
              <a:rPr lang="en-US" b="1" dirty="0"/>
              <a:t>M</a:t>
            </a:r>
          </a:p>
        </p:txBody>
      </p:sp>
      <p:sp>
        <p:nvSpPr>
          <p:cNvPr id="71" name="TextBox 70"/>
          <p:cNvSpPr txBox="1"/>
          <p:nvPr/>
        </p:nvSpPr>
        <p:spPr>
          <a:xfrm>
            <a:off x="1404539" y="5267579"/>
            <a:ext cx="423291" cy="369332"/>
          </a:xfrm>
          <a:prstGeom prst="rect">
            <a:avLst/>
          </a:prstGeom>
          <a:noFill/>
          <a:ln>
            <a:solidFill>
              <a:schemeClr val="tx2">
                <a:lumMod val="60000"/>
                <a:lumOff val="40000"/>
              </a:schemeClr>
            </a:solidFill>
          </a:ln>
        </p:spPr>
        <p:txBody>
          <a:bodyPr wrap="square" rtlCol="0">
            <a:spAutoFit/>
          </a:bodyPr>
          <a:lstStyle/>
          <a:p>
            <a:r>
              <a:rPr lang="en-US" b="1" dirty="0"/>
              <a:t>M</a:t>
            </a:r>
          </a:p>
        </p:txBody>
      </p:sp>
      <p:sp>
        <p:nvSpPr>
          <p:cNvPr id="42" name="TextBox 41"/>
          <p:cNvSpPr txBox="1"/>
          <p:nvPr/>
        </p:nvSpPr>
        <p:spPr>
          <a:xfrm>
            <a:off x="2380240" y="1972602"/>
            <a:ext cx="423291" cy="369332"/>
          </a:xfrm>
          <a:prstGeom prst="rect">
            <a:avLst/>
          </a:prstGeom>
          <a:noFill/>
          <a:ln>
            <a:solidFill>
              <a:schemeClr val="tx2">
                <a:lumMod val="60000"/>
                <a:lumOff val="40000"/>
              </a:schemeClr>
            </a:solidFill>
          </a:ln>
        </p:spPr>
        <p:txBody>
          <a:bodyPr wrap="square" rtlCol="0">
            <a:spAutoFit/>
          </a:bodyPr>
          <a:lstStyle/>
          <a:p>
            <a:r>
              <a:rPr lang="en-US" b="1" dirty="0"/>
              <a:t>M</a:t>
            </a:r>
          </a:p>
        </p:txBody>
      </p:sp>
      <p:sp>
        <p:nvSpPr>
          <p:cNvPr id="43" name="TextBox 42"/>
          <p:cNvSpPr txBox="1"/>
          <p:nvPr/>
        </p:nvSpPr>
        <p:spPr>
          <a:xfrm>
            <a:off x="3458501" y="1972602"/>
            <a:ext cx="423291" cy="369332"/>
          </a:xfrm>
          <a:prstGeom prst="rect">
            <a:avLst/>
          </a:prstGeom>
          <a:noFill/>
          <a:ln>
            <a:solidFill>
              <a:schemeClr val="tx2">
                <a:lumMod val="60000"/>
                <a:lumOff val="40000"/>
              </a:schemeClr>
            </a:solidFill>
          </a:ln>
        </p:spPr>
        <p:txBody>
          <a:bodyPr wrap="square" rtlCol="0">
            <a:spAutoFit/>
          </a:bodyPr>
          <a:lstStyle/>
          <a:p>
            <a:r>
              <a:rPr lang="en-US" b="1" dirty="0"/>
              <a:t>M</a:t>
            </a:r>
          </a:p>
        </p:txBody>
      </p:sp>
      <p:sp>
        <p:nvSpPr>
          <p:cNvPr id="44" name="TextBox 43"/>
          <p:cNvSpPr txBox="1"/>
          <p:nvPr/>
        </p:nvSpPr>
        <p:spPr>
          <a:xfrm>
            <a:off x="4540568" y="1972602"/>
            <a:ext cx="423291" cy="369332"/>
          </a:xfrm>
          <a:prstGeom prst="rect">
            <a:avLst/>
          </a:prstGeom>
          <a:noFill/>
          <a:ln>
            <a:solidFill>
              <a:schemeClr val="tx2">
                <a:lumMod val="60000"/>
                <a:lumOff val="40000"/>
              </a:schemeClr>
            </a:solidFill>
          </a:ln>
        </p:spPr>
        <p:txBody>
          <a:bodyPr wrap="square" rtlCol="0">
            <a:spAutoFit/>
          </a:bodyPr>
          <a:lstStyle/>
          <a:p>
            <a:r>
              <a:rPr lang="en-US" b="1" dirty="0"/>
              <a:t>M</a:t>
            </a:r>
          </a:p>
        </p:txBody>
      </p:sp>
      <p:sp>
        <p:nvSpPr>
          <p:cNvPr id="45" name="TextBox 44"/>
          <p:cNvSpPr txBox="1"/>
          <p:nvPr/>
        </p:nvSpPr>
        <p:spPr>
          <a:xfrm>
            <a:off x="2419350" y="3015734"/>
            <a:ext cx="423291" cy="369332"/>
          </a:xfrm>
          <a:prstGeom prst="rect">
            <a:avLst/>
          </a:prstGeom>
          <a:noFill/>
          <a:ln>
            <a:solidFill>
              <a:schemeClr val="tx2">
                <a:lumMod val="60000"/>
                <a:lumOff val="40000"/>
              </a:schemeClr>
            </a:solidFill>
          </a:ln>
        </p:spPr>
        <p:txBody>
          <a:bodyPr wrap="square" rtlCol="0">
            <a:spAutoFit/>
          </a:bodyPr>
          <a:lstStyle/>
          <a:p>
            <a:r>
              <a:rPr lang="en-US" b="1" dirty="0"/>
              <a:t>M</a:t>
            </a:r>
          </a:p>
        </p:txBody>
      </p:sp>
      <p:sp>
        <p:nvSpPr>
          <p:cNvPr id="63" name="TextBox 62"/>
          <p:cNvSpPr txBox="1"/>
          <p:nvPr/>
        </p:nvSpPr>
        <p:spPr>
          <a:xfrm>
            <a:off x="2419349" y="4133410"/>
            <a:ext cx="423291" cy="369332"/>
          </a:xfrm>
          <a:prstGeom prst="rect">
            <a:avLst/>
          </a:prstGeom>
          <a:noFill/>
          <a:ln>
            <a:solidFill>
              <a:schemeClr val="tx2">
                <a:lumMod val="60000"/>
                <a:lumOff val="40000"/>
              </a:schemeClr>
            </a:solidFill>
          </a:ln>
        </p:spPr>
        <p:txBody>
          <a:bodyPr wrap="square" rtlCol="0">
            <a:spAutoFit/>
          </a:bodyPr>
          <a:lstStyle/>
          <a:p>
            <a:r>
              <a:rPr lang="en-US" b="1" dirty="0"/>
              <a:t>M</a:t>
            </a:r>
          </a:p>
        </p:txBody>
      </p:sp>
      <p:sp>
        <p:nvSpPr>
          <p:cNvPr id="64" name="TextBox 63"/>
          <p:cNvSpPr txBox="1"/>
          <p:nvPr/>
        </p:nvSpPr>
        <p:spPr>
          <a:xfrm>
            <a:off x="3471482" y="4135751"/>
            <a:ext cx="423291" cy="369332"/>
          </a:xfrm>
          <a:prstGeom prst="rect">
            <a:avLst/>
          </a:prstGeom>
          <a:noFill/>
          <a:ln>
            <a:solidFill>
              <a:schemeClr val="tx2">
                <a:lumMod val="60000"/>
                <a:lumOff val="40000"/>
              </a:schemeClr>
            </a:solidFill>
          </a:ln>
        </p:spPr>
        <p:txBody>
          <a:bodyPr wrap="square" rtlCol="0">
            <a:spAutoFit/>
          </a:bodyPr>
          <a:lstStyle/>
          <a:p>
            <a:r>
              <a:rPr lang="en-US" b="1" dirty="0"/>
              <a:t>M</a:t>
            </a:r>
          </a:p>
        </p:txBody>
      </p:sp>
      <p:sp>
        <p:nvSpPr>
          <p:cNvPr id="65" name="TextBox 64"/>
          <p:cNvSpPr txBox="1"/>
          <p:nvPr/>
        </p:nvSpPr>
        <p:spPr>
          <a:xfrm>
            <a:off x="2406968" y="5319548"/>
            <a:ext cx="423291" cy="369332"/>
          </a:xfrm>
          <a:prstGeom prst="rect">
            <a:avLst/>
          </a:prstGeom>
          <a:noFill/>
          <a:ln>
            <a:solidFill>
              <a:schemeClr val="tx2">
                <a:lumMod val="60000"/>
                <a:lumOff val="40000"/>
              </a:schemeClr>
            </a:solidFill>
          </a:ln>
        </p:spPr>
        <p:txBody>
          <a:bodyPr wrap="square" rtlCol="0">
            <a:spAutoFit/>
          </a:bodyPr>
          <a:lstStyle/>
          <a:p>
            <a:r>
              <a:rPr lang="en-US" b="1" dirty="0"/>
              <a:t>M</a:t>
            </a:r>
          </a:p>
        </p:txBody>
      </p:sp>
      <p:sp>
        <p:nvSpPr>
          <p:cNvPr id="66" name="TextBox 65"/>
          <p:cNvSpPr txBox="1"/>
          <p:nvPr/>
        </p:nvSpPr>
        <p:spPr>
          <a:xfrm>
            <a:off x="3437573" y="5267579"/>
            <a:ext cx="423291" cy="369332"/>
          </a:xfrm>
          <a:prstGeom prst="rect">
            <a:avLst/>
          </a:prstGeom>
          <a:noFill/>
          <a:ln>
            <a:solidFill>
              <a:schemeClr val="tx2">
                <a:lumMod val="60000"/>
                <a:lumOff val="40000"/>
              </a:schemeClr>
            </a:solidFill>
          </a:ln>
        </p:spPr>
        <p:txBody>
          <a:bodyPr wrap="square" rtlCol="0">
            <a:spAutoFit/>
          </a:bodyPr>
          <a:lstStyle/>
          <a:p>
            <a:r>
              <a:rPr lang="en-US" b="1" dirty="0"/>
              <a:t>M</a:t>
            </a:r>
          </a:p>
        </p:txBody>
      </p:sp>
      <mc:AlternateContent xmlns:mc="http://schemas.openxmlformats.org/markup-compatibility/2006" xmlns:a14="http://schemas.microsoft.com/office/drawing/2010/main">
        <mc:Choice Requires="a14">
          <p:sp>
            <p:nvSpPr>
              <p:cNvPr id="68" name="TextBox 67"/>
              <p:cNvSpPr txBox="1"/>
              <p:nvPr/>
            </p:nvSpPr>
            <p:spPr>
              <a:xfrm>
                <a:off x="5927762" y="3385066"/>
                <a:ext cx="3189407" cy="1292662"/>
              </a:xfrm>
              <a:prstGeom prst="rect">
                <a:avLst/>
              </a:prstGeom>
              <a:noFill/>
            </p:spPr>
            <p:txBody>
              <a:bodyPr wrap="square" rtlCol="0">
                <a:spAutoFit/>
              </a:bodyPr>
              <a:lstStyle/>
              <a:p>
                <a:r>
                  <a:rPr lang="en-US" sz="2400" dirty="0"/>
                  <a:t>Event pairs</a:t>
                </a:r>
                <a:r>
                  <a:rPr lang="en-US" dirty="0"/>
                  <a:t>:</a:t>
                </a:r>
                <a14:m>
                  <m:oMath xmlns:m="http://schemas.openxmlformats.org/officeDocument/2006/math">
                    <m:r>
                      <a:rPr lang="en-US" b="0" i="0" smtClean="0">
                        <a:latin typeface="Cambria Math"/>
                      </a:rPr>
                      <m:t> </m:t>
                    </m:r>
                  </m:oMath>
                </a14:m>
                <a:endParaRPr lang="en-US" b="0" i="0" dirty="0">
                  <a:latin typeface="Cambria Math"/>
                </a:endParaRPr>
              </a:p>
              <a:p>
                <a14:m>
                  <m:oMath xmlns:m="http://schemas.openxmlformats.org/officeDocument/2006/math">
                    <m:r>
                      <a:rPr lang="en-US" b="0" i="1" smtClean="0">
                        <a:latin typeface="Cambria Math"/>
                      </a:rPr>
                      <m:t>(</m:t>
                    </m:r>
                    <m:r>
                      <a:rPr lang="en-US" b="0" i="1" smtClean="0">
                        <a:latin typeface="Cambria Math"/>
                      </a:rPr>
                      <m:t>𝑎</m:t>
                    </m:r>
                    <m:r>
                      <a:rPr lang="en-US" b="0" i="1" smtClean="0">
                        <a:latin typeface="Cambria Math"/>
                      </a:rPr>
                      <m:t>,</m:t>
                    </m:r>
                    <m:r>
                      <a:rPr lang="en-US" b="0" i="1" smtClean="0">
                        <a:latin typeface="Cambria Math"/>
                      </a:rPr>
                      <m:t>𝑏</m:t>
                    </m:r>
                    <m:r>
                      <a:rPr lang="en-US" b="0" i="1" smtClean="0">
                        <a:latin typeface="Cambria Math"/>
                      </a:rPr>
                      <m:t>)</m:t>
                    </m:r>
                  </m:oMath>
                </a14:m>
                <a:r>
                  <a:rPr lang="en-US" dirty="0"/>
                  <a:t>,</a:t>
                </a:r>
                <a14:m>
                  <m:oMath xmlns:m="http://schemas.openxmlformats.org/officeDocument/2006/math">
                    <m:r>
                      <a:rPr lang="en-US" b="0" i="0" smtClean="0">
                        <a:latin typeface="Cambria Math"/>
                      </a:rPr>
                      <m:t> </m:t>
                    </m:r>
                    <m:r>
                      <a:rPr lang="en-US" b="0" i="1" smtClean="0">
                        <a:latin typeface="Cambria Math"/>
                      </a:rPr>
                      <m:t>(</m:t>
                    </m:r>
                    <m:r>
                      <a:rPr lang="en-US" b="0" i="1" smtClean="0">
                        <a:latin typeface="Cambria Math"/>
                      </a:rPr>
                      <m:t>𝑏</m:t>
                    </m:r>
                    <m:r>
                      <a:rPr lang="en-US" b="0" i="1" smtClean="0">
                        <a:latin typeface="Cambria Math"/>
                      </a:rPr>
                      <m:t>,</m:t>
                    </m:r>
                    <m:r>
                      <a:rPr lang="en-US" b="0" i="1" smtClean="0">
                        <a:latin typeface="Cambria Math"/>
                      </a:rPr>
                      <m:t>𝑐</m:t>
                    </m:r>
                    <m:r>
                      <m:rPr>
                        <m:nor/>
                      </m:rPr>
                      <a:rPr lang="en-US" dirty="0"/>
                      <m:t>),</m:t>
                    </m:r>
                    <m:d>
                      <m:dPr>
                        <m:ctrlPr>
                          <a:rPr lang="en-US" i="1">
                            <a:latin typeface="Cambria Math" panose="02040503050406030204" pitchFamily="18" charset="0"/>
                          </a:rPr>
                        </m:ctrlPr>
                      </m:dPr>
                      <m:e>
                        <m:r>
                          <a:rPr lang="en-US" i="1">
                            <a:latin typeface="Cambria Math"/>
                          </a:rPr>
                          <m:t>𝑏</m:t>
                        </m:r>
                        <m:r>
                          <a:rPr lang="en-US" i="1">
                            <a:latin typeface="Cambria Math"/>
                          </a:rPr>
                          <m:t>,</m:t>
                        </m:r>
                        <m:r>
                          <a:rPr lang="en-US" b="0" i="1" smtClean="0">
                            <a:latin typeface="Cambria Math"/>
                          </a:rPr>
                          <m:t>𝑔</m:t>
                        </m:r>
                      </m:e>
                    </m:d>
                    <m:r>
                      <m:rPr>
                        <m:nor/>
                      </m:rPr>
                      <a:rPr lang="en-US" b="0" i="0" smtClean="0">
                        <a:latin typeface="Cambria Math"/>
                      </a:rPr>
                      <m:t>,</m:t>
                    </m:r>
                    <m:r>
                      <a:rPr lang="en-US" altLang="zh-CN" i="1">
                        <a:latin typeface="Cambria Math"/>
                      </a:rPr>
                      <m:t>(</m:t>
                    </m:r>
                    <m:r>
                      <a:rPr lang="en-US" altLang="zh-CN" b="0" i="1" smtClean="0">
                        <a:latin typeface="Cambria Math"/>
                      </a:rPr>
                      <m:t>𝑐</m:t>
                    </m:r>
                    <m:r>
                      <a:rPr lang="en-US" altLang="zh-CN" i="1">
                        <a:latin typeface="Cambria Math"/>
                      </a:rPr>
                      <m:t>,</m:t>
                    </m:r>
                    <m:r>
                      <a:rPr lang="en-US" altLang="zh-CN" b="0" i="1" smtClean="0">
                        <a:latin typeface="Cambria Math"/>
                      </a:rPr>
                      <m:t>𝑑</m:t>
                    </m:r>
                    <m:r>
                      <a:rPr lang="en-US" altLang="zh-CN" i="1">
                        <a:latin typeface="Cambria Math"/>
                      </a:rPr>
                      <m:t>)</m:t>
                    </m:r>
                  </m:oMath>
                </a14:m>
                <a:r>
                  <a:rPr lang="en-US" altLang="zh-CN" dirty="0"/>
                  <a:t>,</a:t>
                </a:r>
                <a14:m>
                  <m:oMath xmlns:m="http://schemas.openxmlformats.org/officeDocument/2006/math">
                    <m:r>
                      <a:rPr lang="en-US" altLang="zh-CN" i="1">
                        <a:latin typeface="Cambria Math"/>
                      </a:rPr>
                      <m:t>(</m:t>
                    </m:r>
                    <m:r>
                      <a:rPr lang="en-US" altLang="zh-CN" b="0" i="1" smtClean="0">
                        <a:latin typeface="Cambria Math"/>
                      </a:rPr>
                      <m:t>𝑔</m:t>
                    </m:r>
                    <m:r>
                      <a:rPr lang="en-US" altLang="zh-CN" i="1">
                        <a:latin typeface="Cambria Math"/>
                      </a:rPr>
                      <m:t>,</m:t>
                    </m:r>
                    <m:r>
                      <a:rPr lang="en-US" altLang="zh-CN" b="0" i="1" smtClean="0">
                        <a:latin typeface="Cambria Math"/>
                      </a:rPr>
                      <m:t>𝑓</m:t>
                    </m:r>
                    <m:r>
                      <a:rPr lang="en-US" altLang="zh-CN" i="1">
                        <a:latin typeface="Cambria Math"/>
                      </a:rPr>
                      <m:t>)</m:t>
                    </m:r>
                  </m:oMath>
                </a14:m>
                <a:r>
                  <a:rPr lang="en-US" altLang="zh-CN" dirty="0"/>
                  <a:t>,</a:t>
                </a:r>
                <a14:m>
                  <m:oMath xmlns:m="http://schemas.openxmlformats.org/officeDocument/2006/math">
                    <m:r>
                      <a:rPr lang="en-US" altLang="zh-CN">
                        <a:latin typeface="Cambria Math"/>
                      </a:rPr>
                      <m:t> </m:t>
                    </m:r>
                    <m:r>
                      <a:rPr lang="en-US" altLang="zh-CN" i="1">
                        <a:latin typeface="Cambria Math"/>
                      </a:rPr>
                      <m:t>(</m:t>
                    </m:r>
                    <m:r>
                      <a:rPr lang="en-US" altLang="zh-CN" b="0" i="1" smtClean="0">
                        <a:latin typeface="Cambria Math"/>
                      </a:rPr>
                      <m:t>𝑑</m:t>
                    </m:r>
                    <m:r>
                      <a:rPr lang="en-US" altLang="zh-CN" i="1">
                        <a:latin typeface="Cambria Math"/>
                      </a:rPr>
                      <m:t>,</m:t>
                    </m:r>
                    <m:r>
                      <a:rPr lang="en-US" altLang="zh-CN" b="0" i="1" smtClean="0">
                        <a:latin typeface="Cambria Math"/>
                      </a:rPr>
                      <m:t>𝑒</m:t>
                    </m:r>
                    <m:r>
                      <a:rPr lang="en-US" altLang="zh-CN" i="1">
                        <a:latin typeface="Cambria Math"/>
                      </a:rPr>
                      <m:t>)</m:t>
                    </m:r>
                  </m:oMath>
                </a14:m>
                <a:r>
                  <a:rPr lang="en-US" altLang="zh-CN" dirty="0"/>
                  <a:t>,</a:t>
                </a:r>
                <a14:m>
                  <m:oMath xmlns:m="http://schemas.openxmlformats.org/officeDocument/2006/math">
                    <m:d>
                      <m:dPr>
                        <m:ctrlPr>
                          <a:rPr lang="en-US" altLang="zh-CN" b="0" i="1" smtClean="0">
                            <a:latin typeface="Cambria Math" panose="02040503050406030204" pitchFamily="18" charset="0"/>
                          </a:rPr>
                        </m:ctrlPr>
                      </m:dPr>
                      <m:e>
                        <m:r>
                          <a:rPr lang="en-US" altLang="zh-CN" b="0" i="1" smtClean="0">
                            <a:latin typeface="Cambria Math"/>
                          </a:rPr>
                          <m:t>𝑓</m:t>
                        </m:r>
                        <m:r>
                          <a:rPr lang="en-US" altLang="zh-CN" i="1">
                            <a:latin typeface="Cambria Math"/>
                          </a:rPr>
                          <m:t>,</m:t>
                        </m:r>
                        <m:r>
                          <a:rPr lang="en-US" altLang="zh-CN" b="0" i="1" smtClean="0">
                            <a:latin typeface="Cambria Math"/>
                          </a:rPr>
                          <m:t>𝑑</m:t>
                        </m:r>
                      </m:e>
                    </m:d>
                    <m:r>
                      <a:rPr lang="en-US" altLang="zh-CN" b="0" i="1" smtClean="0">
                        <a:latin typeface="Cambria Math"/>
                      </a:rPr>
                      <m:t>.</m:t>
                    </m:r>
                  </m:oMath>
                </a14:m>
                <a:endParaRPr lang="en-US" b="0" dirty="0"/>
              </a:p>
              <a:p>
                <a:endParaRPr lang="en-US" dirty="0"/>
              </a:p>
            </p:txBody>
          </p:sp>
        </mc:Choice>
        <mc:Fallback xmlns="">
          <p:sp>
            <p:nvSpPr>
              <p:cNvPr id="68" name="TextBox 67"/>
              <p:cNvSpPr txBox="1">
                <a:spLocks noRot="1" noChangeAspect="1" noMove="1" noResize="1" noEditPoints="1" noAdjustHandles="1" noChangeArrowheads="1" noChangeShapeType="1" noTextEdit="1"/>
              </p:cNvSpPr>
              <p:nvPr/>
            </p:nvSpPr>
            <p:spPr>
              <a:xfrm>
                <a:off x="5927762" y="3385066"/>
                <a:ext cx="3189407" cy="1292662"/>
              </a:xfrm>
              <a:prstGeom prst="rect">
                <a:avLst/>
              </a:prstGeom>
              <a:blipFill rotWithShape="1">
                <a:blip r:embed="rId7"/>
                <a:stretch>
                  <a:fillRect l="-2863" t="-377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2" name="TextBox 71"/>
              <p:cNvSpPr txBox="1"/>
              <p:nvPr/>
            </p:nvSpPr>
            <p:spPr>
              <a:xfrm>
                <a:off x="5954593" y="4396218"/>
                <a:ext cx="3189407" cy="923330"/>
              </a:xfrm>
              <a:prstGeom prst="rect">
                <a:avLst/>
              </a:prstGeom>
              <a:noFill/>
            </p:spPr>
            <p:txBody>
              <a:bodyPr wrap="square" rtlCol="0">
                <a:spAutoFit/>
              </a:bodyPr>
              <a:lstStyle/>
              <a:p>
                <a14:m>
                  <m:oMath xmlns:m="http://schemas.openxmlformats.org/officeDocument/2006/math">
                    <m:r>
                      <a:rPr lang="en-US" b="0" i="1" strike="sngStrike" smtClean="0">
                        <a:solidFill>
                          <a:srgbClr val="FF0000"/>
                        </a:solidFill>
                        <a:latin typeface="Cambria Math"/>
                      </a:rPr>
                      <m:t>(</m:t>
                    </m:r>
                    <m:r>
                      <a:rPr lang="en-US" b="0" i="1" strike="sngStrike" smtClean="0">
                        <a:solidFill>
                          <a:srgbClr val="FF0000"/>
                        </a:solidFill>
                        <a:latin typeface="Cambria Math"/>
                      </a:rPr>
                      <m:t>𝑎</m:t>
                    </m:r>
                    <m:r>
                      <a:rPr lang="en-US" b="0" i="1" strike="sngStrike" smtClean="0">
                        <a:solidFill>
                          <a:srgbClr val="FF0000"/>
                        </a:solidFill>
                        <a:latin typeface="Cambria Math"/>
                      </a:rPr>
                      <m:t>,</m:t>
                    </m:r>
                    <m:r>
                      <a:rPr lang="en-US" b="0" i="1" strike="sngStrike" smtClean="0">
                        <a:solidFill>
                          <a:srgbClr val="FF0000"/>
                        </a:solidFill>
                        <a:latin typeface="Cambria Math"/>
                      </a:rPr>
                      <m:t>𝑐</m:t>
                    </m:r>
                    <m:r>
                      <a:rPr lang="en-US" b="0" i="1" strike="sngStrike" smtClean="0">
                        <a:solidFill>
                          <a:srgbClr val="FF0000"/>
                        </a:solidFill>
                        <a:latin typeface="Cambria Math"/>
                      </a:rPr>
                      <m:t>)</m:t>
                    </m:r>
                  </m:oMath>
                </a14:m>
                <a:r>
                  <a:rPr lang="en-US" strike="sngStrike" dirty="0">
                    <a:solidFill>
                      <a:srgbClr val="FF0000"/>
                    </a:solidFill>
                  </a:rPr>
                  <a:t>,</a:t>
                </a:r>
                <a14:m>
                  <m:oMath xmlns:m="http://schemas.openxmlformats.org/officeDocument/2006/math">
                    <m:r>
                      <a:rPr lang="en-US" b="0" i="0" strike="sngStrike" smtClean="0">
                        <a:solidFill>
                          <a:srgbClr val="FF0000"/>
                        </a:solidFill>
                        <a:latin typeface="Cambria Math"/>
                      </a:rPr>
                      <m:t> </m:t>
                    </m:r>
                    <m:r>
                      <a:rPr lang="en-US" b="0" i="1" strike="sngStrike" smtClean="0">
                        <a:solidFill>
                          <a:srgbClr val="FF0000"/>
                        </a:solidFill>
                        <a:latin typeface="Cambria Math"/>
                      </a:rPr>
                      <m:t>(</m:t>
                    </m:r>
                    <m:r>
                      <a:rPr lang="en-US" b="0" i="1" strike="sngStrike" smtClean="0">
                        <a:solidFill>
                          <a:srgbClr val="FF0000"/>
                        </a:solidFill>
                        <a:latin typeface="Cambria Math"/>
                      </a:rPr>
                      <m:t>𝑎</m:t>
                    </m:r>
                    <m:r>
                      <a:rPr lang="en-US" b="0" i="1" strike="sngStrike" smtClean="0">
                        <a:solidFill>
                          <a:srgbClr val="FF0000"/>
                        </a:solidFill>
                        <a:latin typeface="Cambria Math"/>
                      </a:rPr>
                      <m:t>,</m:t>
                    </m:r>
                    <m:r>
                      <m:rPr>
                        <m:nor/>
                      </m:rPr>
                      <a:rPr lang="en-US" b="0" i="0" strike="sngStrike" smtClean="0">
                        <a:solidFill>
                          <a:srgbClr val="FF0000"/>
                        </a:solidFill>
                        <a:latin typeface="Cambria Math"/>
                      </a:rPr>
                      <m:t>d</m:t>
                    </m:r>
                    <m:r>
                      <m:rPr>
                        <m:nor/>
                      </m:rPr>
                      <a:rPr lang="en-US" strike="sngStrike" dirty="0">
                        <a:solidFill>
                          <a:srgbClr val="FF0000"/>
                        </a:solidFill>
                      </a:rPr>
                      <m:t>),</m:t>
                    </m:r>
                    <m:d>
                      <m:dPr>
                        <m:ctrlPr>
                          <a:rPr lang="en-US" i="1" strike="sngStrike">
                            <a:solidFill>
                              <a:srgbClr val="FF0000"/>
                            </a:solidFill>
                            <a:latin typeface="Cambria Math" panose="02040503050406030204" pitchFamily="18" charset="0"/>
                          </a:rPr>
                        </m:ctrlPr>
                      </m:dPr>
                      <m:e>
                        <m:r>
                          <a:rPr lang="en-US" b="0" i="1" strike="sngStrike" smtClean="0">
                            <a:solidFill>
                              <a:srgbClr val="FF0000"/>
                            </a:solidFill>
                            <a:latin typeface="Cambria Math"/>
                          </a:rPr>
                          <m:t>𝑎</m:t>
                        </m:r>
                        <m:r>
                          <a:rPr lang="en-US" i="1" strike="sngStrike">
                            <a:solidFill>
                              <a:srgbClr val="FF0000"/>
                            </a:solidFill>
                            <a:latin typeface="Cambria Math"/>
                          </a:rPr>
                          <m:t>,</m:t>
                        </m:r>
                        <m:r>
                          <a:rPr lang="en-US" b="0" i="1" strike="sngStrike" smtClean="0">
                            <a:solidFill>
                              <a:srgbClr val="FF0000"/>
                            </a:solidFill>
                            <a:latin typeface="Cambria Math"/>
                          </a:rPr>
                          <m:t>𝑒</m:t>
                        </m:r>
                      </m:e>
                    </m:d>
                    <m:r>
                      <m:rPr>
                        <m:nor/>
                      </m:rPr>
                      <a:rPr lang="en-US" b="0" i="0" strike="sngStrike" smtClean="0">
                        <a:solidFill>
                          <a:srgbClr val="FF0000"/>
                        </a:solidFill>
                        <a:latin typeface="Cambria Math"/>
                      </a:rPr>
                      <m:t>,(</m:t>
                    </m:r>
                    <m:r>
                      <m:rPr>
                        <m:nor/>
                      </m:rPr>
                      <a:rPr lang="en-US" b="0" i="0" strike="sngStrike" smtClean="0">
                        <a:solidFill>
                          <a:srgbClr val="FF0000"/>
                        </a:solidFill>
                        <a:latin typeface="Cambria Math"/>
                      </a:rPr>
                      <m:t>b</m:t>
                    </m:r>
                    <m:r>
                      <m:rPr>
                        <m:nor/>
                      </m:rPr>
                      <a:rPr lang="en-US" b="0" i="0" strike="sngStrike" smtClean="0">
                        <a:solidFill>
                          <a:srgbClr val="FF0000"/>
                        </a:solidFill>
                        <a:latin typeface="Cambria Math"/>
                      </a:rPr>
                      <m:t>,</m:t>
                    </m:r>
                    <m:r>
                      <m:rPr>
                        <m:nor/>
                      </m:rPr>
                      <a:rPr lang="en-US" b="0" i="0" strike="sngStrike" smtClean="0">
                        <a:solidFill>
                          <a:srgbClr val="FF0000"/>
                        </a:solidFill>
                        <a:latin typeface="Cambria Math"/>
                      </a:rPr>
                      <m:t>d</m:t>
                    </m:r>
                    <m:r>
                      <m:rPr>
                        <m:nor/>
                      </m:rPr>
                      <a:rPr lang="en-US" b="0" i="0" strike="sngStrike" smtClean="0">
                        <a:solidFill>
                          <a:srgbClr val="FF0000"/>
                        </a:solidFill>
                        <a:latin typeface="Cambria Math"/>
                      </a:rPr>
                      <m:t>),(</m:t>
                    </m:r>
                    <m:r>
                      <m:rPr>
                        <m:nor/>
                      </m:rPr>
                      <a:rPr lang="en-US" b="0" i="0" strike="sngStrike" smtClean="0">
                        <a:solidFill>
                          <a:srgbClr val="FF0000"/>
                        </a:solidFill>
                        <a:latin typeface="Cambria Math"/>
                      </a:rPr>
                      <m:t>b</m:t>
                    </m:r>
                    <m:r>
                      <m:rPr>
                        <m:nor/>
                      </m:rPr>
                      <a:rPr lang="en-US" b="0" i="0" strike="sngStrike" smtClean="0">
                        <a:solidFill>
                          <a:srgbClr val="FF0000"/>
                        </a:solidFill>
                        <a:latin typeface="Cambria Math"/>
                      </a:rPr>
                      <m:t>,</m:t>
                    </m:r>
                    <m:r>
                      <m:rPr>
                        <m:nor/>
                      </m:rPr>
                      <a:rPr lang="en-US" b="0" i="0" strike="sngStrike" smtClean="0">
                        <a:solidFill>
                          <a:srgbClr val="FF0000"/>
                        </a:solidFill>
                        <a:latin typeface="Cambria Math"/>
                      </a:rPr>
                      <m:t>e</m:t>
                    </m:r>
                    <m:r>
                      <m:rPr>
                        <m:nor/>
                      </m:rPr>
                      <a:rPr lang="en-US" b="0" i="0" strike="sngStrike" smtClean="0">
                        <a:solidFill>
                          <a:srgbClr val="FF0000"/>
                        </a:solidFill>
                        <a:latin typeface="Cambria Math"/>
                      </a:rPr>
                      <m:t>),</m:t>
                    </m:r>
                  </m:oMath>
                </a14:m>
                <a:endParaRPr lang="en-US" b="0" strike="sngStrike" dirty="0">
                  <a:solidFill>
                    <a:srgbClr val="FF0000"/>
                  </a:solidFill>
                </a:endParaRPr>
              </a:p>
              <a:p>
                <a14:m>
                  <m:oMath xmlns:m="http://schemas.openxmlformats.org/officeDocument/2006/math">
                    <m:r>
                      <a:rPr lang="en-US" altLang="zh-CN" i="1" strike="sngStrike">
                        <a:solidFill>
                          <a:srgbClr val="FF0000"/>
                        </a:solidFill>
                        <a:latin typeface="Cambria Math"/>
                      </a:rPr>
                      <m:t>(</m:t>
                    </m:r>
                    <m:r>
                      <a:rPr lang="en-US" altLang="zh-CN" b="0" i="1" strike="sngStrike" smtClean="0">
                        <a:solidFill>
                          <a:srgbClr val="FF0000"/>
                        </a:solidFill>
                        <a:latin typeface="Cambria Math"/>
                      </a:rPr>
                      <m:t>𝑏</m:t>
                    </m:r>
                    <m:r>
                      <a:rPr lang="en-US" altLang="zh-CN" i="1" strike="sngStrike">
                        <a:solidFill>
                          <a:srgbClr val="FF0000"/>
                        </a:solidFill>
                        <a:latin typeface="Cambria Math"/>
                      </a:rPr>
                      <m:t>,</m:t>
                    </m:r>
                    <m:r>
                      <a:rPr lang="en-US" altLang="zh-CN" b="0" i="1" strike="sngStrike" smtClean="0">
                        <a:solidFill>
                          <a:srgbClr val="FF0000"/>
                        </a:solidFill>
                        <a:latin typeface="Cambria Math"/>
                      </a:rPr>
                      <m:t>𝑓</m:t>
                    </m:r>
                    <m:r>
                      <a:rPr lang="en-US" altLang="zh-CN" i="1" strike="sngStrike">
                        <a:solidFill>
                          <a:srgbClr val="FF0000"/>
                        </a:solidFill>
                        <a:latin typeface="Cambria Math"/>
                      </a:rPr>
                      <m:t>)</m:t>
                    </m:r>
                  </m:oMath>
                </a14:m>
                <a:r>
                  <a:rPr lang="en-US" altLang="zh-CN" strike="sngStrike" dirty="0">
                    <a:solidFill>
                      <a:srgbClr val="FF0000"/>
                    </a:solidFill>
                  </a:rPr>
                  <a:t>, </a:t>
                </a:r>
                <a14:m>
                  <m:oMath xmlns:m="http://schemas.openxmlformats.org/officeDocument/2006/math">
                    <m:r>
                      <a:rPr lang="en-US" altLang="zh-CN" i="1" strike="sngStrike">
                        <a:solidFill>
                          <a:srgbClr val="FF0000"/>
                        </a:solidFill>
                        <a:latin typeface="Cambria Math"/>
                      </a:rPr>
                      <m:t>(</m:t>
                    </m:r>
                    <m:r>
                      <a:rPr lang="en-US" altLang="zh-CN" b="0" i="1" strike="sngStrike" smtClean="0">
                        <a:solidFill>
                          <a:srgbClr val="FF0000"/>
                        </a:solidFill>
                        <a:latin typeface="Cambria Math"/>
                      </a:rPr>
                      <m:t>𝑔</m:t>
                    </m:r>
                    <m:r>
                      <a:rPr lang="en-US" altLang="zh-CN" i="1" strike="sngStrike">
                        <a:solidFill>
                          <a:srgbClr val="FF0000"/>
                        </a:solidFill>
                        <a:latin typeface="Cambria Math"/>
                      </a:rPr>
                      <m:t>,</m:t>
                    </m:r>
                    <m:r>
                      <a:rPr lang="en-US" altLang="zh-CN" b="0" i="1" strike="sngStrike" smtClean="0">
                        <a:solidFill>
                          <a:srgbClr val="FF0000"/>
                        </a:solidFill>
                        <a:latin typeface="Cambria Math"/>
                      </a:rPr>
                      <m:t>𝑑</m:t>
                    </m:r>
                    <m:r>
                      <a:rPr lang="en-US" altLang="zh-CN" i="1" strike="sngStrike">
                        <a:solidFill>
                          <a:srgbClr val="FF0000"/>
                        </a:solidFill>
                        <a:latin typeface="Cambria Math"/>
                      </a:rPr>
                      <m:t>)</m:t>
                    </m:r>
                  </m:oMath>
                </a14:m>
                <a:endParaRPr lang="en-US" b="0" dirty="0"/>
              </a:p>
              <a:p>
                <a:endParaRPr lang="en-US" dirty="0"/>
              </a:p>
            </p:txBody>
          </p:sp>
        </mc:Choice>
        <mc:Fallback xmlns="">
          <p:sp>
            <p:nvSpPr>
              <p:cNvPr id="72" name="TextBox 71"/>
              <p:cNvSpPr txBox="1">
                <a:spLocks noRot="1" noChangeAspect="1" noMove="1" noResize="1" noEditPoints="1" noAdjustHandles="1" noChangeArrowheads="1" noChangeShapeType="1" noTextEdit="1"/>
              </p:cNvSpPr>
              <p:nvPr/>
            </p:nvSpPr>
            <p:spPr>
              <a:xfrm>
                <a:off x="5954593" y="4396218"/>
                <a:ext cx="3189407" cy="923330"/>
              </a:xfrm>
              <a:prstGeom prst="rect">
                <a:avLst/>
              </a:prstGeom>
              <a:blipFill rotWithShape="1">
                <a:blip r:embed="rId8"/>
                <a:stretch>
                  <a:fillRect l="-574" t="-3289"/>
                </a:stretch>
              </a:blipFill>
            </p:spPr>
            <p:txBody>
              <a:bodyPr/>
              <a:lstStyle/>
              <a:p>
                <a:r>
                  <a:rPr lang="zh-CN" altLang="en-US">
                    <a:noFill/>
                  </a:rPr>
                  <a:t> </a:t>
                </a:r>
              </a:p>
            </p:txBody>
          </p:sp>
        </mc:Fallback>
      </mc:AlternateContent>
      <p:pic>
        <p:nvPicPr>
          <p:cNvPr id="73"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6" name="矩形 5"/>
              <p:cNvSpPr/>
              <p:nvPr/>
            </p:nvSpPr>
            <p:spPr>
              <a:xfrm>
                <a:off x="5943600" y="4410670"/>
                <a:ext cx="4572000" cy="646331"/>
              </a:xfrm>
              <a:prstGeom prst="rect">
                <a:avLst/>
              </a:prstGeom>
            </p:spPr>
            <p:txBody>
              <a:bodyPr>
                <a:spAutoFit/>
              </a:bodyPr>
              <a:lstStyle/>
              <a:p>
                <a14:m>
                  <m:oMath xmlns:m="http://schemas.openxmlformats.org/officeDocument/2006/math">
                    <m:r>
                      <a:rPr lang="en-US" altLang="zh-CN" i="1" smtClean="0">
                        <a:solidFill>
                          <a:schemeClr val="tx1"/>
                        </a:solidFill>
                        <a:latin typeface="Cambria Math"/>
                      </a:rPr>
                      <m:t>(</m:t>
                    </m:r>
                    <m:r>
                      <a:rPr lang="en-US" altLang="zh-CN" i="1" smtClean="0">
                        <a:solidFill>
                          <a:schemeClr val="tx1"/>
                        </a:solidFill>
                        <a:latin typeface="Cambria Math"/>
                      </a:rPr>
                      <m:t>𝑎</m:t>
                    </m:r>
                    <m:r>
                      <a:rPr lang="en-US" altLang="zh-CN" i="1" smtClean="0">
                        <a:solidFill>
                          <a:schemeClr val="tx1"/>
                        </a:solidFill>
                        <a:latin typeface="Cambria Math"/>
                      </a:rPr>
                      <m:t>,</m:t>
                    </m:r>
                    <m:r>
                      <a:rPr lang="en-US" altLang="zh-CN" i="1" smtClean="0">
                        <a:solidFill>
                          <a:schemeClr val="tx1"/>
                        </a:solidFill>
                        <a:latin typeface="Cambria Math"/>
                      </a:rPr>
                      <m:t>𝑐</m:t>
                    </m:r>
                    <m:r>
                      <a:rPr lang="en-US" altLang="zh-CN" i="1" smtClean="0">
                        <a:solidFill>
                          <a:schemeClr val="tx1"/>
                        </a:solidFill>
                        <a:latin typeface="Cambria Math"/>
                      </a:rPr>
                      <m:t>)</m:t>
                    </m:r>
                  </m:oMath>
                </a14:m>
                <a:r>
                  <a:rPr lang="en-US" altLang="zh-CN" dirty="0">
                    <a:solidFill>
                      <a:schemeClr val="tx1"/>
                    </a:solidFill>
                  </a:rPr>
                  <a:t>,</a:t>
                </a:r>
                <a14:m>
                  <m:oMath xmlns:m="http://schemas.openxmlformats.org/officeDocument/2006/math">
                    <m:r>
                      <a:rPr lang="en-US" altLang="zh-CN">
                        <a:solidFill>
                          <a:schemeClr val="tx1"/>
                        </a:solidFill>
                        <a:latin typeface="Cambria Math"/>
                      </a:rPr>
                      <m:t> </m:t>
                    </m:r>
                    <m:r>
                      <a:rPr lang="en-US" altLang="zh-CN" i="1">
                        <a:solidFill>
                          <a:schemeClr val="tx1"/>
                        </a:solidFill>
                        <a:latin typeface="Cambria Math"/>
                      </a:rPr>
                      <m:t>(</m:t>
                    </m:r>
                    <m:r>
                      <a:rPr lang="en-US" altLang="zh-CN" i="1">
                        <a:solidFill>
                          <a:schemeClr val="tx1"/>
                        </a:solidFill>
                        <a:latin typeface="Cambria Math"/>
                      </a:rPr>
                      <m:t>𝑎</m:t>
                    </m:r>
                    <m:r>
                      <a:rPr lang="en-US" altLang="zh-CN" i="1">
                        <a:solidFill>
                          <a:schemeClr val="tx1"/>
                        </a:solidFill>
                        <a:latin typeface="Cambria Math"/>
                      </a:rPr>
                      <m:t>,</m:t>
                    </m:r>
                    <m:r>
                      <m:rPr>
                        <m:nor/>
                      </m:rPr>
                      <a:rPr lang="en-US" altLang="zh-CN">
                        <a:solidFill>
                          <a:schemeClr val="tx1"/>
                        </a:solidFill>
                        <a:latin typeface="Cambria Math"/>
                      </a:rPr>
                      <m:t>d</m:t>
                    </m:r>
                    <m:r>
                      <m:rPr>
                        <m:nor/>
                      </m:rPr>
                      <a:rPr lang="en-US" altLang="zh-CN" dirty="0">
                        <a:solidFill>
                          <a:schemeClr val="tx1"/>
                        </a:solidFill>
                      </a:rPr>
                      <m:t>),</m:t>
                    </m:r>
                    <m:d>
                      <m:dPr>
                        <m:ctrlPr>
                          <a:rPr lang="en-US" altLang="zh-CN" i="1">
                            <a:solidFill>
                              <a:schemeClr val="tx1"/>
                            </a:solidFill>
                            <a:latin typeface="Cambria Math" panose="02040503050406030204" pitchFamily="18" charset="0"/>
                          </a:rPr>
                        </m:ctrlPr>
                      </m:dPr>
                      <m:e>
                        <m:r>
                          <a:rPr lang="en-US" altLang="zh-CN" i="1">
                            <a:solidFill>
                              <a:schemeClr val="tx1"/>
                            </a:solidFill>
                            <a:latin typeface="Cambria Math"/>
                          </a:rPr>
                          <m:t>𝑎</m:t>
                        </m:r>
                        <m:r>
                          <a:rPr lang="en-US" altLang="zh-CN" i="1">
                            <a:solidFill>
                              <a:schemeClr val="tx1"/>
                            </a:solidFill>
                            <a:latin typeface="Cambria Math"/>
                          </a:rPr>
                          <m:t>,</m:t>
                        </m:r>
                        <m:r>
                          <a:rPr lang="en-US" altLang="zh-CN" i="1">
                            <a:solidFill>
                              <a:schemeClr val="tx1"/>
                            </a:solidFill>
                            <a:latin typeface="Cambria Math"/>
                          </a:rPr>
                          <m:t>𝑒</m:t>
                        </m:r>
                      </m:e>
                    </m:d>
                    <m:r>
                      <m:rPr>
                        <m:nor/>
                      </m:rPr>
                      <a:rPr lang="en-US" altLang="zh-CN">
                        <a:solidFill>
                          <a:schemeClr val="tx1"/>
                        </a:solidFill>
                        <a:latin typeface="Cambria Math"/>
                      </a:rPr>
                      <m:t>,(</m:t>
                    </m:r>
                    <m:r>
                      <m:rPr>
                        <m:nor/>
                      </m:rPr>
                      <a:rPr lang="en-US" altLang="zh-CN">
                        <a:solidFill>
                          <a:schemeClr val="tx1"/>
                        </a:solidFill>
                        <a:latin typeface="Cambria Math"/>
                      </a:rPr>
                      <m:t>b</m:t>
                    </m:r>
                    <m:r>
                      <m:rPr>
                        <m:nor/>
                      </m:rPr>
                      <a:rPr lang="en-US" altLang="zh-CN">
                        <a:solidFill>
                          <a:schemeClr val="tx1"/>
                        </a:solidFill>
                        <a:latin typeface="Cambria Math"/>
                      </a:rPr>
                      <m:t>,</m:t>
                    </m:r>
                    <m:r>
                      <m:rPr>
                        <m:nor/>
                      </m:rPr>
                      <a:rPr lang="en-US" altLang="zh-CN">
                        <a:solidFill>
                          <a:schemeClr val="tx1"/>
                        </a:solidFill>
                        <a:latin typeface="Cambria Math"/>
                      </a:rPr>
                      <m:t>d</m:t>
                    </m:r>
                    <m:r>
                      <m:rPr>
                        <m:nor/>
                      </m:rPr>
                      <a:rPr lang="en-US" altLang="zh-CN">
                        <a:solidFill>
                          <a:schemeClr val="tx1"/>
                        </a:solidFill>
                        <a:latin typeface="Cambria Math"/>
                      </a:rPr>
                      <m:t>),(</m:t>
                    </m:r>
                    <m:r>
                      <m:rPr>
                        <m:nor/>
                      </m:rPr>
                      <a:rPr lang="en-US" altLang="zh-CN">
                        <a:solidFill>
                          <a:schemeClr val="tx1"/>
                        </a:solidFill>
                        <a:latin typeface="Cambria Math"/>
                      </a:rPr>
                      <m:t>b</m:t>
                    </m:r>
                    <m:r>
                      <m:rPr>
                        <m:nor/>
                      </m:rPr>
                      <a:rPr lang="en-US" altLang="zh-CN">
                        <a:solidFill>
                          <a:schemeClr val="tx1"/>
                        </a:solidFill>
                        <a:latin typeface="Cambria Math"/>
                      </a:rPr>
                      <m:t>,</m:t>
                    </m:r>
                    <m:r>
                      <m:rPr>
                        <m:nor/>
                      </m:rPr>
                      <a:rPr lang="en-US" altLang="zh-CN">
                        <a:solidFill>
                          <a:schemeClr val="tx1"/>
                        </a:solidFill>
                        <a:latin typeface="Cambria Math"/>
                      </a:rPr>
                      <m:t>e</m:t>
                    </m:r>
                    <m:r>
                      <m:rPr>
                        <m:nor/>
                      </m:rPr>
                      <a:rPr lang="en-US" altLang="zh-CN">
                        <a:solidFill>
                          <a:schemeClr val="tx1"/>
                        </a:solidFill>
                        <a:latin typeface="Cambria Math"/>
                      </a:rPr>
                      <m:t>),</m:t>
                    </m:r>
                  </m:oMath>
                </a14:m>
                <a:endParaRPr lang="en-US" altLang="zh-CN" dirty="0">
                  <a:solidFill>
                    <a:schemeClr val="tx1"/>
                  </a:solidFill>
                </a:endParaRPr>
              </a:p>
              <a:p>
                <a14:m>
                  <m:oMath xmlns:m="http://schemas.openxmlformats.org/officeDocument/2006/math">
                    <m:r>
                      <a:rPr lang="en-US" altLang="zh-CN" i="1">
                        <a:solidFill>
                          <a:schemeClr val="tx1"/>
                        </a:solidFill>
                        <a:latin typeface="Cambria Math"/>
                      </a:rPr>
                      <m:t>(</m:t>
                    </m:r>
                    <m:r>
                      <a:rPr lang="en-US" altLang="zh-CN" i="1">
                        <a:solidFill>
                          <a:schemeClr val="tx1"/>
                        </a:solidFill>
                        <a:latin typeface="Cambria Math"/>
                      </a:rPr>
                      <m:t>𝑏</m:t>
                    </m:r>
                    <m:r>
                      <a:rPr lang="en-US" altLang="zh-CN" i="1">
                        <a:solidFill>
                          <a:schemeClr val="tx1"/>
                        </a:solidFill>
                        <a:latin typeface="Cambria Math"/>
                      </a:rPr>
                      <m:t>,</m:t>
                    </m:r>
                    <m:r>
                      <a:rPr lang="en-US" altLang="zh-CN" i="1">
                        <a:solidFill>
                          <a:schemeClr val="tx1"/>
                        </a:solidFill>
                        <a:latin typeface="Cambria Math"/>
                      </a:rPr>
                      <m:t>𝑓</m:t>
                    </m:r>
                    <m:r>
                      <a:rPr lang="en-US" altLang="zh-CN" i="1">
                        <a:solidFill>
                          <a:schemeClr val="tx1"/>
                        </a:solidFill>
                        <a:latin typeface="Cambria Math"/>
                      </a:rPr>
                      <m:t>)</m:t>
                    </m:r>
                  </m:oMath>
                </a14:m>
                <a:r>
                  <a:rPr lang="en-US" altLang="zh-CN" dirty="0">
                    <a:solidFill>
                      <a:schemeClr val="tx1"/>
                    </a:solidFill>
                  </a:rPr>
                  <a:t>, </a:t>
                </a:r>
                <a14:m>
                  <m:oMath xmlns:m="http://schemas.openxmlformats.org/officeDocument/2006/math">
                    <m:r>
                      <a:rPr lang="en-US" altLang="zh-CN" i="1">
                        <a:solidFill>
                          <a:schemeClr val="tx1"/>
                        </a:solidFill>
                        <a:latin typeface="Cambria Math"/>
                      </a:rPr>
                      <m:t>(</m:t>
                    </m:r>
                    <m:r>
                      <a:rPr lang="en-US" altLang="zh-CN" i="1">
                        <a:solidFill>
                          <a:schemeClr val="tx1"/>
                        </a:solidFill>
                        <a:latin typeface="Cambria Math"/>
                      </a:rPr>
                      <m:t>𝑔</m:t>
                    </m:r>
                    <m:r>
                      <a:rPr lang="en-US" altLang="zh-CN" i="1">
                        <a:solidFill>
                          <a:schemeClr val="tx1"/>
                        </a:solidFill>
                        <a:latin typeface="Cambria Math"/>
                      </a:rPr>
                      <m:t>,</m:t>
                    </m:r>
                    <m:r>
                      <a:rPr lang="en-US" altLang="zh-CN" i="1">
                        <a:solidFill>
                          <a:schemeClr val="tx1"/>
                        </a:solidFill>
                        <a:latin typeface="Cambria Math"/>
                      </a:rPr>
                      <m:t>𝑑</m:t>
                    </m:r>
                    <m:r>
                      <a:rPr lang="en-US" altLang="zh-CN" i="1">
                        <a:solidFill>
                          <a:schemeClr val="tx1"/>
                        </a:solidFill>
                        <a:latin typeface="Cambria Math"/>
                      </a:rPr>
                      <m:t>)</m:t>
                    </m:r>
                  </m:oMath>
                </a14:m>
                <a:endParaRPr lang="en-US" altLang="zh-CN" dirty="0">
                  <a:solidFill>
                    <a:schemeClr val="tx1"/>
                  </a:solidFill>
                </a:endParaRPr>
              </a:p>
            </p:txBody>
          </p:sp>
        </mc:Choice>
        <mc:Fallback xmlns="">
          <p:sp>
            <p:nvSpPr>
              <p:cNvPr id="6" name="矩形 5"/>
              <p:cNvSpPr>
                <a:spLocks noRot="1" noChangeAspect="1" noMove="1" noResize="1" noEditPoints="1" noAdjustHandles="1" noChangeArrowheads="1" noChangeShapeType="1" noTextEdit="1"/>
              </p:cNvSpPr>
              <p:nvPr/>
            </p:nvSpPr>
            <p:spPr>
              <a:xfrm>
                <a:off x="5943600" y="4410670"/>
                <a:ext cx="4572000" cy="646331"/>
              </a:xfrm>
              <a:prstGeom prst="rect">
                <a:avLst/>
              </a:prstGeom>
              <a:blipFill rotWithShape="1">
                <a:blip r:embed="rId10"/>
                <a:stretch>
                  <a:fillRect l="-267" t="-4717" b="-1415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09068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37" presetClass="path" presetSubtype="0" accel="50000" decel="50000" fill="hold" grpId="1" nodeType="clickEffect">
                                  <p:stCondLst>
                                    <p:cond delay="0"/>
                                  </p:stCondLst>
                                  <p:childTnLst>
                                    <p:animMotion origin="layout" path="M -5.55556E-7 -3.31175E-6 L 0.03247 -0.02497 C 0.03889 -0.03076 0.04931 -0.0333 0.0599 -0.0333 C 0.07205 -0.0333 0.08177 -0.03076 0.08872 -0.02497 L 0.12153 -3.31175E-6 " pathEditMode="relative" rAng="0" ptsTypes="FffFF">
                                      <p:cBhvr>
                                        <p:cTn id="32" dur="2000" fill="hold"/>
                                        <p:tgtEl>
                                          <p:spTgt spid="94"/>
                                        </p:tgtEl>
                                        <p:attrNameLst>
                                          <p:attrName>ppt_x</p:attrName>
                                          <p:attrName>ppt_y</p:attrName>
                                        </p:attrNameLst>
                                      </p:cBhvr>
                                      <p:rCtr x="6076" y="-1665"/>
                                    </p:animMotion>
                                  </p:childTnLst>
                                </p:cTn>
                              </p:par>
                              <p:par>
                                <p:cTn id="33" presetID="37" presetClass="path" presetSubtype="0" accel="50000" decel="50000" fill="hold" grpId="1" nodeType="withEffect">
                                  <p:stCondLst>
                                    <p:cond delay="0"/>
                                  </p:stCondLst>
                                  <p:childTnLst>
                                    <p:animMotion origin="layout" path="M 0.01475 0.00462 L 0.04722 -0.02035 C 0.05364 -0.02614 0.06406 -0.02868 0.07465 -0.02868 C 0.0868 -0.02868 0.09652 -0.02614 0.10347 -0.02035 L 0.13628 0.00462 " pathEditMode="relative" rAng="0" ptsTypes="FffFF">
                                      <p:cBhvr>
                                        <p:cTn id="34" dur="2000" fill="hold"/>
                                        <p:tgtEl>
                                          <p:spTgt spid="42"/>
                                        </p:tgtEl>
                                        <p:attrNameLst>
                                          <p:attrName>ppt_x</p:attrName>
                                          <p:attrName>ppt_y</p:attrName>
                                        </p:attrNameLst>
                                      </p:cBhvr>
                                      <p:rCtr x="6076" y="-1665"/>
                                    </p:animMotion>
                                  </p:childTnLst>
                                </p:cTn>
                              </p:par>
                              <p:par>
                                <p:cTn id="35" presetID="37" presetClass="path" presetSubtype="0" accel="50000" decel="50000" fill="hold" grpId="1" nodeType="withEffect">
                                  <p:stCondLst>
                                    <p:cond delay="0"/>
                                  </p:stCondLst>
                                  <p:childTnLst>
                                    <p:animMotion origin="layout" path="M 3.88889E-6 -3.31175E-6 L 0.03246 -0.02497 C 0.03889 -0.03076 0.0493 -0.0333 0.05989 -0.0333 C 0.07204 -0.0333 0.08177 -0.03076 0.08871 -0.02497 L 0.12152 -3.31175E-6 " pathEditMode="relative" rAng="0" ptsTypes="FffFF">
                                      <p:cBhvr>
                                        <p:cTn id="36" dur="2000" fill="hold"/>
                                        <p:tgtEl>
                                          <p:spTgt spid="43"/>
                                        </p:tgtEl>
                                        <p:attrNameLst>
                                          <p:attrName>ppt_x</p:attrName>
                                          <p:attrName>ppt_y</p:attrName>
                                        </p:attrNameLst>
                                      </p:cBhvr>
                                      <p:rCtr x="6076" y="-1665"/>
                                    </p:animMotion>
                                  </p:childTnLst>
                                </p:cTn>
                              </p:par>
                              <p:par>
                                <p:cTn id="37" presetID="37" presetClass="path" presetSubtype="0" accel="50000" decel="50000" fill="hold" grpId="1" nodeType="withEffect">
                                  <p:stCondLst>
                                    <p:cond delay="0"/>
                                  </p:stCondLst>
                                  <p:childTnLst>
                                    <p:animMotion origin="layout" path="M 1.11111E-6 -3.31175E-6 L 0.03246 -0.02497 C 0.03889 -0.03076 0.0493 -0.0333 0.05989 -0.0333 C 0.07205 -0.0333 0.08177 -0.03076 0.08871 -0.02497 L 0.12153 -3.31175E-6 " pathEditMode="relative" rAng="0" ptsTypes="FffFF">
                                      <p:cBhvr>
                                        <p:cTn id="38" dur="2000" fill="hold"/>
                                        <p:tgtEl>
                                          <p:spTgt spid="44"/>
                                        </p:tgtEl>
                                        <p:attrNameLst>
                                          <p:attrName>ppt_x</p:attrName>
                                          <p:attrName>ppt_y</p:attrName>
                                        </p:attrNameLst>
                                      </p:cBhvr>
                                      <p:rCtr x="6076" y="-1665"/>
                                    </p:animMotion>
                                  </p:childTnLst>
                                </p:cTn>
                              </p:par>
                              <p:par>
                                <p:cTn id="39" presetID="37" presetClass="path" presetSubtype="0" accel="50000" decel="50000" fill="hold" grpId="1" nodeType="withEffect">
                                  <p:stCondLst>
                                    <p:cond delay="0"/>
                                  </p:stCondLst>
                                  <p:childTnLst>
                                    <p:animMotion origin="layout" path="M -8.33333E-7 4.04255E-6 L 0.03247 -0.02498 C 0.03889 -0.03076 0.04931 -0.03331 0.0599 -0.03331 C 0.07205 -0.03331 0.08177 -0.03076 0.08872 -0.02498 L 0.12153 4.04255E-6 " pathEditMode="relative" rAng="0" ptsTypes="FffFF">
                                      <p:cBhvr>
                                        <p:cTn id="40" dur="2000" fill="hold"/>
                                        <p:tgtEl>
                                          <p:spTgt spid="69"/>
                                        </p:tgtEl>
                                        <p:attrNameLst>
                                          <p:attrName>ppt_x</p:attrName>
                                          <p:attrName>ppt_y</p:attrName>
                                        </p:attrNameLst>
                                      </p:cBhvr>
                                      <p:rCtr x="6076" y="-1665"/>
                                    </p:animMotion>
                                  </p:childTnLst>
                                </p:cTn>
                              </p:par>
                              <p:par>
                                <p:cTn id="41" presetID="37" presetClass="path" presetSubtype="0" accel="50000" decel="50000" fill="hold" grpId="1" nodeType="withEffect">
                                  <p:stCondLst>
                                    <p:cond delay="0"/>
                                  </p:stCondLst>
                                  <p:childTnLst>
                                    <p:animMotion origin="layout" path="M 0.0059 4.04255E-6 L 0.03837 -0.02498 C 0.04479 -0.03076 0.05521 -0.03331 0.0658 -0.03331 C 0.07795 -0.03331 0.08767 -0.03076 0.09462 -0.02498 L 0.12743 4.04255E-6 " pathEditMode="relative" rAng="0" ptsTypes="FffFF">
                                      <p:cBhvr>
                                        <p:cTn id="42" dur="2000" fill="hold"/>
                                        <p:tgtEl>
                                          <p:spTgt spid="45"/>
                                        </p:tgtEl>
                                        <p:attrNameLst>
                                          <p:attrName>ppt_x</p:attrName>
                                          <p:attrName>ppt_y</p:attrName>
                                        </p:attrNameLst>
                                      </p:cBhvr>
                                      <p:rCtr x="6076" y="-1665"/>
                                    </p:animMotion>
                                  </p:childTnLst>
                                </p:cTn>
                              </p:par>
                              <p:par>
                                <p:cTn id="43" presetID="37" presetClass="path" presetSubtype="0" accel="50000" decel="50000" fill="hold" grpId="1" nodeType="withEffect">
                                  <p:stCondLst>
                                    <p:cond delay="0"/>
                                  </p:stCondLst>
                                  <p:childTnLst>
                                    <p:animMotion origin="layout" path="M -8.33333E-7 1.83164E-6 L 0.03247 -0.02498 C 0.03889 -0.03076 0.04931 -0.0333 0.0599 -0.0333 C 0.07205 -0.0333 0.08177 -0.03076 0.08872 -0.02498 L 0.12153 1.83164E-6 " pathEditMode="relative" rAng="0" ptsTypes="FffFF">
                                      <p:cBhvr>
                                        <p:cTn id="44" dur="2000" fill="hold"/>
                                        <p:tgtEl>
                                          <p:spTgt spid="70"/>
                                        </p:tgtEl>
                                        <p:attrNameLst>
                                          <p:attrName>ppt_x</p:attrName>
                                          <p:attrName>ppt_y</p:attrName>
                                        </p:attrNameLst>
                                      </p:cBhvr>
                                      <p:rCtr x="6076" y="-1665"/>
                                    </p:animMotion>
                                  </p:childTnLst>
                                </p:cTn>
                              </p:par>
                              <p:par>
                                <p:cTn id="45" presetID="37" presetClass="path" presetSubtype="0" accel="50000" decel="50000" fill="hold" grpId="1" nodeType="withEffect">
                                  <p:stCondLst>
                                    <p:cond delay="0"/>
                                  </p:stCondLst>
                                  <p:childTnLst>
                                    <p:animMotion origin="layout" path="M 0.0059 0.00416 L 0.03837 -0.02082 C 0.04479 -0.0266 0.05521 -0.02914 0.0658 -0.02914 C 0.07795 -0.02914 0.08767 -0.0266 0.09462 -0.02082 L 0.12743 0.00416 " pathEditMode="relative" rAng="0" ptsTypes="FffFF">
                                      <p:cBhvr>
                                        <p:cTn id="46" dur="2000" fill="hold"/>
                                        <p:tgtEl>
                                          <p:spTgt spid="63"/>
                                        </p:tgtEl>
                                        <p:attrNameLst>
                                          <p:attrName>ppt_x</p:attrName>
                                          <p:attrName>ppt_y</p:attrName>
                                        </p:attrNameLst>
                                      </p:cBhvr>
                                      <p:rCtr x="6076" y="-1665"/>
                                    </p:animMotion>
                                  </p:childTnLst>
                                </p:cTn>
                              </p:par>
                              <p:par>
                                <p:cTn id="47" presetID="37" presetClass="path" presetSubtype="0" accel="50000" decel="50000" fill="hold" grpId="1" nodeType="withEffect">
                                  <p:stCondLst>
                                    <p:cond delay="0"/>
                                  </p:stCondLst>
                                  <p:childTnLst>
                                    <p:animMotion origin="layout" path="M 3.61111E-6 1.83164E-6 L 0.03246 -0.02498 C 0.03889 -0.03076 0.0493 -0.0333 0.05989 -0.0333 C 0.07205 -0.0333 0.08177 -0.03076 0.08871 -0.02498 L 0.12152 1.83164E-6 " pathEditMode="relative" rAng="0" ptsTypes="FffFF">
                                      <p:cBhvr>
                                        <p:cTn id="48" dur="2000" fill="hold"/>
                                        <p:tgtEl>
                                          <p:spTgt spid="64"/>
                                        </p:tgtEl>
                                        <p:attrNameLst>
                                          <p:attrName>ppt_x</p:attrName>
                                          <p:attrName>ppt_y</p:attrName>
                                        </p:attrNameLst>
                                      </p:cBhvr>
                                      <p:rCtr x="6076" y="-1665"/>
                                    </p:animMotion>
                                  </p:childTnLst>
                                </p:cTn>
                              </p:par>
                              <p:par>
                                <p:cTn id="49" presetID="37" presetClass="path" presetSubtype="0" accel="50000" decel="50000" fill="hold" grpId="1" nodeType="withEffect">
                                  <p:stCondLst>
                                    <p:cond delay="0"/>
                                  </p:stCondLst>
                                  <p:childTnLst>
                                    <p:animMotion origin="layout" path="M -1.94444E-6 -4.87512E-6 L 0.03247 -0.02497 C 0.03889 -0.03075 0.04931 -0.0333 0.0599 -0.0333 C 0.07205 -0.0333 0.08177 -0.03075 0.08872 -0.02497 L 0.12153 -4.87512E-6 " pathEditMode="relative" rAng="0" ptsTypes="FffFF">
                                      <p:cBhvr>
                                        <p:cTn id="50" dur="2000" fill="hold"/>
                                        <p:tgtEl>
                                          <p:spTgt spid="71"/>
                                        </p:tgtEl>
                                        <p:attrNameLst>
                                          <p:attrName>ppt_x</p:attrName>
                                          <p:attrName>ppt_y</p:attrName>
                                        </p:attrNameLst>
                                      </p:cBhvr>
                                      <p:rCtr x="6076" y="-1665"/>
                                    </p:animMotion>
                                  </p:childTnLst>
                                </p:cTn>
                              </p:par>
                              <p:par>
                                <p:cTn id="51" presetID="37" presetClass="path" presetSubtype="0" accel="50000" decel="50000" fill="hold" grpId="1" nodeType="withEffect">
                                  <p:stCondLst>
                                    <p:cond delay="0"/>
                                  </p:stCondLst>
                                  <p:childTnLst>
                                    <p:animMotion origin="layout" path="M 0.01197 -0.00764 L 0.04444 -0.03261 C 0.05086 -0.03839 0.06128 -0.04094 0.07187 -0.04094 C 0.08402 -0.04094 0.09375 -0.03839 0.10069 -0.03261 L 0.1335 -0.00764 " pathEditMode="relative" rAng="0" ptsTypes="FffFF">
                                      <p:cBhvr>
                                        <p:cTn id="52" dur="2000" fill="hold"/>
                                        <p:tgtEl>
                                          <p:spTgt spid="65"/>
                                        </p:tgtEl>
                                        <p:attrNameLst>
                                          <p:attrName>ppt_x</p:attrName>
                                          <p:attrName>ppt_y</p:attrName>
                                        </p:attrNameLst>
                                      </p:cBhvr>
                                      <p:rCtr x="6076" y="-1665"/>
                                    </p:animMotion>
                                  </p:childTnLst>
                                </p:cTn>
                              </p:par>
                              <p:par>
                                <p:cTn id="53" presetID="37" presetClass="path" presetSubtype="0" accel="50000" decel="50000" fill="hold" grpId="1" nodeType="withEffect">
                                  <p:stCondLst>
                                    <p:cond delay="0"/>
                                  </p:stCondLst>
                                  <p:childTnLst>
                                    <p:animMotion origin="layout" path="M 2.5E-6 -4.87512E-6 L 0.03246 -0.02497 C 0.03889 -0.03075 0.0493 -0.0333 0.05989 -0.0333 C 0.07205 -0.0333 0.08177 -0.03075 0.08871 -0.02497 L 0.12153 -4.87512E-6 " pathEditMode="relative" rAng="0" ptsTypes="FffFF">
                                      <p:cBhvr>
                                        <p:cTn id="54" dur="2000" fill="hold"/>
                                        <p:tgtEl>
                                          <p:spTgt spid="66"/>
                                        </p:tgtEl>
                                        <p:attrNameLst>
                                          <p:attrName>ppt_x</p:attrName>
                                          <p:attrName>ppt_y</p:attrName>
                                        </p:attrNameLst>
                                      </p:cBhvr>
                                      <p:rCtr x="6076" y="-1665"/>
                                    </p:animMotion>
                                  </p:childTnLst>
                                </p:cTn>
                              </p:par>
                            </p:childTnLst>
                          </p:cTn>
                        </p:par>
                        <p:par>
                          <p:cTn id="55" fill="hold">
                            <p:stCondLst>
                              <p:cond delay="2000"/>
                            </p:stCondLst>
                            <p:childTnLst>
                              <p:par>
                                <p:cTn id="56" presetID="1" presetClass="exit" presetSubtype="0" fill="hold" grpId="2" nodeType="afterEffect">
                                  <p:stCondLst>
                                    <p:cond delay="0"/>
                                  </p:stCondLst>
                                  <p:childTnLst>
                                    <p:set>
                                      <p:cBhvr>
                                        <p:cTn id="57" dur="1" fill="hold">
                                          <p:stCondLst>
                                            <p:cond delay="0"/>
                                          </p:stCondLst>
                                        </p:cTn>
                                        <p:tgtEl>
                                          <p:spTgt spid="44"/>
                                        </p:tgtEl>
                                        <p:attrNameLst>
                                          <p:attrName>style.visibility</p:attrName>
                                        </p:attrNameLst>
                                      </p:cBhvr>
                                      <p:to>
                                        <p:strVal val="hidden"/>
                                      </p:to>
                                    </p:set>
                                  </p:childTnLst>
                                </p:cTn>
                              </p:par>
                              <p:par>
                                <p:cTn id="58" presetID="1" presetClass="exit" presetSubtype="0" fill="hold" grpId="2" nodeType="withEffect">
                                  <p:stCondLst>
                                    <p:cond delay="0"/>
                                  </p:stCondLst>
                                  <p:childTnLst>
                                    <p:set>
                                      <p:cBhvr>
                                        <p:cTn id="59" dur="1" fill="hold">
                                          <p:stCondLst>
                                            <p:cond delay="0"/>
                                          </p:stCondLst>
                                        </p:cTn>
                                        <p:tgtEl>
                                          <p:spTgt spid="45"/>
                                        </p:tgtEl>
                                        <p:attrNameLst>
                                          <p:attrName>style.visibility</p:attrName>
                                        </p:attrNameLst>
                                      </p:cBhvr>
                                      <p:to>
                                        <p:strVal val="hidden"/>
                                      </p:to>
                                    </p:set>
                                  </p:childTnLst>
                                </p:cTn>
                              </p:par>
                              <p:par>
                                <p:cTn id="60" presetID="1" presetClass="exit" presetSubtype="0" fill="hold" grpId="2" nodeType="withEffect">
                                  <p:stCondLst>
                                    <p:cond delay="0"/>
                                  </p:stCondLst>
                                  <p:childTnLst>
                                    <p:set>
                                      <p:cBhvr>
                                        <p:cTn id="61" dur="1" fill="hold">
                                          <p:stCondLst>
                                            <p:cond delay="0"/>
                                          </p:stCondLst>
                                        </p:cTn>
                                        <p:tgtEl>
                                          <p:spTgt spid="64"/>
                                        </p:tgtEl>
                                        <p:attrNameLst>
                                          <p:attrName>style.visibility</p:attrName>
                                        </p:attrNameLst>
                                      </p:cBhvr>
                                      <p:to>
                                        <p:strVal val="hidden"/>
                                      </p:to>
                                    </p:set>
                                  </p:childTnLst>
                                </p:cTn>
                              </p:par>
                              <p:par>
                                <p:cTn id="62" presetID="1" presetClass="exit" presetSubtype="0" fill="hold" grpId="2" nodeType="withEffect">
                                  <p:stCondLst>
                                    <p:cond delay="0"/>
                                  </p:stCondLst>
                                  <p:childTnLst>
                                    <p:set>
                                      <p:cBhvr>
                                        <p:cTn id="63" dur="1" fill="hold">
                                          <p:stCondLst>
                                            <p:cond delay="0"/>
                                          </p:stCondLst>
                                        </p:cTn>
                                        <p:tgtEl>
                                          <p:spTgt spid="66"/>
                                        </p:tgtEl>
                                        <p:attrNameLst>
                                          <p:attrName>style.visibility</p:attrName>
                                        </p:attrNameLst>
                                      </p:cBhvr>
                                      <p:to>
                                        <p:strVal val="hidden"/>
                                      </p:to>
                                    </p:set>
                                  </p:childTnLst>
                                </p:cTn>
                              </p:par>
                            </p:childTnLst>
                          </p:cTn>
                        </p:par>
                        <p:par>
                          <p:cTn id="64" fill="hold">
                            <p:stCondLst>
                              <p:cond delay="2000"/>
                            </p:stCondLst>
                            <p:childTnLst>
                              <p:par>
                                <p:cTn id="65" presetID="37" presetClass="path" presetSubtype="0" accel="50000" decel="50000" fill="hold" grpId="2" nodeType="afterEffect">
                                  <p:stCondLst>
                                    <p:cond delay="0"/>
                                  </p:stCondLst>
                                  <p:childTnLst>
                                    <p:animMotion origin="layout" path="M 0.12153 2.33117E-6 L 0.1533 -0.02267 C 0.1599 -0.02775 0.16997 -0.0303 0.18038 -0.0303 C 0.19219 -0.0303 0.20174 -0.02775 0.20834 -0.02267 L 0.24028 2.33117E-6 " pathEditMode="relative" rAng="0" ptsTypes="FffFF">
                                      <p:cBhvr>
                                        <p:cTn id="66" dur="2000" fill="hold"/>
                                        <p:tgtEl>
                                          <p:spTgt spid="94"/>
                                        </p:tgtEl>
                                        <p:attrNameLst>
                                          <p:attrName>ppt_x</p:attrName>
                                          <p:attrName>ppt_y</p:attrName>
                                        </p:attrNameLst>
                                      </p:cBhvr>
                                      <p:rCtr x="5937" y="-1526"/>
                                    </p:animMotion>
                                  </p:childTnLst>
                                </p:cTn>
                              </p:par>
                              <p:par>
                                <p:cTn id="67" presetID="37" presetClass="path" presetSubtype="0" accel="50000" decel="50000" fill="hold" grpId="2" nodeType="withEffect">
                                  <p:stCondLst>
                                    <p:cond delay="0"/>
                                  </p:stCondLst>
                                  <p:childTnLst>
                                    <p:animMotion origin="layout" path="M 0.13629 0.00463 L 0.16806 -0.01804 C 0.17466 -0.02312 0.18473 -0.02567 0.19514 -0.02567 C 0.20695 -0.02567 0.2165 -0.02312 0.22309 -0.01804 L 0.25504 0.00463 " pathEditMode="relative" rAng="0" ptsTypes="FffFF">
                                      <p:cBhvr>
                                        <p:cTn id="68" dur="2000" fill="hold"/>
                                        <p:tgtEl>
                                          <p:spTgt spid="42"/>
                                        </p:tgtEl>
                                        <p:attrNameLst>
                                          <p:attrName>ppt_x</p:attrName>
                                          <p:attrName>ppt_y</p:attrName>
                                        </p:attrNameLst>
                                      </p:cBhvr>
                                      <p:rCtr x="5937" y="-1526"/>
                                    </p:animMotion>
                                  </p:childTnLst>
                                </p:cTn>
                              </p:par>
                              <p:par>
                                <p:cTn id="69" presetID="37" presetClass="path" presetSubtype="0" accel="50000" decel="50000" fill="hold" grpId="2" nodeType="withEffect">
                                  <p:stCondLst>
                                    <p:cond delay="0"/>
                                  </p:stCondLst>
                                  <p:childTnLst>
                                    <p:animMotion origin="layout" path="M 0.12153 -2.32192E-6 L 0.1533 -0.02266 C 0.15989 -0.02775 0.16996 -0.03029 0.18038 -0.03029 C 0.19219 -0.03029 0.20174 -0.02775 0.20833 -0.02266 L 0.24028 -2.32192E-6 " pathEditMode="relative" rAng="0" ptsTypes="FffFF">
                                      <p:cBhvr>
                                        <p:cTn id="70" dur="2000" fill="hold"/>
                                        <p:tgtEl>
                                          <p:spTgt spid="43"/>
                                        </p:tgtEl>
                                        <p:attrNameLst>
                                          <p:attrName>ppt_x</p:attrName>
                                          <p:attrName>ppt_y</p:attrName>
                                        </p:attrNameLst>
                                      </p:cBhvr>
                                      <p:rCtr x="5937" y="-1526"/>
                                    </p:animMotion>
                                  </p:childTnLst>
                                </p:cTn>
                              </p:par>
                              <p:par>
                                <p:cTn id="71" presetID="37" presetClass="path" presetSubtype="0" accel="50000" decel="50000" fill="hold" grpId="2" nodeType="withEffect">
                                  <p:stCondLst>
                                    <p:cond delay="0"/>
                                  </p:stCondLst>
                                  <p:childTnLst>
                                    <p:animMotion origin="layout" path="M 0.12153 -4.96762E-6 L 0.1533 -0.02266 C 0.15989 -0.02775 0.16996 -0.03029 0.18038 -0.03029 C 0.19219 -0.03029 0.20173 -0.02775 0.20833 -0.02266 L 0.24028 -4.96762E-6 " pathEditMode="relative" rAng="0" ptsTypes="FffFF">
                                      <p:cBhvr>
                                        <p:cTn id="72" dur="2000" fill="hold"/>
                                        <p:tgtEl>
                                          <p:spTgt spid="69"/>
                                        </p:tgtEl>
                                        <p:attrNameLst>
                                          <p:attrName>ppt_x</p:attrName>
                                          <p:attrName>ppt_y</p:attrName>
                                        </p:attrNameLst>
                                      </p:cBhvr>
                                      <p:rCtr x="5937" y="-1526"/>
                                    </p:animMotion>
                                  </p:childTnLst>
                                </p:cTn>
                              </p:par>
                              <p:par>
                                <p:cTn id="73" presetID="37" presetClass="path" presetSubtype="0" accel="50000" decel="50000" fill="hold" grpId="2" nodeType="withEffect">
                                  <p:stCondLst>
                                    <p:cond delay="0"/>
                                  </p:stCondLst>
                                  <p:childTnLst>
                                    <p:animMotion origin="layout" path="M 0.12153 9.25069E-9 L 0.1533 -0.02266 C 0.15989 -0.02775 0.16996 -0.0303 0.18038 -0.0303 C 0.19219 -0.0303 0.20173 -0.02775 0.20833 -0.02266 L 0.24028 9.25069E-9 " pathEditMode="relative" rAng="0" ptsTypes="FffFF">
                                      <p:cBhvr>
                                        <p:cTn id="74" dur="2000" fill="hold"/>
                                        <p:tgtEl>
                                          <p:spTgt spid="70"/>
                                        </p:tgtEl>
                                        <p:attrNameLst>
                                          <p:attrName>ppt_x</p:attrName>
                                          <p:attrName>ppt_y</p:attrName>
                                        </p:attrNameLst>
                                      </p:cBhvr>
                                      <p:rCtr x="5937" y="-1526"/>
                                    </p:animMotion>
                                  </p:childTnLst>
                                </p:cTn>
                              </p:par>
                              <p:par>
                                <p:cTn id="75" presetID="37" presetClass="path" presetSubtype="0" accel="50000" decel="50000" fill="hold" grpId="2" nodeType="withEffect">
                                  <p:stCondLst>
                                    <p:cond delay="0"/>
                                  </p:stCondLst>
                                  <p:childTnLst>
                                    <p:animMotion origin="layout" path="M 0.12743 0.00416 L 0.15921 -0.0185 C 0.1658 -0.02359 0.17587 -0.02614 0.18629 -0.02614 C 0.19809 -0.02614 0.20764 -0.02359 0.21424 -0.0185 L 0.24618 0.00416 " pathEditMode="relative" rAng="0" ptsTypes="FffFF">
                                      <p:cBhvr>
                                        <p:cTn id="76" dur="2000" fill="hold"/>
                                        <p:tgtEl>
                                          <p:spTgt spid="63"/>
                                        </p:tgtEl>
                                        <p:attrNameLst>
                                          <p:attrName>ppt_x</p:attrName>
                                          <p:attrName>ppt_y</p:attrName>
                                        </p:attrNameLst>
                                      </p:cBhvr>
                                      <p:rCtr x="5937" y="-1526"/>
                                    </p:animMotion>
                                  </p:childTnLst>
                                </p:cTn>
                              </p:par>
                              <p:par>
                                <p:cTn id="77" presetID="37" presetClass="path" presetSubtype="0" accel="50000" decel="50000" fill="hold" grpId="2" nodeType="withEffect">
                                  <p:stCondLst>
                                    <p:cond delay="0"/>
                                  </p:stCondLst>
                                  <p:childTnLst>
                                    <p:animMotion origin="layout" path="M 0.12152 -2.0629E-6 L 0.15329 -0.02266 C 0.15989 -0.02775 0.16996 -0.03029 0.18038 -0.03029 C 0.19218 -0.03029 0.20173 -0.02775 0.20833 -0.02266 L 0.24027 -2.0629E-6 " pathEditMode="relative" rAng="0" ptsTypes="FffFF">
                                      <p:cBhvr>
                                        <p:cTn id="78" dur="2000" fill="hold"/>
                                        <p:tgtEl>
                                          <p:spTgt spid="71"/>
                                        </p:tgtEl>
                                        <p:attrNameLst>
                                          <p:attrName>ppt_x</p:attrName>
                                          <p:attrName>ppt_y</p:attrName>
                                        </p:attrNameLst>
                                      </p:cBhvr>
                                      <p:rCtr x="5937" y="-1526"/>
                                    </p:animMotion>
                                  </p:childTnLst>
                                </p:cTn>
                              </p:par>
                              <p:par>
                                <p:cTn id="79" presetID="37" presetClass="path" presetSubtype="0" accel="50000" decel="50000" fill="hold" grpId="2" nodeType="withEffect">
                                  <p:stCondLst>
                                    <p:cond delay="0"/>
                                  </p:stCondLst>
                                  <p:childTnLst>
                                    <p:animMotion origin="layout" path="M 0.13351 -0.00763 L 0.16528 -0.03029 C 0.17188 -0.03538 0.18195 -0.03792 0.19237 -0.03792 C 0.20417 -0.03792 0.21372 -0.03538 0.22032 -0.03029 L 0.25226 -0.00763 " pathEditMode="relative" rAng="0" ptsTypes="FffFF">
                                      <p:cBhvr>
                                        <p:cTn id="80" dur="2000" fill="hold"/>
                                        <p:tgtEl>
                                          <p:spTgt spid="65"/>
                                        </p:tgtEl>
                                        <p:attrNameLst>
                                          <p:attrName>ppt_x</p:attrName>
                                          <p:attrName>ppt_y</p:attrName>
                                        </p:attrNameLst>
                                      </p:cBhvr>
                                      <p:rCtr x="5937" y="-1526"/>
                                    </p:animMotion>
                                  </p:childTnLst>
                                </p:cTn>
                              </p:par>
                            </p:childTnLst>
                          </p:cTn>
                        </p:par>
                        <p:par>
                          <p:cTn id="81" fill="hold">
                            <p:stCondLst>
                              <p:cond delay="4000"/>
                            </p:stCondLst>
                            <p:childTnLst>
                              <p:par>
                                <p:cTn id="82" presetID="1" presetClass="exit" presetSubtype="0" fill="hold" grpId="3" nodeType="afterEffect">
                                  <p:stCondLst>
                                    <p:cond delay="0"/>
                                  </p:stCondLst>
                                  <p:childTnLst>
                                    <p:set>
                                      <p:cBhvr>
                                        <p:cTn id="83" dur="1" fill="hold">
                                          <p:stCondLst>
                                            <p:cond delay="0"/>
                                          </p:stCondLst>
                                        </p:cTn>
                                        <p:tgtEl>
                                          <p:spTgt spid="43"/>
                                        </p:tgtEl>
                                        <p:attrNameLst>
                                          <p:attrName>style.visibility</p:attrName>
                                        </p:attrNameLst>
                                      </p:cBhvr>
                                      <p:to>
                                        <p:strVal val="hidden"/>
                                      </p:to>
                                    </p:set>
                                  </p:childTnLst>
                                </p:cTn>
                              </p:par>
                              <p:par>
                                <p:cTn id="84" presetID="1" presetClass="exit" presetSubtype="0" fill="hold" grpId="3" nodeType="withEffect">
                                  <p:stCondLst>
                                    <p:cond delay="0"/>
                                  </p:stCondLst>
                                  <p:childTnLst>
                                    <p:set>
                                      <p:cBhvr>
                                        <p:cTn id="85" dur="1" fill="hold">
                                          <p:stCondLst>
                                            <p:cond delay="0"/>
                                          </p:stCondLst>
                                        </p:cTn>
                                        <p:tgtEl>
                                          <p:spTgt spid="69"/>
                                        </p:tgtEl>
                                        <p:attrNameLst>
                                          <p:attrName>style.visibility</p:attrName>
                                        </p:attrNameLst>
                                      </p:cBhvr>
                                      <p:to>
                                        <p:strVal val="hidden"/>
                                      </p:to>
                                    </p:set>
                                  </p:childTnLst>
                                </p:cTn>
                              </p:par>
                              <p:par>
                                <p:cTn id="86" presetID="1" presetClass="exit" presetSubtype="0" fill="hold" grpId="3" nodeType="withEffect">
                                  <p:stCondLst>
                                    <p:cond delay="0"/>
                                  </p:stCondLst>
                                  <p:childTnLst>
                                    <p:set>
                                      <p:cBhvr>
                                        <p:cTn id="87" dur="1" fill="hold">
                                          <p:stCondLst>
                                            <p:cond delay="0"/>
                                          </p:stCondLst>
                                        </p:cTn>
                                        <p:tgtEl>
                                          <p:spTgt spid="63"/>
                                        </p:tgtEl>
                                        <p:attrNameLst>
                                          <p:attrName>style.visibility</p:attrName>
                                        </p:attrNameLst>
                                      </p:cBhvr>
                                      <p:to>
                                        <p:strVal val="hidden"/>
                                      </p:to>
                                    </p:set>
                                  </p:childTnLst>
                                </p:cTn>
                              </p:par>
                              <p:par>
                                <p:cTn id="88" presetID="1" presetClass="exit" presetSubtype="0" fill="hold" grpId="3" nodeType="withEffect">
                                  <p:stCondLst>
                                    <p:cond delay="0"/>
                                  </p:stCondLst>
                                  <p:childTnLst>
                                    <p:set>
                                      <p:cBhvr>
                                        <p:cTn id="89" dur="1" fill="hold">
                                          <p:stCondLst>
                                            <p:cond delay="0"/>
                                          </p:stCondLst>
                                        </p:cTn>
                                        <p:tgtEl>
                                          <p:spTgt spid="65"/>
                                        </p:tgtEl>
                                        <p:attrNameLst>
                                          <p:attrName>style.visibility</p:attrName>
                                        </p:attrNameLst>
                                      </p:cBhvr>
                                      <p:to>
                                        <p:strVal val="hidden"/>
                                      </p:to>
                                    </p:set>
                                  </p:childTnLst>
                                </p:cTn>
                              </p:par>
                            </p:childTnLst>
                          </p:cTn>
                        </p:par>
                        <p:par>
                          <p:cTn id="90" fill="hold">
                            <p:stCondLst>
                              <p:cond delay="4000"/>
                            </p:stCondLst>
                            <p:childTnLst>
                              <p:par>
                                <p:cTn id="91" presetID="37" presetClass="path" presetSubtype="0" accel="50000" decel="50000" fill="hold" grpId="3" nodeType="afterEffect">
                                  <p:stCondLst>
                                    <p:cond delay="0"/>
                                  </p:stCondLst>
                                  <p:childTnLst>
                                    <p:animMotion origin="layout" path="M 0.24306 2.33117E-6 L 0.27483 -0.03099 C 0.28143 -0.0377 0.2915 -0.0414 0.30174 -0.0414 C 0.31372 -0.0414 0.32309 -0.0377 0.32986 -0.03099 L 0.36181 2.33117E-6 " pathEditMode="relative" rAng="0" ptsTypes="FffFF">
                                      <p:cBhvr>
                                        <p:cTn id="92" dur="2000" fill="hold"/>
                                        <p:tgtEl>
                                          <p:spTgt spid="94"/>
                                        </p:tgtEl>
                                        <p:attrNameLst>
                                          <p:attrName>ppt_x</p:attrName>
                                          <p:attrName>ppt_y</p:attrName>
                                        </p:attrNameLst>
                                      </p:cBhvr>
                                      <p:rCtr x="5937" y="-2081"/>
                                    </p:animMotion>
                                  </p:childTnLst>
                                </p:cTn>
                              </p:par>
                              <p:par>
                                <p:cTn id="93" presetID="37" presetClass="path" presetSubtype="0" accel="50000" decel="50000" fill="hold" grpId="3" nodeType="withEffect">
                                  <p:stCondLst>
                                    <p:cond delay="0"/>
                                  </p:stCondLst>
                                  <p:childTnLst>
                                    <p:animMotion origin="layout" path="M 0.23959 -2.32192E-6 L 0.27136 -0.03099 C 0.27795 -0.03769 0.28802 -0.04139 0.29827 -0.04139 C 0.31025 -0.04139 0.31962 -0.03769 0.32639 -0.03099 L 0.35834 -2.32192E-6 " pathEditMode="relative" rAng="0" ptsTypes="FffFF">
                                      <p:cBhvr>
                                        <p:cTn id="94" dur="2000" fill="hold"/>
                                        <p:tgtEl>
                                          <p:spTgt spid="42"/>
                                        </p:tgtEl>
                                        <p:attrNameLst>
                                          <p:attrName>ppt_x</p:attrName>
                                          <p:attrName>ppt_y</p:attrName>
                                        </p:attrNameLst>
                                      </p:cBhvr>
                                      <p:rCtr x="5937" y="-2081"/>
                                    </p:animMotion>
                                  </p:childTnLst>
                                </p:cTn>
                              </p:par>
                              <p:par>
                                <p:cTn id="95" presetID="37" presetClass="path" presetSubtype="0" accel="50000" decel="50000" fill="hold" grpId="3" nodeType="withEffect">
                                  <p:stCondLst>
                                    <p:cond delay="0"/>
                                  </p:stCondLst>
                                  <p:childTnLst>
                                    <p:animMotion origin="layout" path="M 0.24305 9.25069E-9 L 0.27483 -0.03099 C 0.28142 -0.0377 0.29149 -0.0414 0.30173 -0.0414 C 0.31371 -0.0414 0.32309 -0.0377 0.32986 -0.03099 L 0.3618 9.25069E-9 " pathEditMode="relative" rAng="0" ptsTypes="FffFF">
                                      <p:cBhvr>
                                        <p:cTn id="96" dur="2000" fill="hold"/>
                                        <p:tgtEl>
                                          <p:spTgt spid="70"/>
                                        </p:tgtEl>
                                        <p:attrNameLst>
                                          <p:attrName>ppt_x</p:attrName>
                                          <p:attrName>ppt_y</p:attrName>
                                        </p:attrNameLst>
                                      </p:cBhvr>
                                      <p:rCtr x="5937" y="-2081"/>
                                    </p:animMotion>
                                  </p:childTnLst>
                                </p:cTn>
                              </p:par>
                              <p:par>
                                <p:cTn id="97" presetID="37" presetClass="path" presetSubtype="0" accel="50000" decel="50000" fill="hold" grpId="3" nodeType="withEffect">
                                  <p:stCondLst>
                                    <p:cond delay="0"/>
                                  </p:stCondLst>
                                  <p:childTnLst>
                                    <p:animMotion origin="layout" path="M 0.24305 -2.0629E-6 L 0.27482 -0.03099 C 0.28142 -0.03769 0.29149 -0.04139 0.30173 -0.04139 C 0.31371 -0.04139 0.32309 -0.03769 0.32986 -0.03099 L 0.3618 -2.0629E-6 " pathEditMode="relative" rAng="0" ptsTypes="FffFF">
                                      <p:cBhvr>
                                        <p:cTn id="98" dur="2000" fill="hold"/>
                                        <p:tgtEl>
                                          <p:spTgt spid="71"/>
                                        </p:tgtEl>
                                        <p:attrNameLst>
                                          <p:attrName>ppt_x</p:attrName>
                                          <p:attrName>ppt_y</p:attrName>
                                        </p:attrNameLst>
                                      </p:cBhvr>
                                      <p:rCtr x="5937" y="-2081"/>
                                    </p:animMotion>
                                  </p:childTnLst>
                                </p:cTn>
                              </p:par>
                            </p:childTnLst>
                          </p:cTn>
                        </p:par>
                        <p:par>
                          <p:cTn id="99" fill="hold">
                            <p:stCondLst>
                              <p:cond delay="6000"/>
                            </p:stCondLst>
                            <p:childTnLst>
                              <p:par>
                                <p:cTn id="100" presetID="1" presetClass="exit" presetSubtype="0" fill="hold" grpId="4" nodeType="afterEffect">
                                  <p:stCondLst>
                                    <p:cond delay="0"/>
                                  </p:stCondLst>
                                  <p:childTnLst>
                                    <p:set>
                                      <p:cBhvr>
                                        <p:cTn id="101" dur="1" fill="hold">
                                          <p:stCondLst>
                                            <p:cond delay="0"/>
                                          </p:stCondLst>
                                        </p:cTn>
                                        <p:tgtEl>
                                          <p:spTgt spid="42"/>
                                        </p:tgtEl>
                                        <p:attrNameLst>
                                          <p:attrName>style.visibility</p:attrName>
                                        </p:attrNameLst>
                                      </p:cBhvr>
                                      <p:to>
                                        <p:strVal val="hidden"/>
                                      </p:to>
                                    </p:set>
                                  </p:childTnLst>
                                </p:cTn>
                              </p:par>
                              <p:par>
                                <p:cTn id="102" presetID="1" presetClass="exit" presetSubtype="0" fill="hold" grpId="4" nodeType="withEffect">
                                  <p:stCondLst>
                                    <p:cond delay="0"/>
                                  </p:stCondLst>
                                  <p:childTnLst>
                                    <p:set>
                                      <p:cBhvr>
                                        <p:cTn id="103" dur="1" fill="hold">
                                          <p:stCondLst>
                                            <p:cond delay="0"/>
                                          </p:stCondLst>
                                        </p:cTn>
                                        <p:tgtEl>
                                          <p:spTgt spid="70"/>
                                        </p:tgtEl>
                                        <p:attrNameLst>
                                          <p:attrName>style.visibility</p:attrName>
                                        </p:attrNameLst>
                                      </p:cBhvr>
                                      <p:to>
                                        <p:strVal val="hidden"/>
                                      </p:to>
                                    </p:set>
                                  </p:childTnLst>
                                </p:cTn>
                              </p:par>
                              <p:par>
                                <p:cTn id="104" presetID="1" presetClass="exit" presetSubtype="0" fill="hold" grpId="4" nodeType="withEffect">
                                  <p:stCondLst>
                                    <p:cond delay="0"/>
                                  </p:stCondLst>
                                  <p:childTnLst>
                                    <p:set>
                                      <p:cBhvr>
                                        <p:cTn id="105" dur="1" fill="hold">
                                          <p:stCondLst>
                                            <p:cond delay="0"/>
                                          </p:stCondLst>
                                        </p:cTn>
                                        <p:tgtEl>
                                          <p:spTgt spid="71"/>
                                        </p:tgtEl>
                                        <p:attrNameLst>
                                          <p:attrName>style.visibility</p:attrName>
                                        </p:attrNameLst>
                                      </p:cBhvr>
                                      <p:to>
                                        <p:strVal val="hidden"/>
                                      </p:to>
                                    </p:set>
                                  </p:childTnLst>
                                </p:cTn>
                              </p:par>
                            </p:childTnLst>
                          </p:cTn>
                        </p:par>
                        <p:par>
                          <p:cTn id="106" fill="hold">
                            <p:stCondLst>
                              <p:cond delay="6000"/>
                            </p:stCondLst>
                            <p:childTnLst>
                              <p:par>
                                <p:cTn id="107" presetID="37" presetClass="path" presetSubtype="0" accel="50000" decel="50000" fill="hold" grpId="4" nodeType="afterEffect">
                                  <p:stCondLst>
                                    <p:cond delay="0"/>
                                  </p:stCondLst>
                                  <p:childTnLst>
                                    <p:animMotion origin="layout" path="M 0.34636 -0.00463 L 0.37587 -0.03215 C 0.38212 -0.03816 0.39132 -0.0414 0.40104 -0.0414 C 0.41198 -0.0414 0.42084 -0.03816 0.42709 -0.03215 L 0.45677 -0.00463 " pathEditMode="relative" rAng="0" ptsTypes="FffFF">
                                      <p:cBhvr>
                                        <p:cTn id="108" dur="2000" fill="hold"/>
                                        <p:tgtEl>
                                          <p:spTgt spid="94"/>
                                        </p:tgtEl>
                                        <p:attrNameLst>
                                          <p:attrName>ppt_x</p:attrName>
                                          <p:attrName>ppt_y</p:attrName>
                                        </p:attrNameLst>
                                      </p:cBhvr>
                                      <p:rCtr x="5521" y="-1850"/>
                                    </p:animMotion>
                                  </p:childTnLst>
                                </p:cTn>
                              </p:par>
                            </p:childTnLst>
                          </p:cTn>
                        </p:par>
                        <p:par>
                          <p:cTn id="109" fill="hold">
                            <p:stCondLst>
                              <p:cond delay="8000"/>
                            </p:stCondLst>
                            <p:childTnLst>
                              <p:par>
                                <p:cTn id="110" presetID="1" presetClass="exit" presetSubtype="0" fill="hold" grpId="5" nodeType="afterEffect">
                                  <p:stCondLst>
                                    <p:cond delay="0"/>
                                  </p:stCondLst>
                                  <p:childTnLst>
                                    <p:set>
                                      <p:cBhvr>
                                        <p:cTn id="111" dur="1" fill="hold">
                                          <p:stCondLst>
                                            <p:cond delay="0"/>
                                          </p:stCondLst>
                                        </p:cTn>
                                        <p:tgtEl>
                                          <p:spTgt spid="94"/>
                                        </p:tgtEl>
                                        <p:attrNameLst>
                                          <p:attrName>style.visibility</p:attrName>
                                        </p:attrNameLst>
                                      </p:cBhvr>
                                      <p:to>
                                        <p:strVal val="hidden"/>
                                      </p:to>
                                    </p:set>
                                  </p:childTnLst>
                                </p:cTn>
                              </p:par>
                            </p:childTnLst>
                          </p:cTn>
                        </p:par>
                      </p:childTnLst>
                    </p:cTn>
                  </p:par>
                  <p:par>
                    <p:cTn id="112" fill="hold">
                      <p:stCondLst>
                        <p:cond delay="indefinite"/>
                      </p:stCondLst>
                      <p:childTnLst>
                        <p:par>
                          <p:cTn id="113" fill="hold">
                            <p:stCondLst>
                              <p:cond delay="0"/>
                            </p:stCondLst>
                            <p:childTnLst>
                              <p:par>
                                <p:cTn id="114" presetID="42" presetClass="entr" presetSubtype="0" fill="hold" grpId="0" nodeType="clickEffect">
                                  <p:stCondLst>
                                    <p:cond delay="0"/>
                                  </p:stCondLst>
                                  <p:childTnLst>
                                    <p:set>
                                      <p:cBhvr>
                                        <p:cTn id="115" dur="1" fill="hold">
                                          <p:stCondLst>
                                            <p:cond delay="0"/>
                                          </p:stCondLst>
                                        </p:cTn>
                                        <p:tgtEl>
                                          <p:spTgt spid="6"/>
                                        </p:tgtEl>
                                        <p:attrNameLst>
                                          <p:attrName>style.visibility</p:attrName>
                                        </p:attrNameLst>
                                      </p:cBhvr>
                                      <p:to>
                                        <p:strVal val="visible"/>
                                      </p:to>
                                    </p:set>
                                    <p:animEffect transition="in" filter="fade">
                                      <p:cBhvr>
                                        <p:cTn id="116" dur="1000"/>
                                        <p:tgtEl>
                                          <p:spTgt spid="6"/>
                                        </p:tgtEl>
                                      </p:cBhvr>
                                    </p:animEffect>
                                    <p:anim calcmode="lin" valueType="num">
                                      <p:cBhvr>
                                        <p:cTn id="117" dur="1000" fill="hold"/>
                                        <p:tgtEl>
                                          <p:spTgt spid="6"/>
                                        </p:tgtEl>
                                        <p:attrNameLst>
                                          <p:attrName>ppt_x</p:attrName>
                                        </p:attrNameLst>
                                      </p:cBhvr>
                                      <p:tavLst>
                                        <p:tav tm="0">
                                          <p:val>
                                            <p:strVal val="#ppt_x"/>
                                          </p:val>
                                        </p:tav>
                                        <p:tav tm="100000">
                                          <p:val>
                                            <p:strVal val="#ppt_x"/>
                                          </p:val>
                                        </p:tav>
                                      </p:tavLst>
                                    </p:anim>
                                    <p:anim calcmode="lin" valueType="num">
                                      <p:cBhvr>
                                        <p:cTn id="118" dur="1000" fill="hold"/>
                                        <p:tgtEl>
                                          <p:spTgt spid="6"/>
                                        </p:tgtEl>
                                        <p:attrNameLst>
                                          <p:attrName>ppt_y</p:attrName>
                                        </p:attrNameLst>
                                      </p:cBhvr>
                                      <p:tavLst>
                                        <p:tav tm="0">
                                          <p:val>
                                            <p:strVal val="#ppt_y+.1"/>
                                          </p:val>
                                        </p:tav>
                                        <p:tav tm="100000">
                                          <p:val>
                                            <p:strVal val="#ppt_y"/>
                                          </p:val>
                                        </p:tav>
                                      </p:tavLst>
                                    </p:anim>
                                  </p:childTnLst>
                                </p:cTn>
                              </p:par>
                              <p:par>
                                <p:cTn id="119" presetID="42" presetClass="entr" presetSubtype="0" fill="hold" grpId="0" nodeType="withEffect">
                                  <p:stCondLst>
                                    <p:cond delay="0"/>
                                  </p:stCondLst>
                                  <p:childTnLst>
                                    <p:set>
                                      <p:cBhvr>
                                        <p:cTn id="120" dur="1" fill="hold">
                                          <p:stCondLst>
                                            <p:cond delay="0"/>
                                          </p:stCondLst>
                                        </p:cTn>
                                        <p:tgtEl>
                                          <p:spTgt spid="68"/>
                                        </p:tgtEl>
                                        <p:attrNameLst>
                                          <p:attrName>style.visibility</p:attrName>
                                        </p:attrNameLst>
                                      </p:cBhvr>
                                      <p:to>
                                        <p:strVal val="visible"/>
                                      </p:to>
                                    </p:set>
                                    <p:animEffect transition="in" filter="fade">
                                      <p:cBhvr>
                                        <p:cTn id="121" dur="1000"/>
                                        <p:tgtEl>
                                          <p:spTgt spid="68"/>
                                        </p:tgtEl>
                                      </p:cBhvr>
                                    </p:animEffect>
                                    <p:anim calcmode="lin" valueType="num">
                                      <p:cBhvr>
                                        <p:cTn id="122" dur="1000" fill="hold"/>
                                        <p:tgtEl>
                                          <p:spTgt spid="68"/>
                                        </p:tgtEl>
                                        <p:attrNameLst>
                                          <p:attrName>ppt_x</p:attrName>
                                        </p:attrNameLst>
                                      </p:cBhvr>
                                      <p:tavLst>
                                        <p:tav tm="0">
                                          <p:val>
                                            <p:strVal val="#ppt_x"/>
                                          </p:val>
                                        </p:tav>
                                        <p:tav tm="100000">
                                          <p:val>
                                            <p:strVal val="#ppt_x"/>
                                          </p:val>
                                        </p:tav>
                                      </p:tavLst>
                                    </p:anim>
                                    <p:anim calcmode="lin" valueType="num">
                                      <p:cBhvr>
                                        <p:cTn id="123" dur="1000" fill="hold"/>
                                        <p:tgtEl>
                                          <p:spTgt spid="68"/>
                                        </p:tgtEl>
                                        <p:attrNameLst>
                                          <p:attrName>ppt_y</p:attrName>
                                        </p:attrNameLst>
                                      </p:cBhvr>
                                      <p:tavLst>
                                        <p:tav tm="0">
                                          <p:val>
                                            <p:strVal val="#ppt_y+.1"/>
                                          </p:val>
                                        </p:tav>
                                        <p:tav tm="100000">
                                          <p:val>
                                            <p:strVal val="#ppt_y"/>
                                          </p:val>
                                        </p:tav>
                                      </p:tavLst>
                                    </p:anim>
                                  </p:childTnLst>
                                </p:cTn>
                              </p:par>
                            </p:childTnLst>
                          </p:cTn>
                        </p:par>
                      </p:childTnLst>
                    </p:cTn>
                  </p:par>
                  <p:par>
                    <p:cTn id="124" fill="hold">
                      <p:stCondLst>
                        <p:cond delay="indefinite"/>
                      </p:stCondLst>
                      <p:childTnLst>
                        <p:par>
                          <p:cTn id="125" fill="hold">
                            <p:stCondLst>
                              <p:cond delay="0"/>
                            </p:stCondLst>
                            <p:childTnLst>
                              <p:par>
                                <p:cTn id="126" presetID="1" presetClass="exit" presetSubtype="0" fill="hold" grpId="1" nodeType="clickEffect">
                                  <p:stCondLst>
                                    <p:cond delay="0"/>
                                  </p:stCondLst>
                                  <p:childTnLst>
                                    <p:set>
                                      <p:cBhvr>
                                        <p:cTn id="127" dur="1" fill="hold">
                                          <p:stCondLst>
                                            <p:cond delay="0"/>
                                          </p:stCondLst>
                                        </p:cTn>
                                        <p:tgtEl>
                                          <p:spTgt spid="6"/>
                                        </p:tgtEl>
                                        <p:attrNameLst>
                                          <p:attrName>style.visibility</p:attrName>
                                        </p:attrNameLst>
                                      </p:cBhvr>
                                      <p:to>
                                        <p:strVal val="hidden"/>
                                      </p:to>
                                    </p:set>
                                  </p:childTnLst>
                                </p:cTn>
                              </p:par>
                              <p:par>
                                <p:cTn id="128" presetID="1" presetClass="entr" presetSubtype="0" fill="hold" grpId="0" nodeType="withEffect">
                                  <p:stCondLst>
                                    <p:cond delay="0"/>
                                  </p:stCondLst>
                                  <p:childTnLst>
                                    <p:set>
                                      <p:cBhvr>
                                        <p:cTn id="129"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animBg="1"/>
      <p:bldP spid="94" grpId="1" animBg="1"/>
      <p:bldP spid="94" grpId="2" animBg="1"/>
      <p:bldP spid="94" grpId="3" animBg="1"/>
      <p:bldP spid="94" grpId="4" animBg="1"/>
      <p:bldP spid="94" grpId="5" animBg="1"/>
      <p:bldP spid="69" grpId="0" animBg="1"/>
      <p:bldP spid="69" grpId="1" animBg="1"/>
      <p:bldP spid="69" grpId="2" animBg="1"/>
      <p:bldP spid="69" grpId="3" animBg="1"/>
      <p:bldP spid="70" grpId="0" animBg="1"/>
      <p:bldP spid="70" grpId="1" animBg="1"/>
      <p:bldP spid="70" grpId="2" animBg="1"/>
      <p:bldP spid="70" grpId="3" animBg="1"/>
      <p:bldP spid="70" grpId="4" animBg="1"/>
      <p:bldP spid="71" grpId="0" animBg="1"/>
      <p:bldP spid="71" grpId="1" animBg="1"/>
      <p:bldP spid="71" grpId="2" animBg="1"/>
      <p:bldP spid="71" grpId="3" animBg="1"/>
      <p:bldP spid="71" grpId="4" animBg="1"/>
      <p:bldP spid="42" grpId="0" animBg="1"/>
      <p:bldP spid="42" grpId="1" animBg="1"/>
      <p:bldP spid="42" grpId="2" animBg="1"/>
      <p:bldP spid="42" grpId="3" animBg="1"/>
      <p:bldP spid="42" grpId="4" animBg="1"/>
      <p:bldP spid="43" grpId="0" animBg="1"/>
      <p:bldP spid="43" grpId="1" animBg="1"/>
      <p:bldP spid="43" grpId="2" animBg="1"/>
      <p:bldP spid="43" grpId="3" animBg="1"/>
      <p:bldP spid="44" grpId="0" animBg="1"/>
      <p:bldP spid="44" grpId="1" animBg="1"/>
      <p:bldP spid="44" grpId="2" animBg="1"/>
      <p:bldP spid="45" grpId="0" animBg="1"/>
      <p:bldP spid="45" grpId="1" animBg="1"/>
      <p:bldP spid="45" grpId="2" animBg="1"/>
      <p:bldP spid="63" grpId="0" animBg="1"/>
      <p:bldP spid="63" grpId="1" animBg="1"/>
      <p:bldP spid="63" grpId="2" animBg="1"/>
      <p:bldP spid="63" grpId="3" animBg="1"/>
      <p:bldP spid="64" grpId="0" animBg="1"/>
      <p:bldP spid="64" grpId="1" animBg="1"/>
      <p:bldP spid="64" grpId="2" animBg="1"/>
      <p:bldP spid="65" grpId="0" animBg="1"/>
      <p:bldP spid="65" grpId="1" animBg="1"/>
      <p:bldP spid="65" grpId="2" animBg="1"/>
      <p:bldP spid="65" grpId="3" animBg="1"/>
      <p:bldP spid="66" grpId="0" animBg="1"/>
      <p:bldP spid="66" grpId="1" animBg="1"/>
      <p:bldP spid="66" grpId="2" animBg="1"/>
      <p:bldP spid="68" grpId="0"/>
      <p:bldP spid="72" grpId="0"/>
      <p:bldP spid="6" grpId="0"/>
      <p:bldP spid="6"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Building a Regular Model</a:t>
            </a:r>
            <a:endParaRPr lang="zh-CN" altLang="en-US" dirty="0"/>
          </a:p>
        </p:txBody>
      </p:sp>
      <mc:AlternateContent xmlns:mc="http://schemas.openxmlformats.org/markup-compatibility/2006" xmlns:a14="http://schemas.microsoft.com/office/drawing/2010/main">
        <mc:Choice Requires="a14">
          <p:sp>
            <p:nvSpPr>
              <p:cNvPr id="5" name="TextBox 4"/>
              <p:cNvSpPr txBox="1"/>
              <p:nvPr/>
            </p:nvSpPr>
            <p:spPr>
              <a:xfrm>
                <a:off x="533400" y="1277154"/>
                <a:ext cx="5334000" cy="3231654"/>
              </a:xfrm>
              <a:prstGeom prst="rect">
                <a:avLst/>
              </a:prstGeom>
              <a:noFill/>
            </p:spPr>
            <p:txBody>
              <a:bodyPr wrap="square" rtlCol="0">
                <a:spAutoFit/>
              </a:bodyPr>
              <a:lstStyle/>
              <a:p>
                <a:r>
                  <a:rPr lang="en-US" sz="2400" dirty="0"/>
                  <a:t>Event pairs</a:t>
                </a:r>
                <a:r>
                  <a:rPr lang="en-US" dirty="0"/>
                  <a:t>:</a:t>
                </a:r>
                <a14:m>
                  <m:oMath xmlns:m="http://schemas.openxmlformats.org/officeDocument/2006/math">
                    <m:r>
                      <a:rPr lang="en-US" b="0" i="0" smtClean="0">
                        <a:latin typeface="Cambria Math"/>
                      </a:rPr>
                      <m:t> </m:t>
                    </m:r>
                  </m:oMath>
                </a14:m>
                <a:endParaRPr lang="en-US" b="0" i="0" dirty="0">
                  <a:latin typeface="Cambria Math"/>
                </a:endParaRPr>
              </a:p>
              <a:p>
                <a14:m>
                  <m:oMath xmlns:m="http://schemas.openxmlformats.org/officeDocument/2006/math">
                    <m:r>
                      <a:rPr lang="en-US" b="0" i="1" smtClean="0">
                        <a:latin typeface="Cambria Math"/>
                      </a:rPr>
                      <m:t>(</m:t>
                    </m:r>
                    <m:r>
                      <a:rPr lang="en-US" b="0" i="1" smtClean="0">
                        <a:latin typeface="Cambria Math"/>
                      </a:rPr>
                      <m:t>𝑎</m:t>
                    </m:r>
                    <m:r>
                      <a:rPr lang="en-US" b="0" i="1" smtClean="0">
                        <a:latin typeface="Cambria Math"/>
                      </a:rPr>
                      <m:t>,</m:t>
                    </m:r>
                    <m:r>
                      <a:rPr lang="en-US" b="0" i="1" smtClean="0">
                        <a:latin typeface="Cambria Math"/>
                      </a:rPr>
                      <m:t>𝑏</m:t>
                    </m:r>
                    <m:r>
                      <a:rPr lang="en-US" b="0" i="1" smtClean="0">
                        <a:latin typeface="Cambria Math"/>
                      </a:rPr>
                      <m:t>)</m:t>
                    </m:r>
                  </m:oMath>
                </a14:m>
                <a:r>
                  <a:rPr lang="en-US" dirty="0"/>
                  <a:t>,</a:t>
                </a:r>
                <a14:m>
                  <m:oMath xmlns:m="http://schemas.openxmlformats.org/officeDocument/2006/math">
                    <m:r>
                      <a:rPr lang="en-US" b="0" i="0" smtClean="0">
                        <a:latin typeface="Cambria Math"/>
                      </a:rPr>
                      <m:t> </m:t>
                    </m:r>
                    <m:r>
                      <a:rPr lang="en-US" b="0" i="1" smtClean="0">
                        <a:latin typeface="Cambria Math"/>
                      </a:rPr>
                      <m:t> (</m:t>
                    </m:r>
                    <m:r>
                      <a:rPr lang="en-US" b="0" i="1" smtClean="0">
                        <a:latin typeface="Cambria Math"/>
                      </a:rPr>
                      <m:t>𝑏</m:t>
                    </m:r>
                    <m:r>
                      <a:rPr lang="en-US" b="0" i="1" smtClean="0">
                        <a:latin typeface="Cambria Math"/>
                      </a:rPr>
                      <m:t>,</m:t>
                    </m:r>
                    <m:r>
                      <a:rPr lang="en-US" b="0" i="1" smtClean="0">
                        <a:latin typeface="Cambria Math"/>
                      </a:rPr>
                      <m:t>𝑐</m:t>
                    </m:r>
                    <m:r>
                      <m:rPr>
                        <m:nor/>
                      </m:rPr>
                      <a:rPr lang="en-US" dirty="0"/>
                      <m:t>),</m:t>
                    </m:r>
                    <m:r>
                      <m:rPr>
                        <m:nor/>
                      </m:rPr>
                      <a:rPr lang="en-US" b="0" i="0" dirty="0" smtClean="0"/>
                      <m:t> </m:t>
                    </m:r>
                    <m:d>
                      <m:dPr>
                        <m:ctrlPr>
                          <a:rPr lang="en-US" i="1">
                            <a:latin typeface="Cambria Math" panose="02040503050406030204" pitchFamily="18" charset="0"/>
                          </a:rPr>
                        </m:ctrlPr>
                      </m:dPr>
                      <m:e>
                        <m:r>
                          <a:rPr lang="en-US" i="1">
                            <a:latin typeface="Cambria Math"/>
                          </a:rPr>
                          <m:t>𝑏</m:t>
                        </m:r>
                        <m:r>
                          <a:rPr lang="en-US" i="1">
                            <a:latin typeface="Cambria Math"/>
                          </a:rPr>
                          <m:t>,</m:t>
                        </m:r>
                        <m:r>
                          <a:rPr lang="en-US" b="0" i="1" smtClean="0">
                            <a:latin typeface="Cambria Math"/>
                          </a:rPr>
                          <m:t>𝑔</m:t>
                        </m:r>
                      </m:e>
                    </m:d>
                    <m:r>
                      <m:rPr>
                        <m:nor/>
                      </m:rPr>
                      <a:rPr lang="en-US" b="0" i="0" smtClean="0">
                        <a:latin typeface="Cambria Math"/>
                      </a:rPr>
                      <m:t>,</m:t>
                    </m:r>
                    <m:r>
                      <a:rPr lang="en-US" b="0" i="1" smtClean="0">
                        <a:latin typeface="Cambria Math"/>
                      </a:rPr>
                      <m:t> </m:t>
                    </m:r>
                    <m:r>
                      <a:rPr lang="en-US" altLang="zh-CN" i="1">
                        <a:latin typeface="Cambria Math"/>
                      </a:rPr>
                      <m:t>(</m:t>
                    </m:r>
                    <m:r>
                      <a:rPr lang="en-US" altLang="zh-CN" b="0" i="1" smtClean="0">
                        <a:latin typeface="Cambria Math"/>
                      </a:rPr>
                      <m:t>𝑐</m:t>
                    </m:r>
                    <m:r>
                      <a:rPr lang="en-US" altLang="zh-CN" i="1">
                        <a:latin typeface="Cambria Math"/>
                      </a:rPr>
                      <m:t>,</m:t>
                    </m:r>
                    <m:r>
                      <a:rPr lang="en-US" altLang="zh-CN" b="0" i="1" smtClean="0">
                        <a:latin typeface="Cambria Math"/>
                      </a:rPr>
                      <m:t>𝑑</m:t>
                    </m:r>
                    <m:r>
                      <a:rPr lang="en-US" altLang="zh-CN" i="1">
                        <a:latin typeface="Cambria Math"/>
                      </a:rPr>
                      <m:t>)</m:t>
                    </m:r>
                  </m:oMath>
                </a14:m>
                <a:r>
                  <a:rPr lang="en-US" altLang="zh-CN" dirty="0"/>
                  <a:t>, </a:t>
                </a:r>
                <a14:m>
                  <m:oMath xmlns:m="http://schemas.openxmlformats.org/officeDocument/2006/math">
                    <m:r>
                      <a:rPr lang="en-US" altLang="zh-CN" i="1">
                        <a:latin typeface="Cambria Math"/>
                      </a:rPr>
                      <m:t>(</m:t>
                    </m:r>
                    <m:r>
                      <a:rPr lang="en-US" altLang="zh-CN" b="0" i="1" smtClean="0">
                        <a:latin typeface="Cambria Math"/>
                      </a:rPr>
                      <m:t>𝑔</m:t>
                    </m:r>
                    <m:r>
                      <a:rPr lang="en-US" altLang="zh-CN" i="1">
                        <a:latin typeface="Cambria Math"/>
                      </a:rPr>
                      <m:t>,</m:t>
                    </m:r>
                    <m:r>
                      <a:rPr lang="en-US" altLang="zh-CN" b="0" i="1" smtClean="0">
                        <a:latin typeface="Cambria Math"/>
                      </a:rPr>
                      <m:t>𝑓</m:t>
                    </m:r>
                    <m:r>
                      <a:rPr lang="en-US" altLang="zh-CN" i="1">
                        <a:latin typeface="Cambria Math"/>
                      </a:rPr>
                      <m:t>)</m:t>
                    </m:r>
                  </m:oMath>
                </a14:m>
                <a:r>
                  <a:rPr lang="en-US" altLang="zh-CN" dirty="0"/>
                  <a:t>,</a:t>
                </a:r>
                <a14:m>
                  <m:oMath xmlns:m="http://schemas.openxmlformats.org/officeDocument/2006/math">
                    <m:r>
                      <a:rPr lang="en-US" altLang="zh-CN">
                        <a:latin typeface="Cambria Math"/>
                      </a:rPr>
                      <m:t> </m:t>
                    </m:r>
                    <m:r>
                      <a:rPr lang="en-US" altLang="zh-CN" b="0" i="1" smtClean="0">
                        <a:latin typeface="Cambria Math"/>
                      </a:rPr>
                      <m:t> </m:t>
                    </m:r>
                    <m:r>
                      <a:rPr lang="en-US" altLang="zh-CN" i="1">
                        <a:latin typeface="Cambria Math"/>
                      </a:rPr>
                      <m:t>(</m:t>
                    </m:r>
                    <m:r>
                      <a:rPr lang="en-US" altLang="zh-CN" b="0" i="1" smtClean="0">
                        <a:latin typeface="Cambria Math"/>
                      </a:rPr>
                      <m:t>𝑑</m:t>
                    </m:r>
                    <m:r>
                      <a:rPr lang="en-US" altLang="zh-CN" i="1">
                        <a:latin typeface="Cambria Math"/>
                      </a:rPr>
                      <m:t>,</m:t>
                    </m:r>
                    <m:r>
                      <a:rPr lang="en-US" altLang="zh-CN" b="0" i="1" smtClean="0">
                        <a:latin typeface="Cambria Math"/>
                      </a:rPr>
                      <m:t>𝑒</m:t>
                    </m:r>
                    <m:r>
                      <a:rPr lang="en-US" altLang="zh-CN" i="1">
                        <a:latin typeface="Cambria Math"/>
                      </a:rPr>
                      <m:t>)</m:t>
                    </m:r>
                  </m:oMath>
                </a14:m>
                <a:r>
                  <a:rPr lang="en-US" altLang="zh-CN" dirty="0"/>
                  <a:t>, </a:t>
                </a:r>
                <a14:m>
                  <m:oMath xmlns:m="http://schemas.openxmlformats.org/officeDocument/2006/math">
                    <m:d>
                      <m:dPr>
                        <m:ctrlPr>
                          <a:rPr lang="en-US" altLang="zh-CN" b="0" i="1" smtClean="0">
                            <a:latin typeface="Cambria Math" panose="02040503050406030204" pitchFamily="18" charset="0"/>
                          </a:rPr>
                        </m:ctrlPr>
                      </m:dPr>
                      <m:e>
                        <m:r>
                          <a:rPr lang="en-US" altLang="zh-CN" b="0" i="1" smtClean="0">
                            <a:latin typeface="Cambria Math"/>
                          </a:rPr>
                          <m:t>𝑓</m:t>
                        </m:r>
                        <m:r>
                          <a:rPr lang="en-US" altLang="zh-CN" i="1">
                            <a:latin typeface="Cambria Math"/>
                          </a:rPr>
                          <m:t>,</m:t>
                        </m:r>
                        <m:r>
                          <a:rPr lang="en-US" altLang="zh-CN" b="0" i="1" smtClean="0">
                            <a:latin typeface="Cambria Math"/>
                          </a:rPr>
                          <m:t>𝑑</m:t>
                        </m:r>
                      </m:e>
                    </m:d>
                    <m:r>
                      <a:rPr lang="en-US" altLang="zh-CN" b="0" i="1" smtClean="0">
                        <a:latin typeface="Cambria Math"/>
                      </a:rPr>
                      <m:t>.</m:t>
                    </m:r>
                  </m:oMath>
                </a14:m>
                <a:endParaRPr lang="en-US" dirty="0"/>
              </a:p>
              <a:p>
                <a:endParaRPr lang="en-US" altLang="zh-CN" sz="2400" dirty="0"/>
              </a:p>
              <a:p>
                <a:r>
                  <a:rPr lang="en-US" altLang="zh-CN" sz="2400" dirty="0"/>
                  <a:t>Sequence:</a:t>
                </a:r>
              </a:p>
              <a:p>
                <a:endParaRPr lang="en-US" altLang="zh-CN" sz="2400" dirty="0"/>
              </a:p>
              <a:p>
                <a:endParaRPr lang="en-US" altLang="zh-CN" sz="2400" dirty="0"/>
              </a:p>
              <a:p>
                <a:endParaRPr lang="en-US" altLang="zh-CN" sz="2400" dirty="0"/>
              </a:p>
              <a:p>
                <a:endParaRPr lang="en-US" altLang="zh-CN" sz="2400" dirty="0"/>
              </a:p>
              <a:p>
                <a:endParaRPr lang="en-US" dirty="0"/>
              </a:p>
            </p:txBody>
          </p:sp>
        </mc:Choice>
        <mc:Fallback xmlns="">
          <p:sp>
            <p:nvSpPr>
              <p:cNvPr id="5" name="TextBox 4"/>
              <p:cNvSpPr txBox="1">
                <a:spLocks noRot="1" noChangeAspect="1" noMove="1" noResize="1" noEditPoints="1" noAdjustHandles="1" noChangeArrowheads="1" noChangeShapeType="1" noTextEdit="1"/>
              </p:cNvSpPr>
              <p:nvPr/>
            </p:nvSpPr>
            <p:spPr>
              <a:xfrm>
                <a:off x="533400" y="1277154"/>
                <a:ext cx="5334000" cy="3231654"/>
              </a:xfrm>
              <a:prstGeom prst="rect">
                <a:avLst/>
              </a:prstGeom>
              <a:blipFill rotWithShape="1">
                <a:blip r:embed="rId3"/>
                <a:stretch>
                  <a:fillRect l="-1829" t="-1509"/>
                </a:stretch>
              </a:blipFill>
            </p:spPr>
            <p:txBody>
              <a:bodyPr/>
              <a:lstStyle/>
              <a:p>
                <a:r>
                  <a:rPr lang="zh-CN" altLang="en-US">
                    <a:noFill/>
                  </a:rPr>
                  <a:t> </a:t>
                </a:r>
              </a:p>
            </p:txBody>
          </p:sp>
        </mc:Fallback>
      </mc:AlternateContent>
      <p:graphicFrame>
        <p:nvGraphicFramePr>
          <p:cNvPr id="7" name="表格 6"/>
          <p:cNvGraphicFramePr>
            <a:graphicFrameLocks noGrp="1"/>
          </p:cNvGraphicFramePr>
          <p:nvPr>
            <p:extLst>
              <p:ext uri="{D42A27DB-BD31-4B8C-83A1-F6EECF244321}">
                <p14:modId xmlns:p14="http://schemas.microsoft.com/office/powerpoint/2010/main" val="1345422951"/>
              </p:ext>
            </p:extLst>
          </p:nvPr>
        </p:nvGraphicFramePr>
        <p:xfrm>
          <a:off x="3581399" y="3147598"/>
          <a:ext cx="5470016" cy="2935342"/>
        </p:xfrm>
        <a:graphic>
          <a:graphicData uri="http://schemas.openxmlformats.org/drawingml/2006/table">
            <a:tbl>
              <a:tblPr firstRow="1" bandRow="1">
                <a:tableStyleId>{5C22544A-7EE6-4342-B048-85BDC9FD1C3A}</a:tableStyleId>
              </a:tblPr>
              <a:tblGrid>
                <a:gridCol w="683752">
                  <a:extLst>
                    <a:ext uri="{9D8B030D-6E8A-4147-A177-3AD203B41FA5}">
                      <a16:colId xmlns:a16="http://schemas.microsoft.com/office/drawing/2014/main" val="20000"/>
                    </a:ext>
                  </a:extLst>
                </a:gridCol>
                <a:gridCol w="683752">
                  <a:extLst>
                    <a:ext uri="{9D8B030D-6E8A-4147-A177-3AD203B41FA5}">
                      <a16:colId xmlns:a16="http://schemas.microsoft.com/office/drawing/2014/main" val="20001"/>
                    </a:ext>
                  </a:extLst>
                </a:gridCol>
                <a:gridCol w="683752">
                  <a:extLst>
                    <a:ext uri="{9D8B030D-6E8A-4147-A177-3AD203B41FA5}">
                      <a16:colId xmlns:a16="http://schemas.microsoft.com/office/drawing/2014/main" val="20002"/>
                    </a:ext>
                  </a:extLst>
                </a:gridCol>
                <a:gridCol w="683752">
                  <a:extLst>
                    <a:ext uri="{9D8B030D-6E8A-4147-A177-3AD203B41FA5}">
                      <a16:colId xmlns:a16="http://schemas.microsoft.com/office/drawing/2014/main" val="20003"/>
                    </a:ext>
                  </a:extLst>
                </a:gridCol>
                <a:gridCol w="683752">
                  <a:extLst>
                    <a:ext uri="{9D8B030D-6E8A-4147-A177-3AD203B41FA5}">
                      <a16:colId xmlns:a16="http://schemas.microsoft.com/office/drawing/2014/main" val="20004"/>
                    </a:ext>
                  </a:extLst>
                </a:gridCol>
                <a:gridCol w="683752">
                  <a:extLst>
                    <a:ext uri="{9D8B030D-6E8A-4147-A177-3AD203B41FA5}">
                      <a16:colId xmlns:a16="http://schemas.microsoft.com/office/drawing/2014/main" val="20005"/>
                    </a:ext>
                  </a:extLst>
                </a:gridCol>
                <a:gridCol w="683752">
                  <a:extLst>
                    <a:ext uri="{9D8B030D-6E8A-4147-A177-3AD203B41FA5}">
                      <a16:colId xmlns:a16="http://schemas.microsoft.com/office/drawing/2014/main" val="20006"/>
                    </a:ext>
                  </a:extLst>
                </a:gridCol>
                <a:gridCol w="683752">
                  <a:extLst>
                    <a:ext uri="{9D8B030D-6E8A-4147-A177-3AD203B41FA5}">
                      <a16:colId xmlns:a16="http://schemas.microsoft.com/office/drawing/2014/main" val="20007"/>
                    </a:ext>
                  </a:extLst>
                </a:gridCol>
              </a:tblGrid>
              <a:tr h="375022">
                <a:tc>
                  <a:txBody>
                    <a:bodyPr/>
                    <a:lstStyle/>
                    <a:p>
                      <a:endParaRPr lang="zh-CN" altLang="en-US" dirty="0"/>
                    </a:p>
                  </a:txBody>
                  <a:tcPr/>
                </a:tc>
                <a:tc>
                  <a:txBody>
                    <a:bodyPr/>
                    <a:lstStyle/>
                    <a:p>
                      <a:r>
                        <a:rPr lang="en-US" altLang="zh-CN" dirty="0"/>
                        <a:t>a</a:t>
                      </a:r>
                      <a:endParaRPr lang="zh-CN" altLang="en-US" dirty="0"/>
                    </a:p>
                  </a:txBody>
                  <a:tcPr/>
                </a:tc>
                <a:tc>
                  <a:txBody>
                    <a:bodyPr/>
                    <a:lstStyle/>
                    <a:p>
                      <a:r>
                        <a:rPr lang="en-US" altLang="zh-CN" dirty="0"/>
                        <a:t>b</a:t>
                      </a:r>
                      <a:endParaRPr lang="zh-CN" altLang="en-US" dirty="0"/>
                    </a:p>
                  </a:txBody>
                  <a:tcPr/>
                </a:tc>
                <a:tc>
                  <a:txBody>
                    <a:bodyPr/>
                    <a:lstStyle/>
                    <a:p>
                      <a:r>
                        <a:rPr lang="en-US" altLang="zh-CN" dirty="0"/>
                        <a:t>c</a:t>
                      </a:r>
                      <a:endParaRPr lang="zh-CN" altLang="en-US" dirty="0"/>
                    </a:p>
                  </a:txBody>
                  <a:tcPr/>
                </a:tc>
                <a:tc>
                  <a:txBody>
                    <a:bodyPr/>
                    <a:lstStyle/>
                    <a:p>
                      <a:r>
                        <a:rPr lang="en-US" altLang="zh-CN" dirty="0"/>
                        <a:t>d</a:t>
                      </a:r>
                      <a:endParaRPr lang="zh-CN" altLang="en-US" dirty="0"/>
                    </a:p>
                  </a:txBody>
                  <a:tcPr/>
                </a:tc>
                <a:tc>
                  <a:txBody>
                    <a:bodyPr/>
                    <a:lstStyle/>
                    <a:p>
                      <a:r>
                        <a:rPr lang="en-US" altLang="zh-CN" dirty="0"/>
                        <a:t>e</a:t>
                      </a:r>
                      <a:endParaRPr lang="zh-CN" altLang="en-US" dirty="0"/>
                    </a:p>
                  </a:txBody>
                  <a:tcPr/>
                </a:tc>
                <a:tc>
                  <a:txBody>
                    <a:bodyPr/>
                    <a:lstStyle/>
                    <a:p>
                      <a:r>
                        <a:rPr lang="en-US" altLang="zh-CN" dirty="0"/>
                        <a:t>f</a:t>
                      </a:r>
                      <a:endParaRPr lang="zh-CN" altLang="en-US" dirty="0"/>
                    </a:p>
                  </a:txBody>
                  <a:tcPr/>
                </a:tc>
                <a:tc>
                  <a:txBody>
                    <a:bodyPr/>
                    <a:lstStyle/>
                    <a:p>
                      <a:r>
                        <a:rPr lang="en-US" altLang="zh-CN" dirty="0"/>
                        <a:t>g</a:t>
                      </a:r>
                      <a:endParaRPr lang="zh-CN" altLang="en-US" dirty="0"/>
                    </a:p>
                  </a:txBody>
                  <a:tcPr/>
                </a:tc>
                <a:extLst>
                  <a:ext uri="{0D108BD9-81ED-4DB2-BD59-A6C34878D82A}">
                    <a16:rowId xmlns:a16="http://schemas.microsoft.com/office/drawing/2014/main" val="10000"/>
                  </a:ext>
                </a:extLst>
              </a:tr>
              <a:tr h="314674">
                <a:tc>
                  <a:txBody>
                    <a:bodyPr/>
                    <a:lstStyle/>
                    <a:p>
                      <a:r>
                        <a:rPr lang="en-US" altLang="zh-CN" dirty="0"/>
                        <a:t>a</a:t>
                      </a:r>
                      <a:endParaRPr lang="zh-CN" altLang="en-US" dirty="0"/>
                    </a:p>
                  </a:txBody>
                  <a:tcPr/>
                </a:tc>
                <a:tc>
                  <a:txBody>
                    <a:bodyPr/>
                    <a:lstStyle/>
                    <a:p>
                      <a:endParaRPr lang="zh-CN" altLang="en-US" dirty="0"/>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dirty="0"/>
                    </a:p>
                  </a:txBody>
                  <a:tcPr/>
                </a:tc>
                <a:tc>
                  <a:txBody>
                    <a:bodyPr/>
                    <a:lstStyle/>
                    <a:p>
                      <a:endParaRPr lang="zh-CN" altLang="en-US"/>
                    </a:p>
                  </a:txBody>
                  <a:tcPr/>
                </a:tc>
                <a:tc>
                  <a:txBody>
                    <a:bodyPr/>
                    <a:lstStyle/>
                    <a:p>
                      <a:endParaRPr lang="zh-CN" altLang="en-US"/>
                    </a:p>
                  </a:txBody>
                  <a:tcPr/>
                </a:tc>
                <a:extLst>
                  <a:ext uri="{0D108BD9-81ED-4DB2-BD59-A6C34878D82A}">
                    <a16:rowId xmlns:a16="http://schemas.microsoft.com/office/drawing/2014/main" val="10001"/>
                  </a:ext>
                </a:extLst>
              </a:tr>
              <a:tr h="314674">
                <a:tc>
                  <a:txBody>
                    <a:bodyPr/>
                    <a:lstStyle/>
                    <a:p>
                      <a:r>
                        <a:rPr lang="en-US" altLang="zh-CN" dirty="0"/>
                        <a:t>b</a:t>
                      </a:r>
                      <a:endParaRPr lang="zh-CN" altLang="en-US" dirty="0"/>
                    </a:p>
                  </a:txBody>
                  <a:tcPr/>
                </a:tc>
                <a:tc>
                  <a:txBody>
                    <a:bodyPr/>
                    <a:lstStyle/>
                    <a:p>
                      <a:endParaRPr lang="zh-CN" altLang="en-US" dirty="0"/>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extLst>
                  <a:ext uri="{0D108BD9-81ED-4DB2-BD59-A6C34878D82A}">
                    <a16:rowId xmlns:a16="http://schemas.microsoft.com/office/drawing/2014/main" val="10002"/>
                  </a:ext>
                </a:extLst>
              </a:tr>
              <a:tr h="314674">
                <a:tc>
                  <a:txBody>
                    <a:bodyPr/>
                    <a:lstStyle/>
                    <a:p>
                      <a:r>
                        <a:rPr lang="en-US" altLang="zh-CN" dirty="0"/>
                        <a:t>c</a:t>
                      </a:r>
                      <a:endParaRPr lang="zh-CN" altLang="en-US" dirty="0"/>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10003"/>
                  </a:ext>
                </a:extLst>
              </a:tr>
              <a:tr h="314674">
                <a:tc>
                  <a:txBody>
                    <a:bodyPr/>
                    <a:lstStyle/>
                    <a:p>
                      <a:r>
                        <a:rPr lang="en-US" altLang="zh-CN" dirty="0"/>
                        <a:t>d</a:t>
                      </a:r>
                      <a:endParaRPr lang="zh-CN" altLang="en-US" dirty="0"/>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extLst>
                  <a:ext uri="{0D108BD9-81ED-4DB2-BD59-A6C34878D82A}">
                    <a16:rowId xmlns:a16="http://schemas.microsoft.com/office/drawing/2014/main" val="10004"/>
                  </a:ext>
                </a:extLst>
              </a:tr>
              <a:tr h="314674">
                <a:tc>
                  <a:txBody>
                    <a:bodyPr/>
                    <a:lstStyle/>
                    <a:p>
                      <a:r>
                        <a:rPr lang="en-US" altLang="zh-CN" dirty="0"/>
                        <a:t>e</a:t>
                      </a:r>
                      <a:endParaRPr lang="zh-CN" altLang="en-US" dirty="0"/>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extLst>
                  <a:ext uri="{0D108BD9-81ED-4DB2-BD59-A6C34878D82A}">
                    <a16:rowId xmlns:a16="http://schemas.microsoft.com/office/drawing/2014/main" val="10005"/>
                  </a:ext>
                </a:extLst>
              </a:tr>
              <a:tr h="314674">
                <a:tc>
                  <a:txBody>
                    <a:bodyPr/>
                    <a:lstStyle/>
                    <a:p>
                      <a:r>
                        <a:rPr lang="en-US" altLang="zh-CN" dirty="0"/>
                        <a:t>f</a:t>
                      </a:r>
                      <a:endParaRPr lang="zh-CN" altLang="en-US" dirty="0"/>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extLst>
                  <a:ext uri="{0D108BD9-81ED-4DB2-BD59-A6C34878D82A}">
                    <a16:rowId xmlns:a16="http://schemas.microsoft.com/office/drawing/2014/main" val="10006"/>
                  </a:ext>
                </a:extLst>
              </a:tr>
              <a:tr h="314674">
                <a:tc>
                  <a:txBody>
                    <a:bodyPr/>
                    <a:lstStyle/>
                    <a:p>
                      <a:r>
                        <a:rPr lang="en-US" altLang="zh-CN" dirty="0"/>
                        <a:t>g</a:t>
                      </a:r>
                      <a:endParaRPr lang="zh-CN" altLang="en-US" dirty="0"/>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dirty="0"/>
                    </a:p>
                  </a:txBody>
                  <a:tcPr/>
                </a:tc>
                <a:extLst>
                  <a:ext uri="{0D108BD9-81ED-4DB2-BD59-A6C34878D82A}">
                    <a16:rowId xmlns:a16="http://schemas.microsoft.com/office/drawing/2014/main" val="10007"/>
                  </a:ext>
                </a:extLst>
              </a:tr>
            </a:tbl>
          </a:graphicData>
        </a:graphic>
      </p:graphicFrame>
      <p:sp>
        <p:nvSpPr>
          <p:cNvPr id="8" name="TextBox 7"/>
          <p:cNvSpPr txBox="1"/>
          <p:nvPr/>
        </p:nvSpPr>
        <p:spPr>
          <a:xfrm>
            <a:off x="3568981" y="2618831"/>
            <a:ext cx="4718957" cy="461665"/>
          </a:xfrm>
          <a:prstGeom prst="rect">
            <a:avLst/>
          </a:prstGeom>
          <a:noFill/>
        </p:spPr>
        <p:txBody>
          <a:bodyPr wrap="square" rtlCol="0">
            <a:spAutoFit/>
          </a:bodyPr>
          <a:lstStyle/>
          <a:p>
            <a:r>
              <a:rPr lang="en-US" sz="2400" dirty="0"/>
              <a:t>Bitmap for counting event pair</a:t>
            </a:r>
          </a:p>
        </p:txBody>
      </p:sp>
      <p:sp>
        <p:nvSpPr>
          <p:cNvPr id="44" name="TextBox 43"/>
          <p:cNvSpPr txBox="1"/>
          <p:nvPr/>
        </p:nvSpPr>
        <p:spPr>
          <a:xfrm>
            <a:off x="617854" y="1600200"/>
            <a:ext cx="541225" cy="510366"/>
          </a:xfrm>
          <a:prstGeom prst="rect">
            <a:avLst/>
          </a:prstGeom>
          <a:noFill/>
          <a:ln w="38100">
            <a:solidFill>
              <a:schemeClr val="tx2"/>
            </a:solidFill>
          </a:ln>
        </p:spPr>
        <p:txBody>
          <a:bodyPr wrap="square" rtlCol="0">
            <a:spAutoFit/>
          </a:bodyPr>
          <a:lstStyle/>
          <a:p>
            <a:endParaRPr lang="en-US" dirty="0"/>
          </a:p>
        </p:txBody>
      </p:sp>
      <p:sp>
        <p:nvSpPr>
          <p:cNvPr id="45" name="TextBox 44"/>
          <p:cNvSpPr txBox="1"/>
          <p:nvPr/>
        </p:nvSpPr>
        <p:spPr>
          <a:xfrm>
            <a:off x="591920" y="2670680"/>
            <a:ext cx="459015" cy="357966"/>
          </a:xfrm>
          <a:prstGeom prst="rect">
            <a:avLst/>
          </a:prstGeom>
          <a:noFill/>
          <a:ln w="38100">
            <a:solidFill>
              <a:srgbClr val="FF0000"/>
            </a:solidFill>
          </a:ln>
        </p:spPr>
        <p:txBody>
          <a:bodyPr wrap="square" rtlCol="0">
            <a:spAutoFit/>
          </a:bodyPr>
          <a:lstStyle/>
          <a:p>
            <a:endParaRPr lang="en-US" dirty="0"/>
          </a:p>
        </p:txBody>
      </p:sp>
      <p:sp>
        <p:nvSpPr>
          <p:cNvPr id="46" name="TextBox 45"/>
          <p:cNvSpPr txBox="1"/>
          <p:nvPr/>
        </p:nvSpPr>
        <p:spPr>
          <a:xfrm>
            <a:off x="4267200" y="3859788"/>
            <a:ext cx="716347" cy="369332"/>
          </a:xfrm>
          <a:prstGeom prst="rect">
            <a:avLst/>
          </a:prstGeom>
          <a:noFill/>
        </p:spPr>
        <p:txBody>
          <a:bodyPr wrap="square" rtlCol="0">
            <a:spAutoFit/>
          </a:bodyPr>
          <a:lstStyle/>
          <a:p>
            <a:r>
              <a:rPr lang="en-US" dirty="0">
                <a:solidFill>
                  <a:srgbClr val="FF0000"/>
                </a:solidFill>
              </a:rPr>
              <a:t>1000</a:t>
            </a:r>
          </a:p>
        </p:txBody>
      </p:sp>
      <p:sp>
        <p:nvSpPr>
          <p:cNvPr id="48" name="TextBox 47"/>
          <p:cNvSpPr txBox="1"/>
          <p:nvPr/>
        </p:nvSpPr>
        <p:spPr>
          <a:xfrm>
            <a:off x="1272823" y="1609363"/>
            <a:ext cx="541225" cy="510366"/>
          </a:xfrm>
          <a:prstGeom prst="rect">
            <a:avLst/>
          </a:prstGeom>
          <a:noFill/>
          <a:ln w="38100">
            <a:solidFill>
              <a:schemeClr val="tx2"/>
            </a:solidFill>
          </a:ln>
        </p:spPr>
        <p:txBody>
          <a:bodyPr wrap="square" rtlCol="0">
            <a:spAutoFit/>
          </a:bodyPr>
          <a:lstStyle/>
          <a:p>
            <a:endParaRPr lang="en-US" dirty="0"/>
          </a:p>
        </p:txBody>
      </p:sp>
      <p:sp>
        <p:nvSpPr>
          <p:cNvPr id="49" name="TextBox 48"/>
          <p:cNvSpPr txBox="1"/>
          <p:nvPr/>
        </p:nvSpPr>
        <p:spPr>
          <a:xfrm>
            <a:off x="782937" y="2670680"/>
            <a:ext cx="459015" cy="357966"/>
          </a:xfrm>
          <a:prstGeom prst="rect">
            <a:avLst/>
          </a:prstGeom>
          <a:noFill/>
          <a:ln w="38100">
            <a:solidFill>
              <a:srgbClr val="FF0000"/>
            </a:solidFill>
          </a:ln>
        </p:spPr>
        <p:txBody>
          <a:bodyPr wrap="square" rtlCol="0">
            <a:spAutoFit/>
          </a:bodyPr>
          <a:lstStyle/>
          <a:p>
            <a:endParaRPr lang="en-US" dirty="0"/>
          </a:p>
        </p:txBody>
      </p:sp>
      <p:sp>
        <p:nvSpPr>
          <p:cNvPr id="50" name="TextBox 49"/>
          <p:cNvSpPr txBox="1"/>
          <p:nvPr/>
        </p:nvSpPr>
        <p:spPr>
          <a:xfrm>
            <a:off x="573909" y="3080496"/>
            <a:ext cx="459015" cy="357966"/>
          </a:xfrm>
          <a:prstGeom prst="rect">
            <a:avLst/>
          </a:prstGeom>
          <a:noFill/>
          <a:ln w="38100">
            <a:solidFill>
              <a:srgbClr val="FF0000"/>
            </a:solidFill>
          </a:ln>
        </p:spPr>
        <p:txBody>
          <a:bodyPr wrap="square" rtlCol="0">
            <a:spAutoFit/>
          </a:bodyPr>
          <a:lstStyle/>
          <a:p>
            <a:endParaRPr lang="en-US" dirty="0"/>
          </a:p>
        </p:txBody>
      </p:sp>
      <p:sp>
        <p:nvSpPr>
          <p:cNvPr id="52" name="TextBox 51"/>
          <p:cNvSpPr txBox="1"/>
          <p:nvPr/>
        </p:nvSpPr>
        <p:spPr>
          <a:xfrm>
            <a:off x="4983547" y="4274615"/>
            <a:ext cx="716347" cy="369332"/>
          </a:xfrm>
          <a:prstGeom prst="rect">
            <a:avLst/>
          </a:prstGeom>
          <a:noFill/>
        </p:spPr>
        <p:txBody>
          <a:bodyPr wrap="square" rtlCol="0">
            <a:spAutoFit/>
          </a:bodyPr>
          <a:lstStyle/>
          <a:p>
            <a:r>
              <a:rPr lang="en-US" dirty="0">
                <a:solidFill>
                  <a:srgbClr val="FF0000"/>
                </a:solidFill>
              </a:rPr>
              <a:t>1100</a:t>
            </a:r>
          </a:p>
        </p:txBody>
      </p:sp>
      <p:sp>
        <p:nvSpPr>
          <p:cNvPr id="53" name="TextBox 52"/>
          <p:cNvSpPr txBox="1"/>
          <p:nvPr/>
        </p:nvSpPr>
        <p:spPr>
          <a:xfrm>
            <a:off x="1846245" y="1609363"/>
            <a:ext cx="541225" cy="510366"/>
          </a:xfrm>
          <a:prstGeom prst="rect">
            <a:avLst/>
          </a:prstGeom>
          <a:noFill/>
          <a:ln w="38100">
            <a:solidFill>
              <a:schemeClr val="tx2"/>
            </a:solidFill>
          </a:ln>
        </p:spPr>
        <p:txBody>
          <a:bodyPr wrap="square" rtlCol="0">
            <a:spAutoFit/>
          </a:bodyPr>
          <a:lstStyle/>
          <a:p>
            <a:endParaRPr lang="en-US" dirty="0"/>
          </a:p>
        </p:txBody>
      </p:sp>
      <p:sp>
        <p:nvSpPr>
          <p:cNvPr id="54" name="TextBox 53"/>
          <p:cNvSpPr txBox="1"/>
          <p:nvPr/>
        </p:nvSpPr>
        <p:spPr>
          <a:xfrm>
            <a:off x="563977" y="3438462"/>
            <a:ext cx="459015" cy="357966"/>
          </a:xfrm>
          <a:prstGeom prst="rect">
            <a:avLst/>
          </a:prstGeom>
          <a:noFill/>
          <a:ln w="38100">
            <a:solidFill>
              <a:srgbClr val="FF0000"/>
            </a:solidFill>
          </a:ln>
        </p:spPr>
        <p:txBody>
          <a:bodyPr wrap="square" rtlCol="0">
            <a:spAutoFit/>
          </a:bodyPr>
          <a:lstStyle/>
          <a:p>
            <a:endParaRPr lang="en-US" dirty="0"/>
          </a:p>
        </p:txBody>
      </p:sp>
      <p:sp>
        <p:nvSpPr>
          <p:cNvPr id="55" name="TextBox 54"/>
          <p:cNvSpPr txBox="1"/>
          <p:nvPr/>
        </p:nvSpPr>
        <p:spPr>
          <a:xfrm>
            <a:off x="607785" y="3822509"/>
            <a:ext cx="459015" cy="357966"/>
          </a:xfrm>
          <a:prstGeom prst="rect">
            <a:avLst/>
          </a:prstGeom>
          <a:noFill/>
          <a:ln w="38100">
            <a:solidFill>
              <a:srgbClr val="FF0000"/>
            </a:solidFill>
          </a:ln>
        </p:spPr>
        <p:txBody>
          <a:bodyPr wrap="square" rtlCol="0">
            <a:spAutoFit/>
          </a:bodyPr>
          <a:lstStyle/>
          <a:p>
            <a:endParaRPr lang="en-US" dirty="0"/>
          </a:p>
        </p:txBody>
      </p:sp>
      <p:sp>
        <p:nvSpPr>
          <p:cNvPr id="56" name="TextBox 55"/>
          <p:cNvSpPr txBox="1"/>
          <p:nvPr/>
        </p:nvSpPr>
        <p:spPr>
          <a:xfrm>
            <a:off x="4967656" y="5715000"/>
            <a:ext cx="716347" cy="369332"/>
          </a:xfrm>
          <a:prstGeom prst="rect">
            <a:avLst/>
          </a:prstGeom>
          <a:noFill/>
        </p:spPr>
        <p:txBody>
          <a:bodyPr wrap="square" rtlCol="0">
            <a:spAutoFit/>
          </a:bodyPr>
          <a:lstStyle/>
          <a:p>
            <a:r>
              <a:rPr lang="en-US" dirty="0">
                <a:solidFill>
                  <a:srgbClr val="FF0000"/>
                </a:solidFill>
              </a:rPr>
              <a:t>0011</a:t>
            </a:r>
          </a:p>
        </p:txBody>
      </p:sp>
      <p:sp>
        <p:nvSpPr>
          <p:cNvPr id="57" name="TextBox 56"/>
          <p:cNvSpPr txBox="1"/>
          <p:nvPr/>
        </p:nvSpPr>
        <p:spPr>
          <a:xfrm>
            <a:off x="2438400" y="1609363"/>
            <a:ext cx="541225" cy="510366"/>
          </a:xfrm>
          <a:prstGeom prst="rect">
            <a:avLst/>
          </a:prstGeom>
          <a:noFill/>
          <a:ln w="38100">
            <a:solidFill>
              <a:schemeClr val="tx2"/>
            </a:solidFill>
          </a:ln>
        </p:spPr>
        <p:txBody>
          <a:bodyPr wrap="square" rtlCol="0">
            <a:spAutoFit/>
          </a:bodyPr>
          <a:lstStyle/>
          <a:p>
            <a:endParaRPr lang="en-US" dirty="0"/>
          </a:p>
        </p:txBody>
      </p:sp>
      <p:sp>
        <p:nvSpPr>
          <p:cNvPr id="58" name="TextBox 57"/>
          <p:cNvSpPr txBox="1"/>
          <p:nvPr/>
        </p:nvSpPr>
        <p:spPr>
          <a:xfrm>
            <a:off x="1012444" y="2670680"/>
            <a:ext cx="459015" cy="357966"/>
          </a:xfrm>
          <a:prstGeom prst="rect">
            <a:avLst/>
          </a:prstGeom>
          <a:noFill/>
          <a:ln w="38100">
            <a:solidFill>
              <a:srgbClr val="FF0000"/>
            </a:solidFill>
          </a:ln>
        </p:spPr>
        <p:txBody>
          <a:bodyPr wrap="square" rtlCol="0">
            <a:spAutoFit/>
          </a:bodyPr>
          <a:lstStyle/>
          <a:p>
            <a:endParaRPr lang="en-US" dirty="0"/>
          </a:p>
        </p:txBody>
      </p:sp>
      <p:sp>
        <p:nvSpPr>
          <p:cNvPr id="59" name="TextBox 58"/>
          <p:cNvSpPr txBox="1"/>
          <p:nvPr/>
        </p:nvSpPr>
        <p:spPr>
          <a:xfrm>
            <a:off x="821427" y="3067581"/>
            <a:ext cx="459015" cy="357966"/>
          </a:xfrm>
          <a:prstGeom prst="rect">
            <a:avLst/>
          </a:prstGeom>
          <a:noFill/>
          <a:ln w="38100">
            <a:solidFill>
              <a:srgbClr val="FF0000"/>
            </a:solidFill>
          </a:ln>
        </p:spPr>
        <p:txBody>
          <a:bodyPr wrap="square" rtlCol="0">
            <a:spAutoFit/>
          </a:bodyPr>
          <a:lstStyle/>
          <a:p>
            <a:endParaRPr lang="en-US" dirty="0"/>
          </a:p>
        </p:txBody>
      </p:sp>
      <p:sp>
        <p:nvSpPr>
          <p:cNvPr id="62" name="TextBox 61"/>
          <p:cNvSpPr txBox="1"/>
          <p:nvPr/>
        </p:nvSpPr>
        <p:spPr>
          <a:xfrm>
            <a:off x="5570285" y="4611681"/>
            <a:ext cx="716347" cy="369332"/>
          </a:xfrm>
          <a:prstGeom prst="rect">
            <a:avLst/>
          </a:prstGeom>
          <a:noFill/>
        </p:spPr>
        <p:txBody>
          <a:bodyPr wrap="square" rtlCol="0">
            <a:spAutoFit/>
          </a:bodyPr>
          <a:lstStyle/>
          <a:p>
            <a:r>
              <a:rPr lang="en-US" dirty="0">
                <a:solidFill>
                  <a:srgbClr val="FF0000"/>
                </a:solidFill>
              </a:rPr>
              <a:t>1100</a:t>
            </a:r>
          </a:p>
        </p:txBody>
      </p:sp>
      <p:sp>
        <p:nvSpPr>
          <p:cNvPr id="63" name="TextBox 62"/>
          <p:cNvSpPr txBox="1"/>
          <p:nvPr/>
        </p:nvSpPr>
        <p:spPr>
          <a:xfrm>
            <a:off x="3059357" y="1609363"/>
            <a:ext cx="541225" cy="510366"/>
          </a:xfrm>
          <a:prstGeom prst="rect">
            <a:avLst/>
          </a:prstGeom>
          <a:noFill/>
          <a:ln w="38100">
            <a:solidFill>
              <a:schemeClr val="tx2"/>
            </a:solidFill>
          </a:ln>
        </p:spPr>
        <p:txBody>
          <a:bodyPr wrap="square" rtlCol="0">
            <a:spAutoFit/>
          </a:bodyPr>
          <a:lstStyle/>
          <a:p>
            <a:endParaRPr lang="en-US" dirty="0"/>
          </a:p>
        </p:txBody>
      </p:sp>
      <p:sp>
        <p:nvSpPr>
          <p:cNvPr id="64" name="TextBox 63"/>
          <p:cNvSpPr txBox="1"/>
          <p:nvPr/>
        </p:nvSpPr>
        <p:spPr>
          <a:xfrm>
            <a:off x="782936" y="3425547"/>
            <a:ext cx="459015" cy="357966"/>
          </a:xfrm>
          <a:prstGeom prst="rect">
            <a:avLst/>
          </a:prstGeom>
          <a:noFill/>
          <a:ln w="38100">
            <a:solidFill>
              <a:srgbClr val="FF0000"/>
            </a:solidFill>
          </a:ln>
        </p:spPr>
        <p:txBody>
          <a:bodyPr wrap="square" rtlCol="0">
            <a:spAutoFit/>
          </a:bodyPr>
          <a:lstStyle/>
          <a:p>
            <a:endParaRPr lang="en-US" dirty="0"/>
          </a:p>
        </p:txBody>
      </p:sp>
      <p:sp>
        <p:nvSpPr>
          <p:cNvPr id="65" name="TextBox 64"/>
          <p:cNvSpPr txBox="1"/>
          <p:nvPr/>
        </p:nvSpPr>
        <p:spPr>
          <a:xfrm>
            <a:off x="782935" y="3809271"/>
            <a:ext cx="459015" cy="357966"/>
          </a:xfrm>
          <a:prstGeom prst="rect">
            <a:avLst/>
          </a:prstGeom>
          <a:noFill/>
          <a:ln w="38100">
            <a:solidFill>
              <a:srgbClr val="FF0000"/>
            </a:solidFill>
          </a:ln>
        </p:spPr>
        <p:txBody>
          <a:bodyPr wrap="square" rtlCol="0">
            <a:spAutoFit/>
          </a:bodyPr>
          <a:lstStyle/>
          <a:p>
            <a:endParaRPr lang="en-US" dirty="0"/>
          </a:p>
        </p:txBody>
      </p:sp>
      <p:sp>
        <p:nvSpPr>
          <p:cNvPr id="67" name="TextBox 66"/>
          <p:cNvSpPr txBox="1"/>
          <p:nvPr/>
        </p:nvSpPr>
        <p:spPr>
          <a:xfrm>
            <a:off x="8318116" y="5378938"/>
            <a:ext cx="716347" cy="369332"/>
          </a:xfrm>
          <a:prstGeom prst="rect">
            <a:avLst/>
          </a:prstGeom>
          <a:noFill/>
        </p:spPr>
        <p:txBody>
          <a:bodyPr wrap="square" rtlCol="0">
            <a:spAutoFit/>
          </a:bodyPr>
          <a:lstStyle/>
          <a:p>
            <a:r>
              <a:rPr lang="en-US" dirty="0">
                <a:solidFill>
                  <a:srgbClr val="FF0000"/>
                </a:solidFill>
              </a:rPr>
              <a:t>0011</a:t>
            </a:r>
          </a:p>
        </p:txBody>
      </p:sp>
      <p:sp>
        <p:nvSpPr>
          <p:cNvPr id="68" name="TextBox 67"/>
          <p:cNvSpPr txBox="1"/>
          <p:nvPr/>
        </p:nvSpPr>
        <p:spPr>
          <a:xfrm>
            <a:off x="3725975" y="1623234"/>
            <a:ext cx="541225" cy="510366"/>
          </a:xfrm>
          <a:prstGeom prst="rect">
            <a:avLst/>
          </a:prstGeom>
          <a:noFill/>
          <a:ln w="38100">
            <a:solidFill>
              <a:schemeClr val="tx2"/>
            </a:solidFill>
          </a:ln>
        </p:spPr>
        <p:txBody>
          <a:bodyPr wrap="square" rtlCol="0">
            <a:spAutoFit/>
          </a:bodyPr>
          <a:lstStyle/>
          <a:p>
            <a:endParaRPr lang="en-US" dirty="0"/>
          </a:p>
        </p:txBody>
      </p:sp>
      <p:sp>
        <p:nvSpPr>
          <p:cNvPr id="69" name="TextBox 68"/>
          <p:cNvSpPr txBox="1"/>
          <p:nvPr/>
        </p:nvSpPr>
        <p:spPr>
          <a:xfrm>
            <a:off x="1241952" y="2690034"/>
            <a:ext cx="459015" cy="357966"/>
          </a:xfrm>
          <a:prstGeom prst="rect">
            <a:avLst/>
          </a:prstGeom>
          <a:noFill/>
          <a:ln w="38100">
            <a:solidFill>
              <a:srgbClr val="FF0000"/>
            </a:solidFill>
          </a:ln>
        </p:spPr>
        <p:txBody>
          <a:bodyPr wrap="square" rtlCol="0">
            <a:spAutoFit/>
          </a:bodyPr>
          <a:lstStyle/>
          <a:p>
            <a:endParaRPr lang="en-US" dirty="0"/>
          </a:p>
        </p:txBody>
      </p:sp>
      <p:sp>
        <p:nvSpPr>
          <p:cNvPr id="70" name="TextBox 69"/>
          <p:cNvSpPr txBox="1"/>
          <p:nvPr/>
        </p:nvSpPr>
        <p:spPr>
          <a:xfrm>
            <a:off x="6286632" y="4981013"/>
            <a:ext cx="716347" cy="369332"/>
          </a:xfrm>
          <a:prstGeom prst="rect">
            <a:avLst/>
          </a:prstGeom>
          <a:noFill/>
        </p:spPr>
        <p:txBody>
          <a:bodyPr wrap="square" rtlCol="0">
            <a:spAutoFit/>
          </a:bodyPr>
          <a:lstStyle/>
          <a:p>
            <a:r>
              <a:rPr lang="en-US" dirty="0">
                <a:solidFill>
                  <a:srgbClr val="FF0000"/>
                </a:solidFill>
              </a:rPr>
              <a:t>1000</a:t>
            </a:r>
          </a:p>
        </p:txBody>
      </p:sp>
      <p:sp>
        <p:nvSpPr>
          <p:cNvPr id="76" name="TextBox 75"/>
          <p:cNvSpPr txBox="1"/>
          <p:nvPr/>
        </p:nvSpPr>
        <p:spPr>
          <a:xfrm>
            <a:off x="4409542" y="1623234"/>
            <a:ext cx="541225" cy="510366"/>
          </a:xfrm>
          <a:prstGeom prst="rect">
            <a:avLst/>
          </a:prstGeom>
          <a:noFill/>
          <a:ln w="38100">
            <a:solidFill>
              <a:schemeClr val="tx2"/>
            </a:solidFill>
          </a:ln>
        </p:spPr>
        <p:txBody>
          <a:bodyPr wrap="square" rtlCol="0">
            <a:spAutoFit/>
          </a:bodyPr>
          <a:lstStyle/>
          <a:p>
            <a:endParaRPr lang="en-US" dirty="0"/>
          </a:p>
        </p:txBody>
      </p:sp>
      <p:sp>
        <p:nvSpPr>
          <p:cNvPr id="77" name="TextBox 76"/>
          <p:cNvSpPr txBox="1"/>
          <p:nvPr/>
        </p:nvSpPr>
        <p:spPr>
          <a:xfrm>
            <a:off x="1012442" y="3444267"/>
            <a:ext cx="459015" cy="357966"/>
          </a:xfrm>
          <a:prstGeom prst="rect">
            <a:avLst/>
          </a:prstGeom>
          <a:noFill/>
          <a:ln w="38100">
            <a:solidFill>
              <a:srgbClr val="FF0000"/>
            </a:solidFill>
          </a:ln>
        </p:spPr>
        <p:txBody>
          <a:bodyPr wrap="square" rtlCol="0">
            <a:spAutoFit/>
          </a:bodyPr>
          <a:lstStyle/>
          <a:p>
            <a:endParaRPr lang="en-US" dirty="0"/>
          </a:p>
        </p:txBody>
      </p:sp>
      <p:sp>
        <p:nvSpPr>
          <p:cNvPr id="78" name="TextBox 77"/>
          <p:cNvSpPr txBox="1"/>
          <p:nvPr/>
        </p:nvSpPr>
        <p:spPr>
          <a:xfrm>
            <a:off x="1011349" y="3796428"/>
            <a:ext cx="459015" cy="357966"/>
          </a:xfrm>
          <a:prstGeom prst="rect">
            <a:avLst/>
          </a:prstGeom>
          <a:noFill/>
          <a:ln w="38100">
            <a:solidFill>
              <a:srgbClr val="FF0000"/>
            </a:solidFill>
          </a:ln>
        </p:spPr>
        <p:txBody>
          <a:bodyPr wrap="square" rtlCol="0">
            <a:spAutoFit/>
          </a:bodyPr>
          <a:lstStyle/>
          <a:p>
            <a:endParaRPr lang="en-US" dirty="0"/>
          </a:p>
        </p:txBody>
      </p:sp>
      <p:sp>
        <p:nvSpPr>
          <p:cNvPr id="79" name="TextBox 78"/>
          <p:cNvSpPr txBox="1"/>
          <p:nvPr/>
        </p:nvSpPr>
        <p:spPr>
          <a:xfrm>
            <a:off x="7636334" y="4643947"/>
            <a:ext cx="716347" cy="369332"/>
          </a:xfrm>
          <a:prstGeom prst="rect">
            <a:avLst/>
          </a:prstGeom>
          <a:noFill/>
        </p:spPr>
        <p:txBody>
          <a:bodyPr wrap="square" rtlCol="0">
            <a:spAutoFit/>
          </a:bodyPr>
          <a:lstStyle/>
          <a:p>
            <a:r>
              <a:rPr lang="en-US" dirty="0">
                <a:solidFill>
                  <a:srgbClr val="FF0000"/>
                </a:solidFill>
              </a:rPr>
              <a:t>0011</a:t>
            </a:r>
          </a:p>
        </p:txBody>
      </p:sp>
      <mc:AlternateContent xmlns:mc="http://schemas.openxmlformats.org/markup-compatibility/2006" xmlns:a14="http://schemas.microsoft.com/office/drawing/2010/main">
        <mc:Choice Requires="a14">
          <p:sp>
            <p:nvSpPr>
              <p:cNvPr id="80" name="TextBox 79"/>
              <p:cNvSpPr txBox="1"/>
              <p:nvPr/>
            </p:nvSpPr>
            <p:spPr>
              <a:xfrm>
                <a:off x="523619" y="2708315"/>
                <a:ext cx="120097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nor/>
                        </m:rPr>
                        <a:rPr lang="en-US" b="1" i="0" smtClean="0">
                          <a:latin typeface="Cambria Math"/>
                        </a:rPr>
                        <m:t>a</m:t>
                      </m:r>
                      <m:r>
                        <m:rPr>
                          <m:nor/>
                        </m:rPr>
                        <a:rPr lang="en-US" b="1" i="0" smtClean="0">
                          <a:latin typeface="Cambria Math"/>
                        </a:rPr>
                        <m:t>  </m:t>
                      </m:r>
                      <m:r>
                        <m:rPr>
                          <m:nor/>
                        </m:rPr>
                        <a:rPr lang="en-US" b="1" i="0" smtClean="0">
                          <a:latin typeface="Cambria Math"/>
                        </a:rPr>
                        <m:t>b</m:t>
                      </m:r>
                      <m:r>
                        <m:rPr>
                          <m:nor/>
                        </m:rPr>
                        <a:rPr lang="en-US" b="1" i="0" smtClean="0">
                          <a:latin typeface="Cambria Math"/>
                        </a:rPr>
                        <m:t>  </m:t>
                      </m:r>
                      <m:r>
                        <m:rPr>
                          <m:nor/>
                        </m:rPr>
                        <a:rPr lang="en-US" b="1" i="0" smtClean="0">
                          <a:latin typeface="Cambria Math"/>
                        </a:rPr>
                        <m:t>c</m:t>
                      </m:r>
                      <m:r>
                        <m:rPr>
                          <m:nor/>
                        </m:rPr>
                        <a:rPr lang="en-US" b="1" i="0" smtClean="0">
                          <a:latin typeface="Cambria Math"/>
                        </a:rPr>
                        <m:t>  </m:t>
                      </m:r>
                      <m:r>
                        <m:rPr>
                          <m:nor/>
                        </m:rPr>
                        <a:rPr lang="en-US" b="1" i="0" smtClean="0">
                          <a:latin typeface="Cambria Math"/>
                        </a:rPr>
                        <m:t>d</m:t>
                      </m:r>
                      <m:r>
                        <m:rPr>
                          <m:nor/>
                        </m:rPr>
                        <a:rPr lang="en-US" b="1" i="0" smtClean="0">
                          <a:latin typeface="Cambria Math"/>
                        </a:rPr>
                        <m:t>  </m:t>
                      </m:r>
                      <m:r>
                        <m:rPr>
                          <m:nor/>
                        </m:rPr>
                        <a:rPr lang="en-US" b="1" i="0" smtClean="0">
                          <a:latin typeface="Cambria Math"/>
                        </a:rPr>
                        <m:t>e</m:t>
                      </m:r>
                    </m:oMath>
                  </m:oMathPara>
                </a14:m>
                <a:endParaRPr lang="en-US" b="1" i="0" dirty="0">
                  <a:latin typeface="Cambria Math"/>
                </a:endParaRPr>
              </a:p>
            </p:txBody>
          </p:sp>
        </mc:Choice>
        <mc:Fallback xmlns="">
          <p:sp>
            <p:nvSpPr>
              <p:cNvPr id="80" name="TextBox 79"/>
              <p:cNvSpPr txBox="1">
                <a:spLocks noRot="1" noChangeAspect="1" noMove="1" noResize="1" noEditPoints="1" noAdjustHandles="1" noChangeArrowheads="1" noChangeShapeType="1" noTextEdit="1"/>
              </p:cNvSpPr>
              <p:nvPr/>
            </p:nvSpPr>
            <p:spPr>
              <a:xfrm>
                <a:off x="523619" y="2708315"/>
                <a:ext cx="1200970" cy="369332"/>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1" name="TextBox 80"/>
              <p:cNvSpPr txBox="1"/>
              <p:nvPr/>
            </p:nvSpPr>
            <p:spPr>
              <a:xfrm>
                <a:off x="523619" y="3112512"/>
                <a:ext cx="88036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nor/>
                        </m:rPr>
                        <a:rPr lang="en-US" b="1" i="0" smtClean="0">
                          <a:latin typeface="Cambria Math"/>
                        </a:rPr>
                        <m:t>b</m:t>
                      </m:r>
                      <m:r>
                        <m:rPr>
                          <m:nor/>
                        </m:rPr>
                        <a:rPr lang="en-US" b="1" i="0" smtClean="0">
                          <a:latin typeface="Cambria Math"/>
                        </a:rPr>
                        <m:t>  </m:t>
                      </m:r>
                      <m:r>
                        <m:rPr>
                          <m:nor/>
                        </m:rPr>
                        <a:rPr lang="en-US" b="1" i="0" smtClean="0">
                          <a:latin typeface="Cambria Math"/>
                        </a:rPr>
                        <m:t>c</m:t>
                      </m:r>
                      <m:r>
                        <m:rPr>
                          <m:nor/>
                        </m:rPr>
                        <a:rPr lang="en-US" b="1" i="0" smtClean="0">
                          <a:latin typeface="Cambria Math"/>
                        </a:rPr>
                        <m:t>  </m:t>
                      </m:r>
                      <m:r>
                        <m:rPr>
                          <m:nor/>
                        </m:rPr>
                        <a:rPr lang="en-US" b="1" i="0" smtClean="0">
                          <a:latin typeface="Cambria Math"/>
                        </a:rPr>
                        <m:t>d</m:t>
                      </m:r>
                      <m:r>
                        <m:rPr>
                          <m:nor/>
                        </m:rPr>
                        <a:rPr lang="en-US" b="1" i="0" smtClean="0">
                          <a:latin typeface="Cambria Math"/>
                        </a:rPr>
                        <m:t>  </m:t>
                      </m:r>
                    </m:oMath>
                  </m:oMathPara>
                </a14:m>
                <a:endParaRPr lang="en-US" b="1" i="0" dirty="0">
                  <a:latin typeface="Cambria Math"/>
                </a:endParaRPr>
              </a:p>
            </p:txBody>
          </p:sp>
        </mc:Choice>
        <mc:Fallback xmlns="">
          <p:sp>
            <p:nvSpPr>
              <p:cNvPr id="81" name="TextBox 80"/>
              <p:cNvSpPr txBox="1">
                <a:spLocks noRot="1" noChangeAspect="1" noMove="1" noResize="1" noEditPoints="1" noAdjustHandles="1" noChangeArrowheads="1" noChangeShapeType="1" noTextEdit="1"/>
              </p:cNvSpPr>
              <p:nvPr/>
            </p:nvSpPr>
            <p:spPr>
              <a:xfrm>
                <a:off x="523619" y="3112512"/>
                <a:ext cx="880369" cy="369332"/>
              </a:xfrm>
              <a:prstGeom prst="rect">
                <a:avLst/>
              </a:prstGeom>
              <a:blipFill rotWithShape="1">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2" name="TextBox 81"/>
              <p:cNvSpPr txBox="1"/>
              <p:nvPr/>
            </p:nvSpPr>
            <p:spPr>
              <a:xfrm>
                <a:off x="538692" y="3454848"/>
                <a:ext cx="106150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nor/>
                        </m:rPr>
                        <a:rPr lang="en-US" b="1" i="0" smtClean="0">
                          <a:latin typeface="Cambria Math"/>
                        </a:rPr>
                        <m:t>b</m:t>
                      </m:r>
                      <m:r>
                        <m:rPr>
                          <m:nor/>
                        </m:rPr>
                        <a:rPr lang="en-US" b="1" i="0" smtClean="0">
                          <a:latin typeface="Cambria Math"/>
                        </a:rPr>
                        <m:t>  </m:t>
                      </m:r>
                      <m:r>
                        <m:rPr>
                          <m:nor/>
                        </m:rPr>
                        <a:rPr lang="en-US" b="1" i="0" smtClean="0">
                          <a:latin typeface="Cambria Math"/>
                        </a:rPr>
                        <m:t>g</m:t>
                      </m:r>
                      <m:r>
                        <m:rPr>
                          <m:nor/>
                        </m:rPr>
                        <a:rPr lang="en-US" b="1" i="0" smtClean="0">
                          <a:latin typeface="Cambria Math"/>
                        </a:rPr>
                        <m:t>  </m:t>
                      </m:r>
                      <m:r>
                        <m:rPr>
                          <m:nor/>
                        </m:rPr>
                        <a:rPr lang="en-US" b="1" i="0" smtClean="0">
                          <a:latin typeface="Cambria Math"/>
                        </a:rPr>
                        <m:t>f</m:t>
                      </m:r>
                      <m:r>
                        <m:rPr>
                          <m:nor/>
                        </m:rPr>
                        <a:rPr lang="en-US" b="1" i="0" smtClean="0">
                          <a:latin typeface="Cambria Math"/>
                        </a:rPr>
                        <m:t>  </m:t>
                      </m:r>
                      <m:r>
                        <m:rPr>
                          <m:nor/>
                        </m:rPr>
                        <a:rPr lang="en-US" b="1" i="0" smtClean="0">
                          <a:latin typeface="Cambria Math"/>
                        </a:rPr>
                        <m:t>d</m:t>
                      </m:r>
                      <m:r>
                        <m:rPr>
                          <m:nor/>
                        </m:rPr>
                        <a:rPr lang="en-US" b="1" i="0" smtClean="0">
                          <a:latin typeface="Cambria Math"/>
                        </a:rPr>
                        <m:t>  </m:t>
                      </m:r>
                    </m:oMath>
                  </m:oMathPara>
                </a14:m>
                <a:endParaRPr lang="en-US" b="1" i="0" dirty="0">
                  <a:latin typeface="Cambria Math"/>
                </a:endParaRPr>
              </a:p>
            </p:txBody>
          </p:sp>
        </mc:Choice>
        <mc:Fallback xmlns="">
          <p:sp>
            <p:nvSpPr>
              <p:cNvPr id="82" name="TextBox 81"/>
              <p:cNvSpPr txBox="1">
                <a:spLocks noRot="1" noChangeAspect="1" noMove="1" noResize="1" noEditPoints="1" noAdjustHandles="1" noChangeArrowheads="1" noChangeShapeType="1" noTextEdit="1"/>
              </p:cNvSpPr>
              <p:nvPr/>
            </p:nvSpPr>
            <p:spPr>
              <a:xfrm>
                <a:off x="538692" y="3454848"/>
                <a:ext cx="1061508" cy="369332"/>
              </a:xfrm>
              <a:prstGeom prst="rect">
                <a:avLst/>
              </a:prstGeom>
              <a:blipFill rotWithShape="1">
                <a:blip r:embed="rId6"/>
                <a:stretch>
                  <a:fillRect b="-8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3" name="TextBox 82"/>
              <p:cNvSpPr txBox="1"/>
              <p:nvPr/>
            </p:nvSpPr>
            <p:spPr>
              <a:xfrm>
                <a:off x="523619" y="3853471"/>
                <a:ext cx="106150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nor/>
                        </m:rPr>
                        <a:rPr lang="en-US" b="1" i="0" smtClean="0">
                          <a:latin typeface="Cambria Math"/>
                        </a:rPr>
                        <m:t>b</m:t>
                      </m:r>
                      <m:r>
                        <m:rPr>
                          <m:nor/>
                        </m:rPr>
                        <a:rPr lang="en-US" b="1" i="0" smtClean="0">
                          <a:latin typeface="Cambria Math"/>
                        </a:rPr>
                        <m:t>  </m:t>
                      </m:r>
                      <m:r>
                        <m:rPr>
                          <m:nor/>
                        </m:rPr>
                        <a:rPr lang="en-US" b="1" i="0" smtClean="0">
                          <a:latin typeface="Cambria Math"/>
                        </a:rPr>
                        <m:t>g</m:t>
                      </m:r>
                      <m:r>
                        <m:rPr>
                          <m:nor/>
                        </m:rPr>
                        <a:rPr lang="en-US" b="1" i="0" smtClean="0">
                          <a:latin typeface="Cambria Math"/>
                        </a:rPr>
                        <m:t>  </m:t>
                      </m:r>
                      <m:r>
                        <m:rPr>
                          <m:nor/>
                        </m:rPr>
                        <a:rPr lang="en-US" b="1" i="0" smtClean="0">
                          <a:latin typeface="Cambria Math"/>
                        </a:rPr>
                        <m:t>f</m:t>
                      </m:r>
                      <m:r>
                        <m:rPr>
                          <m:nor/>
                        </m:rPr>
                        <a:rPr lang="en-US" b="1" i="0" smtClean="0">
                          <a:latin typeface="Cambria Math"/>
                        </a:rPr>
                        <m:t>  </m:t>
                      </m:r>
                      <m:r>
                        <m:rPr>
                          <m:nor/>
                        </m:rPr>
                        <a:rPr lang="en-US" b="1" i="0" smtClean="0">
                          <a:latin typeface="Cambria Math"/>
                        </a:rPr>
                        <m:t>d</m:t>
                      </m:r>
                      <m:r>
                        <m:rPr>
                          <m:nor/>
                        </m:rPr>
                        <a:rPr lang="en-US" b="1" i="0" smtClean="0">
                          <a:latin typeface="Cambria Math"/>
                        </a:rPr>
                        <m:t>  </m:t>
                      </m:r>
                    </m:oMath>
                  </m:oMathPara>
                </a14:m>
                <a:endParaRPr lang="en-US" b="1" i="0" dirty="0">
                  <a:latin typeface="Cambria Math"/>
                </a:endParaRPr>
              </a:p>
            </p:txBody>
          </p:sp>
        </mc:Choice>
        <mc:Fallback xmlns="">
          <p:sp>
            <p:nvSpPr>
              <p:cNvPr id="83" name="TextBox 82"/>
              <p:cNvSpPr txBox="1">
                <a:spLocks noRot="1" noChangeAspect="1" noMove="1" noResize="1" noEditPoints="1" noAdjustHandles="1" noChangeArrowheads="1" noChangeShapeType="1" noTextEdit="1"/>
              </p:cNvSpPr>
              <p:nvPr/>
            </p:nvSpPr>
            <p:spPr>
              <a:xfrm>
                <a:off x="523619" y="3853471"/>
                <a:ext cx="1061508" cy="369332"/>
              </a:xfrm>
              <a:prstGeom prst="rect">
                <a:avLst/>
              </a:prstGeom>
              <a:blipFill rotWithShape="1">
                <a:blip r:embed="rId7"/>
                <a:stretch>
                  <a:fillRect b="-6557"/>
                </a:stretch>
              </a:blipFill>
            </p:spPr>
            <p:txBody>
              <a:bodyPr/>
              <a:lstStyle/>
              <a:p>
                <a:r>
                  <a:rPr lang="zh-CN" altLang="en-US">
                    <a:noFill/>
                  </a:rPr>
                  <a:t> </a:t>
                </a:r>
              </a:p>
            </p:txBody>
          </p:sp>
        </mc:Fallback>
      </mc:AlternateContent>
      <p:pic>
        <p:nvPicPr>
          <p:cNvPr id="36"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40322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44"/>
                                        </p:tgtEl>
                                        <p:attrNameLst>
                                          <p:attrName>style.visibility</p:attrName>
                                        </p:attrNameLst>
                                      </p:cBhvr>
                                      <p:to>
                                        <p:strVal val="visible"/>
                                      </p:to>
                                    </p:set>
                                    <p:animEffect transition="in" filter="barn(inVertical)">
                                      <p:cBhvr>
                                        <p:cTn id="15" dur="500"/>
                                        <p:tgtEl>
                                          <p:spTgt spid="44"/>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45"/>
                                        </p:tgtEl>
                                        <p:attrNameLst>
                                          <p:attrName>style.visibility</p:attrName>
                                        </p:attrNameLst>
                                      </p:cBhvr>
                                      <p:to>
                                        <p:strVal val="visible"/>
                                      </p:to>
                                    </p:set>
                                    <p:animEffect transition="in" filter="barn(inVertical)">
                                      <p:cBhvr>
                                        <p:cTn id="20" dur="500"/>
                                        <p:tgtEl>
                                          <p:spTgt spid="45"/>
                                        </p:tgtEl>
                                      </p:cBhvr>
                                    </p:animEffect>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46"/>
                                        </p:tgtEl>
                                        <p:attrNameLst>
                                          <p:attrName>style.visibility</p:attrName>
                                        </p:attrNameLst>
                                      </p:cBhvr>
                                      <p:to>
                                        <p:strVal val="visible"/>
                                      </p:to>
                                    </p:set>
                                    <p:animEffect transition="in" filter="fade">
                                      <p:cBhvr>
                                        <p:cTn id="25" dur="1000"/>
                                        <p:tgtEl>
                                          <p:spTgt spid="46"/>
                                        </p:tgtEl>
                                      </p:cBhvr>
                                    </p:animEffect>
                                    <p:anim calcmode="lin" valueType="num">
                                      <p:cBhvr>
                                        <p:cTn id="26" dur="1000" fill="hold"/>
                                        <p:tgtEl>
                                          <p:spTgt spid="46"/>
                                        </p:tgtEl>
                                        <p:attrNameLst>
                                          <p:attrName>ppt_x</p:attrName>
                                        </p:attrNameLst>
                                      </p:cBhvr>
                                      <p:tavLst>
                                        <p:tav tm="0">
                                          <p:val>
                                            <p:strVal val="#ppt_x"/>
                                          </p:val>
                                        </p:tav>
                                        <p:tav tm="100000">
                                          <p:val>
                                            <p:strVal val="#ppt_x"/>
                                          </p:val>
                                        </p:tav>
                                      </p:tavLst>
                                    </p:anim>
                                    <p:anim calcmode="lin" valueType="num">
                                      <p:cBhvr>
                                        <p:cTn id="27"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 presetClass="exit" presetSubtype="0" fill="hold" grpId="1" nodeType="clickEffect">
                                  <p:stCondLst>
                                    <p:cond delay="0"/>
                                  </p:stCondLst>
                                  <p:childTnLst>
                                    <p:set>
                                      <p:cBhvr>
                                        <p:cTn id="31" dur="1" fill="hold">
                                          <p:stCondLst>
                                            <p:cond delay="0"/>
                                          </p:stCondLst>
                                        </p:cTn>
                                        <p:tgtEl>
                                          <p:spTgt spid="44"/>
                                        </p:tgtEl>
                                        <p:attrNameLst>
                                          <p:attrName>style.visibility</p:attrName>
                                        </p:attrNameLst>
                                      </p:cBhvr>
                                      <p:to>
                                        <p:strVal val="hidden"/>
                                      </p:to>
                                    </p:set>
                                  </p:childTnLst>
                                </p:cTn>
                              </p:par>
                              <p:par>
                                <p:cTn id="32" presetID="1" presetClass="exit" presetSubtype="0" fill="hold" grpId="1" nodeType="withEffect">
                                  <p:stCondLst>
                                    <p:cond delay="0"/>
                                  </p:stCondLst>
                                  <p:childTnLst>
                                    <p:set>
                                      <p:cBhvr>
                                        <p:cTn id="33" dur="1" fill="hold">
                                          <p:stCondLst>
                                            <p:cond delay="0"/>
                                          </p:stCondLst>
                                        </p:cTn>
                                        <p:tgtEl>
                                          <p:spTgt spid="45"/>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grpId="0" nodeType="clickEffect">
                                  <p:stCondLst>
                                    <p:cond delay="0"/>
                                  </p:stCondLst>
                                  <p:childTnLst>
                                    <p:set>
                                      <p:cBhvr>
                                        <p:cTn id="37" dur="1" fill="hold">
                                          <p:stCondLst>
                                            <p:cond delay="0"/>
                                          </p:stCondLst>
                                        </p:cTn>
                                        <p:tgtEl>
                                          <p:spTgt spid="48"/>
                                        </p:tgtEl>
                                        <p:attrNameLst>
                                          <p:attrName>style.visibility</p:attrName>
                                        </p:attrNameLst>
                                      </p:cBhvr>
                                      <p:to>
                                        <p:strVal val="visible"/>
                                      </p:to>
                                    </p:set>
                                    <p:animEffect transition="in" filter="barn(inVertical)">
                                      <p:cBhvr>
                                        <p:cTn id="38" dur="500"/>
                                        <p:tgtEl>
                                          <p:spTgt spid="48"/>
                                        </p:tgtEl>
                                      </p:cBhvr>
                                    </p:animEffect>
                                  </p:childTnLst>
                                </p:cTn>
                              </p:par>
                              <p:par>
                                <p:cTn id="39" presetID="16" presetClass="entr" presetSubtype="21" fill="hold" grpId="0" nodeType="withEffect">
                                  <p:stCondLst>
                                    <p:cond delay="0"/>
                                  </p:stCondLst>
                                  <p:childTnLst>
                                    <p:set>
                                      <p:cBhvr>
                                        <p:cTn id="40" dur="1" fill="hold">
                                          <p:stCondLst>
                                            <p:cond delay="0"/>
                                          </p:stCondLst>
                                        </p:cTn>
                                        <p:tgtEl>
                                          <p:spTgt spid="49"/>
                                        </p:tgtEl>
                                        <p:attrNameLst>
                                          <p:attrName>style.visibility</p:attrName>
                                        </p:attrNameLst>
                                      </p:cBhvr>
                                      <p:to>
                                        <p:strVal val="visible"/>
                                      </p:to>
                                    </p:set>
                                    <p:animEffect transition="in" filter="barn(inVertical)">
                                      <p:cBhvr>
                                        <p:cTn id="41" dur="500"/>
                                        <p:tgtEl>
                                          <p:spTgt spid="49"/>
                                        </p:tgtEl>
                                      </p:cBhvr>
                                    </p:animEffect>
                                  </p:childTnLst>
                                </p:cTn>
                              </p:par>
                              <p:par>
                                <p:cTn id="42" presetID="16" presetClass="entr" presetSubtype="21" fill="hold" grpId="0" nodeType="withEffect">
                                  <p:stCondLst>
                                    <p:cond delay="0"/>
                                  </p:stCondLst>
                                  <p:childTnLst>
                                    <p:set>
                                      <p:cBhvr>
                                        <p:cTn id="43" dur="1" fill="hold">
                                          <p:stCondLst>
                                            <p:cond delay="0"/>
                                          </p:stCondLst>
                                        </p:cTn>
                                        <p:tgtEl>
                                          <p:spTgt spid="50"/>
                                        </p:tgtEl>
                                        <p:attrNameLst>
                                          <p:attrName>style.visibility</p:attrName>
                                        </p:attrNameLst>
                                      </p:cBhvr>
                                      <p:to>
                                        <p:strVal val="visible"/>
                                      </p:to>
                                    </p:set>
                                    <p:animEffect transition="in" filter="barn(inVertical)">
                                      <p:cBhvr>
                                        <p:cTn id="44" dur="500"/>
                                        <p:tgtEl>
                                          <p:spTgt spid="50"/>
                                        </p:tgtEl>
                                      </p:cBhvr>
                                    </p:animEffect>
                                  </p:childTnLst>
                                </p:cTn>
                              </p:par>
                              <p:par>
                                <p:cTn id="45" presetID="42" presetClass="entr" presetSubtype="0" fill="hold" grpId="0" nodeType="withEffect">
                                  <p:stCondLst>
                                    <p:cond delay="0"/>
                                  </p:stCondLst>
                                  <p:childTnLst>
                                    <p:set>
                                      <p:cBhvr>
                                        <p:cTn id="46" dur="1" fill="hold">
                                          <p:stCondLst>
                                            <p:cond delay="0"/>
                                          </p:stCondLst>
                                        </p:cTn>
                                        <p:tgtEl>
                                          <p:spTgt spid="52"/>
                                        </p:tgtEl>
                                        <p:attrNameLst>
                                          <p:attrName>style.visibility</p:attrName>
                                        </p:attrNameLst>
                                      </p:cBhvr>
                                      <p:to>
                                        <p:strVal val="visible"/>
                                      </p:to>
                                    </p:set>
                                    <p:animEffect transition="in" filter="fade">
                                      <p:cBhvr>
                                        <p:cTn id="47" dur="1000"/>
                                        <p:tgtEl>
                                          <p:spTgt spid="52"/>
                                        </p:tgtEl>
                                      </p:cBhvr>
                                    </p:animEffect>
                                    <p:anim calcmode="lin" valueType="num">
                                      <p:cBhvr>
                                        <p:cTn id="48" dur="1000" fill="hold"/>
                                        <p:tgtEl>
                                          <p:spTgt spid="52"/>
                                        </p:tgtEl>
                                        <p:attrNameLst>
                                          <p:attrName>ppt_x</p:attrName>
                                        </p:attrNameLst>
                                      </p:cBhvr>
                                      <p:tavLst>
                                        <p:tav tm="0">
                                          <p:val>
                                            <p:strVal val="#ppt_x"/>
                                          </p:val>
                                        </p:tav>
                                        <p:tav tm="100000">
                                          <p:val>
                                            <p:strVal val="#ppt_x"/>
                                          </p:val>
                                        </p:tav>
                                      </p:tavLst>
                                    </p:anim>
                                    <p:anim calcmode="lin" valueType="num">
                                      <p:cBhvr>
                                        <p:cTn id="49"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1" presetClass="exit" presetSubtype="0" fill="hold" grpId="1" nodeType="clickEffect">
                                  <p:stCondLst>
                                    <p:cond delay="0"/>
                                  </p:stCondLst>
                                  <p:childTnLst>
                                    <p:set>
                                      <p:cBhvr>
                                        <p:cTn id="53" dur="1" fill="hold">
                                          <p:stCondLst>
                                            <p:cond delay="0"/>
                                          </p:stCondLst>
                                        </p:cTn>
                                        <p:tgtEl>
                                          <p:spTgt spid="48"/>
                                        </p:tgtEl>
                                        <p:attrNameLst>
                                          <p:attrName>style.visibility</p:attrName>
                                        </p:attrNameLst>
                                      </p:cBhvr>
                                      <p:to>
                                        <p:strVal val="hidden"/>
                                      </p:to>
                                    </p:set>
                                  </p:childTnLst>
                                </p:cTn>
                              </p:par>
                              <p:par>
                                <p:cTn id="54" presetID="1" presetClass="exit" presetSubtype="0" fill="hold" grpId="1" nodeType="withEffect">
                                  <p:stCondLst>
                                    <p:cond delay="0"/>
                                  </p:stCondLst>
                                  <p:childTnLst>
                                    <p:set>
                                      <p:cBhvr>
                                        <p:cTn id="55" dur="1" fill="hold">
                                          <p:stCondLst>
                                            <p:cond delay="0"/>
                                          </p:stCondLst>
                                        </p:cTn>
                                        <p:tgtEl>
                                          <p:spTgt spid="49"/>
                                        </p:tgtEl>
                                        <p:attrNameLst>
                                          <p:attrName>style.visibility</p:attrName>
                                        </p:attrNameLst>
                                      </p:cBhvr>
                                      <p:to>
                                        <p:strVal val="hidden"/>
                                      </p:to>
                                    </p:set>
                                  </p:childTnLst>
                                </p:cTn>
                              </p:par>
                              <p:par>
                                <p:cTn id="56" presetID="1" presetClass="exit" presetSubtype="0" fill="hold" grpId="1" nodeType="withEffect">
                                  <p:stCondLst>
                                    <p:cond delay="0"/>
                                  </p:stCondLst>
                                  <p:childTnLst>
                                    <p:set>
                                      <p:cBhvr>
                                        <p:cTn id="57" dur="1" fill="hold">
                                          <p:stCondLst>
                                            <p:cond delay="0"/>
                                          </p:stCondLst>
                                        </p:cTn>
                                        <p:tgtEl>
                                          <p:spTgt spid="50"/>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16" presetClass="entr" presetSubtype="21" fill="hold" grpId="0" nodeType="clickEffect">
                                  <p:stCondLst>
                                    <p:cond delay="0"/>
                                  </p:stCondLst>
                                  <p:childTnLst>
                                    <p:set>
                                      <p:cBhvr>
                                        <p:cTn id="61" dur="1" fill="hold">
                                          <p:stCondLst>
                                            <p:cond delay="0"/>
                                          </p:stCondLst>
                                        </p:cTn>
                                        <p:tgtEl>
                                          <p:spTgt spid="53"/>
                                        </p:tgtEl>
                                        <p:attrNameLst>
                                          <p:attrName>style.visibility</p:attrName>
                                        </p:attrNameLst>
                                      </p:cBhvr>
                                      <p:to>
                                        <p:strVal val="visible"/>
                                      </p:to>
                                    </p:set>
                                    <p:animEffect transition="in" filter="barn(inVertical)">
                                      <p:cBhvr>
                                        <p:cTn id="62" dur="500"/>
                                        <p:tgtEl>
                                          <p:spTgt spid="53"/>
                                        </p:tgtEl>
                                      </p:cBhvr>
                                    </p:animEffect>
                                  </p:childTnLst>
                                </p:cTn>
                              </p:par>
                              <p:par>
                                <p:cTn id="63" presetID="16" presetClass="entr" presetSubtype="21" fill="hold" grpId="0" nodeType="withEffect">
                                  <p:stCondLst>
                                    <p:cond delay="0"/>
                                  </p:stCondLst>
                                  <p:childTnLst>
                                    <p:set>
                                      <p:cBhvr>
                                        <p:cTn id="64" dur="1" fill="hold">
                                          <p:stCondLst>
                                            <p:cond delay="0"/>
                                          </p:stCondLst>
                                        </p:cTn>
                                        <p:tgtEl>
                                          <p:spTgt spid="54"/>
                                        </p:tgtEl>
                                        <p:attrNameLst>
                                          <p:attrName>style.visibility</p:attrName>
                                        </p:attrNameLst>
                                      </p:cBhvr>
                                      <p:to>
                                        <p:strVal val="visible"/>
                                      </p:to>
                                    </p:set>
                                    <p:animEffect transition="in" filter="barn(inVertical)">
                                      <p:cBhvr>
                                        <p:cTn id="65" dur="500"/>
                                        <p:tgtEl>
                                          <p:spTgt spid="54"/>
                                        </p:tgtEl>
                                      </p:cBhvr>
                                    </p:animEffect>
                                  </p:childTnLst>
                                </p:cTn>
                              </p:par>
                              <p:par>
                                <p:cTn id="66" presetID="16" presetClass="entr" presetSubtype="21" fill="hold" grpId="0" nodeType="withEffect">
                                  <p:stCondLst>
                                    <p:cond delay="0"/>
                                  </p:stCondLst>
                                  <p:childTnLst>
                                    <p:set>
                                      <p:cBhvr>
                                        <p:cTn id="67" dur="1" fill="hold">
                                          <p:stCondLst>
                                            <p:cond delay="0"/>
                                          </p:stCondLst>
                                        </p:cTn>
                                        <p:tgtEl>
                                          <p:spTgt spid="55"/>
                                        </p:tgtEl>
                                        <p:attrNameLst>
                                          <p:attrName>style.visibility</p:attrName>
                                        </p:attrNameLst>
                                      </p:cBhvr>
                                      <p:to>
                                        <p:strVal val="visible"/>
                                      </p:to>
                                    </p:set>
                                    <p:animEffect transition="in" filter="barn(inVertical)">
                                      <p:cBhvr>
                                        <p:cTn id="68" dur="500"/>
                                        <p:tgtEl>
                                          <p:spTgt spid="55"/>
                                        </p:tgtEl>
                                      </p:cBhvr>
                                    </p:animEffect>
                                  </p:childTnLst>
                                </p:cTn>
                              </p:par>
                              <p:par>
                                <p:cTn id="69" presetID="42" presetClass="entr" presetSubtype="0" fill="hold" grpId="0" nodeType="withEffect">
                                  <p:stCondLst>
                                    <p:cond delay="0"/>
                                  </p:stCondLst>
                                  <p:childTnLst>
                                    <p:set>
                                      <p:cBhvr>
                                        <p:cTn id="70" dur="1" fill="hold">
                                          <p:stCondLst>
                                            <p:cond delay="0"/>
                                          </p:stCondLst>
                                        </p:cTn>
                                        <p:tgtEl>
                                          <p:spTgt spid="56"/>
                                        </p:tgtEl>
                                        <p:attrNameLst>
                                          <p:attrName>style.visibility</p:attrName>
                                        </p:attrNameLst>
                                      </p:cBhvr>
                                      <p:to>
                                        <p:strVal val="visible"/>
                                      </p:to>
                                    </p:set>
                                    <p:animEffect transition="in" filter="fade">
                                      <p:cBhvr>
                                        <p:cTn id="71" dur="1000"/>
                                        <p:tgtEl>
                                          <p:spTgt spid="56"/>
                                        </p:tgtEl>
                                      </p:cBhvr>
                                    </p:animEffect>
                                    <p:anim calcmode="lin" valueType="num">
                                      <p:cBhvr>
                                        <p:cTn id="72" dur="1000" fill="hold"/>
                                        <p:tgtEl>
                                          <p:spTgt spid="56"/>
                                        </p:tgtEl>
                                        <p:attrNameLst>
                                          <p:attrName>ppt_x</p:attrName>
                                        </p:attrNameLst>
                                      </p:cBhvr>
                                      <p:tavLst>
                                        <p:tav tm="0">
                                          <p:val>
                                            <p:strVal val="#ppt_x"/>
                                          </p:val>
                                        </p:tav>
                                        <p:tav tm="100000">
                                          <p:val>
                                            <p:strVal val="#ppt_x"/>
                                          </p:val>
                                        </p:tav>
                                      </p:tavLst>
                                    </p:anim>
                                    <p:anim calcmode="lin" valueType="num">
                                      <p:cBhvr>
                                        <p:cTn id="73" dur="1000" fill="hold"/>
                                        <p:tgtEl>
                                          <p:spTgt spid="56"/>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1" presetClass="exit" presetSubtype="0" fill="hold" grpId="1" nodeType="clickEffect">
                                  <p:stCondLst>
                                    <p:cond delay="0"/>
                                  </p:stCondLst>
                                  <p:childTnLst>
                                    <p:set>
                                      <p:cBhvr>
                                        <p:cTn id="77" dur="1" fill="hold">
                                          <p:stCondLst>
                                            <p:cond delay="0"/>
                                          </p:stCondLst>
                                        </p:cTn>
                                        <p:tgtEl>
                                          <p:spTgt spid="53"/>
                                        </p:tgtEl>
                                        <p:attrNameLst>
                                          <p:attrName>style.visibility</p:attrName>
                                        </p:attrNameLst>
                                      </p:cBhvr>
                                      <p:to>
                                        <p:strVal val="hidden"/>
                                      </p:to>
                                    </p:set>
                                  </p:childTnLst>
                                </p:cTn>
                              </p:par>
                              <p:par>
                                <p:cTn id="78" presetID="1" presetClass="exit" presetSubtype="0" fill="hold" grpId="1" nodeType="withEffect">
                                  <p:stCondLst>
                                    <p:cond delay="0"/>
                                  </p:stCondLst>
                                  <p:childTnLst>
                                    <p:set>
                                      <p:cBhvr>
                                        <p:cTn id="79" dur="1" fill="hold">
                                          <p:stCondLst>
                                            <p:cond delay="0"/>
                                          </p:stCondLst>
                                        </p:cTn>
                                        <p:tgtEl>
                                          <p:spTgt spid="54"/>
                                        </p:tgtEl>
                                        <p:attrNameLst>
                                          <p:attrName>style.visibility</p:attrName>
                                        </p:attrNameLst>
                                      </p:cBhvr>
                                      <p:to>
                                        <p:strVal val="hidden"/>
                                      </p:to>
                                    </p:set>
                                  </p:childTnLst>
                                </p:cTn>
                              </p:par>
                              <p:par>
                                <p:cTn id="80" presetID="1" presetClass="exit" presetSubtype="0" fill="hold" grpId="1" nodeType="withEffect">
                                  <p:stCondLst>
                                    <p:cond delay="0"/>
                                  </p:stCondLst>
                                  <p:childTnLst>
                                    <p:set>
                                      <p:cBhvr>
                                        <p:cTn id="81" dur="1" fill="hold">
                                          <p:stCondLst>
                                            <p:cond delay="0"/>
                                          </p:stCondLst>
                                        </p:cTn>
                                        <p:tgtEl>
                                          <p:spTgt spid="55"/>
                                        </p:tgtEl>
                                        <p:attrNameLst>
                                          <p:attrName>style.visibility</p:attrName>
                                        </p:attrNameLst>
                                      </p:cBhvr>
                                      <p:to>
                                        <p:strVal val="hidden"/>
                                      </p:to>
                                    </p:set>
                                  </p:childTnLst>
                                </p:cTn>
                              </p:par>
                            </p:childTnLst>
                          </p:cTn>
                        </p:par>
                      </p:childTnLst>
                    </p:cTn>
                  </p:par>
                  <p:par>
                    <p:cTn id="82" fill="hold">
                      <p:stCondLst>
                        <p:cond delay="indefinite"/>
                      </p:stCondLst>
                      <p:childTnLst>
                        <p:par>
                          <p:cTn id="83" fill="hold">
                            <p:stCondLst>
                              <p:cond delay="0"/>
                            </p:stCondLst>
                            <p:childTnLst>
                              <p:par>
                                <p:cTn id="84" presetID="16" presetClass="entr" presetSubtype="21" fill="hold" grpId="0" nodeType="clickEffect">
                                  <p:stCondLst>
                                    <p:cond delay="0"/>
                                  </p:stCondLst>
                                  <p:childTnLst>
                                    <p:set>
                                      <p:cBhvr>
                                        <p:cTn id="85" dur="1" fill="hold">
                                          <p:stCondLst>
                                            <p:cond delay="0"/>
                                          </p:stCondLst>
                                        </p:cTn>
                                        <p:tgtEl>
                                          <p:spTgt spid="57"/>
                                        </p:tgtEl>
                                        <p:attrNameLst>
                                          <p:attrName>style.visibility</p:attrName>
                                        </p:attrNameLst>
                                      </p:cBhvr>
                                      <p:to>
                                        <p:strVal val="visible"/>
                                      </p:to>
                                    </p:set>
                                    <p:animEffect transition="in" filter="barn(inVertical)">
                                      <p:cBhvr>
                                        <p:cTn id="86" dur="500"/>
                                        <p:tgtEl>
                                          <p:spTgt spid="57"/>
                                        </p:tgtEl>
                                      </p:cBhvr>
                                    </p:animEffect>
                                  </p:childTnLst>
                                </p:cTn>
                              </p:par>
                              <p:par>
                                <p:cTn id="87" presetID="16" presetClass="entr" presetSubtype="21" fill="hold" grpId="0" nodeType="withEffect">
                                  <p:stCondLst>
                                    <p:cond delay="0"/>
                                  </p:stCondLst>
                                  <p:childTnLst>
                                    <p:set>
                                      <p:cBhvr>
                                        <p:cTn id="88" dur="1" fill="hold">
                                          <p:stCondLst>
                                            <p:cond delay="0"/>
                                          </p:stCondLst>
                                        </p:cTn>
                                        <p:tgtEl>
                                          <p:spTgt spid="58"/>
                                        </p:tgtEl>
                                        <p:attrNameLst>
                                          <p:attrName>style.visibility</p:attrName>
                                        </p:attrNameLst>
                                      </p:cBhvr>
                                      <p:to>
                                        <p:strVal val="visible"/>
                                      </p:to>
                                    </p:set>
                                    <p:animEffect transition="in" filter="barn(inVertical)">
                                      <p:cBhvr>
                                        <p:cTn id="89" dur="500"/>
                                        <p:tgtEl>
                                          <p:spTgt spid="58"/>
                                        </p:tgtEl>
                                      </p:cBhvr>
                                    </p:animEffect>
                                  </p:childTnLst>
                                </p:cTn>
                              </p:par>
                              <p:par>
                                <p:cTn id="90" presetID="16" presetClass="entr" presetSubtype="21" fill="hold" grpId="0" nodeType="withEffect">
                                  <p:stCondLst>
                                    <p:cond delay="0"/>
                                  </p:stCondLst>
                                  <p:childTnLst>
                                    <p:set>
                                      <p:cBhvr>
                                        <p:cTn id="91" dur="1" fill="hold">
                                          <p:stCondLst>
                                            <p:cond delay="0"/>
                                          </p:stCondLst>
                                        </p:cTn>
                                        <p:tgtEl>
                                          <p:spTgt spid="59"/>
                                        </p:tgtEl>
                                        <p:attrNameLst>
                                          <p:attrName>style.visibility</p:attrName>
                                        </p:attrNameLst>
                                      </p:cBhvr>
                                      <p:to>
                                        <p:strVal val="visible"/>
                                      </p:to>
                                    </p:set>
                                    <p:animEffect transition="in" filter="barn(inVertical)">
                                      <p:cBhvr>
                                        <p:cTn id="92" dur="500"/>
                                        <p:tgtEl>
                                          <p:spTgt spid="59"/>
                                        </p:tgtEl>
                                      </p:cBhvr>
                                    </p:animEffect>
                                  </p:childTnLst>
                                </p:cTn>
                              </p:par>
                              <p:par>
                                <p:cTn id="93" presetID="42" presetClass="entr" presetSubtype="0" fill="hold" grpId="0" nodeType="withEffect">
                                  <p:stCondLst>
                                    <p:cond delay="0"/>
                                  </p:stCondLst>
                                  <p:childTnLst>
                                    <p:set>
                                      <p:cBhvr>
                                        <p:cTn id="94" dur="1" fill="hold">
                                          <p:stCondLst>
                                            <p:cond delay="0"/>
                                          </p:stCondLst>
                                        </p:cTn>
                                        <p:tgtEl>
                                          <p:spTgt spid="62"/>
                                        </p:tgtEl>
                                        <p:attrNameLst>
                                          <p:attrName>style.visibility</p:attrName>
                                        </p:attrNameLst>
                                      </p:cBhvr>
                                      <p:to>
                                        <p:strVal val="visible"/>
                                      </p:to>
                                    </p:set>
                                    <p:animEffect transition="in" filter="fade">
                                      <p:cBhvr>
                                        <p:cTn id="95" dur="1000"/>
                                        <p:tgtEl>
                                          <p:spTgt spid="62"/>
                                        </p:tgtEl>
                                      </p:cBhvr>
                                    </p:animEffect>
                                    <p:anim calcmode="lin" valueType="num">
                                      <p:cBhvr>
                                        <p:cTn id="96" dur="1000" fill="hold"/>
                                        <p:tgtEl>
                                          <p:spTgt spid="62"/>
                                        </p:tgtEl>
                                        <p:attrNameLst>
                                          <p:attrName>ppt_x</p:attrName>
                                        </p:attrNameLst>
                                      </p:cBhvr>
                                      <p:tavLst>
                                        <p:tav tm="0">
                                          <p:val>
                                            <p:strVal val="#ppt_x"/>
                                          </p:val>
                                        </p:tav>
                                        <p:tav tm="100000">
                                          <p:val>
                                            <p:strVal val="#ppt_x"/>
                                          </p:val>
                                        </p:tav>
                                      </p:tavLst>
                                    </p:anim>
                                    <p:anim calcmode="lin" valueType="num">
                                      <p:cBhvr>
                                        <p:cTn id="97" dur="1000" fill="hold"/>
                                        <p:tgtEl>
                                          <p:spTgt spid="62"/>
                                        </p:tgtEl>
                                        <p:attrNameLst>
                                          <p:attrName>ppt_y</p:attrName>
                                        </p:attrNameLst>
                                      </p:cBhvr>
                                      <p:tavLst>
                                        <p:tav tm="0">
                                          <p:val>
                                            <p:strVal val="#ppt_y+.1"/>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1" presetClass="exit" presetSubtype="0" fill="hold" grpId="1" nodeType="clickEffect">
                                  <p:stCondLst>
                                    <p:cond delay="0"/>
                                  </p:stCondLst>
                                  <p:childTnLst>
                                    <p:set>
                                      <p:cBhvr>
                                        <p:cTn id="101" dur="1" fill="hold">
                                          <p:stCondLst>
                                            <p:cond delay="0"/>
                                          </p:stCondLst>
                                        </p:cTn>
                                        <p:tgtEl>
                                          <p:spTgt spid="57"/>
                                        </p:tgtEl>
                                        <p:attrNameLst>
                                          <p:attrName>style.visibility</p:attrName>
                                        </p:attrNameLst>
                                      </p:cBhvr>
                                      <p:to>
                                        <p:strVal val="hidden"/>
                                      </p:to>
                                    </p:set>
                                  </p:childTnLst>
                                </p:cTn>
                              </p:par>
                              <p:par>
                                <p:cTn id="102" presetID="1" presetClass="exit" presetSubtype="0" fill="hold" grpId="1" nodeType="withEffect">
                                  <p:stCondLst>
                                    <p:cond delay="0"/>
                                  </p:stCondLst>
                                  <p:childTnLst>
                                    <p:set>
                                      <p:cBhvr>
                                        <p:cTn id="103" dur="1" fill="hold">
                                          <p:stCondLst>
                                            <p:cond delay="0"/>
                                          </p:stCondLst>
                                        </p:cTn>
                                        <p:tgtEl>
                                          <p:spTgt spid="58"/>
                                        </p:tgtEl>
                                        <p:attrNameLst>
                                          <p:attrName>style.visibility</p:attrName>
                                        </p:attrNameLst>
                                      </p:cBhvr>
                                      <p:to>
                                        <p:strVal val="hidden"/>
                                      </p:to>
                                    </p:set>
                                  </p:childTnLst>
                                </p:cTn>
                              </p:par>
                              <p:par>
                                <p:cTn id="104" presetID="1" presetClass="exit" presetSubtype="0" fill="hold" grpId="1" nodeType="withEffect">
                                  <p:stCondLst>
                                    <p:cond delay="0"/>
                                  </p:stCondLst>
                                  <p:childTnLst>
                                    <p:set>
                                      <p:cBhvr>
                                        <p:cTn id="105" dur="1" fill="hold">
                                          <p:stCondLst>
                                            <p:cond delay="0"/>
                                          </p:stCondLst>
                                        </p:cTn>
                                        <p:tgtEl>
                                          <p:spTgt spid="59"/>
                                        </p:tgtEl>
                                        <p:attrNameLst>
                                          <p:attrName>style.visibility</p:attrName>
                                        </p:attrNameLst>
                                      </p:cBhvr>
                                      <p:to>
                                        <p:strVal val="hidden"/>
                                      </p:to>
                                    </p:set>
                                  </p:childTnLst>
                                </p:cTn>
                              </p:par>
                            </p:childTnLst>
                          </p:cTn>
                        </p:par>
                      </p:childTnLst>
                    </p:cTn>
                  </p:par>
                  <p:par>
                    <p:cTn id="106" fill="hold">
                      <p:stCondLst>
                        <p:cond delay="indefinite"/>
                      </p:stCondLst>
                      <p:childTnLst>
                        <p:par>
                          <p:cTn id="107" fill="hold">
                            <p:stCondLst>
                              <p:cond delay="0"/>
                            </p:stCondLst>
                            <p:childTnLst>
                              <p:par>
                                <p:cTn id="108" presetID="16" presetClass="entr" presetSubtype="21" fill="hold" grpId="0" nodeType="clickEffect">
                                  <p:stCondLst>
                                    <p:cond delay="0"/>
                                  </p:stCondLst>
                                  <p:childTnLst>
                                    <p:set>
                                      <p:cBhvr>
                                        <p:cTn id="109" dur="1" fill="hold">
                                          <p:stCondLst>
                                            <p:cond delay="0"/>
                                          </p:stCondLst>
                                        </p:cTn>
                                        <p:tgtEl>
                                          <p:spTgt spid="63"/>
                                        </p:tgtEl>
                                        <p:attrNameLst>
                                          <p:attrName>style.visibility</p:attrName>
                                        </p:attrNameLst>
                                      </p:cBhvr>
                                      <p:to>
                                        <p:strVal val="visible"/>
                                      </p:to>
                                    </p:set>
                                    <p:animEffect transition="in" filter="barn(inVertical)">
                                      <p:cBhvr>
                                        <p:cTn id="110" dur="500"/>
                                        <p:tgtEl>
                                          <p:spTgt spid="63"/>
                                        </p:tgtEl>
                                      </p:cBhvr>
                                    </p:animEffect>
                                  </p:childTnLst>
                                </p:cTn>
                              </p:par>
                              <p:par>
                                <p:cTn id="111" presetID="16" presetClass="entr" presetSubtype="21" fill="hold" grpId="0" nodeType="withEffect">
                                  <p:stCondLst>
                                    <p:cond delay="0"/>
                                  </p:stCondLst>
                                  <p:childTnLst>
                                    <p:set>
                                      <p:cBhvr>
                                        <p:cTn id="112" dur="1" fill="hold">
                                          <p:stCondLst>
                                            <p:cond delay="0"/>
                                          </p:stCondLst>
                                        </p:cTn>
                                        <p:tgtEl>
                                          <p:spTgt spid="64"/>
                                        </p:tgtEl>
                                        <p:attrNameLst>
                                          <p:attrName>style.visibility</p:attrName>
                                        </p:attrNameLst>
                                      </p:cBhvr>
                                      <p:to>
                                        <p:strVal val="visible"/>
                                      </p:to>
                                    </p:set>
                                    <p:animEffect transition="in" filter="barn(inVertical)">
                                      <p:cBhvr>
                                        <p:cTn id="113" dur="500"/>
                                        <p:tgtEl>
                                          <p:spTgt spid="64"/>
                                        </p:tgtEl>
                                      </p:cBhvr>
                                    </p:animEffect>
                                  </p:childTnLst>
                                </p:cTn>
                              </p:par>
                              <p:par>
                                <p:cTn id="114" presetID="16" presetClass="entr" presetSubtype="21" fill="hold" grpId="0" nodeType="withEffect">
                                  <p:stCondLst>
                                    <p:cond delay="0"/>
                                  </p:stCondLst>
                                  <p:childTnLst>
                                    <p:set>
                                      <p:cBhvr>
                                        <p:cTn id="115" dur="1" fill="hold">
                                          <p:stCondLst>
                                            <p:cond delay="0"/>
                                          </p:stCondLst>
                                        </p:cTn>
                                        <p:tgtEl>
                                          <p:spTgt spid="65"/>
                                        </p:tgtEl>
                                        <p:attrNameLst>
                                          <p:attrName>style.visibility</p:attrName>
                                        </p:attrNameLst>
                                      </p:cBhvr>
                                      <p:to>
                                        <p:strVal val="visible"/>
                                      </p:to>
                                    </p:set>
                                    <p:animEffect transition="in" filter="barn(inVertical)">
                                      <p:cBhvr>
                                        <p:cTn id="116" dur="500"/>
                                        <p:tgtEl>
                                          <p:spTgt spid="65"/>
                                        </p:tgtEl>
                                      </p:cBhvr>
                                    </p:animEffect>
                                  </p:childTnLst>
                                </p:cTn>
                              </p:par>
                              <p:par>
                                <p:cTn id="117" presetID="42" presetClass="entr" presetSubtype="0" fill="hold" grpId="0" nodeType="withEffect">
                                  <p:stCondLst>
                                    <p:cond delay="0"/>
                                  </p:stCondLst>
                                  <p:childTnLst>
                                    <p:set>
                                      <p:cBhvr>
                                        <p:cTn id="118" dur="1" fill="hold">
                                          <p:stCondLst>
                                            <p:cond delay="0"/>
                                          </p:stCondLst>
                                        </p:cTn>
                                        <p:tgtEl>
                                          <p:spTgt spid="67"/>
                                        </p:tgtEl>
                                        <p:attrNameLst>
                                          <p:attrName>style.visibility</p:attrName>
                                        </p:attrNameLst>
                                      </p:cBhvr>
                                      <p:to>
                                        <p:strVal val="visible"/>
                                      </p:to>
                                    </p:set>
                                    <p:animEffect transition="in" filter="fade">
                                      <p:cBhvr>
                                        <p:cTn id="119" dur="1000"/>
                                        <p:tgtEl>
                                          <p:spTgt spid="67"/>
                                        </p:tgtEl>
                                      </p:cBhvr>
                                    </p:animEffect>
                                    <p:anim calcmode="lin" valueType="num">
                                      <p:cBhvr>
                                        <p:cTn id="120" dur="1000" fill="hold"/>
                                        <p:tgtEl>
                                          <p:spTgt spid="67"/>
                                        </p:tgtEl>
                                        <p:attrNameLst>
                                          <p:attrName>ppt_x</p:attrName>
                                        </p:attrNameLst>
                                      </p:cBhvr>
                                      <p:tavLst>
                                        <p:tav tm="0">
                                          <p:val>
                                            <p:strVal val="#ppt_x"/>
                                          </p:val>
                                        </p:tav>
                                        <p:tav tm="100000">
                                          <p:val>
                                            <p:strVal val="#ppt_x"/>
                                          </p:val>
                                        </p:tav>
                                      </p:tavLst>
                                    </p:anim>
                                    <p:anim calcmode="lin" valueType="num">
                                      <p:cBhvr>
                                        <p:cTn id="121" dur="1000" fill="hold"/>
                                        <p:tgtEl>
                                          <p:spTgt spid="67"/>
                                        </p:tgtEl>
                                        <p:attrNameLst>
                                          <p:attrName>ppt_y</p:attrName>
                                        </p:attrNameLst>
                                      </p:cBhvr>
                                      <p:tavLst>
                                        <p:tav tm="0">
                                          <p:val>
                                            <p:strVal val="#ppt_y+.1"/>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1" presetClass="exit" presetSubtype="0" fill="hold" grpId="1" nodeType="clickEffect">
                                  <p:stCondLst>
                                    <p:cond delay="0"/>
                                  </p:stCondLst>
                                  <p:childTnLst>
                                    <p:set>
                                      <p:cBhvr>
                                        <p:cTn id="125" dur="1" fill="hold">
                                          <p:stCondLst>
                                            <p:cond delay="0"/>
                                          </p:stCondLst>
                                        </p:cTn>
                                        <p:tgtEl>
                                          <p:spTgt spid="63"/>
                                        </p:tgtEl>
                                        <p:attrNameLst>
                                          <p:attrName>style.visibility</p:attrName>
                                        </p:attrNameLst>
                                      </p:cBhvr>
                                      <p:to>
                                        <p:strVal val="hidden"/>
                                      </p:to>
                                    </p:set>
                                  </p:childTnLst>
                                </p:cTn>
                              </p:par>
                              <p:par>
                                <p:cTn id="126" presetID="1" presetClass="exit" presetSubtype="0" fill="hold" grpId="1" nodeType="withEffect">
                                  <p:stCondLst>
                                    <p:cond delay="0"/>
                                  </p:stCondLst>
                                  <p:childTnLst>
                                    <p:set>
                                      <p:cBhvr>
                                        <p:cTn id="127" dur="1" fill="hold">
                                          <p:stCondLst>
                                            <p:cond delay="0"/>
                                          </p:stCondLst>
                                        </p:cTn>
                                        <p:tgtEl>
                                          <p:spTgt spid="64"/>
                                        </p:tgtEl>
                                        <p:attrNameLst>
                                          <p:attrName>style.visibility</p:attrName>
                                        </p:attrNameLst>
                                      </p:cBhvr>
                                      <p:to>
                                        <p:strVal val="hidden"/>
                                      </p:to>
                                    </p:set>
                                  </p:childTnLst>
                                </p:cTn>
                              </p:par>
                              <p:par>
                                <p:cTn id="128" presetID="1" presetClass="exit" presetSubtype="0" fill="hold" grpId="1" nodeType="withEffect">
                                  <p:stCondLst>
                                    <p:cond delay="0"/>
                                  </p:stCondLst>
                                  <p:childTnLst>
                                    <p:set>
                                      <p:cBhvr>
                                        <p:cTn id="129" dur="1" fill="hold">
                                          <p:stCondLst>
                                            <p:cond delay="0"/>
                                          </p:stCondLst>
                                        </p:cTn>
                                        <p:tgtEl>
                                          <p:spTgt spid="65"/>
                                        </p:tgtEl>
                                        <p:attrNameLst>
                                          <p:attrName>style.visibility</p:attrName>
                                        </p:attrNameLst>
                                      </p:cBhvr>
                                      <p:to>
                                        <p:strVal val="hidden"/>
                                      </p:to>
                                    </p:set>
                                  </p:childTnLst>
                                </p:cTn>
                              </p:par>
                            </p:childTnLst>
                          </p:cTn>
                        </p:par>
                      </p:childTnLst>
                    </p:cTn>
                  </p:par>
                  <p:par>
                    <p:cTn id="130" fill="hold">
                      <p:stCondLst>
                        <p:cond delay="indefinite"/>
                      </p:stCondLst>
                      <p:childTnLst>
                        <p:par>
                          <p:cTn id="131" fill="hold">
                            <p:stCondLst>
                              <p:cond delay="0"/>
                            </p:stCondLst>
                            <p:childTnLst>
                              <p:par>
                                <p:cTn id="132" presetID="16" presetClass="entr" presetSubtype="21" fill="hold" grpId="0" nodeType="clickEffect">
                                  <p:stCondLst>
                                    <p:cond delay="0"/>
                                  </p:stCondLst>
                                  <p:childTnLst>
                                    <p:set>
                                      <p:cBhvr>
                                        <p:cTn id="133" dur="1" fill="hold">
                                          <p:stCondLst>
                                            <p:cond delay="0"/>
                                          </p:stCondLst>
                                        </p:cTn>
                                        <p:tgtEl>
                                          <p:spTgt spid="68"/>
                                        </p:tgtEl>
                                        <p:attrNameLst>
                                          <p:attrName>style.visibility</p:attrName>
                                        </p:attrNameLst>
                                      </p:cBhvr>
                                      <p:to>
                                        <p:strVal val="visible"/>
                                      </p:to>
                                    </p:set>
                                    <p:animEffect transition="in" filter="barn(inVertical)">
                                      <p:cBhvr>
                                        <p:cTn id="134" dur="500"/>
                                        <p:tgtEl>
                                          <p:spTgt spid="68"/>
                                        </p:tgtEl>
                                      </p:cBhvr>
                                    </p:animEffect>
                                  </p:childTnLst>
                                </p:cTn>
                              </p:par>
                              <p:par>
                                <p:cTn id="135" presetID="16" presetClass="entr" presetSubtype="21" fill="hold" grpId="0" nodeType="withEffect">
                                  <p:stCondLst>
                                    <p:cond delay="0"/>
                                  </p:stCondLst>
                                  <p:childTnLst>
                                    <p:set>
                                      <p:cBhvr>
                                        <p:cTn id="136" dur="1" fill="hold">
                                          <p:stCondLst>
                                            <p:cond delay="0"/>
                                          </p:stCondLst>
                                        </p:cTn>
                                        <p:tgtEl>
                                          <p:spTgt spid="69"/>
                                        </p:tgtEl>
                                        <p:attrNameLst>
                                          <p:attrName>style.visibility</p:attrName>
                                        </p:attrNameLst>
                                      </p:cBhvr>
                                      <p:to>
                                        <p:strVal val="visible"/>
                                      </p:to>
                                    </p:set>
                                    <p:animEffect transition="in" filter="barn(inVertical)">
                                      <p:cBhvr>
                                        <p:cTn id="137" dur="500"/>
                                        <p:tgtEl>
                                          <p:spTgt spid="69"/>
                                        </p:tgtEl>
                                      </p:cBhvr>
                                    </p:animEffect>
                                  </p:childTnLst>
                                </p:cTn>
                              </p:par>
                              <p:par>
                                <p:cTn id="138" presetID="42" presetClass="entr" presetSubtype="0" fill="hold" grpId="0" nodeType="withEffect">
                                  <p:stCondLst>
                                    <p:cond delay="0"/>
                                  </p:stCondLst>
                                  <p:childTnLst>
                                    <p:set>
                                      <p:cBhvr>
                                        <p:cTn id="139" dur="1" fill="hold">
                                          <p:stCondLst>
                                            <p:cond delay="0"/>
                                          </p:stCondLst>
                                        </p:cTn>
                                        <p:tgtEl>
                                          <p:spTgt spid="70"/>
                                        </p:tgtEl>
                                        <p:attrNameLst>
                                          <p:attrName>style.visibility</p:attrName>
                                        </p:attrNameLst>
                                      </p:cBhvr>
                                      <p:to>
                                        <p:strVal val="visible"/>
                                      </p:to>
                                    </p:set>
                                    <p:animEffect transition="in" filter="fade">
                                      <p:cBhvr>
                                        <p:cTn id="140" dur="1000"/>
                                        <p:tgtEl>
                                          <p:spTgt spid="70"/>
                                        </p:tgtEl>
                                      </p:cBhvr>
                                    </p:animEffect>
                                    <p:anim calcmode="lin" valueType="num">
                                      <p:cBhvr>
                                        <p:cTn id="141" dur="1000" fill="hold"/>
                                        <p:tgtEl>
                                          <p:spTgt spid="70"/>
                                        </p:tgtEl>
                                        <p:attrNameLst>
                                          <p:attrName>ppt_x</p:attrName>
                                        </p:attrNameLst>
                                      </p:cBhvr>
                                      <p:tavLst>
                                        <p:tav tm="0">
                                          <p:val>
                                            <p:strVal val="#ppt_x"/>
                                          </p:val>
                                        </p:tav>
                                        <p:tav tm="100000">
                                          <p:val>
                                            <p:strVal val="#ppt_x"/>
                                          </p:val>
                                        </p:tav>
                                      </p:tavLst>
                                    </p:anim>
                                    <p:anim calcmode="lin" valueType="num">
                                      <p:cBhvr>
                                        <p:cTn id="142" dur="1000" fill="hold"/>
                                        <p:tgtEl>
                                          <p:spTgt spid="70"/>
                                        </p:tgtEl>
                                        <p:attrNameLst>
                                          <p:attrName>ppt_y</p:attrName>
                                        </p:attrNameLst>
                                      </p:cBhvr>
                                      <p:tavLst>
                                        <p:tav tm="0">
                                          <p:val>
                                            <p:strVal val="#ppt_y+.1"/>
                                          </p:val>
                                        </p:tav>
                                        <p:tav tm="100000">
                                          <p:val>
                                            <p:strVal val="#ppt_y"/>
                                          </p:val>
                                        </p:tav>
                                      </p:tavLst>
                                    </p:anim>
                                  </p:childTnLst>
                                </p:cTn>
                              </p:par>
                            </p:childTnLst>
                          </p:cTn>
                        </p:par>
                      </p:childTnLst>
                    </p:cTn>
                  </p:par>
                  <p:par>
                    <p:cTn id="143" fill="hold">
                      <p:stCondLst>
                        <p:cond delay="indefinite"/>
                      </p:stCondLst>
                      <p:childTnLst>
                        <p:par>
                          <p:cTn id="144" fill="hold">
                            <p:stCondLst>
                              <p:cond delay="0"/>
                            </p:stCondLst>
                            <p:childTnLst>
                              <p:par>
                                <p:cTn id="145" presetID="1" presetClass="exit" presetSubtype="0" fill="hold" grpId="1" nodeType="clickEffect">
                                  <p:stCondLst>
                                    <p:cond delay="0"/>
                                  </p:stCondLst>
                                  <p:childTnLst>
                                    <p:set>
                                      <p:cBhvr>
                                        <p:cTn id="146" dur="1" fill="hold">
                                          <p:stCondLst>
                                            <p:cond delay="0"/>
                                          </p:stCondLst>
                                        </p:cTn>
                                        <p:tgtEl>
                                          <p:spTgt spid="68"/>
                                        </p:tgtEl>
                                        <p:attrNameLst>
                                          <p:attrName>style.visibility</p:attrName>
                                        </p:attrNameLst>
                                      </p:cBhvr>
                                      <p:to>
                                        <p:strVal val="hidden"/>
                                      </p:to>
                                    </p:set>
                                  </p:childTnLst>
                                </p:cTn>
                              </p:par>
                              <p:par>
                                <p:cTn id="147" presetID="1" presetClass="exit" presetSubtype="0" fill="hold" grpId="1" nodeType="withEffect">
                                  <p:stCondLst>
                                    <p:cond delay="0"/>
                                  </p:stCondLst>
                                  <p:childTnLst>
                                    <p:set>
                                      <p:cBhvr>
                                        <p:cTn id="148" dur="1" fill="hold">
                                          <p:stCondLst>
                                            <p:cond delay="0"/>
                                          </p:stCondLst>
                                        </p:cTn>
                                        <p:tgtEl>
                                          <p:spTgt spid="69"/>
                                        </p:tgtEl>
                                        <p:attrNameLst>
                                          <p:attrName>style.visibility</p:attrName>
                                        </p:attrNameLst>
                                      </p:cBhvr>
                                      <p:to>
                                        <p:strVal val="hidden"/>
                                      </p:to>
                                    </p:set>
                                  </p:childTnLst>
                                </p:cTn>
                              </p:par>
                            </p:childTnLst>
                          </p:cTn>
                        </p:par>
                      </p:childTnLst>
                    </p:cTn>
                  </p:par>
                  <p:par>
                    <p:cTn id="149" fill="hold">
                      <p:stCondLst>
                        <p:cond delay="indefinite"/>
                      </p:stCondLst>
                      <p:childTnLst>
                        <p:par>
                          <p:cTn id="150" fill="hold">
                            <p:stCondLst>
                              <p:cond delay="0"/>
                            </p:stCondLst>
                            <p:childTnLst>
                              <p:par>
                                <p:cTn id="151" presetID="16" presetClass="entr" presetSubtype="21" fill="hold" grpId="0" nodeType="clickEffect">
                                  <p:stCondLst>
                                    <p:cond delay="0"/>
                                  </p:stCondLst>
                                  <p:childTnLst>
                                    <p:set>
                                      <p:cBhvr>
                                        <p:cTn id="152" dur="1" fill="hold">
                                          <p:stCondLst>
                                            <p:cond delay="0"/>
                                          </p:stCondLst>
                                        </p:cTn>
                                        <p:tgtEl>
                                          <p:spTgt spid="76"/>
                                        </p:tgtEl>
                                        <p:attrNameLst>
                                          <p:attrName>style.visibility</p:attrName>
                                        </p:attrNameLst>
                                      </p:cBhvr>
                                      <p:to>
                                        <p:strVal val="visible"/>
                                      </p:to>
                                    </p:set>
                                    <p:animEffect transition="in" filter="barn(inVertical)">
                                      <p:cBhvr>
                                        <p:cTn id="153" dur="500"/>
                                        <p:tgtEl>
                                          <p:spTgt spid="76"/>
                                        </p:tgtEl>
                                      </p:cBhvr>
                                    </p:animEffect>
                                  </p:childTnLst>
                                </p:cTn>
                              </p:par>
                              <p:par>
                                <p:cTn id="154" presetID="16" presetClass="entr" presetSubtype="21" fill="hold" grpId="0" nodeType="withEffect">
                                  <p:stCondLst>
                                    <p:cond delay="0"/>
                                  </p:stCondLst>
                                  <p:childTnLst>
                                    <p:set>
                                      <p:cBhvr>
                                        <p:cTn id="155" dur="1" fill="hold">
                                          <p:stCondLst>
                                            <p:cond delay="0"/>
                                          </p:stCondLst>
                                        </p:cTn>
                                        <p:tgtEl>
                                          <p:spTgt spid="77"/>
                                        </p:tgtEl>
                                        <p:attrNameLst>
                                          <p:attrName>style.visibility</p:attrName>
                                        </p:attrNameLst>
                                      </p:cBhvr>
                                      <p:to>
                                        <p:strVal val="visible"/>
                                      </p:to>
                                    </p:set>
                                    <p:animEffect transition="in" filter="barn(inVertical)">
                                      <p:cBhvr>
                                        <p:cTn id="156" dur="500"/>
                                        <p:tgtEl>
                                          <p:spTgt spid="77"/>
                                        </p:tgtEl>
                                      </p:cBhvr>
                                    </p:animEffect>
                                  </p:childTnLst>
                                </p:cTn>
                              </p:par>
                              <p:par>
                                <p:cTn id="157" presetID="16" presetClass="entr" presetSubtype="21" fill="hold" grpId="0" nodeType="withEffect">
                                  <p:stCondLst>
                                    <p:cond delay="0"/>
                                  </p:stCondLst>
                                  <p:childTnLst>
                                    <p:set>
                                      <p:cBhvr>
                                        <p:cTn id="158" dur="1" fill="hold">
                                          <p:stCondLst>
                                            <p:cond delay="0"/>
                                          </p:stCondLst>
                                        </p:cTn>
                                        <p:tgtEl>
                                          <p:spTgt spid="78"/>
                                        </p:tgtEl>
                                        <p:attrNameLst>
                                          <p:attrName>style.visibility</p:attrName>
                                        </p:attrNameLst>
                                      </p:cBhvr>
                                      <p:to>
                                        <p:strVal val="visible"/>
                                      </p:to>
                                    </p:set>
                                    <p:animEffect transition="in" filter="barn(inVertical)">
                                      <p:cBhvr>
                                        <p:cTn id="159" dur="500"/>
                                        <p:tgtEl>
                                          <p:spTgt spid="78"/>
                                        </p:tgtEl>
                                      </p:cBhvr>
                                    </p:animEffect>
                                  </p:childTnLst>
                                </p:cTn>
                              </p:par>
                              <p:par>
                                <p:cTn id="160" presetID="42" presetClass="entr" presetSubtype="0" fill="hold" grpId="0" nodeType="withEffect">
                                  <p:stCondLst>
                                    <p:cond delay="0"/>
                                  </p:stCondLst>
                                  <p:childTnLst>
                                    <p:set>
                                      <p:cBhvr>
                                        <p:cTn id="161" dur="1" fill="hold">
                                          <p:stCondLst>
                                            <p:cond delay="0"/>
                                          </p:stCondLst>
                                        </p:cTn>
                                        <p:tgtEl>
                                          <p:spTgt spid="79"/>
                                        </p:tgtEl>
                                        <p:attrNameLst>
                                          <p:attrName>style.visibility</p:attrName>
                                        </p:attrNameLst>
                                      </p:cBhvr>
                                      <p:to>
                                        <p:strVal val="visible"/>
                                      </p:to>
                                    </p:set>
                                    <p:animEffect transition="in" filter="fade">
                                      <p:cBhvr>
                                        <p:cTn id="162" dur="1000"/>
                                        <p:tgtEl>
                                          <p:spTgt spid="79"/>
                                        </p:tgtEl>
                                      </p:cBhvr>
                                    </p:animEffect>
                                    <p:anim calcmode="lin" valueType="num">
                                      <p:cBhvr>
                                        <p:cTn id="163" dur="1000" fill="hold"/>
                                        <p:tgtEl>
                                          <p:spTgt spid="79"/>
                                        </p:tgtEl>
                                        <p:attrNameLst>
                                          <p:attrName>ppt_x</p:attrName>
                                        </p:attrNameLst>
                                      </p:cBhvr>
                                      <p:tavLst>
                                        <p:tav tm="0">
                                          <p:val>
                                            <p:strVal val="#ppt_x"/>
                                          </p:val>
                                        </p:tav>
                                        <p:tav tm="100000">
                                          <p:val>
                                            <p:strVal val="#ppt_x"/>
                                          </p:val>
                                        </p:tav>
                                      </p:tavLst>
                                    </p:anim>
                                    <p:anim calcmode="lin" valueType="num">
                                      <p:cBhvr>
                                        <p:cTn id="164" dur="1000" fill="hold"/>
                                        <p:tgtEl>
                                          <p:spTgt spid="7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4" grpId="0" animBg="1"/>
      <p:bldP spid="44" grpId="1" animBg="1"/>
      <p:bldP spid="45" grpId="0" animBg="1"/>
      <p:bldP spid="45" grpId="1" animBg="1"/>
      <p:bldP spid="46" grpId="0"/>
      <p:bldP spid="48" grpId="0" animBg="1"/>
      <p:bldP spid="48" grpId="1" animBg="1"/>
      <p:bldP spid="49" grpId="0" animBg="1"/>
      <p:bldP spid="49" grpId="1" animBg="1"/>
      <p:bldP spid="50" grpId="0" animBg="1"/>
      <p:bldP spid="50" grpId="1" animBg="1"/>
      <p:bldP spid="52" grpId="0"/>
      <p:bldP spid="53" grpId="0" animBg="1"/>
      <p:bldP spid="53" grpId="1" animBg="1"/>
      <p:bldP spid="54" grpId="0" animBg="1"/>
      <p:bldP spid="54" grpId="1" animBg="1"/>
      <p:bldP spid="55" grpId="0" animBg="1"/>
      <p:bldP spid="55" grpId="1" animBg="1"/>
      <p:bldP spid="56" grpId="0"/>
      <p:bldP spid="57" grpId="0" animBg="1"/>
      <p:bldP spid="57" grpId="1" animBg="1"/>
      <p:bldP spid="58" grpId="0" animBg="1"/>
      <p:bldP spid="58" grpId="1" animBg="1"/>
      <p:bldP spid="59" grpId="0" animBg="1"/>
      <p:bldP spid="59" grpId="1" animBg="1"/>
      <p:bldP spid="62" grpId="0"/>
      <p:bldP spid="63" grpId="0" animBg="1"/>
      <p:bldP spid="63" grpId="1" animBg="1"/>
      <p:bldP spid="64" grpId="0" animBg="1"/>
      <p:bldP spid="64" grpId="1" animBg="1"/>
      <p:bldP spid="65" grpId="0" animBg="1"/>
      <p:bldP spid="65" grpId="1" animBg="1"/>
      <p:bldP spid="67" grpId="0"/>
      <p:bldP spid="68" grpId="0" animBg="1"/>
      <p:bldP spid="68" grpId="1" animBg="1"/>
      <p:bldP spid="69" grpId="0" animBg="1"/>
      <p:bldP spid="69" grpId="1" animBg="1"/>
      <p:bldP spid="70" grpId="0"/>
      <p:bldP spid="76" grpId="0" animBg="1"/>
      <p:bldP spid="77" grpId="0" animBg="1"/>
      <p:bldP spid="78" grpId="0" animBg="1"/>
      <p:bldP spid="7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Building a Regular Model</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32B29A66-CFD5-4F33-88E2-E7F8EEB50249}" type="slidenum">
              <a:rPr lang="en-US" altLang="en-US" smtClean="0"/>
              <a:pPr/>
              <a:t>13</a:t>
            </a:fld>
            <a:endParaRPr lang="en-US" altLang="en-US"/>
          </a:p>
        </p:txBody>
      </p:sp>
      <mc:AlternateContent xmlns:mc="http://schemas.openxmlformats.org/markup-compatibility/2006" xmlns:a14="http://schemas.microsoft.com/office/drawing/2010/main">
        <mc:Choice Requires="a14">
          <p:sp>
            <p:nvSpPr>
              <p:cNvPr id="9" name="TextBox 8"/>
              <p:cNvSpPr txBox="1"/>
              <p:nvPr/>
            </p:nvSpPr>
            <p:spPr>
              <a:xfrm>
                <a:off x="6052954" y="2876787"/>
                <a:ext cx="1905001" cy="3502369"/>
              </a:xfrm>
              <a:prstGeom prst="rect">
                <a:avLst/>
              </a:prstGeom>
              <a:noFill/>
            </p:spPr>
            <p:txBody>
              <a:bodyPr wrap="square" rtlCol="0">
                <a:spAutoFit/>
              </a:bodyPr>
              <a:lstStyle/>
              <a:p>
                <a14:m>
                  <m:oMath xmlns:m="http://schemas.openxmlformats.org/officeDocument/2006/math">
                    <m:d>
                      <m:dPr>
                        <m:ctrlPr>
                          <a:rPr lang="en-US" altLang="zh-CN" i="1" smtClean="0">
                            <a:latin typeface="Cambria Math" panose="02040503050406030204" pitchFamily="18" charset="0"/>
                          </a:rPr>
                        </m:ctrlPr>
                      </m:dPr>
                      <m:e>
                        <m:r>
                          <a:rPr lang="en-US" altLang="zh-CN" i="1">
                            <a:latin typeface="Cambria Math"/>
                          </a:rPr>
                          <m:t>𝑎</m:t>
                        </m:r>
                        <m:r>
                          <a:rPr lang="en-US" altLang="zh-CN" i="1">
                            <a:latin typeface="Cambria Math"/>
                          </a:rPr>
                          <m:t>,</m:t>
                        </m:r>
                        <m:r>
                          <a:rPr lang="en-US" altLang="zh-CN" i="1">
                            <a:latin typeface="Cambria Math"/>
                          </a:rPr>
                          <m:t>𝑏</m:t>
                        </m:r>
                      </m:e>
                    </m:d>
                  </m:oMath>
                </a14:m>
                <a:r>
                  <a:rPr lang="en-US" altLang="zh-CN" dirty="0"/>
                  <a:t>: </a:t>
                </a:r>
                <a14:m>
                  <m:oMath xmlns:m="http://schemas.openxmlformats.org/officeDocument/2006/math">
                    <m:r>
                      <a:rPr lang="en-US" altLang="zh-CN" i="1">
                        <a:latin typeface="Cambria Math"/>
                      </a:rPr>
                      <m:t>1</m:t>
                    </m:r>
                    <m:r>
                      <a:rPr lang="en-US" altLang="zh-CN" i="1" dirty="0">
                        <a:latin typeface="Cambria Math"/>
                      </a:rPr>
                      <m:t>≤</m:t>
                    </m:r>
                    <m:r>
                      <a:rPr lang="en-US" altLang="zh-CN" b="0" i="1" smtClean="0">
                        <a:latin typeface="Cambria Math"/>
                      </a:rPr>
                      <m:t>4</m:t>
                    </m:r>
                    <m:r>
                      <a:rPr lang="en-US" altLang="zh-CN" i="1">
                        <a:latin typeface="Cambria Math"/>
                      </a:rPr>
                      <m:t>∗</m:t>
                    </m:r>
                    <m:f>
                      <m:fPr>
                        <m:ctrlPr>
                          <a:rPr lang="en-US" altLang="zh-CN" i="1">
                            <a:latin typeface="Cambria Math" panose="02040503050406030204" pitchFamily="18" charset="0"/>
                          </a:rPr>
                        </m:ctrlPr>
                      </m:fPr>
                      <m:num>
                        <m:r>
                          <a:rPr lang="en-US" altLang="zh-CN" b="0" i="1" smtClean="0">
                            <a:latin typeface="Cambria Math"/>
                          </a:rPr>
                          <m:t>1</m:t>
                        </m:r>
                      </m:num>
                      <m:den>
                        <m:r>
                          <a:rPr lang="en-US" altLang="zh-CN" b="0" i="1" smtClean="0">
                            <a:latin typeface="Cambria Math"/>
                          </a:rPr>
                          <m:t>2</m:t>
                        </m:r>
                      </m:den>
                    </m:f>
                  </m:oMath>
                </a14:m>
                <a:endParaRPr lang="en-US" dirty="0"/>
              </a:p>
              <a:p>
                <a14:m>
                  <m:oMath xmlns:m="http://schemas.openxmlformats.org/officeDocument/2006/math">
                    <m:d>
                      <m:dPr>
                        <m:ctrlPr>
                          <a:rPr lang="en-US" altLang="zh-CN" i="1">
                            <a:latin typeface="Cambria Math" panose="02040503050406030204" pitchFamily="18" charset="0"/>
                          </a:rPr>
                        </m:ctrlPr>
                      </m:dPr>
                      <m:e>
                        <m:r>
                          <a:rPr lang="en-US" altLang="zh-CN" i="1">
                            <a:latin typeface="Cambria Math"/>
                          </a:rPr>
                          <m:t>𝑏</m:t>
                        </m:r>
                        <m:r>
                          <a:rPr lang="en-US" altLang="zh-CN" i="1">
                            <a:latin typeface="Cambria Math"/>
                          </a:rPr>
                          <m:t>,</m:t>
                        </m:r>
                        <m:r>
                          <a:rPr lang="en-US" altLang="zh-CN" i="1">
                            <a:latin typeface="Cambria Math"/>
                          </a:rPr>
                          <m:t>𝑐</m:t>
                        </m:r>
                      </m:e>
                    </m:d>
                  </m:oMath>
                </a14:m>
                <a:r>
                  <a:rPr lang="en-US" altLang="zh-CN" dirty="0"/>
                  <a:t>: </a:t>
                </a:r>
                <a14:m>
                  <m:oMath xmlns:m="http://schemas.openxmlformats.org/officeDocument/2006/math">
                    <m:r>
                      <a:rPr lang="en-US" altLang="zh-CN" i="1" dirty="0">
                        <a:latin typeface="Cambria Math"/>
                      </a:rPr>
                      <m:t>2</m:t>
                    </m:r>
                    <m:r>
                      <a:rPr lang="en-US" altLang="zh-CN" i="1">
                        <a:latin typeface="Cambria Math"/>
                      </a:rPr>
                      <m:t>≥4∗</m:t>
                    </m:r>
                    <m:f>
                      <m:fPr>
                        <m:ctrlPr>
                          <a:rPr lang="en-US" altLang="zh-CN" i="1">
                            <a:latin typeface="Cambria Math" panose="02040503050406030204" pitchFamily="18" charset="0"/>
                          </a:rPr>
                        </m:ctrlPr>
                      </m:fPr>
                      <m:num>
                        <m:r>
                          <a:rPr lang="en-US" altLang="zh-CN" i="1">
                            <a:latin typeface="Cambria Math"/>
                          </a:rPr>
                          <m:t>1</m:t>
                        </m:r>
                      </m:num>
                      <m:den>
                        <m:r>
                          <a:rPr lang="en-US" altLang="zh-CN" i="1">
                            <a:latin typeface="Cambria Math"/>
                          </a:rPr>
                          <m:t>2</m:t>
                        </m:r>
                      </m:den>
                    </m:f>
                  </m:oMath>
                </a14:m>
                <a:endParaRPr lang="en-US" altLang="zh-CN" dirty="0"/>
              </a:p>
              <a:p>
                <a14:m>
                  <m:oMath xmlns:m="http://schemas.openxmlformats.org/officeDocument/2006/math">
                    <m:d>
                      <m:dPr>
                        <m:ctrlPr>
                          <a:rPr lang="en-US" altLang="zh-CN" i="1">
                            <a:latin typeface="Cambria Math" panose="02040503050406030204" pitchFamily="18" charset="0"/>
                          </a:rPr>
                        </m:ctrlPr>
                      </m:dPr>
                      <m:e>
                        <m:r>
                          <a:rPr lang="en-US" altLang="zh-CN" i="1">
                            <a:latin typeface="Cambria Math"/>
                          </a:rPr>
                          <m:t>𝑏</m:t>
                        </m:r>
                        <m:r>
                          <a:rPr lang="en-US" altLang="zh-CN" i="1">
                            <a:latin typeface="Cambria Math"/>
                          </a:rPr>
                          <m:t>,</m:t>
                        </m:r>
                        <m:r>
                          <a:rPr lang="en-US" altLang="zh-CN" b="0" i="1" smtClean="0">
                            <a:latin typeface="Cambria Math"/>
                          </a:rPr>
                          <m:t>𝑔</m:t>
                        </m:r>
                      </m:e>
                    </m:d>
                  </m:oMath>
                </a14:m>
                <a:r>
                  <a:rPr lang="en-US" altLang="zh-CN" dirty="0"/>
                  <a:t>: </a:t>
                </a:r>
                <a14:m>
                  <m:oMath xmlns:m="http://schemas.openxmlformats.org/officeDocument/2006/math">
                    <m:r>
                      <a:rPr lang="en-US" altLang="zh-CN" i="1" dirty="0">
                        <a:latin typeface="Cambria Math"/>
                      </a:rPr>
                      <m:t>2</m:t>
                    </m:r>
                    <m:r>
                      <a:rPr lang="en-US" altLang="zh-CN" i="1">
                        <a:latin typeface="Cambria Math"/>
                      </a:rPr>
                      <m:t>≥4∗</m:t>
                    </m:r>
                    <m:f>
                      <m:fPr>
                        <m:ctrlPr>
                          <a:rPr lang="en-US" altLang="zh-CN" i="1">
                            <a:latin typeface="Cambria Math" panose="02040503050406030204" pitchFamily="18" charset="0"/>
                          </a:rPr>
                        </m:ctrlPr>
                      </m:fPr>
                      <m:num>
                        <m:r>
                          <a:rPr lang="en-US" altLang="zh-CN" i="1">
                            <a:latin typeface="Cambria Math"/>
                          </a:rPr>
                          <m:t>1</m:t>
                        </m:r>
                      </m:num>
                      <m:den>
                        <m:r>
                          <a:rPr lang="en-US" altLang="zh-CN" i="1">
                            <a:latin typeface="Cambria Math"/>
                          </a:rPr>
                          <m:t>2</m:t>
                        </m:r>
                      </m:den>
                    </m:f>
                  </m:oMath>
                </a14:m>
                <a:endParaRPr lang="en-US" altLang="zh-CN" dirty="0"/>
              </a:p>
              <a:p>
                <a14:m>
                  <m:oMath xmlns:m="http://schemas.openxmlformats.org/officeDocument/2006/math">
                    <m:d>
                      <m:dPr>
                        <m:ctrlPr>
                          <a:rPr lang="en-US" altLang="zh-CN" i="1">
                            <a:latin typeface="Cambria Math" panose="02040503050406030204" pitchFamily="18" charset="0"/>
                          </a:rPr>
                        </m:ctrlPr>
                      </m:dPr>
                      <m:e>
                        <m:r>
                          <a:rPr lang="en-US" altLang="zh-CN" b="0" i="1" smtClean="0">
                            <a:latin typeface="Cambria Math"/>
                          </a:rPr>
                          <m:t>𝑐</m:t>
                        </m:r>
                        <m:r>
                          <a:rPr lang="en-US" altLang="zh-CN" i="1">
                            <a:latin typeface="Cambria Math"/>
                          </a:rPr>
                          <m:t>,</m:t>
                        </m:r>
                        <m:r>
                          <a:rPr lang="en-US" altLang="zh-CN" b="0" i="1" smtClean="0">
                            <a:latin typeface="Cambria Math"/>
                          </a:rPr>
                          <m:t>𝑑</m:t>
                        </m:r>
                      </m:e>
                    </m:d>
                  </m:oMath>
                </a14:m>
                <a:r>
                  <a:rPr lang="en-US" altLang="zh-CN" dirty="0"/>
                  <a:t>: </a:t>
                </a:r>
                <a14:m>
                  <m:oMath xmlns:m="http://schemas.openxmlformats.org/officeDocument/2006/math">
                    <m:r>
                      <a:rPr lang="en-US" altLang="zh-CN" i="1" dirty="0">
                        <a:latin typeface="Cambria Math"/>
                      </a:rPr>
                      <m:t>2</m:t>
                    </m:r>
                    <m:r>
                      <a:rPr lang="en-US" altLang="zh-CN" i="1">
                        <a:latin typeface="Cambria Math"/>
                      </a:rPr>
                      <m:t>≥4∗</m:t>
                    </m:r>
                    <m:f>
                      <m:fPr>
                        <m:ctrlPr>
                          <a:rPr lang="en-US" altLang="zh-CN" i="1">
                            <a:latin typeface="Cambria Math" panose="02040503050406030204" pitchFamily="18" charset="0"/>
                          </a:rPr>
                        </m:ctrlPr>
                      </m:fPr>
                      <m:num>
                        <m:r>
                          <a:rPr lang="en-US" altLang="zh-CN" i="1">
                            <a:latin typeface="Cambria Math"/>
                          </a:rPr>
                          <m:t>1</m:t>
                        </m:r>
                      </m:num>
                      <m:den>
                        <m:r>
                          <a:rPr lang="en-US" altLang="zh-CN" i="1">
                            <a:latin typeface="Cambria Math"/>
                          </a:rPr>
                          <m:t>2</m:t>
                        </m:r>
                      </m:den>
                    </m:f>
                  </m:oMath>
                </a14:m>
                <a:endParaRPr lang="en-US" altLang="zh-CN" dirty="0"/>
              </a:p>
              <a:p>
                <a14:m>
                  <m:oMath xmlns:m="http://schemas.openxmlformats.org/officeDocument/2006/math">
                    <m:d>
                      <m:dPr>
                        <m:ctrlPr>
                          <a:rPr lang="en-US" altLang="zh-CN" i="1" smtClean="0">
                            <a:latin typeface="Cambria Math" panose="02040503050406030204" pitchFamily="18" charset="0"/>
                          </a:rPr>
                        </m:ctrlPr>
                      </m:dPr>
                      <m:e>
                        <m:r>
                          <a:rPr lang="en-US" altLang="zh-CN" b="0" i="1" smtClean="0">
                            <a:latin typeface="Cambria Math"/>
                          </a:rPr>
                          <m:t>𝑑</m:t>
                        </m:r>
                        <m:r>
                          <a:rPr lang="en-US" altLang="zh-CN" b="0" i="1" smtClean="0">
                            <a:latin typeface="Cambria Math"/>
                          </a:rPr>
                          <m:t>,</m:t>
                        </m:r>
                        <m:r>
                          <a:rPr lang="en-US" altLang="zh-CN" b="0" i="1" smtClean="0">
                            <a:latin typeface="Cambria Math"/>
                          </a:rPr>
                          <m:t>𝑒</m:t>
                        </m:r>
                      </m:e>
                    </m:d>
                  </m:oMath>
                </a14:m>
                <a:r>
                  <a:rPr lang="en-US" altLang="zh-CN" dirty="0"/>
                  <a:t>: </a:t>
                </a:r>
                <a14:m>
                  <m:oMath xmlns:m="http://schemas.openxmlformats.org/officeDocument/2006/math">
                    <m:r>
                      <a:rPr lang="en-US" altLang="zh-CN" i="1" dirty="0">
                        <a:latin typeface="Cambria Math"/>
                      </a:rPr>
                      <m:t>1≤</m:t>
                    </m:r>
                    <m:r>
                      <a:rPr lang="en-US" altLang="zh-CN" b="0" i="1" dirty="0" smtClean="0">
                        <a:latin typeface="Cambria Math"/>
                      </a:rPr>
                      <m:t>4</m:t>
                    </m:r>
                    <m:r>
                      <a:rPr lang="en-US" altLang="zh-CN" i="1">
                        <a:latin typeface="Cambria Math"/>
                      </a:rPr>
                      <m:t>∗</m:t>
                    </m:r>
                    <m:f>
                      <m:fPr>
                        <m:ctrlPr>
                          <a:rPr lang="en-US" altLang="zh-CN" i="1">
                            <a:latin typeface="Cambria Math" panose="02040503050406030204" pitchFamily="18" charset="0"/>
                          </a:rPr>
                        </m:ctrlPr>
                      </m:fPr>
                      <m:num>
                        <m:r>
                          <a:rPr lang="en-US" altLang="zh-CN" b="0" i="1" smtClean="0">
                            <a:latin typeface="Cambria Math"/>
                          </a:rPr>
                          <m:t>1</m:t>
                        </m:r>
                      </m:num>
                      <m:den>
                        <m:r>
                          <a:rPr lang="en-US" altLang="zh-CN" b="0" i="1" smtClean="0">
                            <a:latin typeface="Cambria Math"/>
                          </a:rPr>
                          <m:t>2</m:t>
                        </m:r>
                      </m:den>
                    </m:f>
                  </m:oMath>
                </a14:m>
                <a:endParaRPr lang="en-US" dirty="0"/>
              </a:p>
              <a:p>
                <a14:m>
                  <m:oMath xmlns:m="http://schemas.openxmlformats.org/officeDocument/2006/math">
                    <m:d>
                      <m:dPr>
                        <m:ctrlPr>
                          <a:rPr lang="en-US" altLang="zh-CN" i="1">
                            <a:latin typeface="Cambria Math" panose="02040503050406030204" pitchFamily="18" charset="0"/>
                          </a:rPr>
                        </m:ctrlPr>
                      </m:dPr>
                      <m:e>
                        <m:r>
                          <a:rPr lang="en-US" altLang="zh-CN" b="0" i="1" smtClean="0">
                            <a:latin typeface="Cambria Math"/>
                          </a:rPr>
                          <m:t>𝑓</m:t>
                        </m:r>
                        <m:r>
                          <a:rPr lang="en-US" altLang="zh-CN" i="1">
                            <a:latin typeface="Cambria Math"/>
                          </a:rPr>
                          <m:t>,</m:t>
                        </m:r>
                        <m:r>
                          <a:rPr lang="en-US" altLang="zh-CN" i="1">
                            <a:latin typeface="Cambria Math"/>
                          </a:rPr>
                          <m:t>𝑑</m:t>
                        </m:r>
                      </m:e>
                    </m:d>
                  </m:oMath>
                </a14:m>
                <a:r>
                  <a:rPr lang="en-US" altLang="zh-CN" dirty="0"/>
                  <a:t>: </a:t>
                </a:r>
                <a14:m>
                  <m:oMath xmlns:m="http://schemas.openxmlformats.org/officeDocument/2006/math">
                    <m:r>
                      <a:rPr lang="en-US" altLang="zh-CN" i="1" dirty="0">
                        <a:latin typeface="Cambria Math"/>
                      </a:rPr>
                      <m:t>2</m:t>
                    </m:r>
                    <m:r>
                      <a:rPr lang="en-US" altLang="zh-CN" i="1">
                        <a:latin typeface="Cambria Math"/>
                      </a:rPr>
                      <m:t>≥4∗</m:t>
                    </m:r>
                    <m:f>
                      <m:fPr>
                        <m:ctrlPr>
                          <a:rPr lang="en-US" altLang="zh-CN" i="1">
                            <a:latin typeface="Cambria Math" panose="02040503050406030204" pitchFamily="18" charset="0"/>
                          </a:rPr>
                        </m:ctrlPr>
                      </m:fPr>
                      <m:num>
                        <m:r>
                          <a:rPr lang="en-US" altLang="zh-CN" i="1">
                            <a:latin typeface="Cambria Math"/>
                          </a:rPr>
                          <m:t>1</m:t>
                        </m:r>
                      </m:num>
                      <m:den>
                        <m:r>
                          <a:rPr lang="en-US" altLang="zh-CN" i="1">
                            <a:latin typeface="Cambria Math"/>
                          </a:rPr>
                          <m:t>2</m:t>
                        </m:r>
                      </m:den>
                    </m:f>
                  </m:oMath>
                </a14:m>
                <a:endParaRPr lang="en-US" altLang="zh-CN" i="1" dirty="0">
                  <a:latin typeface="Cambria Math"/>
                </a:endParaRPr>
              </a:p>
              <a:p>
                <a14:m>
                  <m:oMath xmlns:m="http://schemas.openxmlformats.org/officeDocument/2006/math">
                    <m:d>
                      <m:dPr>
                        <m:ctrlPr>
                          <a:rPr lang="en-US" altLang="zh-CN" i="1">
                            <a:latin typeface="Cambria Math" panose="02040503050406030204" pitchFamily="18" charset="0"/>
                          </a:rPr>
                        </m:ctrlPr>
                      </m:dPr>
                      <m:e>
                        <m:r>
                          <a:rPr lang="en-US" altLang="zh-CN" b="0" i="1" smtClean="0">
                            <a:latin typeface="Cambria Math"/>
                          </a:rPr>
                          <m:t>𝑔</m:t>
                        </m:r>
                        <m:r>
                          <a:rPr lang="en-US" altLang="zh-CN" i="1">
                            <a:latin typeface="Cambria Math"/>
                          </a:rPr>
                          <m:t>,</m:t>
                        </m:r>
                        <m:r>
                          <a:rPr lang="en-US" altLang="zh-CN" b="0" i="1" smtClean="0">
                            <a:latin typeface="Cambria Math"/>
                          </a:rPr>
                          <m:t>𝑓</m:t>
                        </m:r>
                      </m:e>
                    </m:d>
                  </m:oMath>
                </a14:m>
                <a:r>
                  <a:rPr lang="en-US" altLang="zh-CN" dirty="0"/>
                  <a:t>: </a:t>
                </a:r>
                <a14:m>
                  <m:oMath xmlns:m="http://schemas.openxmlformats.org/officeDocument/2006/math">
                    <m:r>
                      <a:rPr lang="en-US" altLang="zh-CN" i="1" dirty="0">
                        <a:latin typeface="Cambria Math"/>
                      </a:rPr>
                      <m:t>2</m:t>
                    </m:r>
                    <m:r>
                      <a:rPr lang="en-US" altLang="zh-CN" i="1">
                        <a:latin typeface="Cambria Math"/>
                      </a:rPr>
                      <m:t>≥4∗</m:t>
                    </m:r>
                    <m:f>
                      <m:fPr>
                        <m:ctrlPr>
                          <a:rPr lang="en-US" altLang="zh-CN" i="1">
                            <a:latin typeface="Cambria Math" panose="02040503050406030204" pitchFamily="18" charset="0"/>
                          </a:rPr>
                        </m:ctrlPr>
                      </m:fPr>
                      <m:num>
                        <m:r>
                          <a:rPr lang="en-US" altLang="zh-CN" i="1">
                            <a:latin typeface="Cambria Math"/>
                          </a:rPr>
                          <m:t>1</m:t>
                        </m:r>
                      </m:num>
                      <m:den>
                        <m:r>
                          <a:rPr lang="en-US" altLang="zh-CN" i="1">
                            <a:latin typeface="Cambria Math"/>
                          </a:rPr>
                          <m:t>2</m:t>
                        </m:r>
                      </m:den>
                    </m:f>
                  </m:oMath>
                </a14:m>
                <a:endParaRPr lang="en-US" altLang="zh-CN" i="1" dirty="0">
                  <a:latin typeface="Cambria Math"/>
                </a:endParaRPr>
              </a:p>
              <a:p>
                <a:endParaRPr lang="en-US" dirty="0"/>
              </a:p>
              <a:p>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6052954" y="2876787"/>
                <a:ext cx="1905001" cy="3502369"/>
              </a:xfrm>
              <a:prstGeom prst="rect">
                <a:avLst/>
              </a:prstGeom>
              <a:blipFill rotWithShape="1">
                <a:blip r:embed="rId3"/>
                <a:stretch>
                  <a:fillRect/>
                </a:stretch>
              </a:blipFill>
            </p:spPr>
            <p:txBody>
              <a:bodyPr/>
              <a:lstStyle/>
              <a:p>
                <a:r>
                  <a:rPr lang="zh-CN" altLang="en-US">
                    <a:noFill/>
                  </a:rPr>
                  <a:t> </a:t>
                </a:r>
              </a:p>
            </p:txBody>
          </p:sp>
        </mc:Fallback>
      </mc:AlternateContent>
      <p:pic>
        <p:nvPicPr>
          <p:cNvPr id="32" name="table"/>
          <p:cNvPicPr>
            <a:picLocks noChangeAspect="1"/>
          </p:cNvPicPr>
          <p:nvPr/>
        </p:nvPicPr>
        <p:blipFill>
          <a:blip r:embed="rId4"/>
          <a:stretch>
            <a:fillRect/>
          </a:stretch>
        </p:blipFill>
        <p:spPr>
          <a:xfrm>
            <a:off x="463791" y="2538329"/>
            <a:ext cx="5470016" cy="2935342"/>
          </a:xfrm>
          <a:prstGeom prst="rect">
            <a:avLst/>
          </a:prstGeom>
        </p:spPr>
      </p:pic>
      <p:sp>
        <p:nvSpPr>
          <p:cNvPr id="33" name="TextBox 45"/>
          <p:cNvSpPr txBox="1"/>
          <p:nvPr/>
        </p:nvSpPr>
        <p:spPr>
          <a:xfrm>
            <a:off x="1149592" y="3250519"/>
            <a:ext cx="716347"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FF0000"/>
                </a:solidFill>
              </a:rPr>
              <a:t>1000</a:t>
            </a:r>
          </a:p>
        </p:txBody>
      </p:sp>
      <p:sp>
        <p:nvSpPr>
          <p:cNvPr id="34" name="TextBox 51"/>
          <p:cNvSpPr txBox="1"/>
          <p:nvPr/>
        </p:nvSpPr>
        <p:spPr>
          <a:xfrm>
            <a:off x="1865939" y="3665346"/>
            <a:ext cx="716347"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FF0000"/>
                </a:solidFill>
              </a:rPr>
              <a:t>1100</a:t>
            </a:r>
          </a:p>
        </p:txBody>
      </p:sp>
      <p:sp>
        <p:nvSpPr>
          <p:cNvPr id="35" name="TextBox 55"/>
          <p:cNvSpPr txBox="1"/>
          <p:nvPr/>
        </p:nvSpPr>
        <p:spPr>
          <a:xfrm>
            <a:off x="1828800" y="5029200"/>
            <a:ext cx="716347"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FF0000"/>
                </a:solidFill>
              </a:rPr>
              <a:t>0011</a:t>
            </a:r>
          </a:p>
        </p:txBody>
      </p:sp>
      <p:sp>
        <p:nvSpPr>
          <p:cNvPr id="36" name="TextBox 61"/>
          <p:cNvSpPr txBox="1"/>
          <p:nvPr/>
        </p:nvSpPr>
        <p:spPr>
          <a:xfrm>
            <a:off x="2452677" y="4002412"/>
            <a:ext cx="716347"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FF0000"/>
                </a:solidFill>
              </a:rPr>
              <a:t>1100</a:t>
            </a:r>
          </a:p>
        </p:txBody>
      </p:sp>
      <p:sp>
        <p:nvSpPr>
          <p:cNvPr id="37" name="TextBox 66"/>
          <p:cNvSpPr txBox="1"/>
          <p:nvPr/>
        </p:nvSpPr>
        <p:spPr>
          <a:xfrm>
            <a:off x="5200508" y="4769669"/>
            <a:ext cx="716347"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FF0000"/>
                </a:solidFill>
              </a:rPr>
              <a:t>0011</a:t>
            </a:r>
          </a:p>
        </p:txBody>
      </p:sp>
      <p:sp>
        <p:nvSpPr>
          <p:cNvPr id="38" name="TextBox 69"/>
          <p:cNvSpPr txBox="1"/>
          <p:nvPr/>
        </p:nvSpPr>
        <p:spPr>
          <a:xfrm>
            <a:off x="3169024" y="4371744"/>
            <a:ext cx="716347"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FF0000"/>
                </a:solidFill>
              </a:rPr>
              <a:t>1000</a:t>
            </a:r>
          </a:p>
        </p:txBody>
      </p:sp>
      <p:sp>
        <p:nvSpPr>
          <p:cNvPr id="39" name="TextBox 78"/>
          <p:cNvSpPr txBox="1"/>
          <p:nvPr/>
        </p:nvSpPr>
        <p:spPr>
          <a:xfrm>
            <a:off x="4518726" y="4034678"/>
            <a:ext cx="716347"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FF0000"/>
                </a:solidFill>
              </a:rPr>
              <a:t>0011</a:t>
            </a:r>
          </a:p>
        </p:txBody>
      </p:sp>
      <mc:AlternateContent xmlns:mc="http://schemas.openxmlformats.org/markup-compatibility/2006" xmlns:a14="http://schemas.microsoft.com/office/drawing/2010/main">
        <mc:Choice Requires="a14">
          <p:sp>
            <p:nvSpPr>
              <p:cNvPr id="8" name="TextBox 7"/>
              <p:cNvSpPr txBox="1"/>
              <p:nvPr/>
            </p:nvSpPr>
            <p:spPr>
              <a:xfrm>
                <a:off x="6052953" y="2296596"/>
                <a:ext cx="2430217" cy="483466"/>
              </a:xfrm>
              <a:prstGeom prst="rect">
                <a:avLst/>
              </a:prstGeom>
              <a:noFill/>
            </p:spPr>
            <p:txBody>
              <a:bodyPr wrap="none" rtlCol="0">
                <a:spAutoFit/>
              </a:bodyPr>
              <a:lstStyle/>
              <a:p>
                <a:r>
                  <a:rPr lang="en-US" altLang="zh-CN" dirty="0"/>
                  <a:t>Threshold parameter: </a:t>
                </a:r>
                <a14:m>
                  <m:oMath xmlns:m="http://schemas.openxmlformats.org/officeDocument/2006/math">
                    <m:f>
                      <m:fPr>
                        <m:ctrlPr>
                          <a:rPr lang="en-US" altLang="zh-CN" i="1" smtClean="0">
                            <a:latin typeface="Cambria Math" panose="02040503050406030204" pitchFamily="18" charset="0"/>
                          </a:rPr>
                        </m:ctrlPr>
                      </m:fPr>
                      <m:num>
                        <m:r>
                          <a:rPr lang="en-US" altLang="zh-CN" b="0" i="1" smtClean="0">
                            <a:latin typeface="Cambria Math"/>
                          </a:rPr>
                          <m:t>1</m:t>
                        </m:r>
                      </m:num>
                      <m:den>
                        <m:r>
                          <a:rPr lang="en-US" altLang="zh-CN" b="0" i="1" smtClean="0">
                            <a:latin typeface="Cambria Math"/>
                          </a:rPr>
                          <m:t>2</m:t>
                        </m:r>
                      </m:den>
                    </m:f>
                  </m:oMath>
                </a14:m>
                <a:endParaRPr lang="zh-CN" alt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6052953" y="2296596"/>
                <a:ext cx="2430217" cy="483466"/>
              </a:xfrm>
              <a:prstGeom prst="rect">
                <a:avLst/>
              </a:prstGeom>
              <a:blipFill rotWithShape="1">
                <a:blip r:embed="rId5"/>
                <a:stretch>
                  <a:fillRect l="-2256" b="-8861"/>
                </a:stretch>
              </a:blipFill>
            </p:spPr>
            <p:txBody>
              <a:bodyPr/>
              <a:lstStyle/>
              <a:p>
                <a:r>
                  <a:rPr lang="zh-CN" altLang="en-US">
                    <a:noFill/>
                  </a:rPr>
                  <a:t> </a:t>
                </a:r>
              </a:p>
            </p:txBody>
          </p:sp>
        </mc:Fallback>
      </mc:AlternateContent>
      <p:pic>
        <p:nvPicPr>
          <p:cNvPr id="15"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016757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Building a Regular Model</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32B29A66-CFD5-4F33-88E2-E7F8EEB50249}" type="slidenum">
              <a:rPr lang="en-US" altLang="en-US" smtClean="0"/>
              <a:pPr/>
              <a:t>14</a:t>
            </a:fld>
            <a:endParaRPr lang="en-US" altLang="en-US"/>
          </a:p>
        </p:txBody>
      </p:sp>
      <p:sp>
        <p:nvSpPr>
          <p:cNvPr id="74" name="Right Brace 73"/>
          <p:cNvSpPr/>
          <p:nvPr/>
        </p:nvSpPr>
        <p:spPr>
          <a:xfrm>
            <a:off x="2819400" y="3177041"/>
            <a:ext cx="244600" cy="720604"/>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十字星 6"/>
          <p:cNvSpPr/>
          <p:nvPr/>
        </p:nvSpPr>
        <p:spPr>
          <a:xfrm>
            <a:off x="2428558" y="3009900"/>
            <a:ext cx="190500" cy="197878"/>
          </a:xfrm>
          <a:prstGeom prst="star4">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十字星 22"/>
          <p:cNvSpPr/>
          <p:nvPr/>
        </p:nvSpPr>
        <p:spPr>
          <a:xfrm>
            <a:off x="2430886" y="4545963"/>
            <a:ext cx="190500" cy="197878"/>
          </a:xfrm>
          <a:prstGeom prst="star4">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6" name="TextBox 25"/>
              <p:cNvSpPr txBox="1"/>
              <p:nvPr/>
            </p:nvSpPr>
            <p:spPr>
              <a:xfrm>
                <a:off x="716385" y="2452948"/>
                <a:ext cx="1905001" cy="3502369"/>
              </a:xfrm>
              <a:prstGeom prst="rect">
                <a:avLst/>
              </a:prstGeom>
              <a:noFill/>
            </p:spPr>
            <p:txBody>
              <a:bodyPr wrap="square" rtlCol="0">
                <a:spAutoFit/>
              </a:bodyPr>
              <a:lstStyle/>
              <a:p>
                <a14:m>
                  <m:oMath xmlns:m="http://schemas.openxmlformats.org/officeDocument/2006/math">
                    <m:d>
                      <m:dPr>
                        <m:ctrlPr>
                          <a:rPr lang="en-US" altLang="zh-CN" i="1" smtClean="0">
                            <a:latin typeface="Cambria Math" panose="02040503050406030204" pitchFamily="18" charset="0"/>
                          </a:rPr>
                        </m:ctrlPr>
                      </m:dPr>
                      <m:e>
                        <m:r>
                          <a:rPr lang="en-US" altLang="zh-CN" i="1">
                            <a:latin typeface="Cambria Math"/>
                          </a:rPr>
                          <m:t>𝑎</m:t>
                        </m:r>
                        <m:r>
                          <a:rPr lang="en-US" altLang="zh-CN" i="1">
                            <a:latin typeface="Cambria Math"/>
                          </a:rPr>
                          <m:t>,</m:t>
                        </m:r>
                        <m:r>
                          <a:rPr lang="en-US" altLang="zh-CN" i="1">
                            <a:latin typeface="Cambria Math"/>
                          </a:rPr>
                          <m:t>𝑏</m:t>
                        </m:r>
                      </m:e>
                    </m:d>
                  </m:oMath>
                </a14:m>
                <a:r>
                  <a:rPr lang="en-US" altLang="zh-CN" dirty="0"/>
                  <a:t>: </a:t>
                </a:r>
                <a14:m>
                  <m:oMath xmlns:m="http://schemas.openxmlformats.org/officeDocument/2006/math">
                    <m:r>
                      <a:rPr lang="en-US" altLang="zh-CN" i="1">
                        <a:latin typeface="Cambria Math"/>
                      </a:rPr>
                      <m:t>1</m:t>
                    </m:r>
                    <m:r>
                      <a:rPr lang="en-US" altLang="zh-CN" i="1" dirty="0">
                        <a:latin typeface="Cambria Math"/>
                      </a:rPr>
                      <m:t>≤</m:t>
                    </m:r>
                    <m:r>
                      <a:rPr lang="en-US" altLang="zh-CN" b="0" i="1" smtClean="0">
                        <a:latin typeface="Cambria Math"/>
                      </a:rPr>
                      <m:t>4</m:t>
                    </m:r>
                    <m:r>
                      <a:rPr lang="en-US" altLang="zh-CN" i="1">
                        <a:latin typeface="Cambria Math"/>
                      </a:rPr>
                      <m:t>∗</m:t>
                    </m:r>
                    <m:f>
                      <m:fPr>
                        <m:ctrlPr>
                          <a:rPr lang="en-US" altLang="zh-CN" i="1">
                            <a:latin typeface="Cambria Math" panose="02040503050406030204" pitchFamily="18" charset="0"/>
                          </a:rPr>
                        </m:ctrlPr>
                      </m:fPr>
                      <m:num>
                        <m:r>
                          <a:rPr lang="en-US" altLang="zh-CN" b="0" i="1" smtClean="0">
                            <a:latin typeface="Cambria Math"/>
                          </a:rPr>
                          <m:t>1</m:t>
                        </m:r>
                      </m:num>
                      <m:den>
                        <m:r>
                          <a:rPr lang="en-US" altLang="zh-CN" b="0" i="1" smtClean="0">
                            <a:latin typeface="Cambria Math"/>
                          </a:rPr>
                          <m:t>2</m:t>
                        </m:r>
                      </m:den>
                    </m:f>
                  </m:oMath>
                </a14:m>
                <a:endParaRPr lang="en-US" dirty="0"/>
              </a:p>
              <a:p>
                <a14:m>
                  <m:oMath xmlns:m="http://schemas.openxmlformats.org/officeDocument/2006/math">
                    <m:d>
                      <m:dPr>
                        <m:ctrlPr>
                          <a:rPr lang="en-US" altLang="zh-CN" i="1">
                            <a:latin typeface="Cambria Math" panose="02040503050406030204" pitchFamily="18" charset="0"/>
                          </a:rPr>
                        </m:ctrlPr>
                      </m:dPr>
                      <m:e>
                        <m:r>
                          <a:rPr lang="en-US" altLang="zh-CN" i="1">
                            <a:latin typeface="Cambria Math"/>
                          </a:rPr>
                          <m:t>𝑏</m:t>
                        </m:r>
                        <m:r>
                          <a:rPr lang="en-US" altLang="zh-CN" i="1">
                            <a:latin typeface="Cambria Math"/>
                          </a:rPr>
                          <m:t>,</m:t>
                        </m:r>
                        <m:r>
                          <a:rPr lang="en-US" altLang="zh-CN" i="1">
                            <a:latin typeface="Cambria Math"/>
                          </a:rPr>
                          <m:t>𝑐</m:t>
                        </m:r>
                      </m:e>
                    </m:d>
                  </m:oMath>
                </a14:m>
                <a:r>
                  <a:rPr lang="en-US" altLang="zh-CN" dirty="0"/>
                  <a:t>: </a:t>
                </a:r>
                <a14:m>
                  <m:oMath xmlns:m="http://schemas.openxmlformats.org/officeDocument/2006/math">
                    <m:r>
                      <a:rPr lang="en-US" altLang="zh-CN" i="1" dirty="0">
                        <a:latin typeface="Cambria Math"/>
                      </a:rPr>
                      <m:t>2</m:t>
                    </m:r>
                    <m:r>
                      <a:rPr lang="en-US" altLang="zh-CN" i="1">
                        <a:latin typeface="Cambria Math"/>
                      </a:rPr>
                      <m:t>≥4∗</m:t>
                    </m:r>
                    <m:f>
                      <m:fPr>
                        <m:ctrlPr>
                          <a:rPr lang="en-US" altLang="zh-CN" i="1">
                            <a:latin typeface="Cambria Math" panose="02040503050406030204" pitchFamily="18" charset="0"/>
                          </a:rPr>
                        </m:ctrlPr>
                      </m:fPr>
                      <m:num>
                        <m:r>
                          <a:rPr lang="en-US" altLang="zh-CN" i="1">
                            <a:latin typeface="Cambria Math"/>
                          </a:rPr>
                          <m:t>1</m:t>
                        </m:r>
                      </m:num>
                      <m:den>
                        <m:r>
                          <a:rPr lang="en-US" altLang="zh-CN" i="1">
                            <a:latin typeface="Cambria Math"/>
                          </a:rPr>
                          <m:t>2</m:t>
                        </m:r>
                      </m:den>
                    </m:f>
                  </m:oMath>
                </a14:m>
                <a:endParaRPr lang="en-US" altLang="zh-CN" dirty="0"/>
              </a:p>
              <a:p>
                <a14:m>
                  <m:oMath xmlns:m="http://schemas.openxmlformats.org/officeDocument/2006/math">
                    <m:d>
                      <m:dPr>
                        <m:ctrlPr>
                          <a:rPr lang="en-US" altLang="zh-CN" i="1">
                            <a:latin typeface="Cambria Math" panose="02040503050406030204" pitchFamily="18" charset="0"/>
                          </a:rPr>
                        </m:ctrlPr>
                      </m:dPr>
                      <m:e>
                        <m:r>
                          <a:rPr lang="en-US" altLang="zh-CN" i="1">
                            <a:latin typeface="Cambria Math"/>
                          </a:rPr>
                          <m:t>𝑏</m:t>
                        </m:r>
                        <m:r>
                          <a:rPr lang="en-US" altLang="zh-CN" i="1">
                            <a:latin typeface="Cambria Math"/>
                          </a:rPr>
                          <m:t>,</m:t>
                        </m:r>
                        <m:r>
                          <a:rPr lang="en-US" altLang="zh-CN" b="0" i="1" smtClean="0">
                            <a:latin typeface="Cambria Math"/>
                          </a:rPr>
                          <m:t>𝑔</m:t>
                        </m:r>
                      </m:e>
                    </m:d>
                  </m:oMath>
                </a14:m>
                <a:r>
                  <a:rPr lang="en-US" altLang="zh-CN" dirty="0"/>
                  <a:t>: </a:t>
                </a:r>
                <a14:m>
                  <m:oMath xmlns:m="http://schemas.openxmlformats.org/officeDocument/2006/math">
                    <m:r>
                      <a:rPr lang="en-US" altLang="zh-CN" i="1" dirty="0">
                        <a:latin typeface="Cambria Math"/>
                      </a:rPr>
                      <m:t>2</m:t>
                    </m:r>
                    <m:r>
                      <a:rPr lang="en-US" altLang="zh-CN" i="1">
                        <a:latin typeface="Cambria Math"/>
                      </a:rPr>
                      <m:t>≥4∗</m:t>
                    </m:r>
                    <m:f>
                      <m:fPr>
                        <m:ctrlPr>
                          <a:rPr lang="en-US" altLang="zh-CN" i="1">
                            <a:latin typeface="Cambria Math" panose="02040503050406030204" pitchFamily="18" charset="0"/>
                          </a:rPr>
                        </m:ctrlPr>
                      </m:fPr>
                      <m:num>
                        <m:r>
                          <a:rPr lang="en-US" altLang="zh-CN" i="1">
                            <a:latin typeface="Cambria Math"/>
                          </a:rPr>
                          <m:t>1</m:t>
                        </m:r>
                      </m:num>
                      <m:den>
                        <m:r>
                          <a:rPr lang="en-US" altLang="zh-CN" i="1">
                            <a:latin typeface="Cambria Math"/>
                          </a:rPr>
                          <m:t>2</m:t>
                        </m:r>
                      </m:den>
                    </m:f>
                  </m:oMath>
                </a14:m>
                <a:endParaRPr lang="en-US" altLang="zh-CN" dirty="0"/>
              </a:p>
              <a:p>
                <a14:m>
                  <m:oMath xmlns:m="http://schemas.openxmlformats.org/officeDocument/2006/math">
                    <m:d>
                      <m:dPr>
                        <m:ctrlPr>
                          <a:rPr lang="en-US" altLang="zh-CN" i="1">
                            <a:latin typeface="Cambria Math" panose="02040503050406030204" pitchFamily="18" charset="0"/>
                          </a:rPr>
                        </m:ctrlPr>
                      </m:dPr>
                      <m:e>
                        <m:r>
                          <a:rPr lang="en-US" altLang="zh-CN" b="0" i="1" smtClean="0">
                            <a:latin typeface="Cambria Math"/>
                          </a:rPr>
                          <m:t>𝑐</m:t>
                        </m:r>
                        <m:r>
                          <a:rPr lang="en-US" altLang="zh-CN" i="1">
                            <a:latin typeface="Cambria Math"/>
                          </a:rPr>
                          <m:t>,</m:t>
                        </m:r>
                        <m:r>
                          <a:rPr lang="en-US" altLang="zh-CN" b="0" i="1" smtClean="0">
                            <a:latin typeface="Cambria Math"/>
                          </a:rPr>
                          <m:t>𝑑</m:t>
                        </m:r>
                      </m:e>
                    </m:d>
                  </m:oMath>
                </a14:m>
                <a:r>
                  <a:rPr lang="en-US" altLang="zh-CN" dirty="0"/>
                  <a:t>: </a:t>
                </a:r>
                <a14:m>
                  <m:oMath xmlns:m="http://schemas.openxmlformats.org/officeDocument/2006/math">
                    <m:r>
                      <a:rPr lang="en-US" altLang="zh-CN" i="1" dirty="0">
                        <a:latin typeface="Cambria Math"/>
                      </a:rPr>
                      <m:t>2</m:t>
                    </m:r>
                    <m:r>
                      <a:rPr lang="en-US" altLang="zh-CN" i="1">
                        <a:latin typeface="Cambria Math"/>
                      </a:rPr>
                      <m:t>≥4∗</m:t>
                    </m:r>
                    <m:f>
                      <m:fPr>
                        <m:ctrlPr>
                          <a:rPr lang="en-US" altLang="zh-CN" i="1">
                            <a:latin typeface="Cambria Math" panose="02040503050406030204" pitchFamily="18" charset="0"/>
                          </a:rPr>
                        </m:ctrlPr>
                      </m:fPr>
                      <m:num>
                        <m:r>
                          <a:rPr lang="en-US" altLang="zh-CN" i="1">
                            <a:latin typeface="Cambria Math"/>
                          </a:rPr>
                          <m:t>1</m:t>
                        </m:r>
                      </m:num>
                      <m:den>
                        <m:r>
                          <a:rPr lang="en-US" altLang="zh-CN" i="1">
                            <a:latin typeface="Cambria Math"/>
                          </a:rPr>
                          <m:t>2</m:t>
                        </m:r>
                      </m:den>
                    </m:f>
                  </m:oMath>
                </a14:m>
                <a:endParaRPr lang="en-US" altLang="zh-CN" dirty="0"/>
              </a:p>
              <a:p>
                <a14:m>
                  <m:oMath xmlns:m="http://schemas.openxmlformats.org/officeDocument/2006/math">
                    <m:d>
                      <m:dPr>
                        <m:ctrlPr>
                          <a:rPr lang="en-US" altLang="zh-CN" i="1" smtClean="0">
                            <a:latin typeface="Cambria Math" panose="02040503050406030204" pitchFamily="18" charset="0"/>
                          </a:rPr>
                        </m:ctrlPr>
                      </m:dPr>
                      <m:e>
                        <m:r>
                          <a:rPr lang="en-US" altLang="zh-CN" b="0" i="1" smtClean="0">
                            <a:latin typeface="Cambria Math"/>
                          </a:rPr>
                          <m:t>𝑑</m:t>
                        </m:r>
                        <m:r>
                          <a:rPr lang="en-US" altLang="zh-CN" b="0" i="1" smtClean="0">
                            <a:latin typeface="Cambria Math"/>
                          </a:rPr>
                          <m:t>,</m:t>
                        </m:r>
                        <m:r>
                          <a:rPr lang="en-US" altLang="zh-CN" b="0" i="1" smtClean="0">
                            <a:latin typeface="Cambria Math"/>
                          </a:rPr>
                          <m:t>𝑒</m:t>
                        </m:r>
                      </m:e>
                    </m:d>
                  </m:oMath>
                </a14:m>
                <a:r>
                  <a:rPr lang="en-US" altLang="zh-CN" dirty="0"/>
                  <a:t>: </a:t>
                </a:r>
                <a14:m>
                  <m:oMath xmlns:m="http://schemas.openxmlformats.org/officeDocument/2006/math">
                    <m:r>
                      <a:rPr lang="en-US" altLang="zh-CN" i="1" dirty="0">
                        <a:latin typeface="Cambria Math"/>
                      </a:rPr>
                      <m:t>1≤</m:t>
                    </m:r>
                    <m:r>
                      <a:rPr lang="en-US" altLang="zh-CN" b="0" i="1" dirty="0" smtClean="0">
                        <a:latin typeface="Cambria Math"/>
                      </a:rPr>
                      <m:t>4</m:t>
                    </m:r>
                    <m:r>
                      <a:rPr lang="en-US" altLang="zh-CN" i="1">
                        <a:latin typeface="Cambria Math"/>
                      </a:rPr>
                      <m:t>∗</m:t>
                    </m:r>
                    <m:f>
                      <m:fPr>
                        <m:ctrlPr>
                          <a:rPr lang="en-US" altLang="zh-CN" i="1">
                            <a:latin typeface="Cambria Math" panose="02040503050406030204" pitchFamily="18" charset="0"/>
                          </a:rPr>
                        </m:ctrlPr>
                      </m:fPr>
                      <m:num>
                        <m:r>
                          <a:rPr lang="en-US" altLang="zh-CN" b="0" i="1" smtClean="0">
                            <a:latin typeface="Cambria Math"/>
                          </a:rPr>
                          <m:t>1</m:t>
                        </m:r>
                      </m:num>
                      <m:den>
                        <m:r>
                          <a:rPr lang="en-US" altLang="zh-CN" b="0" i="1" smtClean="0">
                            <a:latin typeface="Cambria Math"/>
                          </a:rPr>
                          <m:t>2</m:t>
                        </m:r>
                      </m:den>
                    </m:f>
                  </m:oMath>
                </a14:m>
                <a:endParaRPr lang="en-US" dirty="0"/>
              </a:p>
              <a:p>
                <a14:m>
                  <m:oMath xmlns:m="http://schemas.openxmlformats.org/officeDocument/2006/math">
                    <m:d>
                      <m:dPr>
                        <m:ctrlPr>
                          <a:rPr lang="en-US" altLang="zh-CN" i="1">
                            <a:latin typeface="Cambria Math" panose="02040503050406030204" pitchFamily="18" charset="0"/>
                          </a:rPr>
                        </m:ctrlPr>
                      </m:dPr>
                      <m:e>
                        <m:r>
                          <a:rPr lang="en-US" altLang="zh-CN" b="0" i="1" smtClean="0">
                            <a:latin typeface="Cambria Math"/>
                          </a:rPr>
                          <m:t>𝑓</m:t>
                        </m:r>
                        <m:r>
                          <a:rPr lang="en-US" altLang="zh-CN" i="1">
                            <a:latin typeface="Cambria Math"/>
                          </a:rPr>
                          <m:t>,</m:t>
                        </m:r>
                        <m:r>
                          <a:rPr lang="en-US" altLang="zh-CN" i="1">
                            <a:latin typeface="Cambria Math"/>
                          </a:rPr>
                          <m:t>𝑑</m:t>
                        </m:r>
                      </m:e>
                    </m:d>
                  </m:oMath>
                </a14:m>
                <a:r>
                  <a:rPr lang="en-US" altLang="zh-CN" dirty="0"/>
                  <a:t>: </a:t>
                </a:r>
                <a14:m>
                  <m:oMath xmlns:m="http://schemas.openxmlformats.org/officeDocument/2006/math">
                    <m:r>
                      <a:rPr lang="en-US" altLang="zh-CN" i="1" dirty="0">
                        <a:latin typeface="Cambria Math"/>
                      </a:rPr>
                      <m:t>2</m:t>
                    </m:r>
                    <m:r>
                      <a:rPr lang="en-US" altLang="zh-CN" i="1">
                        <a:latin typeface="Cambria Math"/>
                      </a:rPr>
                      <m:t>≥4∗</m:t>
                    </m:r>
                    <m:f>
                      <m:fPr>
                        <m:ctrlPr>
                          <a:rPr lang="en-US" altLang="zh-CN" i="1">
                            <a:latin typeface="Cambria Math" panose="02040503050406030204" pitchFamily="18" charset="0"/>
                          </a:rPr>
                        </m:ctrlPr>
                      </m:fPr>
                      <m:num>
                        <m:r>
                          <a:rPr lang="en-US" altLang="zh-CN" i="1">
                            <a:latin typeface="Cambria Math"/>
                          </a:rPr>
                          <m:t>1</m:t>
                        </m:r>
                      </m:num>
                      <m:den>
                        <m:r>
                          <a:rPr lang="en-US" altLang="zh-CN" i="1">
                            <a:latin typeface="Cambria Math"/>
                          </a:rPr>
                          <m:t>2</m:t>
                        </m:r>
                      </m:den>
                    </m:f>
                  </m:oMath>
                </a14:m>
                <a:endParaRPr lang="en-US" altLang="zh-CN" i="1" dirty="0">
                  <a:latin typeface="Cambria Math"/>
                </a:endParaRPr>
              </a:p>
              <a:p>
                <a14:m>
                  <m:oMath xmlns:m="http://schemas.openxmlformats.org/officeDocument/2006/math">
                    <m:d>
                      <m:dPr>
                        <m:ctrlPr>
                          <a:rPr lang="en-US" altLang="zh-CN" i="1">
                            <a:latin typeface="Cambria Math" panose="02040503050406030204" pitchFamily="18" charset="0"/>
                          </a:rPr>
                        </m:ctrlPr>
                      </m:dPr>
                      <m:e>
                        <m:r>
                          <a:rPr lang="en-US" altLang="zh-CN" b="0" i="1" smtClean="0">
                            <a:latin typeface="Cambria Math"/>
                          </a:rPr>
                          <m:t>𝑔</m:t>
                        </m:r>
                        <m:r>
                          <a:rPr lang="en-US" altLang="zh-CN" i="1">
                            <a:latin typeface="Cambria Math"/>
                          </a:rPr>
                          <m:t>,</m:t>
                        </m:r>
                        <m:r>
                          <a:rPr lang="en-US" altLang="zh-CN" b="0" i="1" smtClean="0">
                            <a:latin typeface="Cambria Math"/>
                          </a:rPr>
                          <m:t>𝑓</m:t>
                        </m:r>
                      </m:e>
                    </m:d>
                  </m:oMath>
                </a14:m>
                <a:r>
                  <a:rPr lang="en-US" altLang="zh-CN" dirty="0"/>
                  <a:t>: </a:t>
                </a:r>
                <a14:m>
                  <m:oMath xmlns:m="http://schemas.openxmlformats.org/officeDocument/2006/math">
                    <m:r>
                      <a:rPr lang="en-US" altLang="zh-CN" i="1" dirty="0">
                        <a:latin typeface="Cambria Math"/>
                      </a:rPr>
                      <m:t>2</m:t>
                    </m:r>
                    <m:r>
                      <a:rPr lang="en-US" altLang="zh-CN" i="1">
                        <a:latin typeface="Cambria Math"/>
                      </a:rPr>
                      <m:t>≥4∗</m:t>
                    </m:r>
                    <m:f>
                      <m:fPr>
                        <m:ctrlPr>
                          <a:rPr lang="en-US" altLang="zh-CN" i="1">
                            <a:latin typeface="Cambria Math" panose="02040503050406030204" pitchFamily="18" charset="0"/>
                          </a:rPr>
                        </m:ctrlPr>
                      </m:fPr>
                      <m:num>
                        <m:r>
                          <a:rPr lang="en-US" altLang="zh-CN" i="1">
                            <a:latin typeface="Cambria Math"/>
                          </a:rPr>
                          <m:t>1</m:t>
                        </m:r>
                      </m:num>
                      <m:den>
                        <m:r>
                          <a:rPr lang="en-US" altLang="zh-CN" i="1">
                            <a:latin typeface="Cambria Math"/>
                          </a:rPr>
                          <m:t>2</m:t>
                        </m:r>
                      </m:den>
                    </m:f>
                  </m:oMath>
                </a14:m>
                <a:endParaRPr lang="en-US" altLang="zh-CN" i="1" dirty="0">
                  <a:latin typeface="Cambria Math"/>
                </a:endParaRPr>
              </a:p>
              <a:p>
                <a:endParaRPr lang="en-US" dirty="0"/>
              </a:p>
              <a:p>
                <a:endParaRPr lang="en-US" dirty="0"/>
              </a:p>
            </p:txBody>
          </p:sp>
        </mc:Choice>
        <mc:Fallback xmlns="">
          <p:sp>
            <p:nvSpPr>
              <p:cNvPr id="26" name="TextBox 25"/>
              <p:cNvSpPr txBox="1">
                <a:spLocks noRot="1" noChangeAspect="1" noMove="1" noResize="1" noEditPoints="1" noAdjustHandles="1" noChangeArrowheads="1" noChangeShapeType="1" noTextEdit="1"/>
              </p:cNvSpPr>
              <p:nvPr/>
            </p:nvSpPr>
            <p:spPr>
              <a:xfrm>
                <a:off x="716385" y="2452948"/>
                <a:ext cx="1905001" cy="3502369"/>
              </a:xfrm>
              <a:prstGeom prst="rect">
                <a:avLst/>
              </a:prstGeom>
              <a:blipFill rotWithShape="1">
                <a:blip r:embed="rId3"/>
                <a:stretch>
                  <a:fillRect/>
                </a:stretch>
              </a:blipFill>
            </p:spPr>
            <p:txBody>
              <a:bodyPr/>
              <a:lstStyle/>
              <a:p>
                <a:r>
                  <a:rPr lang="zh-CN" altLang="en-US">
                    <a:noFill/>
                  </a:rPr>
                  <a:t> </a:t>
                </a:r>
              </a:p>
            </p:txBody>
          </p:sp>
        </mc:Fallback>
      </mc:AlternateContent>
      <p:sp>
        <p:nvSpPr>
          <p:cNvPr id="27" name="十字星 26"/>
          <p:cNvSpPr/>
          <p:nvPr/>
        </p:nvSpPr>
        <p:spPr>
          <a:xfrm>
            <a:off x="2436072" y="3438404"/>
            <a:ext cx="190500" cy="197878"/>
          </a:xfrm>
          <a:prstGeom prst="star4">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十字星 27"/>
          <p:cNvSpPr/>
          <p:nvPr/>
        </p:nvSpPr>
        <p:spPr>
          <a:xfrm>
            <a:off x="2430886" y="3810000"/>
            <a:ext cx="190500" cy="197878"/>
          </a:xfrm>
          <a:prstGeom prst="star4">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十字星 28"/>
          <p:cNvSpPr/>
          <p:nvPr/>
        </p:nvSpPr>
        <p:spPr>
          <a:xfrm>
            <a:off x="2436072" y="4921004"/>
            <a:ext cx="190500" cy="197878"/>
          </a:xfrm>
          <a:prstGeom prst="star4">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Right Brace 73"/>
          <p:cNvSpPr/>
          <p:nvPr/>
        </p:nvSpPr>
        <p:spPr>
          <a:xfrm>
            <a:off x="2727200" y="4545963"/>
            <a:ext cx="214500" cy="572919"/>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 name="Right Brace 73"/>
          <p:cNvSpPr/>
          <p:nvPr/>
        </p:nvSpPr>
        <p:spPr>
          <a:xfrm>
            <a:off x="3200400" y="3537343"/>
            <a:ext cx="214500" cy="1295079"/>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Oval 71"/>
          <p:cNvSpPr/>
          <p:nvPr/>
        </p:nvSpPr>
        <p:spPr>
          <a:xfrm>
            <a:off x="5609463" y="4346892"/>
            <a:ext cx="457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
            </a:r>
          </a:p>
        </p:txBody>
      </p:sp>
      <p:sp>
        <p:nvSpPr>
          <p:cNvPr id="33" name="Oval 72"/>
          <p:cNvSpPr/>
          <p:nvPr/>
        </p:nvSpPr>
        <p:spPr>
          <a:xfrm>
            <a:off x="3541395" y="4315080"/>
            <a:ext cx="457200"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a:t>
            </a:r>
          </a:p>
        </p:txBody>
      </p:sp>
      <p:sp>
        <p:nvSpPr>
          <p:cNvPr id="34" name="Oval 73"/>
          <p:cNvSpPr/>
          <p:nvPr/>
        </p:nvSpPr>
        <p:spPr>
          <a:xfrm>
            <a:off x="4578858" y="4315080"/>
            <a:ext cx="452628"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a:t>
            </a:r>
          </a:p>
        </p:txBody>
      </p:sp>
      <p:cxnSp>
        <p:nvCxnSpPr>
          <p:cNvPr id="35" name="Straight Arrow Connector 74"/>
          <p:cNvCxnSpPr/>
          <p:nvPr/>
        </p:nvCxnSpPr>
        <p:spPr>
          <a:xfrm>
            <a:off x="3996309" y="4524979"/>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75"/>
          <p:cNvCxnSpPr/>
          <p:nvPr/>
        </p:nvCxnSpPr>
        <p:spPr>
          <a:xfrm>
            <a:off x="5031486" y="4537171"/>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7" name="Oval 72"/>
          <p:cNvSpPr/>
          <p:nvPr/>
        </p:nvSpPr>
        <p:spPr>
          <a:xfrm>
            <a:off x="3964686" y="3526689"/>
            <a:ext cx="457200"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g</a:t>
            </a:r>
          </a:p>
        </p:txBody>
      </p:sp>
      <p:sp>
        <p:nvSpPr>
          <p:cNvPr id="38" name="Oval 73"/>
          <p:cNvSpPr/>
          <p:nvPr/>
        </p:nvSpPr>
        <p:spPr>
          <a:xfrm>
            <a:off x="5002149" y="3526689"/>
            <a:ext cx="452628" cy="4397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f</a:t>
            </a:r>
          </a:p>
        </p:txBody>
      </p:sp>
      <p:cxnSp>
        <p:nvCxnSpPr>
          <p:cNvPr id="39" name="Straight Arrow Connector 74"/>
          <p:cNvCxnSpPr/>
          <p:nvPr/>
        </p:nvCxnSpPr>
        <p:spPr>
          <a:xfrm>
            <a:off x="4419600" y="3736588"/>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75"/>
          <p:cNvCxnSpPr>
            <a:endCxn id="32" idx="0"/>
          </p:cNvCxnSpPr>
          <p:nvPr/>
        </p:nvCxnSpPr>
        <p:spPr>
          <a:xfrm>
            <a:off x="5454777" y="3748780"/>
            <a:ext cx="383286" cy="59811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74"/>
          <p:cNvCxnSpPr>
            <a:stCxn id="33" idx="0"/>
            <a:endCxn id="37" idx="3"/>
          </p:cNvCxnSpPr>
          <p:nvPr/>
        </p:nvCxnSpPr>
        <p:spPr>
          <a:xfrm flipV="1">
            <a:off x="3769995" y="3902029"/>
            <a:ext cx="261646" cy="41305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2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01321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anim calcmode="lin" valueType="num">
                                      <p:cBhvr additive="base">
                                        <p:cTn id="19" dur="500" fill="hold"/>
                                        <p:tgtEl>
                                          <p:spTgt spid="30"/>
                                        </p:tgtEl>
                                        <p:attrNameLst>
                                          <p:attrName>ppt_x</p:attrName>
                                        </p:attrNameLst>
                                      </p:cBhvr>
                                      <p:tavLst>
                                        <p:tav tm="0">
                                          <p:val>
                                            <p:strVal val="#ppt_x"/>
                                          </p:val>
                                        </p:tav>
                                        <p:tav tm="100000">
                                          <p:val>
                                            <p:strVal val="#ppt_x"/>
                                          </p:val>
                                        </p:tav>
                                      </p:tavLst>
                                    </p:anim>
                                    <p:anim calcmode="lin" valueType="num">
                                      <p:cBhvr additive="base">
                                        <p:cTn id="20" dur="500" fill="hold"/>
                                        <p:tgtEl>
                                          <p:spTgt spid="30"/>
                                        </p:tgtEl>
                                        <p:attrNameLst>
                                          <p:attrName>ppt_y</p:attrName>
                                        </p:attrNameLst>
                                      </p:cBhvr>
                                      <p:tavLst>
                                        <p:tav tm="0">
                                          <p:val>
                                            <p:strVal val="1+#ppt_h/2"/>
                                          </p:val>
                                        </p:tav>
                                        <p:tav tm="100000">
                                          <p:val>
                                            <p:strVal val="#ppt_y"/>
                                          </p:val>
                                        </p:tav>
                                      </p:tavLst>
                                    </p:anim>
                                  </p:childTnLst>
                                </p:cTn>
                              </p:par>
                            </p:childTnLst>
                          </p:cTn>
                        </p:par>
                        <p:par>
                          <p:cTn id="21" fill="hold">
                            <p:stCondLst>
                              <p:cond delay="500"/>
                            </p:stCondLst>
                            <p:childTnLst>
                              <p:par>
                                <p:cTn id="22" presetID="2" presetClass="entr" presetSubtype="4" fill="hold" grpId="0" nodeType="afterEffect">
                                  <p:stCondLst>
                                    <p:cond delay="0"/>
                                  </p:stCondLst>
                                  <p:childTnLst>
                                    <p:set>
                                      <p:cBhvr>
                                        <p:cTn id="23" dur="1" fill="hold">
                                          <p:stCondLst>
                                            <p:cond delay="0"/>
                                          </p:stCondLst>
                                        </p:cTn>
                                        <p:tgtEl>
                                          <p:spTgt spid="74"/>
                                        </p:tgtEl>
                                        <p:attrNameLst>
                                          <p:attrName>style.visibility</p:attrName>
                                        </p:attrNameLst>
                                      </p:cBhvr>
                                      <p:to>
                                        <p:strVal val="visible"/>
                                      </p:to>
                                    </p:set>
                                    <p:anim calcmode="lin" valueType="num">
                                      <p:cBhvr additive="base">
                                        <p:cTn id="24" dur="500" fill="hold"/>
                                        <p:tgtEl>
                                          <p:spTgt spid="74"/>
                                        </p:tgtEl>
                                        <p:attrNameLst>
                                          <p:attrName>ppt_x</p:attrName>
                                        </p:attrNameLst>
                                      </p:cBhvr>
                                      <p:tavLst>
                                        <p:tav tm="0">
                                          <p:val>
                                            <p:strVal val="#ppt_x"/>
                                          </p:val>
                                        </p:tav>
                                        <p:tav tm="100000">
                                          <p:val>
                                            <p:strVal val="#ppt_x"/>
                                          </p:val>
                                        </p:tav>
                                      </p:tavLst>
                                    </p:anim>
                                    <p:anim calcmode="lin" valueType="num">
                                      <p:cBhvr additive="base">
                                        <p:cTn id="25" dur="500" fill="hold"/>
                                        <p:tgtEl>
                                          <p:spTgt spid="74"/>
                                        </p:tgtEl>
                                        <p:attrNameLst>
                                          <p:attrName>ppt_y</p:attrName>
                                        </p:attrNameLst>
                                      </p:cBhvr>
                                      <p:tavLst>
                                        <p:tav tm="0">
                                          <p:val>
                                            <p:strVal val="1+#ppt_h/2"/>
                                          </p:val>
                                        </p:tav>
                                        <p:tav tm="100000">
                                          <p:val>
                                            <p:strVal val="#ppt_y"/>
                                          </p:val>
                                        </p:tav>
                                      </p:tavLst>
                                    </p:anim>
                                  </p:childTnLst>
                                </p:cTn>
                              </p:par>
                            </p:childTnLst>
                          </p:cTn>
                        </p:par>
                        <p:par>
                          <p:cTn id="26" fill="hold">
                            <p:stCondLst>
                              <p:cond delay="1000"/>
                            </p:stCondLst>
                            <p:childTnLst>
                              <p:par>
                                <p:cTn id="27" presetID="2" presetClass="entr" presetSubtype="4" fill="hold" grpId="0" nodeType="afterEffect">
                                  <p:stCondLst>
                                    <p:cond delay="0"/>
                                  </p:stCondLst>
                                  <p:childTnLst>
                                    <p:set>
                                      <p:cBhvr>
                                        <p:cTn id="28" dur="1" fill="hold">
                                          <p:stCondLst>
                                            <p:cond delay="0"/>
                                          </p:stCondLst>
                                        </p:cTn>
                                        <p:tgtEl>
                                          <p:spTgt spid="31"/>
                                        </p:tgtEl>
                                        <p:attrNameLst>
                                          <p:attrName>style.visibility</p:attrName>
                                        </p:attrNameLst>
                                      </p:cBhvr>
                                      <p:to>
                                        <p:strVal val="visible"/>
                                      </p:to>
                                    </p:set>
                                    <p:anim calcmode="lin" valueType="num">
                                      <p:cBhvr additive="base">
                                        <p:cTn id="29" dur="500" fill="hold"/>
                                        <p:tgtEl>
                                          <p:spTgt spid="31"/>
                                        </p:tgtEl>
                                        <p:attrNameLst>
                                          <p:attrName>ppt_x</p:attrName>
                                        </p:attrNameLst>
                                      </p:cBhvr>
                                      <p:tavLst>
                                        <p:tav tm="0">
                                          <p:val>
                                            <p:strVal val="#ppt_x"/>
                                          </p:val>
                                        </p:tav>
                                        <p:tav tm="100000">
                                          <p:val>
                                            <p:strVal val="#ppt_x"/>
                                          </p:val>
                                        </p:tav>
                                      </p:tavLst>
                                    </p:anim>
                                    <p:anim calcmode="lin" valueType="num">
                                      <p:cBhvr additive="base">
                                        <p:cTn id="30"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grpId="0" nodeType="clickEffect">
                                  <p:stCondLst>
                                    <p:cond delay="0"/>
                                  </p:stCondLst>
                                  <p:childTnLst>
                                    <p:set>
                                      <p:cBhvr>
                                        <p:cTn id="34" dur="1" fill="hold">
                                          <p:stCondLst>
                                            <p:cond delay="0"/>
                                          </p:stCondLst>
                                        </p:cTn>
                                        <p:tgtEl>
                                          <p:spTgt spid="34"/>
                                        </p:tgtEl>
                                        <p:attrNameLst>
                                          <p:attrName>style.visibility</p:attrName>
                                        </p:attrNameLst>
                                      </p:cBhvr>
                                      <p:to>
                                        <p:strVal val="visible"/>
                                      </p:to>
                                    </p:set>
                                    <p:animEffect transition="in" filter="barn(inVertical)">
                                      <p:cBhvr>
                                        <p:cTn id="35" dur="500"/>
                                        <p:tgtEl>
                                          <p:spTgt spid="34"/>
                                        </p:tgtEl>
                                      </p:cBhvr>
                                    </p:animEffect>
                                  </p:childTnLst>
                                </p:cTn>
                              </p:par>
                              <p:par>
                                <p:cTn id="36" presetID="16" presetClass="entr" presetSubtype="21" fill="hold" grpId="0" nodeType="with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barn(inVertical)">
                                      <p:cBhvr>
                                        <p:cTn id="38" dur="500"/>
                                        <p:tgtEl>
                                          <p:spTgt spid="37"/>
                                        </p:tgtEl>
                                      </p:cBhvr>
                                    </p:animEffect>
                                  </p:childTnLst>
                                </p:cTn>
                              </p:par>
                              <p:par>
                                <p:cTn id="39" presetID="16" presetClass="entr" presetSubtype="21" fill="hold" grpId="0" nodeType="withEffect">
                                  <p:stCondLst>
                                    <p:cond delay="0"/>
                                  </p:stCondLst>
                                  <p:childTnLst>
                                    <p:set>
                                      <p:cBhvr>
                                        <p:cTn id="40" dur="1" fill="hold">
                                          <p:stCondLst>
                                            <p:cond delay="0"/>
                                          </p:stCondLst>
                                        </p:cTn>
                                        <p:tgtEl>
                                          <p:spTgt spid="38"/>
                                        </p:tgtEl>
                                        <p:attrNameLst>
                                          <p:attrName>style.visibility</p:attrName>
                                        </p:attrNameLst>
                                      </p:cBhvr>
                                      <p:to>
                                        <p:strVal val="visible"/>
                                      </p:to>
                                    </p:set>
                                    <p:animEffect transition="in" filter="barn(inVertical)">
                                      <p:cBhvr>
                                        <p:cTn id="41" dur="500"/>
                                        <p:tgtEl>
                                          <p:spTgt spid="38"/>
                                        </p:tgtEl>
                                      </p:cBhvr>
                                    </p:animEffect>
                                  </p:childTnLst>
                                </p:cTn>
                              </p:par>
                              <p:par>
                                <p:cTn id="42" presetID="16" presetClass="entr" presetSubtype="21" fill="hold" grpId="0" nodeType="withEffect">
                                  <p:stCondLst>
                                    <p:cond delay="0"/>
                                  </p:stCondLst>
                                  <p:childTnLst>
                                    <p:set>
                                      <p:cBhvr>
                                        <p:cTn id="43" dur="1" fill="hold">
                                          <p:stCondLst>
                                            <p:cond delay="0"/>
                                          </p:stCondLst>
                                        </p:cTn>
                                        <p:tgtEl>
                                          <p:spTgt spid="33"/>
                                        </p:tgtEl>
                                        <p:attrNameLst>
                                          <p:attrName>style.visibility</p:attrName>
                                        </p:attrNameLst>
                                      </p:cBhvr>
                                      <p:to>
                                        <p:strVal val="visible"/>
                                      </p:to>
                                    </p:set>
                                    <p:animEffect transition="in" filter="barn(inVertical)">
                                      <p:cBhvr>
                                        <p:cTn id="44" dur="500"/>
                                        <p:tgtEl>
                                          <p:spTgt spid="33"/>
                                        </p:tgtEl>
                                      </p:cBhvr>
                                    </p:animEffect>
                                  </p:childTnLst>
                                </p:cTn>
                              </p:par>
                              <p:par>
                                <p:cTn id="45" presetID="16" presetClass="entr" presetSubtype="21" fill="hold" nodeType="withEffect">
                                  <p:stCondLst>
                                    <p:cond delay="0"/>
                                  </p:stCondLst>
                                  <p:childTnLst>
                                    <p:set>
                                      <p:cBhvr>
                                        <p:cTn id="46" dur="1" fill="hold">
                                          <p:stCondLst>
                                            <p:cond delay="0"/>
                                          </p:stCondLst>
                                        </p:cTn>
                                        <p:tgtEl>
                                          <p:spTgt spid="41"/>
                                        </p:tgtEl>
                                        <p:attrNameLst>
                                          <p:attrName>style.visibility</p:attrName>
                                        </p:attrNameLst>
                                      </p:cBhvr>
                                      <p:to>
                                        <p:strVal val="visible"/>
                                      </p:to>
                                    </p:set>
                                    <p:animEffect transition="in" filter="barn(inVertical)">
                                      <p:cBhvr>
                                        <p:cTn id="47" dur="500"/>
                                        <p:tgtEl>
                                          <p:spTgt spid="41"/>
                                        </p:tgtEl>
                                      </p:cBhvr>
                                    </p:animEffect>
                                  </p:childTnLst>
                                </p:cTn>
                              </p:par>
                              <p:par>
                                <p:cTn id="48" presetID="16" presetClass="entr" presetSubtype="21" fill="hold" nodeType="withEffect">
                                  <p:stCondLst>
                                    <p:cond delay="0"/>
                                  </p:stCondLst>
                                  <p:childTnLst>
                                    <p:set>
                                      <p:cBhvr>
                                        <p:cTn id="49" dur="1" fill="hold">
                                          <p:stCondLst>
                                            <p:cond delay="0"/>
                                          </p:stCondLst>
                                        </p:cTn>
                                        <p:tgtEl>
                                          <p:spTgt spid="40"/>
                                        </p:tgtEl>
                                        <p:attrNameLst>
                                          <p:attrName>style.visibility</p:attrName>
                                        </p:attrNameLst>
                                      </p:cBhvr>
                                      <p:to>
                                        <p:strVal val="visible"/>
                                      </p:to>
                                    </p:set>
                                    <p:animEffect transition="in" filter="barn(inVertical)">
                                      <p:cBhvr>
                                        <p:cTn id="50" dur="500"/>
                                        <p:tgtEl>
                                          <p:spTgt spid="40"/>
                                        </p:tgtEl>
                                      </p:cBhvr>
                                    </p:animEffect>
                                  </p:childTnLst>
                                </p:cTn>
                              </p:par>
                              <p:par>
                                <p:cTn id="51" presetID="16" presetClass="entr" presetSubtype="21" fill="hold" nodeType="withEffect">
                                  <p:stCondLst>
                                    <p:cond delay="0"/>
                                  </p:stCondLst>
                                  <p:childTnLst>
                                    <p:set>
                                      <p:cBhvr>
                                        <p:cTn id="52" dur="1" fill="hold">
                                          <p:stCondLst>
                                            <p:cond delay="0"/>
                                          </p:stCondLst>
                                        </p:cTn>
                                        <p:tgtEl>
                                          <p:spTgt spid="36"/>
                                        </p:tgtEl>
                                        <p:attrNameLst>
                                          <p:attrName>style.visibility</p:attrName>
                                        </p:attrNameLst>
                                      </p:cBhvr>
                                      <p:to>
                                        <p:strVal val="visible"/>
                                      </p:to>
                                    </p:set>
                                    <p:animEffect transition="in" filter="barn(inVertical)">
                                      <p:cBhvr>
                                        <p:cTn id="53" dur="500"/>
                                        <p:tgtEl>
                                          <p:spTgt spid="36"/>
                                        </p:tgtEl>
                                      </p:cBhvr>
                                    </p:animEffect>
                                  </p:childTnLst>
                                </p:cTn>
                              </p:par>
                              <p:par>
                                <p:cTn id="54" presetID="16" presetClass="entr" presetSubtype="21" fill="hold" grpId="0" nodeType="withEffect">
                                  <p:stCondLst>
                                    <p:cond delay="0"/>
                                  </p:stCondLst>
                                  <p:childTnLst>
                                    <p:set>
                                      <p:cBhvr>
                                        <p:cTn id="55" dur="1" fill="hold">
                                          <p:stCondLst>
                                            <p:cond delay="0"/>
                                          </p:stCondLst>
                                        </p:cTn>
                                        <p:tgtEl>
                                          <p:spTgt spid="32"/>
                                        </p:tgtEl>
                                        <p:attrNameLst>
                                          <p:attrName>style.visibility</p:attrName>
                                        </p:attrNameLst>
                                      </p:cBhvr>
                                      <p:to>
                                        <p:strVal val="visible"/>
                                      </p:to>
                                    </p:set>
                                    <p:animEffect transition="in" filter="barn(inVertical)">
                                      <p:cBhvr>
                                        <p:cTn id="56" dur="500"/>
                                        <p:tgtEl>
                                          <p:spTgt spid="32"/>
                                        </p:tgtEl>
                                      </p:cBhvr>
                                    </p:animEffect>
                                  </p:childTnLst>
                                </p:cTn>
                              </p:par>
                              <p:par>
                                <p:cTn id="57" presetID="16" presetClass="entr" presetSubtype="21" fill="hold" nodeType="withEffect">
                                  <p:stCondLst>
                                    <p:cond delay="0"/>
                                  </p:stCondLst>
                                  <p:childTnLst>
                                    <p:set>
                                      <p:cBhvr>
                                        <p:cTn id="58" dur="1" fill="hold">
                                          <p:stCondLst>
                                            <p:cond delay="0"/>
                                          </p:stCondLst>
                                        </p:cTn>
                                        <p:tgtEl>
                                          <p:spTgt spid="35"/>
                                        </p:tgtEl>
                                        <p:attrNameLst>
                                          <p:attrName>style.visibility</p:attrName>
                                        </p:attrNameLst>
                                      </p:cBhvr>
                                      <p:to>
                                        <p:strVal val="visible"/>
                                      </p:to>
                                    </p:set>
                                    <p:animEffect transition="in" filter="barn(inVertical)">
                                      <p:cBhvr>
                                        <p:cTn id="59" dur="500"/>
                                        <p:tgtEl>
                                          <p:spTgt spid="35"/>
                                        </p:tgtEl>
                                      </p:cBhvr>
                                    </p:animEffect>
                                  </p:childTnLst>
                                </p:cTn>
                              </p:par>
                              <p:par>
                                <p:cTn id="60" presetID="16" presetClass="entr" presetSubtype="21" fill="hold" nodeType="withEffect">
                                  <p:stCondLst>
                                    <p:cond delay="0"/>
                                  </p:stCondLst>
                                  <p:childTnLst>
                                    <p:set>
                                      <p:cBhvr>
                                        <p:cTn id="61" dur="1" fill="hold">
                                          <p:stCondLst>
                                            <p:cond delay="0"/>
                                          </p:stCondLst>
                                        </p:cTn>
                                        <p:tgtEl>
                                          <p:spTgt spid="39"/>
                                        </p:tgtEl>
                                        <p:attrNameLst>
                                          <p:attrName>style.visibility</p:attrName>
                                        </p:attrNameLst>
                                      </p:cBhvr>
                                      <p:to>
                                        <p:strVal val="visible"/>
                                      </p:to>
                                    </p:set>
                                    <p:animEffect transition="in" filter="barn(inVertical)">
                                      <p:cBhvr>
                                        <p:cTn id="62"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P spid="7" grpId="0" animBg="1"/>
      <p:bldP spid="23" grpId="0" animBg="1"/>
      <p:bldP spid="27" grpId="0" animBg="1"/>
      <p:bldP spid="28" grpId="0" animBg="1"/>
      <p:bldP spid="29" grpId="0" animBg="1"/>
      <p:bldP spid="30" grpId="0" animBg="1"/>
      <p:bldP spid="31" grpId="0" animBg="1"/>
      <p:bldP spid="32" grpId="0" animBg="1"/>
      <p:bldP spid="33" grpId="0" animBg="1"/>
      <p:bldP spid="34" grpId="0" animBg="1"/>
      <p:bldP spid="37" grpId="0" animBg="1"/>
      <p:bldP spid="3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Regular Score and Irregular Events</a:t>
            </a:r>
          </a:p>
        </p:txBody>
      </p:sp>
      <p:sp>
        <p:nvSpPr>
          <p:cNvPr id="3" name="Content Placeholder 2"/>
          <p:cNvSpPr>
            <a:spLocks noGrp="1"/>
          </p:cNvSpPr>
          <p:nvPr>
            <p:ph idx="1"/>
          </p:nvPr>
        </p:nvSpPr>
        <p:spPr/>
        <p:txBody>
          <a:bodyPr/>
          <a:lstStyle/>
          <a:p>
            <a:pPr marL="0" indent="0">
              <a:buNone/>
            </a:pPr>
            <a:endParaRPr lang="en-US" i="1" dirty="0">
              <a:latin typeface="Cambria Math"/>
            </a:endParaRPr>
          </a:p>
          <a:p>
            <a:pPr marL="0" indent="0">
              <a:buNone/>
            </a:pPr>
            <a:endParaRPr lang="en-US" dirty="0"/>
          </a:p>
        </p:txBody>
      </p:sp>
      <p:sp>
        <p:nvSpPr>
          <p:cNvPr id="5" name="Oval 4"/>
          <p:cNvSpPr/>
          <p:nvPr/>
        </p:nvSpPr>
        <p:spPr>
          <a:xfrm>
            <a:off x="1388643" y="2022305"/>
            <a:ext cx="343742" cy="3140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a:t>
            </a:r>
          </a:p>
        </p:txBody>
      </p:sp>
      <p:sp>
        <p:nvSpPr>
          <p:cNvPr id="6" name="Oval 5"/>
          <p:cNvSpPr/>
          <p:nvPr/>
        </p:nvSpPr>
        <p:spPr>
          <a:xfrm>
            <a:off x="3335282" y="2024800"/>
            <a:ext cx="343742" cy="3265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8" name="Oval 7"/>
          <p:cNvSpPr/>
          <p:nvPr/>
        </p:nvSpPr>
        <p:spPr>
          <a:xfrm>
            <a:off x="4267200" y="2024800"/>
            <a:ext cx="343742" cy="3265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
            </a:r>
          </a:p>
        </p:txBody>
      </p:sp>
      <p:sp>
        <p:nvSpPr>
          <p:cNvPr id="9" name="Oval 8"/>
          <p:cNvSpPr/>
          <p:nvPr/>
        </p:nvSpPr>
        <p:spPr>
          <a:xfrm>
            <a:off x="2344682" y="2005558"/>
            <a:ext cx="343742" cy="3265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cxnSp>
        <p:nvCxnSpPr>
          <p:cNvPr id="13" name="Straight Arrow Connector 12"/>
          <p:cNvCxnSpPr/>
          <p:nvPr/>
        </p:nvCxnSpPr>
        <p:spPr>
          <a:xfrm>
            <a:off x="1752600" y="2188067"/>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TextBox 13"/>
              <p:cNvSpPr txBox="1"/>
              <p:nvPr/>
            </p:nvSpPr>
            <p:spPr>
              <a:xfrm>
                <a:off x="5025269" y="1870425"/>
                <a:ext cx="2396954" cy="923330"/>
              </a:xfrm>
              <a:prstGeom prst="rect">
                <a:avLst/>
              </a:prstGeom>
              <a:noFill/>
            </p:spPr>
            <p:txBody>
              <a:bodyPr wrap="square" rtlCol="0">
                <a:spAutoFit/>
              </a:bodyPr>
              <a:lstStyle/>
              <a:p>
                <a:r>
                  <a:rPr lang="en-US" dirty="0"/>
                  <a:t>Discount factor: </a:t>
                </a:r>
                <a14:m>
                  <m:oMath xmlns:m="http://schemas.openxmlformats.org/officeDocument/2006/math">
                    <m:r>
                      <a:rPr lang="en-US" b="0" i="1" smtClean="0">
                        <a:latin typeface="Cambria Math"/>
                        <a:ea typeface="Cambria Math"/>
                      </a:rPr>
                      <m:t>𝑟</m:t>
                    </m:r>
                    <m:r>
                      <a:rPr lang="en-US" b="0" i="1" smtClean="0">
                        <a:latin typeface="Cambria Math"/>
                        <a:ea typeface="Cambria Math"/>
                      </a:rPr>
                      <m:t>=0.8</m:t>
                    </m:r>
                  </m:oMath>
                </a14:m>
                <a:endParaRPr lang="en-US" dirty="0"/>
              </a:p>
              <a:p>
                <a:endParaRPr lang="en-US" dirty="0"/>
              </a:p>
            </p:txBody>
          </p:sp>
        </mc:Choice>
        <mc:Fallback xmlns="">
          <p:sp>
            <p:nvSpPr>
              <p:cNvPr id="14" name="TextBox 13"/>
              <p:cNvSpPr txBox="1">
                <a:spLocks noRot="1" noChangeAspect="1" noMove="1" noResize="1" noEditPoints="1" noAdjustHandles="1" noChangeArrowheads="1" noChangeShapeType="1" noTextEdit="1"/>
              </p:cNvSpPr>
              <p:nvPr/>
            </p:nvSpPr>
            <p:spPr>
              <a:xfrm>
                <a:off x="5025269" y="1870425"/>
                <a:ext cx="2396954" cy="923330"/>
              </a:xfrm>
              <a:prstGeom prst="rect">
                <a:avLst/>
              </a:prstGeom>
              <a:blipFill rotWithShape="1">
                <a:blip r:embed="rId3"/>
                <a:stretch>
                  <a:fillRect l="-2030" t="-3311"/>
                </a:stretch>
              </a:blipFill>
            </p:spPr>
            <p:txBody>
              <a:bodyPr/>
              <a:lstStyle/>
              <a:p>
                <a:r>
                  <a:rPr lang="zh-CN" altLang="en-US">
                    <a:noFill/>
                  </a:rPr>
                  <a:t> </a:t>
                </a:r>
              </a:p>
            </p:txBody>
          </p:sp>
        </mc:Fallback>
      </mc:AlternateContent>
      <p:sp>
        <p:nvSpPr>
          <p:cNvPr id="19" name="Oval 18"/>
          <p:cNvSpPr/>
          <p:nvPr/>
        </p:nvSpPr>
        <p:spPr>
          <a:xfrm>
            <a:off x="1388643" y="3004529"/>
            <a:ext cx="343742" cy="3140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a:t>
            </a:r>
          </a:p>
        </p:txBody>
      </p:sp>
      <p:sp>
        <p:nvSpPr>
          <p:cNvPr id="20" name="Oval 19"/>
          <p:cNvSpPr/>
          <p:nvPr/>
        </p:nvSpPr>
        <p:spPr>
          <a:xfrm>
            <a:off x="3352800" y="3007024"/>
            <a:ext cx="343742" cy="3265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a:t>
            </a:r>
          </a:p>
        </p:txBody>
      </p:sp>
      <p:sp>
        <p:nvSpPr>
          <p:cNvPr id="21" name="Oval 20"/>
          <p:cNvSpPr/>
          <p:nvPr/>
        </p:nvSpPr>
        <p:spPr>
          <a:xfrm>
            <a:off x="2362200" y="2987782"/>
            <a:ext cx="343742" cy="3265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a:t>
            </a:r>
          </a:p>
        </p:txBody>
      </p:sp>
      <p:sp>
        <p:nvSpPr>
          <p:cNvPr id="24" name="TextBox 23"/>
          <p:cNvSpPr txBox="1"/>
          <p:nvPr/>
        </p:nvSpPr>
        <p:spPr>
          <a:xfrm>
            <a:off x="2311208" y="1985007"/>
            <a:ext cx="410690" cy="369332"/>
          </a:xfrm>
          <a:prstGeom prst="rect">
            <a:avLst/>
          </a:prstGeom>
          <a:noFill/>
        </p:spPr>
        <p:txBody>
          <a:bodyPr wrap="none" rtlCol="0">
            <a:spAutoFit/>
          </a:bodyPr>
          <a:lstStyle/>
          <a:p>
            <a:r>
              <a:rPr lang="en-US" b="1" dirty="0">
                <a:solidFill>
                  <a:schemeClr val="bg1"/>
                </a:solidFill>
              </a:rPr>
              <a:t>b</a:t>
            </a:r>
            <a:r>
              <a:rPr lang="en-US" b="1" baseline="-25000" dirty="0">
                <a:solidFill>
                  <a:schemeClr val="bg1"/>
                </a:solidFill>
              </a:rPr>
              <a:t>1</a:t>
            </a:r>
          </a:p>
        </p:txBody>
      </p:sp>
      <p:sp>
        <p:nvSpPr>
          <p:cNvPr id="25" name="TextBox 24"/>
          <p:cNvSpPr txBox="1"/>
          <p:nvPr/>
        </p:nvSpPr>
        <p:spPr>
          <a:xfrm>
            <a:off x="3274390" y="1985007"/>
            <a:ext cx="482824" cy="369332"/>
          </a:xfrm>
          <a:prstGeom prst="rect">
            <a:avLst/>
          </a:prstGeom>
          <a:noFill/>
        </p:spPr>
        <p:txBody>
          <a:bodyPr wrap="none" rtlCol="0">
            <a:spAutoFit/>
          </a:bodyPr>
          <a:lstStyle/>
          <a:p>
            <a:r>
              <a:rPr lang="en-US" b="1" dirty="0">
                <a:solidFill>
                  <a:schemeClr val="bg1"/>
                </a:solidFill>
              </a:rPr>
              <a:t>c</a:t>
            </a:r>
            <a:r>
              <a:rPr lang="en-US" b="1" baseline="-25000" dirty="0">
                <a:solidFill>
                  <a:schemeClr val="bg1"/>
                </a:solidFill>
              </a:rPr>
              <a:t>12</a:t>
            </a:r>
          </a:p>
        </p:txBody>
      </p:sp>
      <p:sp>
        <p:nvSpPr>
          <p:cNvPr id="40" name="Oval 39"/>
          <p:cNvSpPr/>
          <p:nvPr/>
        </p:nvSpPr>
        <p:spPr>
          <a:xfrm>
            <a:off x="1777834" y="4573126"/>
            <a:ext cx="336790" cy="36742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a:t>
            </a:r>
          </a:p>
        </p:txBody>
      </p:sp>
      <p:sp>
        <p:nvSpPr>
          <p:cNvPr id="41" name="Oval 40"/>
          <p:cNvSpPr/>
          <p:nvPr/>
        </p:nvSpPr>
        <p:spPr>
          <a:xfrm>
            <a:off x="4975947" y="4571412"/>
            <a:ext cx="336790" cy="3533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a:t>
            </a:r>
          </a:p>
        </p:txBody>
      </p:sp>
      <p:sp>
        <p:nvSpPr>
          <p:cNvPr id="42" name="Oval 41"/>
          <p:cNvSpPr/>
          <p:nvPr/>
        </p:nvSpPr>
        <p:spPr>
          <a:xfrm>
            <a:off x="3359752" y="4573127"/>
            <a:ext cx="336790" cy="3674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a:t>
            </a:r>
          </a:p>
        </p:txBody>
      </p:sp>
      <p:sp>
        <p:nvSpPr>
          <p:cNvPr id="43" name="Oval 42"/>
          <p:cNvSpPr/>
          <p:nvPr/>
        </p:nvSpPr>
        <p:spPr>
          <a:xfrm>
            <a:off x="989641" y="6067632"/>
            <a:ext cx="336790" cy="3533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44" name="Oval 43"/>
          <p:cNvSpPr/>
          <p:nvPr/>
        </p:nvSpPr>
        <p:spPr>
          <a:xfrm>
            <a:off x="4290147" y="4573126"/>
            <a:ext cx="336790" cy="36742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a:t>
            </a:r>
          </a:p>
        </p:txBody>
      </p:sp>
      <p:sp>
        <p:nvSpPr>
          <p:cNvPr id="45" name="Oval 44"/>
          <p:cNvSpPr/>
          <p:nvPr/>
        </p:nvSpPr>
        <p:spPr>
          <a:xfrm>
            <a:off x="3359752" y="3716654"/>
            <a:ext cx="336790" cy="3533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E</a:t>
            </a:r>
          </a:p>
        </p:txBody>
      </p:sp>
      <p:sp>
        <p:nvSpPr>
          <p:cNvPr id="46" name="Oval 45"/>
          <p:cNvSpPr/>
          <p:nvPr/>
        </p:nvSpPr>
        <p:spPr>
          <a:xfrm>
            <a:off x="1826128" y="6067632"/>
            <a:ext cx="336790" cy="3533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47" name="Oval 46"/>
          <p:cNvSpPr/>
          <p:nvPr/>
        </p:nvSpPr>
        <p:spPr>
          <a:xfrm>
            <a:off x="1428839" y="5359827"/>
            <a:ext cx="336790" cy="3533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48" name="Oval 47"/>
          <p:cNvSpPr/>
          <p:nvPr/>
        </p:nvSpPr>
        <p:spPr>
          <a:xfrm>
            <a:off x="2042916" y="5350302"/>
            <a:ext cx="336790" cy="3533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49" name="Oval 48"/>
          <p:cNvSpPr/>
          <p:nvPr/>
        </p:nvSpPr>
        <p:spPr>
          <a:xfrm>
            <a:off x="2696057" y="5350302"/>
            <a:ext cx="336790" cy="3533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50" name="Oval 49"/>
          <p:cNvSpPr/>
          <p:nvPr/>
        </p:nvSpPr>
        <p:spPr>
          <a:xfrm>
            <a:off x="3985347" y="5359827"/>
            <a:ext cx="336790" cy="3533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51" name="Oval 50"/>
          <p:cNvSpPr/>
          <p:nvPr/>
        </p:nvSpPr>
        <p:spPr>
          <a:xfrm>
            <a:off x="3359752" y="5350302"/>
            <a:ext cx="336790" cy="35339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cxnSp>
        <p:nvCxnSpPr>
          <p:cNvPr id="62" name="Straight Arrow Connector 61"/>
          <p:cNvCxnSpPr/>
          <p:nvPr/>
        </p:nvCxnSpPr>
        <p:spPr>
          <a:xfrm>
            <a:off x="2740914" y="2207310"/>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p:nvPr/>
        </p:nvCxnSpPr>
        <p:spPr>
          <a:xfrm>
            <a:off x="3679024" y="2207503"/>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p:nvPr/>
        </p:nvCxnSpPr>
        <p:spPr>
          <a:xfrm>
            <a:off x="1763268" y="3170484"/>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p:nvPr/>
        </p:nvCxnSpPr>
        <p:spPr>
          <a:xfrm>
            <a:off x="2740914" y="3170677"/>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7" name="TextBox 66"/>
              <p:cNvSpPr txBox="1"/>
              <p:nvPr/>
            </p:nvSpPr>
            <p:spPr>
              <a:xfrm>
                <a:off x="685799" y="2025022"/>
                <a:ext cx="53900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nor/>
                        </m:rPr>
                        <a:rPr lang="en-US" b="0" i="0" smtClean="0">
                          <a:latin typeface="Cambria Math"/>
                        </a:rPr>
                        <m:t>s</m:t>
                      </m:r>
                      <m:r>
                        <m:rPr>
                          <m:nor/>
                        </m:rPr>
                        <a:rPr lang="en-US" b="0" i="0" baseline="-25000" smtClean="0">
                          <a:latin typeface="Cambria Math"/>
                        </a:rPr>
                        <m:t>1</m:t>
                      </m:r>
                      <m:r>
                        <m:rPr>
                          <m:nor/>
                        </m:rPr>
                        <a:rPr lang="en-US" dirty="0"/>
                        <m:t>:</m:t>
                      </m:r>
                    </m:oMath>
                  </m:oMathPara>
                </a14:m>
                <a:endParaRPr lang="en-US" baseline="-25000" dirty="0"/>
              </a:p>
            </p:txBody>
          </p:sp>
        </mc:Choice>
        <mc:Fallback xmlns="">
          <p:sp>
            <p:nvSpPr>
              <p:cNvPr id="67" name="TextBox 66"/>
              <p:cNvSpPr txBox="1">
                <a:spLocks noRot="1" noChangeAspect="1" noMove="1" noResize="1" noEditPoints="1" noAdjustHandles="1" noChangeArrowheads="1" noChangeShapeType="1" noTextEdit="1"/>
              </p:cNvSpPr>
              <p:nvPr/>
            </p:nvSpPr>
            <p:spPr>
              <a:xfrm>
                <a:off x="685799" y="2025022"/>
                <a:ext cx="539007" cy="369332"/>
              </a:xfrm>
              <a:prstGeom prst="rect">
                <a:avLst/>
              </a:prstGeom>
              <a:blipFill rotWithShape="1">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p:cNvSpPr txBox="1"/>
              <p:nvPr/>
            </p:nvSpPr>
            <p:spPr>
              <a:xfrm>
                <a:off x="755155" y="2894030"/>
                <a:ext cx="500458" cy="369332"/>
              </a:xfrm>
              <a:prstGeom prst="rect">
                <a:avLst/>
              </a:prstGeom>
              <a:noFill/>
            </p:spPr>
            <p:txBody>
              <a:bodyPr wrap="none" rtlCol="0">
                <a:spAutoFit/>
              </a:bodyPr>
              <a:lstStyle/>
              <a:p>
                <a14:m>
                  <m:oMath xmlns:m="http://schemas.openxmlformats.org/officeDocument/2006/math">
                    <m:r>
                      <m:rPr>
                        <m:nor/>
                      </m:rPr>
                      <a:rPr lang="en-US" smtClean="0">
                        <a:latin typeface="Cambria Math"/>
                      </a:rPr>
                      <m:t>M</m:t>
                    </m:r>
                  </m:oMath>
                </a14:m>
                <a:r>
                  <a:rPr lang="en-US" dirty="0"/>
                  <a:t> :</a:t>
                </a:r>
              </a:p>
            </p:txBody>
          </p:sp>
        </mc:Choice>
        <mc:Fallback xmlns="">
          <p:sp>
            <p:nvSpPr>
              <p:cNvPr id="68" name="TextBox 67"/>
              <p:cNvSpPr txBox="1">
                <a:spLocks noRot="1" noChangeAspect="1" noMove="1" noResize="1" noEditPoints="1" noAdjustHandles="1" noChangeArrowheads="1" noChangeShapeType="1" noTextEdit="1"/>
              </p:cNvSpPr>
              <p:nvPr/>
            </p:nvSpPr>
            <p:spPr>
              <a:xfrm>
                <a:off x="755155" y="2894030"/>
                <a:ext cx="500458" cy="369332"/>
              </a:xfrm>
              <a:prstGeom prst="rect">
                <a:avLst/>
              </a:prstGeom>
              <a:blipFill rotWithShape="1">
                <a:blip r:embed="rId5"/>
                <a:stretch>
                  <a:fillRect t="-8333" r="-8537" b="-26667"/>
                </a:stretch>
              </a:blipFill>
            </p:spPr>
            <p:txBody>
              <a:bodyPr/>
              <a:lstStyle/>
              <a:p>
                <a:r>
                  <a:rPr lang="en-US">
                    <a:noFill/>
                  </a:rPr>
                  <a:t> </a:t>
                </a:r>
              </a:p>
            </p:txBody>
          </p:sp>
        </mc:Fallback>
      </mc:AlternateContent>
      <p:cxnSp>
        <p:nvCxnSpPr>
          <p:cNvPr id="72" name="Straight Connector 71"/>
          <p:cNvCxnSpPr>
            <a:stCxn id="45" idx="4"/>
            <a:endCxn id="42" idx="0"/>
          </p:cNvCxnSpPr>
          <p:nvPr/>
        </p:nvCxnSpPr>
        <p:spPr>
          <a:xfrm>
            <a:off x="3528147" y="4070046"/>
            <a:ext cx="0" cy="50308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4" name="Straight Connector 73"/>
          <p:cNvCxnSpPr>
            <a:stCxn id="45" idx="5"/>
            <a:endCxn id="44" idx="1"/>
          </p:cNvCxnSpPr>
          <p:nvPr/>
        </p:nvCxnSpPr>
        <p:spPr>
          <a:xfrm>
            <a:off x="3647220" y="4018293"/>
            <a:ext cx="692249" cy="608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8" name="Straight Connector 77"/>
          <p:cNvCxnSpPr>
            <a:stCxn id="45" idx="5"/>
            <a:endCxn id="41" idx="1"/>
          </p:cNvCxnSpPr>
          <p:nvPr/>
        </p:nvCxnSpPr>
        <p:spPr>
          <a:xfrm>
            <a:off x="3647220" y="4018293"/>
            <a:ext cx="1378049" cy="60487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0" name="Straight Connector 79"/>
          <p:cNvCxnSpPr>
            <a:stCxn id="45" idx="3"/>
            <a:endCxn id="40" idx="7"/>
          </p:cNvCxnSpPr>
          <p:nvPr/>
        </p:nvCxnSpPr>
        <p:spPr>
          <a:xfrm flipH="1">
            <a:off x="2065302" y="4018293"/>
            <a:ext cx="1343772" cy="608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2" name="Straight Connector 81"/>
          <p:cNvCxnSpPr>
            <a:stCxn id="40" idx="4"/>
            <a:endCxn id="47" idx="0"/>
          </p:cNvCxnSpPr>
          <p:nvPr/>
        </p:nvCxnSpPr>
        <p:spPr>
          <a:xfrm flipH="1">
            <a:off x="1597234" y="4940552"/>
            <a:ext cx="348995" cy="41927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4" name="Straight Connector 83"/>
          <p:cNvCxnSpPr>
            <a:stCxn id="40" idx="4"/>
            <a:endCxn id="48" idx="0"/>
          </p:cNvCxnSpPr>
          <p:nvPr/>
        </p:nvCxnSpPr>
        <p:spPr>
          <a:xfrm>
            <a:off x="1946229" y="4940552"/>
            <a:ext cx="265082" cy="40975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42" idx="4"/>
            <a:endCxn id="51" idx="0"/>
          </p:cNvCxnSpPr>
          <p:nvPr/>
        </p:nvCxnSpPr>
        <p:spPr>
          <a:xfrm>
            <a:off x="3528147" y="4940551"/>
            <a:ext cx="0" cy="40975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42" idx="4"/>
            <a:endCxn id="49" idx="0"/>
          </p:cNvCxnSpPr>
          <p:nvPr/>
        </p:nvCxnSpPr>
        <p:spPr>
          <a:xfrm flipH="1">
            <a:off x="2864452" y="4940551"/>
            <a:ext cx="663695" cy="40975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42" idx="4"/>
            <a:endCxn id="50" idx="0"/>
          </p:cNvCxnSpPr>
          <p:nvPr/>
        </p:nvCxnSpPr>
        <p:spPr>
          <a:xfrm>
            <a:off x="3528147" y="4940551"/>
            <a:ext cx="625595" cy="41927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47" idx="4"/>
            <a:endCxn id="43" idx="0"/>
          </p:cNvCxnSpPr>
          <p:nvPr/>
        </p:nvCxnSpPr>
        <p:spPr>
          <a:xfrm flipH="1">
            <a:off x="1158036" y="5713219"/>
            <a:ext cx="439198" cy="35441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4" name="Straight Connector 93"/>
          <p:cNvCxnSpPr>
            <a:stCxn id="47" idx="4"/>
            <a:endCxn id="46" idx="0"/>
          </p:cNvCxnSpPr>
          <p:nvPr/>
        </p:nvCxnSpPr>
        <p:spPr>
          <a:xfrm>
            <a:off x="1597234" y="5713219"/>
            <a:ext cx="397289" cy="354413"/>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95" name="TextBox 94"/>
          <p:cNvSpPr txBox="1"/>
          <p:nvPr/>
        </p:nvSpPr>
        <p:spPr>
          <a:xfrm>
            <a:off x="1394554" y="5359827"/>
            <a:ext cx="436338" cy="369332"/>
          </a:xfrm>
          <a:prstGeom prst="rect">
            <a:avLst/>
          </a:prstGeom>
          <a:noFill/>
        </p:spPr>
        <p:txBody>
          <a:bodyPr wrap="none" rtlCol="0">
            <a:spAutoFit/>
          </a:bodyPr>
          <a:lstStyle/>
          <a:p>
            <a:r>
              <a:rPr lang="en-US" b="1" dirty="0">
                <a:solidFill>
                  <a:schemeClr val="bg1"/>
                </a:solidFill>
              </a:rPr>
              <a:t>C</a:t>
            </a:r>
            <a:r>
              <a:rPr lang="en-US" b="1" baseline="-25000" dirty="0">
                <a:solidFill>
                  <a:schemeClr val="bg1"/>
                </a:solidFill>
              </a:rPr>
              <a:t>1</a:t>
            </a:r>
          </a:p>
        </p:txBody>
      </p:sp>
      <p:sp>
        <p:nvSpPr>
          <p:cNvPr id="96" name="TextBox 95"/>
          <p:cNvSpPr txBox="1"/>
          <p:nvPr/>
        </p:nvSpPr>
        <p:spPr>
          <a:xfrm>
            <a:off x="2005966" y="5366604"/>
            <a:ext cx="436338" cy="369332"/>
          </a:xfrm>
          <a:prstGeom prst="rect">
            <a:avLst/>
          </a:prstGeom>
          <a:noFill/>
        </p:spPr>
        <p:txBody>
          <a:bodyPr wrap="none" rtlCol="0">
            <a:spAutoFit/>
          </a:bodyPr>
          <a:lstStyle/>
          <a:p>
            <a:r>
              <a:rPr lang="en-US" b="1" dirty="0">
                <a:solidFill>
                  <a:schemeClr val="bg1"/>
                </a:solidFill>
              </a:rPr>
              <a:t>C</a:t>
            </a:r>
            <a:r>
              <a:rPr lang="en-US" b="1" baseline="-25000" dirty="0">
                <a:solidFill>
                  <a:schemeClr val="bg1"/>
                </a:solidFill>
              </a:rPr>
              <a:t>2</a:t>
            </a:r>
          </a:p>
        </p:txBody>
      </p:sp>
      <p:sp>
        <p:nvSpPr>
          <p:cNvPr id="97" name="TextBox 96"/>
          <p:cNvSpPr txBox="1"/>
          <p:nvPr/>
        </p:nvSpPr>
        <p:spPr>
          <a:xfrm>
            <a:off x="916006" y="6051692"/>
            <a:ext cx="512833" cy="369332"/>
          </a:xfrm>
          <a:prstGeom prst="rect">
            <a:avLst/>
          </a:prstGeom>
          <a:noFill/>
        </p:spPr>
        <p:txBody>
          <a:bodyPr wrap="none" rtlCol="0">
            <a:spAutoFit/>
          </a:bodyPr>
          <a:lstStyle/>
          <a:p>
            <a:r>
              <a:rPr lang="en-US" b="1" dirty="0">
                <a:solidFill>
                  <a:schemeClr val="bg1"/>
                </a:solidFill>
              </a:rPr>
              <a:t>C</a:t>
            </a:r>
            <a:r>
              <a:rPr lang="en-US" b="1" baseline="-25000" dirty="0">
                <a:solidFill>
                  <a:schemeClr val="bg1"/>
                </a:solidFill>
              </a:rPr>
              <a:t>11</a:t>
            </a:r>
          </a:p>
        </p:txBody>
      </p:sp>
      <p:sp>
        <p:nvSpPr>
          <p:cNvPr id="98" name="TextBox 97"/>
          <p:cNvSpPr txBox="1"/>
          <p:nvPr/>
        </p:nvSpPr>
        <p:spPr>
          <a:xfrm>
            <a:off x="1745317" y="6074059"/>
            <a:ext cx="521297" cy="369332"/>
          </a:xfrm>
          <a:prstGeom prst="rect">
            <a:avLst/>
          </a:prstGeom>
          <a:noFill/>
        </p:spPr>
        <p:txBody>
          <a:bodyPr wrap="none" rtlCol="0">
            <a:spAutoFit/>
          </a:bodyPr>
          <a:lstStyle/>
          <a:p>
            <a:r>
              <a:rPr lang="en-US" b="1" dirty="0">
                <a:solidFill>
                  <a:schemeClr val="bg1"/>
                </a:solidFill>
              </a:rPr>
              <a:t>C</a:t>
            </a:r>
            <a:r>
              <a:rPr lang="en-US" b="1" baseline="-25000" dirty="0">
                <a:solidFill>
                  <a:schemeClr val="bg1"/>
                </a:solidFill>
              </a:rPr>
              <a:t>12</a:t>
            </a:r>
          </a:p>
        </p:txBody>
      </p:sp>
      <p:sp>
        <p:nvSpPr>
          <p:cNvPr id="99" name="TextBox 98"/>
          <p:cNvSpPr txBox="1"/>
          <p:nvPr/>
        </p:nvSpPr>
        <p:spPr>
          <a:xfrm>
            <a:off x="2659107" y="5366811"/>
            <a:ext cx="410690" cy="369332"/>
          </a:xfrm>
          <a:prstGeom prst="rect">
            <a:avLst/>
          </a:prstGeom>
          <a:noFill/>
        </p:spPr>
        <p:txBody>
          <a:bodyPr wrap="none" rtlCol="0">
            <a:spAutoFit/>
          </a:bodyPr>
          <a:lstStyle/>
          <a:p>
            <a:r>
              <a:rPr lang="en-US" b="1" dirty="0">
                <a:solidFill>
                  <a:schemeClr val="bg1"/>
                </a:solidFill>
              </a:rPr>
              <a:t>b</a:t>
            </a:r>
            <a:r>
              <a:rPr lang="en-US" b="1" baseline="-25000" dirty="0">
                <a:solidFill>
                  <a:schemeClr val="bg1"/>
                </a:solidFill>
              </a:rPr>
              <a:t>1</a:t>
            </a:r>
          </a:p>
        </p:txBody>
      </p:sp>
      <p:sp>
        <p:nvSpPr>
          <p:cNvPr id="100" name="TextBox 99"/>
          <p:cNvSpPr txBox="1"/>
          <p:nvPr/>
        </p:nvSpPr>
        <p:spPr>
          <a:xfrm>
            <a:off x="3346524" y="5370709"/>
            <a:ext cx="410690" cy="369332"/>
          </a:xfrm>
          <a:prstGeom prst="rect">
            <a:avLst/>
          </a:prstGeom>
          <a:noFill/>
        </p:spPr>
        <p:txBody>
          <a:bodyPr wrap="none" rtlCol="0">
            <a:spAutoFit/>
          </a:bodyPr>
          <a:lstStyle/>
          <a:p>
            <a:r>
              <a:rPr lang="en-US" b="1" dirty="0">
                <a:solidFill>
                  <a:schemeClr val="bg1"/>
                </a:solidFill>
              </a:rPr>
              <a:t>b</a:t>
            </a:r>
            <a:r>
              <a:rPr lang="en-US" b="1" baseline="-25000" dirty="0">
                <a:solidFill>
                  <a:schemeClr val="bg1"/>
                </a:solidFill>
              </a:rPr>
              <a:t>2</a:t>
            </a:r>
          </a:p>
        </p:txBody>
      </p:sp>
      <p:sp>
        <p:nvSpPr>
          <p:cNvPr id="101" name="TextBox 100"/>
          <p:cNvSpPr txBox="1"/>
          <p:nvPr/>
        </p:nvSpPr>
        <p:spPr>
          <a:xfrm>
            <a:off x="3948397" y="5377717"/>
            <a:ext cx="410690" cy="369332"/>
          </a:xfrm>
          <a:prstGeom prst="rect">
            <a:avLst/>
          </a:prstGeom>
          <a:noFill/>
        </p:spPr>
        <p:txBody>
          <a:bodyPr wrap="none" rtlCol="0">
            <a:spAutoFit/>
          </a:bodyPr>
          <a:lstStyle/>
          <a:p>
            <a:r>
              <a:rPr lang="en-US" b="1" dirty="0">
                <a:solidFill>
                  <a:schemeClr val="bg1"/>
                </a:solidFill>
              </a:rPr>
              <a:t>b</a:t>
            </a:r>
            <a:r>
              <a:rPr lang="en-US" b="1" baseline="-25000" dirty="0">
                <a:solidFill>
                  <a:schemeClr val="bg1"/>
                </a:solidFill>
              </a:rPr>
              <a:t>3</a:t>
            </a:r>
          </a:p>
        </p:txBody>
      </p:sp>
      <p:sp>
        <p:nvSpPr>
          <p:cNvPr id="102" name="TextBox 101"/>
          <p:cNvSpPr txBox="1"/>
          <p:nvPr/>
        </p:nvSpPr>
        <p:spPr>
          <a:xfrm>
            <a:off x="755155" y="3716654"/>
            <a:ext cx="1762085" cy="369332"/>
          </a:xfrm>
          <a:prstGeom prst="rect">
            <a:avLst/>
          </a:prstGeom>
          <a:noFill/>
        </p:spPr>
        <p:txBody>
          <a:bodyPr wrap="none" rtlCol="0">
            <a:spAutoFit/>
          </a:bodyPr>
          <a:lstStyle/>
          <a:p>
            <a:r>
              <a:rPr lang="en-US" dirty="0"/>
              <a:t>Hierarchy Tree:</a:t>
            </a:r>
          </a:p>
        </p:txBody>
      </p:sp>
      <p:sp>
        <p:nvSpPr>
          <p:cNvPr id="103" name="TextBox 102"/>
          <p:cNvSpPr txBox="1"/>
          <p:nvPr/>
        </p:nvSpPr>
        <p:spPr>
          <a:xfrm>
            <a:off x="4153742" y="1667470"/>
            <a:ext cx="687148" cy="923330"/>
          </a:xfrm>
          <a:prstGeom prst="rect">
            <a:avLst/>
          </a:prstGeom>
          <a:noFill/>
          <a:ln w="28575">
            <a:solidFill>
              <a:srgbClr val="FF0000"/>
            </a:solidFill>
          </a:ln>
        </p:spPr>
        <p:txBody>
          <a:bodyPr wrap="square" rtlCol="0">
            <a:spAutoFit/>
          </a:bodyPr>
          <a:lstStyle/>
          <a:p>
            <a:r>
              <a:rPr lang="en-US" dirty="0"/>
              <a:t>0.01</a:t>
            </a:r>
          </a:p>
          <a:p>
            <a:endParaRPr lang="en-US" dirty="0"/>
          </a:p>
          <a:p>
            <a:endParaRPr lang="en-US" dirty="0"/>
          </a:p>
        </p:txBody>
      </p:sp>
      <p:sp>
        <p:nvSpPr>
          <p:cNvPr id="104" name="Cloud 103"/>
          <p:cNvSpPr/>
          <p:nvPr/>
        </p:nvSpPr>
        <p:spPr>
          <a:xfrm>
            <a:off x="4452906" y="1221967"/>
            <a:ext cx="1773864" cy="588019"/>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Irregular</a:t>
            </a:r>
          </a:p>
        </p:txBody>
      </p:sp>
      <p:sp>
        <p:nvSpPr>
          <p:cNvPr id="58" name="TextBox 57"/>
          <p:cNvSpPr txBox="1"/>
          <p:nvPr/>
        </p:nvSpPr>
        <p:spPr>
          <a:xfrm>
            <a:off x="5025269" y="2561567"/>
            <a:ext cx="2244554" cy="664926"/>
          </a:xfrm>
          <a:prstGeom prst="rect">
            <a:avLst/>
          </a:prstGeom>
          <a:noFill/>
        </p:spPr>
        <p:txBody>
          <a:bodyPr wrap="square" rtlCol="0">
            <a:spAutoFit/>
          </a:bodyPr>
          <a:lstStyle/>
          <a:p>
            <a:r>
              <a:rPr lang="en-US" dirty="0"/>
              <a:t>Weight of an edge:</a:t>
            </a:r>
          </a:p>
          <a:p>
            <a:endParaRPr lang="en-US" dirty="0"/>
          </a:p>
        </p:txBody>
      </p:sp>
      <p:cxnSp>
        <p:nvCxnSpPr>
          <p:cNvPr id="59" name="Straight Arrow Connector 12"/>
          <p:cNvCxnSpPr/>
          <p:nvPr/>
        </p:nvCxnSpPr>
        <p:spPr>
          <a:xfrm>
            <a:off x="1752600" y="2179336"/>
            <a:ext cx="611886"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4" name="TextBox 63"/>
          <p:cNvSpPr txBox="1"/>
          <p:nvPr/>
        </p:nvSpPr>
        <p:spPr>
          <a:xfrm>
            <a:off x="2311208" y="1975875"/>
            <a:ext cx="399629" cy="406921"/>
          </a:xfrm>
          <a:prstGeom prst="rect">
            <a:avLst/>
          </a:prstGeom>
          <a:noFill/>
          <a:ln w="28575">
            <a:solidFill>
              <a:srgbClr val="FF0000"/>
            </a:solidFill>
          </a:ln>
        </p:spPr>
        <p:txBody>
          <a:bodyPr wrap="square" rtlCol="0">
            <a:spAutoFit/>
          </a:bodyPr>
          <a:lstStyle/>
          <a:p>
            <a:endParaRPr lang="en-US" dirty="0"/>
          </a:p>
        </p:txBody>
      </p:sp>
      <p:sp>
        <p:nvSpPr>
          <p:cNvPr id="70" name="TextBox 69"/>
          <p:cNvSpPr txBox="1"/>
          <p:nvPr/>
        </p:nvSpPr>
        <p:spPr>
          <a:xfrm>
            <a:off x="2337559" y="2958099"/>
            <a:ext cx="399629" cy="406921"/>
          </a:xfrm>
          <a:prstGeom prst="rect">
            <a:avLst/>
          </a:prstGeom>
          <a:noFill/>
          <a:ln w="28575">
            <a:solidFill>
              <a:srgbClr val="FF0000"/>
            </a:solidFill>
          </a:ln>
        </p:spPr>
        <p:txBody>
          <a:bodyPr wrap="square" rtlCol="0">
            <a:spAutoFit/>
          </a:bodyPr>
          <a:lstStyle/>
          <a:p>
            <a:endParaRPr lang="en-US" dirty="0"/>
          </a:p>
        </p:txBody>
      </p:sp>
      <p:sp>
        <p:nvSpPr>
          <p:cNvPr id="75" name="TextBox 74"/>
          <p:cNvSpPr txBox="1"/>
          <p:nvPr/>
        </p:nvSpPr>
        <p:spPr>
          <a:xfrm>
            <a:off x="3335282" y="4573127"/>
            <a:ext cx="399629" cy="406921"/>
          </a:xfrm>
          <a:prstGeom prst="rect">
            <a:avLst/>
          </a:prstGeom>
          <a:noFill/>
          <a:ln w="28575">
            <a:solidFill>
              <a:srgbClr val="FF0000"/>
            </a:solidFill>
          </a:ln>
        </p:spPr>
        <p:txBody>
          <a:bodyPr wrap="square" rtlCol="0">
            <a:spAutoFit/>
          </a:bodyPr>
          <a:lstStyle/>
          <a:p>
            <a:endParaRPr lang="en-US" dirty="0"/>
          </a:p>
        </p:txBody>
      </p:sp>
      <p:sp>
        <p:nvSpPr>
          <p:cNvPr id="77" name="TextBox 76"/>
          <p:cNvSpPr txBox="1"/>
          <p:nvPr/>
        </p:nvSpPr>
        <p:spPr>
          <a:xfrm>
            <a:off x="4934371" y="4546079"/>
            <a:ext cx="399629" cy="406921"/>
          </a:xfrm>
          <a:prstGeom prst="rect">
            <a:avLst/>
          </a:prstGeom>
          <a:noFill/>
          <a:ln w="28575">
            <a:solidFill>
              <a:srgbClr val="FF0000"/>
            </a:solidFill>
          </a:ln>
        </p:spPr>
        <p:txBody>
          <a:bodyPr wrap="square" rtlCol="0">
            <a:spAutoFit/>
          </a:bodyPr>
          <a:lstStyle/>
          <a:p>
            <a:endParaRPr lang="en-US" dirty="0"/>
          </a:p>
        </p:txBody>
      </p:sp>
      <p:sp>
        <p:nvSpPr>
          <p:cNvPr id="79" name="TextBox 78"/>
          <p:cNvSpPr txBox="1"/>
          <p:nvPr/>
        </p:nvSpPr>
        <p:spPr>
          <a:xfrm>
            <a:off x="2670751" y="5334000"/>
            <a:ext cx="399629" cy="406921"/>
          </a:xfrm>
          <a:prstGeom prst="rect">
            <a:avLst/>
          </a:prstGeom>
          <a:noFill/>
          <a:ln w="28575">
            <a:solidFill>
              <a:srgbClr val="FF0000"/>
            </a:solidFill>
          </a:ln>
        </p:spPr>
        <p:txBody>
          <a:bodyPr wrap="square" rtlCol="0">
            <a:spAutoFit/>
          </a:bodyPr>
          <a:lstStyle/>
          <a:p>
            <a:endParaRPr lang="en-US" dirty="0"/>
          </a:p>
        </p:txBody>
      </p:sp>
      <mc:AlternateContent xmlns:mc="http://schemas.openxmlformats.org/markup-compatibility/2006" xmlns:a14="http://schemas.microsoft.com/office/drawing/2010/main">
        <mc:Choice Requires="a14">
          <p:sp>
            <p:nvSpPr>
              <p:cNvPr id="83" name="TextBox 82"/>
              <p:cNvSpPr txBox="1"/>
              <p:nvPr/>
            </p:nvSpPr>
            <p:spPr>
              <a:xfrm>
                <a:off x="936266" y="1788740"/>
                <a:ext cx="2244554" cy="3742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a:rPr>
                            <m:t>0.8</m:t>
                          </m:r>
                        </m:e>
                        <m:sup>
                          <m:r>
                            <a:rPr lang="en-US" altLang="zh-CN" b="0" i="1" smtClean="0">
                              <a:latin typeface="Cambria Math"/>
                            </a:rPr>
                            <m:t>1+2</m:t>
                          </m:r>
                        </m:sup>
                      </m:sSup>
                    </m:oMath>
                  </m:oMathPara>
                </a14:m>
                <a:endParaRPr lang="en-US" dirty="0"/>
              </a:p>
            </p:txBody>
          </p:sp>
        </mc:Choice>
        <mc:Fallback xmlns="">
          <p:sp>
            <p:nvSpPr>
              <p:cNvPr id="83" name="TextBox 82"/>
              <p:cNvSpPr txBox="1">
                <a:spLocks noRot="1" noChangeAspect="1" noMove="1" noResize="1" noEditPoints="1" noAdjustHandles="1" noChangeArrowheads="1" noChangeShapeType="1" noTextEdit="1"/>
              </p:cNvSpPr>
              <p:nvPr/>
            </p:nvSpPr>
            <p:spPr>
              <a:xfrm>
                <a:off x="936266" y="1788740"/>
                <a:ext cx="2244554" cy="374270"/>
              </a:xfrm>
              <a:prstGeom prst="rect">
                <a:avLst/>
              </a:prstGeom>
              <a:blipFill rotWithShape="1">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5" name="TextBox 84"/>
              <p:cNvSpPr txBox="1"/>
              <p:nvPr/>
            </p:nvSpPr>
            <p:spPr>
              <a:xfrm>
                <a:off x="2007276" y="1792390"/>
                <a:ext cx="2244554" cy="3742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a:rPr>
                            <m:t>0.8</m:t>
                          </m:r>
                        </m:e>
                        <m:sup>
                          <m:r>
                            <a:rPr lang="en-US" altLang="zh-CN" b="0" i="1" smtClean="0">
                              <a:latin typeface="Cambria Math"/>
                            </a:rPr>
                            <m:t>2+3</m:t>
                          </m:r>
                        </m:sup>
                      </m:sSup>
                    </m:oMath>
                  </m:oMathPara>
                </a14:m>
                <a:endParaRPr lang="en-US" dirty="0"/>
              </a:p>
            </p:txBody>
          </p:sp>
        </mc:Choice>
        <mc:Fallback xmlns="">
          <p:sp>
            <p:nvSpPr>
              <p:cNvPr id="85" name="TextBox 84"/>
              <p:cNvSpPr txBox="1">
                <a:spLocks noRot="1" noChangeAspect="1" noMove="1" noResize="1" noEditPoints="1" noAdjustHandles="1" noChangeArrowheads="1" noChangeShapeType="1" noTextEdit="1"/>
              </p:cNvSpPr>
              <p:nvPr/>
            </p:nvSpPr>
            <p:spPr>
              <a:xfrm>
                <a:off x="2007276" y="1792390"/>
                <a:ext cx="2244554" cy="374270"/>
              </a:xfrm>
              <a:prstGeom prst="rect">
                <a:avLst/>
              </a:prstGeom>
              <a:blipFill rotWithShape="1">
                <a:blip r:embed="rId8"/>
                <a:stretch>
                  <a:fillRect/>
                </a:stretch>
              </a:blipFill>
            </p:spPr>
            <p:txBody>
              <a:bodyPr/>
              <a:lstStyle/>
              <a:p>
                <a:r>
                  <a:rPr lang="zh-CN" altLang="en-US">
                    <a:noFill/>
                  </a:rPr>
                  <a:t> </a:t>
                </a:r>
              </a:p>
            </p:txBody>
          </p:sp>
        </mc:Fallback>
      </mc:AlternateContent>
      <p:cxnSp>
        <p:nvCxnSpPr>
          <p:cNvPr id="87" name="Straight Arrow Connector 12"/>
          <p:cNvCxnSpPr/>
          <p:nvPr/>
        </p:nvCxnSpPr>
        <p:spPr>
          <a:xfrm>
            <a:off x="2737188" y="2209688"/>
            <a:ext cx="611886"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9" name="Oval 7"/>
          <p:cNvSpPr/>
          <p:nvPr/>
        </p:nvSpPr>
        <p:spPr>
          <a:xfrm>
            <a:off x="2345369" y="2006870"/>
            <a:ext cx="343742" cy="32653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mc:AlternateContent xmlns:mc="http://schemas.openxmlformats.org/markup-compatibility/2006" xmlns:a14="http://schemas.microsoft.com/office/drawing/2010/main">
        <mc:Choice Requires="a14">
          <p:sp>
            <p:nvSpPr>
              <p:cNvPr id="91" name="TextBox 90"/>
              <p:cNvSpPr txBox="1"/>
              <p:nvPr/>
            </p:nvSpPr>
            <p:spPr>
              <a:xfrm>
                <a:off x="1451988" y="1601605"/>
                <a:ext cx="2244554" cy="3742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a:rPr>
                            <m:t>0.8</m:t>
                          </m:r>
                        </m:e>
                        <m:sup>
                          <m:r>
                            <a:rPr lang="en-US" altLang="zh-CN" b="0" i="1" smtClean="0">
                              <a:latin typeface="Cambria Math"/>
                            </a:rPr>
                            <m:t>1+2</m:t>
                          </m:r>
                        </m:sup>
                      </m:sSup>
                      <m:r>
                        <a:rPr lang="en-US" altLang="zh-CN" b="0" i="1" smtClean="0">
                          <a:latin typeface="Cambria Math"/>
                        </a:rPr>
                        <m:t>∗</m:t>
                      </m:r>
                      <m:sSup>
                        <m:sSupPr>
                          <m:ctrlPr>
                            <a:rPr lang="en-US" altLang="zh-CN" i="1">
                              <a:latin typeface="Cambria Math" panose="02040503050406030204" pitchFamily="18" charset="0"/>
                            </a:rPr>
                          </m:ctrlPr>
                        </m:sSupPr>
                        <m:e>
                          <m:r>
                            <a:rPr lang="en-US" altLang="zh-CN" i="1">
                              <a:latin typeface="Cambria Math"/>
                            </a:rPr>
                            <m:t>0.8</m:t>
                          </m:r>
                        </m:e>
                        <m:sup>
                          <m:r>
                            <a:rPr lang="en-US" altLang="zh-CN" b="0" i="1" smtClean="0">
                              <a:latin typeface="Cambria Math"/>
                            </a:rPr>
                            <m:t>2</m:t>
                          </m:r>
                          <m:r>
                            <a:rPr lang="en-US" altLang="zh-CN" i="1">
                              <a:latin typeface="Cambria Math"/>
                            </a:rPr>
                            <m:t>+</m:t>
                          </m:r>
                          <m:r>
                            <a:rPr lang="en-US" altLang="zh-CN" b="0" i="1" smtClean="0">
                              <a:latin typeface="Cambria Math"/>
                            </a:rPr>
                            <m:t>3</m:t>
                          </m:r>
                        </m:sup>
                      </m:sSup>
                    </m:oMath>
                  </m:oMathPara>
                </a14:m>
                <a:endParaRPr lang="en-US" dirty="0"/>
              </a:p>
            </p:txBody>
          </p:sp>
        </mc:Choice>
        <mc:Fallback xmlns="">
          <p:sp>
            <p:nvSpPr>
              <p:cNvPr id="91" name="TextBox 90"/>
              <p:cNvSpPr txBox="1">
                <a:spLocks noRot="1" noChangeAspect="1" noMove="1" noResize="1" noEditPoints="1" noAdjustHandles="1" noChangeArrowheads="1" noChangeShapeType="1" noTextEdit="1"/>
              </p:cNvSpPr>
              <p:nvPr/>
            </p:nvSpPr>
            <p:spPr>
              <a:xfrm>
                <a:off x="1451988" y="1601605"/>
                <a:ext cx="2244554" cy="374270"/>
              </a:xfrm>
              <a:prstGeom prst="rect">
                <a:avLst/>
              </a:prstGeom>
              <a:blipFill rotWithShape="1">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9" name="TextBox 68"/>
              <p:cNvSpPr txBox="1"/>
              <p:nvPr/>
            </p:nvSpPr>
            <p:spPr>
              <a:xfrm>
                <a:off x="4648200" y="2687874"/>
                <a:ext cx="2015954" cy="664926"/>
              </a:xfrm>
              <a:prstGeom prst="rect">
                <a:avLst/>
              </a:prstGeom>
              <a:noFill/>
            </p:spPr>
            <p:txBody>
              <a:bodyPr wrap="square" rtlCol="0">
                <a:spAutoFit/>
              </a:bodyPr>
              <a:lstStyle/>
              <a:p>
                <a:endParaRPr lang="en-US" dirty="0"/>
              </a:p>
              <a:p>
                <a:pPr/>
                <a14:m>
                  <m:oMathPara xmlns:m="http://schemas.openxmlformats.org/officeDocument/2006/math">
                    <m:oMathParaPr>
                      <m:jc m:val="centerGroup"/>
                    </m:oMathParaPr>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a:rPr>
                            <m:t>𝑟</m:t>
                          </m:r>
                        </m:e>
                        <m:sup>
                          <m:r>
                            <a:rPr lang="en-US" altLang="zh-CN" b="0" i="1" smtClean="0">
                              <a:latin typeface="Cambria Math"/>
                            </a:rPr>
                            <m:t>𝑙</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a:rPr>
                                    <m:t>𝑣</m:t>
                                  </m:r>
                                </m:e>
                                <m:sub>
                                  <m:r>
                                    <a:rPr lang="en-US" altLang="zh-CN" b="0" i="1" smtClean="0">
                                      <a:latin typeface="Cambria Math"/>
                                    </a:rPr>
                                    <m:t>0</m:t>
                                  </m:r>
                                </m:sub>
                              </m:sSub>
                            </m:e>
                          </m:d>
                          <m:r>
                            <a:rPr lang="en-US" altLang="zh-CN" b="0" i="1" smtClean="0">
                              <a:latin typeface="Cambria Math"/>
                            </a:rPr>
                            <m:t>+</m:t>
                          </m:r>
                          <m:r>
                            <a:rPr lang="en-US" altLang="zh-CN" b="0" i="1" smtClean="0">
                              <a:latin typeface="Cambria Math"/>
                            </a:rPr>
                            <m:t>𝑙</m:t>
                          </m:r>
                          <m:r>
                            <a:rPr lang="en-US" altLang="zh-CN" b="0" i="1" smtClean="0">
                              <a:latin typeface="Cambria Math"/>
                            </a:rPr>
                            <m:t>(</m:t>
                          </m:r>
                          <m:r>
                            <a:rPr lang="en-US" altLang="zh-CN" b="0" i="1" smtClean="0">
                              <a:latin typeface="Cambria Math"/>
                            </a:rPr>
                            <m:t>𝑣</m:t>
                          </m:r>
                          <m:r>
                            <a:rPr lang="en-US" altLang="zh-CN" b="0" i="1" smtClean="0">
                              <a:latin typeface="Cambria Math"/>
                            </a:rPr>
                            <m:t>)</m:t>
                          </m:r>
                        </m:sup>
                      </m:sSup>
                    </m:oMath>
                  </m:oMathPara>
                </a14:m>
                <a:endParaRPr lang="en-US" dirty="0"/>
              </a:p>
            </p:txBody>
          </p:sp>
        </mc:Choice>
        <mc:Fallback xmlns="">
          <p:sp>
            <p:nvSpPr>
              <p:cNvPr id="69" name="TextBox 68"/>
              <p:cNvSpPr txBox="1">
                <a:spLocks noRot="1" noChangeAspect="1" noMove="1" noResize="1" noEditPoints="1" noAdjustHandles="1" noChangeArrowheads="1" noChangeShapeType="1" noTextEdit="1"/>
              </p:cNvSpPr>
              <p:nvPr/>
            </p:nvSpPr>
            <p:spPr>
              <a:xfrm>
                <a:off x="4648200" y="2687874"/>
                <a:ext cx="2015954" cy="664926"/>
              </a:xfrm>
              <a:prstGeom prst="rect">
                <a:avLst/>
              </a:prstGeom>
              <a:blipFill rotWithShape="1">
                <a:blip r:embed="rId10"/>
                <a:stretch>
                  <a:fillRect/>
                </a:stretch>
              </a:blipFill>
            </p:spPr>
            <p:txBody>
              <a:bodyPr/>
              <a:lstStyle/>
              <a:p>
                <a:r>
                  <a:rPr lang="zh-CN" altLang="en-US">
                    <a:noFill/>
                  </a:rPr>
                  <a:t> </a:t>
                </a:r>
              </a:p>
            </p:txBody>
          </p:sp>
        </mc:Fallback>
      </mc:AlternateContent>
      <p:pic>
        <p:nvPicPr>
          <p:cNvPr id="71" name="Picture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73" name="Straight Arrow Connector 12"/>
          <p:cNvCxnSpPr/>
          <p:nvPr/>
        </p:nvCxnSpPr>
        <p:spPr>
          <a:xfrm>
            <a:off x="1765629" y="3170291"/>
            <a:ext cx="611886"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0784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9"/>
                                        </p:tgtEl>
                                        <p:attrNameLst>
                                          <p:attrName>style.visibility</p:attrName>
                                        </p:attrNameLst>
                                      </p:cBhvr>
                                      <p:to>
                                        <p:strVal val="visible"/>
                                      </p:to>
                                    </p:set>
                                    <p:animEffect transition="in" filter="fade">
                                      <p:cBhvr>
                                        <p:cTn id="10" dur="500"/>
                                        <p:tgtEl>
                                          <p:spTgt spid="6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8"/>
                                        </p:tgtEl>
                                        <p:attrNameLst>
                                          <p:attrName>style.visibility</p:attrName>
                                        </p:attrNameLst>
                                      </p:cBhvr>
                                      <p:to>
                                        <p:strVal val="visible"/>
                                      </p:to>
                                    </p:set>
                                    <p:animEffect transition="in" filter="fade">
                                      <p:cBhvr>
                                        <p:cTn id="13" dur="500"/>
                                        <p:tgtEl>
                                          <p:spTgt spid="58"/>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59"/>
                                        </p:tgtEl>
                                        <p:attrNameLst>
                                          <p:attrName>style.visibility</p:attrName>
                                        </p:attrNameLst>
                                      </p:cBhvr>
                                      <p:to>
                                        <p:strVal val="visible"/>
                                      </p:to>
                                    </p:set>
                                    <p:animEffect transition="in" filter="fade">
                                      <p:cBhvr>
                                        <p:cTn id="18" dur="1000"/>
                                        <p:tgtEl>
                                          <p:spTgt spid="59"/>
                                        </p:tgtEl>
                                      </p:cBhvr>
                                    </p:animEffect>
                                    <p:anim calcmode="lin" valueType="num">
                                      <p:cBhvr>
                                        <p:cTn id="19" dur="1000" fill="hold"/>
                                        <p:tgtEl>
                                          <p:spTgt spid="59"/>
                                        </p:tgtEl>
                                        <p:attrNameLst>
                                          <p:attrName>ppt_x</p:attrName>
                                        </p:attrNameLst>
                                      </p:cBhvr>
                                      <p:tavLst>
                                        <p:tav tm="0">
                                          <p:val>
                                            <p:strVal val="#ppt_x"/>
                                          </p:val>
                                        </p:tav>
                                        <p:tav tm="100000">
                                          <p:val>
                                            <p:strVal val="#ppt_x"/>
                                          </p:val>
                                        </p:tav>
                                      </p:tavLst>
                                    </p:anim>
                                    <p:anim calcmode="lin" valueType="num">
                                      <p:cBhvr>
                                        <p:cTn id="20" dur="1000" fill="hold"/>
                                        <p:tgtEl>
                                          <p:spTgt spid="59"/>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73"/>
                                        </p:tgtEl>
                                        <p:attrNameLst>
                                          <p:attrName>style.visibility</p:attrName>
                                        </p:attrNameLst>
                                      </p:cBhvr>
                                      <p:to>
                                        <p:strVal val="visible"/>
                                      </p:to>
                                    </p:set>
                                    <p:animEffect transition="in" filter="fade">
                                      <p:cBhvr>
                                        <p:cTn id="23" dur="1000"/>
                                        <p:tgtEl>
                                          <p:spTgt spid="73"/>
                                        </p:tgtEl>
                                      </p:cBhvr>
                                    </p:animEffect>
                                    <p:anim calcmode="lin" valueType="num">
                                      <p:cBhvr>
                                        <p:cTn id="24" dur="1000" fill="hold"/>
                                        <p:tgtEl>
                                          <p:spTgt spid="73"/>
                                        </p:tgtEl>
                                        <p:attrNameLst>
                                          <p:attrName>ppt_x</p:attrName>
                                        </p:attrNameLst>
                                      </p:cBhvr>
                                      <p:tavLst>
                                        <p:tav tm="0">
                                          <p:val>
                                            <p:strVal val="#ppt_x"/>
                                          </p:val>
                                        </p:tav>
                                        <p:tav tm="100000">
                                          <p:val>
                                            <p:strVal val="#ppt_x"/>
                                          </p:val>
                                        </p:tav>
                                      </p:tavLst>
                                    </p:anim>
                                    <p:anim calcmode="lin" valueType="num">
                                      <p:cBhvr>
                                        <p:cTn id="25" dur="1000" fill="hold"/>
                                        <p:tgtEl>
                                          <p:spTgt spid="73"/>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70"/>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64"/>
                                        </p:tgtEl>
                                        <p:attrNameLst>
                                          <p:attrName>style.visibility</p:attrName>
                                        </p:attrNameLst>
                                      </p:cBhvr>
                                      <p:to>
                                        <p:strVal val="visible"/>
                                      </p:to>
                                    </p:set>
                                  </p:childTnLst>
                                </p:cTn>
                              </p:par>
                              <p:par>
                                <p:cTn id="32" presetID="1" presetClass="exit" presetSubtype="0" fill="hold" nodeType="withEffect">
                                  <p:stCondLst>
                                    <p:cond delay="0"/>
                                  </p:stCondLst>
                                  <p:childTnLst>
                                    <p:set>
                                      <p:cBhvr>
                                        <p:cTn id="33" dur="1" fill="hold">
                                          <p:stCondLst>
                                            <p:cond delay="0"/>
                                          </p:stCondLst>
                                        </p:cTn>
                                        <p:tgtEl>
                                          <p:spTgt spid="73"/>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79"/>
                                        </p:tgtEl>
                                        <p:attrNameLst>
                                          <p:attrName>style.visibility</p:attrName>
                                        </p:attrNameLst>
                                      </p:cBhvr>
                                      <p:to>
                                        <p:strVal val="visible"/>
                                      </p:to>
                                    </p:set>
                                    <p:animEffect transition="in" filter="fade">
                                      <p:cBhvr>
                                        <p:cTn id="38" dur="500"/>
                                        <p:tgtEl>
                                          <p:spTgt spid="79"/>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75"/>
                                        </p:tgtEl>
                                        <p:attrNameLst>
                                          <p:attrName>style.visibility</p:attrName>
                                        </p:attrNameLst>
                                      </p:cBhvr>
                                      <p:to>
                                        <p:strVal val="visible"/>
                                      </p:to>
                                    </p:set>
                                    <p:animEffect transition="in" filter="fade">
                                      <p:cBhvr>
                                        <p:cTn id="41" dur="500"/>
                                        <p:tgtEl>
                                          <p:spTgt spid="7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xit" presetSubtype="0" fill="hold" grpId="1" nodeType="clickEffect">
                                  <p:stCondLst>
                                    <p:cond delay="0"/>
                                  </p:stCondLst>
                                  <p:childTnLst>
                                    <p:set>
                                      <p:cBhvr>
                                        <p:cTn id="45" dur="1" fill="hold">
                                          <p:stCondLst>
                                            <p:cond delay="0"/>
                                          </p:stCondLst>
                                        </p:cTn>
                                        <p:tgtEl>
                                          <p:spTgt spid="79"/>
                                        </p:tgtEl>
                                        <p:attrNameLst>
                                          <p:attrName>style.visibility</p:attrName>
                                        </p:attrNameLst>
                                      </p:cBhvr>
                                      <p:to>
                                        <p:strVal val="hidden"/>
                                      </p:to>
                                    </p:set>
                                  </p:childTnLst>
                                </p:cTn>
                              </p:par>
                              <p:par>
                                <p:cTn id="46" presetID="1" presetClass="exit" presetSubtype="0" fill="hold" grpId="1" nodeType="withEffect">
                                  <p:stCondLst>
                                    <p:cond delay="0"/>
                                  </p:stCondLst>
                                  <p:childTnLst>
                                    <p:set>
                                      <p:cBhvr>
                                        <p:cTn id="47" dur="1" fill="hold">
                                          <p:stCondLst>
                                            <p:cond delay="0"/>
                                          </p:stCondLst>
                                        </p:cTn>
                                        <p:tgtEl>
                                          <p:spTgt spid="75"/>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6" presetClass="entr" presetSubtype="16" fill="hold" grpId="0" nodeType="clickEffect">
                                  <p:stCondLst>
                                    <p:cond delay="0"/>
                                  </p:stCondLst>
                                  <p:childTnLst>
                                    <p:set>
                                      <p:cBhvr>
                                        <p:cTn id="51" dur="1" fill="hold">
                                          <p:stCondLst>
                                            <p:cond delay="0"/>
                                          </p:stCondLst>
                                        </p:cTn>
                                        <p:tgtEl>
                                          <p:spTgt spid="77"/>
                                        </p:tgtEl>
                                        <p:attrNameLst>
                                          <p:attrName>style.visibility</p:attrName>
                                        </p:attrNameLst>
                                      </p:cBhvr>
                                      <p:to>
                                        <p:strVal val="visible"/>
                                      </p:to>
                                    </p:set>
                                    <p:animEffect transition="in" filter="circle(in)">
                                      <p:cBhvr>
                                        <p:cTn id="52" dur="2000"/>
                                        <p:tgtEl>
                                          <p:spTgt spid="77"/>
                                        </p:tgtEl>
                                      </p:cBhvr>
                                    </p:animEffect>
                                  </p:childTnLst>
                                </p:cTn>
                              </p:par>
                              <p:par>
                                <p:cTn id="53" presetID="6" presetClass="entr" presetSubtype="16" fill="hold" grpId="2" nodeType="withEffect">
                                  <p:stCondLst>
                                    <p:cond delay="0"/>
                                  </p:stCondLst>
                                  <p:childTnLst>
                                    <p:set>
                                      <p:cBhvr>
                                        <p:cTn id="54" dur="1" fill="hold">
                                          <p:stCondLst>
                                            <p:cond delay="0"/>
                                          </p:stCondLst>
                                        </p:cTn>
                                        <p:tgtEl>
                                          <p:spTgt spid="79"/>
                                        </p:tgtEl>
                                        <p:attrNameLst>
                                          <p:attrName>style.visibility</p:attrName>
                                        </p:attrNameLst>
                                      </p:cBhvr>
                                      <p:to>
                                        <p:strVal val="visible"/>
                                      </p:to>
                                    </p:set>
                                    <p:animEffect transition="in" filter="circle(in)">
                                      <p:cBhvr>
                                        <p:cTn id="55" dur="2000"/>
                                        <p:tgtEl>
                                          <p:spTgt spid="79"/>
                                        </p:tgtEl>
                                      </p:cBhvr>
                                    </p:animEffect>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83"/>
                                        </p:tgtEl>
                                        <p:attrNameLst>
                                          <p:attrName>style.visibility</p:attrName>
                                        </p:attrNameLst>
                                      </p:cBhvr>
                                      <p:to>
                                        <p:strVal val="visible"/>
                                      </p:to>
                                    </p:set>
                                    <p:anim calcmode="lin" valueType="num">
                                      <p:cBhvr additive="base">
                                        <p:cTn id="60" dur="500" fill="hold"/>
                                        <p:tgtEl>
                                          <p:spTgt spid="83"/>
                                        </p:tgtEl>
                                        <p:attrNameLst>
                                          <p:attrName>ppt_x</p:attrName>
                                        </p:attrNameLst>
                                      </p:cBhvr>
                                      <p:tavLst>
                                        <p:tav tm="0">
                                          <p:val>
                                            <p:strVal val="#ppt_x"/>
                                          </p:val>
                                        </p:tav>
                                        <p:tav tm="100000">
                                          <p:val>
                                            <p:strVal val="#ppt_x"/>
                                          </p:val>
                                        </p:tav>
                                      </p:tavLst>
                                    </p:anim>
                                    <p:anim calcmode="lin" valueType="num">
                                      <p:cBhvr additive="base">
                                        <p:cTn id="61" dur="500" fill="hold"/>
                                        <p:tgtEl>
                                          <p:spTgt spid="83"/>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1" presetClass="exit" presetSubtype="0" fill="hold" nodeType="clickEffect">
                                  <p:stCondLst>
                                    <p:cond delay="0"/>
                                  </p:stCondLst>
                                  <p:childTnLst>
                                    <p:set>
                                      <p:cBhvr>
                                        <p:cTn id="65" dur="1" fill="hold">
                                          <p:stCondLst>
                                            <p:cond delay="0"/>
                                          </p:stCondLst>
                                        </p:cTn>
                                        <p:tgtEl>
                                          <p:spTgt spid="59"/>
                                        </p:tgtEl>
                                        <p:attrNameLst>
                                          <p:attrName>style.visibility</p:attrName>
                                        </p:attrNameLst>
                                      </p:cBhvr>
                                      <p:to>
                                        <p:strVal val="hidden"/>
                                      </p:to>
                                    </p:set>
                                  </p:childTnLst>
                                </p:cTn>
                              </p:par>
                              <p:par>
                                <p:cTn id="66" presetID="1" presetClass="exit" presetSubtype="0" fill="hold" grpId="1" nodeType="withEffect">
                                  <p:stCondLst>
                                    <p:cond delay="0"/>
                                  </p:stCondLst>
                                  <p:childTnLst>
                                    <p:set>
                                      <p:cBhvr>
                                        <p:cTn id="67" dur="1" fill="hold">
                                          <p:stCondLst>
                                            <p:cond delay="0"/>
                                          </p:stCondLst>
                                        </p:cTn>
                                        <p:tgtEl>
                                          <p:spTgt spid="70"/>
                                        </p:tgtEl>
                                        <p:attrNameLst>
                                          <p:attrName>style.visibility</p:attrName>
                                        </p:attrNameLst>
                                      </p:cBhvr>
                                      <p:to>
                                        <p:strVal val="hidden"/>
                                      </p:to>
                                    </p:set>
                                  </p:childTnLst>
                                </p:cTn>
                              </p:par>
                              <p:par>
                                <p:cTn id="68" presetID="1" presetClass="exit" presetSubtype="0" fill="hold" grpId="1" nodeType="withEffect">
                                  <p:stCondLst>
                                    <p:cond delay="0"/>
                                  </p:stCondLst>
                                  <p:childTnLst>
                                    <p:set>
                                      <p:cBhvr>
                                        <p:cTn id="69" dur="1" fill="hold">
                                          <p:stCondLst>
                                            <p:cond delay="0"/>
                                          </p:stCondLst>
                                        </p:cTn>
                                        <p:tgtEl>
                                          <p:spTgt spid="64"/>
                                        </p:tgtEl>
                                        <p:attrNameLst>
                                          <p:attrName>style.visibility</p:attrName>
                                        </p:attrNameLst>
                                      </p:cBhvr>
                                      <p:to>
                                        <p:strVal val="hidden"/>
                                      </p:to>
                                    </p:set>
                                  </p:childTnLst>
                                </p:cTn>
                              </p:par>
                              <p:par>
                                <p:cTn id="70" presetID="1" presetClass="exit" presetSubtype="0" fill="hold" grpId="1" nodeType="withEffect">
                                  <p:stCondLst>
                                    <p:cond delay="0"/>
                                  </p:stCondLst>
                                  <p:childTnLst>
                                    <p:set>
                                      <p:cBhvr>
                                        <p:cTn id="71" dur="1" fill="hold">
                                          <p:stCondLst>
                                            <p:cond delay="0"/>
                                          </p:stCondLst>
                                        </p:cTn>
                                        <p:tgtEl>
                                          <p:spTgt spid="77"/>
                                        </p:tgtEl>
                                        <p:attrNameLst>
                                          <p:attrName>style.visibility</p:attrName>
                                        </p:attrNameLst>
                                      </p:cBhvr>
                                      <p:to>
                                        <p:strVal val="hidden"/>
                                      </p:to>
                                    </p:set>
                                  </p:childTnLst>
                                </p:cTn>
                              </p:par>
                              <p:par>
                                <p:cTn id="72" presetID="1" presetClass="exit" presetSubtype="0" fill="hold" grpId="3" nodeType="withEffect">
                                  <p:stCondLst>
                                    <p:cond delay="0"/>
                                  </p:stCondLst>
                                  <p:childTnLst>
                                    <p:set>
                                      <p:cBhvr>
                                        <p:cTn id="73" dur="1" fill="hold">
                                          <p:stCondLst>
                                            <p:cond delay="0"/>
                                          </p:stCondLst>
                                        </p:cTn>
                                        <p:tgtEl>
                                          <p:spTgt spid="79"/>
                                        </p:tgtEl>
                                        <p:attrNameLst>
                                          <p:attrName>style.visibility</p:attrName>
                                        </p:attrNameLst>
                                      </p:cBhvr>
                                      <p:to>
                                        <p:strVal val="hidden"/>
                                      </p:to>
                                    </p:set>
                                  </p:childTnLst>
                                </p:cTn>
                              </p:par>
                              <p:par>
                                <p:cTn id="74" presetID="1" presetClass="exit" presetSubtype="0" fill="hold" grpId="1" nodeType="withEffect">
                                  <p:stCondLst>
                                    <p:cond delay="0"/>
                                  </p:stCondLst>
                                  <p:childTnLst>
                                    <p:set>
                                      <p:cBhvr>
                                        <p:cTn id="75" dur="1" fill="hold">
                                          <p:stCondLst>
                                            <p:cond delay="0"/>
                                          </p:stCondLst>
                                        </p:cTn>
                                        <p:tgtEl>
                                          <p:spTgt spid="83"/>
                                        </p:tgtEl>
                                        <p:attrNameLst>
                                          <p:attrName>style.visibility</p:attrName>
                                        </p:attrNameLst>
                                      </p:cBhvr>
                                      <p:to>
                                        <p:strVal val="hidden"/>
                                      </p:to>
                                    </p:set>
                                  </p:childTnLst>
                                </p:cTn>
                              </p:par>
                            </p:childTnLst>
                          </p:cTn>
                        </p:par>
                      </p:childTnLst>
                    </p:cTn>
                  </p:par>
                  <p:par>
                    <p:cTn id="76" fill="hold">
                      <p:stCondLst>
                        <p:cond delay="indefinite"/>
                      </p:stCondLst>
                      <p:childTnLst>
                        <p:par>
                          <p:cTn id="77" fill="hold">
                            <p:stCondLst>
                              <p:cond delay="0"/>
                            </p:stCondLst>
                            <p:childTnLst>
                              <p:par>
                                <p:cTn id="78" presetID="42" presetClass="entr" presetSubtype="0" fill="hold" nodeType="clickEffect">
                                  <p:stCondLst>
                                    <p:cond delay="0"/>
                                  </p:stCondLst>
                                  <p:childTnLst>
                                    <p:set>
                                      <p:cBhvr>
                                        <p:cTn id="79" dur="1" fill="hold">
                                          <p:stCondLst>
                                            <p:cond delay="0"/>
                                          </p:stCondLst>
                                        </p:cTn>
                                        <p:tgtEl>
                                          <p:spTgt spid="87"/>
                                        </p:tgtEl>
                                        <p:attrNameLst>
                                          <p:attrName>style.visibility</p:attrName>
                                        </p:attrNameLst>
                                      </p:cBhvr>
                                      <p:to>
                                        <p:strVal val="visible"/>
                                      </p:to>
                                    </p:set>
                                    <p:animEffect transition="in" filter="fade">
                                      <p:cBhvr>
                                        <p:cTn id="80" dur="1000"/>
                                        <p:tgtEl>
                                          <p:spTgt spid="87"/>
                                        </p:tgtEl>
                                      </p:cBhvr>
                                    </p:animEffect>
                                    <p:anim calcmode="lin" valueType="num">
                                      <p:cBhvr>
                                        <p:cTn id="81" dur="1000" fill="hold"/>
                                        <p:tgtEl>
                                          <p:spTgt spid="87"/>
                                        </p:tgtEl>
                                        <p:attrNameLst>
                                          <p:attrName>ppt_x</p:attrName>
                                        </p:attrNameLst>
                                      </p:cBhvr>
                                      <p:tavLst>
                                        <p:tav tm="0">
                                          <p:val>
                                            <p:strVal val="#ppt_x"/>
                                          </p:val>
                                        </p:tav>
                                        <p:tav tm="100000">
                                          <p:val>
                                            <p:strVal val="#ppt_x"/>
                                          </p:val>
                                        </p:tav>
                                      </p:tavLst>
                                    </p:anim>
                                    <p:anim calcmode="lin" valueType="num">
                                      <p:cBhvr>
                                        <p:cTn id="82" dur="1000" fill="hold"/>
                                        <p:tgtEl>
                                          <p:spTgt spid="87"/>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85"/>
                                        </p:tgtEl>
                                        <p:attrNameLst>
                                          <p:attrName>style.visibility</p:attrName>
                                        </p:attrNameLst>
                                      </p:cBhvr>
                                      <p:to>
                                        <p:strVal val="visible"/>
                                      </p:to>
                                    </p:set>
                                    <p:animEffect transition="in" filter="fade">
                                      <p:cBhvr>
                                        <p:cTn id="85" dur="1000"/>
                                        <p:tgtEl>
                                          <p:spTgt spid="85"/>
                                        </p:tgtEl>
                                      </p:cBhvr>
                                    </p:animEffect>
                                    <p:anim calcmode="lin" valueType="num">
                                      <p:cBhvr>
                                        <p:cTn id="86" dur="1000" fill="hold"/>
                                        <p:tgtEl>
                                          <p:spTgt spid="85"/>
                                        </p:tgtEl>
                                        <p:attrNameLst>
                                          <p:attrName>ppt_x</p:attrName>
                                        </p:attrNameLst>
                                      </p:cBhvr>
                                      <p:tavLst>
                                        <p:tav tm="0">
                                          <p:val>
                                            <p:strVal val="#ppt_x"/>
                                          </p:val>
                                        </p:tav>
                                        <p:tav tm="100000">
                                          <p:val>
                                            <p:strVal val="#ppt_x"/>
                                          </p:val>
                                        </p:tav>
                                      </p:tavLst>
                                    </p:anim>
                                    <p:anim calcmode="lin" valueType="num">
                                      <p:cBhvr>
                                        <p:cTn id="87" dur="1000" fill="hold"/>
                                        <p:tgtEl>
                                          <p:spTgt spid="85"/>
                                        </p:tgtEl>
                                        <p:attrNameLst>
                                          <p:attrName>ppt_y</p:attrName>
                                        </p:attrNameLst>
                                      </p:cBhvr>
                                      <p:tavLst>
                                        <p:tav tm="0">
                                          <p:val>
                                            <p:strVal val="#ppt_y+.1"/>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1" presetClass="exit" presetSubtype="0" fill="hold" nodeType="clickEffect">
                                  <p:stCondLst>
                                    <p:cond delay="0"/>
                                  </p:stCondLst>
                                  <p:childTnLst>
                                    <p:set>
                                      <p:cBhvr>
                                        <p:cTn id="91" dur="1" fill="hold">
                                          <p:stCondLst>
                                            <p:cond delay="0"/>
                                          </p:stCondLst>
                                        </p:cTn>
                                        <p:tgtEl>
                                          <p:spTgt spid="87"/>
                                        </p:tgtEl>
                                        <p:attrNameLst>
                                          <p:attrName>style.visibility</p:attrName>
                                        </p:attrNameLst>
                                      </p:cBhvr>
                                      <p:to>
                                        <p:strVal val="hidden"/>
                                      </p:to>
                                    </p:set>
                                  </p:childTnLst>
                                </p:cTn>
                              </p:par>
                              <p:par>
                                <p:cTn id="92" presetID="1" presetClass="exit" presetSubtype="0" fill="hold" grpId="1" nodeType="withEffect">
                                  <p:stCondLst>
                                    <p:cond delay="0"/>
                                  </p:stCondLst>
                                  <p:childTnLst>
                                    <p:set>
                                      <p:cBhvr>
                                        <p:cTn id="93" dur="1" fill="hold">
                                          <p:stCondLst>
                                            <p:cond delay="0"/>
                                          </p:stCondLst>
                                        </p:cTn>
                                        <p:tgtEl>
                                          <p:spTgt spid="85"/>
                                        </p:tgtEl>
                                        <p:attrNameLst>
                                          <p:attrName>style.visibility</p:attrName>
                                        </p:attrNameLst>
                                      </p:cBhvr>
                                      <p:to>
                                        <p:strVal val="hidden"/>
                                      </p:to>
                                    </p:set>
                                  </p:childTnLst>
                                </p:cTn>
                              </p:par>
                            </p:childTnLst>
                          </p:cTn>
                        </p:par>
                      </p:childTnLst>
                    </p:cTn>
                  </p:par>
                  <p:par>
                    <p:cTn id="94" fill="hold">
                      <p:stCondLst>
                        <p:cond delay="indefinite"/>
                      </p:stCondLst>
                      <p:childTnLst>
                        <p:par>
                          <p:cTn id="95" fill="hold">
                            <p:stCondLst>
                              <p:cond delay="0"/>
                            </p:stCondLst>
                            <p:childTnLst>
                              <p:par>
                                <p:cTn id="96" presetID="22" presetClass="entr" presetSubtype="4" fill="hold" grpId="0" nodeType="clickEffect">
                                  <p:stCondLst>
                                    <p:cond delay="0"/>
                                  </p:stCondLst>
                                  <p:childTnLst>
                                    <p:set>
                                      <p:cBhvr>
                                        <p:cTn id="97" dur="1" fill="hold">
                                          <p:stCondLst>
                                            <p:cond delay="0"/>
                                          </p:stCondLst>
                                        </p:cTn>
                                        <p:tgtEl>
                                          <p:spTgt spid="89"/>
                                        </p:tgtEl>
                                        <p:attrNameLst>
                                          <p:attrName>style.visibility</p:attrName>
                                        </p:attrNameLst>
                                      </p:cBhvr>
                                      <p:to>
                                        <p:strVal val="visible"/>
                                      </p:to>
                                    </p:set>
                                    <p:animEffect transition="in" filter="wipe(down)">
                                      <p:cBhvr>
                                        <p:cTn id="98" dur="500"/>
                                        <p:tgtEl>
                                          <p:spTgt spid="89"/>
                                        </p:tgtEl>
                                      </p:cBhvr>
                                    </p:animEffect>
                                  </p:childTnLst>
                                </p:cTn>
                              </p:par>
                              <p:par>
                                <p:cTn id="99" presetID="42" presetClass="entr" presetSubtype="0" fill="hold" grpId="0" nodeType="withEffect">
                                  <p:stCondLst>
                                    <p:cond delay="0"/>
                                  </p:stCondLst>
                                  <p:childTnLst>
                                    <p:set>
                                      <p:cBhvr>
                                        <p:cTn id="100" dur="1" fill="hold">
                                          <p:stCondLst>
                                            <p:cond delay="0"/>
                                          </p:stCondLst>
                                        </p:cTn>
                                        <p:tgtEl>
                                          <p:spTgt spid="91"/>
                                        </p:tgtEl>
                                        <p:attrNameLst>
                                          <p:attrName>style.visibility</p:attrName>
                                        </p:attrNameLst>
                                      </p:cBhvr>
                                      <p:to>
                                        <p:strVal val="visible"/>
                                      </p:to>
                                    </p:set>
                                    <p:animEffect transition="in" filter="fade">
                                      <p:cBhvr>
                                        <p:cTn id="101" dur="1000"/>
                                        <p:tgtEl>
                                          <p:spTgt spid="91"/>
                                        </p:tgtEl>
                                      </p:cBhvr>
                                    </p:animEffect>
                                    <p:anim calcmode="lin" valueType="num">
                                      <p:cBhvr>
                                        <p:cTn id="102" dur="1000" fill="hold"/>
                                        <p:tgtEl>
                                          <p:spTgt spid="91"/>
                                        </p:tgtEl>
                                        <p:attrNameLst>
                                          <p:attrName>ppt_x</p:attrName>
                                        </p:attrNameLst>
                                      </p:cBhvr>
                                      <p:tavLst>
                                        <p:tav tm="0">
                                          <p:val>
                                            <p:strVal val="#ppt_x"/>
                                          </p:val>
                                        </p:tav>
                                        <p:tav tm="100000">
                                          <p:val>
                                            <p:strVal val="#ppt_x"/>
                                          </p:val>
                                        </p:tav>
                                      </p:tavLst>
                                    </p:anim>
                                    <p:anim calcmode="lin" valueType="num">
                                      <p:cBhvr>
                                        <p:cTn id="103" dur="1000" fill="hold"/>
                                        <p:tgtEl>
                                          <p:spTgt spid="91"/>
                                        </p:tgtEl>
                                        <p:attrNameLst>
                                          <p:attrName>ppt_y</p:attrName>
                                        </p:attrNameLst>
                                      </p:cBhvr>
                                      <p:tavLst>
                                        <p:tav tm="0">
                                          <p:val>
                                            <p:strVal val="#ppt_y+.1"/>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1" presetClass="exit" presetSubtype="0" fill="hold" grpId="1" nodeType="clickEffect">
                                  <p:stCondLst>
                                    <p:cond delay="0"/>
                                  </p:stCondLst>
                                  <p:childTnLst>
                                    <p:set>
                                      <p:cBhvr>
                                        <p:cTn id="107" dur="1" fill="hold">
                                          <p:stCondLst>
                                            <p:cond delay="0"/>
                                          </p:stCondLst>
                                        </p:cTn>
                                        <p:tgtEl>
                                          <p:spTgt spid="89"/>
                                        </p:tgtEl>
                                        <p:attrNameLst>
                                          <p:attrName>style.visibility</p:attrName>
                                        </p:attrNameLst>
                                      </p:cBhvr>
                                      <p:to>
                                        <p:strVal val="hidden"/>
                                      </p:to>
                                    </p:set>
                                  </p:childTnLst>
                                </p:cTn>
                              </p:par>
                              <p:par>
                                <p:cTn id="108" presetID="1" presetClass="exit" presetSubtype="0" fill="hold" grpId="1" nodeType="withEffect">
                                  <p:stCondLst>
                                    <p:cond delay="0"/>
                                  </p:stCondLst>
                                  <p:childTnLst>
                                    <p:set>
                                      <p:cBhvr>
                                        <p:cTn id="109" dur="1" fill="hold">
                                          <p:stCondLst>
                                            <p:cond delay="0"/>
                                          </p:stCondLst>
                                        </p:cTn>
                                        <p:tgtEl>
                                          <p:spTgt spid="91"/>
                                        </p:tgtEl>
                                        <p:attrNameLst>
                                          <p:attrName>style.visibility</p:attrName>
                                        </p:attrNameLst>
                                      </p:cBhvr>
                                      <p:to>
                                        <p:strVal val="hidden"/>
                                      </p:to>
                                    </p:se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grpId="0" nodeType="clickEffect">
                                  <p:stCondLst>
                                    <p:cond delay="0"/>
                                  </p:stCondLst>
                                  <p:childTnLst>
                                    <p:set>
                                      <p:cBhvr>
                                        <p:cTn id="113" dur="1" fill="hold">
                                          <p:stCondLst>
                                            <p:cond delay="0"/>
                                          </p:stCondLst>
                                        </p:cTn>
                                        <p:tgtEl>
                                          <p:spTgt spid="103"/>
                                        </p:tgtEl>
                                        <p:attrNameLst>
                                          <p:attrName>style.visibility</p:attrName>
                                        </p:attrNameLst>
                                      </p:cBhvr>
                                      <p:to>
                                        <p:strVal val="visible"/>
                                      </p:to>
                                    </p:set>
                                    <p:animEffect transition="in" filter="fade">
                                      <p:cBhvr>
                                        <p:cTn id="114" dur="500"/>
                                        <p:tgtEl>
                                          <p:spTgt spid="103"/>
                                        </p:tgtEl>
                                      </p:cBhvr>
                                    </p:animEffect>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grpId="0" nodeType="clickEffect">
                                  <p:stCondLst>
                                    <p:cond delay="0"/>
                                  </p:stCondLst>
                                  <p:childTnLst>
                                    <p:set>
                                      <p:cBhvr>
                                        <p:cTn id="118" dur="1" fill="hold">
                                          <p:stCondLst>
                                            <p:cond delay="0"/>
                                          </p:stCondLst>
                                        </p:cTn>
                                        <p:tgtEl>
                                          <p:spTgt spid="104"/>
                                        </p:tgtEl>
                                        <p:attrNameLst>
                                          <p:attrName>style.visibility</p:attrName>
                                        </p:attrNameLst>
                                      </p:cBhvr>
                                      <p:to>
                                        <p:strVal val="visible"/>
                                      </p:to>
                                    </p:set>
                                    <p:animEffect transition="in" filter="fade">
                                      <p:cBhvr>
                                        <p:cTn id="119" dur="1000"/>
                                        <p:tgtEl>
                                          <p:spTgt spid="104"/>
                                        </p:tgtEl>
                                      </p:cBhvr>
                                    </p:animEffect>
                                    <p:anim calcmode="lin" valueType="num">
                                      <p:cBhvr>
                                        <p:cTn id="120" dur="1000" fill="hold"/>
                                        <p:tgtEl>
                                          <p:spTgt spid="104"/>
                                        </p:tgtEl>
                                        <p:attrNameLst>
                                          <p:attrName>ppt_x</p:attrName>
                                        </p:attrNameLst>
                                      </p:cBhvr>
                                      <p:tavLst>
                                        <p:tav tm="0">
                                          <p:val>
                                            <p:strVal val="#ppt_x"/>
                                          </p:val>
                                        </p:tav>
                                        <p:tav tm="100000">
                                          <p:val>
                                            <p:strVal val="#ppt_x"/>
                                          </p:val>
                                        </p:tav>
                                      </p:tavLst>
                                    </p:anim>
                                    <p:anim calcmode="lin" valueType="num">
                                      <p:cBhvr>
                                        <p:cTn id="121" dur="1000" fill="hold"/>
                                        <p:tgtEl>
                                          <p:spTgt spid="10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03" grpId="0" animBg="1"/>
      <p:bldP spid="104" grpId="0" animBg="1"/>
      <p:bldP spid="58" grpId="0"/>
      <p:bldP spid="64" grpId="0" animBg="1"/>
      <p:bldP spid="64" grpId="1" animBg="1"/>
      <p:bldP spid="70" grpId="0" animBg="1"/>
      <p:bldP spid="70" grpId="1" animBg="1"/>
      <p:bldP spid="75" grpId="0" animBg="1"/>
      <p:bldP spid="75" grpId="1" animBg="1"/>
      <p:bldP spid="77" grpId="0" animBg="1"/>
      <p:bldP spid="77" grpId="1" animBg="1"/>
      <p:bldP spid="79" grpId="0" animBg="1"/>
      <p:bldP spid="79" grpId="1" animBg="1"/>
      <p:bldP spid="79" grpId="2" animBg="1"/>
      <p:bldP spid="79" grpId="3" animBg="1"/>
      <p:bldP spid="83" grpId="0"/>
      <p:bldP spid="83" grpId="1"/>
      <p:bldP spid="85" grpId="0"/>
      <p:bldP spid="85" grpId="1"/>
      <p:bldP spid="89" grpId="0" animBg="1"/>
      <p:bldP spid="89" grpId="1" animBg="1"/>
      <p:bldP spid="91" grpId="0"/>
      <p:bldP spid="91" grpId="1"/>
      <p:bldP spid="6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pPr>
              <a:spcAft>
                <a:spcPts val="3000"/>
              </a:spcAft>
            </a:pPr>
            <a:r>
              <a:rPr lang="en-US" sz="2000" dirty="0"/>
              <a:t>Motivation</a:t>
            </a:r>
          </a:p>
          <a:p>
            <a:pPr>
              <a:spcAft>
                <a:spcPts val="3000"/>
              </a:spcAft>
            </a:pPr>
            <a:r>
              <a:rPr lang="en-US" sz="2000" dirty="0">
                <a:latin typeface="+mj-lt"/>
              </a:rPr>
              <a:t>Regular Model and Regularity Score</a:t>
            </a:r>
          </a:p>
          <a:p>
            <a:pPr lvl="0">
              <a:spcAft>
                <a:spcPts val="3000"/>
              </a:spcAft>
            </a:pPr>
            <a:r>
              <a:rPr lang="en-US" sz="2000" dirty="0">
                <a:solidFill>
                  <a:srgbClr val="FF0000"/>
                </a:solidFill>
              </a:rPr>
              <a:t>Further Enhancements</a:t>
            </a:r>
          </a:p>
          <a:p>
            <a:r>
              <a:rPr lang="en-US" sz="2000" dirty="0"/>
              <a:t>Experiments</a:t>
            </a:r>
          </a:p>
        </p:txBody>
      </p:sp>
      <p:sp>
        <p:nvSpPr>
          <p:cNvPr id="4" name="Slide Number Placeholder 3"/>
          <p:cNvSpPr>
            <a:spLocks noGrp="1"/>
          </p:cNvSpPr>
          <p:nvPr>
            <p:ph type="sldNum" sz="quarter" idx="12"/>
          </p:nvPr>
        </p:nvSpPr>
        <p:spPr/>
        <p:txBody>
          <a:bodyPr/>
          <a:lstStyle/>
          <a:p>
            <a:fld id="{32B29A66-CFD5-4F33-88E2-E7F8EEB50249}" type="slidenum">
              <a:rPr lang="en-US" altLang="en-US" smtClean="0"/>
              <a:pPr/>
              <a:t>16</a:t>
            </a:fld>
            <a:endParaRPr lang="en-US" altLang="en-US"/>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812403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Further Enhancement—Early Stop</a:t>
            </a:r>
          </a:p>
        </p:txBody>
      </p:sp>
      <p:sp>
        <p:nvSpPr>
          <p:cNvPr id="4" name="Slide Number Placeholder 3"/>
          <p:cNvSpPr>
            <a:spLocks noGrp="1"/>
          </p:cNvSpPr>
          <p:nvPr>
            <p:ph type="sldNum" sz="quarter" idx="12"/>
          </p:nvPr>
        </p:nvSpPr>
        <p:spPr/>
        <p:txBody>
          <a:bodyPr/>
          <a:lstStyle/>
          <a:p>
            <a:fld id="{32B29A66-CFD5-4F33-88E2-E7F8EEB50249}" type="slidenum">
              <a:rPr lang="en-US" altLang="en-US" smtClean="0"/>
              <a:pPr/>
              <a:t>17</a:t>
            </a:fld>
            <a:endParaRPr lang="en-US" altLang="en-US"/>
          </a:p>
        </p:txBody>
      </p:sp>
      <p:sp>
        <p:nvSpPr>
          <p:cNvPr id="6" name="Oval 5"/>
          <p:cNvSpPr/>
          <p:nvPr/>
        </p:nvSpPr>
        <p:spPr>
          <a:xfrm>
            <a:off x="1014018" y="2348645"/>
            <a:ext cx="343742" cy="3140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a:t>
            </a:r>
          </a:p>
        </p:txBody>
      </p:sp>
      <p:sp>
        <p:nvSpPr>
          <p:cNvPr id="7" name="Oval 6"/>
          <p:cNvSpPr/>
          <p:nvPr/>
        </p:nvSpPr>
        <p:spPr>
          <a:xfrm>
            <a:off x="2978175" y="2351140"/>
            <a:ext cx="343742" cy="3265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a:t>
            </a:r>
          </a:p>
        </p:txBody>
      </p:sp>
      <p:sp>
        <p:nvSpPr>
          <p:cNvPr id="8" name="Oval 7"/>
          <p:cNvSpPr/>
          <p:nvPr/>
        </p:nvSpPr>
        <p:spPr>
          <a:xfrm>
            <a:off x="1987575" y="2331898"/>
            <a:ext cx="343742" cy="3265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b</a:t>
            </a:r>
          </a:p>
        </p:txBody>
      </p:sp>
      <p:cxnSp>
        <p:nvCxnSpPr>
          <p:cNvPr id="9" name="Straight Arrow Connector 8"/>
          <p:cNvCxnSpPr/>
          <p:nvPr/>
        </p:nvCxnSpPr>
        <p:spPr>
          <a:xfrm>
            <a:off x="1388643" y="2514600"/>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2366289" y="2514793"/>
            <a:ext cx="61188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1" name="Oval 10"/>
          <p:cNvSpPr/>
          <p:nvPr/>
        </p:nvSpPr>
        <p:spPr>
          <a:xfrm>
            <a:off x="5107686" y="2351140"/>
            <a:ext cx="343742" cy="3265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z</a:t>
            </a:r>
          </a:p>
        </p:txBody>
      </p:sp>
      <p:cxnSp>
        <p:nvCxnSpPr>
          <p:cNvPr id="12" name="Straight Arrow Connector 11"/>
          <p:cNvCxnSpPr/>
          <p:nvPr/>
        </p:nvCxnSpPr>
        <p:spPr>
          <a:xfrm>
            <a:off x="4801743" y="2505676"/>
            <a:ext cx="305943" cy="911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3321917" y="2505676"/>
            <a:ext cx="305943" cy="911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5" name="Flowchart: Connector 14"/>
          <p:cNvSpPr/>
          <p:nvPr/>
        </p:nvSpPr>
        <p:spPr>
          <a:xfrm>
            <a:off x="3627860" y="2465214"/>
            <a:ext cx="90040" cy="9004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lowchart: Connector 15"/>
          <p:cNvSpPr/>
          <p:nvPr/>
        </p:nvSpPr>
        <p:spPr>
          <a:xfrm>
            <a:off x="3810000" y="2460656"/>
            <a:ext cx="90040" cy="9004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lowchart: Connector 16"/>
          <p:cNvSpPr/>
          <p:nvPr/>
        </p:nvSpPr>
        <p:spPr>
          <a:xfrm>
            <a:off x="4038600" y="2460656"/>
            <a:ext cx="90040" cy="9004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lowchart: Connector 17"/>
          <p:cNvSpPr/>
          <p:nvPr/>
        </p:nvSpPr>
        <p:spPr>
          <a:xfrm>
            <a:off x="4449863" y="2465214"/>
            <a:ext cx="90040" cy="9004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p:cNvCxnSpPr/>
          <p:nvPr/>
        </p:nvCxnSpPr>
        <p:spPr>
          <a:xfrm>
            <a:off x="4143920" y="2505676"/>
            <a:ext cx="305943" cy="911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0" name="Flowchart: Connector 19"/>
          <p:cNvSpPr/>
          <p:nvPr/>
        </p:nvSpPr>
        <p:spPr>
          <a:xfrm>
            <a:off x="4708553" y="2465214"/>
            <a:ext cx="90040" cy="9004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p:cNvSpPr txBox="1"/>
          <p:nvPr/>
        </p:nvSpPr>
        <p:spPr>
          <a:xfrm>
            <a:off x="4115847" y="2321010"/>
            <a:ext cx="325730" cy="369332"/>
          </a:xfrm>
          <a:prstGeom prst="rect">
            <a:avLst/>
          </a:prstGeom>
          <a:noFill/>
        </p:spPr>
        <p:txBody>
          <a:bodyPr wrap="none" rtlCol="0">
            <a:spAutoFit/>
          </a:bodyPr>
          <a:lstStyle/>
          <a:p>
            <a:r>
              <a:rPr lang="en-US" b="1" dirty="0"/>
              <a:t>n</a:t>
            </a:r>
          </a:p>
        </p:txBody>
      </p:sp>
      <p:sp>
        <p:nvSpPr>
          <p:cNvPr id="24" name="Curved Down Arrow 23"/>
          <p:cNvSpPr/>
          <p:nvPr/>
        </p:nvSpPr>
        <p:spPr>
          <a:xfrm>
            <a:off x="3276600" y="2057400"/>
            <a:ext cx="1905000" cy="274498"/>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mc:AlternateContent xmlns:mc="http://schemas.openxmlformats.org/markup-compatibility/2006" xmlns:a14="http://schemas.microsoft.com/office/drawing/2010/main">
        <mc:Choice Requires="a14">
          <p:sp>
            <p:nvSpPr>
              <p:cNvPr id="27" name="TextBox 26"/>
              <p:cNvSpPr txBox="1"/>
              <p:nvPr/>
            </p:nvSpPr>
            <p:spPr>
              <a:xfrm>
                <a:off x="3816640" y="1676400"/>
                <a:ext cx="4633320" cy="369332"/>
              </a:xfrm>
              <a:prstGeom prst="rect">
                <a:avLst/>
              </a:prstGeom>
              <a:noFill/>
            </p:spPr>
            <p:txBody>
              <a:bodyPr wrap="none" rtlCol="0">
                <a:spAutoFit/>
              </a:bodyPr>
              <a:lstStyle/>
              <a:p>
                <a14:m>
                  <m:oMath xmlns:m="http://schemas.openxmlformats.org/officeDocument/2006/math">
                    <m:r>
                      <m:rPr>
                        <m:nor/>
                      </m:rPr>
                      <a:rPr lang="en-US" b="1" dirty="0">
                        <a:latin typeface="Cambria Math"/>
                      </a:rPr>
                      <m:t>p</m:t>
                    </m:r>
                    <m:r>
                      <m:rPr>
                        <m:nor/>
                      </m:rPr>
                      <a:rPr lang="en-US" b="1" i="0" baseline="-25000" dirty="0" smtClean="0">
                        <a:latin typeface="Cambria Math"/>
                      </a:rPr>
                      <m:t>n</m:t>
                    </m:r>
                  </m:oMath>
                </a14:m>
                <a:r>
                  <a:rPr lang="en-US" b="1" dirty="0"/>
                  <a:t>: </a:t>
                </a:r>
                <a14:m>
                  <m:oMath xmlns:m="http://schemas.openxmlformats.org/officeDocument/2006/math">
                    <m:r>
                      <m:rPr>
                        <m:sty m:val="p"/>
                      </m:rPr>
                      <a:rPr lang="en-US" altLang="zh-CN">
                        <a:latin typeface="Cambria Math"/>
                      </a:rPr>
                      <m:t>Prob</m:t>
                    </m:r>
                    <m:r>
                      <a:rPr lang="en-US" altLang="zh-CN">
                        <a:latin typeface="Cambria Math"/>
                      </a:rPr>
                      <m:t>.</m:t>
                    </m:r>
                  </m:oMath>
                </a14:m>
                <a:r>
                  <a:rPr lang="en-US" dirty="0"/>
                  <a:t> an </a:t>
                </a:r>
                <a:r>
                  <a:rPr lang="en-US" dirty="0">
                    <a:solidFill>
                      <a:srgbClr val="FF0000"/>
                    </a:solidFill>
                  </a:rPr>
                  <a:t>edge</a:t>
                </a:r>
                <a:r>
                  <a:rPr lang="en-US" dirty="0"/>
                  <a:t> to an event n time steps later</a:t>
                </a:r>
              </a:p>
            </p:txBody>
          </p:sp>
        </mc:Choice>
        <mc:Fallback xmlns="">
          <p:sp>
            <p:nvSpPr>
              <p:cNvPr id="27" name="TextBox 26"/>
              <p:cNvSpPr txBox="1">
                <a:spLocks noRot="1" noChangeAspect="1" noMove="1" noResize="1" noEditPoints="1" noAdjustHandles="1" noChangeArrowheads="1" noChangeShapeType="1" noTextEdit="1"/>
              </p:cNvSpPr>
              <p:nvPr/>
            </p:nvSpPr>
            <p:spPr>
              <a:xfrm>
                <a:off x="3816640" y="1676400"/>
                <a:ext cx="4633320" cy="369332"/>
              </a:xfrm>
              <a:prstGeom prst="rect">
                <a:avLst/>
              </a:prstGeom>
              <a:blipFill rotWithShape="1">
                <a:blip r:embed="rId3"/>
                <a:stretch>
                  <a:fillRect t="-8197" r="-395"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3736033" y="2590800"/>
                <a:ext cx="4588244" cy="369332"/>
              </a:xfrm>
              <a:prstGeom prst="rect">
                <a:avLst/>
              </a:prstGeom>
              <a:noFill/>
            </p:spPr>
            <p:txBody>
              <a:bodyPr wrap="none" rtlCol="0">
                <a:spAutoFit/>
              </a:bodyPr>
              <a:lstStyle/>
              <a:p>
                <a14:m>
                  <m:oMath xmlns:m="http://schemas.openxmlformats.org/officeDocument/2006/math">
                    <m:r>
                      <m:rPr>
                        <m:nor/>
                      </m:rPr>
                      <a:rPr lang="en-US" b="1" dirty="0">
                        <a:latin typeface="Cambria Math"/>
                      </a:rPr>
                      <m:t>q</m:t>
                    </m:r>
                    <m:r>
                      <m:rPr>
                        <m:nor/>
                      </m:rPr>
                      <a:rPr lang="en-US" b="1" baseline="-25000" dirty="0">
                        <a:latin typeface="Cambria Math"/>
                      </a:rPr>
                      <m:t>n</m:t>
                    </m:r>
                  </m:oMath>
                </a14:m>
                <a:r>
                  <a:rPr lang="en-US" b="1" dirty="0"/>
                  <a:t> : </a:t>
                </a:r>
                <a14:m>
                  <m:oMath xmlns:m="http://schemas.openxmlformats.org/officeDocument/2006/math">
                    <m:r>
                      <m:rPr>
                        <m:sty m:val="p"/>
                      </m:rPr>
                      <a:rPr lang="en-US" altLang="zh-CN">
                        <a:latin typeface="Cambria Math"/>
                      </a:rPr>
                      <m:t>Prob</m:t>
                    </m:r>
                    <m:r>
                      <a:rPr lang="en-US" altLang="zh-CN">
                        <a:latin typeface="Cambria Math"/>
                      </a:rPr>
                      <m:t>.</m:t>
                    </m:r>
                  </m:oMath>
                </a14:m>
                <a:r>
                  <a:rPr lang="en-US" dirty="0"/>
                  <a:t> a </a:t>
                </a:r>
                <a:r>
                  <a:rPr lang="en-US" dirty="0">
                    <a:solidFill>
                      <a:srgbClr val="FF0000"/>
                    </a:solidFill>
                  </a:rPr>
                  <a:t>path</a:t>
                </a:r>
                <a:r>
                  <a:rPr lang="en-US" dirty="0"/>
                  <a:t> to an event n time steps later</a:t>
                </a:r>
              </a:p>
            </p:txBody>
          </p:sp>
        </mc:Choice>
        <mc:Fallback xmlns="">
          <p:sp>
            <p:nvSpPr>
              <p:cNvPr id="28" name="TextBox 27"/>
              <p:cNvSpPr txBox="1">
                <a:spLocks noRot="1" noChangeAspect="1" noMove="1" noResize="1" noEditPoints="1" noAdjustHandles="1" noChangeArrowheads="1" noChangeShapeType="1" noTextEdit="1"/>
              </p:cNvSpPr>
              <p:nvPr/>
            </p:nvSpPr>
            <p:spPr>
              <a:xfrm>
                <a:off x="3736033" y="2590800"/>
                <a:ext cx="4588244" cy="369332"/>
              </a:xfrm>
              <a:prstGeom prst="rect">
                <a:avLst/>
              </a:prstGeom>
              <a:blipFill rotWithShape="1">
                <a:blip r:embed="rId4"/>
                <a:stretch>
                  <a:fillRect t="-8197"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3816640" y="3080266"/>
                <a:ext cx="3572260" cy="369332"/>
              </a:xfrm>
              <a:prstGeom prst="rect">
                <a:avLst/>
              </a:prstGeom>
              <a:noFill/>
            </p:spPr>
            <p:txBody>
              <a:bodyPr wrap="none" rtlCol="0">
                <a:spAutoFit/>
              </a:bodyPr>
              <a:lstStyle/>
              <a:p>
                <a14:m>
                  <m:oMath xmlns:m="http://schemas.openxmlformats.org/officeDocument/2006/math">
                    <m:r>
                      <a:rPr lang="en-US">
                        <a:latin typeface="Cambria Math"/>
                      </a:rPr>
                      <m:t>𝒇</m:t>
                    </m:r>
                    <m:r>
                      <a:rPr lang="en-US" baseline="-25000">
                        <a:latin typeface="Cambria Math"/>
                      </a:rPr>
                      <m:t>𝒏</m:t>
                    </m:r>
                    <m:r>
                      <a:rPr lang="en-US">
                        <a:latin typeface="Cambria Math"/>
                      </a:rPr>
                      <m:t>:</m:t>
                    </m:r>
                    <m:r>
                      <m:rPr>
                        <m:sty m:val="p"/>
                      </m:rPr>
                      <a:rPr lang="en-US" i="0">
                        <a:latin typeface="Cambria Math"/>
                      </a:rPr>
                      <m:t>Prob</m:t>
                    </m:r>
                    <m:r>
                      <a:rPr lang="en-US" i="0">
                        <a:latin typeface="Cambria Math"/>
                      </a:rPr>
                      <m:t>.(</m:t>
                    </m:r>
                    <m:r>
                      <a:rPr lang="en-US">
                        <a:latin typeface="Cambria Math"/>
                      </a:rPr>
                      <m:t>𝑠</m:t>
                    </m:r>
                    <m:d>
                      <m:dPr>
                        <m:begChr m:val="["/>
                        <m:endChr m:val="]"/>
                        <m:ctrlPr>
                          <a:rPr lang="en-US" i="1">
                            <a:latin typeface="Cambria Math" panose="02040503050406030204" pitchFamily="18" charset="0"/>
                          </a:rPr>
                        </m:ctrlPr>
                      </m:dPr>
                      <m:e>
                        <m:r>
                          <a:rPr lang="en-US">
                            <a:latin typeface="Cambria Math"/>
                          </a:rPr>
                          <m:t>𝑖</m:t>
                        </m:r>
                      </m:e>
                    </m:d>
                    <m:r>
                      <a:rPr lang="en-US">
                        <a:latin typeface="Cambria Math"/>
                      </a:rPr>
                      <m:t>,</m:t>
                    </m:r>
                    <m:r>
                      <a:rPr lang="en-US">
                        <a:latin typeface="Cambria Math"/>
                      </a:rPr>
                      <m:t>𝑠</m:t>
                    </m:r>
                    <m:r>
                      <a:rPr lang="en-US">
                        <a:latin typeface="Cambria Math"/>
                      </a:rPr>
                      <m:t>[</m:t>
                    </m:r>
                    <m:r>
                      <a:rPr lang="en-US">
                        <a:latin typeface="Cambria Math"/>
                      </a:rPr>
                      <m:t>𝑖</m:t>
                    </m:r>
                    <m:r>
                      <a:rPr lang="en-US">
                        <a:latin typeface="Cambria Math"/>
                      </a:rPr>
                      <m:t>+</m:t>
                    </m:r>
                    <m:r>
                      <a:rPr lang="en-US">
                        <a:latin typeface="Cambria Math"/>
                      </a:rPr>
                      <m:t>𝑛</m:t>
                    </m:r>
                    <m:r>
                      <a:rPr lang="en-US">
                        <a:latin typeface="Cambria Math"/>
                      </a:rPr>
                      <m:t>])</m:t>
                    </m:r>
                  </m:oMath>
                </a14:m>
                <a:r>
                  <a:rPr lang="en-US" dirty="0"/>
                  <a:t> is frequent</a:t>
                </a:r>
              </a:p>
            </p:txBody>
          </p:sp>
        </mc:Choice>
        <mc:Fallback xmlns="">
          <p:sp>
            <p:nvSpPr>
              <p:cNvPr id="29" name="TextBox 28"/>
              <p:cNvSpPr txBox="1">
                <a:spLocks noRot="1" noChangeAspect="1" noMove="1" noResize="1" noEditPoints="1" noAdjustHandles="1" noChangeArrowheads="1" noChangeShapeType="1" noTextEdit="1"/>
              </p:cNvSpPr>
              <p:nvPr/>
            </p:nvSpPr>
            <p:spPr>
              <a:xfrm>
                <a:off x="3816640" y="3080266"/>
                <a:ext cx="3572260" cy="369332"/>
              </a:xfrm>
              <a:prstGeom prst="rect">
                <a:avLst/>
              </a:prstGeom>
              <a:blipFill rotWithShape="1">
                <a:blip r:embed="rId5"/>
                <a:stretch>
                  <a:fillRect l="-341" t="-8197" b="-24590"/>
                </a:stretch>
              </a:blipFill>
            </p:spPr>
            <p:txBody>
              <a:bodyPr/>
              <a:lstStyle/>
              <a:p>
                <a:r>
                  <a:rPr lang="zh-CN" altLang="en-US">
                    <a:noFill/>
                  </a:rPr>
                  <a:t> </a:t>
                </a:r>
              </a:p>
            </p:txBody>
          </p:sp>
        </mc:Fallback>
      </mc:AlternateContent>
      <p:sp>
        <p:nvSpPr>
          <p:cNvPr id="31" name="TextBox 30"/>
          <p:cNvSpPr txBox="1"/>
          <p:nvPr/>
        </p:nvSpPr>
        <p:spPr>
          <a:xfrm>
            <a:off x="826367" y="3733800"/>
            <a:ext cx="1736437" cy="369332"/>
          </a:xfrm>
          <a:prstGeom prst="rect">
            <a:avLst/>
          </a:prstGeom>
          <a:noFill/>
        </p:spPr>
        <p:txBody>
          <a:bodyPr wrap="none" rtlCol="0">
            <a:spAutoFit/>
          </a:bodyPr>
          <a:lstStyle/>
          <a:p>
            <a:r>
              <a:rPr lang="en-US" dirty="0"/>
              <a:t>Two Functions:</a:t>
            </a:r>
          </a:p>
        </p:txBody>
      </p:sp>
      <mc:AlternateContent xmlns:mc="http://schemas.openxmlformats.org/markup-compatibility/2006" xmlns:a14="http://schemas.microsoft.com/office/drawing/2010/main">
        <mc:Choice Requires="a14">
          <p:sp>
            <p:nvSpPr>
              <p:cNvPr id="1033" name="TextBox 1032"/>
              <p:cNvSpPr txBox="1"/>
              <p:nvPr/>
            </p:nvSpPr>
            <p:spPr>
              <a:xfrm>
                <a:off x="861317" y="4091464"/>
                <a:ext cx="3578352" cy="1702582"/>
              </a:xfrm>
              <a:prstGeom prst="rect">
                <a:avLst/>
              </a:prstGeom>
              <a:noFill/>
            </p:spPr>
            <p:txBody>
              <a:bodyPr wrap="none" rtlCol="0">
                <a:spAutoFit/>
              </a:bodyPr>
              <a:lstStyle/>
              <a:p>
                <a:pPr lvl="1"/>
                <a14:m>
                  <m:oMathPara xmlns:m="http://schemas.openxmlformats.org/officeDocument/2006/math">
                    <m:oMathParaPr>
                      <m:jc m:val="centerGroup"/>
                    </m:oMathParaPr>
                    <m:oMath xmlns:m="http://schemas.openxmlformats.org/officeDocument/2006/math">
                      <m:r>
                        <a:rPr lang="en-US" i="1" smtClean="0">
                          <a:latin typeface="Cambria Math"/>
                        </a:rPr>
                        <m:t>𝑝</m:t>
                      </m:r>
                      <m:r>
                        <a:rPr lang="en-US" i="1" baseline="-25000">
                          <a:latin typeface="Cambria Math"/>
                        </a:rPr>
                        <m:t>𝑛</m:t>
                      </m:r>
                      <m:r>
                        <a:rPr lang="en-US" i="1">
                          <a:latin typeface="Cambria Math"/>
                        </a:rPr>
                        <m:t>=</m:t>
                      </m:r>
                      <m:r>
                        <a:rPr lang="en-US" b="0" i="1" smtClean="0">
                          <a:latin typeface="Cambria Math" charset="0"/>
                        </a:rPr>
                        <m:t>𝑓</m:t>
                      </m:r>
                      <m:r>
                        <a:rPr lang="en-US" i="1" baseline="-25000">
                          <a:latin typeface="Cambria Math"/>
                        </a:rPr>
                        <m:t>𝑛</m:t>
                      </m:r>
                      <m:r>
                        <a:rPr lang="en-US" i="1">
                          <a:latin typeface="Cambria Math"/>
                        </a:rPr>
                        <m:t>∗(1−</m:t>
                      </m:r>
                      <m:nary>
                        <m:naryPr>
                          <m:chr m:val="∑"/>
                          <m:ctrlPr>
                            <a:rPr lang="pt-BR" i="1">
                              <a:latin typeface="Cambria Math" panose="02040503050406030204" pitchFamily="18" charset="0"/>
                            </a:rPr>
                          </m:ctrlPr>
                        </m:naryPr>
                        <m:sub>
                          <m:r>
                            <m:rPr>
                              <m:brk m:alnAt="23"/>
                            </m:rPr>
                            <a:rPr lang="en-US" i="1">
                              <a:latin typeface="Cambria Math"/>
                            </a:rPr>
                            <m:t>𝑖</m:t>
                          </m:r>
                          <m:r>
                            <a:rPr lang="pt-BR" i="1">
                              <a:latin typeface="Cambria Math"/>
                            </a:rPr>
                            <m:t>=</m:t>
                          </m:r>
                          <m:r>
                            <a:rPr lang="en-US" i="1">
                              <a:latin typeface="Cambria Math"/>
                            </a:rPr>
                            <m:t>1</m:t>
                          </m:r>
                        </m:sub>
                        <m:sup>
                          <m:r>
                            <a:rPr lang="pt-BR" i="1">
                              <a:latin typeface="Cambria Math"/>
                            </a:rPr>
                            <m:t>𝑛</m:t>
                          </m:r>
                          <m:r>
                            <a:rPr lang="en-US" i="1">
                              <a:latin typeface="Cambria Math"/>
                            </a:rPr>
                            <m:t>−1</m:t>
                          </m:r>
                        </m:sup>
                        <m:e>
                          <m:r>
                            <a:rPr lang="en-US" i="1">
                              <a:latin typeface="Cambria Math"/>
                            </a:rPr>
                            <m:t>𝑝</m:t>
                          </m:r>
                          <m:r>
                            <a:rPr lang="en-US" i="1" baseline="-25000">
                              <a:latin typeface="Cambria Math"/>
                            </a:rPr>
                            <m:t>𝑖</m:t>
                          </m:r>
                          <m:r>
                            <a:rPr lang="en-US" i="1">
                              <a:latin typeface="Cambria Math"/>
                            </a:rPr>
                            <m:t>∗</m:t>
                          </m:r>
                          <m:sSub>
                            <m:sSubPr>
                              <m:ctrlPr>
                                <a:rPr lang="en-US" i="1" smtClean="0">
                                  <a:latin typeface="Cambria Math" panose="02040503050406030204" pitchFamily="18" charset="0"/>
                                </a:rPr>
                              </m:ctrlPr>
                            </m:sSubPr>
                            <m:e>
                              <m:r>
                                <a:rPr lang="en-US" b="0" i="1" smtClean="0">
                                  <a:latin typeface="Cambria Math"/>
                                </a:rPr>
                                <m:t>𝑞</m:t>
                              </m:r>
                            </m:e>
                            <m:sub>
                              <m:r>
                                <a:rPr lang="en-US" b="0" i="1" smtClean="0">
                                  <a:latin typeface="Cambria Math"/>
                                </a:rPr>
                                <m:t>𝑛</m:t>
                              </m:r>
                              <m:r>
                                <a:rPr lang="en-US" b="0" i="1" smtClean="0">
                                  <a:latin typeface="Cambria Math"/>
                                </a:rPr>
                                <m:t>−</m:t>
                              </m:r>
                              <m:r>
                                <a:rPr lang="en-US" b="0" i="1" smtClean="0">
                                  <a:latin typeface="Cambria Math"/>
                                </a:rPr>
                                <m:t>𝑖</m:t>
                              </m:r>
                            </m:sub>
                          </m:sSub>
                        </m:e>
                      </m:nary>
                      <m:r>
                        <a:rPr lang="en-US" i="1">
                          <a:latin typeface="Cambria Math"/>
                        </a:rPr>
                        <m:t>)</m:t>
                      </m:r>
                    </m:oMath>
                  </m:oMathPara>
                </a14:m>
                <a:endParaRPr lang="en-US" dirty="0"/>
              </a:p>
              <a:p>
                <a:pPr lvl="1"/>
                <a:endParaRPr lang="en-US" altLang="zh-CN" i="1" dirty="0">
                  <a:latin typeface="Cambria Math"/>
                </a:endParaRPr>
              </a:p>
              <a:p>
                <a:pPr lvl="1"/>
                <a14:m>
                  <m:oMath xmlns:m="http://schemas.openxmlformats.org/officeDocument/2006/math">
                    <m:r>
                      <a:rPr lang="en-US" altLang="zh-CN" i="1">
                        <a:latin typeface="Cambria Math"/>
                      </a:rPr>
                      <m:t>𝑞</m:t>
                    </m:r>
                    <m:r>
                      <a:rPr lang="en-US" altLang="zh-CN" i="1" baseline="-25000">
                        <a:latin typeface="Cambria Math"/>
                      </a:rPr>
                      <m:t>𝑛</m:t>
                    </m:r>
                    <m:r>
                      <a:rPr lang="en-US" altLang="zh-CN" i="1">
                        <a:latin typeface="Cambria Math"/>
                      </a:rPr>
                      <m:t>=</m:t>
                    </m:r>
                  </m:oMath>
                </a14:m>
                <a:r>
                  <a:rPr lang="pt-BR" dirty="0"/>
                  <a:t> </a:t>
                </a:r>
                <a14:m>
                  <m:oMath xmlns:m="http://schemas.openxmlformats.org/officeDocument/2006/math">
                    <m:nary>
                      <m:naryPr>
                        <m:chr m:val="∑"/>
                        <m:ctrlPr>
                          <a:rPr lang="pt-BR" i="1">
                            <a:latin typeface="Cambria Math" panose="02040503050406030204" pitchFamily="18" charset="0"/>
                          </a:rPr>
                        </m:ctrlPr>
                      </m:naryPr>
                      <m:sub>
                        <m:r>
                          <m:rPr>
                            <m:brk m:alnAt="23"/>
                          </m:rPr>
                          <a:rPr lang="en-US" i="1">
                            <a:latin typeface="Cambria Math"/>
                          </a:rPr>
                          <m:t>𝑖</m:t>
                        </m:r>
                        <m:r>
                          <a:rPr lang="pt-BR" i="1">
                            <a:latin typeface="Cambria Math"/>
                          </a:rPr>
                          <m:t>=</m:t>
                        </m:r>
                        <m:r>
                          <a:rPr lang="en-US" i="1">
                            <a:latin typeface="Cambria Math"/>
                          </a:rPr>
                          <m:t>1</m:t>
                        </m:r>
                      </m:sub>
                      <m:sup>
                        <m:r>
                          <a:rPr lang="pt-BR" i="1">
                            <a:latin typeface="Cambria Math"/>
                          </a:rPr>
                          <m:t>𝑛</m:t>
                        </m:r>
                      </m:sup>
                      <m:e>
                        <m:r>
                          <a:rPr lang="en-US" i="1">
                            <a:latin typeface="Cambria Math"/>
                          </a:rPr>
                          <m:t>𝑝</m:t>
                        </m:r>
                        <m:r>
                          <a:rPr lang="en-US" i="1" baseline="-25000">
                            <a:latin typeface="Cambria Math"/>
                          </a:rPr>
                          <m:t>𝑖</m:t>
                        </m:r>
                        <m:r>
                          <a:rPr lang="en-US" i="1">
                            <a:latin typeface="Cambria Math"/>
                          </a:rPr>
                          <m:t>∗</m:t>
                        </m:r>
                        <m:sSub>
                          <m:sSubPr>
                            <m:ctrlPr>
                              <a:rPr lang="en-US" i="1">
                                <a:latin typeface="Cambria Math" panose="02040503050406030204" pitchFamily="18" charset="0"/>
                              </a:rPr>
                            </m:ctrlPr>
                          </m:sSubPr>
                          <m:e>
                            <m:r>
                              <a:rPr lang="en-US" i="1">
                                <a:latin typeface="Cambria Math"/>
                              </a:rPr>
                              <m:t>𝑞</m:t>
                            </m:r>
                          </m:e>
                          <m:sub>
                            <m:r>
                              <a:rPr lang="en-US" i="1">
                                <a:latin typeface="Cambria Math"/>
                              </a:rPr>
                              <m:t>𝑛</m:t>
                            </m:r>
                            <m:r>
                              <a:rPr lang="en-US" i="1">
                                <a:latin typeface="Cambria Math"/>
                              </a:rPr>
                              <m:t>−</m:t>
                            </m:r>
                            <m:r>
                              <a:rPr lang="en-US" i="1">
                                <a:latin typeface="Cambria Math"/>
                              </a:rPr>
                              <m:t>𝑖</m:t>
                            </m:r>
                          </m:sub>
                        </m:sSub>
                      </m:e>
                    </m:nary>
                  </m:oMath>
                </a14:m>
                <a:endParaRPr lang="en-US" dirty="0"/>
              </a:p>
              <a:p>
                <a:endParaRPr lang="en-US" dirty="0"/>
              </a:p>
            </p:txBody>
          </p:sp>
        </mc:Choice>
        <mc:Fallback xmlns="">
          <p:sp>
            <p:nvSpPr>
              <p:cNvPr id="1033" name="TextBox 1032"/>
              <p:cNvSpPr txBox="1">
                <a:spLocks noRot="1" noChangeAspect="1" noMove="1" noResize="1" noEditPoints="1" noAdjustHandles="1" noChangeArrowheads="1" noChangeShapeType="1" noTextEdit="1"/>
              </p:cNvSpPr>
              <p:nvPr/>
            </p:nvSpPr>
            <p:spPr>
              <a:xfrm>
                <a:off x="861317" y="4091464"/>
                <a:ext cx="3578352" cy="1702582"/>
              </a:xfrm>
              <a:prstGeom prst="rect">
                <a:avLst/>
              </a:prstGeom>
              <a:blipFill rotWithShape="0">
                <a:blip r:embed="rId6"/>
                <a:stretch>
                  <a:fillRect b="-23656"/>
                </a:stretch>
              </a:blipFill>
            </p:spPr>
            <p:txBody>
              <a:bodyPr/>
              <a:lstStyle/>
              <a:p>
                <a:r>
                  <a:rPr lang="en-US">
                    <a:noFill/>
                  </a:rPr>
                  <a:t> </a:t>
                </a:r>
              </a:p>
            </p:txBody>
          </p:sp>
        </mc:Fallback>
      </mc:AlternateContent>
      <p:sp>
        <p:nvSpPr>
          <p:cNvPr id="1034" name="TextBox 1033"/>
          <p:cNvSpPr txBox="1"/>
          <p:nvPr/>
        </p:nvSpPr>
        <p:spPr>
          <a:xfrm>
            <a:off x="4318648" y="4157924"/>
            <a:ext cx="4339650" cy="646331"/>
          </a:xfrm>
          <a:prstGeom prst="rect">
            <a:avLst/>
          </a:prstGeom>
          <a:noFill/>
        </p:spPr>
        <p:txBody>
          <a:bodyPr wrap="none" rtlCol="0">
            <a:spAutoFit/>
          </a:bodyPr>
          <a:lstStyle/>
          <a:p>
            <a:r>
              <a:rPr lang="en-US" dirty="0"/>
              <a:t>The pair is frequent and there is no path </a:t>
            </a:r>
          </a:p>
          <a:p>
            <a:r>
              <a:rPr lang="en-US" dirty="0"/>
              <a:t>with multiple edges between two nodes</a:t>
            </a:r>
          </a:p>
        </p:txBody>
      </p:sp>
      <p:sp>
        <p:nvSpPr>
          <p:cNvPr id="44" name="TextBox 43"/>
          <p:cNvSpPr txBox="1"/>
          <p:nvPr/>
        </p:nvSpPr>
        <p:spPr>
          <a:xfrm>
            <a:off x="4296891" y="4976053"/>
            <a:ext cx="4570547" cy="923330"/>
          </a:xfrm>
          <a:prstGeom prst="rect">
            <a:avLst/>
          </a:prstGeom>
          <a:noFill/>
        </p:spPr>
        <p:txBody>
          <a:bodyPr wrap="none" rtlCol="0">
            <a:spAutoFit/>
          </a:bodyPr>
          <a:lstStyle/>
          <a:p>
            <a:r>
              <a:rPr lang="en-US" dirty="0"/>
              <a:t>A path of n hops is subdivided according to</a:t>
            </a:r>
          </a:p>
          <a:p>
            <a:r>
              <a:rPr lang="en-US" dirty="0"/>
              <a:t>the number of hops of the first edge in the </a:t>
            </a:r>
          </a:p>
          <a:p>
            <a:r>
              <a:rPr lang="en-US" dirty="0"/>
              <a:t>path</a:t>
            </a:r>
          </a:p>
        </p:txBody>
      </p:sp>
      <p:pic>
        <p:nvPicPr>
          <p:cNvPr id="30"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97704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 grpId="0"/>
      <p:bldP spid="4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Further Enhancement—BBS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342900" lvl="1" indent="-342900">
                  <a:buClr>
                    <a:schemeClr val="tx2"/>
                  </a:buClr>
                </a:pPr>
                <a14:m>
                  <m:oMath xmlns:m="http://schemas.openxmlformats.org/officeDocument/2006/math">
                    <m:r>
                      <m:rPr>
                        <m:sty m:val="p"/>
                      </m:rPr>
                      <a:rPr lang="en-US" altLang="zh-CN" i="1" smtClean="0">
                        <a:latin typeface="Cambria Math"/>
                      </a:rPr>
                      <m:t>BBS</m:t>
                    </m:r>
                    <m:r>
                      <a:rPr lang="en-US" altLang="zh-CN" i="1" smtClean="0">
                        <a:latin typeface="Cambria Math"/>
                      </a:rPr>
                      <m:t>−</m:t>
                    </m:r>
                    <m:r>
                      <a:rPr lang="en-US" altLang="zh-CN" i="1" smtClean="0">
                        <a:latin typeface="Cambria Math"/>
                      </a:rPr>
                      <m:t>𝑆𝑒𝑡𝐸𝑙𝑒𝑚𝑒𝑛𝑡𝐺𝑟𝑜𝑢𝑝</m:t>
                    </m:r>
                    <m:r>
                      <a:rPr lang="en-US" altLang="zh-CN" i="1" smtClean="0">
                        <a:latin typeface="Cambria Math"/>
                      </a:rPr>
                      <m:t>(</m:t>
                    </m:r>
                    <m:r>
                      <a:rPr lang="en-US" altLang="zh-CN" i="1" smtClean="0">
                        <a:latin typeface="Cambria Math"/>
                      </a:rPr>
                      <m:t>𝑏𝑏𝑠</m:t>
                    </m:r>
                    <m:r>
                      <a:rPr lang="en-US" altLang="zh-CN" i="1" smtClean="0">
                        <a:latin typeface="Cambria Math"/>
                      </a:rPr>
                      <m:t>,</m:t>
                    </m:r>
                    <m:r>
                      <a:rPr lang="en-US" altLang="zh-CN" i="1" smtClean="0">
                        <a:latin typeface="Cambria Math"/>
                      </a:rPr>
                      <m:t>𝑒</m:t>
                    </m:r>
                    <m:r>
                      <a:rPr lang="en-US" altLang="zh-CN" i="1" smtClean="0">
                        <a:latin typeface="Cambria Math"/>
                      </a:rPr>
                      <m:t>,</m:t>
                    </m:r>
                    <m:r>
                      <a:rPr lang="en-US" altLang="zh-CN" i="1" smtClean="0">
                        <a:latin typeface="Cambria Math"/>
                      </a:rPr>
                      <m:t>𝑔</m:t>
                    </m:r>
                    <m:r>
                      <a:rPr lang="en-US" altLang="zh-CN" i="1" smtClean="0">
                        <a:latin typeface="Cambria Math"/>
                      </a:rPr>
                      <m:t>)</m:t>
                    </m:r>
                  </m:oMath>
                </a14:m>
                <a:endParaRPr lang="en-US" dirty="0"/>
              </a:p>
              <a:p>
                <a:pPr marL="638175" lvl="2" indent="-342900">
                  <a:buClr>
                    <a:schemeClr val="tx2"/>
                  </a:buClr>
                </a:pPr>
                <a:endParaRPr lang="en-US" b="0" i="1" dirty="0">
                  <a:latin typeface="Cambria Math"/>
                </a:endParaRPr>
              </a:p>
              <a:p>
                <a:pPr marL="295275" lvl="2" indent="0">
                  <a:buClr>
                    <a:schemeClr val="tx2"/>
                  </a:buClr>
                  <a:buNone/>
                </a:pPr>
                <a:r>
                  <a:rPr lang="en-US" dirty="0"/>
                  <a:t>    </a:t>
                </a:r>
                <a14:m>
                  <m:oMath xmlns:m="http://schemas.openxmlformats.org/officeDocument/2006/math">
                    <m:r>
                      <a:rPr lang="en-US" b="0" i="1" smtClean="0">
                        <a:latin typeface="Cambria Math"/>
                      </a:rPr>
                      <m:t>(</m:t>
                    </m:r>
                    <m:r>
                      <a:rPr lang="en-US" b="0" i="1" smtClean="0">
                        <a:latin typeface="Cambria Math"/>
                      </a:rPr>
                      <m:t>𝑒</m:t>
                    </m:r>
                    <m:r>
                      <a:rPr lang="en-US" b="0" i="1" smtClean="0">
                        <a:latin typeface="Cambria Math"/>
                      </a:rPr>
                      <m:t>,</m:t>
                    </m:r>
                    <m:r>
                      <a:rPr lang="en-US" b="0" i="1" smtClean="0">
                        <a:latin typeface="Cambria Math"/>
                      </a:rPr>
                      <m:t>𝑔</m:t>
                    </m:r>
                    <m:r>
                      <a:rPr lang="en-US" b="0" i="1" smtClean="0">
                        <a:latin typeface="Cambria Math"/>
                      </a:rPr>
                      <m:t>)</m:t>
                    </m:r>
                  </m:oMath>
                </a14:m>
                <a:r>
                  <a:rPr lang="en-US" dirty="0"/>
                  <a:t>		</a:t>
                </a:r>
              </a:p>
              <a:p>
                <a:pPr marL="342900" lvl="1" indent="-342900">
                  <a:buClr>
                    <a:schemeClr val="tx2"/>
                  </a:buClr>
                </a:pPr>
                <a:endParaRPr lang="en-US" dirty="0"/>
              </a:p>
              <a:p>
                <a:pPr marL="342900" lvl="1" indent="-342900">
                  <a:buClr>
                    <a:schemeClr val="tx2"/>
                  </a:buClr>
                </a:pPr>
                <a:endParaRPr lang="en-US" dirty="0"/>
              </a:p>
              <a:p>
                <a:pPr marL="342900" lvl="1" indent="-342900">
                  <a:buClr>
                    <a:schemeClr val="tx2"/>
                  </a:buClr>
                </a:pPr>
                <a:r>
                  <a:rPr lang="en-US" dirty="0"/>
                  <a:t> </a:t>
                </a:r>
                <a14:m>
                  <m:oMath xmlns:m="http://schemas.openxmlformats.org/officeDocument/2006/math">
                    <m:r>
                      <a:rPr lang="en-US" altLang="zh-CN" i="1">
                        <a:latin typeface="Cambria Math"/>
                      </a:rPr>
                      <m:t>𝐵𝐵𝑆</m:t>
                    </m:r>
                    <m:r>
                      <a:rPr lang="en-US" altLang="zh-CN" i="1">
                        <a:latin typeface="Cambria Math"/>
                      </a:rPr>
                      <m:t>−</m:t>
                    </m:r>
                    <m:r>
                      <a:rPr lang="en-US" altLang="zh-CN" i="1">
                        <a:latin typeface="Cambria Math"/>
                      </a:rPr>
                      <m:t>𝐿𝑜𝑜𝑘𝑈𝑝</m:t>
                    </m:r>
                    <m:r>
                      <a:rPr lang="en-US" altLang="zh-CN" i="1">
                        <a:latin typeface="Cambria Math"/>
                      </a:rPr>
                      <m:t>(</m:t>
                    </m:r>
                    <m:r>
                      <a:rPr lang="en-US" altLang="zh-CN" i="1">
                        <a:latin typeface="Cambria Math"/>
                      </a:rPr>
                      <m:t>𝑏𝑏𝑠</m:t>
                    </m:r>
                    <m:r>
                      <a:rPr lang="en-US" altLang="zh-CN" i="1">
                        <a:latin typeface="Cambria Math"/>
                      </a:rPr>
                      <m:t>,</m:t>
                    </m:r>
                    <m:r>
                      <a:rPr lang="en-US" altLang="zh-CN" i="1">
                        <a:latin typeface="Cambria Math"/>
                      </a:rPr>
                      <m:t>𝑒</m:t>
                    </m:r>
                    <m:r>
                      <a:rPr lang="en-US" altLang="zh-CN" i="1">
                        <a:latin typeface="Cambria Math"/>
                      </a:rPr>
                      <m:t>,</m:t>
                    </m:r>
                    <m:r>
                      <a:rPr lang="en-US" altLang="zh-CN" i="1">
                        <a:latin typeface="Cambria Math"/>
                      </a:rPr>
                      <m:t>𝑠𝑢𝑚</m:t>
                    </m:r>
                    <m:r>
                      <a:rPr lang="en-US" altLang="zh-CN" i="1">
                        <a:latin typeface="Cambria Math"/>
                      </a:rPr>
                      <m:t>)</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3"/>
                <a:stretch>
                  <a:fillRect l="-444"/>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32B29A66-CFD5-4F33-88E2-E7F8EEB50249}" type="slidenum">
              <a:rPr lang="en-US" altLang="en-US" smtClean="0"/>
              <a:pPr/>
              <a:t>18</a:t>
            </a:fld>
            <a:endParaRPr lang="en-US" altLang="en-US"/>
          </a:p>
        </p:txBody>
      </p:sp>
      <p:cxnSp>
        <p:nvCxnSpPr>
          <p:cNvPr id="7" name="Straight Arrow Connector 6"/>
          <p:cNvCxnSpPr/>
          <p:nvPr/>
        </p:nvCxnSpPr>
        <p:spPr>
          <a:xfrm>
            <a:off x="1905000" y="2886075"/>
            <a:ext cx="914400"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775340" y="2609076"/>
            <a:ext cx="1173719" cy="276999"/>
          </a:xfrm>
          <a:prstGeom prst="rect">
            <a:avLst/>
          </a:prstGeom>
          <a:noFill/>
        </p:spPr>
        <p:txBody>
          <a:bodyPr wrap="none" rtlCol="0">
            <a:spAutoFit/>
          </a:bodyPr>
          <a:lstStyle/>
          <a:p>
            <a:r>
              <a:rPr lang="en-US" sz="1200" dirty="0"/>
              <a:t>Hash Function</a:t>
            </a:r>
          </a:p>
        </p:txBody>
      </p:sp>
      <mc:AlternateContent xmlns:mc="http://schemas.openxmlformats.org/markup-compatibility/2006" xmlns:a14="http://schemas.microsoft.com/office/drawing/2010/main">
        <mc:Choice Requires="a14">
          <p:sp>
            <p:nvSpPr>
              <p:cNvPr id="11" name="TextBox 10"/>
              <p:cNvSpPr txBox="1"/>
              <p:nvPr/>
            </p:nvSpPr>
            <p:spPr>
              <a:xfrm>
                <a:off x="2840592" y="2701409"/>
                <a:ext cx="63603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a:rPr>
                        <m:t>h</m:t>
                      </m:r>
                      <m:r>
                        <a:rPr lang="en-US" b="0" i="1" baseline="-25000" smtClean="0">
                          <a:latin typeface="Cambria Math"/>
                        </a:rPr>
                        <m:t>𝑖</m:t>
                      </m:r>
                      <m:r>
                        <a:rPr lang="en-US" b="0" i="1" smtClean="0">
                          <a:latin typeface="Cambria Math"/>
                        </a:rPr>
                        <m:t>(</m:t>
                      </m:r>
                      <m:r>
                        <a:rPr lang="en-US" b="0" i="1" smtClean="0">
                          <a:latin typeface="Cambria Math"/>
                        </a:rPr>
                        <m:t>𝑒</m:t>
                      </m:r>
                      <m:r>
                        <a:rPr lang="en-US" b="0" i="1" smtClean="0">
                          <a:latin typeface="Cambria Math"/>
                        </a:rPr>
                        <m:t>)</m:t>
                      </m:r>
                    </m:oMath>
                  </m:oMathPara>
                </a14:m>
                <a:endParaRPr lang="en-US" dirty="0"/>
              </a:p>
            </p:txBody>
          </p:sp>
        </mc:Choice>
        <mc:Fallback xmlns="">
          <p:sp>
            <p:nvSpPr>
              <p:cNvPr id="11" name="TextBox 10"/>
              <p:cNvSpPr txBox="1">
                <a:spLocks noRot="1" noChangeAspect="1" noMove="1" noResize="1" noEditPoints="1" noAdjustHandles="1" noChangeArrowheads="1" noChangeShapeType="1" noTextEdit="1"/>
              </p:cNvSpPr>
              <p:nvPr/>
            </p:nvSpPr>
            <p:spPr>
              <a:xfrm>
                <a:off x="2840592" y="2701409"/>
                <a:ext cx="636033" cy="369332"/>
              </a:xfrm>
              <a:prstGeom prst="rect">
                <a:avLst/>
              </a:prstGeom>
              <a:blipFill rotWithShape="1">
                <a:blip r:embed="rId5"/>
                <a:stretch>
                  <a:fillRect r="-9615" b="-13115"/>
                </a:stretch>
              </a:blipFill>
            </p:spPr>
            <p:txBody>
              <a:bodyPr/>
              <a:lstStyle/>
              <a:p>
                <a:r>
                  <a:rPr lang="en-US">
                    <a:noFill/>
                  </a:rPr>
                  <a:t> </a:t>
                </a:r>
              </a:p>
            </p:txBody>
          </p:sp>
        </mc:Fallback>
      </mc:AlternateContent>
      <p:cxnSp>
        <p:nvCxnSpPr>
          <p:cNvPr id="12" name="Straight Arrow Connector 11"/>
          <p:cNvCxnSpPr/>
          <p:nvPr/>
        </p:nvCxnSpPr>
        <p:spPr>
          <a:xfrm>
            <a:off x="3429000" y="2895600"/>
            <a:ext cx="914400"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p:cNvSpPr txBox="1"/>
              <p:nvPr/>
            </p:nvSpPr>
            <p:spPr>
              <a:xfrm>
                <a:off x="4314825" y="2701409"/>
                <a:ext cx="559833" cy="369332"/>
              </a:xfrm>
              <a:prstGeom prst="rect">
                <a:avLst/>
              </a:prstGeom>
              <a:noFill/>
            </p:spPr>
            <p:txBody>
              <a:bodyPr wrap="square" rtlCol="0">
                <a:spAutoFit/>
              </a:bodyPr>
              <a:lstStyle/>
              <a:p>
                <a14:m>
                  <m:oMath xmlns:m="http://schemas.openxmlformats.org/officeDocument/2006/math">
                    <m:r>
                      <m:rPr>
                        <m:sty m:val="p"/>
                      </m:rPr>
                      <a:rPr lang="en-US" i="1">
                        <a:latin typeface="Cambria Math"/>
                      </a:rPr>
                      <m:t>r</m:t>
                    </m:r>
                    <m:r>
                      <a:rPr lang="en-US" b="0" i="1" baseline="-25000" smtClean="0">
                        <a:latin typeface="Cambria Math"/>
                      </a:rPr>
                      <m:t>𝑖</m:t>
                    </m:r>
                  </m:oMath>
                </a14:m>
                <a:r>
                  <a:rPr lang="en-US" dirty="0"/>
                  <a:t>:</a:t>
                </a:r>
              </a:p>
            </p:txBody>
          </p:sp>
        </mc:Choice>
        <mc:Fallback xmlns="">
          <p:sp>
            <p:nvSpPr>
              <p:cNvPr id="13" name="TextBox 12"/>
              <p:cNvSpPr txBox="1">
                <a:spLocks noRot="1" noChangeAspect="1" noMove="1" noResize="1" noEditPoints="1" noAdjustHandles="1" noChangeArrowheads="1" noChangeShapeType="1" noTextEdit="1"/>
              </p:cNvSpPr>
              <p:nvPr/>
            </p:nvSpPr>
            <p:spPr>
              <a:xfrm>
                <a:off x="4314825" y="2701409"/>
                <a:ext cx="559833" cy="369332"/>
              </a:xfrm>
              <a:prstGeom prst="rect">
                <a:avLst/>
              </a:prstGeom>
              <a:blipFill rotWithShape="1">
                <a:blip r:embed="rId6"/>
                <a:stretch>
                  <a:fillRect t="-8197" b="-24590"/>
                </a:stretch>
              </a:blipFill>
            </p:spPr>
            <p:txBody>
              <a:bodyPr/>
              <a:lstStyle/>
              <a:p>
                <a:r>
                  <a:rPr lang="en-US">
                    <a:noFill/>
                  </a:rPr>
                  <a:t> </a:t>
                </a:r>
              </a:p>
            </p:txBody>
          </p:sp>
        </mc:Fallback>
      </mc:AlternateContent>
      <p:graphicFrame>
        <p:nvGraphicFramePr>
          <p:cNvPr id="14" name="Table 13"/>
          <p:cNvGraphicFramePr>
            <a:graphicFrameLocks noGrp="1"/>
          </p:cNvGraphicFramePr>
          <p:nvPr>
            <p:extLst>
              <p:ext uri="{D42A27DB-BD31-4B8C-83A1-F6EECF244321}">
                <p14:modId xmlns:p14="http://schemas.microsoft.com/office/powerpoint/2010/main" val="3686659385"/>
              </p:ext>
            </p:extLst>
          </p:nvPr>
        </p:nvGraphicFramePr>
        <p:xfrm>
          <a:off x="4648200" y="2712720"/>
          <a:ext cx="1818640" cy="365760"/>
        </p:xfrm>
        <a:graphic>
          <a:graphicData uri="http://schemas.openxmlformats.org/drawingml/2006/table">
            <a:tbl>
              <a:tblPr firstRow="1" bandRow="1">
                <a:tableStyleId>{5C22544A-7EE6-4342-B048-85BDC9FD1C3A}</a:tableStyleId>
              </a:tblPr>
              <a:tblGrid>
                <a:gridCol w="227330">
                  <a:extLst>
                    <a:ext uri="{9D8B030D-6E8A-4147-A177-3AD203B41FA5}">
                      <a16:colId xmlns:a16="http://schemas.microsoft.com/office/drawing/2014/main" val="20000"/>
                    </a:ext>
                  </a:extLst>
                </a:gridCol>
                <a:gridCol w="227330">
                  <a:extLst>
                    <a:ext uri="{9D8B030D-6E8A-4147-A177-3AD203B41FA5}">
                      <a16:colId xmlns:a16="http://schemas.microsoft.com/office/drawing/2014/main" val="20001"/>
                    </a:ext>
                  </a:extLst>
                </a:gridCol>
                <a:gridCol w="227330">
                  <a:extLst>
                    <a:ext uri="{9D8B030D-6E8A-4147-A177-3AD203B41FA5}">
                      <a16:colId xmlns:a16="http://schemas.microsoft.com/office/drawing/2014/main" val="20002"/>
                    </a:ext>
                  </a:extLst>
                </a:gridCol>
                <a:gridCol w="227330">
                  <a:extLst>
                    <a:ext uri="{9D8B030D-6E8A-4147-A177-3AD203B41FA5}">
                      <a16:colId xmlns:a16="http://schemas.microsoft.com/office/drawing/2014/main" val="20003"/>
                    </a:ext>
                  </a:extLst>
                </a:gridCol>
                <a:gridCol w="227330">
                  <a:extLst>
                    <a:ext uri="{9D8B030D-6E8A-4147-A177-3AD203B41FA5}">
                      <a16:colId xmlns:a16="http://schemas.microsoft.com/office/drawing/2014/main" val="20004"/>
                    </a:ext>
                  </a:extLst>
                </a:gridCol>
                <a:gridCol w="227330">
                  <a:extLst>
                    <a:ext uri="{9D8B030D-6E8A-4147-A177-3AD203B41FA5}">
                      <a16:colId xmlns:a16="http://schemas.microsoft.com/office/drawing/2014/main" val="20005"/>
                    </a:ext>
                  </a:extLst>
                </a:gridCol>
                <a:gridCol w="227330">
                  <a:extLst>
                    <a:ext uri="{9D8B030D-6E8A-4147-A177-3AD203B41FA5}">
                      <a16:colId xmlns:a16="http://schemas.microsoft.com/office/drawing/2014/main" val="20006"/>
                    </a:ext>
                  </a:extLst>
                </a:gridCol>
                <a:gridCol w="227330">
                  <a:extLst>
                    <a:ext uri="{9D8B030D-6E8A-4147-A177-3AD203B41FA5}">
                      <a16:colId xmlns:a16="http://schemas.microsoft.com/office/drawing/2014/main" val="20007"/>
                    </a:ext>
                  </a:extLst>
                </a:gridCol>
              </a:tblGrid>
              <a:tr h="350284">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5" name="Left Brace 14"/>
          <p:cNvSpPr/>
          <p:nvPr/>
        </p:nvSpPr>
        <p:spPr>
          <a:xfrm rot="16200000">
            <a:off x="4895089" y="2823851"/>
            <a:ext cx="192023" cy="685801"/>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 name="TextBox 16"/>
              <p:cNvSpPr txBox="1"/>
              <p:nvPr/>
            </p:nvSpPr>
            <p:spPr>
              <a:xfrm>
                <a:off x="4314825" y="3166751"/>
                <a:ext cx="193357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i="1" smtClean="0">
                          <a:latin typeface="Cambria Math"/>
                        </a:rPr>
                        <m:t>l</m:t>
                      </m:r>
                      <m:r>
                        <a:rPr lang="en-US" b="0" i="1" smtClean="0">
                          <a:latin typeface="Cambria Math"/>
                        </a:rPr>
                        <m:t>𝑜𝑔𝑤</m:t>
                      </m:r>
                      <m:r>
                        <a:rPr lang="en-US" b="0" i="1" smtClean="0">
                          <a:latin typeface="Cambria Math"/>
                        </a:rPr>
                        <m:t>=</m:t>
                      </m:r>
                      <m:r>
                        <a:rPr lang="en-US" b="0" i="1" smtClean="0">
                          <a:latin typeface="Cambria Math"/>
                        </a:rPr>
                        <m:t>𝑐𝑜𝑙𝑢𝑚𝑛</m:t>
                      </m:r>
                      <m:r>
                        <a:rPr lang="en-US" b="0" i="1" smtClean="0">
                          <a:latin typeface="Cambria Math"/>
                        </a:rPr>
                        <m:t> </m:t>
                      </m:r>
                      <m:r>
                        <a:rPr lang="en-US" b="0" i="1" smtClean="0">
                          <a:latin typeface="Cambria Math"/>
                        </a:rPr>
                        <m:t>𝑗</m:t>
                      </m:r>
                    </m:oMath>
                  </m:oMathPara>
                </a14:m>
                <a:endParaRPr lang="en-US" dirty="0"/>
              </a:p>
            </p:txBody>
          </p:sp>
        </mc:Choice>
        <mc:Fallback xmlns="">
          <p:sp>
            <p:nvSpPr>
              <p:cNvPr id="17" name="TextBox 16"/>
              <p:cNvSpPr txBox="1">
                <a:spLocks noRot="1" noChangeAspect="1" noMove="1" noResize="1" noEditPoints="1" noAdjustHandles="1" noChangeArrowheads="1" noChangeShapeType="1" noTextEdit="1"/>
              </p:cNvSpPr>
              <p:nvPr/>
            </p:nvSpPr>
            <p:spPr>
              <a:xfrm>
                <a:off x="4314825" y="3166751"/>
                <a:ext cx="1933575" cy="369332"/>
              </a:xfrm>
              <a:prstGeom prst="rect">
                <a:avLst/>
              </a:prstGeom>
              <a:blipFill rotWithShape="1">
                <a:blip r:embed="rId7"/>
                <a:stretch>
                  <a:fillRect b="-11475"/>
                </a:stretch>
              </a:blipFill>
            </p:spPr>
            <p:txBody>
              <a:bodyPr/>
              <a:lstStyle/>
              <a:p>
                <a:r>
                  <a:rPr lang="zh-CN" altLang="en-US">
                    <a:noFill/>
                  </a:rPr>
                  <a:t> </a:t>
                </a:r>
              </a:p>
            </p:txBody>
          </p:sp>
        </mc:Fallback>
      </mc:AlternateContent>
      <p:cxnSp>
        <p:nvCxnSpPr>
          <p:cNvPr id="18" name="Straight Arrow Connector 17"/>
          <p:cNvCxnSpPr/>
          <p:nvPr/>
        </p:nvCxnSpPr>
        <p:spPr>
          <a:xfrm>
            <a:off x="6477000" y="2895600"/>
            <a:ext cx="914400"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Left Brace 18"/>
          <p:cNvSpPr/>
          <p:nvPr/>
        </p:nvSpPr>
        <p:spPr>
          <a:xfrm rot="16200000" flipH="1">
            <a:off x="5543552" y="2225158"/>
            <a:ext cx="247650" cy="685801"/>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TextBox 19"/>
          <p:cNvSpPr txBox="1"/>
          <p:nvPr/>
        </p:nvSpPr>
        <p:spPr>
          <a:xfrm>
            <a:off x="5161469" y="2167234"/>
            <a:ext cx="1636987" cy="276999"/>
          </a:xfrm>
          <a:prstGeom prst="rect">
            <a:avLst/>
          </a:prstGeom>
          <a:noFill/>
        </p:spPr>
        <p:txBody>
          <a:bodyPr wrap="none" rtlCol="0">
            <a:spAutoFit/>
          </a:bodyPr>
          <a:lstStyle/>
          <a:p>
            <a:r>
              <a:rPr lang="en-US" sz="1200" dirty="0"/>
              <a:t>Permutation of m bits</a:t>
            </a:r>
          </a:p>
        </p:txBody>
      </p:sp>
      <mc:AlternateContent xmlns:mc="http://schemas.openxmlformats.org/markup-compatibility/2006" xmlns:a14="http://schemas.microsoft.com/office/drawing/2010/main">
        <mc:Choice Requires="a14">
          <p:sp>
            <p:nvSpPr>
              <p:cNvPr id="22" name="TextBox 21"/>
              <p:cNvSpPr txBox="1"/>
              <p:nvPr/>
            </p:nvSpPr>
            <p:spPr>
              <a:xfrm>
                <a:off x="6480439" y="2516743"/>
                <a:ext cx="63603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a:rPr>
                        <m:t>𝑝𝑒𝑟𝑚</m:t>
                      </m:r>
                      <m:r>
                        <a:rPr lang="en-US" b="0" i="1" baseline="-25000" smtClean="0">
                          <a:latin typeface="Cambria Math"/>
                        </a:rPr>
                        <m:t>𝑖</m:t>
                      </m:r>
                    </m:oMath>
                  </m:oMathPara>
                </a14:m>
                <a:endParaRPr lang="en-US" dirty="0"/>
              </a:p>
            </p:txBody>
          </p:sp>
        </mc:Choice>
        <mc:Fallback xmlns="">
          <p:sp>
            <p:nvSpPr>
              <p:cNvPr id="22" name="TextBox 21"/>
              <p:cNvSpPr txBox="1">
                <a:spLocks noRot="1" noChangeAspect="1" noMove="1" noResize="1" noEditPoints="1" noAdjustHandles="1" noChangeArrowheads="1" noChangeShapeType="1" noTextEdit="1"/>
              </p:cNvSpPr>
              <p:nvPr/>
            </p:nvSpPr>
            <p:spPr>
              <a:xfrm>
                <a:off x="6480439" y="2516743"/>
                <a:ext cx="636033" cy="369332"/>
              </a:xfrm>
              <a:prstGeom prst="rect">
                <a:avLst/>
              </a:prstGeom>
              <a:blipFill rotWithShape="1">
                <a:blip r:embed="rId8"/>
                <a:stretch>
                  <a:fillRect r="-16346" b="-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7372350" y="2659622"/>
                <a:ext cx="1524000" cy="584775"/>
              </a:xfrm>
              <a:prstGeom prst="rect">
                <a:avLst/>
              </a:prstGeom>
              <a:noFill/>
            </p:spPr>
            <p:txBody>
              <a:bodyPr wrap="square" rtlCol="0">
                <a:spAutoFit/>
              </a:bodyPr>
              <a:lstStyle/>
              <a:p>
                <a:r>
                  <a:rPr lang="en-US" sz="1600" dirty="0"/>
                  <a:t>Set </a:t>
                </a:r>
                <a14:m>
                  <m:oMath xmlns:m="http://schemas.openxmlformats.org/officeDocument/2006/math">
                    <m:r>
                      <m:rPr>
                        <m:sty m:val="p"/>
                      </m:rPr>
                      <a:rPr lang="en-US" sz="1600" b="0" i="0" smtClean="0">
                        <a:latin typeface="Cambria Math"/>
                      </a:rPr>
                      <m:t>bm</m:t>
                    </m:r>
                    <m:r>
                      <a:rPr lang="en-US" sz="1600" b="0" i="0" smtClean="0">
                        <a:latin typeface="Cambria Math"/>
                      </a:rPr>
                      <m:t>[</m:t>
                    </m:r>
                    <m:r>
                      <m:rPr>
                        <m:sty m:val="p"/>
                      </m:rPr>
                      <a:rPr lang="en-US" sz="1600" b="0" i="0" smtClean="0">
                        <a:latin typeface="Cambria Math"/>
                      </a:rPr>
                      <m:t>i</m:t>
                    </m:r>
                    <m:r>
                      <a:rPr lang="en-US" sz="1600" b="0" i="0" smtClean="0">
                        <a:latin typeface="Cambria Math"/>
                      </a:rPr>
                      <m:t>,</m:t>
                    </m:r>
                    <m:r>
                      <m:rPr>
                        <m:sty m:val="p"/>
                      </m:rPr>
                      <a:rPr lang="en-US" sz="1600" b="0" i="0" smtClean="0">
                        <a:latin typeface="Cambria Math"/>
                      </a:rPr>
                      <m:t>j</m:t>
                    </m:r>
                    <m:r>
                      <a:rPr lang="en-US" sz="1600" b="0" i="0" smtClean="0">
                        <a:latin typeface="Cambria Math"/>
                      </a:rPr>
                      <m:t>]</m:t>
                    </m:r>
                  </m:oMath>
                </a14:m>
                <a:r>
                  <a:rPr lang="en-US" sz="1600" dirty="0"/>
                  <a:t> to1</a:t>
                </a:r>
              </a:p>
              <a:p>
                <a:r>
                  <a:rPr lang="en-US" sz="1600" dirty="0"/>
                  <a:t>And </a:t>
                </a:r>
                <a14:m>
                  <m:oMath xmlns:m="http://schemas.openxmlformats.org/officeDocument/2006/math">
                    <m:r>
                      <m:rPr>
                        <m:sty m:val="p"/>
                      </m:rPr>
                      <a:rPr lang="en-US" sz="1600" b="0" i="0" smtClean="0">
                        <a:latin typeface="Cambria Math"/>
                      </a:rPr>
                      <m:t>su</m:t>
                    </m:r>
                    <m:r>
                      <m:rPr>
                        <m:sty m:val="p"/>
                      </m:rPr>
                      <a:rPr lang="en-US" sz="1600">
                        <a:latin typeface="Cambria Math"/>
                      </a:rPr>
                      <m:t>m</m:t>
                    </m:r>
                    <m:r>
                      <a:rPr lang="en-US" sz="1600" b="0" i="0" smtClean="0">
                        <a:latin typeface="Cambria Math"/>
                      </a:rPr>
                      <m:t>+1</m:t>
                    </m:r>
                  </m:oMath>
                </a14:m>
                <a:endParaRPr lang="en-US" sz="1600" dirty="0"/>
              </a:p>
            </p:txBody>
          </p:sp>
        </mc:Choice>
        <mc:Fallback xmlns="">
          <p:sp>
            <p:nvSpPr>
              <p:cNvPr id="23" name="TextBox 22"/>
              <p:cNvSpPr txBox="1">
                <a:spLocks noRot="1" noChangeAspect="1" noMove="1" noResize="1" noEditPoints="1" noAdjustHandles="1" noChangeArrowheads="1" noChangeShapeType="1" noTextEdit="1"/>
              </p:cNvSpPr>
              <p:nvPr/>
            </p:nvSpPr>
            <p:spPr>
              <a:xfrm>
                <a:off x="7372350" y="2659622"/>
                <a:ext cx="1524000" cy="584775"/>
              </a:xfrm>
              <a:prstGeom prst="rect">
                <a:avLst/>
              </a:prstGeom>
              <a:blipFill rotWithShape="1">
                <a:blip r:embed="rId9"/>
                <a:stretch>
                  <a:fillRect l="-2000" t="-3125" b="-1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p:cNvSpPr txBox="1"/>
              <p:nvPr/>
            </p:nvSpPr>
            <p:spPr>
              <a:xfrm>
                <a:off x="1059476" y="4495801"/>
                <a:ext cx="5874724" cy="1200329"/>
              </a:xfrm>
              <a:prstGeom prst="rect">
                <a:avLst/>
              </a:prstGeom>
              <a:noFill/>
            </p:spPr>
            <p:txBody>
              <a:bodyPr wrap="square" rtlCol="0">
                <a:spAutoFit/>
              </a:bodyPr>
              <a:lstStyle/>
              <a:p>
                <a:pPr marL="342900" indent="-342900">
                  <a:buAutoNum type="arabicPeriod"/>
                </a:pPr>
                <a:r>
                  <a:rPr lang="en-US" dirty="0"/>
                  <a:t>Apply Hash function and locates </a:t>
                </a:r>
                <a14:m>
                  <m:oMath xmlns:m="http://schemas.openxmlformats.org/officeDocument/2006/math">
                    <m:r>
                      <m:rPr>
                        <m:sty m:val="p"/>
                      </m:rPr>
                      <a:rPr lang="en-US" altLang="zh-CN" b="0" i="0" smtClean="0">
                        <a:latin typeface="Cambria Math"/>
                      </a:rPr>
                      <m:t>cell</m:t>
                    </m:r>
                    <m:r>
                      <a:rPr lang="en-US" altLang="zh-CN">
                        <a:latin typeface="Cambria Math"/>
                      </a:rPr>
                      <m:t>[</m:t>
                    </m:r>
                    <m:r>
                      <m:rPr>
                        <m:sty m:val="p"/>
                      </m:rPr>
                      <a:rPr lang="en-US" altLang="zh-CN">
                        <a:latin typeface="Cambria Math"/>
                      </a:rPr>
                      <m:t>i</m:t>
                    </m:r>
                    <m:r>
                      <a:rPr lang="en-US" altLang="zh-CN">
                        <a:latin typeface="Cambria Math"/>
                      </a:rPr>
                      <m:t>,</m:t>
                    </m:r>
                    <m:r>
                      <m:rPr>
                        <m:sty m:val="p"/>
                      </m:rPr>
                      <a:rPr lang="en-US" altLang="zh-CN">
                        <a:latin typeface="Cambria Math"/>
                      </a:rPr>
                      <m:t>j</m:t>
                    </m:r>
                    <m:r>
                      <a:rPr lang="en-US" altLang="zh-CN">
                        <a:latin typeface="Cambria Math"/>
                      </a:rPr>
                      <m:t>]</m:t>
                    </m:r>
                    <m:r>
                      <a:rPr lang="en-US" altLang="zh-CN" i="1">
                        <a:latin typeface="Cambria Math"/>
                      </a:rPr>
                      <m:t> </m:t>
                    </m:r>
                  </m:oMath>
                </a14:m>
                <a:r>
                  <a:rPr lang="en-US" dirty="0"/>
                  <a:t>and </a:t>
                </a:r>
                <a14:m>
                  <m:oMath xmlns:m="http://schemas.openxmlformats.org/officeDocument/2006/math">
                    <m:r>
                      <m:rPr>
                        <m:sty m:val="p"/>
                      </m:rPr>
                      <a:rPr lang="en-US" altLang="zh-CN">
                        <a:latin typeface="Cambria Math"/>
                      </a:rPr>
                      <m:t>bm</m:t>
                    </m:r>
                    <m:r>
                      <a:rPr lang="en-US" altLang="zh-CN">
                        <a:latin typeface="Cambria Math"/>
                      </a:rPr>
                      <m:t>[</m:t>
                    </m:r>
                    <m:r>
                      <m:rPr>
                        <m:sty m:val="p"/>
                      </m:rPr>
                      <a:rPr lang="en-US" altLang="zh-CN">
                        <a:latin typeface="Cambria Math"/>
                      </a:rPr>
                      <m:t>i</m:t>
                    </m:r>
                    <m:r>
                      <a:rPr lang="en-US" altLang="zh-CN">
                        <a:latin typeface="Cambria Math"/>
                      </a:rPr>
                      <m:t>,</m:t>
                    </m:r>
                    <m:r>
                      <m:rPr>
                        <m:sty m:val="p"/>
                      </m:rPr>
                      <a:rPr lang="en-US" altLang="zh-CN">
                        <a:latin typeface="Cambria Math"/>
                      </a:rPr>
                      <m:t>j</m:t>
                    </m:r>
                    <m:r>
                      <a:rPr lang="en-US" altLang="zh-CN">
                        <a:latin typeface="Cambria Math"/>
                      </a:rPr>
                      <m:t>]</m:t>
                    </m:r>
                  </m:oMath>
                </a14:m>
                <a:endParaRPr lang="en-US" dirty="0"/>
              </a:p>
              <a:p>
                <a:pPr marL="342900" indent="-342900">
                  <a:buAutoNum type="arabicPeriod"/>
                </a:pPr>
                <a:r>
                  <a:rPr lang="en-US" dirty="0"/>
                  <a:t>Apply reverse of the permutation on </a:t>
                </a:r>
                <a14:m>
                  <m:oMath xmlns:m="http://schemas.openxmlformats.org/officeDocument/2006/math">
                    <m:r>
                      <m:rPr>
                        <m:sty m:val="p"/>
                      </m:rPr>
                      <a:rPr lang="en-US" altLang="zh-CN">
                        <a:latin typeface="Cambria Math"/>
                      </a:rPr>
                      <m:t>bm</m:t>
                    </m:r>
                    <m:r>
                      <a:rPr lang="en-US" altLang="zh-CN">
                        <a:latin typeface="Cambria Math"/>
                      </a:rPr>
                      <m:t>[</m:t>
                    </m:r>
                    <m:r>
                      <m:rPr>
                        <m:sty m:val="p"/>
                      </m:rPr>
                      <a:rPr lang="en-US" altLang="zh-CN">
                        <a:latin typeface="Cambria Math"/>
                      </a:rPr>
                      <m:t>i</m:t>
                    </m:r>
                    <m:r>
                      <a:rPr lang="en-US" altLang="zh-CN">
                        <a:latin typeface="Cambria Math"/>
                      </a:rPr>
                      <m:t>,</m:t>
                    </m:r>
                    <m:r>
                      <m:rPr>
                        <m:sty m:val="p"/>
                      </m:rPr>
                      <a:rPr lang="en-US" altLang="zh-CN">
                        <a:latin typeface="Cambria Math"/>
                      </a:rPr>
                      <m:t>j</m:t>
                    </m:r>
                    <m:r>
                      <a:rPr lang="en-US" altLang="zh-CN">
                        <a:latin typeface="Cambria Math"/>
                      </a:rPr>
                      <m:t>]</m:t>
                    </m:r>
                  </m:oMath>
                </a14:m>
                <a:endParaRPr lang="en-US" dirty="0"/>
              </a:p>
              <a:p>
                <a:pPr marL="342900" indent="-342900">
                  <a:buAutoNum type="arabicPeriod"/>
                </a:pPr>
                <a:r>
                  <a:rPr lang="en-US" dirty="0"/>
                  <a:t>Do a bitwise AND over k recovered bitmaps to estimate the group membership and group count</a:t>
                </a:r>
              </a:p>
            </p:txBody>
          </p:sp>
        </mc:Choice>
        <mc:Fallback xmlns="">
          <p:sp>
            <p:nvSpPr>
              <p:cNvPr id="24" name="TextBox 23"/>
              <p:cNvSpPr txBox="1">
                <a:spLocks noRot="1" noChangeAspect="1" noMove="1" noResize="1" noEditPoints="1" noAdjustHandles="1" noChangeArrowheads="1" noChangeShapeType="1" noTextEdit="1"/>
              </p:cNvSpPr>
              <p:nvPr/>
            </p:nvSpPr>
            <p:spPr>
              <a:xfrm>
                <a:off x="1059476" y="4495801"/>
                <a:ext cx="5874724" cy="1200329"/>
              </a:xfrm>
              <a:prstGeom prst="rect">
                <a:avLst/>
              </a:prstGeom>
              <a:blipFill rotWithShape="1">
                <a:blip r:embed="rId10"/>
                <a:stretch>
                  <a:fillRect l="-726" t="-2551" b="-7143"/>
                </a:stretch>
              </a:blipFill>
            </p:spPr>
            <p:txBody>
              <a:bodyPr/>
              <a:lstStyle/>
              <a:p>
                <a:r>
                  <a:rPr lang="zh-CN" altLang="en-US">
                    <a:noFill/>
                  </a:rPr>
                  <a:t> </a:t>
                </a:r>
              </a:p>
            </p:txBody>
          </p:sp>
        </mc:Fallback>
      </mc:AlternateContent>
      <p:pic>
        <p:nvPicPr>
          <p:cNvPr id="21" name="Picture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584936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pPr>
              <a:spcAft>
                <a:spcPts val="3000"/>
              </a:spcAft>
            </a:pPr>
            <a:r>
              <a:rPr lang="en-US" sz="2000" dirty="0"/>
              <a:t>Motivation</a:t>
            </a:r>
          </a:p>
          <a:p>
            <a:pPr>
              <a:spcAft>
                <a:spcPts val="3000"/>
              </a:spcAft>
            </a:pPr>
            <a:r>
              <a:rPr lang="en-US" sz="2000" dirty="0">
                <a:latin typeface="+mj-lt"/>
              </a:rPr>
              <a:t>Regular Model and Regularity Score</a:t>
            </a:r>
          </a:p>
          <a:p>
            <a:pPr lvl="0">
              <a:spcAft>
                <a:spcPts val="3000"/>
              </a:spcAft>
            </a:pPr>
            <a:r>
              <a:rPr lang="en-US" sz="2000" dirty="0"/>
              <a:t>Further Enhancements</a:t>
            </a:r>
          </a:p>
          <a:p>
            <a:r>
              <a:rPr lang="en-US" sz="2000" dirty="0">
                <a:solidFill>
                  <a:srgbClr val="FF0000"/>
                </a:solidFill>
              </a:rPr>
              <a:t>Experiments</a:t>
            </a:r>
          </a:p>
        </p:txBody>
      </p:sp>
      <p:sp>
        <p:nvSpPr>
          <p:cNvPr id="4" name="Slide Number Placeholder 3"/>
          <p:cNvSpPr>
            <a:spLocks noGrp="1"/>
          </p:cNvSpPr>
          <p:nvPr>
            <p:ph type="sldNum" sz="quarter" idx="12"/>
          </p:nvPr>
        </p:nvSpPr>
        <p:spPr/>
        <p:txBody>
          <a:bodyPr/>
          <a:lstStyle/>
          <a:p>
            <a:fld id="{32B29A66-CFD5-4F33-88E2-E7F8EEB50249}" type="slidenum">
              <a:rPr lang="en-US" altLang="en-US" smtClean="0"/>
              <a:pPr/>
              <a:t>19</a:t>
            </a:fld>
            <a:endParaRPr lang="en-US" altLang="en-US"/>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226473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Datasets</a:t>
            </a:r>
          </a:p>
        </p:txBody>
      </p:sp>
      <p:sp>
        <p:nvSpPr>
          <p:cNvPr id="3" name="Content Placeholder 2"/>
          <p:cNvSpPr>
            <a:spLocks noGrp="1"/>
          </p:cNvSpPr>
          <p:nvPr>
            <p:ph idx="1"/>
          </p:nvPr>
        </p:nvSpPr>
        <p:spPr/>
        <p:txBody>
          <a:bodyPr/>
          <a:lstStyle/>
          <a:p>
            <a:r>
              <a:rPr lang="en-US" dirty="0"/>
              <a:t>2 real world datasets</a:t>
            </a:r>
          </a:p>
          <a:p>
            <a:pPr lvl="1"/>
            <a:r>
              <a:rPr lang="en-US" dirty="0"/>
              <a:t>Smart </a:t>
            </a:r>
            <a:r>
              <a:rPr lang="en-US"/>
              <a:t>House Dataset</a:t>
            </a:r>
            <a:endParaRPr lang="en-US" dirty="0"/>
          </a:p>
          <a:p>
            <a:pPr lvl="2"/>
            <a:r>
              <a:rPr lang="en-US" altLang="zh-CN" sz="2000" dirty="0"/>
              <a:t>77 and 84 sensor data collection boards equipped with reed switch sensors were installed in two single-person apartments collecting data about human activity for two weeks.</a:t>
            </a:r>
          </a:p>
          <a:p>
            <a:pPr marL="344487" lvl="1" indent="0">
              <a:buNone/>
            </a:pPr>
            <a:endParaRPr lang="en-US" dirty="0"/>
          </a:p>
          <a:p>
            <a:pPr lvl="1"/>
            <a:r>
              <a:rPr lang="en-US" dirty="0"/>
              <a:t>Microsoft Research GPS Dataset</a:t>
            </a:r>
          </a:p>
          <a:p>
            <a:pPr lvl="2"/>
            <a:r>
              <a:rPr lang="en-US" sz="2000" dirty="0"/>
              <a:t>GPS trajectory dataset collected in (Microsoft Research Asia) </a:t>
            </a:r>
            <a:r>
              <a:rPr lang="en-US" sz="2000" dirty="0" err="1">
                <a:solidFill>
                  <a:srgbClr val="FF0000"/>
                </a:solidFill>
              </a:rPr>
              <a:t>Geolife</a:t>
            </a:r>
            <a:r>
              <a:rPr lang="en-US" sz="2000" dirty="0">
                <a:solidFill>
                  <a:srgbClr val="FF0000"/>
                </a:solidFill>
              </a:rPr>
              <a:t> </a:t>
            </a:r>
            <a:r>
              <a:rPr lang="en-US" sz="2000" dirty="0"/>
              <a:t>project by 182 users over five years</a:t>
            </a:r>
          </a:p>
        </p:txBody>
      </p:sp>
      <p:sp>
        <p:nvSpPr>
          <p:cNvPr id="4" name="Slide Number Placeholder 3"/>
          <p:cNvSpPr>
            <a:spLocks noGrp="1"/>
          </p:cNvSpPr>
          <p:nvPr>
            <p:ph type="sldNum" sz="quarter" idx="12"/>
          </p:nvPr>
        </p:nvSpPr>
        <p:spPr/>
        <p:txBody>
          <a:bodyPr/>
          <a:lstStyle/>
          <a:p>
            <a:fld id="{32B29A66-CFD5-4F33-88E2-E7F8EEB50249}" type="slidenum">
              <a:rPr lang="en-US" altLang="en-US" smtClean="0"/>
              <a:pPr/>
              <a:t>20</a:t>
            </a:fld>
            <a:endParaRPr lang="en-US" altLang="en-US"/>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035823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Results—</a:t>
            </a:r>
            <a:r>
              <a:rPr lang="en-US" altLang="zh-CN" dirty="0"/>
              <a:t>Event Hierarchy Tree</a:t>
            </a:r>
            <a:endParaRPr lang="zh-CN" altLang="en-US" dirty="0"/>
          </a:p>
        </p:txBody>
      </p:sp>
      <p:sp>
        <p:nvSpPr>
          <p:cNvPr id="4" name="灯片编号占位符 3"/>
          <p:cNvSpPr>
            <a:spLocks noGrp="1"/>
          </p:cNvSpPr>
          <p:nvPr>
            <p:ph type="sldNum" sz="quarter" idx="12"/>
          </p:nvPr>
        </p:nvSpPr>
        <p:spPr/>
        <p:txBody>
          <a:bodyPr/>
          <a:lstStyle/>
          <a:p>
            <a:fld id="{32B29A66-CFD5-4F33-88E2-E7F8EEB50249}" type="slidenum">
              <a:rPr lang="en-US" altLang="en-US" smtClean="0"/>
              <a:pPr/>
              <a:t>21</a:t>
            </a:fld>
            <a:endParaRPr lang="en-US" altLang="en-US"/>
          </a:p>
        </p:txBody>
      </p:sp>
      <p:pic>
        <p:nvPicPr>
          <p:cNvPr id="4098"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57200" y="2133600"/>
            <a:ext cx="8229600" cy="34686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947138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Results—Regular Model</a:t>
            </a:r>
          </a:p>
        </p:txBody>
      </p:sp>
      <p:sp>
        <p:nvSpPr>
          <p:cNvPr id="4" name="Slide Number Placeholder 3"/>
          <p:cNvSpPr>
            <a:spLocks noGrp="1"/>
          </p:cNvSpPr>
          <p:nvPr>
            <p:ph type="sldNum" sz="quarter" idx="12"/>
          </p:nvPr>
        </p:nvSpPr>
        <p:spPr/>
        <p:txBody>
          <a:bodyPr/>
          <a:lstStyle/>
          <a:p>
            <a:fld id="{32B29A66-CFD5-4F33-88E2-E7F8EEB50249}" type="slidenum">
              <a:rPr lang="en-US" altLang="en-US" smtClean="0"/>
              <a:pPr/>
              <a:t>22</a:t>
            </a:fld>
            <a:endParaRPr lang="en-US" alt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524000"/>
            <a:ext cx="6372225" cy="4600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226981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a:t>
            </a:r>
          </a:p>
        </p:txBody>
      </p:sp>
      <p:sp>
        <p:nvSpPr>
          <p:cNvPr id="4" name="Slide Number Placeholder 3"/>
          <p:cNvSpPr>
            <a:spLocks noGrp="1"/>
          </p:cNvSpPr>
          <p:nvPr>
            <p:ph type="sldNum" sz="quarter" idx="12"/>
          </p:nvPr>
        </p:nvSpPr>
        <p:spPr/>
        <p:txBody>
          <a:bodyPr/>
          <a:lstStyle/>
          <a:p>
            <a:fld id="{32B29A66-CFD5-4F33-88E2-E7F8EEB50249}" type="slidenum">
              <a:rPr lang="en-US" altLang="en-US" smtClean="0"/>
              <a:pPr/>
              <a:t>23</a:t>
            </a:fld>
            <a:endParaRPr lang="en-US" altLang="en-US"/>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036366"/>
            <a:ext cx="4953000" cy="22117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65700" y="2133600"/>
            <a:ext cx="4226940" cy="21227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110772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a:t>
            </a:r>
          </a:p>
        </p:txBody>
      </p:sp>
      <p:sp>
        <p:nvSpPr>
          <p:cNvPr id="4" name="Slide Number Placeholder 3"/>
          <p:cNvSpPr>
            <a:spLocks noGrp="1"/>
          </p:cNvSpPr>
          <p:nvPr>
            <p:ph type="sldNum" sz="quarter" idx="12"/>
          </p:nvPr>
        </p:nvSpPr>
        <p:spPr/>
        <p:txBody>
          <a:bodyPr/>
          <a:lstStyle/>
          <a:p>
            <a:fld id="{32B29A66-CFD5-4F33-88E2-E7F8EEB50249}" type="slidenum">
              <a:rPr lang="en-US" altLang="en-US" smtClean="0"/>
              <a:pPr/>
              <a:t>24</a:t>
            </a:fld>
            <a:endParaRPr lang="en-US" altLang="en-US"/>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 y="1819275"/>
            <a:ext cx="9029700" cy="3219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569561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a:t>
            </a:r>
          </a:p>
        </p:txBody>
      </p:sp>
      <p:sp>
        <p:nvSpPr>
          <p:cNvPr id="4" name="Slide Number Placeholder 3"/>
          <p:cNvSpPr>
            <a:spLocks noGrp="1"/>
          </p:cNvSpPr>
          <p:nvPr>
            <p:ph type="sldNum" sz="quarter" idx="12"/>
          </p:nvPr>
        </p:nvSpPr>
        <p:spPr/>
        <p:txBody>
          <a:bodyPr/>
          <a:lstStyle/>
          <a:p>
            <a:fld id="{32B29A66-CFD5-4F33-88E2-E7F8EEB50249}" type="slidenum">
              <a:rPr lang="en-US" altLang="en-US" smtClean="0"/>
              <a:pPr/>
              <a:t>25</a:t>
            </a:fld>
            <a:endParaRPr lang="en-US" altLang="en-US"/>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313" y="2133600"/>
            <a:ext cx="8715375" cy="2590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30878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p>
        </p:txBody>
      </p:sp>
      <p:sp>
        <p:nvSpPr>
          <p:cNvPr id="3" name="Content Placeholder 2"/>
          <p:cNvSpPr>
            <a:spLocks noGrp="1"/>
          </p:cNvSpPr>
          <p:nvPr>
            <p:ph idx="1"/>
          </p:nvPr>
        </p:nvSpPr>
        <p:spPr/>
        <p:txBody>
          <a:bodyPr/>
          <a:lstStyle/>
          <a:p>
            <a:r>
              <a:rPr lang="en-US" altLang="zh-CN" sz="2400" dirty="0"/>
              <a:t>Finding event </a:t>
            </a:r>
            <a:r>
              <a:rPr lang="en-US" altLang="zh-CN" sz="2400" dirty="0">
                <a:solidFill>
                  <a:srgbClr val="FF0000"/>
                </a:solidFill>
              </a:rPr>
              <a:t>regular model</a:t>
            </a:r>
            <a:r>
              <a:rPr lang="en-US" altLang="zh-CN" sz="2400" dirty="0"/>
              <a:t> and </a:t>
            </a:r>
            <a:r>
              <a:rPr lang="en-US" altLang="zh-CN" sz="2400" dirty="0">
                <a:solidFill>
                  <a:srgbClr val="FF0000"/>
                </a:solidFill>
              </a:rPr>
              <a:t>detecting irregular events</a:t>
            </a:r>
            <a:r>
              <a:rPr lang="en-US" sz="2400" dirty="0"/>
              <a:t> in a time unit is needed in modern applications.</a:t>
            </a:r>
          </a:p>
          <a:p>
            <a:endParaRPr lang="en-US" sz="2400" dirty="0"/>
          </a:p>
          <a:p>
            <a:r>
              <a:rPr lang="en-US" sz="2400" dirty="0"/>
              <a:t>We use conceptual clustering to build an </a:t>
            </a:r>
            <a:r>
              <a:rPr lang="en-US" sz="2400" dirty="0">
                <a:solidFill>
                  <a:srgbClr val="FF0000"/>
                </a:solidFill>
              </a:rPr>
              <a:t>event hierarchy tree</a:t>
            </a:r>
            <a:r>
              <a:rPr lang="en-US" sz="2400" dirty="0"/>
              <a:t>.</a:t>
            </a:r>
          </a:p>
          <a:p>
            <a:endParaRPr lang="en-US" sz="2400" dirty="0"/>
          </a:p>
          <a:p>
            <a:r>
              <a:rPr lang="en-US" sz="2400" dirty="0"/>
              <a:t>An easily parallelizable message passing framework algorithm to build a </a:t>
            </a:r>
            <a:r>
              <a:rPr lang="en-US" sz="2400" dirty="0">
                <a:solidFill>
                  <a:srgbClr val="FF0000"/>
                </a:solidFill>
              </a:rPr>
              <a:t>regular model </a:t>
            </a:r>
            <a:r>
              <a:rPr lang="en-US" sz="2400" dirty="0"/>
              <a:t>and an algorithm method to compute </a:t>
            </a:r>
            <a:r>
              <a:rPr lang="en-US" sz="2400" dirty="0">
                <a:solidFill>
                  <a:srgbClr val="FF0000"/>
                </a:solidFill>
              </a:rPr>
              <a:t>regularity</a:t>
            </a:r>
            <a:r>
              <a:rPr lang="en-US" sz="2400" dirty="0"/>
              <a:t>.</a:t>
            </a:r>
          </a:p>
          <a:p>
            <a:endParaRPr lang="en-US" sz="2400" dirty="0"/>
          </a:p>
          <a:p>
            <a:r>
              <a:rPr lang="en-US" sz="2400" dirty="0"/>
              <a:t>Time and space saving methods.</a:t>
            </a:r>
          </a:p>
          <a:p>
            <a:endParaRPr lang="en-US" sz="2400" dirty="0"/>
          </a:p>
        </p:txBody>
      </p:sp>
      <p:sp>
        <p:nvSpPr>
          <p:cNvPr id="4" name="Slide Number Placeholder 3"/>
          <p:cNvSpPr>
            <a:spLocks noGrp="1"/>
          </p:cNvSpPr>
          <p:nvPr>
            <p:ph type="sldNum" sz="quarter" idx="12"/>
          </p:nvPr>
        </p:nvSpPr>
        <p:spPr/>
        <p:txBody>
          <a:bodyPr/>
          <a:lstStyle/>
          <a:p>
            <a:fld id="{32B29A66-CFD5-4F33-88E2-E7F8EEB50249}" type="slidenum">
              <a:rPr lang="en-US" altLang="en-US" smtClean="0"/>
              <a:pPr/>
              <a:t>26</a:t>
            </a:fld>
            <a:endParaRPr lang="en-US" altLang="en-US"/>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781815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438400"/>
            <a:ext cx="8229600" cy="1905000"/>
          </a:xfrm>
        </p:spPr>
        <p:txBody>
          <a:bodyPr/>
          <a:lstStyle/>
          <a:p>
            <a:r>
              <a:rPr lang="en-US" dirty="0"/>
              <a:t>Thank you!</a:t>
            </a:r>
            <a:br>
              <a:rPr lang="en-US" dirty="0"/>
            </a:br>
            <a:br>
              <a:rPr lang="en-US" dirty="0"/>
            </a:br>
            <a:br>
              <a:rPr lang="en-US" dirty="0"/>
            </a:br>
            <a:r>
              <a:rPr lang="en-US" dirty="0"/>
              <a:t>Questions?</a:t>
            </a: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6477000"/>
            <a:ext cx="175260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056416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Deep Blue -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umasslowellwhite</Template>
  <TotalTime>2364</TotalTime>
  <Words>3177</Words>
  <Application>Microsoft Macintosh PowerPoint</Application>
  <PresentationFormat>On-screen Show (4:3)</PresentationFormat>
  <Paragraphs>409</Paragraphs>
  <Slides>27</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Cambria Math</vt:lpstr>
      <vt:lpstr>Verdana</vt:lpstr>
      <vt:lpstr>Deep Blue - Template</vt:lpstr>
      <vt:lpstr>Event Regularity and Irregularity in a Time Unit</vt:lpstr>
      <vt:lpstr>Outline</vt:lpstr>
      <vt:lpstr>The Need to Make Use of Sensors and Data</vt:lpstr>
      <vt:lpstr>Relational Sequence Data</vt:lpstr>
      <vt:lpstr>Example</vt:lpstr>
      <vt:lpstr>Example</vt:lpstr>
      <vt:lpstr>Outline</vt:lpstr>
      <vt:lpstr>Our Proposal</vt:lpstr>
      <vt:lpstr>Event Hierarchy Tree</vt:lpstr>
      <vt:lpstr>Conceptual Clustering—COBWEB</vt:lpstr>
      <vt:lpstr>Building a Regular Model</vt:lpstr>
      <vt:lpstr>Building a Regular Model</vt:lpstr>
      <vt:lpstr>Building a Regular Model</vt:lpstr>
      <vt:lpstr>Building a Regular Model</vt:lpstr>
      <vt:lpstr>Regular Score and Irregular Events</vt:lpstr>
      <vt:lpstr>Outline</vt:lpstr>
      <vt:lpstr>Further Enhancement—Early Stop</vt:lpstr>
      <vt:lpstr>Further Enhancement—BBS</vt:lpstr>
      <vt:lpstr>Outline</vt:lpstr>
      <vt:lpstr>Datasets</vt:lpstr>
      <vt:lpstr>Results—Event Hierarchy Tree</vt:lpstr>
      <vt:lpstr>Results—Regular Model</vt:lpstr>
      <vt:lpstr>Results</vt:lpstr>
      <vt:lpstr>Results</vt:lpstr>
      <vt:lpstr>Results</vt:lpstr>
      <vt:lpstr>Conclusion</vt:lpstr>
      <vt:lpstr>Thank you!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Aroma: A New Data Protection Method with Differential Privacy and Accurate Query Answering</dc:title>
  <dc:creator>Chunyao Song</dc:creator>
  <cp:lastModifiedBy>Ryan Balachandran</cp:lastModifiedBy>
  <cp:revision>374</cp:revision>
  <dcterms:created xsi:type="dcterms:W3CDTF">2014-10-19T19:57:28Z</dcterms:created>
  <dcterms:modified xsi:type="dcterms:W3CDTF">2021-11-26T20:43:53Z</dcterms:modified>
</cp:coreProperties>
</file>