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4"/>
  </p:notesMasterIdLst>
  <p:sldIdLst>
    <p:sldId id="256" r:id="rId2"/>
    <p:sldId id="257" r:id="rId3"/>
    <p:sldId id="258" r:id="rId4"/>
    <p:sldId id="265" r:id="rId5"/>
    <p:sldId id="269" r:id="rId6"/>
    <p:sldId id="259" r:id="rId7"/>
    <p:sldId id="262" r:id="rId8"/>
    <p:sldId id="261" r:id="rId9"/>
    <p:sldId id="263" r:id="rId10"/>
    <p:sldId id="264" r:id="rId11"/>
    <p:sldId id="270" r:id="rId12"/>
    <p:sldId id="267" r:id="rId13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EEE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中度样式 4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060"/>
    <p:restoredTop sz="77289" autoAdjust="0"/>
  </p:normalViewPr>
  <p:slideViewPr>
    <p:cSldViewPr>
      <p:cViewPr varScale="1">
        <p:scale>
          <a:sx n="114" d="100"/>
          <a:sy n="114" d="100"/>
        </p:scale>
        <p:origin x="2872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265CF0-04C3-4C7F-A350-F1DFF84C2BC0}" type="datetimeFigureOut">
              <a:rPr lang="zh-CN" altLang="en-US" smtClean="0"/>
              <a:pPr/>
              <a:t>2021/11/12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E51B17-16D2-40D1-98D4-FA4D9DA21A47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42045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E51B17-16D2-40D1-98D4-FA4D9DA21A47}" type="slidenum">
              <a:rPr lang="zh-CN" altLang="en-US" smtClean="0"/>
              <a:pPr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72619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E51B17-16D2-40D1-98D4-FA4D9DA21A47}" type="slidenum">
              <a:rPr lang="zh-CN" altLang="en-US" smtClean="0"/>
              <a:pPr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50308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E51B17-16D2-40D1-98D4-FA4D9DA21A47}" type="slidenum">
              <a:rPr lang="zh-CN" altLang="en-US" smtClean="0"/>
              <a:pPr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52000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E51B17-16D2-40D1-98D4-FA4D9DA21A47}" type="slidenum">
              <a:rPr lang="zh-CN" altLang="en-US" smtClean="0"/>
              <a:pPr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99827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E51B17-16D2-40D1-98D4-FA4D9DA21A47}" type="slidenum">
              <a:rPr lang="zh-CN" altLang="en-US" smtClean="0"/>
              <a:pPr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468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E51B17-16D2-40D1-98D4-FA4D9DA21A47}" type="slidenum">
              <a:rPr lang="zh-CN" altLang="en-US" smtClean="0"/>
              <a:pPr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247663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E51B17-16D2-40D1-98D4-FA4D9DA21A47}" type="slidenum">
              <a:rPr lang="zh-CN" altLang="en-US" smtClean="0"/>
              <a:pPr/>
              <a:t>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E51B17-16D2-40D1-98D4-FA4D9DA21A47}" type="slidenum">
              <a:rPr lang="zh-CN" altLang="en-US" smtClean="0"/>
              <a:pPr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992601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E51B17-16D2-40D1-98D4-FA4D9DA21A47}" type="slidenum">
              <a:rPr lang="zh-CN" altLang="en-US" smtClean="0"/>
              <a:pPr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402973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E51B17-16D2-40D1-98D4-FA4D9DA21A47}" type="slidenum">
              <a:rPr lang="zh-CN" altLang="en-US" smtClean="0"/>
              <a:pPr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794943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E51B17-16D2-40D1-98D4-FA4D9DA21A47}" type="slidenum">
              <a:rPr lang="zh-CN" altLang="en-US" smtClean="0"/>
              <a:pPr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896514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E51B17-16D2-40D1-98D4-FA4D9DA21A47}" type="slidenum">
              <a:rPr lang="zh-CN" altLang="en-US" smtClean="0"/>
              <a:pPr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61054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17" name="副标题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zh-CN" altLang="en-US"/>
              <a:t>单击此处编辑母版副标题样式</a:t>
            </a:r>
            <a:endParaRPr kumimoji="0" lang="en-US"/>
          </a:p>
        </p:txBody>
      </p:sp>
      <p:sp>
        <p:nvSpPr>
          <p:cNvPr id="30" name="日期占位符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78589A-8C27-47A8-AF1B-207927E653D9}" type="datetime1">
              <a:rPr lang="zh-CN" altLang="en-US" smtClean="0"/>
              <a:pPr/>
              <a:t>2021/11/12</a:t>
            </a:fld>
            <a:endParaRPr lang="zh-CN" altLang="en-US"/>
          </a:p>
        </p:txBody>
      </p:sp>
      <p:sp>
        <p:nvSpPr>
          <p:cNvPr id="19" name="页脚占位符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7" name="灯片编号占位符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AC7E7-C2F4-4332-9F19-0888F2C32627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6DD16-B9C1-415D-B081-4E972037AA23}" type="datetime1">
              <a:rPr lang="zh-CN" altLang="en-US" smtClean="0"/>
              <a:pPr/>
              <a:t>2021/11/12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AC7E7-C2F4-4332-9F19-0888F2C32627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912B2D-CDD5-441A-8364-691E015FAF38}" type="datetime1">
              <a:rPr lang="zh-CN" altLang="en-US" smtClean="0"/>
              <a:pPr/>
              <a:t>2021/11/12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AC7E7-C2F4-4332-9F19-0888F2C32627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8A91AE-688D-449E-848A-F4F5884E16AF}" type="datetime1">
              <a:rPr lang="zh-CN" altLang="en-US" smtClean="0"/>
              <a:pPr/>
              <a:t>2021/11/12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AC7E7-C2F4-4332-9F19-0888F2C32627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A18DB1-42AF-4E26-99B3-320C4C29D19A}" type="datetime1">
              <a:rPr lang="zh-CN" altLang="en-US" smtClean="0"/>
              <a:pPr/>
              <a:t>2021/11/12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AC7E7-C2F4-4332-9F19-0888F2C32627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626DD-F9D2-48E0-B2C4-BBFA9B7EDD9F}" type="datetime1">
              <a:rPr lang="zh-CN" altLang="en-US" smtClean="0"/>
              <a:pPr/>
              <a:t>2021/11/12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AC7E7-C2F4-4332-9F19-0888F2C32627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4C83AB-6205-4ACE-805E-8C9F00B6DAC6}" type="datetime1">
              <a:rPr lang="zh-CN" altLang="en-US" smtClean="0"/>
              <a:pPr/>
              <a:t>2021/11/12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AC7E7-C2F4-4332-9F19-0888F2C32627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67484-EFBF-423F-A1DA-6870AB511E5D}" type="datetime1">
              <a:rPr lang="zh-CN" altLang="en-US" smtClean="0"/>
              <a:pPr/>
              <a:t>2021/11/12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AC7E7-C2F4-4332-9F19-0888F2C32627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单圆角矩形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直角三角形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64FE2B-1F15-40AA-B8F3-299271A4F521}" type="datetime1">
              <a:rPr lang="zh-CN" altLang="en-US" smtClean="0"/>
              <a:pPr/>
              <a:t>2021/11/12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D27AC7E7-C2F4-4332-9F19-0888F2C32627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zh-CN" altLang="en-US"/>
              <a:t>单击图标添加图片</a:t>
            </a:r>
            <a:endParaRPr kumimoji="0" lang="en-US" dirty="0"/>
          </a:p>
        </p:txBody>
      </p:sp>
      <p:sp>
        <p:nvSpPr>
          <p:cNvPr id="10" name="任意多边形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任意多边形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9247A3-ED35-4F98-BF0B-380FB82F2BD3}" type="datetime1">
              <a:rPr lang="zh-CN" altLang="en-US" smtClean="0"/>
              <a:pPr/>
              <a:t>2021/11/12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AC7E7-C2F4-4332-9F19-0888F2C32627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A4071B-D013-4A4A-BF1E-281F00346A1A}" type="datetime1">
              <a:rPr lang="zh-CN" altLang="en-US" smtClean="0"/>
              <a:pPr/>
              <a:t>2021/11/12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AC7E7-C2F4-4332-9F19-0888F2C32627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多边形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任意多边形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标题占位符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0" name="文本占位符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  <a:p>
            <a:pPr lvl="1" eaLnBrk="1" latinLnBrk="0" hangingPunct="1"/>
            <a:r>
              <a:rPr kumimoji="0" lang="zh-CN" altLang="en-US"/>
              <a:t>第二级</a:t>
            </a:r>
          </a:p>
          <a:p>
            <a:pPr lvl="2" eaLnBrk="1" latinLnBrk="0" hangingPunct="1"/>
            <a:r>
              <a:rPr kumimoji="0" lang="zh-CN" altLang="en-US"/>
              <a:t>第三级</a:t>
            </a:r>
          </a:p>
          <a:p>
            <a:pPr lvl="3" eaLnBrk="1" latinLnBrk="0" hangingPunct="1"/>
            <a:r>
              <a:rPr kumimoji="0" lang="zh-CN" altLang="en-US"/>
              <a:t>第四级</a:t>
            </a:r>
          </a:p>
          <a:p>
            <a:pPr lvl="4" eaLnBrk="1" latinLnBrk="0" hangingPunct="1"/>
            <a:r>
              <a:rPr kumimoji="0" lang="zh-CN" altLang="en-US"/>
              <a:t>第五级</a:t>
            </a:r>
            <a:endParaRPr kumimoji="0" lang="en-US"/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A0584C72-5784-438E-A82C-B7CDB992865C}" type="datetime1">
              <a:rPr lang="zh-CN" altLang="en-US" smtClean="0"/>
              <a:pPr/>
              <a:t>2021/11/12</a:t>
            </a:fld>
            <a:endParaRPr lang="zh-CN" altLang="en-US"/>
          </a:p>
        </p:txBody>
      </p:sp>
      <p:sp>
        <p:nvSpPr>
          <p:cNvPr id="22" name="页脚占位符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D27AC7E7-C2F4-4332-9F19-0888F2C32627}" type="slidenum">
              <a:rPr lang="zh-CN" altLang="en-US" smtClean="0"/>
              <a:pPr/>
              <a:t>‹#›</a:t>
            </a:fld>
            <a:endParaRPr lang="zh-CN" altLang="en-US"/>
          </a:p>
        </p:txBody>
      </p:sp>
      <p:grpSp>
        <p:nvGrpSpPr>
          <p:cNvPr id="2" name="组合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任意多边形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任意多边形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228600" y="1371600"/>
            <a:ext cx="8156448" cy="1828800"/>
          </a:xfrm>
        </p:spPr>
        <p:txBody>
          <a:bodyPr>
            <a:normAutofit fontScale="90000"/>
          </a:bodyPr>
          <a:lstStyle/>
          <a:p>
            <a:r>
              <a:rPr lang="en-US" altLang="zh-CN" b="1" dirty="0"/>
              <a:t>Discovering and Managing Quantitative Association Rules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533400" y="3733800"/>
            <a:ext cx="7854696" cy="1752600"/>
          </a:xfrm>
        </p:spPr>
        <p:txBody>
          <a:bodyPr/>
          <a:lstStyle/>
          <a:p>
            <a:r>
              <a:rPr lang="en-US" altLang="zh-CN" dirty="0" err="1"/>
              <a:t>Chunyao</a:t>
            </a:r>
            <a:r>
              <a:rPr lang="en-US" altLang="zh-CN" dirty="0"/>
              <a:t> Song, </a:t>
            </a:r>
            <a:r>
              <a:rPr lang="en-US" altLang="zh-CN" dirty="0" err="1"/>
              <a:t>Tingjian</a:t>
            </a:r>
            <a:r>
              <a:rPr lang="en-US" altLang="zh-CN" dirty="0"/>
              <a:t> </a:t>
            </a:r>
            <a:r>
              <a:rPr lang="en-US" altLang="zh-CN" dirty="0" err="1"/>
              <a:t>Ge</a:t>
            </a:r>
            <a:r>
              <a:rPr lang="en-US" altLang="zh-CN" dirty="0"/>
              <a:t> </a:t>
            </a:r>
          </a:p>
          <a:p>
            <a:r>
              <a:rPr lang="en-US" altLang="zh-CN" dirty="0"/>
              <a:t>University of Massachusetts, Lowell </a:t>
            </a:r>
            <a:endParaRPr lang="zh-CN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Outline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2621280"/>
            <a:ext cx="8229600" cy="3169920"/>
          </a:xfrm>
        </p:spPr>
        <p:txBody>
          <a:bodyPr/>
          <a:lstStyle/>
          <a:p>
            <a:pPr>
              <a:spcBef>
                <a:spcPts val="2000"/>
              </a:spcBef>
            </a:pPr>
            <a:r>
              <a:rPr lang="en-US" altLang="zh-CN" dirty="0">
                <a:solidFill>
                  <a:srgbClr val="FF0000"/>
                </a:solidFill>
              </a:rPr>
              <a:t>Background and Motivation</a:t>
            </a:r>
          </a:p>
          <a:p>
            <a:pPr>
              <a:spcBef>
                <a:spcPts val="2000"/>
              </a:spcBef>
            </a:pPr>
            <a:r>
              <a:rPr lang="en-US" altLang="zh-CN" dirty="0"/>
              <a:t>Divide and Conquer Method for Mining Quantitative Association Rules</a:t>
            </a:r>
          </a:p>
          <a:p>
            <a:pPr>
              <a:spcBef>
                <a:spcPts val="2000"/>
              </a:spcBef>
            </a:pPr>
            <a:r>
              <a:rPr lang="en-US" altLang="zh-CN" dirty="0"/>
              <a:t>Experiments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AC7E7-C2F4-4332-9F19-0888F2C32627}" type="slidenum">
              <a:rPr lang="zh-CN" altLang="en-US" smtClean="0"/>
              <a:pPr/>
              <a:t>2</a:t>
            </a:fld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From Market Basket Analysis to Quantitative Association Rules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33400" y="1874837"/>
            <a:ext cx="8229600" cy="4525963"/>
          </a:xfrm>
        </p:spPr>
        <p:txBody>
          <a:bodyPr/>
          <a:lstStyle/>
          <a:p>
            <a:r>
              <a:rPr lang="en-US" altLang="zh-CN" dirty="0"/>
              <a:t>{Diapers} →{Beer}</a:t>
            </a:r>
            <a:endParaRPr lang="zh-CN" altLang="en-US" dirty="0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AC7E7-C2F4-4332-9F19-0888F2C32627}" type="slidenum">
              <a:rPr lang="zh-CN" altLang="en-US" smtClean="0"/>
              <a:pPr/>
              <a:t>3</a:t>
            </a:fld>
            <a:endParaRPr lang="zh-CN" altLang="en-US"/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228600" y="2514600"/>
          <a:ext cx="4724406" cy="370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5260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ID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SL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SW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PL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PW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Class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5.1</a:t>
                      </a:r>
                      <a:endParaRPr lang="zh-CN" altLang="en-US" dirty="0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3.5</a:t>
                      </a:r>
                      <a:endParaRPr lang="zh-CN" altLang="en-US" dirty="0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1.4</a:t>
                      </a:r>
                      <a:endParaRPr lang="zh-CN" altLang="en-US" dirty="0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0.2</a:t>
                      </a:r>
                      <a:endParaRPr lang="zh-CN" altLang="en-US" dirty="0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Iris-</a:t>
                      </a:r>
                      <a:r>
                        <a:rPr lang="en-US" altLang="zh-CN" dirty="0" err="1"/>
                        <a:t>setosa</a:t>
                      </a:r>
                      <a:endParaRPr lang="zh-CN" altLang="en-US" dirty="0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2</a:t>
                      </a:r>
                      <a:endParaRPr lang="zh-CN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5.4</a:t>
                      </a:r>
                      <a:endParaRPr lang="zh-CN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3.9</a:t>
                      </a:r>
                      <a:endParaRPr lang="zh-CN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1.7</a:t>
                      </a:r>
                      <a:endParaRPr lang="zh-CN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0.4</a:t>
                      </a:r>
                      <a:endParaRPr lang="zh-CN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Iris-</a:t>
                      </a:r>
                      <a:r>
                        <a:rPr lang="en-US" altLang="zh-CN" dirty="0" err="1"/>
                        <a:t>setosa</a:t>
                      </a:r>
                      <a:endParaRPr lang="zh-CN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5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3.5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1.6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0.6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Iris-</a:t>
                      </a:r>
                      <a:r>
                        <a:rPr lang="en-US" altLang="zh-CN" dirty="0" err="1"/>
                        <a:t>setosa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4</a:t>
                      </a:r>
                      <a:endParaRPr lang="zh-CN" altLang="en-US" dirty="0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5.2</a:t>
                      </a:r>
                      <a:endParaRPr lang="zh-CN" altLang="en-US" dirty="0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2.7</a:t>
                      </a:r>
                      <a:endParaRPr lang="zh-CN" altLang="en-US" dirty="0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3.9</a:t>
                      </a:r>
                      <a:endParaRPr lang="zh-CN" altLang="en-US" dirty="0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1.4</a:t>
                      </a:r>
                      <a:endParaRPr lang="zh-CN" altLang="en-US" dirty="0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Iris-</a:t>
                      </a:r>
                      <a:r>
                        <a:rPr lang="en-US" altLang="zh-CN" dirty="0" err="1"/>
                        <a:t>versicolor</a:t>
                      </a:r>
                      <a:endParaRPr lang="zh-CN" altLang="en-US" dirty="0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5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5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2.3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3.3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Iris-</a:t>
                      </a:r>
                      <a:r>
                        <a:rPr lang="en-US" altLang="zh-CN" dirty="0" err="1"/>
                        <a:t>versicolor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6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6.7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3.1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4.7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1.5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Iris-</a:t>
                      </a:r>
                      <a:r>
                        <a:rPr lang="en-US" altLang="zh-CN" dirty="0" err="1"/>
                        <a:t>versicolor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7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7.7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6.1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2.3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Iris-</a:t>
                      </a:r>
                      <a:r>
                        <a:rPr lang="en-US" altLang="zh-CN" dirty="0" err="1"/>
                        <a:t>virginica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8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6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2.2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5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1.5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Iris-</a:t>
                      </a:r>
                      <a:r>
                        <a:rPr lang="en-US" altLang="zh-CN" dirty="0" err="1"/>
                        <a:t>virginica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9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6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4.8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1.8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Iris-</a:t>
                      </a:r>
                      <a:r>
                        <a:rPr lang="en-US" altLang="zh-CN" dirty="0" err="1"/>
                        <a:t>virginica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0" y="2590800"/>
            <a:ext cx="4038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SL∈[5.1, 5.4] ∧PW∈[0.2, 1.4] </a:t>
            </a:r>
          </a:p>
          <a:p>
            <a:r>
              <a:rPr lang="en-US" altLang="zh-CN" sz="2400" dirty="0"/>
              <a:t>→PL ∈[1.4, 3.9]</a:t>
            </a:r>
            <a:endParaRPr lang="zh-CN" altLang="en-US" sz="2400" dirty="0"/>
          </a:p>
        </p:txBody>
      </p:sp>
      <p:sp>
        <p:nvSpPr>
          <p:cNvPr id="7" name="TextBox 6"/>
          <p:cNvSpPr txBox="1"/>
          <p:nvPr/>
        </p:nvSpPr>
        <p:spPr>
          <a:xfrm>
            <a:off x="5029200" y="4191000"/>
            <a:ext cx="2590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Class=Iris-</a:t>
            </a:r>
            <a:r>
              <a:rPr lang="en-US" altLang="zh-CN" sz="2400" dirty="0" err="1"/>
              <a:t>setosa</a:t>
            </a:r>
            <a:r>
              <a:rPr lang="en-US" altLang="zh-CN" sz="2400" dirty="0"/>
              <a:t> </a:t>
            </a:r>
          </a:p>
          <a:p>
            <a:r>
              <a:rPr lang="en-US" altLang="zh-CN" sz="2400" dirty="0"/>
              <a:t>→SW ∈[3.5, 4]</a:t>
            </a:r>
            <a:endParaRPr lang="zh-CN" alt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Preliminary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AC7E7-C2F4-4332-9F19-0888F2C32627}" type="slidenum">
              <a:rPr lang="zh-CN" altLang="en-US" smtClean="0"/>
              <a:pPr/>
              <a:t>4</a:t>
            </a:fld>
            <a:endParaRPr lang="zh-CN" altLang="en-US"/>
          </a:p>
        </p:txBody>
      </p:sp>
      <p:sp>
        <p:nvSpPr>
          <p:cNvPr id="5" name="TextBox 4"/>
          <p:cNvSpPr txBox="1"/>
          <p:nvPr/>
        </p:nvSpPr>
        <p:spPr>
          <a:xfrm>
            <a:off x="1447800" y="3957935"/>
            <a:ext cx="5943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SL∈[5.1,5.4] ∧PW∈[0.2,1.4]→PL ∈[1.4,3.9]</a:t>
            </a:r>
            <a:endParaRPr lang="zh-CN" altLang="en-US" sz="2400" dirty="0"/>
          </a:p>
        </p:txBody>
      </p:sp>
      <p:sp>
        <p:nvSpPr>
          <p:cNvPr id="6" name="左大括号 5"/>
          <p:cNvSpPr/>
          <p:nvPr/>
        </p:nvSpPr>
        <p:spPr>
          <a:xfrm rot="16200000">
            <a:off x="3238500" y="2933699"/>
            <a:ext cx="304800" cy="3581400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左大括号 6"/>
          <p:cNvSpPr/>
          <p:nvPr/>
        </p:nvSpPr>
        <p:spPr>
          <a:xfrm rot="5400000">
            <a:off x="4229100" y="952499"/>
            <a:ext cx="304800" cy="5562600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TextBox 8"/>
          <p:cNvSpPr txBox="1"/>
          <p:nvPr/>
        </p:nvSpPr>
        <p:spPr>
          <a:xfrm>
            <a:off x="3810000" y="2052935"/>
            <a:ext cx="990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P →Q</a:t>
            </a:r>
            <a:endParaRPr lang="zh-CN" altLang="en-US" sz="2400" dirty="0"/>
          </a:p>
        </p:txBody>
      </p:sp>
      <p:sp>
        <p:nvSpPr>
          <p:cNvPr id="10" name="TextBox 9"/>
          <p:cNvSpPr txBox="1"/>
          <p:nvPr/>
        </p:nvSpPr>
        <p:spPr>
          <a:xfrm>
            <a:off x="2819400" y="5024735"/>
            <a:ext cx="2819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s(P)</a:t>
            </a:r>
            <a:r>
              <a:rPr lang="en-US" altLang="zh-CN" sz="2400" dirty="0"/>
              <a:t>=</a:t>
            </a:r>
            <a:r>
              <a:rPr lang="en-US" altLang="zh-CN" sz="2400" dirty="0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62400" y="3043535"/>
            <a:ext cx="3352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s(r)</a:t>
            </a:r>
            <a:r>
              <a:rPr lang="en-US" altLang="zh-CN" sz="2400" dirty="0"/>
              <a:t>=</a:t>
            </a:r>
            <a:r>
              <a:rPr lang="en-US" altLang="zh-CN" sz="2400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12" name="下箭头 11"/>
          <p:cNvSpPr/>
          <p:nvPr/>
        </p:nvSpPr>
        <p:spPr>
          <a:xfrm>
            <a:off x="6629400" y="4648200"/>
            <a:ext cx="152400" cy="609600"/>
          </a:xfrm>
          <a:prstGeom prst="down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TextBox 12"/>
          <p:cNvSpPr txBox="1"/>
          <p:nvPr/>
        </p:nvSpPr>
        <p:spPr>
          <a:xfrm>
            <a:off x="5638800" y="5329535"/>
            <a:ext cx="3048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c(r)</a:t>
            </a:r>
            <a:r>
              <a:rPr lang="en-US" altLang="zh-CN" sz="2400" dirty="0"/>
              <a:t>=s(r)/s(P)=</a:t>
            </a:r>
            <a:r>
              <a:rPr lang="en-US" altLang="zh-CN" sz="2400" dirty="0">
                <a:solidFill>
                  <a:srgbClr val="FF0000"/>
                </a:solidFill>
              </a:rPr>
              <a:t>0.66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animBg="1"/>
      <p:bldP spid="7" grpId="0" animBg="1"/>
      <p:bldP spid="9" grpId="0"/>
      <p:bldP spid="10" grpId="0"/>
      <p:bldP spid="11" grpId="0"/>
      <p:bldP spid="12" grpId="0" animBg="1"/>
      <p:bldP spid="1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Outline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2621280"/>
            <a:ext cx="8229600" cy="3169920"/>
          </a:xfrm>
        </p:spPr>
        <p:txBody>
          <a:bodyPr/>
          <a:lstStyle/>
          <a:p>
            <a:pPr>
              <a:spcBef>
                <a:spcPts val="2000"/>
              </a:spcBef>
            </a:pPr>
            <a:r>
              <a:rPr lang="en-US" altLang="zh-CN" dirty="0"/>
              <a:t>Background and Motivation</a:t>
            </a:r>
          </a:p>
          <a:p>
            <a:pPr>
              <a:spcBef>
                <a:spcPts val="2000"/>
              </a:spcBef>
            </a:pPr>
            <a:r>
              <a:rPr lang="en-US" altLang="zh-CN" dirty="0">
                <a:solidFill>
                  <a:srgbClr val="FF0000"/>
                </a:solidFill>
              </a:rPr>
              <a:t>Divide and Conquer Method for Mining Quantitative Association Rules</a:t>
            </a:r>
          </a:p>
          <a:p>
            <a:pPr>
              <a:spcBef>
                <a:spcPts val="2000"/>
              </a:spcBef>
            </a:pPr>
            <a:r>
              <a:rPr lang="en-US" altLang="zh-CN" dirty="0"/>
              <a:t>Experiments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AC7E7-C2F4-4332-9F19-0888F2C32627}" type="slidenum">
              <a:rPr lang="zh-CN" altLang="en-US" smtClean="0"/>
              <a:pPr/>
              <a:t>5</a:t>
            </a:fld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143000"/>
          </a:xfrm>
        </p:spPr>
        <p:txBody>
          <a:bodyPr/>
          <a:lstStyle/>
          <a:p>
            <a:r>
              <a:rPr lang="en-US" altLang="zh-CN" dirty="0"/>
              <a:t>Phase 1: get coarse rules</a:t>
            </a:r>
            <a:endParaRPr lang="zh-CN" altLang="en-US" dirty="0"/>
          </a:p>
        </p:txBody>
      </p:sp>
      <p:sp>
        <p:nvSpPr>
          <p:cNvPr id="31" name="灯片编号占位符 3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AC7E7-C2F4-4332-9F19-0888F2C32627}" type="slidenum">
              <a:rPr lang="zh-CN" altLang="en-US" smtClean="0"/>
              <a:pPr/>
              <a:t>6</a:t>
            </a:fld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533400" y="2438400"/>
            <a:ext cx="1295400" cy="76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533400" y="3200400"/>
            <a:ext cx="1295400" cy="7620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533400" y="3962400"/>
            <a:ext cx="1295400" cy="7620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右箭头 9"/>
          <p:cNvSpPr/>
          <p:nvPr/>
        </p:nvSpPr>
        <p:spPr>
          <a:xfrm>
            <a:off x="2133600" y="3429000"/>
            <a:ext cx="1066800" cy="3048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3276600" y="1828800"/>
            <a:ext cx="1295400" cy="76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3276600" y="3352800"/>
            <a:ext cx="1295400" cy="7620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3276600" y="4724400"/>
            <a:ext cx="1295400" cy="7620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加号 14"/>
          <p:cNvSpPr/>
          <p:nvPr/>
        </p:nvSpPr>
        <p:spPr>
          <a:xfrm>
            <a:off x="3581400" y="2743200"/>
            <a:ext cx="609600" cy="533400"/>
          </a:xfrm>
          <a:prstGeom prst="mathPlus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加号 15"/>
          <p:cNvSpPr/>
          <p:nvPr/>
        </p:nvSpPr>
        <p:spPr>
          <a:xfrm>
            <a:off x="3581400" y="4114800"/>
            <a:ext cx="609600" cy="533400"/>
          </a:xfrm>
          <a:prstGeom prst="mathPlus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加号 20"/>
          <p:cNvSpPr/>
          <p:nvPr/>
        </p:nvSpPr>
        <p:spPr>
          <a:xfrm>
            <a:off x="5715000" y="3352800"/>
            <a:ext cx="609600" cy="533400"/>
          </a:xfrm>
          <a:prstGeom prst="mathPlus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加号 21"/>
          <p:cNvSpPr/>
          <p:nvPr/>
        </p:nvSpPr>
        <p:spPr>
          <a:xfrm>
            <a:off x="4648200" y="3505200"/>
            <a:ext cx="609600" cy="533400"/>
          </a:xfrm>
          <a:prstGeom prst="mathPlus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加号 22"/>
          <p:cNvSpPr/>
          <p:nvPr/>
        </p:nvSpPr>
        <p:spPr>
          <a:xfrm>
            <a:off x="6858000" y="3276600"/>
            <a:ext cx="609600" cy="533400"/>
          </a:xfrm>
          <a:prstGeom prst="mathPlus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TextBox 26"/>
          <p:cNvSpPr txBox="1"/>
          <p:nvPr/>
        </p:nvSpPr>
        <p:spPr>
          <a:xfrm>
            <a:off x="1828800" y="4724400"/>
            <a:ext cx="1066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low</a:t>
            </a:r>
            <a:endParaRPr lang="zh-CN" altLang="en-US" dirty="0"/>
          </a:p>
        </p:txBody>
      </p:sp>
      <p:sp>
        <p:nvSpPr>
          <p:cNvPr id="28" name="TextBox 27"/>
          <p:cNvSpPr txBox="1"/>
          <p:nvPr/>
        </p:nvSpPr>
        <p:spPr>
          <a:xfrm>
            <a:off x="1828800" y="2209800"/>
            <a:ext cx="990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high</a:t>
            </a:r>
            <a:endParaRPr lang="zh-CN" altLang="en-US" dirty="0"/>
          </a:p>
        </p:txBody>
      </p:sp>
      <p:sp>
        <p:nvSpPr>
          <p:cNvPr id="29" name="矩形 28"/>
          <p:cNvSpPr/>
          <p:nvPr/>
        </p:nvSpPr>
        <p:spPr>
          <a:xfrm>
            <a:off x="533400" y="2438400"/>
            <a:ext cx="1295400" cy="2286000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TextBox 29"/>
          <p:cNvSpPr txBox="1"/>
          <p:nvPr/>
        </p:nvSpPr>
        <p:spPr>
          <a:xfrm>
            <a:off x="381000" y="5943600"/>
            <a:ext cx="8763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For each numerical attribute, partition the attribute into c buckets, then get </a:t>
            </a:r>
            <a:r>
              <a:rPr lang="en-US" altLang="zh-CN" dirty="0">
                <a:solidFill>
                  <a:srgbClr val="FF0000"/>
                </a:solidFill>
              </a:rPr>
              <a:t>c(c+1)/2 </a:t>
            </a:r>
            <a:r>
              <a:rPr lang="en-US" altLang="zh-CN" dirty="0"/>
              <a:t>items</a:t>
            </a:r>
            <a:endParaRPr lang="zh-CN" altLang="en-US" dirty="0"/>
          </a:p>
        </p:txBody>
      </p:sp>
      <p:grpSp>
        <p:nvGrpSpPr>
          <p:cNvPr id="37" name="组合 36"/>
          <p:cNvGrpSpPr/>
          <p:nvPr/>
        </p:nvGrpSpPr>
        <p:grpSpPr>
          <a:xfrm>
            <a:off x="5334000" y="1752600"/>
            <a:ext cx="1295400" cy="1524000"/>
            <a:chOff x="5334000" y="1752600"/>
            <a:chExt cx="1295400" cy="1524000"/>
          </a:xfrm>
        </p:grpSpPr>
        <p:sp>
          <p:nvSpPr>
            <p:cNvPr id="35" name="矩形 34"/>
            <p:cNvSpPr/>
            <p:nvPr/>
          </p:nvSpPr>
          <p:spPr>
            <a:xfrm>
              <a:off x="5334000" y="1752600"/>
              <a:ext cx="1295400" cy="762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矩形 35"/>
            <p:cNvSpPr/>
            <p:nvPr/>
          </p:nvSpPr>
          <p:spPr>
            <a:xfrm>
              <a:off x="5334000" y="2514600"/>
              <a:ext cx="1295400" cy="762000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0" name="组合 39"/>
          <p:cNvGrpSpPr/>
          <p:nvPr/>
        </p:nvGrpSpPr>
        <p:grpSpPr>
          <a:xfrm>
            <a:off x="5334000" y="3962400"/>
            <a:ext cx="1295400" cy="1524000"/>
            <a:chOff x="5334000" y="3962400"/>
            <a:chExt cx="1295400" cy="1524000"/>
          </a:xfrm>
        </p:grpSpPr>
        <p:sp>
          <p:nvSpPr>
            <p:cNvPr id="38" name="矩形 37"/>
            <p:cNvSpPr/>
            <p:nvPr/>
          </p:nvSpPr>
          <p:spPr>
            <a:xfrm>
              <a:off x="5334000" y="3962400"/>
              <a:ext cx="1295400" cy="762000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矩形 38"/>
            <p:cNvSpPr/>
            <p:nvPr/>
          </p:nvSpPr>
          <p:spPr>
            <a:xfrm>
              <a:off x="5334000" y="4724400"/>
              <a:ext cx="1295400" cy="762000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4" name="组合 43"/>
          <p:cNvGrpSpPr/>
          <p:nvPr/>
        </p:nvGrpSpPr>
        <p:grpSpPr>
          <a:xfrm>
            <a:off x="7467600" y="2209800"/>
            <a:ext cx="1295400" cy="2286000"/>
            <a:chOff x="7467600" y="2209800"/>
            <a:chExt cx="1295400" cy="2286000"/>
          </a:xfrm>
        </p:grpSpPr>
        <p:sp>
          <p:nvSpPr>
            <p:cNvPr id="41" name="矩形 40"/>
            <p:cNvSpPr/>
            <p:nvPr/>
          </p:nvSpPr>
          <p:spPr>
            <a:xfrm>
              <a:off x="7467600" y="2209800"/>
              <a:ext cx="1295400" cy="762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" name="矩形 41"/>
            <p:cNvSpPr/>
            <p:nvPr/>
          </p:nvSpPr>
          <p:spPr>
            <a:xfrm>
              <a:off x="7467600" y="2971800"/>
              <a:ext cx="1295400" cy="762000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" name="矩形 42"/>
            <p:cNvSpPr/>
            <p:nvPr/>
          </p:nvSpPr>
          <p:spPr>
            <a:xfrm>
              <a:off x="7467600" y="3733800"/>
              <a:ext cx="1295400" cy="762000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5" grpId="0" animBg="1"/>
      <p:bldP spid="16" grpId="0" animBg="1"/>
      <p:bldP spid="21" grpId="0" animBg="1"/>
      <p:bldP spid="22" grpId="0" animBg="1"/>
      <p:bldP spid="23" grpId="0" animBg="1"/>
      <p:bldP spid="29" grpId="0" animBg="1"/>
      <p:bldP spid="3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1143000"/>
          </a:xfrm>
        </p:spPr>
        <p:txBody>
          <a:bodyPr/>
          <a:lstStyle/>
          <a:p>
            <a:r>
              <a:rPr lang="en-US" altLang="zh-CN" dirty="0"/>
              <a:t>Phase 1: get coarse rules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389120"/>
          </a:xfrm>
        </p:spPr>
        <p:txBody>
          <a:bodyPr/>
          <a:lstStyle/>
          <a:p>
            <a:r>
              <a:rPr lang="en-US" altLang="zh-CN" dirty="0"/>
              <a:t>Map </a:t>
            </a:r>
            <a:r>
              <a:rPr lang="en-US" altLang="zh-CN" dirty="0" err="1"/>
              <a:t>tuple</a:t>
            </a:r>
            <a:r>
              <a:rPr lang="en-US" altLang="zh-CN" dirty="0"/>
              <a:t> to transaction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AC7E7-C2F4-4332-9F19-0888F2C32627}" type="slidenum">
              <a:rPr lang="zh-CN" altLang="en-US" smtClean="0"/>
              <a:pPr/>
              <a:t>7</a:t>
            </a:fld>
            <a:endParaRPr lang="zh-CN" altLang="en-US"/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76200" y="2286000"/>
          <a:ext cx="32766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2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2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2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A([0,9])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B([12,24])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C([3.5,8])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4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6.4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3429000" y="2286000"/>
          <a:ext cx="5638806" cy="111252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4229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53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79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98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3980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6148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6148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b="0" dirty="0"/>
                        <a:t>A</a:t>
                      </a:r>
                      <a:endParaRPr lang="zh-CN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b="0" dirty="0"/>
                        <a:t>[0,3]</a:t>
                      </a:r>
                      <a:endParaRPr lang="zh-CN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b="0" dirty="0"/>
                        <a:t>(3,6]</a:t>
                      </a:r>
                      <a:endParaRPr lang="zh-CN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b="0" dirty="0"/>
                        <a:t>(6,9]</a:t>
                      </a:r>
                      <a:endParaRPr lang="zh-CN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b="0" dirty="0"/>
                        <a:t>[0,6]</a:t>
                      </a:r>
                      <a:endParaRPr lang="zh-CN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b="0" dirty="0"/>
                        <a:t>[3,9]</a:t>
                      </a:r>
                      <a:endParaRPr lang="zh-CN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b="0" dirty="0"/>
                        <a:t>[0,9]</a:t>
                      </a:r>
                      <a:endParaRPr lang="zh-CN" alt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B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[12,16]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(16,20]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(20,24]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[12,20]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[16,24]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[12,24]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C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[3.5,5]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(5,6.5]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(6.5,8]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[3.5,6.5]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[5.8]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[3.5,8]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下箭头 6"/>
          <p:cNvSpPr/>
          <p:nvPr/>
        </p:nvSpPr>
        <p:spPr>
          <a:xfrm>
            <a:off x="1524000" y="3124200"/>
            <a:ext cx="228600" cy="533400"/>
          </a:xfrm>
          <a:prstGeom prst="down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9" name="表格 8"/>
          <p:cNvGraphicFramePr>
            <a:graphicFrameLocks noGrp="1"/>
          </p:cNvGraphicFramePr>
          <p:nvPr/>
        </p:nvGraphicFramePr>
        <p:xfrm>
          <a:off x="228600" y="3886200"/>
          <a:ext cx="8763004" cy="3708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8900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302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9534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65154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73025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b="0" dirty="0"/>
                        <a:t>(3,6]</a:t>
                      </a:r>
                      <a:endParaRPr lang="zh-CN" altLang="en-US" b="0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b="0" dirty="0"/>
                        <a:t>[0,6]</a:t>
                      </a:r>
                      <a:endParaRPr lang="zh-CN" altLang="en-US" b="0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b="0" dirty="0"/>
                        <a:t>[3,9]</a:t>
                      </a:r>
                      <a:endParaRPr lang="zh-CN" altLang="en-US" b="0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b="0" dirty="0"/>
                        <a:t>[0,9]</a:t>
                      </a:r>
                      <a:endParaRPr lang="zh-CN" altLang="en-US" b="0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b="0" dirty="0"/>
                        <a:t>(16,20]</a:t>
                      </a:r>
                      <a:endParaRPr lang="zh-CN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b="0" dirty="0"/>
                        <a:t>[12,20]</a:t>
                      </a:r>
                      <a:endParaRPr lang="zh-CN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b="0" dirty="0"/>
                        <a:t>[16,24]</a:t>
                      </a:r>
                      <a:endParaRPr lang="zh-CN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b="0" dirty="0"/>
                        <a:t>[12,24]</a:t>
                      </a:r>
                      <a:endParaRPr lang="zh-CN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b="0" dirty="0"/>
                        <a:t>(5,6.5]</a:t>
                      </a:r>
                      <a:endParaRPr lang="zh-CN" altLang="en-US" b="0" dirty="0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b="0" dirty="0"/>
                        <a:t>[3.5,6.5]</a:t>
                      </a:r>
                      <a:endParaRPr lang="zh-CN" altLang="en-US" b="0" dirty="0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b="0" dirty="0"/>
                        <a:t>[5,8]</a:t>
                      </a:r>
                      <a:endParaRPr lang="zh-CN" altLang="en-US" b="0" dirty="0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b="0" dirty="0"/>
                        <a:t>[3.5,8]</a:t>
                      </a:r>
                      <a:endParaRPr lang="zh-CN" altLang="en-US" b="0" dirty="0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0" name="下箭头 9"/>
          <p:cNvSpPr/>
          <p:nvPr/>
        </p:nvSpPr>
        <p:spPr>
          <a:xfrm>
            <a:off x="1295400" y="4572000"/>
            <a:ext cx="152400" cy="381000"/>
          </a:xfrm>
          <a:prstGeom prst="down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1600200" y="4572000"/>
            <a:ext cx="5486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Frequent itemset mining, support at least </a:t>
            </a:r>
            <a:r>
              <a:rPr lang="en-US" altLang="zh-CN" i="1" dirty="0"/>
              <a:t>minsup</a:t>
            </a:r>
            <a:endParaRPr lang="zh-CN" altLang="en-US" i="1" dirty="0"/>
          </a:p>
        </p:txBody>
      </p:sp>
      <p:graphicFrame>
        <p:nvGraphicFramePr>
          <p:cNvPr id="13" name="表格 12"/>
          <p:cNvGraphicFramePr>
            <a:graphicFrameLocks noGrp="1"/>
          </p:cNvGraphicFramePr>
          <p:nvPr/>
        </p:nvGraphicFramePr>
        <p:xfrm>
          <a:off x="381000" y="5029200"/>
          <a:ext cx="2895600" cy="3708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96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5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5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b="0" dirty="0"/>
                        <a:t>[3,9]</a:t>
                      </a:r>
                      <a:endParaRPr lang="zh-CN" altLang="en-US" b="0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b="0" dirty="0"/>
                        <a:t>[12,24]</a:t>
                      </a:r>
                      <a:endParaRPr lang="zh-CN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b="0" dirty="0"/>
                        <a:t>[3.5,6.5]</a:t>
                      </a:r>
                      <a:endParaRPr lang="zh-CN" altLang="en-US" b="0" dirty="0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4" name="直角上箭头 13"/>
          <p:cNvSpPr/>
          <p:nvPr/>
        </p:nvSpPr>
        <p:spPr>
          <a:xfrm rot="5400000">
            <a:off x="1143000" y="5791200"/>
            <a:ext cx="685800" cy="228600"/>
          </a:xfrm>
          <a:prstGeom prst="bentUp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TextBox 14"/>
          <p:cNvSpPr txBox="1"/>
          <p:nvPr/>
        </p:nvSpPr>
        <p:spPr>
          <a:xfrm>
            <a:off x="1447800" y="5638800"/>
            <a:ext cx="3200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Get a coarse association rule</a:t>
            </a:r>
            <a:endParaRPr lang="zh-CN" alt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1676400" y="6076890"/>
            <a:ext cx="4191000" cy="40011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A∈[3,9] ∧B ∈[12,24] →C ∈[3.5,6.5]</a:t>
            </a:r>
            <a:endParaRPr lang="zh-CN" altLang="en-US" sz="2000" dirty="0"/>
          </a:p>
        </p:txBody>
      </p:sp>
      <p:grpSp>
        <p:nvGrpSpPr>
          <p:cNvPr id="30" name="组合 29"/>
          <p:cNvGrpSpPr/>
          <p:nvPr/>
        </p:nvGrpSpPr>
        <p:grpSpPr>
          <a:xfrm>
            <a:off x="6477000" y="5486400"/>
            <a:ext cx="1371600" cy="1143000"/>
            <a:chOff x="6477000" y="5410200"/>
            <a:chExt cx="1371600" cy="1143000"/>
          </a:xfrm>
        </p:grpSpPr>
        <p:grpSp>
          <p:nvGrpSpPr>
            <p:cNvPr id="28" name="组合 27"/>
            <p:cNvGrpSpPr/>
            <p:nvPr/>
          </p:nvGrpSpPr>
          <p:grpSpPr>
            <a:xfrm>
              <a:off x="6477000" y="5410200"/>
              <a:ext cx="1219200" cy="1143000"/>
              <a:chOff x="6477000" y="5181600"/>
              <a:chExt cx="1219200" cy="1143000"/>
            </a:xfrm>
          </p:grpSpPr>
          <p:cxnSp>
            <p:nvCxnSpPr>
              <p:cNvPr id="19" name="直接连接符 18"/>
              <p:cNvCxnSpPr/>
              <p:nvPr/>
            </p:nvCxnSpPr>
            <p:spPr>
              <a:xfrm>
                <a:off x="6477000" y="5181600"/>
                <a:ext cx="0" cy="1143000"/>
              </a:xfrm>
              <a:prstGeom prst="line">
                <a:avLst/>
              </a:prstGeom>
              <a:ln w="254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直接连接符 20"/>
              <p:cNvCxnSpPr/>
              <p:nvPr/>
            </p:nvCxnSpPr>
            <p:spPr>
              <a:xfrm>
                <a:off x="6477000" y="6324600"/>
                <a:ext cx="1219200" cy="0"/>
              </a:xfrm>
              <a:prstGeom prst="line">
                <a:avLst/>
              </a:prstGeom>
              <a:ln w="254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直接连接符 22"/>
              <p:cNvCxnSpPr/>
              <p:nvPr/>
            </p:nvCxnSpPr>
            <p:spPr>
              <a:xfrm flipV="1">
                <a:off x="7696200" y="5181600"/>
                <a:ext cx="0" cy="1143000"/>
              </a:xfrm>
              <a:prstGeom prst="line">
                <a:avLst/>
              </a:prstGeom>
              <a:ln w="254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9" name="TextBox 28"/>
            <p:cNvSpPr txBox="1"/>
            <p:nvPr/>
          </p:nvSpPr>
          <p:spPr>
            <a:xfrm>
              <a:off x="6705600" y="6031468"/>
              <a:ext cx="1143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Stack R</a:t>
              </a:r>
              <a:endParaRPr lang="zh-CN" altLang="en-US" dirty="0"/>
            </a:p>
          </p:txBody>
        </p:sp>
      </p:grpSp>
      <p:sp>
        <p:nvSpPr>
          <p:cNvPr id="32" name="手杖形箭头 31"/>
          <p:cNvSpPr/>
          <p:nvPr/>
        </p:nvSpPr>
        <p:spPr>
          <a:xfrm>
            <a:off x="4953000" y="5105400"/>
            <a:ext cx="2438400" cy="914400"/>
          </a:xfrm>
          <a:prstGeom prst="uturn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0" grpId="0" animBg="1"/>
      <p:bldP spid="11" grpId="0"/>
      <p:bldP spid="14" grpId="0" animBg="1"/>
      <p:bldP spid="15" grpId="0"/>
      <p:bldP spid="16" grpId="0" animBg="1"/>
      <p:bldP spid="3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altLang="zh-CN" dirty="0"/>
              <a:t>Recursively partition only outermost buckets</a:t>
            </a:r>
            <a:endParaRPr lang="zh-CN" altLang="en-US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AC7E7-C2F4-4332-9F19-0888F2C32627}" type="slidenum">
              <a:rPr lang="zh-CN" altLang="en-US" smtClean="0"/>
              <a:pPr/>
              <a:t>8</a:t>
            </a:fld>
            <a:endParaRPr lang="zh-CN" altLang="en-US"/>
          </a:p>
        </p:txBody>
      </p:sp>
      <p:grpSp>
        <p:nvGrpSpPr>
          <p:cNvPr id="5" name="组合 4"/>
          <p:cNvGrpSpPr/>
          <p:nvPr/>
        </p:nvGrpSpPr>
        <p:grpSpPr>
          <a:xfrm>
            <a:off x="609600" y="2209800"/>
            <a:ext cx="1371600" cy="1143000"/>
            <a:chOff x="6477000" y="5410200"/>
            <a:chExt cx="1371600" cy="1143000"/>
          </a:xfrm>
        </p:grpSpPr>
        <p:grpSp>
          <p:nvGrpSpPr>
            <p:cNvPr id="6" name="组合 27"/>
            <p:cNvGrpSpPr/>
            <p:nvPr/>
          </p:nvGrpSpPr>
          <p:grpSpPr>
            <a:xfrm>
              <a:off x="6477000" y="5410200"/>
              <a:ext cx="1219200" cy="1143000"/>
              <a:chOff x="6477000" y="5181600"/>
              <a:chExt cx="1219200" cy="1143000"/>
            </a:xfrm>
          </p:grpSpPr>
          <p:cxnSp>
            <p:nvCxnSpPr>
              <p:cNvPr id="8" name="直接连接符 7"/>
              <p:cNvCxnSpPr/>
              <p:nvPr/>
            </p:nvCxnSpPr>
            <p:spPr>
              <a:xfrm>
                <a:off x="6477000" y="5181600"/>
                <a:ext cx="0" cy="1143000"/>
              </a:xfrm>
              <a:prstGeom prst="line">
                <a:avLst/>
              </a:prstGeom>
              <a:ln w="254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直接连接符 9"/>
              <p:cNvCxnSpPr/>
              <p:nvPr/>
            </p:nvCxnSpPr>
            <p:spPr>
              <a:xfrm>
                <a:off x="6477000" y="6324600"/>
                <a:ext cx="1219200" cy="0"/>
              </a:xfrm>
              <a:prstGeom prst="line">
                <a:avLst/>
              </a:prstGeom>
              <a:ln w="254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直接连接符 10"/>
              <p:cNvCxnSpPr/>
              <p:nvPr/>
            </p:nvCxnSpPr>
            <p:spPr>
              <a:xfrm flipV="1">
                <a:off x="7696200" y="5181600"/>
                <a:ext cx="0" cy="1143000"/>
              </a:xfrm>
              <a:prstGeom prst="line">
                <a:avLst/>
              </a:prstGeom>
              <a:ln w="254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" name="TextBox 6"/>
            <p:cNvSpPr txBox="1"/>
            <p:nvPr/>
          </p:nvSpPr>
          <p:spPr>
            <a:xfrm>
              <a:off x="6705600" y="6031468"/>
              <a:ext cx="1143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Stack R</a:t>
              </a:r>
              <a:endParaRPr lang="zh-CN" altLang="en-US" dirty="0"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2133600" y="2209800"/>
            <a:ext cx="4191000" cy="40011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A∈[3,9] ∧B ∈[12,24] →C ∈[3.5,6.5]</a:t>
            </a:r>
            <a:endParaRPr lang="zh-CN" altLang="en-US" sz="2000" dirty="0"/>
          </a:p>
        </p:txBody>
      </p:sp>
      <p:sp>
        <p:nvSpPr>
          <p:cNvPr id="13" name="手杖形箭头 12"/>
          <p:cNvSpPr/>
          <p:nvPr/>
        </p:nvSpPr>
        <p:spPr>
          <a:xfrm>
            <a:off x="1524000" y="1600200"/>
            <a:ext cx="1066800" cy="685800"/>
          </a:xfrm>
          <a:prstGeom prst="uturn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590800" y="1676400"/>
            <a:ext cx="152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Pop out a rule</a:t>
            </a:r>
            <a:endParaRPr lang="zh-CN" alt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2743200" y="2819400"/>
            <a:ext cx="2819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Check termination condition</a:t>
            </a:r>
            <a:endParaRPr lang="zh-CN" alt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057400" y="3352800"/>
            <a:ext cx="5105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If not terminated, partition the outermost buckets</a:t>
            </a:r>
            <a:endParaRPr lang="zh-CN" altLang="en-US" dirty="0"/>
          </a:p>
        </p:txBody>
      </p:sp>
      <p:sp>
        <p:nvSpPr>
          <p:cNvPr id="18" name="下箭头 17"/>
          <p:cNvSpPr/>
          <p:nvPr/>
        </p:nvSpPr>
        <p:spPr>
          <a:xfrm>
            <a:off x="2438400" y="4114800"/>
            <a:ext cx="152400" cy="533400"/>
          </a:xfrm>
          <a:prstGeom prst="down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下箭头 18"/>
          <p:cNvSpPr/>
          <p:nvPr/>
        </p:nvSpPr>
        <p:spPr>
          <a:xfrm>
            <a:off x="2438400" y="2743200"/>
            <a:ext cx="152400" cy="533400"/>
          </a:xfrm>
          <a:prstGeom prst="down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4" name="组合 23"/>
          <p:cNvGrpSpPr/>
          <p:nvPr/>
        </p:nvGrpSpPr>
        <p:grpSpPr>
          <a:xfrm>
            <a:off x="457200" y="4953000"/>
            <a:ext cx="533400" cy="914400"/>
            <a:chOff x="457200" y="4953000"/>
            <a:chExt cx="533400" cy="914400"/>
          </a:xfrm>
        </p:grpSpPr>
        <p:grpSp>
          <p:nvGrpSpPr>
            <p:cNvPr id="20" name="组合 19"/>
            <p:cNvGrpSpPr/>
            <p:nvPr/>
          </p:nvGrpSpPr>
          <p:grpSpPr>
            <a:xfrm>
              <a:off x="457200" y="4953000"/>
              <a:ext cx="533400" cy="914400"/>
              <a:chOff x="5334000" y="4038600"/>
              <a:chExt cx="1295400" cy="1524000"/>
            </a:xfrm>
          </p:grpSpPr>
          <p:sp>
            <p:nvSpPr>
              <p:cNvPr id="21" name="矩形 20"/>
              <p:cNvSpPr/>
              <p:nvPr/>
            </p:nvSpPr>
            <p:spPr>
              <a:xfrm>
                <a:off x="5334000" y="4038600"/>
                <a:ext cx="1295400" cy="762000"/>
              </a:xfrm>
              <a:prstGeom prst="rect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" name="矩形 21"/>
              <p:cNvSpPr/>
              <p:nvPr/>
            </p:nvSpPr>
            <p:spPr>
              <a:xfrm>
                <a:off x="5334000" y="4800600"/>
                <a:ext cx="1295400" cy="762000"/>
              </a:xfrm>
              <a:prstGeom prst="rect">
                <a:avLst/>
              </a:prstGeom>
              <a:solidFill>
                <a:srgbClr val="FFFF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23" name="TextBox 22"/>
            <p:cNvSpPr txBox="1"/>
            <p:nvPr/>
          </p:nvSpPr>
          <p:spPr>
            <a:xfrm>
              <a:off x="533400" y="5177135"/>
              <a:ext cx="3810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A</a:t>
              </a:r>
              <a:endParaRPr lang="zh-CN" altLang="en-US" sz="2400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</p:grpSp>
      <p:grpSp>
        <p:nvGrpSpPr>
          <p:cNvPr id="30" name="组合 29"/>
          <p:cNvGrpSpPr/>
          <p:nvPr/>
        </p:nvGrpSpPr>
        <p:grpSpPr>
          <a:xfrm>
            <a:off x="1371600" y="4724400"/>
            <a:ext cx="457200" cy="1371600"/>
            <a:chOff x="1371600" y="4724400"/>
            <a:chExt cx="457200" cy="1371600"/>
          </a:xfrm>
        </p:grpSpPr>
        <p:grpSp>
          <p:nvGrpSpPr>
            <p:cNvPr id="25" name="组合 24"/>
            <p:cNvGrpSpPr/>
            <p:nvPr/>
          </p:nvGrpSpPr>
          <p:grpSpPr>
            <a:xfrm>
              <a:off x="1371600" y="4724400"/>
              <a:ext cx="457200" cy="1371600"/>
              <a:chOff x="7467600" y="2438400"/>
              <a:chExt cx="1295400" cy="2286000"/>
            </a:xfrm>
          </p:grpSpPr>
          <p:sp>
            <p:nvSpPr>
              <p:cNvPr id="26" name="矩形 25"/>
              <p:cNvSpPr/>
              <p:nvPr/>
            </p:nvSpPr>
            <p:spPr>
              <a:xfrm>
                <a:off x="7467600" y="2438400"/>
                <a:ext cx="1295400" cy="76200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7" name="矩形 26"/>
              <p:cNvSpPr/>
              <p:nvPr/>
            </p:nvSpPr>
            <p:spPr>
              <a:xfrm>
                <a:off x="7467600" y="3200400"/>
                <a:ext cx="1295400" cy="762000"/>
              </a:xfrm>
              <a:prstGeom prst="rect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8" name="矩形 27"/>
              <p:cNvSpPr/>
              <p:nvPr/>
            </p:nvSpPr>
            <p:spPr>
              <a:xfrm>
                <a:off x="7467600" y="3962400"/>
                <a:ext cx="1295400" cy="762000"/>
              </a:xfrm>
              <a:prstGeom prst="rect">
                <a:avLst/>
              </a:prstGeom>
              <a:solidFill>
                <a:srgbClr val="FFFF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29" name="TextBox 28"/>
            <p:cNvSpPr txBox="1"/>
            <p:nvPr/>
          </p:nvSpPr>
          <p:spPr>
            <a:xfrm>
              <a:off x="1371600" y="5253335"/>
              <a:ext cx="3048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dirty="0"/>
                <a:t>B</a:t>
              </a:r>
              <a:endParaRPr lang="zh-CN" altLang="en-US" sz="2400" dirty="0"/>
            </a:p>
          </p:txBody>
        </p:sp>
      </p:grpSp>
      <p:grpSp>
        <p:nvGrpSpPr>
          <p:cNvPr id="33" name="组合 32"/>
          <p:cNvGrpSpPr/>
          <p:nvPr/>
        </p:nvGrpSpPr>
        <p:grpSpPr>
          <a:xfrm>
            <a:off x="2209800" y="5253335"/>
            <a:ext cx="685800" cy="461665"/>
            <a:chOff x="2209800" y="5181600"/>
            <a:chExt cx="685800" cy="461665"/>
          </a:xfrm>
        </p:grpSpPr>
        <p:sp>
          <p:nvSpPr>
            <p:cNvPr id="31" name="矩形 30"/>
            <p:cNvSpPr/>
            <p:nvPr/>
          </p:nvSpPr>
          <p:spPr>
            <a:xfrm>
              <a:off x="2209800" y="5181600"/>
              <a:ext cx="685800" cy="381000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2362200" y="5181600"/>
              <a:ext cx="3048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dirty="0"/>
                <a:t>C</a:t>
              </a:r>
              <a:endParaRPr lang="zh-CN" altLang="en-US" sz="2400" dirty="0"/>
            </a:p>
          </p:txBody>
        </p:sp>
      </p:grpSp>
      <p:sp>
        <p:nvSpPr>
          <p:cNvPr id="34" name="加号 33"/>
          <p:cNvSpPr/>
          <p:nvPr/>
        </p:nvSpPr>
        <p:spPr>
          <a:xfrm>
            <a:off x="1066800" y="5334000"/>
            <a:ext cx="228600" cy="228600"/>
          </a:xfrm>
          <a:prstGeom prst="mathPlus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右箭头 34"/>
          <p:cNvSpPr/>
          <p:nvPr/>
        </p:nvSpPr>
        <p:spPr>
          <a:xfrm>
            <a:off x="1905000" y="5410200"/>
            <a:ext cx="228600" cy="45719"/>
          </a:xfrm>
          <a:prstGeom prst="right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5" name="组合 44"/>
          <p:cNvGrpSpPr/>
          <p:nvPr/>
        </p:nvGrpSpPr>
        <p:grpSpPr>
          <a:xfrm>
            <a:off x="3505200" y="4953000"/>
            <a:ext cx="533400" cy="914400"/>
            <a:chOff x="3810000" y="5029200"/>
            <a:chExt cx="533400" cy="914400"/>
          </a:xfrm>
        </p:grpSpPr>
        <p:grpSp>
          <p:nvGrpSpPr>
            <p:cNvPr id="44" name="组合 43"/>
            <p:cNvGrpSpPr/>
            <p:nvPr/>
          </p:nvGrpSpPr>
          <p:grpSpPr>
            <a:xfrm>
              <a:off x="3810000" y="5029200"/>
              <a:ext cx="533400" cy="914400"/>
              <a:chOff x="3810000" y="5029200"/>
              <a:chExt cx="533400" cy="914400"/>
            </a:xfrm>
          </p:grpSpPr>
          <p:sp>
            <p:nvSpPr>
              <p:cNvPr id="39" name="矩形 38"/>
              <p:cNvSpPr/>
              <p:nvPr/>
            </p:nvSpPr>
            <p:spPr>
              <a:xfrm>
                <a:off x="3810000" y="5257800"/>
                <a:ext cx="533400" cy="228600"/>
              </a:xfrm>
              <a:prstGeom prst="rect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" name="矩形 39"/>
              <p:cNvSpPr/>
              <p:nvPr/>
            </p:nvSpPr>
            <p:spPr>
              <a:xfrm>
                <a:off x="3810000" y="5486400"/>
                <a:ext cx="533400" cy="228600"/>
              </a:xfrm>
              <a:prstGeom prst="rect">
                <a:avLst/>
              </a:prstGeom>
              <a:solidFill>
                <a:srgbClr val="FFFF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1" name="矩形 40"/>
              <p:cNvSpPr/>
              <p:nvPr/>
            </p:nvSpPr>
            <p:spPr>
              <a:xfrm>
                <a:off x="3810000" y="5029200"/>
                <a:ext cx="533400" cy="228600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2" name="矩形 41"/>
              <p:cNvSpPr/>
              <p:nvPr/>
            </p:nvSpPr>
            <p:spPr>
              <a:xfrm>
                <a:off x="3810000" y="5715000"/>
                <a:ext cx="533400" cy="228600"/>
              </a:xfrm>
              <a:prstGeom prst="rect">
                <a:avLst/>
              </a:prstGeom>
              <a:solidFill>
                <a:srgbClr val="EEEE8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38" name="TextBox 37"/>
            <p:cNvSpPr txBox="1"/>
            <p:nvPr/>
          </p:nvSpPr>
          <p:spPr>
            <a:xfrm>
              <a:off x="3886200" y="5253335"/>
              <a:ext cx="3810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A</a:t>
              </a:r>
              <a:endParaRPr lang="zh-CN" altLang="en-US" sz="2400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</p:grpSp>
      <p:grpSp>
        <p:nvGrpSpPr>
          <p:cNvPr id="55" name="组合 54"/>
          <p:cNvGrpSpPr/>
          <p:nvPr/>
        </p:nvGrpSpPr>
        <p:grpSpPr>
          <a:xfrm>
            <a:off x="4419600" y="4724400"/>
            <a:ext cx="457200" cy="1371600"/>
            <a:chOff x="4724400" y="4724400"/>
            <a:chExt cx="457200" cy="1371600"/>
          </a:xfrm>
        </p:grpSpPr>
        <p:grpSp>
          <p:nvGrpSpPr>
            <p:cNvPr id="54" name="组合 53"/>
            <p:cNvGrpSpPr/>
            <p:nvPr/>
          </p:nvGrpSpPr>
          <p:grpSpPr>
            <a:xfrm>
              <a:off x="4724400" y="4724400"/>
              <a:ext cx="457200" cy="1371600"/>
              <a:chOff x="4724400" y="4724400"/>
              <a:chExt cx="457200" cy="1371600"/>
            </a:xfrm>
          </p:grpSpPr>
          <p:sp>
            <p:nvSpPr>
              <p:cNvPr id="49" name="矩形 48"/>
              <p:cNvSpPr/>
              <p:nvPr/>
            </p:nvSpPr>
            <p:spPr>
              <a:xfrm>
                <a:off x="4724400" y="4953000"/>
                <a:ext cx="457200" cy="22860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0" name="矩形 49"/>
              <p:cNvSpPr/>
              <p:nvPr/>
            </p:nvSpPr>
            <p:spPr>
              <a:xfrm>
                <a:off x="4724400" y="5181600"/>
                <a:ext cx="457200" cy="457200"/>
              </a:xfrm>
              <a:prstGeom prst="rect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1" name="矩形 50"/>
              <p:cNvSpPr/>
              <p:nvPr/>
            </p:nvSpPr>
            <p:spPr>
              <a:xfrm>
                <a:off x="4724400" y="5638800"/>
                <a:ext cx="457200" cy="228600"/>
              </a:xfrm>
              <a:prstGeom prst="rect">
                <a:avLst/>
              </a:prstGeom>
              <a:solidFill>
                <a:srgbClr val="FFFF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2" name="矩形 51"/>
              <p:cNvSpPr/>
              <p:nvPr/>
            </p:nvSpPr>
            <p:spPr>
              <a:xfrm>
                <a:off x="4724400" y="4724400"/>
                <a:ext cx="457200" cy="228600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3" name="矩形 52"/>
              <p:cNvSpPr/>
              <p:nvPr/>
            </p:nvSpPr>
            <p:spPr>
              <a:xfrm>
                <a:off x="4724400" y="5867400"/>
                <a:ext cx="457200" cy="228600"/>
              </a:xfrm>
              <a:prstGeom prst="rect">
                <a:avLst/>
              </a:prstGeom>
              <a:solidFill>
                <a:srgbClr val="EEEE8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48" name="TextBox 47"/>
            <p:cNvSpPr txBox="1"/>
            <p:nvPr/>
          </p:nvSpPr>
          <p:spPr>
            <a:xfrm>
              <a:off x="4800600" y="5253335"/>
              <a:ext cx="3048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dirty="0"/>
                <a:t>B</a:t>
              </a:r>
              <a:endParaRPr lang="zh-CN" altLang="en-US" sz="2400" dirty="0"/>
            </a:p>
          </p:txBody>
        </p:sp>
      </p:grpSp>
      <p:grpSp>
        <p:nvGrpSpPr>
          <p:cNvPr id="61" name="组合 60"/>
          <p:cNvGrpSpPr/>
          <p:nvPr/>
        </p:nvGrpSpPr>
        <p:grpSpPr>
          <a:xfrm>
            <a:off x="5257800" y="5257800"/>
            <a:ext cx="685800" cy="461665"/>
            <a:chOff x="5257800" y="5257800"/>
            <a:chExt cx="685800" cy="461665"/>
          </a:xfrm>
        </p:grpSpPr>
        <p:grpSp>
          <p:nvGrpSpPr>
            <p:cNvPr id="60" name="组合 59"/>
            <p:cNvGrpSpPr/>
            <p:nvPr/>
          </p:nvGrpSpPr>
          <p:grpSpPr>
            <a:xfrm>
              <a:off x="5257800" y="5257800"/>
              <a:ext cx="685800" cy="381000"/>
              <a:chOff x="5257800" y="5257800"/>
              <a:chExt cx="685800" cy="381000"/>
            </a:xfrm>
          </p:grpSpPr>
          <p:sp>
            <p:nvSpPr>
              <p:cNvPr id="59" name="矩形 58"/>
              <p:cNvSpPr/>
              <p:nvPr/>
            </p:nvSpPr>
            <p:spPr>
              <a:xfrm>
                <a:off x="5257800" y="5257800"/>
                <a:ext cx="685800" cy="228600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7" name="矩形 56"/>
              <p:cNvSpPr/>
              <p:nvPr/>
            </p:nvSpPr>
            <p:spPr>
              <a:xfrm>
                <a:off x="5257800" y="5486400"/>
                <a:ext cx="685800" cy="152400"/>
              </a:xfrm>
              <a:prstGeom prst="rect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58" name="TextBox 57"/>
            <p:cNvSpPr txBox="1"/>
            <p:nvPr/>
          </p:nvSpPr>
          <p:spPr>
            <a:xfrm>
              <a:off x="5410200" y="5257800"/>
              <a:ext cx="3048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dirty="0"/>
                <a:t>C</a:t>
              </a:r>
              <a:endParaRPr lang="zh-CN" altLang="en-US" sz="2400" dirty="0"/>
            </a:p>
          </p:txBody>
        </p:sp>
      </p:grpSp>
      <p:sp>
        <p:nvSpPr>
          <p:cNvPr id="62" name="加号 61"/>
          <p:cNvSpPr/>
          <p:nvPr/>
        </p:nvSpPr>
        <p:spPr>
          <a:xfrm>
            <a:off x="4114800" y="5334000"/>
            <a:ext cx="228600" cy="228600"/>
          </a:xfrm>
          <a:prstGeom prst="mathPlus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3" name="右箭头 62"/>
          <p:cNvSpPr/>
          <p:nvPr/>
        </p:nvSpPr>
        <p:spPr>
          <a:xfrm>
            <a:off x="4953000" y="5410200"/>
            <a:ext cx="228600" cy="45719"/>
          </a:xfrm>
          <a:prstGeom prst="right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右箭头 63"/>
          <p:cNvSpPr/>
          <p:nvPr/>
        </p:nvSpPr>
        <p:spPr>
          <a:xfrm>
            <a:off x="3048000" y="5410200"/>
            <a:ext cx="381000" cy="76200"/>
          </a:xfrm>
          <a:prstGeom prst="right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5" name="右箭头 64"/>
          <p:cNvSpPr/>
          <p:nvPr/>
        </p:nvSpPr>
        <p:spPr>
          <a:xfrm>
            <a:off x="6096000" y="5410200"/>
            <a:ext cx="1295400" cy="152400"/>
          </a:xfrm>
          <a:prstGeom prst="right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6" name="TextBox 65"/>
          <p:cNvSpPr txBox="1"/>
          <p:nvPr/>
        </p:nvSpPr>
        <p:spPr>
          <a:xfrm>
            <a:off x="6019800" y="5040868"/>
            <a:ext cx="152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Derive rules r’</a:t>
            </a:r>
            <a:endParaRPr lang="zh-CN" altLang="en-US" dirty="0"/>
          </a:p>
        </p:txBody>
      </p:sp>
      <p:grpSp>
        <p:nvGrpSpPr>
          <p:cNvPr id="67" name="组合 66"/>
          <p:cNvGrpSpPr/>
          <p:nvPr/>
        </p:nvGrpSpPr>
        <p:grpSpPr>
          <a:xfrm>
            <a:off x="7543800" y="4724400"/>
            <a:ext cx="1371600" cy="1143000"/>
            <a:chOff x="6477000" y="5410200"/>
            <a:chExt cx="1371600" cy="1143000"/>
          </a:xfrm>
        </p:grpSpPr>
        <p:grpSp>
          <p:nvGrpSpPr>
            <p:cNvPr id="68" name="组合 27"/>
            <p:cNvGrpSpPr/>
            <p:nvPr/>
          </p:nvGrpSpPr>
          <p:grpSpPr>
            <a:xfrm>
              <a:off x="6477000" y="5410200"/>
              <a:ext cx="1219200" cy="1143000"/>
              <a:chOff x="6477000" y="5181600"/>
              <a:chExt cx="1219200" cy="1143000"/>
            </a:xfrm>
          </p:grpSpPr>
          <p:cxnSp>
            <p:nvCxnSpPr>
              <p:cNvPr id="70" name="直接连接符 69"/>
              <p:cNvCxnSpPr/>
              <p:nvPr/>
            </p:nvCxnSpPr>
            <p:spPr>
              <a:xfrm>
                <a:off x="6477000" y="5181600"/>
                <a:ext cx="0" cy="1143000"/>
              </a:xfrm>
              <a:prstGeom prst="line">
                <a:avLst/>
              </a:prstGeom>
              <a:ln w="254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直接连接符 70"/>
              <p:cNvCxnSpPr/>
              <p:nvPr/>
            </p:nvCxnSpPr>
            <p:spPr>
              <a:xfrm>
                <a:off x="6477000" y="6324600"/>
                <a:ext cx="1219200" cy="0"/>
              </a:xfrm>
              <a:prstGeom prst="line">
                <a:avLst/>
              </a:prstGeom>
              <a:ln w="254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直接连接符 71"/>
              <p:cNvCxnSpPr/>
              <p:nvPr/>
            </p:nvCxnSpPr>
            <p:spPr>
              <a:xfrm flipV="1">
                <a:off x="7696200" y="5181600"/>
                <a:ext cx="0" cy="1143000"/>
              </a:xfrm>
              <a:prstGeom prst="line">
                <a:avLst/>
              </a:prstGeom>
              <a:ln w="254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9" name="TextBox 68"/>
            <p:cNvSpPr txBox="1"/>
            <p:nvPr/>
          </p:nvSpPr>
          <p:spPr>
            <a:xfrm>
              <a:off x="6705600" y="6031468"/>
              <a:ext cx="1143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Stack R</a:t>
              </a:r>
              <a:endParaRPr lang="zh-CN" altLang="en-US" dirty="0"/>
            </a:p>
          </p:txBody>
        </p:sp>
      </p:grpSp>
      <p:sp>
        <p:nvSpPr>
          <p:cNvPr id="73" name="手杖形箭头 72"/>
          <p:cNvSpPr/>
          <p:nvPr/>
        </p:nvSpPr>
        <p:spPr>
          <a:xfrm>
            <a:off x="6781800" y="4419600"/>
            <a:ext cx="1371600" cy="381000"/>
          </a:xfrm>
          <a:prstGeom prst="uturn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6705600" y="3810000"/>
            <a:ext cx="21336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If support ≥ minsup</a:t>
            </a:r>
            <a:endParaRPr lang="zh-CN" altLang="en-US" dirty="0"/>
          </a:p>
        </p:txBody>
      </p:sp>
      <p:sp>
        <p:nvSpPr>
          <p:cNvPr id="75" name="下箭头 74"/>
          <p:cNvSpPr/>
          <p:nvPr/>
        </p:nvSpPr>
        <p:spPr>
          <a:xfrm rot="18900000">
            <a:off x="6055192" y="5674192"/>
            <a:ext cx="152400" cy="609600"/>
          </a:xfrm>
          <a:prstGeom prst="down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6" name="TextBox 75"/>
          <p:cNvSpPr txBox="1"/>
          <p:nvPr/>
        </p:nvSpPr>
        <p:spPr>
          <a:xfrm>
            <a:off x="6400800" y="5943600"/>
            <a:ext cx="2286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If conf ≥</a:t>
            </a:r>
            <a:r>
              <a:rPr lang="en-US" altLang="zh-CN" dirty="0" err="1"/>
              <a:t>minconf</a:t>
            </a:r>
            <a:endParaRPr lang="zh-CN" altLang="en-US" dirty="0"/>
          </a:p>
        </p:txBody>
      </p:sp>
      <p:sp>
        <p:nvSpPr>
          <p:cNvPr id="77" name="TextBox 76"/>
          <p:cNvSpPr txBox="1"/>
          <p:nvPr/>
        </p:nvSpPr>
        <p:spPr>
          <a:xfrm>
            <a:off x="6172200" y="6324600"/>
            <a:ext cx="1676400" cy="46166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Output r</a:t>
            </a:r>
            <a:endParaRPr lang="zh-CN" alt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/>
      <p:bldP spid="16" grpId="0"/>
      <p:bldP spid="17" grpId="0"/>
      <p:bldP spid="18" grpId="0" animBg="1"/>
      <p:bldP spid="19" grpId="0" animBg="1"/>
      <p:bldP spid="34" grpId="0" animBg="1"/>
      <p:bldP spid="35" grpId="0" animBg="1"/>
      <p:bldP spid="62" grpId="0" animBg="1"/>
      <p:bldP spid="63" grpId="0" animBg="1"/>
      <p:bldP spid="64" grpId="0" animBg="1"/>
      <p:bldP spid="65" grpId="0" animBg="1"/>
      <p:bldP spid="66" grpId="0"/>
      <p:bldP spid="73" grpId="0" animBg="1"/>
      <p:bldP spid="74" grpId="0"/>
      <p:bldP spid="75" grpId="0" animBg="1"/>
      <p:bldP spid="76" grpId="0"/>
      <p:bldP spid="7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1143000"/>
          </a:xfrm>
        </p:spPr>
        <p:txBody>
          <a:bodyPr/>
          <a:lstStyle/>
          <a:p>
            <a:r>
              <a:rPr lang="en-US" altLang="zh-CN" dirty="0"/>
              <a:t>Termination condition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AC7E7-C2F4-4332-9F19-0888F2C32627}" type="slidenum">
              <a:rPr lang="zh-CN" altLang="en-US" smtClean="0"/>
              <a:pPr/>
              <a:t>9</a:t>
            </a:fld>
            <a:endParaRPr lang="zh-CN" altLang="en-US"/>
          </a:p>
        </p:txBody>
      </p:sp>
      <p:grpSp>
        <p:nvGrpSpPr>
          <p:cNvPr id="54" name="组合 53"/>
          <p:cNvGrpSpPr/>
          <p:nvPr/>
        </p:nvGrpSpPr>
        <p:grpSpPr>
          <a:xfrm>
            <a:off x="762000" y="2057400"/>
            <a:ext cx="685800" cy="1752600"/>
            <a:chOff x="762000" y="2057400"/>
            <a:chExt cx="685800" cy="1752600"/>
          </a:xfrm>
        </p:grpSpPr>
        <p:sp>
          <p:nvSpPr>
            <p:cNvPr id="42" name="矩形 41"/>
            <p:cNvSpPr/>
            <p:nvPr/>
          </p:nvSpPr>
          <p:spPr>
            <a:xfrm>
              <a:off x="762000" y="2362200"/>
              <a:ext cx="685800" cy="1143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矩形 43"/>
            <p:cNvSpPr/>
            <p:nvPr/>
          </p:nvSpPr>
          <p:spPr>
            <a:xfrm>
              <a:off x="762000" y="2057400"/>
              <a:ext cx="685800" cy="3048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" name="矩形 44"/>
            <p:cNvSpPr/>
            <p:nvPr/>
          </p:nvSpPr>
          <p:spPr>
            <a:xfrm>
              <a:off x="762000" y="3505200"/>
              <a:ext cx="685800" cy="3048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55" name="组合 54"/>
          <p:cNvGrpSpPr/>
          <p:nvPr/>
        </p:nvGrpSpPr>
        <p:grpSpPr>
          <a:xfrm>
            <a:off x="2057400" y="2057400"/>
            <a:ext cx="685800" cy="1752600"/>
            <a:chOff x="2057400" y="2057400"/>
            <a:chExt cx="685800" cy="1752600"/>
          </a:xfrm>
        </p:grpSpPr>
        <p:sp>
          <p:nvSpPr>
            <p:cNvPr id="43" name="矩形 42"/>
            <p:cNvSpPr/>
            <p:nvPr/>
          </p:nvSpPr>
          <p:spPr>
            <a:xfrm>
              <a:off x="2057400" y="2362200"/>
              <a:ext cx="685800" cy="1143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矩形 45"/>
            <p:cNvSpPr/>
            <p:nvPr/>
          </p:nvSpPr>
          <p:spPr>
            <a:xfrm>
              <a:off x="2057400" y="2057400"/>
              <a:ext cx="685800" cy="3048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" name="矩形 46"/>
            <p:cNvSpPr/>
            <p:nvPr/>
          </p:nvSpPr>
          <p:spPr>
            <a:xfrm>
              <a:off x="2057400" y="3505200"/>
              <a:ext cx="685800" cy="3048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56" name="组合 55"/>
          <p:cNvGrpSpPr/>
          <p:nvPr/>
        </p:nvGrpSpPr>
        <p:grpSpPr>
          <a:xfrm>
            <a:off x="3505200" y="2057400"/>
            <a:ext cx="685800" cy="1752600"/>
            <a:chOff x="3505200" y="2057400"/>
            <a:chExt cx="685800" cy="1752600"/>
          </a:xfrm>
        </p:grpSpPr>
        <p:sp>
          <p:nvSpPr>
            <p:cNvPr id="48" name="矩形 47"/>
            <p:cNvSpPr/>
            <p:nvPr/>
          </p:nvSpPr>
          <p:spPr>
            <a:xfrm>
              <a:off x="3505200" y="2362200"/>
              <a:ext cx="685800" cy="1143000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" name="矩形 48"/>
            <p:cNvSpPr/>
            <p:nvPr/>
          </p:nvSpPr>
          <p:spPr>
            <a:xfrm>
              <a:off x="3505200" y="2057400"/>
              <a:ext cx="685800" cy="3048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0" name="矩形 49"/>
            <p:cNvSpPr/>
            <p:nvPr/>
          </p:nvSpPr>
          <p:spPr>
            <a:xfrm>
              <a:off x="3505200" y="3505200"/>
              <a:ext cx="685800" cy="3048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51" name="TextBox 50"/>
          <p:cNvSpPr txBox="1"/>
          <p:nvPr/>
        </p:nvSpPr>
        <p:spPr>
          <a:xfrm>
            <a:off x="914400" y="1595735"/>
            <a:ext cx="685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A</a:t>
            </a:r>
            <a:endParaRPr lang="zh-CN" altLang="en-US" sz="2400" dirty="0"/>
          </a:p>
        </p:txBody>
      </p:sp>
      <p:sp>
        <p:nvSpPr>
          <p:cNvPr id="52" name="TextBox 51"/>
          <p:cNvSpPr txBox="1"/>
          <p:nvPr/>
        </p:nvSpPr>
        <p:spPr>
          <a:xfrm>
            <a:off x="2209800" y="1595735"/>
            <a:ext cx="685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B</a:t>
            </a:r>
            <a:endParaRPr lang="zh-CN" altLang="en-US" sz="2400" dirty="0"/>
          </a:p>
        </p:txBody>
      </p:sp>
      <p:sp>
        <p:nvSpPr>
          <p:cNvPr id="53" name="TextBox 52"/>
          <p:cNvSpPr txBox="1"/>
          <p:nvPr/>
        </p:nvSpPr>
        <p:spPr>
          <a:xfrm>
            <a:off x="3657600" y="1595735"/>
            <a:ext cx="685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C</a:t>
            </a:r>
            <a:endParaRPr lang="zh-CN" altLang="en-US" sz="2400" dirty="0"/>
          </a:p>
        </p:txBody>
      </p:sp>
      <p:sp>
        <p:nvSpPr>
          <p:cNvPr id="57" name="加号 56"/>
          <p:cNvSpPr/>
          <p:nvPr/>
        </p:nvSpPr>
        <p:spPr>
          <a:xfrm>
            <a:off x="1600200" y="2819400"/>
            <a:ext cx="304800" cy="304800"/>
          </a:xfrm>
          <a:prstGeom prst="mathPlus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" name="右箭头 57"/>
          <p:cNvSpPr/>
          <p:nvPr/>
        </p:nvSpPr>
        <p:spPr>
          <a:xfrm>
            <a:off x="2895600" y="2895600"/>
            <a:ext cx="533400" cy="228600"/>
          </a:xfrm>
          <a:prstGeom prst="right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" name="TextBox 58"/>
          <p:cNvSpPr txBox="1"/>
          <p:nvPr/>
        </p:nvSpPr>
        <p:spPr>
          <a:xfrm>
            <a:off x="762000" y="2667000"/>
            <a:ext cx="685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srgbClr val="FFFF00"/>
                </a:solidFill>
              </a:rPr>
              <a:t>P</a:t>
            </a:r>
            <a:r>
              <a:rPr lang="en-US" altLang="zh-CN" sz="2000" baseline="-25000" dirty="0">
                <a:solidFill>
                  <a:srgbClr val="FFFF00"/>
                </a:solidFill>
              </a:rPr>
              <a:t>trim</a:t>
            </a:r>
            <a:endParaRPr lang="zh-CN" altLang="en-US" sz="2000" baseline="-25000" dirty="0">
              <a:solidFill>
                <a:srgbClr val="FFFF00"/>
              </a:solidFill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2133600" y="2724090"/>
            <a:ext cx="685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srgbClr val="FFFF00"/>
                </a:solidFill>
              </a:rPr>
              <a:t>P</a:t>
            </a:r>
            <a:r>
              <a:rPr lang="en-US" altLang="zh-CN" sz="2000" baseline="-25000" dirty="0">
                <a:solidFill>
                  <a:srgbClr val="FFFF00"/>
                </a:solidFill>
              </a:rPr>
              <a:t>trim</a:t>
            </a:r>
            <a:endParaRPr lang="zh-CN" altLang="en-US" sz="2000" baseline="-25000" dirty="0">
              <a:solidFill>
                <a:srgbClr val="FFFF00"/>
              </a:solidFill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3505200" y="2743200"/>
            <a:ext cx="914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srgbClr val="FFFF00"/>
                </a:solidFill>
              </a:rPr>
              <a:t>Q</a:t>
            </a:r>
            <a:r>
              <a:rPr lang="en-US" altLang="zh-CN" sz="2000" baseline="-25000" dirty="0">
                <a:solidFill>
                  <a:srgbClr val="FFFF00"/>
                </a:solidFill>
              </a:rPr>
              <a:t>trim</a:t>
            </a:r>
            <a:endParaRPr lang="zh-CN" altLang="en-US" sz="2000" baseline="-25000" dirty="0">
              <a:solidFill>
                <a:srgbClr val="FFFF00"/>
              </a:solidFill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4724400" y="1976735"/>
            <a:ext cx="3429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If </a:t>
            </a:r>
            <a:r>
              <a:rPr lang="en-US" altLang="zh-CN" sz="2400" dirty="0">
                <a:solidFill>
                  <a:srgbClr val="FF0000"/>
                </a:solidFill>
              </a:rPr>
              <a:t>s(r)</a:t>
            </a:r>
            <a:r>
              <a:rPr lang="en-US" altLang="zh-CN" sz="2400" dirty="0"/>
              <a:t>/</a:t>
            </a:r>
            <a:r>
              <a:rPr lang="en-US" altLang="zh-CN" sz="2400" dirty="0">
                <a:solidFill>
                  <a:srgbClr val="0070C0"/>
                </a:solidFill>
              </a:rPr>
              <a:t>s(P</a:t>
            </a:r>
            <a:r>
              <a:rPr lang="en-US" altLang="zh-CN" sz="2400" baseline="-25000" dirty="0">
                <a:solidFill>
                  <a:srgbClr val="0070C0"/>
                </a:solidFill>
              </a:rPr>
              <a:t>trim</a:t>
            </a:r>
            <a:r>
              <a:rPr lang="en-US" altLang="zh-CN" sz="2400" dirty="0">
                <a:solidFill>
                  <a:srgbClr val="0070C0"/>
                </a:solidFill>
              </a:rPr>
              <a:t>)</a:t>
            </a:r>
            <a:r>
              <a:rPr lang="en-US" altLang="zh-CN" sz="2400" dirty="0"/>
              <a:t>&lt;</a:t>
            </a:r>
            <a:r>
              <a:rPr lang="en-US" altLang="zh-CN" sz="2400" dirty="0" err="1"/>
              <a:t>minconf</a:t>
            </a:r>
            <a:r>
              <a:rPr lang="en-US" altLang="zh-CN" sz="2400" dirty="0"/>
              <a:t> </a:t>
            </a:r>
            <a:endParaRPr lang="zh-CN" altLang="en-US" sz="2400" dirty="0"/>
          </a:p>
        </p:txBody>
      </p:sp>
      <p:sp>
        <p:nvSpPr>
          <p:cNvPr id="67" name="TextBox 66"/>
          <p:cNvSpPr txBox="1"/>
          <p:nvPr/>
        </p:nvSpPr>
        <p:spPr>
          <a:xfrm>
            <a:off x="4648200" y="3505200"/>
            <a:ext cx="4495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if </a:t>
            </a:r>
            <a:r>
              <a:rPr lang="en-US" altLang="zh-CN" sz="2400" dirty="0">
                <a:solidFill>
                  <a:srgbClr val="FF0000"/>
                </a:solidFill>
              </a:rPr>
              <a:t>s(r)/s(P</a:t>
            </a:r>
            <a:r>
              <a:rPr lang="en-US" altLang="zh-CN" sz="2400" baseline="-25000" dirty="0">
                <a:solidFill>
                  <a:srgbClr val="FF0000"/>
                </a:solidFill>
              </a:rPr>
              <a:t>trim</a:t>
            </a:r>
            <a:r>
              <a:rPr lang="en-US" altLang="zh-CN" sz="2400" dirty="0">
                <a:solidFill>
                  <a:srgbClr val="FF0000"/>
                </a:solidFill>
              </a:rPr>
              <a:t>) </a:t>
            </a:r>
            <a:r>
              <a:rPr lang="en-US" altLang="zh-CN" sz="2400" dirty="0"/>
              <a:t>&lt; (1+</a:t>
            </a:r>
            <a:r>
              <a:rPr lang="el-GR" altLang="zh-CN" sz="2400" dirty="0"/>
              <a:t>δ</a:t>
            </a:r>
            <a:r>
              <a:rPr lang="en-US" altLang="zh-CN" sz="2400" dirty="0"/>
              <a:t>)*</a:t>
            </a:r>
            <a:r>
              <a:rPr lang="en-US" altLang="zh-CN" sz="2400" dirty="0">
                <a:solidFill>
                  <a:srgbClr val="0070C0"/>
                </a:solidFill>
              </a:rPr>
              <a:t>s(Q</a:t>
            </a:r>
            <a:r>
              <a:rPr lang="en-US" altLang="zh-CN" sz="2400" baseline="-25000" dirty="0">
                <a:solidFill>
                  <a:srgbClr val="0070C0"/>
                </a:solidFill>
              </a:rPr>
              <a:t>trim</a:t>
            </a:r>
            <a:r>
              <a:rPr lang="en-US" altLang="zh-CN" sz="2400" dirty="0">
                <a:solidFill>
                  <a:srgbClr val="0070C0"/>
                </a:solidFill>
              </a:rPr>
              <a:t>)</a:t>
            </a:r>
            <a:r>
              <a:rPr lang="en-US" altLang="zh-CN" sz="2400" dirty="0"/>
              <a:t> </a:t>
            </a:r>
            <a:endParaRPr lang="zh-CN" altLang="en-US" sz="2400" dirty="0"/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71" name="TextBox 70"/>
          <p:cNvSpPr txBox="1"/>
          <p:nvPr/>
        </p:nvSpPr>
        <p:spPr>
          <a:xfrm>
            <a:off x="4953000" y="2590800"/>
            <a:ext cx="1905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Upper bound conf</a:t>
            </a:r>
            <a:endParaRPr lang="zh-CN" altLang="en-US" dirty="0"/>
          </a:p>
        </p:txBody>
      </p:sp>
      <p:sp>
        <p:nvSpPr>
          <p:cNvPr id="73" name="左大括号 72"/>
          <p:cNvSpPr/>
          <p:nvPr/>
        </p:nvSpPr>
        <p:spPr>
          <a:xfrm rot="5400000">
            <a:off x="7962899" y="3162299"/>
            <a:ext cx="152401" cy="685800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4" name="左大括号 73"/>
          <p:cNvSpPr/>
          <p:nvPr/>
        </p:nvSpPr>
        <p:spPr>
          <a:xfrm rot="16200000">
            <a:off x="5791201" y="1904999"/>
            <a:ext cx="152399" cy="1219201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5" name="TextBox 74"/>
          <p:cNvSpPr txBox="1"/>
          <p:nvPr/>
        </p:nvSpPr>
        <p:spPr>
          <a:xfrm>
            <a:off x="6781800" y="3124200"/>
            <a:ext cx="2362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Lower bound support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" grpId="0"/>
      <p:bldP spid="67" grpId="0"/>
      <p:bldP spid="71" grpId="0"/>
      <p:bldP spid="73" grpId="0" animBg="1"/>
      <p:bldP spid="74" grpId="0" animBg="1"/>
      <p:bldP spid="7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Temporary table optimization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AC7E7-C2F4-4332-9F19-0888F2C32627}" type="slidenum">
              <a:rPr lang="zh-CN" altLang="en-US" smtClean="0"/>
              <a:pPr/>
              <a:t>10</a:t>
            </a:fld>
            <a:endParaRPr lang="zh-CN" altLang="en-US"/>
          </a:p>
        </p:txBody>
      </p:sp>
      <p:sp>
        <p:nvSpPr>
          <p:cNvPr id="5" name="TextBox 4"/>
          <p:cNvSpPr txBox="1"/>
          <p:nvPr/>
        </p:nvSpPr>
        <p:spPr>
          <a:xfrm>
            <a:off x="2743200" y="4693636"/>
            <a:ext cx="5823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..</a:t>
            </a:r>
          </a:p>
        </p:txBody>
      </p:sp>
      <p:sp>
        <p:nvSpPr>
          <p:cNvPr id="6" name="Oval 3"/>
          <p:cNvSpPr/>
          <p:nvPr/>
        </p:nvSpPr>
        <p:spPr>
          <a:xfrm>
            <a:off x="2792104" y="3505200"/>
            <a:ext cx="609600" cy="609600"/>
          </a:xfrm>
          <a:prstGeom prst="ellipse">
            <a:avLst/>
          </a:prstGeom>
          <a:noFill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4"/>
          <p:cNvSpPr/>
          <p:nvPr/>
        </p:nvSpPr>
        <p:spPr>
          <a:xfrm>
            <a:off x="1953904" y="4343400"/>
            <a:ext cx="304800" cy="304800"/>
          </a:xfrm>
          <a:prstGeom prst="ellipse">
            <a:avLst/>
          </a:prstGeom>
          <a:noFill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5"/>
          <p:cNvSpPr/>
          <p:nvPr/>
        </p:nvSpPr>
        <p:spPr>
          <a:xfrm>
            <a:off x="2715904" y="4343400"/>
            <a:ext cx="304800" cy="304800"/>
          </a:xfrm>
          <a:prstGeom prst="ellipse">
            <a:avLst/>
          </a:prstGeom>
          <a:noFill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6"/>
          <p:cNvSpPr/>
          <p:nvPr/>
        </p:nvSpPr>
        <p:spPr>
          <a:xfrm>
            <a:off x="3921456" y="4343400"/>
            <a:ext cx="304800" cy="304800"/>
          </a:xfrm>
          <a:prstGeom prst="ellipse">
            <a:avLst/>
          </a:prstGeom>
          <a:noFill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7"/>
          <p:cNvSpPr/>
          <p:nvPr/>
        </p:nvSpPr>
        <p:spPr>
          <a:xfrm>
            <a:off x="1698008" y="4953000"/>
            <a:ext cx="152400" cy="152400"/>
          </a:xfrm>
          <a:prstGeom prst="ellipse">
            <a:avLst/>
          </a:prstGeom>
          <a:noFill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8"/>
          <p:cNvSpPr/>
          <p:nvPr/>
        </p:nvSpPr>
        <p:spPr>
          <a:xfrm>
            <a:off x="1891352" y="4953000"/>
            <a:ext cx="152400" cy="152400"/>
          </a:xfrm>
          <a:prstGeom prst="ellipse">
            <a:avLst/>
          </a:prstGeom>
          <a:noFill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9"/>
          <p:cNvSpPr/>
          <p:nvPr/>
        </p:nvSpPr>
        <p:spPr>
          <a:xfrm>
            <a:off x="2258704" y="4953000"/>
            <a:ext cx="152400" cy="152400"/>
          </a:xfrm>
          <a:prstGeom prst="ellipse">
            <a:avLst/>
          </a:prstGeom>
          <a:noFill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3200400" y="4038600"/>
            <a:ext cx="73470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...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53904" y="4693636"/>
            <a:ext cx="5823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..</a:t>
            </a:r>
          </a:p>
        </p:txBody>
      </p:sp>
      <p:cxnSp>
        <p:nvCxnSpPr>
          <p:cNvPr id="15" name="Straight Connector 20"/>
          <p:cNvCxnSpPr>
            <a:stCxn id="6" idx="3"/>
            <a:endCxn id="7" idx="7"/>
          </p:cNvCxnSpPr>
          <p:nvPr/>
        </p:nvCxnSpPr>
        <p:spPr>
          <a:xfrm flipH="1">
            <a:off x="2214067" y="4025526"/>
            <a:ext cx="667311" cy="36251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22"/>
          <p:cNvCxnSpPr>
            <a:stCxn id="6" idx="4"/>
            <a:endCxn id="8" idx="0"/>
          </p:cNvCxnSpPr>
          <p:nvPr/>
        </p:nvCxnSpPr>
        <p:spPr>
          <a:xfrm flipH="1">
            <a:off x="2868304" y="4114800"/>
            <a:ext cx="228600" cy="2286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24"/>
          <p:cNvCxnSpPr>
            <a:stCxn id="6" idx="5"/>
            <a:endCxn id="9" idx="1"/>
          </p:cNvCxnSpPr>
          <p:nvPr/>
        </p:nvCxnSpPr>
        <p:spPr>
          <a:xfrm>
            <a:off x="3312430" y="4025526"/>
            <a:ext cx="653663" cy="362511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26"/>
          <p:cNvCxnSpPr>
            <a:stCxn id="7" idx="3"/>
            <a:endCxn id="10" idx="0"/>
          </p:cNvCxnSpPr>
          <p:nvPr/>
        </p:nvCxnSpPr>
        <p:spPr>
          <a:xfrm flipH="1">
            <a:off x="1774208" y="4603563"/>
            <a:ext cx="224333" cy="349437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28"/>
          <p:cNvCxnSpPr>
            <a:stCxn id="7" idx="4"/>
            <a:endCxn id="14" idx="1"/>
          </p:cNvCxnSpPr>
          <p:nvPr/>
        </p:nvCxnSpPr>
        <p:spPr>
          <a:xfrm flipH="1">
            <a:off x="1953904" y="4648200"/>
            <a:ext cx="152400" cy="307046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30"/>
          <p:cNvCxnSpPr>
            <a:stCxn id="7" idx="5"/>
          </p:cNvCxnSpPr>
          <p:nvPr/>
        </p:nvCxnSpPr>
        <p:spPr>
          <a:xfrm>
            <a:off x="2214067" y="4603563"/>
            <a:ext cx="120837" cy="349437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31"/>
          <p:cNvSpPr/>
          <p:nvPr/>
        </p:nvSpPr>
        <p:spPr>
          <a:xfrm>
            <a:off x="2481616" y="4953000"/>
            <a:ext cx="152400" cy="152400"/>
          </a:xfrm>
          <a:prstGeom prst="ellipse">
            <a:avLst/>
          </a:prstGeom>
          <a:noFill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32"/>
          <p:cNvSpPr/>
          <p:nvPr/>
        </p:nvSpPr>
        <p:spPr>
          <a:xfrm>
            <a:off x="2674960" y="4953000"/>
            <a:ext cx="152400" cy="152400"/>
          </a:xfrm>
          <a:prstGeom prst="ellipse">
            <a:avLst/>
          </a:prstGeom>
          <a:noFill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33"/>
          <p:cNvSpPr/>
          <p:nvPr/>
        </p:nvSpPr>
        <p:spPr>
          <a:xfrm>
            <a:off x="3042312" y="4953000"/>
            <a:ext cx="152400" cy="152400"/>
          </a:xfrm>
          <a:prstGeom prst="ellipse">
            <a:avLst/>
          </a:prstGeom>
          <a:noFill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" name="Straight Connector 34"/>
          <p:cNvCxnSpPr>
            <a:endCxn id="21" idx="0"/>
          </p:cNvCxnSpPr>
          <p:nvPr/>
        </p:nvCxnSpPr>
        <p:spPr>
          <a:xfrm flipH="1">
            <a:off x="2557816" y="4603563"/>
            <a:ext cx="224333" cy="349437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35"/>
          <p:cNvCxnSpPr/>
          <p:nvPr/>
        </p:nvCxnSpPr>
        <p:spPr>
          <a:xfrm flipH="1">
            <a:off x="2737512" y="4648200"/>
            <a:ext cx="152400" cy="307046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36"/>
          <p:cNvCxnSpPr/>
          <p:nvPr/>
        </p:nvCxnSpPr>
        <p:spPr>
          <a:xfrm>
            <a:off x="2997675" y="4603563"/>
            <a:ext cx="120837" cy="349437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Oval 38"/>
          <p:cNvSpPr/>
          <p:nvPr/>
        </p:nvSpPr>
        <p:spPr>
          <a:xfrm>
            <a:off x="3671248" y="4970341"/>
            <a:ext cx="152400" cy="152400"/>
          </a:xfrm>
          <a:prstGeom prst="ellipse">
            <a:avLst/>
          </a:prstGeom>
          <a:noFill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39"/>
          <p:cNvSpPr/>
          <p:nvPr/>
        </p:nvSpPr>
        <p:spPr>
          <a:xfrm>
            <a:off x="3864592" y="4970341"/>
            <a:ext cx="152400" cy="152400"/>
          </a:xfrm>
          <a:prstGeom prst="ellipse">
            <a:avLst/>
          </a:prstGeom>
          <a:noFill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40"/>
          <p:cNvSpPr/>
          <p:nvPr/>
        </p:nvSpPr>
        <p:spPr>
          <a:xfrm>
            <a:off x="4231944" y="4970341"/>
            <a:ext cx="152400" cy="152400"/>
          </a:xfrm>
          <a:prstGeom prst="ellipse">
            <a:avLst/>
          </a:prstGeom>
          <a:noFill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/>
          <p:cNvSpPr txBox="1"/>
          <p:nvPr/>
        </p:nvSpPr>
        <p:spPr>
          <a:xfrm>
            <a:off x="3927144" y="4710977"/>
            <a:ext cx="5823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..</a:t>
            </a:r>
          </a:p>
        </p:txBody>
      </p:sp>
      <p:cxnSp>
        <p:nvCxnSpPr>
          <p:cNvPr id="31" name="Straight Connector 42"/>
          <p:cNvCxnSpPr>
            <a:endCxn id="27" idx="0"/>
          </p:cNvCxnSpPr>
          <p:nvPr/>
        </p:nvCxnSpPr>
        <p:spPr>
          <a:xfrm flipH="1">
            <a:off x="3747448" y="4620904"/>
            <a:ext cx="224333" cy="349437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43"/>
          <p:cNvCxnSpPr>
            <a:endCxn id="30" idx="1"/>
          </p:cNvCxnSpPr>
          <p:nvPr/>
        </p:nvCxnSpPr>
        <p:spPr>
          <a:xfrm flipH="1">
            <a:off x="3927144" y="4665541"/>
            <a:ext cx="152400" cy="307046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44"/>
          <p:cNvCxnSpPr/>
          <p:nvPr/>
        </p:nvCxnSpPr>
        <p:spPr>
          <a:xfrm>
            <a:off x="4187307" y="4620904"/>
            <a:ext cx="120837" cy="349437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Oval 49"/>
          <p:cNvSpPr/>
          <p:nvPr/>
        </p:nvSpPr>
        <p:spPr>
          <a:xfrm>
            <a:off x="5570560" y="3518848"/>
            <a:ext cx="609600" cy="609600"/>
          </a:xfrm>
          <a:prstGeom prst="ellipse">
            <a:avLst/>
          </a:prstGeom>
          <a:noFill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50"/>
          <p:cNvSpPr/>
          <p:nvPr/>
        </p:nvSpPr>
        <p:spPr>
          <a:xfrm>
            <a:off x="4732360" y="4357048"/>
            <a:ext cx="304800" cy="304800"/>
          </a:xfrm>
          <a:prstGeom prst="ellipse">
            <a:avLst/>
          </a:prstGeom>
          <a:noFill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51"/>
          <p:cNvSpPr/>
          <p:nvPr/>
        </p:nvSpPr>
        <p:spPr>
          <a:xfrm>
            <a:off x="5494360" y="4357048"/>
            <a:ext cx="304800" cy="304800"/>
          </a:xfrm>
          <a:prstGeom prst="ellipse">
            <a:avLst/>
          </a:prstGeom>
          <a:noFill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52"/>
          <p:cNvSpPr/>
          <p:nvPr/>
        </p:nvSpPr>
        <p:spPr>
          <a:xfrm>
            <a:off x="6699912" y="4357048"/>
            <a:ext cx="304800" cy="304800"/>
          </a:xfrm>
          <a:prstGeom prst="ellipse">
            <a:avLst/>
          </a:prstGeom>
          <a:noFill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53"/>
          <p:cNvSpPr/>
          <p:nvPr/>
        </p:nvSpPr>
        <p:spPr>
          <a:xfrm>
            <a:off x="4476464" y="4966648"/>
            <a:ext cx="152400" cy="152400"/>
          </a:xfrm>
          <a:prstGeom prst="ellipse">
            <a:avLst/>
          </a:prstGeom>
          <a:noFill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54"/>
          <p:cNvSpPr/>
          <p:nvPr/>
        </p:nvSpPr>
        <p:spPr>
          <a:xfrm>
            <a:off x="4669808" y="4966648"/>
            <a:ext cx="152400" cy="152400"/>
          </a:xfrm>
          <a:prstGeom prst="ellipse">
            <a:avLst/>
          </a:prstGeom>
          <a:noFill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55"/>
          <p:cNvSpPr/>
          <p:nvPr/>
        </p:nvSpPr>
        <p:spPr>
          <a:xfrm>
            <a:off x="5037160" y="4966648"/>
            <a:ext cx="152400" cy="152400"/>
          </a:xfrm>
          <a:prstGeom prst="ellipse">
            <a:avLst/>
          </a:prstGeom>
          <a:noFill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/>
          <p:cNvSpPr txBox="1"/>
          <p:nvPr/>
        </p:nvSpPr>
        <p:spPr>
          <a:xfrm>
            <a:off x="5978856" y="4052248"/>
            <a:ext cx="73470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...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732360" y="4707284"/>
            <a:ext cx="5823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..</a:t>
            </a:r>
          </a:p>
        </p:txBody>
      </p:sp>
      <p:cxnSp>
        <p:nvCxnSpPr>
          <p:cNvPr id="43" name="Straight Connector 58"/>
          <p:cNvCxnSpPr>
            <a:stCxn id="34" idx="3"/>
            <a:endCxn id="35" idx="7"/>
          </p:cNvCxnSpPr>
          <p:nvPr/>
        </p:nvCxnSpPr>
        <p:spPr>
          <a:xfrm flipH="1">
            <a:off x="4992523" y="4039174"/>
            <a:ext cx="667311" cy="36251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59"/>
          <p:cNvCxnSpPr>
            <a:stCxn id="34" idx="4"/>
            <a:endCxn id="36" idx="0"/>
          </p:cNvCxnSpPr>
          <p:nvPr/>
        </p:nvCxnSpPr>
        <p:spPr>
          <a:xfrm flipH="1">
            <a:off x="5646760" y="4128448"/>
            <a:ext cx="228600" cy="2286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60"/>
          <p:cNvCxnSpPr>
            <a:stCxn id="34" idx="5"/>
            <a:endCxn id="37" idx="1"/>
          </p:cNvCxnSpPr>
          <p:nvPr/>
        </p:nvCxnSpPr>
        <p:spPr>
          <a:xfrm>
            <a:off x="6090886" y="4039174"/>
            <a:ext cx="653663" cy="362511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61"/>
          <p:cNvCxnSpPr>
            <a:stCxn id="35" idx="3"/>
            <a:endCxn id="38" idx="0"/>
          </p:cNvCxnSpPr>
          <p:nvPr/>
        </p:nvCxnSpPr>
        <p:spPr>
          <a:xfrm flipH="1">
            <a:off x="4552664" y="4617211"/>
            <a:ext cx="224333" cy="349437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62"/>
          <p:cNvCxnSpPr>
            <a:stCxn id="35" idx="4"/>
            <a:endCxn id="42" idx="1"/>
          </p:cNvCxnSpPr>
          <p:nvPr/>
        </p:nvCxnSpPr>
        <p:spPr>
          <a:xfrm flipH="1">
            <a:off x="4732360" y="4661848"/>
            <a:ext cx="152400" cy="307046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63"/>
          <p:cNvCxnSpPr>
            <a:stCxn id="35" idx="5"/>
          </p:cNvCxnSpPr>
          <p:nvPr/>
        </p:nvCxnSpPr>
        <p:spPr>
          <a:xfrm>
            <a:off x="4992523" y="4617211"/>
            <a:ext cx="120837" cy="349437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Oval 64"/>
          <p:cNvSpPr/>
          <p:nvPr/>
        </p:nvSpPr>
        <p:spPr>
          <a:xfrm>
            <a:off x="5260072" y="4966648"/>
            <a:ext cx="152400" cy="152400"/>
          </a:xfrm>
          <a:prstGeom prst="ellipse">
            <a:avLst/>
          </a:prstGeom>
          <a:noFill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Oval 65"/>
          <p:cNvSpPr/>
          <p:nvPr/>
        </p:nvSpPr>
        <p:spPr>
          <a:xfrm>
            <a:off x="5453416" y="4966648"/>
            <a:ext cx="152400" cy="152400"/>
          </a:xfrm>
          <a:prstGeom prst="ellipse">
            <a:avLst/>
          </a:prstGeom>
          <a:noFill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66"/>
          <p:cNvSpPr/>
          <p:nvPr/>
        </p:nvSpPr>
        <p:spPr>
          <a:xfrm>
            <a:off x="5820768" y="4966648"/>
            <a:ext cx="152400" cy="152400"/>
          </a:xfrm>
          <a:prstGeom prst="ellipse">
            <a:avLst/>
          </a:prstGeom>
          <a:noFill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2" name="Straight Connector 67"/>
          <p:cNvCxnSpPr>
            <a:endCxn id="49" idx="0"/>
          </p:cNvCxnSpPr>
          <p:nvPr/>
        </p:nvCxnSpPr>
        <p:spPr>
          <a:xfrm flipH="1">
            <a:off x="5336272" y="4617211"/>
            <a:ext cx="224333" cy="349437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68"/>
          <p:cNvCxnSpPr/>
          <p:nvPr/>
        </p:nvCxnSpPr>
        <p:spPr>
          <a:xfrm flipH="1">
            <a:off x="5515968" y="4661848"/>
            <a:ext cx="152400" cy="307046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69"/>
          <p:cNvCxnSpPr/>
          <p:nvPr/>
        </p:nvCxnSpPr>
        <p:spPr>
          <a:xfrm>
            <a:off x="5776131" y="4617211"/>
            <a:ext cx="120837" cy="349437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5521656" y="4707284"/>
            <a:ext cx="5823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..</a:t>
            </a:r>
          </a:p>
        </p:txBody>
      </p:sp>
      <p:sp>
        <p:nvSpPr>
          <p:cNvPr id="56" name="Oval 71"/>
          <p:cNvSpPr/>
          <p:nvPr/>
        </p:nvSpPr>
        <p:spPr>
          <a:xfrm>
            <a:off x="6449704" y="4983989"/>
            <a:ext cx="152400" cy="152400"/>
          </a:xfrm>
          <a:prstGeom prst="ellipse">
            <a:avLst/>
          </a:prstGeom>
          <a:noFill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Oval 72"/>
          <p:cNvSpPr/>
          <p:nvPr/>
        </p:nvSpPr>
        <p:spPr>
          <a:xfrm>
            <a:off x="6643048" y="4983989"/>
            <a:ext cx="152400" cy="152400"/>
          </a:xfrm>
          <a:prstGeom prst="ellipse">
            <a:avLst/>
          </a:prstGeom>
          <a:noFill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Oval 73"/>
          <p:cNvSpPr/>
          <p:nvPr/>
        </p:nvSpPr>
        <p:spPr>
          <a:xfrm>
            <a:off x="7010400" y="4983989"/>
            <a:ext cx="152400" cy="152400"/>
          </a:xfrm>
          <a:prstGeom prst="ellipse">
            <a:avLst/>
          </a:prstGeom>
          <a:noFill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9" name="Straight Connector 75"/>
          <p:cNvCxnSpPr>
            <a:endCxn id="56" idx="0"/>
          </p:cNvCxnSpPr>
          <p:nvPr/>
        </p:nvCxnSpPr>
        <p:spPr>
          <a:xfrm flipH="1">
            <a:off x="6525904" y="4634552"/>
            <a:ext cx="224333" cy="349437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76"/>
          <p:cNvCxnSpPr/>
          <p:nvPr/>
        </p:nvCxnSpPr>
        <p:spPr>
          <a:xfrm flipH="1">
            <a:off x="6705600" y="4679189"/>
            <a:ext cx="152400" cy="307046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77"/>
          <p:cNvCxnSpPr/>
          <p:nvPr/>
        </p:nvCxnSpPr>
        <p:spPr>
          <a:xfrm>
            <a:off x="6965763" y="4634552"/>
            <a:ext cx="120837" cy="349437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3581400" y="2429470"/>
            <a:ext cx="5105400" cy="92333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dirty="0"/>
              <a:t>Store only attributes involved</a:t>
            </a:r>
          </a:p>
          <a:p>
            <a:r>
              <a:rPr lang="en-US" altLang="zh-CN" dirty="0"/>
              <a:t>Store core count</a:t>
            </a:r>
          </a:p>
          <a:p>
            <a:r>
              <a:rPr lang="en-US" altLang="zh-CN" dirty="0"/>
              <a:t>Don’t store </a:t>
            </a:r>
            <a:r>
              <a:rPr lang="en-US" altLang="zh-CN" dirty="0" err="1"/>
              <a:t>tuples</a:t>
            </a:r>
            <a:r>
              <a:rPr lang="en-US" altLang="zh-CN" dirty="0"/>
              <a:t> involved in inner buckets(core).</a:t>
            </a:r>
            <a:endParaRPr lang="zh-CN" altLang="en-US" dirty="0"/>
          </a:p>
        </p:txBody>
      </p:sp>
      <p:cxnSp>
        <p:nvCxnSpPr>
          <p:cNvPr id="64" name="直接箭头连接符 63"/>
          <p:cNvCxnSpPr>
            <a:stCxn id="6" idx="0"/>
          </p:cNvCxnSpPr>
          <p:nvPr/>
        </p:nvCxnSpPr>
        <p:spPr>
          <a:xfrm flipV="1">
            <a:off x="3096904" y="3048000"/>
            <a:ext cx="484496" cy="4572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Outline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2621280"/>
            <a:ext cx="8229600" cy="3169920"/>
          </a:xfrm>
        </p:spPr>
        <p:txBody>
          <a:bodyPr/>
          <a:lstStyle/>
          <a:p>
            <a:pPr>
              <a:spcBef>
                <a:spcPts val="2000"/>
              </a:spcBef>
            </a:pPr>
            <a:r>
              <a:rPr lang="en-US" altLang="zh-CN" dirty="0"/>
              <a:t>Background and Motivation</a:t>
            </a:r>
          </a:p>
          <a:p>
            <a:pPr>
              <a:spcBef>
                <a:spcPts val="2000"/>
              </a:spcBef>
            </a:pPr>
            <a:r>
              <a:rPr lang="en-US" altLang="zh-CN" dirty="0"/>
              <a:t>Divide and Conquer Method for Mining Quantitative Association Rules</a:t>
            </a:r>
          </a:p>
          <a:p>
            <a:pPr>
              <a:spcBef>
                <a:spcPts val="2000"/>
              </a:spcBef>
            </a:pPr>
            <a:r>
              <a:rPr lang="en-US" altLang="zh-CN" dirty="0">
                <a:solidFill>
                  <a:srgbClr val="FF0000"/>
                </a:solidFill>
              </a:rPr>
              <a:t>Experiments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AC7E7-C2F4-4332-9F19-0888F2C32627}" type="slidenum">
              <a:rPr lang="zh-CN" altLang="en-US" smtClean="0"/>
              <a:pPr/>
              <a:t>11</a:t>
            </a:fld>
            <a:endParaRPr lang="zh-CN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Experiments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AC7E7-C2F4-4332-9F19-0888F2C32627}" type="slidenum">
              <a:rPr lang="zh-CN" altLang="en-US" smtClean="0"/>
              <a:pPr/>
              <a:t>12</a:t>
            </a:fld>
            <a:endParaRPr lang="zh-CN" altLang="en-US"/>
          </a:p>
        </p:txBody>
      </p:sp>
      <p:pic>
        <p:nvPicPr>
          <p:cNvPr id="5" name="图片 4" descr="1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04800" y="2057400"/>
            <a:ext cx="5756400" cy="2971800"/>
          </a:xfrm>
          <a:prstGeom prst="rect">
            <a:avLst/>
          </a:prstGeom>
        </p:spPr>
      </p:pic>
      <p:pic>
        <p:nvPicPr>
          <p:cNvPr id="6" name="图片 5" descr="2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5943600" y="2209800"/>
            <a:ext cx="2819400" cy="2985247"/>
          </a:xfrm>
          <a:prstGeom prst="rect">
            <a:avLst/>
          </a:prstGeom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流畅">
  <a:themeElements>
    <a:clrScheme name="流畅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流畅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流畅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760</TotalTime>
  <Words>555</Words>
  <Application>Microsoft Macintosh PowerPoint</Application>
  <PresentationFormat>On-screen Show (4:3)</PresentationFormat>
  <Paragraphs>202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Calibri</vt:lpstr>
      <vt:lpstr>Constantia</vt:lpstr>
      <vt:lpstr>Wingdings 2</vt:lpstr>
      <vt:lpstr>流畅</vt:lpstr>
      <vt:lpstr>Discovering and Managing Quantitative Association Rules</vt:lpstr>
      <vt:lpstr>Outline</vt:lpstr>
      <vt:lpstr>From Market Basket Analysis to Quantitative Association Rules</vt:lpstr>
      <vt:lpstr>Preliminary</vt:lpstr>
      <vt:lpstr>Outline</vt:lpstr>
      <vt:lpstr>Phase 1: get coarse rules</vt:lpstr>
      <vt:lpstr>Phase 1: get coarse rules</vt:lpstr>
      <vt:lpstr>Recursively partition only outermost buckets</vt:lpstr>
      <vt:lpstr>Termination condition</vt:lpstr>
      <vt:lpstr>Temporary table optimization</vt:lpstr>
      <vt:lpstr>Outline</vt:lpstr>
      <vt:lpstr>Experiments</vt:lpstr>
    </vt:vector>
  </TitlesOfParts>
  <Company>uky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Discovering and Managing Quantitative Association Rules</dc:title>
  <dc:creator>song</dc:creator>
  <cp:lastModifiedBy>Ryan Balachandran</cp:lastModifiedBy>
  <cp:revision>116</cp:revision>
  <dcterms:created xsi:type="dcterms:W3CDTF">2013-09-23T15:26:21Z</dcterms:created>
  <dcterms:modified xsi:type="dcterms:W3CDTF">2021-11-12T06:34:28Z</dcterms:modified>
</cp:coreProperties>
</file>