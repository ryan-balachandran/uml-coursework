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8" r:id="rId2"/>
    <p:sldId id="259" r:id="rId3"/>
    <p:sldId id="260" r:id="rId4"/>
    <p:sldId id="261" r:id="rId5"/>
    <p:sldId id="262" r:id="rId6"/>
    <p:sldId id="263" r:id="rId7"/>
    <p:sldId id="265" r:id="rId8"/>
    <p:sldId id="293" r:id="rId9"/>
    <p:sldId id="292" r:id="rId10"/>
    <p:sldId id="294" r:id="rId11"/>
    <p:sldId id="264" r:id="rId12"/>
    <p:sldId id="269" r:id="rId13"/>
    <p:sldId id="267" r:id="rId14"/>
    <p:sldId id="266" r:id="rId15"/>
    <p:sldId id="296" r:id="rId16"/>
    <p:sldId id="298" r:id="rId17"/>
    <p:sldId id="299" r:id="rId18"/>
    <p:sldId id="268" r:id="rId19"/>
    <p:sldId id="270" r:id="rId20"/>
    <p:sldId id="271" r:id="rId21"/>
    <p:sldId id="272" r:id="rId22"/>
    <p:sldId id="297" r:id="rId23"/>
    <p:sldId id="274" r:id="rId24"/>
    <p:sldId id="276" r:id="rId25"/>
    <p:sldId id="277" r:id="rId26"/>
    <p:sldId id="278" r:id="rId27"/>
    <p:sldId id="279" r:id="rId28"/>
    <p:sldId id="284" r:id="rId29"/>
    <p:sldId id="285" r:id="rId30"/>
    <p:sldId id="280" r:id="rId31"/>
    <p:sldId id="286" r:id="rId32"/>
    <p:sldId id="287" r:id="rId33"/>
    <p:sldId id="288" r:id="rId34"/>
    <p:sldId id="282" r:id="rId35"/>
    <p:sldId id="283" r:id="rId36"/>
    <p:sldId id="281" r:id="rId37"/>
    <p:sldId id="289" r:id="rId38"/>
    <p:sldId id="290" r:id="rId39"/>
    <p:sldId id="291" r:id="rId40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06BA"/>
    <a:srgbClr val="FFFF2D"/>
    <a:srgbClr val="2D0DB3"/>
    <a:srgbClr val="FDE169"/>
    <a:srgbClr val="FFFF6C"/>
    <a:srgbClr val="FDE9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5" autoAdjust="0"/>
    <p:restoredTop sz="69739" autoAdjust="0"/>
  </p:normalViewPr>
  <p:slideViewPr>
    <p:cSldViewPr snapToGrid="0">
      <p:cViewPr varScale="1">
        <p:scale>
          <a:sx n="76" d="100"/>
          <a:sy n="76" d="100"/>
        </p:scale>
        <p:origin x="2032" y="200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2ECB779A-587C-4934-81B6-31ACB3B805A2}" type="datetimeFigureOut">
              <a:rPr lang="en-US" smtClean="0"/>
              <a:t>3/27/19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FB9DA09B-4A6D-432A-A6D5-286BF11C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70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publib.boulder.ibm.com/infocenter/macxhelp/v6v81/index.jsp?topic=/com.ibm.vacpp6m.doc/language/ref/clrc05lvalue.htm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informit.com/guides/content.aspx?g=cplusplus&amp;seqNum=198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ove_constructor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ove_constructor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an object that has a name, while an rvalue is an object that does not have a name (a temporary object). The move semantics allow modifying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rvalues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 types in C++03 can only bind to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lvalues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C++11 introduces a new category of reference types called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rvalue references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Rvalue references can bind to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rvalues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e.g.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temporary objects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literals.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primary reason for adding rvalue references is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 semantics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Unlike traditional copying, moving means that a target object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pilfers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resources of the source object, leaving the source in an "empty" state. In certain cases where making a copy of an object is both expensive and unnecessary, a move operation can be used instead.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043978-DB50-4CDB-8CEF-1F8DF493BA5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393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function gets its parameter as by value, it does copy. Compiler knows how to copy it. If it's a user defined type, we may need to provide copy constructor, and probably assignment operator as well to be able to do a deep copy. However, copying is expensive. Actually, there are bunch of copying going on when we use STL containers. When an object tossed in by value, since it's a temporary object (rvalue), we're really wasting our precious resources including CPU as well as memory and so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922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required an extra memory allocation, and the caller to be responsible for memory management (deleting the returned pointer):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37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returning the object as the return value, another common way was to modify a parameter, thus requiring the caller to first have created a named object to pass: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10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C++11 move semantics, we can simply return by value. As all of the STL collection classes have been extended to support move semantics, we know that for STL collections, as </a:t>
            </a:r>
            <a:r>
              <a:rPr lang="en-US" dirty="0" err="1"/>
              <a:t>wel</a:t>
            </a:r>
            <a:r>
              <a:rPr lang="en-US" dirty="0"/>
              <a:t> as for all other classes for which move semantics are defined, this method of doing things will be efficient.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the case where we have a vector of value objects. In old C++, adding objects to that vector always involved the object being copied, which could be costly. In C++11 this copy is generally avoided, for example:</a:t>
            </a:r>
          </a:p>
          <a:p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we use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push_back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(),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create an object and then insert it into the vector. With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emplace_back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(),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object is constructed in-place and saves an unnecessary copy.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primitive data types, it does not matter which one we use. But for objects, use of emplace() is preferred for efficiency reasons. (instead of insert)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4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</a:t>
            </a:r>
            <a:r>
              <a:rPr lang="en-US" dirty="0" err="1"/>
              <a:t>getRef</a:t>
            </a:r>
            <a:r>
              <a:rPr lang="en-US" dirty="0"/>
              <a:t> returns a reference to a global variable, so it's returning a value that is stored in a permanent location. (You could literally write &amp; </a:t>
            </a:r>
            <a:r>
              <a:rPr lang="en-US" dirty="0" err="1"/>
              <a:t>getRef</a:t>
            </a:r>
            <a:r>
              <a:rPr lang="en-US" dirty="0"/>
              <a:t>() if you wanted to, and it would give you the address of x.)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95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*pi and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lvalues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Therefore, they cannot appear on the left-hand side of an expression after their initialization. This property doesn't make them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rvalues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458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</a:t>
            </a:r>
            <a:r>
              <a:rPr lang="en-US" dirty="0" err="1"/>
              <a:t>getRef</a:t>
            </a:r>
            <a:r>
              <a:rPr lang="en-US" dirty="0"/>
              <a:t> returns a reference to a global variable, so it's returning a value that is stored in a permanent location. (You could literally write &amp; </a:t>
            </a:r>
            <a:r>
              <a:rPr lang="en-US" dirty="0" err="1"/>
              <a:t>getRef</a:t>
            </a:r>
            <a:r>
              <a:rPr lang="en-US" dirty="0"/>
              <a:t>() if you wanted to, and it would give you the address of x.)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34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</a:t>
            </a:r>
            <a:r>
              <a:rPr lang="en-US" dirty="0" err="1"/>
              <a:t>getRef</a:t>
            </a:r>
            <a:r>
              <a:rPr lang="en-US" dirty="0"/>
              <a:t> returns a reference to a global variable, so it's returning a value that is stored in a permanent location. (You could literally write &amp; </a:t>
            </a:r>
            <a:r>
              <a:rPr lang="en-US" dirty="0" err="1"/>
              <a:t>getRef</a:t>
            </a:r>
            <a:r>
              <a:rPr lang="en-US" dirty="0"/>
              <a:t>() if you wanted to, and it would give you the address of x.)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743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</a:t>
            </a:r>
            <a:r>
              <a:rPr lang="en-US" dirty="0" err="1"/>
              <a:t>getVal</a:t>
            </a:r>
            <a:r>
              <a:rPr lang="en-US" dirty="0"/>
              <a:t>() is an </a:t>
            </a:r>
            <a:r>
              <a:rPr lang="en-US" dirty="0" err="1"/>
              <a:t>rvalue</a:t>
            </a:r>
            <a:r>
              <a:rPr lang="en-US" dirty="0"/>
              <a:t>--the value being returned is not a reference to x, it's just a temporary value. This gets a little bit more interesting if we use real objects instead of numbers: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16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the value being returned is not a reference to </a:t>
            </a:r>
            <a:r>
              <a:rPr lang="en-US" b="1" dirty="0"/>
              <a:t>ii</a:t>
            </a:r>
            <a:r>
              <a:rPr lang="en-US" dirty="0"/>
              <a:t>, but it's just a temporary value.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206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</a:t>
            </a:r>
            <a:r>
              <a:rPr lang="en-US" dirty="0" err="1"/>
              <a:t>getVal</a:t>
            </a:r>
            <a:r>
              <a:rPr lang="en-US" dirty="0"/>
              <a:t>() is an </a:t>
            </a:r>
            <a:r>
              <a:rPr lang="en-US" dirty="0" err="1"/>
              <a:t>rvalue</a:t>
            </a:r>
            <a:r>
              <a:rPr lang="en-US" dirty="0"/>
              <a:t>--the value being returned is not a reference to x, it's just a temporary value. This gets a little bit more interesting if we use real objects instead of numbers: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let's look at some examples of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rvalues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Literals such as 7, 'a', false and "hello world!" are instances of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rvalues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7==x;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 c= 'a';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 clear=false;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char s[]="hello world!";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 subcategory of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rvalues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temporaries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During the evaluation of an expression, an implementation may create a temporary object that stores an intermediary result: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w){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x=0;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67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rvalue</a:t>
            </a:r>
            <a:r>
              <a:rPr lang="en-US" dirty="0"/>
              <a:t> reference” a reference to which we can bind an </a:t>
            </a:r>
            <a:r>
              <a:rPr lang="en-US" dirty="0" err="1"/>
              <a:t>rvalue</a:t>
            </a:r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Holds a reference to 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092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rvalue</a:t>
            </a:r>
            <a:r>
              <a:rPr lang="en-US" dirty="0"/>
              <a:t> reference” a reference to which we can bind an </a:t>
            </a:r>
            <a:r>
              <a:rPr lang="en-US" dirty="0" err="1"/>
              <a:t>rvalue</a:t>
            </a:r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Holds a reference to 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42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rvalue</a:t>
            </a:r>
            <a:r>
              <a:rPr lang="en-US" dirty="0"/>
              <a:t> reference” a reference to which we can bind an </a:t>
            </a:r>
            <a:r>
              <a:rPr lang="en-US" dirty="0" err="1"/>
              <a:t>rvalue</a:t>
            </a:r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Holds a reference to 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710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cannot directly bind an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rvalue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reference to an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lvalue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we can explicitly cast an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lvalue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its corresponding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rvalue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reference type. We can also obtain an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rvalue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reference bound to an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lvalue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by calling a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Calling move tells the compiler that we have an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lvalue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that we want to treat as if it were an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rvalue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It is essential to realize that the call to move promises that we do not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intend to use rr1 again except to assign to it or to destroy it. After a call to move, we cannot make any assumptions about the value of the moved-from object. new library function named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which is defined in the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utility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6801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function gets its parameter as by value, it does copy. Compiler knows how to copy it. If it's a user defined type, we may need to provide copy constructor, and probably assignment operator as well to be able to do a deep copy. However, copying is expensive. Actually, there are bunch of copying going on when we use STL containers. When an object tossed in by value, since it's a temporary object (rvalue), we're really wasting our precious resources including CPU as well as memory and so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991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function gets its parameter as by value, it does copy. Compiler knows how to copy it. If it's a user defined type, we may need to provide copy constructor, and probably assignment operator as well to be able to do a deep copy. However, copying is expensive. Actually, there are bunch of copying going on when we use STL containers. When an object tossed in by value, since it's a temporary object (rvalue), we're really wasting our precious resources including CPU as well as memory and so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5456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function gets its parameter as by value, it does copy. Compiler knows how to copy it. If it's a user defined type, we may need to provide copy constructor, and probably assignment operator as well to be able to do a deep copy. However, copying is expensive. Actually, there are bunch of copying going on when we use STL containers. When an object tossed in by value, since it's a temporary object (rvalue), we're really wasting our precious resources including CPU as well as memory and so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242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the output:</a:t>
            </a:r>
          </a:p>
          <a:p>
            <a:r>
              <a:rPr lang="en-US" dirty="0" err="1"/>
              <a:t>lvalue</a:t>
            </a:r>
            <a:r>
              <a:rPr lang="en-US" dirty="0"/>
              <a:t>: value = 11 rvalue: value = 99</a:t>
            </a:r>
          </a:p>
          <a:p>
            <a:r>
              <a:rPr lang="en-US" dirty="0"/>
              <a:t>Note that we took out </a:t>
            </a:r>
            <a:r>
              <a:rPr lang="en-US" b="1" dirty="0" err="1"/>
              <a:t>const</a:t>
            </a:r>
            <a:r>
              <a:rPr lang="en-US" dirty="0"/>
              <a:t> from the </a:t>
            </a:r>
            <a:r>
              <a:rPr lang="en-US" b="1" dirty="0"/>
              <a:t>void </a:t>
            </a:r>
            <a:r>
              <a:rPr lang="en-US" b="1" dirty="0" err="1"/>
              <a:t>printReference</a:t>
            </a:r>
            <a:r>
              <a:rPr lang="en-US" b="1" dirty="0"/>
              <a:t> (int&amp; value)</a:t>
            </a:r>
            <a:r>
              <a:rPr lang="en-US" dirty="0"/>
              <a:t> so that it can take only the </a:t>
            </a:r>
            <a:r>
              <a:rPr lang="en-US" dirty="0" err="1"/>
              <a:t>lvalue</a:t>
            </a:r>
            <a:r>
              <a:rPr lang="en-US" dirty="0"/>
              <a:t>.</a:t>
            </a:r>
          </a:p>
          <a:p>
            <a:r>
              <a:rPr lang="en-US" dirty="0"/>
              <a:t>Now, we have two distinct functions that can be overloaded: one taking only </a:t>
            </a:r>
            <a:r>
              <a:rPr lang="en-US" dirty="0" err="1"/>
              <a:t>lvalue</a:t>
            </a:r>
            <a:r>
              <a:rPr lang="en-US" dirty="0"/>
              <a:t> and the other one only taking rvalue. So, what?</a:t>
            </a:r>
          </a:p>
          <a:p>
            <a:r>
              <a:rPr lang="en-US" dirty="0"/>
              <a:t>It gives us a way to write more efficient program with less coding!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098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Functions that return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lvalue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references, along with the assignment, subscript, dereference, and prefix increment/decrement operators, are all examples of expressions that return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lvalues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We can bind an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lvalue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reference to the result of any of these expressions.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8526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Stroustrup</a:t>
            </a:r>
            <a:r>
              <a:rPr lang="en-US" dirty="0"/>
              <a:t> - Essence - Going Native'13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36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3237"/>
            <a:r>
              <a:rPr lang="en-US" dirty="0" err="1"/>
              <a:t>Stroustrup</a:t>
            </a:r>
            <a:r>
              <a:rPr lang="en-US" dirty="0"/>
              <a:t> - Essence - Going Native'13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902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Stroustrup</a:t>
            </a:r>
            <a:r>
              <a:rPr lang="en-US" dirty="0"/>
              <a:t> - Essence - Going Native'13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08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b="1" dirty="0" err="1"/>
              <a:t>rvalues</a:t>
            </a:r>
            <a:r>
              <a:rPr lang="en-US" dirty="0"/>
              <a:t> are typically temporary, and they can be modified. If we know that our function parameter is an </a:t>
            </a:r>
            <a:r>
              <a:rPr lang="en-US" b="1" dirty="0"/>
              <a:t>rvalue</a:t>
            </a:r>
            <a:r>
              <a:rPr lang="en-US" dirty="0"/>
              <a:t>, we can use it as a temporary storage, or take its contents without affecting the output of our program. This means that we can just </a:t>
            </a:r>
            <a:r>
              <a:rPr lang="en-US" b="1" dirty="0"/>
              <a:t>move</a:t>
            </a:r>
            <a:r>
              <a:rPr lang="en-US" dirty="0"/>
              <a:t> the contents rather than copy the contents of an </a:t>
            </a:r>
            <a:r>
              <a:rPr lang="en-US" b="1" dirty="0"/>
              <a:t>rvalue</a:t>
            </a:r>
            <a:r>
              <a:rPr lang="en-US" dirty="0"/>
              <a:t> parameter. This saves a lot of memory allocation and provides a lot of scope for optimization for large dynamic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063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move constructor is much faster than a copy constructor because it doesn't allocate memory nor does it copy memory blocks.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041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https://docs.microsoft.com/en-us/previous-versions/dd293665(v=vs.140)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656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https://docs.microsoft.com/en-us/previous-versions/dd293665(v=vs.140)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8568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move assignment operator is different than a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Move constructor"/>
              </a:rPr>
              <a:t>move constructor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because a move assignment operator is called on an existing object, while a move constructor is called on an object created by the operation. Thereafter, the other object's data is no longer valid.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409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https://docs.microsoft.com/en-us/previous-versions/dd293665(v=vs.140)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15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https://docs.microsoft.com/en-us/previous-versions/dd293665(v=vs.140)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239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https://docs.microsoft.com/en-us/previous-versions/dd293665(v=vs.140)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737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move assignment operator is different than a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Move constructor"/>
              </a:rPr>
              <a:t>move constructor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because a move assignment operator is called on an existing object, while a move constructor is called on an object created by the operation. Thereafter, the other object's data is no longer valid.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057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871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 constructor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executed only when you construct an object.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 assignment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operator is executed on a previously constructed object. It is exactly the same scenario as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copy case. ... When you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 rvalue to an object, as you do in your first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76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https://docs.microsoft.com/en-us/previous-versions/dd293665(v=vs.140)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581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https://docs.microsoft.com/en-us/previous-versions/dd293665(v=vs.140)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652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https://docs.microsoft.com/en-us/previous-versions/dd293665(v=vs.140)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A09B-4A6D-432A-A6D5-286BF11C61D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38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731026"/>
          </a:xfrm>
          <a:solidFill>
            <a:srgbClr val="0070C0"/>
          </a:solidFill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67EBF2-02FE-41FB-A688-352E9198A1DC}" type="datetime1">
              <a:rPr lang="en-US" smtClean="0"/>
              <a:t>3/27/19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 IV Dr.Rykalova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026B3B-CCAC-4811-8363-F58BD1A55D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60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BF6B-C16A-4340-80A7-4D1D9F5229CA}" type="datetime1">
              <a:rPr lang="en-US" smtClean="0"/>
              <a:t>3/27/19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IV Dr.Rykalova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60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825624"/>
          </a:xfrm>
          <a:solidFill>
            <a:srgbClr val="0070C0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0226BC-8D7C-4F24-A217-72888CE62FAA}" type="datetime1">
              <a:rPr lang="en-US" smtClean="0"/>
              <a:t>3/27/19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 IV Dr.Rykalova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026B3B-CCAC-4811-8363-F58BD1A55D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05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1E37E-1B3C-440A-9344-4CB83DF77485}" type="datetime1">
              <a:rPr lang="en-US" smtClean="0"/>
              <a:t>3/27/19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IV Dr.Rykalova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20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8A14E-2EF4-4E71-9F8B-15B73EDB8C2D}" type="datetime1">
              <a:rPr lang="en-US" smtClean="0"/>
              <a:t>3/27/19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IV Dr.Rykalova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3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6ACD-72D8-4968-B50B-C45077224349}" type="datetime1">
              <a:rPr lang="en-US" smtClean="0"/>
              <a:t>3/27/19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IV Dr.Rykalova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57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2165-6A24-4A90-9FE3-35E495611315}" type="datetime1">
              <a:rPr lang="en-US" smtClean="0"/>
              <a:t>3/27/19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IV Dr.Rykalova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092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D89F5-4967-4D54-BB88-027223683C5D}" type="datetime1">
              <a:rPr lang="en-US" smtClean="0"/>
              <a:t>3/27/19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IV Dr.Rykalova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9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7A33C-2E11-4E52-A314-1A8E270966FA}" type="datetime1">
              <a:rPr lang="en-US" smtClean="0"/>
              <a:t>3/27/19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IV Dr.Rykalova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540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C73EB-1546-4DD4-AF78-7D82D2D897F9}" type="datetime1">
              <a:rPr lang="en-US" smtClean="0"/>
              <a:t>3/27/19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IV Dr.Rykalova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07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340A1-B9A4-4E6B-843A-3277A1596354}" type="datetime1">
              <a:rPr lang="en-US" smtClean="0"/>
              <a:t>3/27/19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IV Dr.Rykalova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7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46BE0-18D2-4770-BEA8-19D70FE1F140}" type="datetime1">
              <a:rPr lang="en-US" smtClean="0"/>
              <a:t>3/27/19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 IV Dr.Rykalova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26B3B-CCAC-4811-8363-F58BD1A55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35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2D0DB3"/>
          </a:solidFill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C++11 </a:t>
            </a:r>
            <a:br>
              <a:rPr lang="en-US" altLang="en-US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RVALUE REFERENCE AND MOVE SEMANTICS</a:t>
            </a:r>
            <a:endParaRPr lang="en-US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B0501-E1B5-4410-A5C8-D02F7DC95149}" type="datetime1">
              <a:rPr lang="en-US" sz="1400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sz="1400" dirty="0">
              <a:solidFill>
                <a:srgbClr val="2D0DB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9CD2E-9422-44D7-AA28-36534191AF26}" type="slidenum">
              <a:rPr lang="en-US" sz="1400" smtClean="0">
                <a:solidFill>
                  <a:srgbClr val="2D0DB3"/>
                </a:solidFill>
              </a:rPr>
              <a:t>1</a:t>
            </a:fld>
            <a:endParaRPr lang="en-US" sz="1400" dirty="0">
              <a:solidFill>
                <a:srgbClr val="2D0D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309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</a:t>
            </a:r>
            <a:r>
              <a:rPr lang="en-US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Function gets its parameter as by value, it does copy</a:t>
            </a:r>
          </a:p>
          <a:p>
            <a:pPr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Compiler knows how to copy</a:t>
            </a:r>
          </a:p>
          <a:p>
            <a:pPr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May need to provide </a:t>
            </a:r>
          </a:p>
          <a:p>
            <a:pPr marL="914400" lvl="1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copy constructor</a:t>
            </a:r>
          </a:p>
          <a:p>
            <a:pPr marL="914400" lvl="1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assignment operator (deep copy)</a:t>
            </a: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Copying is expensive</a:t>
            </a:r>
          </a:p>
          <a:p>
            <a:pPr marL="914400" lvl="1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wasting resources including CPU, memory, and so on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2</a:t>
            </a:fld>
            <a:endParaRPr lang="en-US" dirty="0">
              <a:solidFill>
                <a:srgbClr val="2D0D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16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Returning large objects from functions</a:t>
            </a:r>
            <a:endParaRPr lang="en-US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399" y="1404713"/>
            <a:ext cx="1114445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None/>
            </a:pPr>
            <a:r>
              <a:rPr lang="en-US" sz="3200" b="1" u="sng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by pointer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Requires an extra memory allocation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caller is responsible for memory management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deleting the returned pointer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3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8403" y="3251826"/>
            <a:ext cx="10375194" cy="2973122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>
              <a:lnSpc>
                <a:spcPct val="90000"/>
              </a:lnSpc>
            </a:pP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vector&lt;</a:t>
            </a:r>
            <a:r>
              <a:rPr lang="en-US" sz="2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&gt;* </a:t>
            </a:r>
            <a:r>
              <a:rPr lang="en-US" sz="2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makeBigVector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274320">
              <a:lnSpc>
                <a:spcPct val="90000"/>
              </a:lnSpc>
            </a:pP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	vector&lt;</a:t>
            </a:r>
            <a:r>
              <a:rPr lang="en-US" sz="2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result = </a:t>
            </a:r>
            <a:r>
              <a:rPr lang="en-US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vector&lt;</a:t>
            </a:r>
            <a:r>
              <a:rPr lang="en-US" sz="2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&gt;(1024);</a:t>
            </a:r>
          </a:p>
          <a:p>
            <a:pPr marL="274320">
              <a:lnSpc>
                <a:spcPct val="90000"/>
              </a:lnSpc>
            </a:pPr>
            <a:r>
              <a:rPr lang="nn-NO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	for</a:t>
            </a:r>
            <a:r>
              <a:rPr lang="nn-NO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i = 0; i&lt;1024; i++) {</a:t>
            </a:r>
          </a:p>
          <a:p>
            <a:pPr marL="274320">
              <a:lnSpc>
                <a:spcPct val="90000"/>
              </a:lnSpc>
            </a:pP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		result[</a:t>
            </a:r>
            <a:r>
              <a:rPr lang="en-US" sz="2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] = rand();</a:t>
            </a:r>
          </a:p>
          <a:p>
            <a:pPr marL="274320">
              <a:lnSpc>
                <a:spcPct val="90000"/>
              </a:lnSpc>
            </a:pP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 marL="274320">
              <a:lnSpc>
                <a:spcPct val="90000"/>
              </a:lnSpc>
            </a:pPr>
            <a:r>
              <a:rPr lang="en-US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result;</a:t>
            </a:r>
          </a:p>
          <a:p>
            <a:pPr marL="274320">
              <a:lnSpc>
                <a:spcPct val="90000"/>
              </a:lnSpc>
            </a:pP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274320">
              <a:lnSpc>
                <a:spcPct val="90000"/>
              </a:lnSpc>
            </a:pP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vector&lt;</a:t>
            </a:r>
            <a:r>
              <a:rPr lang="en-US" sz="2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&gt;* v = </a:t>
            </a:r>
            <a:r>
              <a:rPr lang="en-US" sz="2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makeBigVector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altLang="en-US" sz="2600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71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Returning large objects from functions</a:t>
            </a:r>
            <a:endParaRPr lang="en-US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399" y="1404713"/>
            <a:ext cx="1114445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None/>
            </a:pPr>
            <a:r>
              <a:rPr lang="en-US" sz="3200" b="1" u="sng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Pass-out by reference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Modify a parameter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requiring the caller to first have created a named object to pass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4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78606" y="3005606"/>
            <a:ext cx="10375194" cy="3194721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makeBigVector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(vector&lt;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&gt;&amp; out) {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out.resize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(1024);</a:t>
            </a:r>
          </a:p>
          <a:p>
            <a:pPr marL="274320">
              <a:lnSpc>
                <a:spcPct val="90000"/>
              </a:lnSpc>
            </a:pPr>
            <a:r>
              <a:rPr lang="nn-NO" sz="2800" dirty="0">
                <a:solidFill>
                  <a:srgbClr val="0000FF"/>
                </a:solidFill>
                <a:latin typeface="Consolas" panose="020B0609020204030204" pitchFamily="49" charset="0"/>
              </a:rPr>
              <a:t>	for</a:t>
            </a:r>
            <a:r>
              <a:rPr lang="nn-NO" sz="2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800" dirty="0">
                <a:solidFill>
                  <a:srgbClr val="000000"/>
                </a:solidFill>
                <a:latin typeface="Consolas" panose="020B0609020204030204" pitchFamily="49" charset="0"/>
              </a:rPr>
              <a:t> i = 0; i&lt;1024; i++) {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	out[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 = rand();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vector&lt;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&gt; v;</a:t>
            </a:r>
          </a:p>
          <a:p>
            <a:pPr marL="274320">
              <a:lnSpc>
                <a:spcPct val="90000"/>
              </a:lnSpc>
            </a:pP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makeBigVector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(v);</a:t>
            </a:r>
            <a:endParaRPr lang="en-US" altLang="en-US" sz="2600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43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Returning large objects from functions</a:t>
            </a:r>
            <a:endParaRPr lang="en-US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399" y="1404713"/>
            <a:ext cx="1114445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None/>
            </a:pPr>
            <a:r>
              <a:rPr lang="en-US" sz="3200" b="1" u="sng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C++11 move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simply return by value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5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22514" y="2473681"/>
            <a:ext cx="11028336" cy="3582519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vector&lt;</a:t>
            </a:r>
            <a:r>
              <a:rPr lang="en-US" sz="2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makeBigVector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	vector&lt;</a:t>
            </a:r>
            <a:r>
              <a:rPr lang="en-US" sz="2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&gt; result;</a:t>
            </a:r>
          </a:p>
          <a:p>
            <a:pPr>
              <a:lnSpc>
                <a:spcPct val="90000"/>
              </a:lnSpc>
            </a:pPr>
            <a:r>
              <a:rPr lang="nn-NO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	for</a:t>
            </a:r>
            <a:r>
              <a:rPr lang="nn-NO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i = 0; i&lt;1024; i++) {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		result[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] = rand();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result;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v =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makeBigVector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// guaranteed not to copy 					   // the vector</a:t>
            </a:r>
            <a:endParaRPr lang="en-US" altLang="en-US" sz="2600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948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Passing objects to functions efficiently</a:t>
            </a:r>
            <a:endParaRPr lang="en-US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399" y="1404713"/>
            <a:ext cx="1114445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None/>
            </a:pPr>
            <a:r>
              <a:rPr lang="en-US" sz="3200" b="1" u="sng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C++11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6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1885" y="1998234"/>
            <a:ext cx="11408230" cy="4358116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2B91AF"/>
                </a:solidFill>
                <a:latin typeface="Consolas" panose="020B0609020204030204" pitchFamily="49" charset="0"/>
              </a:rPr>
              <a:t>vector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800" b="1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&gt; v;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s{ </a:t>
            </a:r>
            <a:r>
              <a:rPr lang="en-US" sz="2800" b="1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	// move possible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v.push_back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(string(</a:t>
            </a:r>
            <a:r>
              <a:rPr lang="en-US" sz="2800" b="1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//string is an rvalue 	//and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std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::string implements move semantics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v.emplace_back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b="1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do the same C++11 way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v.push_back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(s);               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move can't be done, as 	// parameter is an rvalue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v.push_back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::move(s));    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move possible 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	// explicitly moving the data out of s, 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making s now be empty</a:t>
            </a:r>
            <a:endParaRPr lang="en-US" altLang="en-US" sz="2600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0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 err="1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lvalue</a:t>
            </a:r>
            <a:endParaRPr lang="en-US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306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An expression whose address can be  taken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 locator value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Anything you can make assignments to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None/>
            </a:pPr>
            <a:endParaRPr lang="en-US" sz="320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None/>
            </a:pPr>
            <a:endParaRPr lang="en-US" sz="180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7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8200" y="3165010"/>
            <a:ext cx="10375194" cy="2548390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a = 1;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here, a is an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2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274320"/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s;</a:t>
            </a:r>
          </a:p>
          <a:p>
            <a:pPr marL="274320"/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*p = 0;</a:t>
            </a:r>
          </a:p>
          <a:p>
            <a:pPr marL="274320"/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&amp;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ri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x;</a:t>
            </a:r>
            <a:endParaRPr lang="en-US" sz="2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274320">
              <a:lnSpc>
                <a:spcPct val="90000"/>
              </a:lnSpc>
            </a:pPr>
            <a:endParaRPr lang="en-US" sz="2800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01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 err="1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lvalue</a:t>
            </a:r>
            <a:endParaRPr lang="en-US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306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None/>
            </a:pPr>
            <a:endParaRPr lang="en-US" sz="320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None/>
            </a:pPr>
            <a:endParaRPr lang="en-US" sz="180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8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8200" y="1610530"/>
            <a:ext cx="10375194" cy="1815882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func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pi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&amp;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ri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*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pi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7;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//compilation error, *pi is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const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ri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8;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//compilation error,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ri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is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const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800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64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 err="1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lvalue</a:t>
            </a:r>
            <a:endParaRPr lang="en-US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306"/>
            <a:ext cx="10515600" cy="4351338"/>
          </a:xfrm>
        </p:spPr>
        <p:txBody>
          <a:bodyPr>
            <a:normAutofit/>
          </a:bodyPr>
          <a:lstStyle/>
          <a:p>
            <a:pPr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lvalues</a:t>
            </a:r>
            <a:r>
              <a:rPr lang="en-US" sz="3200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that aren't variables</a:t>
            </a:r>
          </a:p>
          <a:p>
            <a:pPr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08403" y="2422641"/>
            <a:ext cx="10375194" cy="2031325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getRef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274320">
              <a:lnSpc>
                <a:spcPct val="90000"/>
              </a:lnSpc>
            </a:pP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getRef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 = 4;</a:t>
            </a:r>
            <a:endParaRPr lang="en-US" altLang="en-US" sz="2600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06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 err="1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lvalue</a:t>
            </a:r>
            <a:endParaRPr lang="en-US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306"/>
            <a:ext cx="10515600" cy="4351338"/>
          </a:xfrm>
        </p:spPr>
        <p:txBody>
          <a:bodyPr>
            <a:normAutofit/>
          </a:bodyPr>
          <a:lstStyle/>
          <a:p>
            <a:pPr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lvalues</a:t>
            </a:r>
            <a:r>
              <a:rPr lang="en-US" sz="3200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that are </a:t>
            </a:r>
            <a:r>
              <a:rPr lang="en-US" sz="3200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temporaries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10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08403" y="2422641"/>
            <a:ext cx="10375194" cy="2246769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r>
              <a:rPr lang="pl-PL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l-PL" sz="2800" dirty="0">
                <a:solidFill>
                  <a:srgbClr val="000000"/>
                </a:solidFill>
                <a:latin typeface="Consolas" panose="020B0609020204030204" pitchFamily="49" charset="0"/>
              </a:rPr>
              <a:t> func(</a:t>
            </a:r>
            <a:r>
              <a:rPr lang="pl-PL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l-PL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sz="2800" dirty="0">
                <a:solidFill>
                  <a:srgbClr val="808080"/>
                </a:solidFill>
                <a:latin typeface="Consolas" panose="020B0609020204030204" pitchFamily="49" charset="0"/>
              </a:rPr>
              <a:t>y</a:t>
            </a:r>
            <a:r>
              <a:rPr lang="pl-PL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l-PL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l-PL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sz="2800" dirty="0">
                <a:solidFill>
                  <a:srgbClr val="808080"/>
                </a:solidFill>
                <a:latin typeface="Consolas" panose="020B0609020204030204" pitchFamily="49" charset="0"/>
              </a:rPr>
              <a:t>z</a:t>
            </a:r>
            <a:r>
              <a:rPr lang="pl-PL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l-PL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l-PL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sz="2800" dirty="0">
                <a:solidFill>
                  <a:srgbClr val="808080"/>
                </a:solidFill>
                <a:latin typeface="Consolas" panose="020B0609020204030204" pitchFamily="49" charset="0"/>
              </a:rPr>
              <a:t>w</a:t>
            </a:r>
            <a:r>
              <a:rPr lang="pl-PL" sz="28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x = 0;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x = (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z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 +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2600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21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  <a:endParaRPr lang="en-US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9289" y="1524568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An unnamed value that exists only during the evaluation of an expression</a:t>
            </a: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An expression is an </a:t>
            </a:r>
            <a:r>
              <a:rPr lang="en-US" sz="3200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rvalue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if it results in a temporary object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11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78606" y="3700237"/>
            <a:ext cx="10375194" cy="2419124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getVal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274320">
              <a:lnSpc>
                <a:spcPct val="90000"/>
              </a:lnSpc>
            </a:pP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getVal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altLang="en-US" sz="2600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70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  <a:endParaRPr lang="en-US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9086" y="155359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rgbClr val="2D0DB3"/>
              </a:buClr>
              <a:buSzPct val="115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getName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returns a string that is constructed inside the function</a:t>
            </a: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getValue</a:t>
            </a:r>
            <a:r>
              <a:rPr lang="en-US" sz="3200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is an </a:t>
            </a:r>
            <a:r>
              <a:rPr lang="en-US" sz="3200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rvalue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12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9289" y="1538979"/>
            <a:ext cx="10375194" cy="3539430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getValue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ii = 10;</a:t>
            </a: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ii;</a:t>
            </a:r>
          </a:p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274320"/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main(){</a:t>
            </a:r>
          </a:p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getValue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274320"/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2600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03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  <a:endParaRPr lang="en-US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9086" y="155359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rgbClr val="2D0DB3"/>
              </a:buClr>
              <a:buSzPct val="115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getName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returns a string that is constructed inside the function</a:t>
            </a: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getName()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is an </a:t>
            </a:r>
            <a:r>
              <a:rPr lang="en-US" sz="3200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rvalue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13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9289" y="1538979"/>
            <a:ext cx="10375194" cy="2246769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getName()</a:t>
            </a:r>
          </a:p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274320"/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"Alex"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getName();</a:t>
            </a:r>
            <a:endParaRPr lang="en-US" altLang="en-US" sz="2600" b="1" dirty="0">
              <a:latin typeface="Georgia" panose="02040502050405020303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9086" y="4532931"/>
            <a:ext cx="10375194" cy="523220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name = getName();</a:t>
            </a:r>
          </a:p>
        </p:txBody>
      </p:sp>
    </p:spTree>
    <p:extLst>
      <p:ext uri="{BB962C8B-B14F-4D97-AF65-F5344CB8AC3E}">
        <p14:creationId xmlns:p14="http://schemas.microsoft.com/office/powerpoint/2010/main" val="70176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&amp;&amp;</a:t>
            </a:r>
            <a:endParaRPr lang="en-US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791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b="1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&amp;&amp;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operator is like the reference operator (</a:t>
            </a:r>
            <a:r>
              <a:rPr lang="en-US" sz="3200" b="1" dirty="0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&amp;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), but whereas the </a:t>
            </a:r>
            <a:r>
              <a:rPr lang="en-US" sz="3200" b="1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operator an only be used on </a:t>
            </a:r>
            <a:r>
              <a:rPr lang="en-US" sz="3200" b="1" dirty="0" err="1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lvalues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the </a:t>
            </a:r>
            <a:r>
              <a:rPr lang="en-US" sz="3200" b="1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&amp;&amp;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operator can only be used on </a:t>
            </a:r>
            <a:r>
              <a:rPr lang="en-US" sz="3200" b="1" dirty="0" err="1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rvalues</a:t>
            </a:r>
            <a:endParaRPr lang="en-US" sz="3200" b="1" dirty="0">
              <a:solidFill>
                <a:srgbClr val="2D0DB3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  <a:endParaRPr lang="en-US" sz="240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14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8402" y="3783584"/>
            <a:ext cx="10445397" cy="523220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type-id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&amp;&amp; cast-expression</a:t>
            </a:r>
          </a:p>
        </p:txBody>
      </p:sp>
    </p:spTree>
    <p:extLst>
      <p:ext uri="{BB962C8B-B14F-4D97-AF65-F5344CB8AC3E}">
        <p14:creationId xmlns:p14="http://schemas.microsoft.com/office/powerpoint/2010/main" val="282989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&amp;&amp;</a:t>
            </a:r>
            <a:endParaRPr lang="en-US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791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Error:</a:t>
            </a: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Can do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15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8200" y="2504424"/>
            <a:ext cx="10375194" cy="523220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 ref = 9;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//error!!!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3924153"/>
            <a:ext cx="10375194" cy="954107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nine = 9;</a:t>
            </a:r>
          </a:p>
          <a:p>
            <a:pPr marL="274320"/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 ref = nine;</a:t>
            </a:r>
          </a:p>
        </p:txBody>
      </p:sp>
    </p:spTree>
    <p:extLst>
      <p:ext uri="{BB962C8B-B14F-4D97-AF65-F5344CB8AC3E}">
        <p14:creationId xmlns:p14="http://schemas.microsoft.com/office/powerpoint/2010/main" val="203291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&amp;&amp;</a:t>
            </a:r>
            <a:endParaRPr lang="en-US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794" y="166813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Can do:</a:t>
            </a: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Error: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16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08403" y="4110495"/>
            <a:ext cx="10375194" cy="523220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ref2 = ref1;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error!!! ref1 is an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lvalue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08403" y="2387861"/>
            <a:ext cx="10375194" cy="523220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&amp;&amp;ref1 = 9;</a:t>
            </a:r>
          </a:p>
        </p:txBody>
      </p:sp>
    </p:spTree>
    <p:extLst>
      <p:ext uri="{BB962C8B-B14F-4D97-AF65-F5344CB8AC3E}">
        <p14:creationId xmlns:p14="http://schemas.microsoft.com/office/powerpoint/2010/main" val="15130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move()</a:t>
            </a:r>
            <a:endParaRPr lang="en-US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794" y="166813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Can do:</a:t>
            </a: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17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08403" y="2387861"/>
            <a:ext cx="10375194" cy="523220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&amp;&amp;ref1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::move(ref1);</a:t>
            </a:r>
          </a:p>
        </p:txBody>
      </p:sp>
    </p:spTree>
    <p:extLst>
      <p:ext uri="{BB962C8B-B14F-4D97-AF65-F5344CB8AC3E}">
        <p14:creationId xmlns:p14="http://schemas.microsoft.com/office/powerpoint/2010/main" val="404407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move()</a:t>
            </a:r>
            <a:endParaRPr lang="en-US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1259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move()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takes an </a:t>
            </a:r>
            <a:r>
              <a:rPr lang="en-US" sz="3200" dirty="0" err="1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lvalue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and converts it into an </a:t>
            </a:r>
            <a:r>
              <a:rPr lang="en-US" sz="3200" dirty="0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  <a:endParaRPr lang="en-US" sz="320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18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8403" y="2363359"/>
            <a:ext cx="10375194" cy="3970318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f(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800" dirty="0" err="1">
                <a:solidFill>
                  <a:srgbClr val="A31515"/>
                </a:solidFill>
                <a:latin typeface="Consolas" panose="020B0609020204030204" pitchFamily="49" charset="0"/>
              </a:rPr>
              <a:t>lvalue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 ref: 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f(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"rvalue ref: 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77;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f(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    			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ref called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f(99);   			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rvalue ref called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74320"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f(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::move(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));	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rvalue ref called</a:t>
            </a:r>
          </a:p>
          <a:p>
            <a:pPr marL="274320">
              <a:lnSpc>
                <a:spcPct val="90000"/>
              </a:lnSpc>
            </a:pPr>
            <a:r>
              <a:rPr lang="en-US" sz="2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197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  <a:endParaRPr lang="en-US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979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Clr>
                <a:srgbClr val="2D0DB3"/>
              </a:buClr>
              <a:buSzPct val="115000"/>
              <a:buNone/>
            </a:pPr>
            <a:r>
              <a:rPr lang="en-US" sz="3200" b="1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C++0x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we could use a </a:t>
            </a:r>
            <a:r>
              <a:rPr lang="en-US" sz="3200" b="1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3200" b="1" dirty="0" err="1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lvalue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reference to bind </a:t>
            </a:r>
            <a:r>
              <a:rPr lang="en-US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temporary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object, but only if it was </a:t>
            </a:r>
            <a:r>
              <a:rPr lang="en-US" sz="3200" b="1" dirty="0" err="1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endParaRPr lang="en-US" sz="2400" b="1" dirty="0">
              <a:solidFill>
                <a:srgbClr val="2D0DB3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105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105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rgbClr val="2D0DB3"/>
              </a:buClr>
              <a:buSzPct val="115000"/>
              <a:buNone/>
            </a:pPr>
            <a:endParaRPr lang="en-US" sz="105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Clr>
                <a:srgbClr val="2D0DB3"/>
              </a:buClr>
              <a:buSzPct val="115000"/>
              <a:buNone/>
            </a:pPr>
            <a:r>
              <a:rPr lang="en-US" sz="3200" b="1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C++11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reference lets us bind a mutable reference to an </a:t>
            </a:r>
            <a:r>
              <a:rPr lang="en-US" b="1" dirty="0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but not an </a:t>
            </a:r>
            <a:r>
              <a:rPr lang="en-US" b="1" dirty="0" err="1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lvalue</a:t>
            </a:r>
            <a:endParaRPr lang="en-US" sz="2400" b="1" dirty="0">
              <a:solidFill>
                <a:srgbClr val="2D0DB3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8200" y="3001730"/>
            <a:ext cx="10480498" cy="954107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nn-NO" sz="28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nn-NO" sz="2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2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800">
                <a:solidFill>
                  <a:srgbClr val="000000"/>
                </a:solidFill>
                <a:latin typeface="Consolas" panose="020B0609020204030204" pitchFamily="49" charset="0"/>
              </a:rPr>
              <a:t>&amp; val = getValue(); 	</a:t>
            </a:r>
            <a:r>
              <a:rPr lang="nn-NO" sz="2800">
                <a:solidFill>
                  <a:srgbClr val="008000"/>
                </a:solidFill>
                <a:latin typeface="Consolas" panose="020B0609020204030204" pitchFamily="49" charset="0"/>
              </a:rPr>
              <a:t>// OK</a:t>
            </a:r>
            <a:endParaRPr lang="nn-NO" sz="2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74320"/>
            <a:r>
              <a:rPr lang="en-US" sz="2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>
                <a:solidFill>
                  <a:srgbClr val="000000"/>
                </a:solidFill>
                <a:latin typeface="Consolas" panose="020B0609020204030204" pitchFamily="49" charset="0"/>
              </a:rPr>
              <a:t>&amp; val = getValue(); 		</a:t>
            </a:r>
            <a:r>
              <a:rPr lang="en-US" sz="2800">
                <a:solidFill>
                  <a:srgbClr val="008000"/>
                </a:solidFill>
                <a:latin typeface="Consolas" panose="020B0609020204030204" pitchFamily="49" charset="0"/>
              </a:rPr>
              <a:t>// NOT OK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43504" y="5380587"/>
            <a:ext cx="10375194" cy="954107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nn-NO" sz="2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nn-NO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&amp;&amp; val = getValue(); 	</a:t>
            </a:r>
            <a:r>
              <a:rPr lang="nn-NO" sz="2800" dirty="0">
                <a:solidFill>
                  <a:srgbClr val="008000"/>
                </a:solidFill>
                <a:latin typeface="Consolas" panose="020B0609020204030204" pitchFamily="49" charset="0"/>
              </a:rPr>
              <a:t>// OK</a:t>
            </a:r>
            <a:endParaRPr lang="nn-NO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74320"/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getValue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(); 		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 OK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466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  <a:endParaRPr lang="en-US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6323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105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105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105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105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105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105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rgbClr val="2D0DB3"/>
              </a:buClr>
              <a:buSzPct val="115000"/>
              <a:buNone/>
            </a:pPr>
            <a:endParaRPr lang="en-US" sz="1050" dirty="0">
              <a:solidFill>
                <a:srgbClr val="2D0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printReference</a:t>
            </a:r>
            <a:r>
              <a:rPr lang="en-US" b="1" dirty="0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taking a </a:t>
            </a:r>
            <a:r>
              <a:rPr lang="en-US" b="1" dirty="0" err="1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lvalue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reference will accept any argument whether it be an </a:t>
            </a:r>
            <a:r>
              <a:rPr lang="en-US" b="1" dirty="0" err="1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lvalue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 an </a:t>
            </a:r>
            <a:r>
              <a:rPr lang="en-US" b="1" dirty="0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Overloaded </a:t>
            </a:r>
            <a:r>
              <a:rPr lang="en-US" b="1" dirty="0" err="1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printReference</a:t>
            </a:r>
            <a:r>
              <a:rPr lang="en-US" b="1" dirty="0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*()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taking only an </a:t>
            </a:r>
            <a:r>
              <a:rPr lang="en-US" b="1" dirty="0">
                <a:solidFill>
                  <a:srgbClr val="2D0DB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reference</a:t>
            </a:r>
            <a:endParaRPr lang="en-US" sz="2400" b="1" dirty="0">
              <a:solidFill>
                <a:srgbClr val="2D0DB3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20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5751" y="1553930"/>
            <a:ext cx="10480498" cy="2677656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printReference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printReference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56874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  <a:endParaRPr lang="en-US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21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3580" y="1466845"/>
            <a:ext cx="8201163" cy="4832092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printReference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printReference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getValue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temp_ii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99;</a:t>
            </a: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temp_ii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18448" y="3882891"/>
            <a:ext cx="7112590" cy="22467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main(){</a:t>
            </a: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ii = 11;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printReference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(ii);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printReference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getValue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781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 </a:t>
            </a:r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979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int &amp;&amp;a;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new (C++11) declaration </a:t>
            </a:r>
            <a:r>
              <a:rPr lang="en-US" sz="2800" b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reference.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i="1" dirty="0">
                <a:solidFill>
                  <a:srgbClr val="1B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</a:t>
            </a:r>
            <a:r>
              <a:rPr lang="en-US" sz="3200" i="1" dirty="0" err="1">
                <a:solidFill>
                  <a:srgbClr val="1B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lvalue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reference binds to an object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reference binds to a temporary object which typically will not be used again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2D0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Cannot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directly binds </a:t>
            </a:r>
            <a:r>
              <a:rPr lang="en-US" sz="3200" b="1" dirty="0" err="1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  <a:r>
              <a:rPr lang="en-US" sz="3200" b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reference to </a:t>
            </a:r>
            <a:r>
              <a:rPr lang="en-US" sz="3200" b="1" dirty="0" err="1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lvalue</a:t>
            </a:r>
            <a:r>
              <a:rPr lang="en-US" sz="3200" b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endParaRPr lang="en-US" sz="24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22</a:t>
            </a:fld>
            <a:endParaRPr lang="en-US" dirty="0">
              <a:solidFill>
                <a:srgbClr val="2D0D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10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move </a:t>
            </a:r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515925"/>
            <a:ext cx="10515600" cy="4351338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Return a </a:t>
            </a:r>
            <a:r>
              <a:rPr lang="en-US" sz="3200" b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Matrix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b="1" dirty="0">
              <a:solidFill>
                <a:srgbClr val="1B06BA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b="1" dirty="0">
              <a:solidFill>
                <a:srgbClr val="1B06BA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b="1" dirty="0">
              <a:solidFill>
                <a:srgbClr val="1B06BA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b="1" dirty="0">
              <a:solidFill>
                <a:srgbClr val="1B06BA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sz="3200" b="1" dirty="0">
              <a:solidFill>
                <a:srgbClr val="1B06BA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Define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 constructor for</a:t>
            </a:r>
            <a:r>
              <a:rPr lang="en-US" sz="3200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Matrix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don’t copy,</a:t>
            </a:r>
            <a:r>
              <a:rPr lang="en-US" sz="2800" b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2800" i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“steal the representation”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23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7651" y="1957979"/>
            <a:ext cx="10480498" cy="2677656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Matrix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+(</a:t>
            </a:r>
            <a:r>
              <a:rPr lang="en-US" sz="2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Matrix&amp; </a:t>
            </a:r>
            <a:r>
              <a:rPr lang="en-US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Matrix&amp; </a:t>
            </a:r>
            <a:r>
              <a:rPr lang="en-US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b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	Matrix r;</a:t>
            </a:r>
          </a:p>
          <a:p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	// copy a[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]+b[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] into r[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] for each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r;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Matrix res = a + b;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705600" y="5146705"/>
            <a:ext cx="5105400" cy="1334365"/>
            <a:chOff x="3543300" y="2761818"/>
            <a:chExt cx="5105400" cy="1334365"/>
          </a:xfrm>
        </p:grpSpPr>
        <p:sp>
          <p:nvSpPr>
            <p:cNvPr id="10" name="Rectangle 9"/>
            <p:cNvSpPr/>
            <p:nvPr/>
          </p:nvSpPr>
          <p:spPr>
            <a:xfrm>
              <a:off x="4229100" y="3339152"/>
              <a:ext cx="6858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372100" y="3720152"/>
              <a:ext cx="304800" cy="228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676900" y="3720152"/>
              <a:ext cx="304800" cy="228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667500" y="3720152"/>
              <a:ext cx="304800" cy="228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4" name="TextBox 11"/>
            <p:cNvSpPr txBox="1"/>
            <p:nvPr/>
          </p:nvSpPr>
          <p:spPr>
            <a:xfrm>
              <a:off x="6039897" y="3726851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……..</a:t>
              </a:r>
            </a:p>
          </p:txBody>
        </p:sp>
        <p:sp>
          <p:nvSpPr>
            <p:cNvPr id="15" name="TextBox 12"/>
            <p:cNvSpPr txBox="1"/>
            <p:nvPr/>
          </p:nvSpPr>
          <p:spPr>
            <a:xfrm>
              <a:off x="3543300" y="3339152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res:</a:t>
              </a:r>
            </a:p>
          </p:txBody>
        </p:sp>
        <p:cxnSp>
          <p:nvCxnSpPr>
            <p:cNvPr id="16" name="Straight Arrow Connector 15"/>
            <p:cNvCxnSpPr>
              <a:endCxn id="11" idx="1"/>
            </p:cNvCxnSpPr>
            <p:nvPr/>
          </p:nvCxnSpPr>
          <p:spPr>
            <a:xfrm>
              <a:off x="4686300" y="3491552"/>
              <a:ext cx="685800" cy="3429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7810500" y="2761818"/>
              <a:ext cx="6858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TextBox 16"/>
            <p:cNvSpPr txBox="1"/>
            <p:nvPr/>
          </p:nvSpPr>
          <p:spPr>
            <a:xfrm>
              <a:off x="7353300" y="276181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r:</a:t>
              </a:r>
            </a:p>
          </p:txBody>
        </p:sp>
        <p:cxnSp>
          <p:nvCxnSpPr>
            <p:cNvPr id="19" name="Straight Arrow Connector 18"/>
            <p:cNvCxnSpPr>
              <a:endCxn id="11" idx="0"/>
            </p:cNvCxnSpPr>
            <p:nvPr/>
          </p:nvCxnSpPr>
          <p:spPr>
            <a:xfrm flipH="1">
              <a:off x="5524500" y="2946484"/>
              <a:ext cx="2438400" cy="77366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8153400" y="2946484"/>
              <a:ext cx="342900" cy="57733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8343900" y="3529652"/>
              <a:ext cx="304800" cy="228600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6515100" y="3235151"/>
              <a:ext cx="210597" cy="25640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6714601" y="3205117"/>
              <a:ext cx="210597" cy="25640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908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move </a:t>
            </a:r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24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5751" y="1434565"/>
            <a:ext cx="10480498" cy="4401205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Matrix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Representation rep;</a:t>
            </a:r>
          </a:p>
          <a:p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	// …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Matrix(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Matrix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	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move constructor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	rep =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.rep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	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*this gets a’s elements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		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.rep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{};	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a becomes the empty Matrix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Matrix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res = a + b;</a:t>
            </a: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705600" y="5146705"/>
            <a:ext cx="5105400" cy="1334365"/>
            <a:chOff x="3543300" y="2761818"/>
            <a:chExt cx="5105400" cy="1334365"/>
          </a:xfrm>
        </p:grpSpPr>
        <p:sp>
          <p:nvSpPr>
            <p:cNvPr id="10" name="Rectangle 9"/>
            <p:cNvSpPr/>
            <p:nvPr/>
          </p:nvSpPr>
          <p:spPr>
            <a:xfrm>
              <a:off x="4229100" y="3339152"/>
              <a:ext cx="6858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372100" y="3720152"/>
              <a:ext cx="304800" cy="228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676900" y="3720152"/>
              <a:ext cx="304800" cy="228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667500" y="3720152"/>
              <a:ext cx="304800" cy="228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4" name="TextBox 11"/>
            <p:cNvSpPr txBox="1"/>
            <p:nvPr/>
          </p:nvSpPr>
          <p:spPr>
            <a:xfrm>
              <a:off x="6039897" y="3726851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……..</a:t>
              </a:r>
            </a:p>
          </p:txBody>
        </p:sp>
        <p:sp>
          <p:nvSpPr>
            <p:cNvPr id="15" name="TextBox 12"/>
            <p:cNvSpPr txBox="1"/>
            <p:nvPr/>
          </p:nvSpPr>
          <p:spPr>
            <a:xfrm>
              <a:off x="3543300" y="3339152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res:</a:t>
              </a:r>
            </a:p>
          </p:txBody>
        </p:sp>
        <p:cxnSp>
          <p:nvCxnSpPr>
            <p:cNvPr id="16" name="Straight Arrow Connector 15"/>
            <p:cNvCxnSpPr>
              <a:endCxn id="11" idx="1"/>
            </p:cNvCxnSpPr>
            <p:nvPr/>
          </p:nvCxnSpPr>
          <p:spPr>
            <a:xfrm>
              <a:off x="4686300" y="3491552"/>
              <a:ext cx="685800" cy="3429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7810500" y="2761818"/>
              <a:ext cx="6858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TextBox 16"/>
            <p:cNvSpPr txBox="1"/>
            <p:nvPr/>
          </p:nvSpPr>
          <p:spPr>
            <a:xfrm>
              <a:off x="7353300" y="276181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r:</a:t>
              </a:r>
            </a:p>
          </p:txBody>
        </p:sp>
        <p:cxnSp>
          <p:nvCxnSpPr>
            <p:cNvPr id="19" name="Straight Arrow Connector 18"/>
            <p:cNvCxnSpPr>
              <a:endCxn id="11" idx="0"/>
            </p:cNvCxnSpPr>
            <p:nvPr/>
          </p:nvCxnSpPr>
          <p:spPr>
            <a:xfrm flipH="1">
              <a:off x="5524500" y="2946484"/>
              <a:ext cx="2438400" cy="77366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8153400" y="2946484"/>
              <a:ext cx="342900" cy="57733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8343900" y="3529652"/>
              <a:ext cx="304800" cy="228600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6515100" y="3235151"/>
              <a:ext cx="210597" cy="25640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6714601" y="3205117"/>
              <a:ext cx="210597" cy="25640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731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move </a:t>
            </a:r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515924"/>
            <a:ext cx="10515600" cy="4840425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main usage of </a:t>
            </a:r>
            <a:r>
              <a:rPr lang="en-US" sz="3200" b="1" dirty="0">
                <a:solidFill>
                  <a:srgbClr val="1B06B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rvalue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references is to create a </a:t>
            </a:r>
            <a:r>
              <a:rPr lang="en-US" sz="3200" b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i="1" dirty="0">
                <a:solidFill>
                  <a:srgbClr val="1B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constructor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3200" b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i="1" dirty="0">
                <a:solidFill>
                  <a:srgbClr val="1B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 operator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3200" i="1" dirty="0">
                <a:solidFill>
                  <a:srgbClr val="1B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 constructor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like a copy constructor, takes an instance of an object as its argument and creates a new instance from original object. 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i="1" dirty="0">
                <a:solidFill>
                  <a:srgbClr val="1B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 constructor </a:t>
            </a:r>
            <a:r>
              <a:rPr lang="en-US" sz="32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avoid memory reallocation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because we know it has been provided a </a:t>
            </a:r>
            <a:r>
              <a:rPr lang="en-US" sz="32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temporary object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rather than copy the fields of the object, we will move them</a:t>
            </a:r>
            <a:endParaRPr lang="en-US" sz="2800" i="1" dirty="0">
              <a:solidFill>
                <a:srgbClr val="1B06BA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25</a:t>
            </a:fld>
            <a:endParaRPr lang="en-US" dirty="0">
              <a:solidFill>
                <a:srgbClr val="2D0D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97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b="1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move</a:t>
            </a:r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515924"/>
            <a:ext cx="10515600" cy="4840425"/>
          </a:xfrm>
        </p:spPr>
        <p:txBody>
          <a:bodyPr>
            <a:normAutofit fontScale="92500"/>
          </a:bodyPr>
          <a:lstStyle/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b="1" dirty="0" err="1">
                <a:solidFill>
                  <a:srgbClr val="1B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rvalue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are typically temporary, 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they can be modified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If function parameter is an </a:t>
            </a:r>
            <a:r>
              <a:rPr lang="en-US" sz="3200" b="1" dirty="0">
                <a:solidFill>
                  <a:srgbClr val="1B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rvalue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use it as a temporary storage, or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take its contents without affecting the output of our program. 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Therefore just move the contents rather than copy the contents of an </a:t>
            </a:r>
            <a:r>
              <a:rPr lang="en-US" sz="3200" b="1" dirty="0">
                <a:solidFill>
                  <a:srgbClr val="1B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rvalue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parameter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Saves a lot of memory allocation 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Provides a lot of scope for optimization for large dynamic structures</a:t>
            </a:r>
            <a:endParaRPr lang="en-US" i="1" dirty="0">
              <a:solidFill>
                <a:srgbClr val="1B06BA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26</a:t>
            </a:fld>
            <a:endParaRPr lang="en-US" dirty="0">
              <a:solidFill>
                <a:srgbClr val="2D0D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93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b="1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move</a:t>
            </a:r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27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5751" y="1434565"/>
            <a:ext cx="10480498" cy="4832092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A(A&amp;&amp; other) :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mData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mLength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(0){</a:t>
            </a:r>
          </a:p>
          <a:p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	// Copy the data pointer and its length from the 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	// source object.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mData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other.mData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mLength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other.mLength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	// Release the data pointer from the source 	// object, the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dest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does not free the memory 	// multiple times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other.mData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other.mLength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00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 to create a </a:t>
            </a:r>
            <a:r>
              <a:rPr lang="en-US" b="1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move</a:t>
            </a:r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480754"/>
            <a:ext cx="10515600" cy="4840425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Font typeface="+mj-lt"/>
              <a:buAutoNum type="arabi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Define an empty constructor method that takes an rvalue reference to the class type as its parameter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Font typeface="+mj-lt"/>
              <a:buAutoNum type="arabicPeriod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+mj-lt"/>
              <a:buAutoNum type="arabicPeriod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Font typeface="+mj-lt"/>
              <a:buAutoNum type="arabicPeriod" startAt="2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 the move constructor, assign the class data members from the source object to the object that is being constructed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28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1837" y="2589345"/>
            <a:ext cx="10480498" cy="1384995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MemoryBlock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MemoryBlock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&amp;&amp; other)</a:t>
            </a:r>
          </a:p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	: _data(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	, _length(0){}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252" y="5443447"/>
            <a:ext cx="10480498" cy="954107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_data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other._data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_length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other._length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2447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 to create a </a:t>
            </a:r>
            <a:r>
              <a:rPr lang="en-US" b="1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move</a:t>
            </a:r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515925"/>
            <a:ext cx="10515600" cy="4840425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Font typeface="+mj-lt"/>
              <a:buAutoNum type="arabicPeriod" startAt="3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Assign the data members of the source object to default values.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prevents the destructor from freeing resources (such as memory) multiple times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Font typeface="+mj-lt"/>
              <a:buAutoNum type="arabicPeriod" startAt="3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Font typeface="+mj-lt"/>
              <a:buAutoNum type="arabicPeriod" startAt="3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c++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29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5202" y="3661021"/>
            <a:ext cx="10480498" cy="954107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other._data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1B06BA"/>
                </a:solidFill>
                <a:latin typeface="Consolas" panose="020B0609020204030204" pitchFamily="49" charset="0"/>
              </a:rPr>
              <a:t>nullptr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  </a:t>
            </a:r>
          </a:p>
          <a:p>
            <a:pPr marL="274320"/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other._length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</p:txBody>
      </p:sp>
    </p:spTree>
    <p:extLst>
      <p:ext uri="{BB962C8B-B14F-4D97-AF65-F5344CB8AC3E}">
        <p14:creationId xmlns:p14="http://schemas.microsoft.com/office/powerpoint/2010/main" val="27639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 Assignment Operator</a:t>
            </a:r>
            <a:endParaRPr lang="en-US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791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move assignment operator = is used for transferring a temporary object to an existing object</a:t>
            </a: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can be overloaded</a:t>
            </a: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If the move assignment operator is not explicitly defined, the compiler generates an implicit move assignment operator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30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8200" y="5321577"/>
            <a:ext cx="10375194" cy="523220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1B06BA"/>
                </a:solidFill>
                <a:latin typeface="Consolas" panose="020B0609020204030204" pitchFamily="49" charset="0"/>
              </a:rPr>
              <a:t>T&amp; operator=(T&amp;&amp; data)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89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 to create a </a:t>
            </a:r>
            <a:r>
              <a:rPr lang="en-US" b="1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move</a:t>
            </a:r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480754"/>
            <a:ext cx="10515600" cy="4840425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Font typeface="+mj-lt"/>
              <a:buAutoNum type="arabi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Define an empty </a:t>
            </a:r>
            <a:r>
              <a:rPr lang="en-US" sz="3200" dirty="0">
                <a:solidFill>
                  <a:srgbClr val="1B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 operator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that takes an </a:t>
            </a:r>
            <a:r>
              <a:rPr lang="en-US" sz="3200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reference to the class type as its parameter and returns a reference to the class type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Font typeface="+mj-lt"/>
              <a:buAutoNum type="arabicPeriod" startAt="2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US" sz="3200" dirty="0">
                <a:solidFill>
                  <a:srgbClr val="1B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 assignment operator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add a conditional statement that performs no operation if you try to assign the object to itself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31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7651" y="3125743"/>
            <a:ext cx="10480498" cy="523220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MemoryBlock&amp;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=(MemoryBlock&amp;&amp;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other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){}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252" y="5443447"/>
            <a:ext cx="10480498" cy="523220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b="0" i="0" dirty="0">
                <a:solidFill>
                  <a:srgbClr val="0101F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800" b="0" i="0" dirty="0">
                <a:solidFill>
                  <a:srgbClr val="0101FD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&amp;other) { } 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95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 to create a </a:t>
            </a:r>
            <a:r>
              <a:rPr lang="en-US" b="1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move</a:t>
            </a:r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480754"/>
            <a:ext cx="10515600" cy="4840425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Font typeface="+mj-lt"/>
              <a:buAutoNum type="arabicPeriod" startAt="3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 the conditional statement, free any resources (such as memory) from the object that is being assigned to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Font typeface="+mj-lt"/>
              <a:buAutoNum type="arabicPeriod" startAt="3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Font typeface="+mj-lt"/>
              <a:buAutoNum type="arabicPeriod" startAt="3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15000"/>
              <a:buNone/>
            </a:pPr>
            <a:r>
              <a:rPr lang="en-US" sz="3200" dirty="0">
                <a:solidFill>
                  <a:srgbClr val="1B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steps 2 and 3 in the first procedure to transfer the data members from the source object to the object that is being constructed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32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7651" y="2637693"/>
            <a:ext cx="10480498" cy="954107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Free the existing resource. </a:t>
            </a:r>
          </a:p>
          <a:p>
            <a:pPr marL="274320"/>
            <a:r>
              <a:rPr lang="en-US" sz="2800" b="0" i="0" dirty="0">
                <a:solidFill>
                  <a:srgbClr val="0101FD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_data;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29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 to create a </a:t>
            </a:r>
            <a:r>
              <a:rPr lang="en-US" b="1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move</a:t>
            </a:r>
            <a:r>
              <a:rPr lang="en-US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480754"/>
            <a:ext cx="10515600" cy="484042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Font typeface="+mj-lt"/>
              <a:buAutoNum type="arabicPeriod" startAt="4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Return a reference to the current object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33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5751" y="1480754"/>
            <a:ext cx="10480498" cy="3539430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b="0" i="0" spc="-1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Copy the data pointer and its length from the </a:t>
            </a:r>
          </a:p>
          <a:p>
            <a:pPr marL="274320"/>
            <a:r>
              <a:rPr lang="en-US" sz="2800" b="0" i="0" spc="-1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source object</a:t>
            </a:r>
            <a:endParaRPr lang="en-US" sz="2800" b="0" i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274320"/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_data =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other._data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274320"/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_length =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other._length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274320"/>
            <a:r>
              <a:rPr lang="en-US" sz="2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800" b="0" i="0" spc="-1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Release the data pointer from the source object</a:t>
            </a:r>
          </a:p>
          <a:p>
            <a:pPr marL="274320"/>
            <a:r>
              <a:rPr lang="en-US" sz="2800" b="0" i="0" spc="-1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800" b="0" i="0" spc="-10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destr</a:t>
            </a:r>
            <a:r>
              <a:rPr lang="en-US" sz="2800" b="0" i="0" spc="-1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does not free the memory multiple times</a:t>
            </a:r>
          </a:p>
          <a:p>
            <a:pPr marL="274320"/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other._data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800" b="0" i="0" dirty="0" err="1">
                <a:solidFill>
                  <a:srgbClr val="07704A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274320"/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other._length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0; 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5751" y="5584805"/>
            <a:ext cx="10480498" cy="523220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b="0" i="0" dirty="0">
                <a:solidFill>
                  <a:srgbClr val="0101F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2800" b="0" i="0" dirty="0">
                <a:solidFill>
                  <a:srgbClr val="0101FD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84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 Assignment Operator</a:t>
            </a:r>
            <a:endParaRPr lang="en-US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791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Clr>
                <a:srgbClr val="2D0DB3"/>
              </a:buClr>
              <a:buSzPct val="115000"/>
              <a:buNone/>
            </a:pPr>
            <a:r>
              <a:rPr lang="en-US" sz="3200" dirty="0">
                <a:solidFill>
                  <a:srgbClr val="1B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successfully overload the move assignment operator, the following conditions must be met:</a:t>
            </a: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Check if the object calling the operator is not calling the operator on itself</a:t>
            </a: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current object's data is de-allocated</a:t>
            </a: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object that is being moved from must have its data marked as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nullptr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(or something to signify the move)</a:t>
            </a: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operator must return a reference to "*this"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34</a:t>
            </a:fld>
            <a:endParaRPr lang="en-US" dirty="0">
              <a:solidFill>
                <a:srgbClr val="2D0D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72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 Assignment Operator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35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376979"/>
            <a:ext cx="12169588" cy="4854342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2B91AF"/>
                </a:solidFill>
                <a:latin typeface="Consolas" panose="020B0609020204030204" pitchFamily="49" charset="0"/>
              </a:rPr>
              <a:t>Resource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85000"/>
              </a:lnSpc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85000"/>
              </a:lnSpc>
            </a:pPr>
            <a:r>
              <a:rPr lang="en-US" sz="2600" dirty="0">
                <a:solidFill>
                  <a:srgbClr val="2B91AF"/>
                </a:solidFill>
                <a:latin typeface="Consolas" panose="020B0609020204030204" pitchFamily="49" charset="0"/>
              </a:rPr>
              <a:t>   	Resource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2600" dirty="0">
                <a:solidFill>
                  <a:srgbClr val="008080"/>
                </a:solidFill>
                <a:latin typeface="Consolas" panose="020B0609020204030204" pitchFamily="49" charset="0"/>
              </a:rPr>
              <a:t>operator=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600" dirty="0">
                <a:solidFill>
                  <a:srgbClr val="2B91AF"/>
                </a:solidFill>
                <a:latin typeface="Consolas" panose="020B0609020204030204" pitchFamily="49" charset="0"/>
              </a:rPr>
              <a:t>Resource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sz="2600" dirty="0">
                <a:solidFill>
                  <a:srgbClr val="808080"/>
                </a:solidFill>
                <a:latin typeface="Consolas" panose="020B0609020204030204" pitchFamily="49" charset="0"/>
              </a:rPr>
              <a:t>other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85000"/>
              </a:lnSpc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	if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!= &amp;</a:t>
            </a:r>
            <a:r>
              <a:rPr lang="en-US" sz="2600" dirty="0">
                <a:solidFill>
                  <a:srgbClr val="808080"/>
                </a:solidFill>
                <a:latin typeface="Consolas" panose="020B0609020204030204" pitchFamily="49" charset="0"/>
              </a:rPr>
              <a:t>other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) {   </a:t>
            </a:r>
            <a:r>
              <a:rPr lang="en-US" sz="2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600" spc="-100" dirty="0">
                <a:solidFill>
                  <a:srgbClr val="008000"/>
                </a:solidFill>
                <a:latin typeface="Consolas" panose="020B0609020204030204" pitchFamily="49" charset="0"/>
              </a:rPr>
              <a:t>isn't being called on itself</a:t>
            </a:r>
            <a:endParaRPr lang="en-US" sz="2600" spc="-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	delete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-&gt;data;      </a:t>
            </a:r>
            <a:r>
              <a:rPr lang="en-US" sz="2600" dirty="0">
                <a:solidFill>
                  <a:srgbClr val="008000"/>
                </a:solidFill>
                <a:latin typeface="Consolas" panose="020B0609020204030204" pitchFamily="49" charset="0"/>
              </a:rPr>
              <a:t>// Delete the object's data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	this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-&gt;data = </a:t>
            </a:r>
            <a:r>
              <a:rPr lang="en-US" sz="2600" dirty="0" err="1">
                <a:solidFill>
                  <a:srgbClr val="808080"/>
                </a:solidFill>
                <a:latin typeface="Consolas" panose="020B0609020204030204" pitchFamily="49" charset="0"/>
              </a:rPr>
              <a:t>other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2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600" spc="-100" dirty="0">
                <a:solidFill>
                  <a:srgbClr val="008000"/>
                </a:solidFill>
                <a:latin typeface="Consolas" panose="020B0609020204030204" pitchFamily="49" charset="0"/>
              </a:rPr>
              <a:t>"Move" other's data into </a:t>
            </a:r>
            <a:r>
              <a:rPr lang="en-US" sz="2600" dirty="0">
                <a:solidFill>
                  <a:srgbClr val="008000"/>
                </a:solidFill>
                <a:latin typeface="Consolas" panose="020B0609020204030204" pitchFamily="49" charset="0"/>
              </a:rPr>
              <a:t>the 						    	    // current object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600" dirty="0">
                <a:solidFill>
                  <a:srgbClr val="808080"/>
                </a:solidFill>
                <a:latin typeface="Consolas" panose="020B0609020204030204" pitchFamily="49" charset="0"/>
              </a:rPr>
              <a:t>		</a:t>
            </a:r>
            <a:r>
              <a:rPr lang="en-US" sz="2600" dirty="0" err="1">
                <a:solidFill>
                  <a:srgbClr val="808080"/>
                </a:solidFill>
                <a:latin typeface="Consolas" panose="020B0609020204030204" pitchFamily="49" charset="0"/>
              </a:rPr>
              <a:t>other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6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en-US" sz="2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600" spc="-100" dirty="0">
                <a:solidFill>
                  <a:srgbClr val="008000"/>
                </a:solidFill>
                <a:latin typeface="Consolas" panose="020B0609020204030204" pitchFamily="49" charset="0"/>
              </a:rPr>
              <a:t>Mark the other object as 							          // "empty"</a:t>
            </a:r>
            <a:endParaRPr lang="en-US" sz="2600" spc="-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 		}</a:t>
            </a:r>
          </a:p>
          <a:p>
            <a:pPr>
              <a:lnSpc>
                <a:spcPct val="85000"/>
              </a:lnSpc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   		return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           </a:t>
            </a:r>
            <a:r>
              <a:rPr lang="en-US" sz="2600" dirty="0">
                <a:solidFill>
                  <a:srgbClr val="008000"/>
                </a:solidFill>
                <a:latin typeface="Consolas" panose="020B0609020204030204" pitchFamily="49" charset="0"/>
              </a:rPr>
              <a:t>// return *this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 	}</a:t>
            </a:r>
          </a:p>
          <a:p>
            <a:pPr>
              <a:lnSpc>
                <a:spcPct val="85000"/>
              </a:lnSpc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void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* data;</a:t>
            </a:r>
          </a:p>
          <a:p>
            <a:pPr>
              <a:lnSpc>
                <a:spcPct val="85000"/>
              </a:lnSpc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26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38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dirty="0" err="1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en-US" dirty="0">
                <a:solidFill>
                  <a:srgbClr val="FFF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::move</a:t>
            </a:r>
            <a:endParaRPr lang="en-US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791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b="1" dirty="0" err="1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std</a:t>
            </a:r>
            <a:r>
              <a:rPr lang="en-US" sz="3200" b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::move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is a standard library function</a:t>
            </a: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Unconditionally casts its argument to an </a:t>
            </a:r>
            <a:r>
              <a:rPr lang="en-US" sz="3200" b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reference, and thereby signals that it can be moved if its type is move-enabled</a:t>
            </a: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We can pass an </a:t>
            </a:r>
            <a:r>
              <a:rPr lang="en-US" sz="3200" b="1" dirty="0" err="1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lvalue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sz="3200" b="1" dirty="0" err="1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std</a:t>
            </a:r>
            <a:r>
              <a:rPr lang="en-US" sz="3200" b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::move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and it will return an </a:t>
            </a:r>
            <a:r>
              <a:rPr lang="en-US" sz="3200" b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rvalue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reference. </a:t>
            </a:r>
          </a:p>
          <a:p>
            <a:pPr marL="457200" indent="-457200">
              <a:lnSpc>
                <a:spcPct val="100000"/>
              </a:lnSpc>
              <a:buClr>
                <a:srgbClr val="2D0DB3"/>
              </a:buClr>
              <a:buSzPct val="115000"/>
              <a:buFont typeface="Wingdings" panose="05000000000000000000" pitchFamily="2" charset="2"/>
              <a:buChar char="§"/>
            </a:pPr>
            <a:r>
              <a:rPr lang="en-US" sz="3200" b="1" dirty="0" err="1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std</a:t>
            </a:r>
            <a:r>
              <a:rPr lang="en-US" sz="3200" b="1" dirty="0">
                <a:solidFill>
                  <a:srgbClr val="1B06BA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::move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is defined in the utility header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36</a:t>
            </a:fld>
            <a:endParaRPr lang="en-US" dirty="0">
              <a:solidFill>
                <a:srgbClr val="2D0D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4745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b="1" dirty="0" err="1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std</a:t>
            </a:r>
            <a:r>
              <a:rPr lang="en-US" b="1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::move</a:t>
            </a:r>
            <a:endParaRPr lang="en-US" dirty="0">
              <a:solidFill>
                <a:srgbClr val="FFFF2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547989"/>
            <a:ext cx="10515600" cy="484042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37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6955" y="1547989"/>
            <a:ext cx="10741889" cy="2677656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fr-FR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2800" dirty="0">
                <a:solidFill>
                  <a:srgbClr val="000000"/>
                </a:solidFill>
                <a:latin typeface="Consolas" panose="020B0609020204030204" pitchFamily="49" charset="0"/>
              </a:rPr>
              <a:t> swap(T&amp; a, T&amp; b)</a:t>
            </a:r>
          </a:p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T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 a }; 	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invokes copy constructor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a = b; 		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invokes copy assignment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b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 		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invokes copy assignment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425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b="1" dirty="0" err="1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std</a:t>
            </a:r>
            <a:r>
              <a:rPr lang="en-US" b="1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::move</a:t>
            </a:r>
            <a:endParaRPr lang="en-US" dirty="0">
              <a:solidFill>
                <a:srgbClr val="FFFF2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547989"/>
            <a:ext cx="10515600" cy="484042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38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5055" y="1663634"/>
            <a:ext cx="10741889" cy="3108543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marL="274320"/>
            <a:r>
              <a:rPr lang="fr-FR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2800" dirty="0">
                <a:solidFill>
                  <a:srgbClr val="000000"/>
                </a:solidFill>
                <a:latin typeface="Consolas" panose="020B0609020204030204" pitchFamily="49" charset="0"/>
              </a:rPr>
              <a:t> swap(</a:t>
            </a:r>
            <a:r>
              <a:rPr lang="fr-FR" sz="2800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fr-FR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fr-FR" sz="2800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fr-FR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2800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fr-FR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fr-FR" sz="2800" dirty="0">
                <a:solidFill>
                  <a:srgbClr val="808080"/>
                </a:solidFill>
                <a:latin typeface="Consolas" panose="020B0609020204030204" pitchFamily="49" charset="0"/>
              </a:rPr>
              <a:t>b</a:t>
            </a:r>
            <a:r>
              <a:rPr lang="fr-FR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274320"/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	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::move(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 }; </a:t>
            </a:r>
            <a:r>
              <a:rPr lang="en-US" sz="2800" spc="-100" dirty="0">
                <a:solidFill>
                  <a:srgbClr val="008000"/>
                </a:solidFill>
                <a:latin typeface="Consolas" panose="020B0609020204030204" pitchFamily="49" charset="0"/>
              </a:rPr>
              <a:t>// invokes move constructor</a:t>
            </a:r>
            <a:endParaRPr lang="en-US" sz="2800" spc="-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74320"/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	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::move(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b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 	   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invokes move assignment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74320"/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	b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::move(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   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invokes move assignment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7432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151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258"/>
          </a:xfrm>
          <a:solidFill>
            <a:srgbClr val="2D0DB3"/>
          </a:solidFill>
        </p:spPr>
        <p:txBody>
          <a:bodyPr/>
          <a:lstStyle/>
          <a:p>
            <a:r>
              <a:rPr lang="en-US" b="1" dirty="0" err="1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std</a:t>
            </a:r>
            <a:r>
              <a:rPr lang="en-US" b="1" dirty="0">
                <a:solidFill>
                  <a:srgbClr val="FFFF2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::move</a:t>
            </a:r>
            <a:endParaRPr lang="en-US" dirty="0">
              <a:solidFill>
                <a:srgbClr val="FFFF2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547989"/>
            <a:ext cx="10515600" cy="484042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2D0DB3"/>
              </a:buClr>
              <a:buSzPct val="100000"/>
              <a:buNone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987B-E73D-49AC-8E70-5CDA14A9A852}" type="datetime1">
              <a:rPr lang="en-US" smtClean="0">
                <a:solidFill>
                  <a:srgbClr val="2D0DB3"/>
                </a:solidFill>
              </a:rPr>
              <a:t>3/27/19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D0DB3"/>
                </a:solidFill>
              </a:rPr>
              <a:t>COMP IV </a:t>
            </a:r>
            <a:r>
              <a:rPr lang="en-US" dirty="0" err="1">
                <a:solidFill>
                  <a:srgbClr val="2D0DB3"/>
                </a:solidFill>
              </a:rPr>
              <a:t>Dr.Rykalova</a:t>
            </a:r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6B3B-CCAC-4811-8363-F58BD1A55D7C}" type="slidenum">
              <a:rPr lang="en-US" smtClean="0">
                <a:solidFill>
                  <a:srgbClr val="2D0DB3"/>
                </a:solidFill>
              </a:rPr>
              <a:pPr/>
              <a:t>39</a:t>
            </a:fld>
            <a:endParaRPr lang="en-US" dirty="0">
              <a:solidFill>
                <a:srgbClr val="2D0DB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5055" y="1408141"/>
            <a:ext cx="10741889" cy="3539430"/>
          </a:xfrm>
          <a:prstGeom prst="rect">
            <a:avLst/>
          </a:prstGeom>
          <a:solidFill>
            <a:srgbClr val="FDE169"/>
          </a:solidFill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vector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&gt; v;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"Knock"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calls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r-value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version of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push_back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, which moves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str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// into the array element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v.push_back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::move(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</a:p>
          <a:p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800" dirty="0" err="1">
                <a:solidFill>
                  <a:srgbClr val="A31515"/>
                </a:solidFill>
                <a:latin typeface="Consolas" panose="020B0609020204030204" pitchFamily="49" charset="0"/>
              </a:rPr>
              <a:t>str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'\n'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"vector:"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&lt;&lt; v[0] </a:t>
            </a:r>
            <a:r>
              <a:rPr lang="en-US" sz="280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2800">
                <a:solidFill>
                  <a:srgbClr val="A31515"/>
                </a:solidFill>
                <a:latin typeface="Consolas" panose="020B0609020204030204" pitchFamily="49" charset="0"/>
              </a:rPr>
              <a:t>'\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n'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Rectangle 8"/>
          <p:cNvSpPr/>
          <p:nvPr/>
        </p:nvSpPr>
        <p:spPr>
          <a:xfrm>
            <a:off x="5174875" y="5024453"/>
            <a:ext cx="5636559" cy="95410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marL="274320"/>
            <a:r>
              <a:rPr lang="en-US" sz="2800" b="1" i="0" dirty="0" err="1">
                <a:effectLst/>
                <a:latin typeface="Consolas" panose="020B0609020204030204" pitchFamily="49" charset="0"/>
              </a:rPr>
              <a:t>str</a:t>
            </a:r>
            <a:r>
              <a:rPr lang="en-US" sz="2800" b="1" i="0" dirty="0">
                <a:effectLst/>
                <a:latin typeface="Consolas" panose="020B0609020204030204" pitchFamily="49" charset="0"/>
              </a:rPr>
              <a:t>:</a:t>
            </a:r>
          </a:p>
          <a:p>
            <a:pPr marL="274320"/>
            <a:r>
              <a:rPr lang="en-US" sz="2800" b="1" i="0" dirty="0">
                <a:effectLst/>
                <a:latin typeface="Consolas" panose="020B0609020204030204" pitchFamily="49" charset="0"/>
              </a:rPr>
              <a:t>vector: Knock</a:t>
            </a:r>
            <a:endParaRPr lang="en-US" sz="28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52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34068</TotalTime>
  <Words>3088</Words>
  <Application>Microsoft Macintosh PowerPoint</Application>
  <PresentationFormat>Widescreen</PresentationFormat>
  <Paragraphs>609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Calibri Light</vt:lpstr>
      <vt:lpstr>Consolas</vt:lpstr>
      <vt:lpstr>Courier New</vt:lpstr>
      <vt:lpstr>Georgia</vt:lpstr>
      <vt:lpstr>Wingdings</vt:lpstr>
      <vt:lpstr>Office Theme</vt:lpstr>
      <vt:lpstr>C++11  RVALUE REFERENCE AND MOVE SEMANTICS</vt:lpstr>
      <vt:lpstr>Pass by value</vt:lpstr>
      <vt:lpstr>Returning large objects from functions</vt:lpstr>
      <vt:lpstr>Returning large objects from functions</vt:lpstr>
      <vt:lpstr>Returning large objects from functions</vt:lpstr>
      <vt:lpstr>Passing objects to functions efficiently</vt:lpstr>
      <vt:lpstr>lvalue</vt:lpstr>
      <vt:lpstr>lvalue</vt:lpstr>
      <vt:lpstr>lvalue</vt:lpstr>
      <vt:lpstr>lvalue</vt:lpstr>
      <vt:lpstr>rvalue</vt:lpstr>
      <vt:lpstr>rvalue</vt:lpstr>
      <vt:lpstr>rvalue</vt:lpstr>
      <vt:lpstr>&amp;&amp;</vt:lpstr>
      <vt:lpstr>&amp;&amp;</vt:lpstr>
      <vt:lpstr>&amp;&amp;</vt:lpstr>
      <vt:lpstr>move()</vt:lpstr>
      <vt:lpstr>move()</vt:lpstr>
      <vt:lpstr>rvalue</vt:lpstr>
      <vt:lpstr>rvalue</vt:lpstr>
      <vt:lpstr>rvalue</vt:lpstr>
      <vt:lpstr>rvalue summary</vt:lpstr>
      <vt:lpstr>move semantics</vt:lpstr>
      <vt:lpstr>move semantics</vt:lpstr>
      <vt:lpstr>move semantics</vt:lpstr>
      <vt:lpstr>move constructor</vt:lpstr>
      <vt:lpstr>move semantics</vt:lpstr>
      <vt:lpstr>Steps to create a move constructor</vt:lpstr>
      <vt:lpstr>Steps to create a move constructor</vt:lpstr>
      <vt:lpstr>Move Assignment Operator</vt:lpstr>
      <vt:lpstr>Steps to create a move assignment operator</vt:lpstr>
      <vt:lpstr>Steps to create a move assignment operator</vt:lpstr>
      <vt:lpstr>Steps to create a move assignment operator</vt:lpstr>
      <vt:lpstr>Move Assignment Operator</vt:lpstr>
      <vt:lpstr>Move Assignment Operator</vt:lpstr>
      <vt:lpstr>std::move</vt:lpstr>
      <vt:lpstr>std::move</vt:lpstr>
      <vt:lpstr>std::move</vt:lpstr>
      <vt:lpstr>std::move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C++11  RVALUE REFERENCE AND MOVE SEMANTICS</dc:title>
  <dc:creator>Rykalova, Yelena</dc:creator>
  <cp:lastModifiedBy>Ryan Balachandran</cp:lastModifiedBy>
  <cp:revision>76</cp:revision>
  <cp:lastPrinted>2018-12-07T15:20:27Z</cp:lastPrinted>
  <dcterms:created xsi:type="dcterms:W3CDTF">2018-12-04T23:31:36Z</dcterms:created>
  <dcterms:modified xsi:type="dcterms:W3CDTF">2019-03-27T16:50:41Z</dcterms:modified>
</cp:coreProperties>
</file>