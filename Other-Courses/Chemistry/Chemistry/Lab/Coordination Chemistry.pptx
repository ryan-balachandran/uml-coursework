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7" r:id="rId13"/>
    <p:sldId id="269" r:id="rId14"/>
    <p:sldId id="270" r:id="rId15"/>
    <p:sldId id="271" r:id="rId16"/>
    <p:sldId id="272" r:id="rId17"/>
    <p:sldId id="273" r:id="rId18"/>
    <p:sldId id="274" r:id="rId19"/>
    <p:sldId id="275" r:id="rId20"/>
    <p:sldId id="276" r:id="rId21"/>
    <p:sldId id="277"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6"/>
    <p:restoredTop sz="94653"/>
  </p:normalViewPr>
  <p:slideViewPr>
    <p:cSldViewPr>
      <p:cViewPr varScale="1">
        <p:scale>
          <a:sx n="141" d="100"/>
          <a:sy n="141" d="100"/>
        </p:scale>
        <p:origin x="2112"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8EB3F982-0B65-43B6-91C7-3ED70AE41590}" type="datetimeFigureOut">
              <a:rPr lang="en-US" smtClean="0"/>
              <a:t>8/30/21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19A8FEC-2C27-4708-991B-66CC43CBBBCE}"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EB3F982-0B65-43B6-91C7-3ED70AE41590}"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8EB3F982-0B65-43B6-91C7-3ED70AE41590}"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9A8FEC-2C27-4708-991B-66CC43CBBBCE}"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EB3F982-0B65-43B6-91C7-3ED70AE41590}" type="datetimeFigureOut">
              <a:rPr lang="en-US" smtClean="0"/>
              <a:t>8/30/21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8EB3F982-0B65-43B6-91C7-3ED70AE41590}" type="datetimeFigureOut">
              <a:rPr lang="en-US" smtClean="0"/>
              <a:t>8/30/21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8EB3F982-0B65-43B6-91C7-3ED70AE41590}" type="datetimeFigureOut">
              <a:rPr lang="en-US" smtClean="0"/>
              <a:t>8/30/21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3F982-0B65-43B6-91C7-3ED70AE41590}" type="datetimeFigureOut">
              <a:rPr lang="en-US" smtClean="0"/>
              <a:t>8/30/21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EB3F982-0B65-43B6-91C7-3ED70AE41590}" type="datetimeFigureOut">
              <a:rPr lang="en-US" smtClean="0"/>
              <a:t>8/30/21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EB3F982-0B65-43B6-91C7-3ED70AE41590}" type="datetimeFigureOut">
              <a:rPr lang="en-US" smtClean="0"/>
              <a:t>8/30/21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19A8FEC-2C27-4708-991B-66CC43CBBBCE}"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EB3F982-0B65-43B6-91C7-3ED70AE41590}"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EB3F982-0B65-43B6-91C7-3ED70AE41590}" type="datetimeFigureOut">
              <a:rPr lang="en-US" smtClean="0"/>
              <a:t>8/30/21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9A8FEC-2C27-4708-991B-66CC43CBBBC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8EB3F982-0B65-43B6-91C7-3ED70AE41590}" type="datetimeFigureOut">
              <a:rPr lang="en-US" smtClean="0"/>
              <a:t>8/30/21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19A8FEC-2C27-4708-991B-66CC43CBBBCE}"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Coordination Chemistry</a:t>
            </a:r>
          </a:p>
        </p:txBody>
      </p:sp>
      <p:sp>
        <p:nvSpPr>
          <p:cNvPr id="3" name="Subtitle 2"/>
          <p:cNvSpPr>
            <a:spLocks noGrp="1"/>
          </p:cNvSpPr>
          <p:nvPr>
            <p:ph type="subTitle" idx="1"/>
          </p:nvPr>
        </p:nvSpPr>
        <p:spPr/>
        <p:txBody>
          <a:bodyPr/>
          <a:lstStyle/>
          <a:p>
            <a:r>
              <a:rPr lang="en-US" dirty="0"/>
              <a:t>Complexation Reactions</a:t>
            </a:r>
          </a:p>
        </p:txBody>
      </p:sp>
    </p:spTree>
    <p:extLst>
      <p:ext uri="{BB962C8B-B14F-4D97-AF65-F5344CB8AC3E}">
        <p14:creationId xmlns:p14="http://schemas.microsoft.com/office/powerpoint/2010/main" val="3627072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Another Bond Type</a:t>
            </a:r>
          </a:p>
        </p:txBody>
      </p:sp>
      <p:sp>
        <p:nvSpPr>
          <p:cNvPr id="3" name="Content Placeholder 2"/>
          <p:cNvSpPr>
            <a:spLocks noGrp="1"/>
          </p:cNvSpPr>
          <p:nvPr>
            <p:ph idx="1"/>
          </p:nvPr>
        </p:nvSpPr>
        <p:spPr/>
        <p:txBody>
          <a:bodyPr/>
          <a:lstStyle/>
          <a:p>
            <a:r>
              <a:rPr lang="en-US" dirty="0"/>
              <a:t> Coordination bonds are much more like an association</a:t>
            </a:r>
          </a:p>
          <a:p>
            <a:r>
              <a:rPr lang="en-US" dirty="0"/>
              <a:t> Predominantly occur with metal ions as a central atom being bound or “coordinated” with other ions or molecules</a:t>
            </a:r>
          </a:p>
          <a:p>
            <a:r>
              <a:rPr lang="en-US" dirty="0"/>
              <a:t> The ions or molecules that are bound to the central metal atom are called </a:t>
            </a:r>
            <a:r>
              <a:rPr lang="en-US" b="1" dirty="0"/>
              <a:t>Ligands</a:t>
            </a:r>
          </a:p>
          <a:p>
            <a:r>
              <a:rPr lang="en-US" b="1" dirty="0"/>
              <a:t> </a:t>
            </a:r>
            <a:r>
              <a:rPr lang="en-US" dirty="0"/>
              <a:t>This metal and ligand group is a </a:t>
            </a:r>
            <a:r>
              <a:rPr lang="en-US" b="1" dirty="0"/>
              <a:t>Complex</a:t>
            </a:r>
          </a:p>
        </p:txBody>
      </p:sp>
    </p:spTree>
    <p:extLst>
      <p:ext uri="{BB962C8B-B14F-4D97-AF65-F5344CB8AC3E}">
        <p14:creationId xmlns:p14="http://schemas.microsoft.com/office/powerpoint/2010/main" val="2899142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Hydration Shells</a:t>
            </a:r>
          </a:p>
        </p:txBody>
      </p:sp>
      <p:sp>
        <p:nvSpPr>
          <p:cNvPr id="3" name="Content Placeholder 2"/>
          <p:cNvSpPr>
            <a:spLocks noGrp="1"/>
          </p:cNvSpPr>
          <p:nvPr>
            <p:ph idx="1"/>
          </p:nvPr>
        </p:nvSpPr>
        <p:spPr/>
        <p:txBody>
          <a:bodyPr/>
          <a:lstStyle/>
          <a:p>
            <a:r>
              <a:rPr lang="en-US" dirty="0"/>
              <a:t> In the lecture course, hydration shells were talked about, as to how water will dissolve salts into their different ions</a:t>
            </a:r>
          </a:p>
        </p:txBody>
      </p:sp>
      <p:pic>
        <p:nvPicPr>
          <p:cNvPr id="4" name="Picture 3"/>
          <p:cNvPicPr/>
          <p:nvPr/>
        </p:nvPicPr>
        <p:blipFill rotWithShape="1">
          <a:blip r:embed="rId2" cstate="print">
            <a:extLst>
              <a:ext uri="{28A0092B-C50C-407E-A947-70E740481C1C}">
                <a14:useLocalDpi xmlns:a14="http://schemas.microsoft.com/office/drawing/2010/main" val="0"/>
              </a:ext>
            </a:extLst>
          </a:blip>
          <a:srcRect l="31340" t="4556" r="31361" b="61427"/>
          <a:stretch/>
        </p:blipFill>
        <p:spPr>
          <a:xfrm>
            <a:off x="2676525" y="3200400"/>
            <a:ext cx="3124200" cy="2771775"/>
          </a:xfrm>
          <a:prstGeom prst="rect">
            <a:avLst/>
          </a:prstGeom>
        </p:spPr>
      </p:pic>
    </p:spTree>
    <p:extLst>
      <p:ext uri="{BB962C8B-B14F-4D97-AF65-F5344CB8AC3E}">
        <p14:creationId xmlns:p14="http://schemas.microsoft.com/office/powerpoint/2010/main" val="2137719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Hydration Shells</a:t>
            </a:r>
          </a:p>
        </p:txBody>
      </p:sp>
      <p:sp>
        <p:nvSpPr>
          <p:cNvPr id="3" name="Content Placeholder 2"/>
          <p:cNvSpPr>
            <a:spLocks noGrp="1"/>
          </p:cNvSpPr>
          <p:nvPr>
            <p:ph idx="1"/>
          </p:nvPr>
        </p:nvSpPr>
        <p:spPr>
          <a:xfrm>
            <a:off x="457200" y="1935480"/>
            <a:ext cx="4038600" cy="4389120"/>
          </a:xfrm>
        </p:spPr>
        <p:txBody>
          <a:bodyPr>
            <a:normAutofit lnSpcReduction="10000"/>
          </a:bodyPr>
          <a:lstStyle/>
          <a:p>
            <a:r>
              <a:rPr lang="en-US" dirty="0"/>
              <a:t> The water molecules surround the cations and anions</a:t>
            </a:r>
          </a:p>
          <a:p>
            <a:r>
              <a:rPr lang="en-US" dirty="0"/>
              <a:t> The shape of water allows for the negative oxygen atom to be towards the positive cation, while the positive hydrogens are arranged towards the negative anion</a:t>
            </a:r>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4724400" y="1981200"/>
            <a:ext cx="3602990" cy="3502025"/>
          </a:xfrm>
          <a:prstGeom prst="rect">
            <a:avLst/>
          </a:prstGeom>
        </p:spPr>
      </p:pic>
    </p:spTree>
    <p:extLst>
      <p:ext uri="{BB962C8B-B14F-4D97-AF65-F5344CB8AC3E}">
        <p14:creationId xmlns:p14="http://schemas.microsoft.com/office/powerpoint/2010/main" val="1566219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Aquocomplex</a:t>
            </a:r>
            <a:endParaRPr lang="en-US" dirty="0"/>
          </a:p>
        </p:txBody>
      </p:sp>
      <p:sp>
        <p:nvSpPr>
          <p:cNvPr id="3" name="Content Placeholder 2"/>
          <p:cNvSpPr>
            <a:spLocks noGrp="1"/>
          </p:cNvSpPr>
          <p:nvPr>
            <p:ph idx="1"/>
          </p:nvPr>
        </p:nvSpPr>
        <p:spPr/>
        <p:txBody>
          <a:bodyPr>
            <a:normAutofit/>
          </a:bodyPr>
          <a:lstStyle/>
          <a:p>
            <a:r>
              <a:rPr lang="en-US" sz="2400" dirty="0"/>
              <a:t> This cation surrounded by the water molecules is a Complex</a:t>
            </a:r>
          </a:p>
          <a:p>
            <a:r>
              <a:rPr lang="en-US" sz="2400" dirty="0"/>
              <a:t> Specifically, when a metal is complexed with all water molecules, it is called its </a:t>
            </a:r>
            <a:r>
              <a:rPr lang="en-US" sz="2400" dirty="0" err="1"/>
              <a:t>Aquocomplex</a:t>
            </a:r>
            <a:r>
              <a:rPr lang="en-US" sz="2400" dirty="0"/>
              <a:t> (complex with water)</a:t>
            </a:r>
          </a:p>
          <a:p>
            <a:pPr marL="0" indent="0">
              <a:buNone/>
            </a:pPr>
            <a:endParaRPr lang="en-US" sz="2400" dirty="0"/>
          </a:p>
        </p:txBody>
      </p:sp>
      <p:grpSp>
        <p:nvGrpSpPr>
          <p:cNvPr id="4" name="Group 3"/>
          <p:cNvGrpSpPr/>
          <p:nvPr/>
        </p:nvGrpSpPr>
        <p:grpSpPr>
          <a:xfrm>
            <a:off x="381000" y="3776493"/>
            <a:ext cx="2514149" cy="2231639"/>
            <a:chOff x="552450" y="3639001"/>
            <a:chExt cx="2514149" cy="2231639"/>
          </a:xfrm>
        </p:grpSpPr>
        <p:sp>
          <p:nvSpPr>
            <p:cNvPr id="5" name="TextBox 4"/>
            <p:cNvSpPr txBox="1"/>
            <p:nvPr/>
          </p:nvSpPr>
          <p:spPr>
            <a:xfrm>
              <a:off x="1524000" y="4572000"/>
              <a:ext cx="609600" cy="369332"/>
            </a:xfrm>
            <a:prstGeom prst="rect">
              <a:avLst/>
            </a:prstGeom>
            <a:noFill/>
          </p:spPr>
          <p:txBody>
            <a:bodyPr wrap="square" rtlCol="0">
              <a:spAutoFit/>
            </a:bodyPr>
            <a:lstStyle/>
            <a:p>
              <a:r>
                <a:rPr lang="en-US" dirty="0"/>
                <a:t>Pb</a:t>
              </a:r>
              <a:r>
                <a:rPr lang="en-US" baseline="30000" dirty="0"/>
                <a:t>2+</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53" y="3639001"/>
              <a:ext cx="1158144" cy="847274"/>
            </a:xfrm>
            <a:prstGeom prst="rect">
              <a:avLst/>
            </a:prstGeom>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7015" y="4327195"/>
              <a:ext cx="1158144" cy="847274"/>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63890" y="4333029"/>
              <a:ext cx="1158144" cy="847274"/>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185006" y="5023366"/>
              <a:ext cx="1158144" cy="847274"/>
            </a:xfrm>
            <a:prstGeom prst="rect">
              <a:avLst/>
            </a:prstGeom>
          </p:spPr>
        </p:pic>
        <p:cxnSp>
          <p:nvCxnSpPr>
            <p:cNvPr id="10" name="Straight Connector 9"/>
            <p:cNvCxnSpPr/>
            <p:nvPr/>
          </p:nvCxnSpPr>
          <p:spPr>
            <a:xfrm>
              <a:off x="1261837" y="47566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057400" y="4750832"/>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a:off x="1628775" y="50233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a:off x="1628775" y="4467225"/>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14" name="Right Bracket 13"/>
          <p:cNvSpPr/>
          <p:nvPr/>
        </p:nvSpPr>
        <p:spPr>
          <a:xfrm>
            <a:off x="2895149" y="3776493"/>
            <a:ext cx="45719" cy="2231639"/>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Left Bracket 14"/>
          <p:cNvSpPr/>
          <p:nvPr/>
        </p:nvSpPr>
        <p:spPr>
          <a:xfrm>
            <a:off x="381000" y="3776493"/>
            <a:ext cx="45719" cy="2307839"/>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2895149" y="3581400"/>
            <a:ext cx="457200" cy="369332"/>
          </a:xfrm>
          <a:prstGeom prst="rect">
            <a:avLst/>
          </a:prstGeom>
          <a:noFill/>
        </p:spPr>
        <p:txBody>
          <a:bodyPr wrap="square" rtlCol="0">
            <a:spAutoFit/>
          </a:bodyPr>
          <a:lstStyle/>
          <a:p>
            <a:r>
              <a:rPr lang="en-US" dirty="0"/>
              <a:t>2+</a:t>
            </a:r>
          </a:p>
        </p:txBody>
      </p:sp>
      <p:sp>
        <p:nvSpPr>
          <p:cNvPr id="17" name="TextBox 16"/>
          <p:cNvSpPr txBox="1"/>
          <p:nvPr/>
        </p:nvSpPr>
        <p:spPr>
          <a:xfrm>
            <a:off x="76200" y="6019800"/>
            <a:ext cx="3124200" cy="646331"/>
          </a:xfrm>
          <a:prstGeom prst="rect">
            <a:avLst/>
          </a:prstGeom>
          <a:noFill/>
        </p:spPr>
        <p:txBody>
          <a:bodyPr wrap="square" rtlCol="0">
            <a:spAutoFit/>
          </a:bodyPr>
          <a:lstStyle/>
          <a:p>
            <a:pPr algn="ctr"/>
            <a:r>
              <a:rPr lang="en-US" dirty="0" err="1"/>
              <a:t>Aquocomplex</a:t>
            </a:r>
            <a:r>
              <a:rPr lang="en-US" dirty="0"/>
              <a:t> of Lead Ion [</a:t>
            </a:r>
            <a:r>
              <a:rPr lang="en-US" dirty="0" err="1"/>
              <a:t>Pb</a:t>
            </a:r>
            <a:r>
              <a:rPr lang="en-US" dirty="0"/>
              <a:t>(H</a:t>
            </a:r>
            <a:r>
              <a:rPr lang="en-US" baseline="-25000" dirty="0"/>
              <a:t>2</a:t>
            </a:r>
            <a:r>
              <a:rPr lang="en-US" dirty="0"/>
              <a:t>O)</a:t>
            </a:r>
            <a:r>
              <a:rPr lang="en-US" baseline="-25000" dirty="0"/>
              <a:t>4</a:t>
            </a:r>
            <a:r>
              <a:rPr lang="en-US" dirty="0"/>
              <a:t>]</a:t>
            </a:r>
            <a:r>
              <a:rPr lang="en-US" baseline="30000" dirty="0"/>
              <a:t>2+</a:t>
            </a:r>
          </a:p>
        </p:txBody>
      </p:sp>
      <p:grpSp>
        <p:nvGrpSpPr>
          <p:cNvPr id="18" name="Group 17"/>
          <p:cNvGrpSpPr/>
          <p:nvPr/>
        </p:nvGrpSpPr>
        <p:grpSpPr>
          <a:xfrm>
            <a:off x="5334000" y="3788161"/>
            <a:ext cx="2514149" cy="2231639"/>
            <a:chOff x="552450" y="3639001"/>
            <a:chExt cx="2514149" cy="2231639"/>
          </a:xfrm>
        </p:grpSpPr>
        <p:sp>
          <p:nvSpPr>
            <p:cNvPr id="19" name="TextBox 18"/>
            <p:cNvSpPr txBox="1"/>
            <p:nvPr/>
          </p:nvSpPr>
          <p:spPr>
            <a:xfrm>
              <a:off x="1523999" y="4572000"/>
              <a:ext cx="695325" cy="369332"/>
            </a:xfrm>
            <a:prstGeom prst="rect">
              <a:avLst/>
            </a:prstGeom>
            <a:noFill/>
          </p:spPr>
          <p:txBody>
            <a:bodyPr wrap="square" rtlCol="0">
              <a:spAutoFit/>
            </a:bodyPr>
            <a:lstStyle/>
            <a:p>
              <a:r>
                <a:rPr lang="en-US" dirty="0"/>
                <a:t>Co</a:t>
              </a:r>
              <a:r>
                <a:rPr lang="en-US" baseline="30000" dirty="0"/>
                <a:t>2+</a:t>
              </a:r>
            </a:p>
          </p:txBody>
        </p:sp>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53" y="3639001"/>
              <a:ext cx="1158144" cy="847274"/>
            </a:xfrm>
            <a:prstGeom prst="rect">
              <a:avLst/>
            </a:prstGeom>
          </p:spPr>
        </p:pic>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7015" y="4327195"/>
              <a:ext cx="1158144" cy="847274"/>
            </a:xfrm>
            <a:prstGeom prst="rect">
              <a:avLst/>
            </a:prstGeom>
          </p:spPr>
        </p:pic>
        <p:pic>
          <p:nvPicPr>
            <p:cNvPr id="22" name="Picture 2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63890" y="4333029"/>
              <a:ext cx="1158144" cy="847274"/>
            </a:xfrm>
            <a:prstGeom prst="rect">
              <a:avLst/>
            </a:prstGeom>
          </p:spPr>
        </p:pic>
        <p:pic>
          <p:nvPicPr>
            <p:cNvPr id="23" name="Picture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185006" y="5023366"/>
              <a:ext cx="1158144" cy="847274"/>
            </a:xfrm>
            <a:prstGeom prst="rect">
              <a:avLst/>
            </a:prstGeom>
          </p:spPr>
        </p:pic>
        <p:cxnSp>
          <p:nvCxnSpPr>
            <p:cNvPr id="24" name="Straight Connector 23"/>
            <p:cNvCxnSpPr/>
            <p:nvPr/>
          </p:nvCxnSpPr>
          <p:spPr>
            <a:xfrm>
              <a:off x="1261837" y="47566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2057400" y="4750832"/>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a:off x="1628775" y="50233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a:off x="1628775" y="4467225"/>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28" name="Right Bracket 27"/>
          <p:cNvSpPr/>
          <p:nvPr/>
        </p:nvSpPr>
        <p:spPr>
          <a:xfrm>
            <a:off x="7848148" y="3470546"/>
            <a:ext cx="45719" cy="2808677"/>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Left Bracket 28"/>
          <p:cNvSpPr/>
          <p:nvPr/>
        </p:nvSpPr>
        <p:spPr>
          <a:xfrm>
            <a:off x="5181600" y="3554426"/>
            <a:ext cx="45719" cy="2724797"/>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7924800" y="3276600"/>
            <a:ext cx="457200" cy="369332"/>
          </a:xfrm>
          <a:prstGeom prst="rect">
            <a:avLst/>
          </a:prstGeom>
          <a:noFill/>
        </p:spPr>
        <p:txBody>
          <a:bodyPr wrap="square" rtlCol="0">
            <a:spAutoFit/>
          </a:bodyPr>
          <a:lstStyle/>
          <a:p>
            <a:r>
              <a:rPr lang="en-US" dirty="0"/>
              <a:t>2+</a:t>
            </a:r>
          </a:p>
        </p:txBody>
      </p:sp>
      <p:cxnSp>
        <p:nvCxnSpPr>
          <p:cNvPr id="31" name="Straight Connector 30"/>
          <p:cNvCxnSpPr>
            <a:endCxn id="20" idx="3"/>
          </p:cNvCxnSpPr>
          <p:nvPr/>
        </p:nvCxnSpPr>
        <p:spPr>
          <a:xfrm flipV="1">
            <a:off x="6724650" y="4211798"/>
            <a:ext cx="436197" cy="51260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3" idx="3"/>
          </p:cNvCxnSpPr>
          <p:nvPr/>
        </p:nvCxnSpPr>
        <p:spPr>
          <a:xfrm flipV="1">
            <a:off x="5966556" y="5041423"/>
            <a:ext cx="481868" cy="55474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pic>
        <p:nvPicPr>
          <p:cNvPr id="33" name="Picture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3239636">
            <a:off x="5178565" y="5374121"/>
            <a:ext cx="1158144" cy="847274"/>
          </a:xfrm>
          <a:prstGeom prst="rect">
            <a:avLst/>
          </a:prstGeom>
        </p:spPr>
      </p:pic>
      <p:pic>
        <p:nvPicPr>
          <p:cNvPr id="34" name="Picture 3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532818">
            <a:off x="6763855" y="3603430"/>
            <a:ext cx="1158144" cy="847274"/>
          </a:xfrm>
          <a:prstGeom prst="rect">
            <a:avLst/>
          </a:prstGeom>
        </p:spPr>
      </p:pic>
      <p:sp>
        <p:nvSpPr>
          <p:cNvPr id="35" name="TextBox 34"/>
          <p:cNvSpPr txBox="1"/>
          <p:nvPr/>
        </p:nvSpPr>
        <p:spPr>
          <a:xfrm>
            <a:off x="4932254" y="6173266"/>
            <a:ext cx="3124200" cy="646331"/>
          </a:xfrm>
          <a:prstGeom prst="rect">
            <a:avLst/>
          </a:prstGeom>
          <a:noFill/>
        </p:spPr>
        <p:txBody>
          <a:bodyPr wrap="square" rtlCol="0">
            <a:spAutoFit/>
          </a:bodyPr>
          <a:lstStyle/>
          <a:p>
            <a:pPr algn="ctr"/>
            <a:r>
              <a:rPr lang="en-US" dirty="0" err="1"/>
              <a:t>Aquocomplex</a:t>
            </a:r>
            <a:r>
              <a:rPr lang="en-US" dirty="0"/>
              <a:t> of Cobalt Ion [Co(H</a:t>
            </a:r>
            <a:r>
              <a:rPr lang="en-US" baseline="-25000" dirty="0"/>
              <a:t>2</a:t>
            </a:r>
            <a:r>
              <a:rPr lang="en-US" dirty="0"/>
              <a:t>O)</a:t>
            </a:r>
            <a:r>
              <a:rPr lang="en-US" baseline="-25000" dirty="0"/>
              <a:t>6</a:t>
            </a:r>
            <a:r>
              <a:rPr lang="en-US" dirty="0"/>
              <a:t>]</a:t>
            </a:r>
            <a:r>
              <a:rPr lang="en-US" baseline="30000" dirty="0"/>
              <a:t>2+</a:t>
            </a:r>
          </a:p>
        </p:txBody>
      </p:sp>
    </p:spTree>
    <p:extLst>
      <p:ext uri="{BB962C8B-B14F-4D97-AF65-F5344CB8AC3E}">
        <p14:creationId xmlns:p14="http://schemas.microsoft.com/office/powerpoint/2010/main" val="3767236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 Charges</a:t>
            </a:r>
          </a:p>
        </p:txBody>
      </p:sp>
      <p:sp>
        <p:nvSpPr>
          <p:cNvPr id="3" name="Content Placeholder 2"/>
          <p:cNvSpPr>
            <a:spLocks noGrp="1"/>
          </p:cNvSpPr>
          <p:nvPr>
            <p:ph idx="1"/>
          </p:nvPr>
        </p:nvSpPr>
        <p:spPr/>
        <p:txBody>
          <a:bodyPr/>
          <a:lstStyle/>
          <a:p>
            <a:r>
              <a:rPr lang="en-US" dirty="0"/>
              <a:t> A complex can either be charged as a whole, or can be a solid</a:t>
            </a:r>
          </a:p>
          <a:p>
            <a:r>
              <a:rPr lang="en-US" dirty="0"/>
              <a:t> The charge of the overall complex is the sum of the charges from the central metal ion, and the surrounding ligands</a:t>
            </a:r>
          </a:p>
          <a:p>
            <a:r>
              <a:rPr lang="en-US" dirty="0"/>
              <a:t> Water as a molecule does not have a charge, so the charge of the </a:t>
            </a:r>
            <a:r>
              <a:rPr lang="en-US" dirty="0" err="1"/>
              <a:t>aquocomplex</a:t>
            </a:r>
            <a:r>
              <a:rPr lang="en-US" dirty="0"/>
              <a:t> is the charge of the </a:t>
            </a:r>
            <a:r>
              <a:rPr lang="en-US" dirty="0" err="1"/>
              <a:t>cental</a:t>
            </a:r>
            <a:r>
              <a:rPr lang="en-US" dirty="0"/>
              <a:t> metal atom</a:t>
            </a:r>
          </a:p>
        </p:txBody>
      </p:sp>
      <p:sp>
        <p:nvSpPr>
          <p:cNvPr id="4" name="TextBox 3"/>
          <p:cNvSpPr txBox="1"/>
          <p:nvPr/>
        </p:nvSpPr>
        <p:spPr>
          <a:xfrm>
            <a:off x="381000" y="5410200"/>
            <a:ext cx="8305800" cy="369332"/>
          </a:xfrm>
          <a:prstGeom prst="rect">
            <a:avLst/>
          </a:prstGeom>
          <a:noFill/>
        </p:spPr>
        <p:txBody>
          <a:bodyPr wrap="square" rtlCol="0">
            <a:spAutoFit/>
          </a:bodyPr>
          <a:lstStyle/>
          <a:p>
            <a:r>
              <a:rPr lang="en-US" dirty="0"/>
              <a:t>[</a:t>
            </a:r>
            <a:r>
              <a:rPr lang="en-US" dirty="0" err="1"/>
              <a:t>Pb</a:t>
            </a:r>
            <a:r>
              <a:rPr lang="en-US" dirty="0"/>
              <a:t>(H</a:t>
            </a:r>
            <a:r>
              <a:rPr lang="en-US" baseline="-25000" dirty="0"/>
              <a:t>2</a:t>
            </a:r>
            <a:r>
              <a:rPr lang="en-US" dirty="0"/>
              <a:t>O)</a:t>
            </a:r>
            <a:r>
              <a:rPr lang="en-US" baseline="-25000" dirty="0"/>
              <a:t>4</a:t>
            </a:r>
            <a:r>
              <a:rPr lang="en-US" dirty="0"/>
              <a:t>]</a:t>
            </a:r>
            <a:r>
              <a:rPr lang="en-US" baseline="30000" dirty="0"/>
              <a:t>2+</a:t>
            </a:r>
            <a:r>
              <a:rPr lang="en-US" dirty="0"/>
              <a:t>	 	2+ charge on complex 	Soluble</a:t>
            </a:r>
          </a:p>
        </p:txBody>
      </p:sp>
      <p:sp>
        <p:nvSpPr>
          <p:cNvPr id="5" name="TextBox 4"/>
          <p:cNvSpPr txBox="1"/>
          <p:nvPr/>
        </p:nvSpPr>
        <p:spPr>
          <a:xfrm>
            <a:off x="381000" y="5741432"/>
            <a:ext cx="8305800" cy="369332"/>
          </a:xfrm>
          <a:prstGeom prst="rect">
            <a:avLst/>
          </a:prstGeom>
          <a:noFill/>
        </p:spPr>
        <p:txBody>
          <a:bodyPr wrap="square" rtlCol="0">
            <a:spAutoFit/>
          </a:bodyPr>
          <a:lstStyle/>
          <a:p>
            <a:r>
              <a:rPr lang="en-US" dirty="0"/>
              <a:t>[</a:t>
            </a:r>
            <a:r>
              <a:rPr lang="en-US" dirty="0" err="1"/>
              <a:t>Pb</a:t>
            </a:r>
            <a:r>
              <a:rPr lang="en-US" dirty="0"/>
              <a:t>(H</a:t>
            </a:r>
            <a:r>
              <a:rPr lang="en-US" baseline="-25000" dirty="0"/>
              <a:t>2</a:t>
            </a:r>
            <a:r>
              <a:rPr lang="en-US" dirty="0"/>
              <a:t>O)</a:t>
            </a:r>
            <a:r>
              <a:rPr lang="en-US" baseline="-25000" dirty="0"/>
              <a:t>2</a:t>
            </a:r>
            <a:r>
              <a:rPr lang="en-US" dirty="0"/>
              <a:t>(OH)</a:t>
            </a:r>
            <a:r>
              <a:rPr lang="en-US" baseline="-25000" dirty="0"/>
              <a:t>2</a:t>
            </a:r>
            <a:r>
              <a:rPr lang="en-US" dirty="0"/>
              <a:t>]</a:t>
            </a:r>
            <a:r>
              <a:rPr lang="en-US" baseline="-25000" dirty="0"/>
              <a:t>(s)</a:t>
            </a:r>
            <a:r>
              <a:rPr lang="en-US" dirty="0"/>
              <a:t>	 0 charge on complex 	Insoluble</a:t>
            </a:r>
          </a:p>
        </p:txBody>
      </p:sp>
      <p:sp>
        <p:nvSpPr>
          <p:cNvPr id="6" name="TextBox 5"/>
          <p:cNvSpPr txBox="1"/>
          <p:nvPr/>
        </p:nvSpPr>
        <p:spPr>
          <a:xfrm>
            <a:off x="381000" y="6110764"/>
            <a:ext cx="8305800" cy="369332"/>
          </a:xfrm>
          <a:prstGeom prst="rect">
            <a:avLst/>
          </a:prstGeom>
          <a:noFill/>
        </p:spPr>
        <p:txBody>
          <a:bodyPr wrap="square" rtlCol="0">
            <a:spAutoFit/>
          </a:bodyPr>
          <a:lstStyle/>
          <a:p>
            <a:r>
              <a:rPr lang="en-US" dirty="0"/>
              <a:t>[</a:t>
            </a:r>
            <a:r>
              <a:rPr lang="en-US" dirty="0" err="1"/>
              <a:t>Pb</a:t>
            </a:r>
            <a:r>
              <a:rPr lang="en-US" dirty="0"/>
              <a:t>(OH)</a:t>
            </a:r>
            <a:r>
              <a:rPr lang="en-US" baseline="-25000" dirty="0"/>
              <a:t>4</a:t>
            </a:r>
            <a:r>
              <a:rPr lang="en-US" dirty="0"/>
              <a:t>]</a:t>
            </a:r>
            <a:r>
              <a:rPr lang="en-US" baseline="30000" dirty="0"/>
              <a:t>2-</a:t>
            </a:r>
            <a:r>
              <a:rPr lang="en-US" dirty="0"/>
              <a:t>	 	2- charge on complex 	Soluble</a:t>
            </a:r>
          </a:p>
        </p:txBody>
      </p:sp>
    </p:spTree>
    <p:extLst>
      <p:ext uri="{BB962C8B-B14F-4D97-AF65-F5344CB8AC3E}">
        <p14:creationId xmlns:p14="http://schemas.microsoft.com/office/powerpoint/2010/main" val="2427319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 Charges</a:t>
            </a:r>
          </a:p>
        </p:txBody>
      </p:sp>
      <p:sp>
        <p:nvSpPr>
          <p:cNvPr id="3" name="Content Placeholder 2"/>
          <p:cNvSpPr>
            <a:spLocks noGrp="1"/>
          </p:cNvSpPr>
          <p:nvPr>
            <p:ph idx="1"/>
          </p:nvPr>
        </p:nvSpPr>
        <p:spPr/>
        <p:txBody>
          <a:bodyPr/>
          <a:lstStyle/>
          <a:p>
            <a:r>
              <a:rPr lang="en-US" dirty="0"/>
              <a:t> Other ligands, such as hydroxide (OH-) or halides (Cl-, Br-, I-) have a negative charge that can balance out the charge of the central metal ion.</a:t>
            </a:r>
          </a:p>
          <a:p>
            <a:r>
              <a:rPr lang="en-US" dirty="0"/>
              <a:t> When the overall charge of a complex is zero, the complex itself will precipitate out as a solid</a:t>
            </a:r>
          </a:p>
          <a:p>
            <a:r>
              <a:rPr lang="en-US" dirty="0"/>
              <a:t> Some metal ions can react further beyond their solid complex and react with more negatively charged ligands</a:t>
            </a:r>
          </a:p>
          <a:p>
            <a:r>
              <a:rPr lang="en-US" dirty="0"/>
              <a:t> The complex then as a whole is negatively charged, and would be dissolved as a complex ion.</a:t>
            </a:r>
          </a:p>
        </p:txBody>
      </p:sp>
    </p:spTree>
    <p:extLst>
      <p:ext uri="{BB962C8B-B14F-4D97-AF65-F5344CB8AC3E}">
        <p14:creationId xmlns:p14="http://schemas.microsoft.com/office/powerpoint/2010/main" val="4139059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Lewis Acids &amp; Bases</a:t>
            </a:r>
          </a:p>
        </p:txBody>
      </p:sp>
      <p:sp>
        <p:nvSpPr>
          <p:cNvPr id="3" name="Content Placeholder 2"/>
          <p:cNvSpPr>
            <a:spLocks noGrp="1"/>
          </p:cNvSpPr>
          <p:nvPr>
            <p:ph idx="1"/>
          </p:nvPr>
        </p:nvSpPr>
        <p:spPr/>
        <p:txBody>
          <a:bodyPr/>
          <a:lstStyle/>
          <a:p>
            <a:r>
              <a:rPr lang="en-US" dirty="0"/>
              <a:t> In a </a:t>
            </a:r>
            <a:r>
              <a:rPr lang="en-US" dirty="0" err="1"/>
              <a:t>Bronsted</a:t>
            </a:r>
            <a:r>
              <a:rPr lang="en-US" dirty="0"/>
              <a:t>-Lowery Acid/Base system, an acid is a proton donor, and a base is a proton acceptor</a:t>
            </a:r>
          </a:p>
          <a:p>
            <a:r>
              <a:rPr lang="en-US" dirty="0"/>
              <a:t> Lewis acids and bases involve the transfer of electrons. </a:t>
            </a:r>
          </a:p>
          <a:p>
            <a:r>
              <a:rPr lang="en-US" dirty="0"/>
              <a:t> A </a:t>
            </a:r>
            <a:r>
              <a:rPr lang="en-US" b="1" dirty="0"/>
              <a:t>Lewis Acid</a:t>
            </a:r>
            <a:r>
              <a:rPr lang="en-US" dirty="0"/>
              <a:t> is an electron pair </a:t>
            </a:r>
            <a:r>
              <a:rPr lang="en-US" i="1" dirty="0"/>
              <a:t>acceptor</a:t>
            </a:r>
          </a:p>
          <a:p>
            <a:r>
              <a:rPr lang="en-US" dirty="0"/>
              <a:t> A </a:t>
            </a:r>
            <a:r>
              <a:rPr lang="en-US" b="1" dirty="0"/>
              <a:t>Lewis Base </a:t>
            </a:r>
            <a:r>
              <a:rPr lang="en-US" dirty="0"/>
              <a:t>is an electron pair </a:t>
            </a:r>
            <a:r>
              <a:rPr lang="en-US" i="1" dirty="0"/>
              <a:t>donor</a:t>
            </a:r>
          </a:p>
          <a:p>
            <a:pPr marL="0" indent="0">
              <a:buNone/>
            </a:pPr>
            <a:endParaRPr lang="en-US" dirty="0"/>
          </a:p>
        </p:txBody>
      </p:sp>
    </p:spTree>
    <p:extLst>
      <p:ext uri="{BB962C8B-B14F-4D97-AF65-F5344CB8AC3E}">
        <p14:creationId xmlns:p14="http://schemas.microsoft.com/office/powerpoint/2010/main" val="1128061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Lewis Acids &amp; Bases</a:t>
            </a:r>
          </a:p>
        </p:txBody>
      </p:sp>
      <p:sp>
        <p:nvSpPr>
          <p:cNvPr id="3" name="Content Placeholder 2"/>
          <p:cNvSpPr>
            <a:spLocks noGrp="1"/>
          </p:cNvSpPr>
          <p:nvPr>
            <p:ph idx="1"/>
          </p:nvPr>
        </p:nvSpPr>
        <p:spPr/>
        <p:txBody>
          <a:bodyPr/>
          <a:lstStyle/>
          <a:p>
            <a:r>
              <a:rPr lang="en-US" dirty="0"/>
              <a:t> The central metal ions in a complex are Lewis Acids</a:t>
            </a:r>
          </a:p>
          <a:p>
            <a:r>
              <a:rPr lang="en-US" dirty="0"/>
              <a:t> The ligands surrounding the central metal atom are Lewis Bases</a:t>
            </a:r>
          </a:p>
          <a:p>
            <a:r>
              <a:rPr lang="en-US" dirty="0"/>
              <a:t> Those ligands which are better electron donors are therefore better Lewis Bases and will react more with the central atom (Lewis Acid)</a:t>
            </a:r>
          </a:p>
        </p:txBody>
      </p:sp>
    </p:spTree>
    <p:extLst>
      <p:ext uri="{BB962C8B-B14F-4D97-AF65-F5344CB8AC3E}">
        <p14:creationId xmlns:p14="http://schemas.microsoft.com/office/powerpoint/2010/main" val="3140875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Lewis Acids &amp; Bases, and Complexation</a:t>
            </a:r>
          </a:p>
        </p:txBody>
      </p:sp>
      <p:sp>
        <p:nvSpPr>
          <p:cNvPr id="3" name="Content Placeholder 2"/>
          <p:cNvSpPr>
            <a:spLocks noGrp="1"/>
          </p:cNvSpPr>
          <p:nvPr>
            <p:ph idx="1"/>
          </p:nvPr>
        </p:nvSpPr>
        <p:spPr/>
        <p:txBody>
          <a:bodyPr/>
          <a:lstStyle/>
          <a:p>
            <a:r>
              <a:rPr lang="en-US" dirty="0"/>
              <a:t> The central metal atom is always bound to all of its coordination sites.</a:t>
            </a:r>
          </a:p>
          <a:p>
            <a:r>
              <a:rPr lang="en-US" dirty="0"/>
              <a:t> The number of coordination sites will always be given</a:t>
            </a:r>
          </a:p>
          <a:p>
            <a:r>
              <a:rPr lang="en-US" dirty="0"/>
              <a:t> When a better Lewis Base is introduced, the previous ligand is replaced</a:t>
            </a:r>
          </a:p>
        </p:txBody>
      </p:sp>
    </p:spTree>
    <p:extLst>
      <p:ext uri="{BB962C8B-B14F-4D97-AF65-F5344CB8AC3E}">
        <p14:creationId xmlns:p14="http://schemas.microsoft.com/office/powerpoint/2010/main" val="867423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Lewis Base Reactivity</a:t>
            </a:r>
          </a:p>
        </p:txBody>
      </p:sp>
      <p:sp>
        <p:nvSpPr>
          <p:cNvPr id="3" name="Content Placeholder 2"/>
          <p:cNvSpPr>
            <a:spLocks noGrp="1"/>
          </p:cNvSpPr>
          <p:nvPr>
            <p:ph idx="1"/>
          </p:nvPr>
        </p:nvSpPr>
        <p:spPr/>
        <p:txBody>
          <a:bodyPr/>
          <a:lstStyle/>
          <a:p>
            <a:r>
              <a:rPr lang="en-US" dirty="0"/>
              <a:t> In general the Lewis Base (Ligand) reactivity is:</a:t>
            </a:r>
          </a:p>
          <a:p>
            <a:r>
              <a:rPr lang="en-US" dirty="0"/>
              <a:t> OH</a:t>
            </a:r>
            <a:r>
              <a:rPr lang="en-US" baseline="30000" dirty="0"/>
              <a:t>-</a:t>
            </a:r>
            <a:r>
              <a:rPr lang="en-US" dirty="0"/>
              <a:t> &gt; NH</a:t>
            </a:r>
            <a:r>
              <a:rPr lang="en-US" baseline="-25000" dirty="0"/>
              <a:t>3</a:t>
            </a:r>
            <a:r>
              <a:rPr lang="en-US" dirty="0"/>
              <a:t> &gt; Halide &gt; H</a:t>
            </a:r>
            <a:r>
              <a:rPr lang="en-US" baseline="-25000" dirty="0"/>
              <a:t>2</a:t>
            </a:r>
            <a:r>
              <a:rPr lang="en-US" dirty="0"/>
              <a:t>O &gt; NO</a:t>
            </a:r>
            <a:r>
              <a:rPr lang="en-US" baseline="-25000" dirty="0"/>
              <a:t>3</a:t>
            </a:r>
            <a:r>
              <a:rPr lang="en-US" baseline="30000" dirty="0"/>
              <a:t>-</a:t>
            </a:r>
          </a:p>
          <a:p>
            <a:endParaRPr lang="en-US" baseline="30000" dirty="0"/>
          </a:p>
          <a:p>
            <a:r>
              <a:rPr lang="en-US" dirty="0"/>
              <a:t>For the transition metals however, there is a preference for ammonia (NH3), therefore if the transition metal is a central atom, the Lewis Base (ligand) reactivity is:</a:t>
            </a:r>
          </a:p>
          <a:p>
            <a:r>
              <a:rPr lang="en-US" dirty="0"/>
              <a:t> NH</a:t>
            </a:r>
            <a:r>
              <a:rPr lang="en-US" baseline="-25000" dirty="0"/>
              <a:t>3</a:t>
            </a:r>
            <a:r>
              <a:rPr lang="en-US" dirty="0"/>
              <a:t> &gt; OH</a:t>
            </a:r>
            <a:r>
              <a:rPr lang="en-US" baseline="30000" dirty="0"/>
              <a:t>-</a:t>
            </a:r>
            <a:r>
              <a:rPr lang="en-US" dirty="0"/>
              <a:t> &gt; Halide &gt; H</a:t>
            </a:r>
            <a:r>
              <a:rPr lang="en-US" baseline="-25000" dirty="0"/>
              <a:t>2</a:t>
            </a:r>
            <a:r>
              <a:rPr lang="en-US" dirty="0"/>
              <a:t>O &gt; NO</a:t>
            </a:r>
            <a:r>
              <a:rPr lang="en-US" baseline="-25000" dirty="0"/>
              <a:t>3</a:t>
            </a:r>
            <a:r>
              <a:rPr lang="en-US" baseline="30000" dirty="0"/>
              <a:t>-</a:t>
            </a:r>
          </a:p>
          <a:p>
            <a:endParaRPr lang="en-US" baseline="30000" dirty="0"/>
          </a:p>
          <a:p>
            <a:r>
              <a:rPr lang="en-US" dirty="0"/>
              <a:t>When a better </a:t>
            </a:r>
            <a:r>
              <a:rPr lang="en-US" dirty="0" err="1"/>
              <a:t>lewis</a:t>
            </a:r>
            <a:r>
              <a:rPr lang="en-US" dirty="0"/>
              <a:t> base is introduced, what was previously bound to the central atom is replaced</a:t>
            </a:r>
            <a:endParaRPr lang="en-US" baseline="30000" dirty="0"/>
          </a:p>
        </p:txBody>
      </p:sp>
    </p:spTree>
    <p:extLst>
      <p:ext uri="{BB962C8B-B14F-4D97-AF65-F5344CB8AC3E}">
        <p14:creationId xmlns:p14="http://schemas.microsoft.com/office/powerpoint/2010/main" val="3150976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Lewis Acid Reactivity</a:t>
            </a:r>
          </a:p>
        </p:txBody>
      </p:sp>
      <p:sp>
        <p:nvSpPr>
          <p:cNvPr id="3" name="Content Placeholder 2"/>
          <p:cNvSpPr>
            <a:spLocks noGrp="1"/>
          </p:cNvSpPr>
          <p:nvPr>
            <p:ph idx="1"/>
          </p:nvPr>
        </p:nvSpPr>
        <p:spPr/>
        <p:txBody>
          <a:bodyPr>
            <a:normAutofit lnSpcReduction="10000"/>
          </a:bodyPr>
          <a:lstStyle/>
          <a:p>
            <a:r>
              <a:rPr lang="en-US" dirty="0"/>
              <a:t> </a:t>
            </a:r>
            <a:r>
              <a:rPr lang="en-US" b="1" dirty="0"/>
              <a:t>Alkali Metal Ions: </a:t>
            </a:r>
            <a:r>
              <a:rPr lang="en-US" dirty="0"/>
              <a:t>Do not react with Hydroxide</a:t>
            </a:r>
          </a:p>
          <a:p>
            <a:r>
              <a:rPr lang="en-US" dirty="0"/>
              <a:t> </a:t>
            </a:r>
            <a:r>
              <a:rPr lang="en-US" b="1" dirty="0"/>
              <a:t>Alkaline Earth Metal Ions: </a:t>
            </a:r>
            <a:r>
              <a:rPr lang="en-US" dirty="0"/>
              <a:t>React with Hydroxide to form a stable solid product</a:t>
            </a:r>
          </a:p>
          <a:p>
            <a:r>
              <a:rPr lang="en-US" dirty="0"/>
              <a:t> </a:t>
            </a:r>
            <a:r>
              <a:rPr lang="en-US" b="1" dirty="0"/>
              <a:t>Transition Metal Ions: </a:t>
            </a:r>
            <a:r>
              <a:rPr lang="en-US" dirty="0"/>
              <a:t>React with Hydroxide to form a stable solid product. React more with Ammonia</a:t>
            </a:r>
          </a:p>
          <a:p>
            <a:r>
              <a:rPr lang="en-US" dirty="0"/>
              <a:t> </a:t>
            </a:r>
            <a:r>
              <a:rPr lang="en-US" b="1" dirty="0"/>
              <a:t>Post Transition Metal Ions: </a:t>
            </a:r>
            <a:r>
              <a:rPr lang="en-US" dirty="0"/>
              <a:t>React with Hydroxide to form a stable product. Can continue to react with hydroxide to completely fill all coordination sites and </a:t>
            </a:r>
            <a:r>
              <a:rPr lang="en-US" dirty="0" err="1"/>
              <a:t>redissolve</a:t>
            </a:r>
            <a:endParaRPr lang="en-US" dirty="0"/>
          </a:p>
          <a:p>
            <a:r>
              <a:rPr lang="en-US" dirty="0"/>
              <a:t> Reactivity of cations increases from left to right on the periodic table (remember the Periodic Trends lab)</a:t>
            </a:r>
          </a:p>
        </p:txBody>
      </p:sp>
    </p:spTree>
    <p:extLst>
      <p:ext uri="{BB962C8B-B14F-4D97-AF65-F5344CB8AC3E}">
        <p14:creationId xmlns:p14="http://schemas.microsoft.com/office/powerpoint/2010/main" val="890070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r>
              <a:rPr lang="en-US" dirty="0"/>
              <a:t>Complex Reactions</a:t>
            </a:r>
            <a:br>
              <a:rPr lang="en-US" dirty="0"/>
            </a:br>
            <a:r>
              <a:rPr lang="en-US" dirty="0"/>
              <a:t>	</a:t>
            </a:r>
            <a:r>
              <a:rPr lang="en-US" sz="3300" dirty="0"/>
              <a:t>Reaction of Lead and Bromide Ions</a:t>
            </a:r>
          </a:p>
        </p:txBody>
      </p:sp>
      <p:sp>
        <p:nvSpPr>
          <p:cNvPr id="3" name="Content Placeholder 2"/>
          <p:cNvSpPr>
            <a:spLocks noGrp="1"/>
          </p:cNvSpPr>
          <p:nvPr>
            <p:ph idx="1"/>
          </p:nvPr>
        </p:nvSpPr>
        <p:spPr/>
        <p:txBody>
          <a:bodyPr>
            <a:normAutofit fontScale="85000" lnSpcReduction="20000"/>
          </a:bodyPr>
          <a:lstStyle/>
          <a:p>
            <a:r>
              <a:rPr lang="en-US" dirty="0"/>
              <a:t> </a:t>
            </a:r>
            <a:r>
              <a:rPr lang="en-US" b="1" dirty="0"/>
              <a:t>Reaction: </a:t>
            </a:r>
            <a:r>
              <a:rPr lang="en-US" dirty="0"/>
              <a:t>0.1M Lead Nitrate (</a:t>
            </a:r>
            <a:r>
              <a:rPr lang="en-US" dirty="0" err="1"/>
              <a:t>Pb</a:t>
            </a:r>
            <a:r>
              <a:rPr lang="en-US" dirty="0"/>
              <a:t>(NO3)2) is mixed with 0.1M Sodium Bromide (</a:t>
            </a:r>
            <a:r>
              <a:rPr lang="en-US" dirty="0" err="1"/>
              <a:t>NaBr</a:t>
            </a:r>
            <a:r>
              <a:rPr lang="en-US" dirty="0"/>
              <a:t>). The </a:t>
            </a:r>
            <a:r>
              <a:rPr lang="en-US" dirty="0" err="1"/>
              <a:t>Aquocomplex</a:t>
            </a:r>
            <a:r>
              <a:rPr lang="en-US" dirty="0"/>
              <a:t> of lead is [</a:t>
            </a:r>
            <a:r>
              <a:rPr lang="en-US" dirty="0" err="1"/>
              <a:t>Pb</a:t>
            </a:r>
            <a:r>
              <a:rPr lang="en-US" dirty="0"/>
              <a:t>(H2O)4]2+</a:t>
            </a:r>
          </a:p>
          <a:p>
            <a:r>
              <a:rPr lang="en-US" dirty="0"/>
              <a:t> </a:t>
            </a:r>
            <a:r>
              <a:rPr lang="en-US" b="1" dirty="0"/>
              <a:t>Observations:</a:t>
            </a:r>
            <a:r>
              <a:rPr lang="en-US" dirty="0"/>
              <a:t> Lead Nitrate and Sodium Bromide are both colorless. When mixed, a white solid forms</a:t>
            </a:r>
          </a:p>
          <a:p>
            <a:r>
              <a:rPr lang="en-US" dirty="0"/>
              <a:t> </a:t>
            </a:r>
            <a:r>
              <a:rPr lang="en-US" b="1" dirty="0"/>
              <a:t>Complexation:</a:t>
            </a:r>
            <a:r>
              <a:rPr lang="en-US" dirty="0"/>
              <a:t> </a:t>
            </a:r>
          </a:p>
          <a:p>
            <a:pPr lvl="1"/>
            <a:r>
              <a:rPr lang="en-US" dirty="0"/>
              <a:t>The Pb2+ has 4 complexation sites (indicated by the </a:t>
            </a:r>
            <a:r>
              <a:rPr lang="en-US" dirty="0" err="1"/>
              <a:t>aquocomplex</a:t>
            </a:r>
            <a:r>
              <a:rPr lang="en-US" dirty="0"/>
              <a:t>). </a:t>
            </a:r>
          </a:p>
          <a:p>
            <a:pPr lvl="1"/>
            <a:r>
              <a:rPr lang="en-US" dirty="0"/>
              <a:t>The observations show that a solid forms, therefore the lead complex has a neutral charge</a:t>
            </a:r>
          </a:p>
          <a:p>
            <a:pPr lvl="1"/>
            <a:r>
              <a:rPr lang="en-US" dirty="0"/>
              <a:t> The charge of Lead is 2+, the charge of Bromide is 1-, therefore the balanced formula would be PbBr2(s)</a:t>
            </a:r>
          </a:p>
          <a:p>
            <a:pPr lvl="1"/>
            <a:r>
              <a:rPr lang="en-US" dirty="0"/>
              <a:t> All complexation sites must be filled however, and the Br- only is bound to two sites</a:t>
            </a:r>
          </a:p>
          <a:p>
            <a:pPr lvl="1"/>
            <a:r>
              <a:rPr lang="en-US" dirty="0"/>
              <a:t> Water is the filler ligand giving a complex of [</a:t>
            </a:r>
            <a:r>
              <a:rPr lang="en-US" dirty="0" err="1"/>
              <a:t>Pb</a:t>
            </a:r>
            <a:r>
              <a:rPr lang="en-US" dirty="0"/>
              <a:t>(H2O)2Br2](s)</a:t>
            </a:r>
          </a:p>
        </p:txBody>
      </p:sp>
    </p:spTree>
    <p:extLst>
      <p:ext uri="{BB962C8B-B14F-4D97-AF65-F5344CB8AC3E}">
        <p14:creationId xmlns:p14="http://schemas.microsoft.com/office/powerpoint/2010/main" val="564211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Complex Reactions</a:t>
            </a:r>
            <a:br>
              <a:rPr lang="en-US" dirty="0"/>
            </a:br>
            <a:r>
              <a:rPr lang="en-US" dirty="0"/>
              <a:t>	</a:t>
            </a:r>
            <a:r>
              <a:rPr lang="en-US" sz="3300" dirty="0"/>
              <a:t>Reaction of Lead and Bromide Ions</a:t>
            </a:r>
          </a:p>
        </p:txBody>
      </p:sp>
      <p:sp>
        <p:nvSpPr>
          <p:cNvPr id="3" name="Content Placeholder 2"/>
          <p:cNvSpPr>
            <a:spLocks noGrp="1"/>
          </p:cNvSpPr>
          <p:nvPr>
            <p:ph idx="1"/>
          </p:nvPr>
        </p:nvSpPr>
        <p:spPr/>
        <p:txBody>
          <a:bodyPr/>
          <a:lstStyle/>
          <a:p>
            <a:r>
              <a:rPr lang="en-US" b="1" dirty="0"/>
              <a:t>Reaction: </a:t>
            </a:r>
            <a:r>
              <a:rPr lang="en-US" dirty="0"/>
              <a:t>0.1M Lead Nitrate (</a:t>
            </a:r>
            <a:r>
              <a:rPr lang="en-US" dirty="0" err="1"/>
              <a:t>Pb</a:t>
            </a:r>
            <a:r>
              <a:rPr lang="en-US" dirty="0"/>
              <a:t>(NO3)2) is mixed with 0.1M Sodium Bromide (</a:t>
            </a:r>
            <a:r>
              <a:rPr lang="en-US" dirty="0" err="1"/>
              <a:t>NaBr</a:t>
            </a:r>
            <a:r>
              <a:rPr lang="en-US" dirty="0"/>
              <a:t>). The </a:t>
            </a:r>
            <a:r>
              <a:rPr lang="en-US" dirty="0" err="1"/>
              <a:t>Aquocomplex</a:t>
            </a:r>
            <a:r>
              <a:rPr lang="en-US" dirty="0"/>
              <a:t> of lead is [</a:t>
            </a:r>
            <a:r>
              <a:rPr lang="en-US" dirty="0" err="1"/>
              <a:t>Pb</a:t>
            </a:r>
            <a:r>
              <a:rPr lang="en-US" dirty="0"/>
              <a:t>(H2O)4]2+</a:t>
            </a:r>
          </a:p>
          <a:p>
            <a:pPr marL="274320" lvl="1" indent="-274320">
              <a:buClr>
                <a:schemeClr val="accent3"/>
              </a:buClr>
              <a:buSzPct val="95000"/>
            </a:pPr>
            <a:r>
              <a:rPr lang="en-US" dirty="0"/>
              <a:t>  [</a:t>
            </a:r>
            <a:r>
              <a:rPr lang="en-US" dirty="0" err="1"/>
              <a:t>Pb</a:t>
            </a:r>
            <a:r>
              <a:rPr lang="en-US" dirty="0"/>
              <a:t>(H2O)4]2+  +  2Br-  </a:t>
            </a:r>
            <a:r>
              <a:rPr lang="en-US" dirty="0">
                <a:sym typeface="Wingdings" panose="05000000000000000000" pitchFamily="2" charset="2"/>
              </a:rPr>
              <a:t>  [</a:t>
            </a:r>
            <a:r>
              <a:rPr lang="en-US" dirty="0" err="1">
                <a:sym typeface="Wingdings" panose="05000000000000000000" pitchFamily="2" charset="2"/>
              </a:rPr>
              <a:t>Pb</a:t>
            </a:r>
            <a:r>
              <a:rPr lang="en-US" dirty="0">
                <a:sym typeface="Wingdings" panose="05000000000000000000" pitchFamily="2" charset="2"/>
              </a:rPr>
              <a:t>(H2O)2Br2](s)  +  2H2O</a:t>
            </a:r>
            <a:endParaRPr lang="en-US" dirty="0"/>
          </a:p>
          <a:p>
            <a:endParaRPr lang="en-US" dirty="0"/>
          </a:p>
        </p:txBody>
      </p:sp>
      <p:sp>
        <p:nvSpPr>
          <p:cNvPr id="5" name="TextBox 4"/>
          <p:cNvSpPr txBox="1"/>
          <p:nvPr/>
        </p:nvSpPr>
        <p:spPr>
          <a:xfrm>
            <a:off x="3018973" y="4768785"/>
            <a:ext cx="1857375" cy="477054"/>
          </a:xfrm>
          <a:prstGeom prst="rect">
            <a:avLst/>
          </a:prstGeom>
          <a:noFill/>
        </p:spPr>
        <p:txBody>
          <a:bodyPr wrap="square" rtlCol="0">
            <a:spAutoFit/>
          </a:bodyPr>
          <a:lstStyle/>
          <a:p>
            <a:r>
              <a:rPr lang="en-US" sz="2500" dirty="0"/>
              <a:t>+   2Br</a:t>
            </a:r>
            <a:r>
              <a:rPr lang="en-US" sz="2500" baseline="30000" dirty="0"/>
              <a:t>-    </a:t>
            </a:r>
            <a:r>
              <a:rPr lang="en-US" sz="2500" dirty="0">
                <a:sym typeface="Wingdings" panose="05000000000000000000" pitchFamily="2" charset="2"/>
              </a:rPr>
              <a:t></a:t>
            </a:r>
            <a:endParaRPr lang="en-US" sz="2500" dirty="0"/>
          </a:p>
        </p:txBody>
      </p:sp>
      <p:grpSp>
        <p:nvGrpSpPr>
          <p:cNvPr id="35" name="Group 34"/>
          <p:cNvGrpSpPr/>
          <p:nvPr/>
        </p:nvGrpSpPr>
        <p:grpSpPr>
          <a:xfrm>
            <a:off x="304800" y="3940561"/>
            <a:ext cx="2514149" cy="2231639"/>
            <a:chOff x="552450" y="3639001"/>
            <a:chExt cx="2514149" cy="2231639"/>
          </a:xfrm>
        </p:grpSpPr>
        <p:sp>
          <p:nvSpPr>
            <p:cNvPr id="4" name="TextBox 3"/>
            <p:cNvSpPr txBox="1"/>
            <p:nvPr/>
          </p:nvSpPr>
          <p:spPr>
            <a:xfrm>
              <a:off x="1524000" y="4572000"/>
              <a:ext cx="609600" cy="369332"/>
            </a:xfrm>
            <a:prstGeom prst="rect">
              <a:avLst/>
            </a:prstGeom>
            <a:noFill/>
          </p:spPr>
          <p:txBody>
            <a:bodyPr wrap="square" rtlCol="0">
              <a:spAutoFit/>
            </a:bodyPr>
            <a:lstStyle/>
            <a:p>
              <a:r>
                <a:rPr lang="en-US" dirty="0"/>
                <a:t>Pb</a:t>
              </a:r>
              <a:r>
                <a:rPr lang="en-US" baseline="30000" dirty="0"/>
                <a:t>2+</a:t>
              </a:r>
            </a:p>
          </p:txBody>
        </p:sp>
        <p:pic>
          <p:nvPicPr>
            <p:cNvPr id="19" name="Picture 1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53" y="3639001"/>
              <a:ext cx="1158144" cy="847274"/>
            </a:xfrm>
            <a:prstGeom prst="rect">
              <a:avLst/>
            </a:prstGeom>
          </p:spPr>
        </p:pic>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7015" y="4327195"/>
              <a:ext cx="1158144" cy="847274"/>
            </a:xfrm>
            <a:prstGeom prst="rect">
              <a:avLst/>
            </a:prstGeom>
          </p:spPr>
        </p:pic>
        <p:pic>
          <p:nvPicPr>
            <p:cNvPr id="21" name="Picture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63890" y="4333029"/>
              <a:ext cx="1158144" cy="847274"/>
            </a:xfrm>
            <a:prstGeom prst="rect">
              <a:avLst/>
            </a:prstGeom>
          </p:spPr>
        </p:pic>
        <p:pic>
          <p:nvPicPr>
            <p:cNvPr id="22" name="Picture 2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185006" y="5023366"/>
              <a:ext cx="1158144" cy="847274"/>
            </a:xfrm>
            <a:prstGeom prst="rect">
              <a:avLst/>
            </a:prstGeom>
          </p:spPr>
        </p:pic>
        <p:cxnSp>
          <p:nvCxnSpPr>
            <p:cNvPr id="24" name="Straight Connector 23"/>
            <p:cNvCxnSpPr/>
            <p:nvPr/>
          </p:nvCxnSpPr>
          <p:spPr>
            <a:xfrm>
              <a:off x="1261837" y="47566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057400" y="4750832"/>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a:off x="1628775" y="50233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6200000">
              <a:off x="1628775" y="4467225"/>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36" name="Right Bracket 35"/>
          <p:cNvSpPr/>
          <p:nvPr/>
        </p:nvSpPr>
        <p:spPr>
          <a:xfrm>
            <a:off x="2818949" y="3940561"/>
            <a:ext cx="45719" cy="2231639"/>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Left Bracket 36"/>
          <p:cNvSpPr/>
          <p:nvPr/>
        </p:nvSpPr>
        <p:spPr>
          <a:xfrm>
            <a:off x="304800" y="3940561"/>
            <a:ext cx="45719" cy="2307839"/>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TextBox 37"/>
          <p:cNvSpPr txBox="1"/>
          <p:nvPr/>
        </p:nvSpPr>
        <p:spPr>
          <a:xfrm>
            <a:off x="2818949" y="3745468"/>
            <a:ext cx="457200" cy="369332"/>
          </a:xfrm>
          <a:prstGeom prst="rect">
            <a:avLst/>
          </a:prstGeom>
          <a:noFill/>
        </p:spPr>
        <p:txBody>
          <a:bodyPr wrap="square" rtlCol="0">
            <a:spAutoFit/>
          </a:bodyPr>
          <a:lstStyle/>
          <a:p>
            <a:r>
              <a:rPr lang="en-US" dirty="0"/>
              <a:t>2+</a:t>
            </a:r>
          </a:p>
        </p:txBody>
      </p:sp>
      <p:sp>
        <p:nvSpPr>
          <p:cNvPr id="40" name="TextBox 39"/>
          <p:cNvSpPr txBox="1"/>
          <p:nvPr/>
        </p:nvSpPr>
        <p:spPr>
          <a:xfrm>
            <a:off x="5619299" y="4824491"/>
            <a:ext cx="609600" cy="369332"/>
          </a:xfrm>
          <a:prstGeom prst="rect">
            <a:avLst/>
          </a:prstGeom>
          <a:noFill/>
        </p:spPr>
        <p:txBody>
          <a:bodyPr wrap="square" rtlCol="0">
            <a:spAutoFit/>
          </a:bodyPr>
          <a:lstStyle/>
          <a:p>
            <a:r>
              <a:rPr lang="en-US" dirty="0"/>
              <a:t>Pb</a:t>
            </a:r>
            <a:r>
              <a:rPr lang="en-US" baseline="30000" dirty="0"/>
              <a:t>2+</a:t>
            </a:r>
          </a:p>
        </p:txBody>
      </p:sp>
      <p:pic>
        <p:nvPicPr>
          <p:cNvPr id="41" name="Picture 4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6452" y="3891492"/>
            <a:ext cx="1158144" cy="847274"/>
          </a:xfrm>
          <a:prstGeom prst="rect">
            <a:avLst/>
          </a:prstGeom>
        </p:spPr>
      </p:pic>
      <p:pic>
        <p:nvPicPr>
          <p:cNvPr id="42" name="Picture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7917229" y="4699819"/>
            <a:ext cx="1158144" cy="847274"/>
          </a:xfrm>
          <a:prstGeom prst="rect">
            <a:avLst/>
          </a:prstGeom>
        </p:spPr>
      </p:pic>
      <p:pic>
        <p:nvPicPr>
          <p:cNvPr id="44" name="Picture 4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5273364" y="5275858"/>
            <a:ext cx="1158144" cy="847274"/>
          </a:xfrm>
          <a:prstGeom prst="rect">
            <a:avLst/>
          </a:prstGeom>
        </p:spPr>
      </p:pic>
      <p:cxnSp>
        <p:nvCxnSpPr>
          <p:cNvPr id="45" name="Straight Connector 44"/>
          <p:cNvCxnSpPr/>
          <p:nvPr/>
        </p:nvCxnSpPr>
        <p:spPr>
          <a:xfrm>
            <a:off x="5357136" y="5009157"/>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152699" y="5003323"/>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a:off x="5724074" y="5275857"/>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a:off x="5724074" y="471971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49" name="Right Bracket 48"/>
          <p:cNvSpPr/>
          <p:nvPr/>
        </p:nvSpPr>
        <p:spPr>
          <a:xfrm>
            <a:off x="7161898" y="3891492"/>
            <a:ext cx="45719" cy="2231639"/>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Left Bracket 49"/>
          <p:cNvSpPr/>
          <p:nvPr/>
        </p:nvSpPr>
        <p:spPr>
          <a:xfrm>
            <a:off x="4647749" y="3891492"/>
            <a:ext cx="45719" cy="2307839"/>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7124249" y="5938466"/>
            <a:ext cx="533400" cy="369332"/>
          </a:xfrm>
          <a:prstGeom prst="rect">
            <a:avLst/>
          </a:prstGeom>
          <a:noFill/>
        </p:spPr>
        <p:txBody>
          <a:bodyPr wrap="square" rtlCol="0">
            <a:spAutoFit/>
          </a:bodyPr>
          <a:lstStyle/>
          <a:p>
            <a:r>
              <a:rPr lang="en-US" dirty="0"/>
              <a:t>(s)</a:t>
            </a:r>
          </a:p>
        </p:txBody>
      </p:sp>
      <p:sp>
        <p:nvSpPr>
          <p:cNvPr id="52" name="TextBox 51"/>
          <p:cNvSpPr txBox="1"/>
          <p:nvPr/>
        </p:nvSpPr>
        <p:spPr>
          <a:xfrm>
            <a:off x="7184757" y="3706826"/>
            <a:ext cx="457200" cy="369332"/>
          </a:xfrm>
          <a:prstGeom prst="rect">
            <a:avLst/>
          </a:prstGeom>
          <a:noFill/>
        </p:spPr>
        <p:txBody>
          <a:bodyPr wrap="square" rtlCol="0">
            <a:spAutoFit/>
          </a:bodyPr>
          <a:lstStyle/>
          <a:p>
            <a:r>
              <a:rPr lang="en-US" dirty="0"/>
              <a:t>0</a:t>
            </a:r>
          </a:p>
        </p:txBody>
      </p:sp>
      <p:sp>
        <p:nvSpPr>
          <p:cNvPr id="53" name="TextBox 52"/>
          <p:cNvSpPr txBox="1"/>
          <p:nvPr/>
        </p:nvSpPr>
        <p:spPr>
          <a:xfrm>
            <a:off x="4828723" y="4733925"/>
            <a:ext cx="638176" cy="477054"/>
          </a:xfrm>
          <a:prstGeom prst="rect">
            <a:avLst/>
          </a:prstGeom>
          <a:noFill/>
        </p:spPr>
        <p:txBody>
          <a:bodyPr wrap="square" rtlCol="0">
            <a:spAutoFit/>
          </a:bodyPr>
          <a:lstStyle/>
          <a:p>
            <a:r>
              <a:rPr lang="en-US" sz="2500" dirty="0"/>
              <a:t>Br</a:t>
            </a:r>
            <a:r>
              <a:rPr lang="en-US" sz="2500" baseline="30000" dirty="0"/>
              <a:t>- </a:t>
            </a:r>
            <a:endParaRPr lang="en-US" sz="2500" dirty="0"/>
          </a:p>
        </p:txBody>
      </p:sp>
      <p:sp>
        <p:nvSpPr>
          <p:cNvPr id="54" name="TextBox 53"/>
          <p:cNvSpPr txBox="1"/>
          <p:nvPr/>
        </p:nvSpPr>
        <p:spPr>
          <a:xfrm>
            <a:off x="6474596" y="4737774"/>
            <a:ext cx="638176" cy="477054"/>
          </a:xfrm>
          <a:prstGeom prst="rect">
            <a:avLst/>
          </a:prstGeom>
          <a:noFill/>
        </p:spPr>
        <p:txBody>
          <a:bodyPr wrap="square" rtlCol="0">
            <a:spAutoFit/>
          </a:bodyPr>
          <a:lstStyle/>
          <a:p>
            <a:r>
              <a:rPr lang="en-US" sz="2500" dirty="0"/>
              <a:t>Br</a:t>
            </a:r>
            <a:r>
              <a:rPr lang="en-US" sz="2500" baseline="30000" dirty="0"/>
              <a:t>- </a:t>
            </a:r>
            <a:endParaRPr lang="en-US" sz="2500" dirty="0"/>
          </a:p>
        </p:txBody>
      </p:sp>
      <p:sp>
        <p:nvSpPr>
          <p:cNvPr id="55" name="TextBox 54"/>
          <p:cNvSpPr txBox="1"/>
          <p:nvPr/>
        </p:nvSpPr>
        <p:spPr>
          <a:xfrm>
            <a:off x="7456221" y="4847872"/>
            <a:ext cx="968193" cy="477054"/>
          </a:xfrm>
          <a:prstGeom prst="rect">
            <a:avLst/>
          </a:prstGeom>
          <a:noFill/>
        </p:spPr>
        <p:txBody>
          <a:bodyPr wrap="square" rtlCol="0">
            <a:spAutoFit/>
          </a:bodyPr>
          <a:lstStyle/>
          <a:p>
            <a:r>
              <a:rPr lang="en-US" sz="2500" dirty="0"/>
              <a:t>+ 2</a:t>
            </a:r>
          </a:p>
        </p:txBody>
      </p:sp>
    </p:spTree>
    <p:extLst>
      <p:ext uri="{BB962C8B-B14F-4D97-AF65-F5344CB8AC3E}">
        <p14:creationId xmlns:p14="http://schemas.microsoft.com/office/powerpoint/2010/main" val="2909333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Complex Reactions</a:t>
            </a:r>
            <a:br>
              <a:rPr lang="en-US" dirty="0"/>
            </a:br>
            <a:r>
              <a:rPr lang="en-US" dirty="0"/>
              <a:t>	</a:t>
            </a:r>
            <a:r>
              <a:rPr lang="en-US" sz="3300" dirty="0"/>
              <a:t>Reaction of Lead and Hydroxide Ions</a:t>
            </a:r>
          </a:p>
        </p:txBody>
      </p:sp>
      <p:sp>
        <p:nvSpPr>
          <p:cNvPr id="3" name="Content Placeholder 2"/>
          <p:cNvSpPr>
            <a:spLocks noGrp="1"/>
          </p:cNvSpPr>
          <p:nvPr>
            <p:ph idx="1"/>
          </p:nvPr>
        </p:nvSpPr>
        <p:spPr/>
        <p:txBody>
          <a:bodyPr>
            <a:normAutofit fontScale="77500" lnSpcReduction="20000"/>
          </a:bodyPr>
          <a:lstStyle/>
          <a:p>
            <a:r>
              <a:rPr lang="en-US" dirty="0"/>
              <a:t> </a:t>
            </a:r>
            <a:r>
              <a:rPr lang="en-US" b="1" dirty="0"/>
              <a:t>Reaction:</a:t>
            </a:r>
            <a:r>
              <a:rPr lang="en-US" dirty="0"/>
              <a:t> The solid Lead Bromide (PbBr2) is mixed with a concentrated solution of Sodium Hydroxide (</a:t>
            </a:r>
            <a:r>
              <a:rPr lang="en-US" dirty="0" err="1"/>
              <a:t>NaOH</a:t>
            </a:r>
            <a:r>
              <a:rPr lang="en-US" dirty="0"/>
              <a:t>). The </a:t>
            </a:r>
            <a:r>
              <a:rPr lang="en-US" dirty="0" err="1"/>
              <a:t>aquocomplex</a:t>
            </a:r>
            <a:r>
              <a:rPr lang="en-US" dirty="0"/>
              <a:t> of lead is [</a:t>
            </a:r>
            <a:r>
              <a:rPr lang="en-US" dirty="0" err="1"/>
              <a:t>Pb</a:t>
            </a:r>
            <a:r>
              <a:rPr lang="en-US" dirty="0"/>
              <a:t>(H2O)4]2+</a:t>
            </a:r>
          </a:p>
          <a:p>
            <a:r>
              <a:rPr lang="en-US" dirty="0"/>
              <a:t> </a:t>
            </a:r>
            <a:r>
              <a:rPr lang="en-US" b="1" dirty="0"/>
              <a:t>Observation:</a:t>
            </a:r>
            <a:r>
              <a:rPr lang="en-US" dirty="0"/>
              <a:t> The solid lead bromide dissolves.</a:t>
            </a:r>
          </a:p>
          <a:p>
            <a:r>
              <a:rPr lang="en-US" dirty="0"/>
              <a:t> Complexation:</a:t>
            </a:r>
          </a:p>
          <a:p>
            <a:pPr lvl="1"/>
            <a:r>
              <a:rPr lang="en-US" dirty="0"/>
              <a:t> The starting complex of the lead bromide is [</a:t>
            </a:r>
            <a:r>
              <a:rPr lang="en-US" dirty="0" err="1"/>
              <a:t>Pb</a:t>
            </a:r>
            <a:r>
              <a:rPr lang="en-US" dirty="0"/>
              <a:t>(H2O)2Br2](s) and dissolves in concentrated </a:t>
            </a:r>
            <a:r>
              <a:rPr lang="en-US" dirty="0" err="1"/>
              <a:t>NaOH</a:t>
            </a:r>
            <a:endParaRPr lang="en-US" dirty="0"/>
          </a:p>
          <a:p>
            <a:pPr lvl="1"/>
            <a:r>
              <a:rPr lang="en-US" dirty="0"/>
              <a:t> If the solid dissolves, the charge of the complex must no longer be zero</a:t>
            </a:r>
          </a:p>
          <a:p>
            <a:pPr lvl="1"/>
            <a:r>
              <a:rPr lang="en-US" dirty="0"/>
              <a:t> </a:t>
            </a:r>
            <a:r>
              <a:rPr lang="en-US" dirty="0" err="1"/>
              <a:t>NaOH</a:t>
            </a:r>
            <a:r>
              <a:rPr lang="en-US" dirty="0"/>
              <a:t> dissociates into Na+ and OH-, and since Na+ cannot react with the Pb2+, the hydroxide (OH-) must be reacting</a:t>
            </a:r>
          </a:p>
          <a:p>
            <a:pPr lvl="1"/>
            <a:r>
              <a:rPr lang="en-US" dirty="0"/>
              <a:t> Based on the Lewis Base strength, OH- is a much better electron donor than Br-, which is a better electron donor than H2O</a:t>
            </a:r>
          </a:p>
          <a:p>
            <a:pPr lvl="1"/>
            <a:r>
              <a:rPr lang="en-US" dirty="0"/>
              <a:t> The lead would react with the OH- to replace all of the coordination sites with OH- giving the negatively charged complex of [</a:t>
            </a:r>
            <a:r>
              <a:rPr lang="en-US" dirty="0" err="1"/>
              <a:t>Pb</a:t>
            </a:r>
            <a:r>
              <a:rPr lang="en-US" dirty="0"/>
              <a:t>(OH4)]2-</a:t>
            </a:r>
          </a:p>
        </p:txBody>
      </p:sp>
    </p:spTree>
    <p:extLst>
      <p:ext uri="{BB962C8B-B14F-4D97-AF65-F5344CB8AC3E}">
        <p14:creationId xmlns:p14="http://schemas.microsoft.com/office/powerpoint/2010/main" val="1711693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Complex Reactions</a:t>
            </a:r>
            <a:br>
              <a:rPr lang="en-US" dirty="0"/>
            </a:br>
            <a:r>
              <a:rPr lang="en-US" dirty="0"/>
              <a:t>	</a:t>
            </a:r>
            <a:r>
              <a:rPr lang="en-US" sz="3300" dirty="0"/>
              <a:t>Reaction of Lead and Hydroxide Ions</a:t>
            </a:r>
          </a:p>
        </p:txBody>
      </p:sp>
      <p:sp>
        <p:nvSpPr>
          <p:cNvPr id="3" name="Content Placeholder 2"/>
          <p:cNvSpPr>
            <a:spLocks noGrp="1"/>
          </p:cNvSpPr>
          <p:nvPr>
            <p:ph idx="1"/>
          </p:nvPr>
        </p:nvSpPr>
        <p:spPr>
          <a:xfrm>
            <a:off x="457200" y="1935480"/>
            <a:ext cx="8229600" cy="2026920"/>
          </a:xfrm>
        </p:spPr>
        <p:txBody>
          <a:bodyPr/>
          <a:lstStyle/>
          <a:p>
            <a:r>
              <a:rPr lang="en-US" b="1" dirty="0"/>
              <a:t>Reaction:</a:t>
            </a:r>
            <a:r>
              <a:rPr lang="en-US" dirty="0"/>
              <a:t> The solid Lead Bromide (PbBr</a:t>
            </a:r>
            <a:r>
              <a:rPr lang="en-US" baseline="-25000" dirty="0"/>
              <a:t>2</a:t>
            </a:r>
            <a:r>
              <a:rPr lang="en-US" dirty="0"/>
              <a:t>) is mixed with a concentrated solution of Sodium Hydroxide (</a:t>
            </a:r>
            <a:r>
              <a:rPr lang="en-US" dirty="0" err="1"/>
              <a:t>NaOH</a:t>
            </a:r>
            <a:r>
              <a:rPr lang="en-US" dirty="0"/>
              <a:t>). The </a:t>
            </a:r>
            <a:r>
              <a:rPr lang="en-US" dirty="0" err="1"/>
              <a:t>aquocomplex</a:t>
            </a:r>
            <a:r>
              <a:rPr lang="en-US" dirty="0"/>
              <a:t> of lead is [</a:t>
            </a:r>
            <a:r>
              <a:rPr lang="en-US" dirty="0" err="1"/>
              <a:t>Pb</a:t>
            </a:r>
            <a:r>
              <a:rPr lang="en-US" dirty="0"/>
              <a:t>(H</a:t>
            </a:r>
            <a:r>
              <a:rPr lang="en-US" baseline="-25000" dirty="0"/>
              <a:t>2</a:t>
            </a:r>
            <a:r>
              <a:rPr lang="en-US" dirty="0"/>
              <a:t>O)</a:t>
            </a:r>
            <a:r>
              <a:rPr lang="en-US" baseline="-25000" dirty="0"/>
              <a:t>4</a:t>
            </a:r>
            <a:r>
              <a:rPr lang="en-US" dirty="0"/>
              <a:t>]</a:t>
            </a:r>
            <a:r>
              <a:rPr lang="en-US" baseline="30000" dirty="0"/>
              <a:t>2+</a:t>
            </a:r>
          </a:p>
          <a:p>
            <a:r>
              <a:rPr lang="en-US" dirty="0"/>
              <a:t> </a:t>
            </a:r>
            <a:r>
              <a:rPr lang="en-US" sz="2500" dirty="0"/>
              <a:t>[</a:t>
            </a:r>
            <a:r>
              <a:rPr lang="en-US" sz="2500" dirty="0" err="1"/>
              <a:t>Pb</a:t>
            </a:r>
            <a:r>
              <a:rPr lang="en-US" sz="2500" dirty="0"/>
              <a:t>(H</a:t>
            </a:r>
            <a:r>
              <a:rPr lang="en-US" sz="2500" baseline="-25000" dirty="0"/>
              <a:t>2</a:t>
            </a:r>
            <a:r>
              <a:rPr lang="en-US" sz="2500" dirty="0"/>
              <a:t>O)</a:t>
            </a:r>
            <a:r>
              <a:rPr lang="en-US" sz="2500" baseline="-25000" dirty="0"/>
              <a:t>2</a:t>
            </a:r>
            <a:r>
              <a:rPr lang="en-US" sz="2500" dirty="0"/>
              <a:t>Br</a:t>
            </a:r>
            <a:r>
              <a:rPr lang="en-US" sz="2500" baseline="-25000" dirty="0"/>
              <a:t>2</a:t>
            </a:r>
            <a:r>
              <a:rPr lang="en-US" sz="2500" dirty="0"/>
              <a:t>]</a:t>
            </a:r>
            <a:r>
              <a:rPr lang="en-US" sz="2500" baseline="-25000" dirty="0"/>
              <a:t>(s) </a:t>
            </a:r>
            <a:r>
              <a:rPr lang="en-US" sz="2500" dirty="0"/>
              <a:t>+ 4OH- </a:t>
            </a:r>
            <a:r>
              <a:rPr lang="en-US" sz="2500" dirty="0">
                <a:sym typeface="Wingdings" panose="05000000000000000000" pitchFamily="2" charset="2"/>
              </a:rPr>
              <a:t> [</a:t>
            </a:r>
            <a:r>
              <a:rPr lang="en-US" sz="2500" dirty="0" err="1">
                <a:sym typeface="Wingdings" panose="05000000000000000000" pitchFamily="2" charset="2"/>
              </a:rPr>
              <a:t>Pb</a:t>
            </a:r>
            <a:r>
              <a:rPr lang="en-US" sz="2500" dirty="0">
                <a:sym typeface="Wingdings" panose="05000000000000000000" pitchFamily="2" charset="2"/>
              </a:rPr>
              <a:t>(OH)</a:t>
            </a:r>
            <a:r>
              <a:rPr lang="en-US" sz="2500" baseline="-25000" dirty="0">
                <a:sym typeface="Wingdings" panose="05000000000000000000" pitchFamily="2" charset="2"/>
              </a:rPr>
              <a:t>4</a:t>
            </a:r>
            <a:r>
              <a:rPr lang="en-US" sz="2500" dirty="0">
                <a:sym typeface="Wingdings" panose="05000000000000000000" pitchFamily="2" charset="2"/>
              </a:rPr>
              <a:t>]</a:t>
            </a:r>
            <a:r>
              <a:rPr lang="en-US" sz="2500" baseline="30000" dirty="0">
                <a:sym typeface="Wingdings" panose="05000000000000000000" pitchFamily="2" charset="2"/>
              </a:rPr>
              <a:t>2-</a:t>
            </a:r>
            <a:r>
              <a:rPr lang="en-US" sz="2500" dirty="0">
                <a:sym typeface="Wingdings" panose="05000000000000000000" pitchFamily="2" charset="2"/>
              </a:rPr>
              <a:t>  +  2H</a:t>
            </a:r>
            <a:r>
              <a:rPr lang="en-US" sz="2500" baseline="-25000" dirty="0">
                <a:sym typeface="Wingdings" panose="05000000000000000000" pitchFamily="2" charset="2"/>
              </a:rPr>
              <a:t>2</a:t>
            </a:r>
            <a:r>
              <a:rPr lang="en-US" sz="2500" dirty="0">
                <a:sym typeface="Wingdings" panose="05000000000000000000" pitchFamily="2" charset="2"/>
              </a:rPr>
              <a:t>O  +  2Br</a:t>
            </a:r>
            <a:r>
              <a:rPr lang="en-US" sz="2500" baseline="30000" dirty="0">
                <a:sym typeface="Wingdings" panose="05000000000000000000" pitchFamily="2" charset="2"/>
              </a:rPr>
              <a:t>-</a:t>
            </a:r>
            <a:endParaRPr lang="en-US" sz="2500" baseline="30000" dirty="0"/>
          </a:p>
        </p:txBody>
      </p:sp>
      <p:sp>
        <p:nvSpPr>
          <p:cNvPr id="4" name="TextBox 3"/>
          <p:cNvSpPr txBox="1"/>
          <p:nvPr/>
        </p:nvSpPr>
        <p:spPr>
          <a:xfrm>
            <a:off x="1085850" y="4824491"/>
            <a:ext cx="609600" cy="369332"/>
          </a:xfrm>
          <a:prstGeom prst="rect">
            <a:avLst/>
          </a:prstGeom>
          <a:noFill/>
        </p:spPr>
        <p:txBody>
          <a:bodyPr wrap="square" rtlCol="0">
            <a:spAutoFit/>
          </a:bodyPr>
          <a:lstStyle/>
          <a:p>
            <a:r>
              <a:rPr lang="en-US" dirty="0"/>
              <a:t>Pb</a:t>
            </a:r>
            <a:r>
              <a:rPr lang="en-US" baseline="30000" dirty="0"/>
              <a:t>2+</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003" y="3891492"/>
            <a:ext cx="1158144" cy="847274"/>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739915" y="5275858"/>
            <a:ext cx="1158144" cy="847274"/>
          </a:xfrm>
          <a:prstGeom prst="rect">
            <a:avLst/>
          </a:prstGeom>
        </p:spPr>
      </p:pic>
      <p:cxnSp>
        <p:nvCxnSpPr>
          <p:cNvPr id="7" name="Straight Connector 6"/>
          <p:cNvCxnSpPr/>
          <p:nvPr/>
        </p:nvCxnSpPr>
        <p:spPr>
          <a:xfrm>
            <a:off x="823687" y="5009157"/>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619250" y="5003323"/>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a:off x="1190625" y="5275857"/>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16200000">
            <a:off x="1190625" y="471971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11" name="Right Bracket 10"/>
          <p:cNvSpPr/>
          <p:nvPr/>
        </p:nvSpPr>
        <p:spPr>
          <a:xfrm>
            <a:off x="2628449" y="3891492"/>
            <a:ext cx="45719" cy="2231639"/>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ket 11"/>
          <p:cNvSpPr/>
          <p:nvPr/>
        </p:nvSpPr>
        <p:spPr>
          <a:xfrm>
            <a:off x="114300" y="3891492"/>
            <a:ext cx="45719" cy="2307839"/>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2590800" y="5938466"/>
            <a:ext cx="533400" cy="369332"/>
          </a:xfrm>
          <a:prstGeom prst="rect">
            <a:avLst/>
          </a:prstGeom>
          <a:noFill/>
        </p:spPr>
        <p:txBody>
          <a:bodyPr wrap="square" rtlCol="0">
            <a:spAutoFit/>
          </a:bodyPr>
          <a:lstStyle/>
          <a:p>
            <a:r>
              <a:rPr lang="en-US" dirty="0"/>
              <a:t>(s)</a:t>
            </a:r>
          </a:p>
        </p:txBody>
      </p:sp>
      <p:sp>
        <p:nvSpPr>
          <p:cNvPr id="14" name="TextBox 13"/>
          <p:cNvSpPr txBox="1"/>
          <p:nvPr/>
        </p:nvSpPr>
        <p:spPr>
          <a:xfrm>
            <a:off x="2651308" y="3706826"/>
            <a:ext cx="457200" cy="369332"/>
          </a:xfrm>
          <a:prstGeom prst="rect">
            <a:avLst/>
          </a:prstGeom>
          <a:noFill/>
        </p:spPr>
        <p:txBody>
          <a:bodyPr wrap="square" rtlCol="0">
            <a:spAutoFit/>
          </a:bodyPr>
          <a:lstStyle/>
          <a:p>
            <a:r>
              <a:rPr lang="en-US" dirty="0"/>
              <a:t>0</a:t>
            </a:r>
          </a:p>
        </p:txBody>
      </p:sp>
      <p:sp>
        <p:nvSpPr>
          <p:cNvPr id="15" name="TextBox 14"/>
          <p:cNvSpPr txBox="1"/>
          <p:nvPr/>
        </p:nvSpPr>
        <p:spPr>
          <a:xfrm>
            <a:off x="295274" y="4733925"/>
            <a:ext cx="638176" cy="477054"/>
          </a:xfrm>
          <a:prstGeom prst="rect">
            <a:avLst/>
          </a:prstGeom>
          <a:noFill/>
        </p:spPr>
        <p:txBody>
          <a:bodyPr wrap="square" rtlCol="0">
            <a:spAutoFit/>
          </a:bodyPr>
          <a:lstStyle/>
          <a:p>
            <a:r>
              <a:rPr lang="en-US" sz="2500" dirty="0"/>
              <a:t>Br</a:t>
            </a:r>
            <a:r>
              <a:rPr lang="en-US" sz="2500" baseline="30000" dirty="0"/>
              <a:t>- </a:t>
            </a:r>
            <a:endParaRPr lang="en-US" sz="2500" dirty="0"/>
          </a:p>
        </p:txBody>
      </p:sp>
      <p:sp>
        <p:nvSpPr>
          <p:cNvPr id="16" name="TextBox 15"/>
          <p:cNvSpPr txBox="1"/>
          <p:nvPr/>
        </p:nvSpPr>
        <p:spPr>
          <a:xfrm>
            <a:off x="1941147" y="4737774"/>
            <a:ext cx="638176" cy="477054"/>
          </a:xfrm>
          <a:prstGeom prst="rect">
            <a:avLst/>
          </a:prstGeom>
          <a:noFill/>
        </p:spPr>
        <p:txBody>
          <a:bodyPr wrap="square" rtlCol="0">
            <a:spAutoFit/>
          </a:bodyPr>
          <a:lstStyle/>
          <a:p>
            <a:r>
              <a:rPr lang="en-US" sz="2500" dirty="0"/>
              <a:t>Br</a:t>
            </a:r>
            <a:r>
              <a:rPr lang="en-US" sz="2500" baseline="30000" dirty="0"/>
              <a:t>- </a:t>
            </a:r>
            <a:endParaRPr lang="en-US" sz="2500" dirty="0"/>
          </a:p>
        </p:txBody>
      </p:sp>
      <p:sp>
        <p:nvSpPr>
          <p:cNvPr id="17" name="TextBox 16"/>
          <p:cNvSpPr txBox="1"/>
          <p:nvPr/>
        </p:nvSpPr>
        <p:spPr>
          <a:xfrm>
            <a:off x="3018973" y="4768785"/>
            <a:ext cx="2010227" cy="477054"/>
          </a:xfrm>
          <a:prstGeom prst="rect">
            <a:avLst/>
          </a:prstGeom>
          <a:noFill/>
        </p:spPr>
        <p:txBody>
          <a:bodyPr wrap="square" rtlCol="0">
            <a:spAutoFit/>
          </a:bodyPr>
          <a:lstStyle/>
          <a:p>
            <a:r>
              <a:rPr lang="en-US" sz="2500" dirty="0"/>
              <a:t>+   4OH</a:t>
            </a:r>
            <a:r>
              <a:rPr lang="en-US" sz="2500" baseline="30000" dirty="0"/>
              <a:t>-    </a:t>
            </a:r>
            <a:r>
              <a:rPr lang="en-US" sz="2500" dirty="0">
                <a:sym typeface="Wingdings" panose="05000000000000000000" pitchFamily="2" charset="2"/>
              </a:rPr>
              <a:t></a:t>
            </a:r>
            <a:endParaRPr lang="en-US" sz="2500" dirty="0"/>
          </a:p>
        </p:txBody>
      </p:sp>
      <p:sp>
        <p:nvSpPr>
          <p:cNvPr id="18" name="TextBox 17"/>
          <p:cNvSpPr txBox="1"/>
          <p:nvPr/>
        </p:nvSpPr>
        <p:spPr>
          <a:xfrm>
            <a:off x="5724525" y="4851465"/>
            <a:ext cx="609600" cy="369332"/>
          </a:xfrm>
          <a:prstGeom prst="rect">
            <a:avLst/>
          </a:prstGeom>
          <a:noFill/>
        </p:spPr>
        <p:txBody>
          <a:bodyPr wrap="square" rtlCol="0">
            <a:spAutoFit/>
          </a:bodyPr>
          <a:lstStyle/>
          <a:p>
            <a:r>
              <a:rPr lang="en-US" dirty="0"/>
              <a:t>Pb</a:t>
            </a:r>
            <a:r>
              <a:rPr lang="en-US" baseline="30000" dirty="0"/>
              <a:t>2+</a:t>
            </a:r>
          </a:p>
        </p:txBody>
      </p:sp>
      <p:cxnSp>
        <p:nvCxnSpPr>
          <p:cNvPr id="21" name="Straight Connector 20"/>
          <p:cNvCxnSpPr/>
          <p:nvPr/>
        </p:nvCxnSpPr>
        <p:spPr>
          <a:xfrm>
            <a:off x="5462362" y="5036131"/>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6257925" y="5030297"/>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16200000">
            <a:off x="5829300" y="5302831"/>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16200000">
            <a:off x="5829300" y="4746690"/>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25" name="Right Bracket 24"/>
          <p:cNvSpPr/>
          <p:nvPr/>
        </p:nvSpPr>
        <p:spPr>
          <a:xfrm>
            <a:off x="7162349" y="3918466"/>
            <a:ext cx="45719" cy="2231639"/>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Left Bracket 25"/>
          <p:cNvSpPr/>
          <p:nvPr/>
        </p:nvSpPr>
        <p:spPr>
          <a:xfrm>
            <a:off x="4945381" y="3918466"/>
            <a:ext cx="45719" cy="2307839"/>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7185208" y="3733800"/>
            <a:ext cx="457200" cy="369332"/>
          </a:xfrm>
          <a:prstGeom prst="rect">
            <a:avLst/>
          </a:prstGeom>
          <a:noFill/>
        </p:spPr>
        <p:txBody>
          <a:bodyPr wrap="square" rtlCol="0">
            <a:spAutoFit/>
          </a:bodyPr>
          <a:lstStyle/>
          <a:p>
            <a:r>
              <a:rPr lang="en-US" dirty="0"/>
              <a:t>2-</a:t>
            </a:r>
          </a:p>
        </p:txBody>
      </p:sp>
      <p:sp>
        <p:nvSpPr>
          <p:cNvPr id="29" name="TextBox 28"/>
          <p:cNvSpPr txBox="1"/>
          <p:nvPr/>
        </p:nvSpPr>
        <p:spPr>
          <a:xfrm>
            <a:off x="4886324" y="4789474"/>
            <a:ext cx="790576" cy="430887"/>
          </a:xfrm>
          <a:prstGeom prst="rect">
            <a:avLst/>
          </a:prstGeom>
          <a:noFill/>
        </p:spPr>
        <p:txBody>
          <a:bodyPr wrap="square" rtlCol="0">
            <a:spAutoFit/>
          </a:bodyPr>
          <a:lstStyle/>
          <a:p>
            <a:r>
              <a:rPr lang="en-US" sz="2200" dirty="0"/>
              <a:t>OH</a:t>
            </a:r>
            <a:r>
              <a:rPr lang="en-US" sz="2200" baseline="30000" dirty="0"/>
              <a:t>- </a:t>
            </a:r>
            <a:endParaRPr lang="en-US" sz="2200" dirty="0"/>
          </a:p>
        </p:txBody>
      </p:sp>
      <p:sp>
        <p:nvSpPr>
          <p:cNvPr id="30" name="TextBox 29"/>
          <p:cNvSpPr txBox="1"/>
          <p:nvPr/>
        </p:nvSpPr>
        <p:spPr>
          <a:xfrm>
            <a:off x="7543800" y="4552850"/>
            <a:ext cx="1476376" cy="861774"/>
          </a:xfrm>
          <a:prstGeom prst="rect">
            <a:avLst/>
          </a:prstGeom>
          <a:noFill/>
        </p:spPr>
        <p:txBody>
          <a:bodyPr wrap="square" rtlCol="0">
            <a:spAutoFit/>
          </a:bodyPr>
          <a:lstStyle/>
          <a:p>
            <a:r>
              <a:rPr lang="en-US" sz="2500" dirty="0"/>
              <a:t>+   2H</a:t>
            </a:r>
            <a:r>
              <a:rPr lang="en-US" sz="2500" baseline="-25000" dirty="0"/>
              <a:t>2</a:t>
            </a:r>
            <a:r>
              <a:rPr lang="en-US" sz="2500" dirty="0"/>
              <a:t>O  +   2Br</a:t>
            </a:r>
            <a:r>
              <a:rPr lang="en-US" sz="2500" baseline="30000" dirty="0"/>
              <a:t>- </a:t>
            </a:r>
            <a:endParaRPr lang="en-US" sz="2500" dirty="0"/>
          </a:p>
        </p:txBody>
      </p:sp>
      <p:sp>
        <p:nvSpPr>
          <p:cNvPr id="31" name="TextBox 30"/>
          <p:cNvSpPr txBox="1"/>
          <p:nvPr/>
        </p:nvSpPr>
        <p:spPr>
          <a:xfrm>
            <a:off x="5676899" y="5410200"/>
            <a:ext cx="790576" cy="430887"/>
          </a:xfrm>
          <a:prstGeom prst="rect">
            <a:avLst/>
          </a:prstGeom>
          <a:noFill/>
        </p:spPr>
        <p:txBody>
          <a:bodyPr wrap="square" rtlCol="0">
            <a:spAutoFit/>
          </a:bodyPr>
          <a:lstStyle/>
          <a:p>
            <a:r>
              <a:rPr lang="en-US" sz="2200" dirty="0"/>
              <a:t>OH</a:t>
            </a:r>
            <a:r>
              <a:rPr lang="en-US" sz="2200" baseline="30000" dirty="0"/>
              <a:t>- </a:t>
            </a:r>
            <a:endParaRPr lang="en-US" sz="2200" dirty="0"/>
          </a:p>
        </p:txBody>
      </p:sp>
      <p:sp>
        <p:nvSpPr>
          <p:cNvPr id="32" name="TextBox 31"/>
          <p:cNvSpPr txBox="1"/>
          <p:nvPr/>
        </p:nvSpPr>
        <p:spPr>
          <a:xfrm>
            <a:off x="5676899" y="4191000"/>
            <a:ext cx="790576" cy="430887"/>
          </a:xfrm>
          <a:prstGeom prst="rect">
            <a:avLst/>
          </a:prstGeom>
          <a:noFill/>
        </p:spPr>
        <p:txBody>
          <a:bodyPr wrap="square" rtlCol="0">
            <a:spAutoFit/>
          </a:bodyPr>
          <a:lstStyle/>
          <a:p>
            <a:r>
              <a:rPr lang="en-US" sz="2200" dirty="0"/>
              <a:t>OH</a:t>
            </a:r>
            <a:r>
              <a:rPr lang="en-US" sz="2200" baseline="30000" dirty="0"/>
              <a:t>- </a:t>
            </a:r>
            <a:endParaRPr lang="en-US" sz="2200" dirty="0"/>
          </a:p>
        </p:txBody>
      </p:sp>
      <p:sp>
        <p:nvSpPr>
          <p:cNvPr id="33" name="TextBox 32"/>
          <p:cNvSpPr txBox="1"/>
          <p:nvPr/>
        </p:nvSpPr>
        <p:spPr>
          <a:xfrm>
            <a:off x="6515099" y="4826913"/>
            <a:ext cx="790576" cy="430887"/>
          </a:xfrm>
          <a:prstGeom prst="rect">
            <a:avLst/>
          </a:prstGeom>
          <a:noFill/>
        </p:spPr>
        <p:txBody>
          <a:bodyPr wrap="square" rtlCol="0">
            <a:spAutoFit/>
          </a:bodyPr>
          <a:lstStyle/>
          <a:p>
            <a:r>
              <a:rPr lang="en-US" sz="2200" dirty="0"/>
              <a:t>OH</a:t>
            </a:r>
            <a:r>
              <a:rPr lang="en-US" sz="2200" baseline="30000" dirty="0"/>
              <a:t>- </a:t>
            </a:r>
            <a:endParaRPr lang="en-US" sz="2200" dirty="0"/>
          </a:p>
        </p:txBody>
      </p:sp>
    </p:spTree>
    <p:extLst>
      <p:ext uri="{BB962C8B-B14F-4D97-AF65-F5344CB8AC3E}">
        <p14:creationId xmlns:p14="http://schemas.microsoft.com/office/powerpoint/2010/main" val="1190152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Complex Reactions</a:t>
            </a:r>
            <a:br>
              <a:rPr lang="en-US" dirty="0"/>
            </a:br>
            <a:r>
              <a:rPr lang="en-US" dirty="0"/>
              <a:t>	</a:t>
            </a:r>
            <a:r>
              <a:rPr lang="en-US" sz="3300" dirty="0"/>
              <a:t>Reaction of Cobalt and Ammonium Hydroxide</a:t>
            </a:r>
          </a:p>
        </p:txBody>
      </p:sp>
      <p:sp>
        <p:nvSpPr>
          <p:cNvPr id="3" name="Content Placeholder 2"/>
          <p:cNvSpPr>
            <a:spLocks noGrp="1"/>
          </p:cNvSpPr>
          <p:nvPr>
            <p:ph idx="1"/>
          </p:nvPr>
        </p:nvSpPr>
        <p:spPr/>
        <p:txBody>
          <a:bodyPr>
            <a:normAutofit fontScale="62500" lnSpcReduction="20000"/>
          </a:bodyPr>
          <a:lstStyle/>
          <a:p>
            <a:r>
              <a:rPr lang="en-US" dirty="0"/>
              <a:t> </a:t>
            </a:r>
            <a:r>
              <a:rPr lang="en-US" b="1" dirty="0"/>
              <a:t>Reaction: </a:t>
            </a:r>
            <a:r>
              <a:rPr lang="en-US" dirty="0"/>
              <a:t>0.1M Cobalt Nitrate (Co(NO3)2) is mixed with 1M Aqueous Ammonia (NH4OH, NH3). The </a:t>
            </a:r>
            <a:r>
              <a:rPr lang="en-US" dirty="0" err="1"/>
              <a:t>Aquocomplex</a:t>
            </a:r>
            <a:r>
              <a:rPr lang="en-US" dirty="0"/>
              <a:t> of lead is [Co(H2O)6]2+</a:t>
            </a:r>
          </a:p>
          <a:p>
            <a:r>
              <a:rPr lang="en-US" dirty="0"/>
              <a:t> </a:t>
            </a:r>
            <a:r>
              <a:rPr lang="en-US" b="1" dirty="0"/>
              <a:t>Observations:</a:t>
            </a:r>
            <a:r>
              <a:rPr lang="en-US" dirty="0"/>
              <a:t> Cobalt Nitrate is Red and Ammonia is colorless. When mixed, a pink solid initially forms before dissolving and the solution turning yellow</a:t>
            </a:r>
          </a:p>
          <a:p>
            <a:r>
              <a:rPr lang="en-US" dirty="0"/>
              <a:t> </a:t>
            </a:r>
            <a:r>
              <a:rPr lang="en-US" b="1" dirty="0"/>
              <a:t>Complexation:</a:t>
            </a:r>
            <a:r>
              <a:rPr lang="en-US" dirty="0"/>
              <a:t> </a:t>
            </a:r>
          </a:p>
          <a:p>
            <a:pPr lvl="1"/>
            <a:r>
              <a:rPr lang="en-US" dirty="0"/>
              <a:t> There are two reactions that are happening one after the other. The first is the formation of the pink solid. The second is the pink solid dissolving and the solution turning yellow</a:t>
            </a:r>
          </a:p>
          <a:p>
            <a:pPr lvl="1"/>
            <a:r>
              <a:rPr lang="en-US" dirty="0"/>
              <a:t> In ammonia solutions there are two different ligands present. Hydroxide (OH-) and Ammonia (NH3)</a:t>
            </a:r>
          </a:p>
          <a:p>
            <a:pPr lvl="1"/>
            <a:r>
              <a:rPr lang="en-US" dirty="0"/>
              <a:t> Determining which is involved in the reaction is based on the charge. Hydroxide is an anion and will lower the overall charge of the complex. Ammonia is neutral and will not contribute to the charge of the complex</a:t>
            </a:r>
          </a:p>
          <a:p>
            <a:pPr lvl="1"/>
            <a:r>
              <a:rPr lang="en-US" dirty="0"/>
              <a:t> The initial solid formation means that the complex charge goes from the positively charged </a:t>
            </a:r>
            <a:r>
              <a:rPr lang="en-US" dirty="0" err="1"/>
              <a:t>aquocomplex</a:t>
            </a:r>
            <a:r>
              <a:rPr lang="en-US" dirty="0"/>
              <a:t>, to a neutral charged solid. </a:t>
            </a:r>
          </a:p>
          <a:p>
            <a:pPr lvl="1"/>
            <a:r>
              <a:rPr lang="en-US" dirty="0"/>
              <a:t> Since Cobalt is a 2+ Ion, that means that 2 hydroxides were needed to form the cobalt hydroxide complex.</a:t>
            </a:r>
          </a:p>
          <a:p>
            <a:pPr lvl="1"/>
            <a:r>
              <a:rPr lang="en-US" dirty="0"/>
              <a:t> All coordination sites still must be filled, and since OH- only takes up two spaces, the other 4 coordination sites still contain the starting water, giving a complex of [Co(H2O)4(OH)2](s)</a:t>
            </a:r>
          </a:p>
          <a:p>
            <a:endParaRPr lang="en-US" dirty="0"/>
          </a:p>
        </p:txBody>
      </p:sp>
    </p:spTree>
    <p:extLst>
      <p:ext uri="{BB962C8B-B14F-4D97-AF65-F5344CB8AC3E}">
        <p14:creationId xmlns:p14="http://schemas.microsoft.com/office/powerpoint/2010/main" val="328579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18678"/>
            <a:ext cx="8229600" cy="4389120"/>
          </a:xfrm>
        </p:spPr>
        <p:txBody>
          <a:bodyPr>
            <a:normAutofit/>
          </a:bodyPr>
          <a:lstStyle/>
          <a:p>
            <a:r>
              <a:rPr lang="en-US" sz="2400" b="1" dirty="0"/>
              <a:t>Reaction: </a:t>
            </a:r>
            <a:r>
              <a:rPr lang="en-US" sz="2400" dirty="0"/>
              <a:t>0.1M Cobalt Nitrate (Co(NO</a:t>
            </a:r>
            <a:r>
              <a:rPr lang="en-US" sz="2400" baseline="-25000" dirty="0"/>
              <a:t>3</a:t>
            </a:r>
            <a:r>
              <a:rPr lang="en-US" sz="2400" dirty="0"/>
              <a:t>)</a:t>
            </a:r>
            <a:r>
              <a:rPr lang="en-US" sz="2400" baseline="-25000" dirty="0"/>
              <a:t>2</a:t>
            </a:r>
            <a:r>
              <a:rPr lang="en-US" sz="2400" dirty="0"/>
              <a:t>) is mixed with 1M Aqueous Ammonia (NH</a:t>
            </a:r>
            <a:r>
              <a:rPr lang="en-US" sz="2400" baseline="-25000" dirty="0"/>
              <a:t>4</a:t>
            </a:r>
            <a:r>
              <a:rPr lang="en-US" sz="2400" dirty="0"/>
              <a:t>OH, NH</a:t>
            </a:r>
            <a:r>
              <a:rPr lang="en-US" sz="2400" baseline="-25000" dirty="0"/>
              <a:t>3</a:t>
            </a:r>
            <a:r>
              <a:rPr lang="en-US" sz="2400" dirty="0"/>
              <a:t>). The </a:t>
            </a:r>
            <a:r>
              <a:rPr lang="en-US" sz="2400" dirty="0" err="1"/>
              <a:t>Aquocomplex</a:t>
            </a:r>
            <a:r>
              <a:rPr lang="en-US" sz="2400" dirty="0"/>
              <a:t> of lead is [Co(H</a:t>
            </a:r>
            <a:r>
              <a:rPr lang="en-US" sz="2400" baseline="-25000" dirty="0"/>
              <a:t>2</a:t>
            </a:r>
            <a:r>
              <a:rPr lang="en-US" sz="2400" dirty="0"/>
              <a:t>O)</a:t>
            </a:r>
            <a:r>
              <a:rPr lang="en-US" sz="2400" baseline="-25000" dirty="0"/>
              <a:t>6</a:t>
            </a:r>
            <a:r>
              <a:rPr lang="en-US" sz="2400" dirty="0"/>
              <a:t>]</a:t>
            </a:r>
            <a:r>
              <a:rPr lang="en-US" sz="2400" baseline="30000" dirty="0"/>
              <a:t>2+   </a:t>
            </a:r>
            <a:r>
              <a:rPr lang="en-US" sz="2400" b="1" dirty="0"/>
              <a:t>Part 1: Formation of Pink Solid</a:t>
            </a:r>
          </a:p>
          <a:p>
            <a:r>
              <a:rPr lang="en-US" sz="2400" dirty="0"/>
              <a:t> [Co(H</a:t>
            </a:r>
            <a:r>
              <a:rPr lang="en-US" sz="2400" baseline="-25000" dirty="0"/>
              <a:t>2</a:t>
            </a:r>
            <a:r>
              <a:rPr lang="en-US" sz="2400" dirty="0"/>
              <a:t>O)</a:t>
            </a:r>
            <a:r>
              <a:rPr lang="en-US" sz="2400" baseline="-25000" dirty="0"/>
              <a:t>6</a:t>
            </a:r>
            <a:r>
              <a:rPr lang="en-US" sz="2400" dirty="0"/>
              <a:t>]</a:t>
            </a:r>
            <a:r>
              <a:rPr lang="en-US" sz="2400" baseline="30000" dirty="0"/>
              <a:t>2+  </a:t>
            </a:r>
            <a:r>
              <a:rPr lang="en-US" sz="2400" dirty="0"/>
              <a:t>+  2OH</a:t>
            </a:r>
            <a:r>
              <a:rPr lang="en-US" sz="2400" baseline="30000" dirty="0"/>
              <a:t>- </a:t>
            </a:r>
            <a:r>
              <a:rPr lang="en-US" sz="2400" dirty="0"/>
              <a:t> </a:t>
            </a:r>
            <a:r>
              <a:rPr lang="en-US" sz="2400" dirty="0">
                <a:sym typeface="Wingdings" panose="05000000000000000000" pitchFamily="2" charset="2"/>
              </a:rPr>
              <a:t>  [Co(H</a:t>
            </a:r>
            <a:r>
              <a:rPr lang="en-US" sz="2400" baseline="-25000" dirty="0">
                <a:sym typeface="Wingdings" panose="05000000000000000000" pitchFamily="2" charset="2"/>
              </a:rPr>
              <a:t>2</a:t>
            </a:r>
            <a:r>
              <a:rPr lang="en-US" sz="2400" dirty="0">
                <a:sym typeface="Wingdings" panose="05000000000000000000" pitchFamily="2" charset="2"/>
              </a:rPr>
              <a:t>O)</a:t>
            </a:r>
            <a:r>
              <a:rPr lang="en-US" sz="2400" baseline="-25000" dirty="0">
                <a:sym typeface="Wingdings" panose="05000000000000000000" pitchFamily="2" charset="2"/>
              </a:rPr>
              <a:t>4</a:t>
            </a:r>
            <a:r>
              <a:rPr lang="en-US" sz="2400" dirty="0">
                <a:sym typeface="Wingdings" panose="05000000000000000000" pitchFamily="2" charset="2"/>
              </a:rPr>
              <a:t>(OH)</a:t>
            </a:r>
            <a:r>
              <a:rPr lang="en-US" sz="2400" baseline="-25000" dirty="0">
                <a:sym typeface="Wingdings" panose="05000000000000000000" pitchFamily="2" charset="2"/>
              </a:rPr>
              <a:t>2</a:t>
            </a:r>
            <a:r>
              <a:rPr lang="en-US" sz="2400" dirty="0">
                <a:sym typeface="Wingdings" panose="05000000000000000000" pitchFamily="2" charset="2"/>
              </a:rPr>
              <a:t>]</a:t>
            </a:r>
            <a:r>
              <a:rPr lang="en-US" sz="2400" baseline="-25000" dirty="0">
                <a:sym typeface="Wingdings" panose="05000000000000000000" pitchFamily="2" charset="2"/>
              </a:rPr>
              <a:t>(s)  </a:t>
            </a:r>
            <a:r>
              <a:rPr lang="en-US" sz="2400" dirty="0">
                <a:sym typeface="Wingdings" panose="05000000000000000000" pitchFamily="2" charset="2"/>
              </a:rPr>
              <a:t>+  2H</a:t>
            </a:r>
            <a:r>
              <a:rPr lang="en-US" sz="2400" baseline="-25000" dirty="0">
                <a:sym typeface="Wingdings" panose="05000000000000000000" pitchFamily="2" charset="2"/>
              </a:rPr>
              <a:t>2</a:t>
            </a:r>
            <a:r>
              <a:rPr lang="en-US" sz="2400" dirty="0">
                <a:sym typeface="Wingdings" panose="05000000000000000000" pitchFamily="2" charset="2"/>
              </a:rPr>
              <a:t>O</a:t>
            </a:r>
            <a:endParaRPr lang="en-US" sz="2400" dirty="0"/>
          </a:p>
        </p:txBody>
      </p:sp>
      <p:sp>
        <p:nvSpPr>
          <p:cNvPr id="4" name="TextBox 3"/>
          <p:cNvSpPr txBox="1"/>
          <p:nvPr/>
        </p:nvSpPr>
        <p:spPr>
          <a:xfrm>
            <a:off x="2841807" y="4893090"/>
            <a:ext cx="1857375" cy="477054"/>
          </a:xfrm>
          <a:prstGeom prst="rect">
            <a:avLst/>
          </a:prstGeom>
          <a:noFill/>
        </p:spPr>
        <p:txBody>
          <a:bodyPr wrap="square" rtlCol="0">
            <a:spAutoFit/>
          </a:bodyPr>
          <a:lstStyle/>
          <a:p>
            <a:r>
              <a:rPr lang="en-US" sz="2500" dirty="0"/>
              <a:t>+   2OH</a:t>
            </a:r>
            <a:r>
              <a:rPr lang="en-US" sz="2500" baseline="30000" dirty="0"/>
              <a:t>-    </a:t>
            </a:r>
            <a:r>
              <a:rPr lang="en-US" sz="2500" dirty="0">
                <a:sym typeface="Wingdings" panose="05000000000000000000" pitchFamily="2" charset="2"/>
              </a:rPr>
              <a:t></a:t>
            </a:r>
            <a:endParaRPr lang="en-US" sz="2500" dirty="0"/>
          </a:p>
        </p:txBody>
      </p:sp>
      <p:grpSp>
        <p:nvGrpSpPr>
          <p:cNvPr id="5" name="Group 4"/>
          <p:cNvGrpSpPr/>
          <p:nvPr/>
        </p:nvGrpSpPr>
        <p:grpSpPr>
          <a:xfrm>
            <a:off x="304800" y="3940561"/>
            <a:ext cx="2514149" cy="2231639"/>
            <a:chOff x="552450" y="3639001"/>
            <a:chExt cx="2514149" cy="2231639"/>
          </a:xfrm>
        </p:grpSpPr>
        <p:sp>
          <p:nvSpPr>
            <p:cNvPr id="6" name="TextBox 5"/>
            <p:cNvSpPr txBox="1"/>
            <p:nvPr/>
          </p:nvSpPr>
          <p:spPr>
            <a:xfrm>
              <a:off x="1523999" y="4572000"/>
              <a:ext cx="695325" cy="369332"/>
            </a:xfrm>
            <a:prstGeom prst="rect">
              <a:avLst/>
            </a:prstGeom>
            <a:noFill/>
          </p:spPr>
          <p:txBody>
            <a:bodyPr wrap="square" rtlCol="0">
              <a:spAutoFit/>
            </a:bodyPr>
            <a:lstStyle/>
            <a:p>
              <a:r>
                <a:rPr lang="en-US" dirty="0"/>
                <a:t>Co</a:t>
              </a:r>
              <a:r>
                <a:rPr lang="en-US" baseline="30000" dirty="0"/>
                <a:t>2+</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53" y="3639001"/>
              <a:ext cx="1158144" cy="847274"/>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7015" y="4327195"/>
              <a:ext cx="1158144" cy="847274"/>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63890" y="4333029"/>
              <a:ext cx="1158144" cy="847274"/>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185006" y="5023366"/>
              <a:ext cx="1158144" cy="847274"/>
            </a:xfrm>
            <a:prstGeom prst="rect">
              <a:avLst/>
            </a:prstGeom>
          </p:spPr>
        </p:pic>
        <p:cxnSp>
          <p:nvCxnSpPr>
            <p:cNvPr id="11" name="Straight Connector 10"/>
            <p:cNvCxnSpPr/>
            <p:nvPr/>
          </p:nvCxnSpPr>
          <p:spPr>
            <a:xfrm>
              <a:off x="1261837" y="47566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057400" y="4750832"/>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a:off x="1628775" y="50233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a:off x="1628775" y="4467225"/>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15" name="Right Bracket 14"/>
          <p:cNvSpPr/>
          <p:nvPr/>
        </p:nvSpPr>
        <p:spPr>
          <a:xfrm>
            <a:off x="2818948" y="3622946"/>
            <a:ext cx="45719" cy="2808677"/>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ket 15"/>
          <p:cNvSpPr/>
          <p:nvPr/>
        </p:nvSpPr>
        <p:spPr>
          <a:xfrm>
            <a:off x="152400" y="3706826"/>
            <a:ext cx="45719" cy="2724797"/>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2895600" y="3429000"/>
            <a:ext cx="457200" cy="369332"/>
          </a:xfrm>
          <a:prstGeom prst="rect">
            <a:avLst/>
          </a:prstGeom>
          <a:noFill/>
        </p:spPr>
        <p:txBody>
          <a:bodyPr wrap="square" rtlCol="0">
            <a:spAutoFit/>
          </a:bodyPr>
          <a:lstStyle/>
          <a:p>
            <a:r>
              <a:rPr lang="en-US" dirty="0"/>
              <a:t>2+</a:t>
            </a:r>
          </a:p>
        </p:txBody>
      </p:sp>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7917229" y="4699819"/>
            <a:ext cx="1158144" cy="847274"/>
          </a:xfrm>
          <a:prstGeom prst="rect">
            <a:avLst/>
          </a:prstGeom>
        </p:spPr>
      </p:pic>
      <p:sp>
        <p:nvSpPr>
          <p:cNvPr id="28" name="TextBox 27"/>
          <p:cNvSpPr txBox="1"/>
          <p:nvPr/>
        </p:nvSpPr>
        <p:spPr>
          <a:xfrm>
            <a:off x="7315200" y="6184415"/>
            <a:ext cx="533400" cy="277485"/>
          </a:xfrm>
          <a:prstGeom prst="rect">
            <a:avLst/>
          </a:prstGeom>
          <a:noFill/>
        </p:spPr>
        <p:txBody>
          <a:bodyPr wrap="square" rtlCol="0">
            <a:spAutoFit/>
          </a:bodyPr>
          <a:lstStyle/>
          <a:p>
            <a:r>
              <a:rPr lang="en-US" dirty="0"/>
              <a:t>(s)</a:t>
            </a:r>
          </a:p>
        </p:txBody>
      </p:sp>
      <p:sp>
        <p:nvSpPr>
          <p:cNvPr id="29" name="TextBox 28"/>
          <p:cNvSpPr txBox="1"/>
          <p:nvPr/>
        </p:nvSpPr>
        <p:spPr>
          <a:xfrm>
            <a:off x="7343775" y="3459176"/>
            <a:ext cx="457200" cy="369332"/>
          </a:xfrm>
          <a:prstGeom prst="rect">
            <a:avLst/>
          </a:prstGeom>
          <a:noFill/>
        </p:spPr>
        <p:txBody>
          <a:bodyPr wrap="square" rtlCol="0">
            <a:spAutoFit/>
          </a:bodyPr>
          <a:lstStyle/>
          <a:p>
            <a:r>
              <a:rPr lang="en-US" dirty="0"/>
              <a:t>0</a:t>
            </a:r>
          </a:p>
        </p:txBody>
      </p:sp>
      <p:sp>
        <p:nvSpPr>
          <p:cNvPr id="32" name="TextBox 31"/>
          <p:cNvSpPr txBox="1"/>
          <p:nvPr/>
        </p:nvSpPr>
        <p:spPr>
          <a:xfrm>
            <a:off x="7456221" y="4847872"/>
            <a:ext cx="968193" cy="477054"/>
          </a:xfrm>
          <a:prstGeom prst="rect">
            <a:avLst/>
          </a:prstGeom>
          <a:noFill/>
        </p:spPr>
        <p:txBody>
          <a:bodyPr wrap="square" rtlCol="0">
            <a:spAutoFit/>
          </a:bodyPr>
          <a:lstStyle/>
          <a:p>
            <a:r>
              <a:rPr lang="en-US" sz="2500" dirty="0"/>
              <a:t>+ 2</a:t>
            </a:r>
          </a:p>
        </p:txBody>
      </p:sp>
      <p:cxnSp>
        <p:nvCxnSpPr>
          <p:cNvPr id="33" name="Straight Connector 32"/>
          <p:cNvCxnSpPr>
            <a:endCxn id="7" idx="3"/>
          </p:cNvCxnSpPr>
          <p:nvPr/>
        </p:nvCxnSpPr>
        <p:spPr>
          <a:xfrm flipV="1">
            <a:off x="1695450" y="4364198"/>
            <a:ext cx="436197" cy="51260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10" idx="3"/>
          </p:cNvCxnSpPr>
          <p:nvPr/>
        </p:nvCxnSpPr>
        <p:spPr>
          <a:xfrm flipV="1">
            <a:off x="937356" y="5193823"/>
            <a:ext cx="481868" cy="55474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3239636">
            <a:off x="149365" y="5526521"/>
            <a:ext cx="1158144" cy="847274"/>
          </a:xfrm>
          <a:prstGeom prst="rect">
            <a:avLst/>
          </a:prstGeom>
        </p:spPr>
      </p:pic>
      <p:pic>
        <p:nvPicPr>
          <p:cNvPr id="37" name="Picture 3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532818">
            <a:off x="1734655" y="3755830"/>
            <a:ext cx="1158144" cy="847274"/>
          </a:xfrm>
          <a:prstGeom prst="rect">
            <a:avLst/>
          </a:prstGeom>
        </p:spPr>
      </p:pic>
      <p:grpSp>
        <p:nvGrpSpPr>
          <p:cNvPr id="43" name="Group 42"/>
          <p:cNvGrpSpPr/>
          <p:nvPr/>
        </p:nvGrpSpPr>
        <p:grpSpPr>
          <a:xfrm>
            <a:off x="4841713" y="3940561"/>
            <a:ext cx="2514149" cy="2231639"/>
            <a:chOff x="552450" y="3639001"/>
            <a:chExt cx="2514149" cy="2231639"/>
          </a:xfrm>
        </p:grpSpPr>
        <p:sp>
          <p:nvSpPr>
            <p:cNvPr id="44" name="TextBox 43"/>
            <p:cNvSpPr txBox="1"/>
            <p:nvPr/>
          </p:nvSpPr>
          <p:spPr>
            <a:xfrm>
              <a:off x="1523999" y="4572000"/>
              <a:ext cx="695325" cy="369332"/>
            </a:xfrm>
            <a:prstGeom prst="rect">
              <a:avLst/>
            </a:prstGeom>
            <a:noFill/>
          </p:spPr>
          <p:txBody>
            <a:bodyPr wrap="square" rtlCol="0">
              <a:spAutoFit/>
            </a:bodyPr>
            <a:lstStyle/>
            <a:p>
              <a:r>
                <a:rPr lang="en-US" dirty="0"/>
                <a:t>Co</a:t>
              </a:r>
              <a:r>
                <a:rPr lang="en-US" baseline="30000" dirty="0"/>
                <a:t>2+</a:t>
              </a:r>
            </a:p>
          </p:txBody>
        </p:sp>
        <p:pic>
          <p:nvPicPr>
            <p:cNvPr id="45" name="Picture 4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53" y="3639001"/>
              <a:ext cx="1158144" cy="847274"/>
            </a:xfrm>
            <a:prstGeom prst="rect">
              <a:avLst/>
            </a:prstGeom>
          </p:spPr>
        </p:pic>
        <p:pic>
          <p:nvPicPr>
            <p:cNvPr id="46" name="Picture 4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7015" y="4327195"/>
              <a:ext cx="1158144" cy="847274"/>
            </a:xfrm>
            <a:prstGeom prst="rect">
              <a:avLst/>
            </a:prstGeom>
          </p:spPr>
        </p:pic>
        <p:pic>
          <p:nvPicPr>
            <p:cNvPr id="47" name="Picture 4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63890" y="4333029"/>
              <a:ext cx="1158144" cy="847274"/>
            </a:xfrm>
            <a:prstGeom prst="rect">
              <a:avLst/>
            </a:prstGeom>
          </p:spPr>
        </p:pic>
        <p:pic>
          <p:nvPicPr>
            <p:cNvPr id="48" name="Picture 4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185006" y="5023366"/>
              <a:ext cx="1158144" cy="847274"/>
            </a:xfrm>
            <a:prstGeom prst="rect">
              <a:avLst/>
            </a:prstGeom>
          </p:spPr>
        </p:pic>
        <p:cxnSp>
          <p:nvCxnSpPr>
            <p:cNvPr id="49" name="Straight Connector 48"/>
            <p:cNvCxnSpPr/>
            <p:nvPr/>
          </p:nvCxnSpPr>
          <p:spPr>
            <a:xfrm>
              <a:off x="1261837" y="47566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2057400" y="4750832"/>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a:off x="1628775" y="50233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16200000">
              <a:off x="1628775" y="4467225"/>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53" name="Right Bracket 52"/>
          <p:cNvSpPr/>
          <p:nvPr/>
        </p:nvSpPr>
        <p:spPr>
          <a:xfrm>
            <a:off x="7355861" y="3622946"/>
            <a:ext cx="45719" cy="2808677"/>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Left Bracket 53"/>
          <p:cNvSpPr/>
          <p:nvPr/>
        </p:nvSpPr>
        <p:spPr>
          <a:xfrm>
            <a:off x="4689313" y="3706826"/>
            <a:ext cx="45719" cy="2724797"/>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p:cNvCxnSpPr>
            <a:endCxn id="45" idx="3"/>
          </p:cNvCxnSpPr>
          <p:nvPr/>
        </p:nvCxnSpPr>
        <p:spPr>
          <a:xfrm flipV="1">
            <a:off x="6232363" y="4364198"/>
            <a:ext cx="436197" cy="51260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48" idx="3"/>
          </p:cNvCxnSpPr>
          <p:nvPr/>
        </p:nvCxnSpPr>
        <p:spPr>
          <a:xfrm flipV="1">
            <a:off x="5474269" y="5193823"/>
            <a:ext cx="481868" cy="55474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5021818" y="5677484"/>
            <a:ext cx="758078" cy="406265"/>
          </a:xfrm>
          <a:prstGeom prst="rect">
            <a:avLst/>
          </a:prstGeom>
          <a:noFill/>
        </p:spPr>
        <p:txBody>
          <a:bodyPr wrap="square" rtlCol="0">
            <a:spAutoFit/>
          </a:bodyPr>
          <a:lstStyle/>
          <a:p>
            <a:r>
              <a:rPr lang="en-US" dirty="0"/>
              <a:t>HO</a:t>
            </a:r>
            <a:r>
              <a:rPr lang="en-US" baseline="30000" dirty="0"/>
              <a:t>-</a:t>
            </a:r>
          </a:p>
        </p:txBody>
      </p:sp>
      <p:sp>
        <p:nvSpPr>
          <p:cNvPr id="63" name="TextBox 62"/>
          <p:cNvSpPr txBox="1"/>
          <p:nvPr/>
        </p:nvSpPr>
        <p:spPr>
          <a:xfrm>
            <a:off x="6582731" y="4098900"/>
            <a:ext cx="833886" cy="369332"/>
          </a:xfrm>
          <a:prstGeom prst="rect">
            <a:avLst/>
          </a:prstGeom>
          <a:noFill/>
        </p:spPr>
        <p:txBody>
          <a:bodyPr wrap="square" rtlCol="0">
            <a:spAutoFit/>
          </a:bodyPr>
          <a:lstStyle/>
          <a:p>
            <a:r>
              <a:rPr lang="en-US" dirty="0"/>
              <a:t>OH</a:t>
            </a:r>
            <a:r>
              <a:rPr lang="en-US" baseline="30000" dirty="0"/>
              <a:t>-</a:t>
            </a:r>
          </a:p>
        </p:txBody>
      </p:sp>
      <p:sp>
        <p:nvSpPr>
          <p:cNvPr id="64" name="Title 1"/>
          <p:cNvSpPr>
            <a:spLocks noGrp="1"/>
          </p:cNvSpPr>
          <p:nvPr>
            <p:ph type="title"/>
          </p:nvPr>
        </p:nvSpPr>
        <p:spPr/>
        <p:txBody>
          <a:bodyPr>
            <a:normAutofit fontScale="90000"/>
          </a:bodyPr>
          <a:lstStyle/>
          <a:p>
            <a:r>
              <a:rPr lang="en-US" dirty="0"/>
              <a:t>Complex Reactions</a:t>
            </a:r>
            <a:br>
              <a:rPr lang="en-US" dirty="0"/>
            </a:br>
            <a:r>
              <a:rPr lang="en-US" dirty="0"/>
              <a:t>	</a:t>
            </a:r>
            <a:r>
              <a:rPr lang="en-US" sz="3300" dirty="0"/>
              <a:t>Reaction of Cobalt and Ammonium Hydroxide</a:t>
            </a:r>
          </a:p>
        </p:txBody>
      </p:sp>
    </p:spTree>
    <p:extLst>
      <p:ext uri="{BB962C8B-B14F-4D97-AF65-F5344CB8AC3E}">
        <p14:creationId xmlns:p14="http://schemas.microsoft.com/office/powerpoint/2010/main" val="2190948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b="1" dirty="0"/>
              <a:t> Part 2: Pink Solid dissolves, solution turns Yellow</a:t>
            </a:r>
          </a:p>
          <a:p>
            <a:r>
              <a:rPr lang="en-US" dirty="0"/>
              <a:t> Complexation:</a:t>
            </a:r>
          </a:p>
          <a:p>
            <a:pPr lvl="1"/>
            <a:r>
              <a:rPr lang="en-US" dirty="0"/>
              <a:t> Starting with the solid Cobalt Hydroxide complex [Co(H2O)4(OH)2](s), there are two things that happen, not only does the solid dissolve, but there is a change in color. </a:t>
            </a:r>
          </a:p>
          <a:p>
            <a:pPr lvl="1"/>
            <a:r>
              <a:rPr lang="en-US" dirty="0"/>
              <a:t> This change in color indicates that the central metal ion is now bound to a different ligand, and the other ligand present is the ammonia (NH3)</a:t>
            </a:r>
          </a:p>
          <a:p>
            <a:pPr lvl="1"/>
            <a:r>
              <a:rPr lang="en-US" dirty="0"/>
              <a:t> Based on the Reactivity of transition metal ions, they have a preference for ammonia, and will only react to form a solid with hydroxide and then stop</a:t>
            </a:r>
          </a:p>
          <a:p>
            <a:pPr lvl="1"/>
            <a:r>
              <a:rPr lang="en-US" dirty="0"/>
              <a:t> The NH3 can come in and replace everything, including the OH-</a:t>
            </a:r>
          </a:p>
          <a:p>
            <a:pPr lvl="1"/>
            <a:r>
              <a:rPr lang="en-US" dirty="0"/>
              <a:t> Without the OH- present in the complex to balance the charge, the pink solid dissolves.</a:t>
            </a:r>
          </a:p>
          <a:p>
            <a:pPr lvl="1"/>
            <a:r>
              <a:rPr lang="en-US" dirty="0"/>
              <a:t> The NH3 has no charge and will not cause a solid complex to form, however NH3 will cause a color change to occur (the different orbitals of electrons will now absorb light differently causing a change in color transmitted)</a:t>
            </a:r>
          </a:p>
          <a:p>
            <a:pPr lvl="1"/>
            <a:r>
              <a:rPr lang="en-US" dirty="0"/>
              <a:t> Ammonia tends to shift the observed color to a lower wavelength</a:t>
            </a:r>
          </a:p>
          <a:p>
            <a:pPr lvl="1"/>
            <a:r>
              <a:rPr lang="en-US" dirty="0"/>
              <a:t> With the OH- and water removed from the complex, the new cobalt ammonia complex will be [Co(NH3)6]2+</a:t>
            </a:r>
          </a:p>
        </p:txBody>
      </p:sp>
      <p:sp>
        <p:nvSpPr>
          <p:cNvPr id="4" name="Title 1"/>
          <p:cNvSpPr>
            <a:spLocks noGrp="1"/>
          </p:cNvSpPr>
          <p:nvPr>
            <p:ph type="title"/>
          </p:nvPr>
        </p:nvSpPr>
        <p:spPr/>
        <p:txBody>
          <a:bodyPr>
            <a:normAutofit fontScale="90000"/>
          </a:bodyPr>
          <a:lstStyle/>
          <a:p>
            <a:r>
              <a:rPr lang="en-US" dirty="0"/>
              <a:t>Complex Reactions</a:t>
            </a:r>
            <a:br>
              <a:rPr lang="en-US" dirty="0"/>
            </a:br>
            <a:r>
              <a:rPr lang="en-US" dirty="0"/>
              <a:t>	</a:t>
            </a:r>
            <a:r>
              <a:rPr lang="en-US" sz="3300" dirty="0"/>
              <a:t>Reaction of Cobalt and Ammonium Hydroxide</a:t>
            </a:r>
          </a:p>
        </p:txBody>
      </p:sp>
    </p:spTree>
    <p:extLst>
      <p:ext uri="{BB962C8B-B14F-4D97-AF65-F5344CB8AC3E}">
        <p14:creationId xmlns:p14="http://schemas.microsoft.com/office/powerpoint/2010/main" val="6746764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35480"/>
            <a:ext cx="8229600" cy="1708362"/>
          </a:xfrm>
        </p:spPr>
        <p:txBody>
          <a:bodyPr>
            <a:normAutofit/>
          </a:bodyPr>
          <a:lstStyle/>
          <a:p>
            <a:r>
              <a:rPr lang="en-US" sz="2000" b="1" dirty="0"/>
              <a:t>Reaction: </a:t>
            </a:r>
            <a:r>
              <a:rPr lang="en-US" sz="2000" dirty="0"/>
              <a:t>0.1M Cobalt Nitrate (Co(NO</a:t>
            </a:r>
            <a:r>
              <a:rPr lang="en-US" sz="2000" baseline="-25000" dirty="0"/>
              <a:t>3</a:t>
            </a:r>
            <a:r>
              <a:rPr lang="en-US" sz="2000" dirty="0"/>
              <a:t>)</a:t>
            </a:r>
            <a:r>
              <a:rPr lang="en-US" sz="2000" baseline="-25000" dirty="0"/>
              <a:t>2</a:t>
            </a:r>
            <a:r>
              <a:rPr lang="en-US" sz="2000" dirty="0"/>
              <a:t>) is mixed with 1M Aqueous Ammonia (NH</a:t>
            </a:r>
            <a:r>
              <a:rPr lang="en-US" sz="2000" baseline="-25000" dirty="0"/>
              <a:t>4</a:t>
            </a:r>
            <a:r>
              <a:rPr lang="en-US" sz="2000" dirty="0"/>
              <a:t>OH, NH</a:t>
            </a:r>
            <a:r>
              <a:rPr lang="en-US" sz="2000" baseline="-25000" dirty="0"/>
              <a:t>3</a:t>
            </a:r>
            <a:r>
              <a:rPr lang="en-US" sz="2000" dirty="0"/>
              <a:t>). The </a:t>
            </a:r>
            <a:r>
              <a:rPr lang="en-US" sz="2000" dirty="0" err="1"/>
              <a:t>Aquocomplex</a:t>
            </a:r>
            <a:r>
              <a:rPr lang="en-US" sz="2000" dirty="0"/>
              <a:t> of lead is [Co(H</a:t>
            </a:r>
            <a:r>
              <a:rPr lang="en-US" sz="2000" baseline="-25000" dirty="0"/>
              <a:t>2</a:t>
            </a:r>
            <a:r>
              <a:rPr lang="en-US" sz="2000" dirty="0"/>
              <a:t>O)</a:t>
            </a:r>
            <a:r>
              <a:rPr lang="en-US" sz="2000" baseline="-25000" dirty="0"/>
              <a:t>6</a:t>
            </a:r>
            <a:r>
              <a:rPr lang="en-US" sz="2000" dirty="0"/>
              <a:t>]</a:t>
            </a:r>
            <a:r>
              <a:rPr lang="en-US" sz="2000" baseline="30000" dirty="0"/>
              <a:t>2+</a:t>
            </a:r>
          </a:p>
          <a:p>
            <a:r>
              <a:rPr lang="en-US" sz="2000" dirty="0"/>
              <a:t>Part 2: Pink Solid dissolves and solution turns yellow</a:t>
            </a:r>
          </a:p>
          <a:p>
            <a:r>
              <a:rPr lang="en-US" sz="2000" dirty="0"/>
              <a:t> [Co(H</a:t>
            </a:r>
            <a:r>
              <a:rPr lang="en-US" sz="2000" baseline="-25000" dirty="0"/>
              <a:t>2</a:t>
            </a:r>
            <a:r>
              <a:rPr lang="en-US" sz="2000" dirty="0"/>
              <a:t>O)</a:t>
            </a:r>
            <a:r>
              <a:rPr lang="en-US" sz="2000" baseline="-25000" dirty="0"/>
              <a:t>4</a:t>
            </a:r>
            <a:r>
              <a:rPr lang="en-US" sz="2000" dirty="0"/>
              <a:t>(OH)</a:t>
            </a:r>
            <a:r>
              <a:rPr lang="en-US" sz="2000" baseline="-25000" dirty="0"/>
              <a:t>2</a:t>
            </a:r>
            <a:r>
              <a:rPr lang="en-US" sz="2000" dirty="0"/>
              <a:t>]</a:t>
            </a:r>
            <a:r>
              <a:rPr lang="en-US" sz="2000" baseline="-25000" dirty="0"/>
              <a:t>(s)  </a:t>
            </a:r>
            <a:r>
              <a:rPr lang="en-US" sz="2000" dirty="0"/>
              <a:t>+  6NH</a:t>
            </a:r>
            <a:r>
              <a:rPr lang="en-US" sz="2000" baseline="-25000" dirty="0"/>
              <a:t>3(</a:t>
            </a:r>
            <a:r>
              <a:rPr lang="en-US" sz="2000" baseline="-25000" dirty="0" err="1"/>
              <a:t>aq</a:t>
            </a:r>
            <a:r>
              <a:rPr lang="en-US" sz="2000" baseline="-25000" dirty="0"/>
              <a:t>)  </a:t>
            </a:r>
            <a:r>
              <a:rPr lang="en-US" sz="2000" dirty="0">
                <a:sym typeface="Wingdings" panose="05000000000000000000" pitchFamily="2" charset="2"/>
              </a:rPr>
              <a:t>  [Co(NH</a:t>
            </a:r>
            <a:r>
              <a:rPr lang="en-US" sz="2000" baseline="-25000" dirty="0">
                <a:sym typeface="Wingdings" panose="05000000000000000000" pitchFamily="2" charset="2"/>
              </a:rPr>
              <a:t>3</a:t>
            </a:r>
            <a:r>
              <a:rPr lang="en-US" sz="2000" dirty="0">
                <a:sym typeface="Wingdings" panose="05000000000000000000" pitchFamily="2" charset="2"/>
              </a:rPr>
              <a:t>)</a:t>
            </a:r>
            <a:r>
              <a:rPr lang="en-US" sz="2000" baseline="-25000" dirty="0">
                <a:sym typeface="Wingdings" panose="05000000000000000000" pitchFamily="2" charset="2"/>
              </a:rPr>
              <a:t>6</a:t>
            </a:r>
            <a:r>
              <a:rPr lang="en-US" sz="2000" dirty="0">
                <a:sym typeface="Wingdings" panose="05000000000000000000" pitchFamily="2" charset="2"/>
              </a:rPr>
              <a:t>]</a:t>
            </a:r>
            <a:r>
              <a:rPr lang="en-US" sz="2000" baseline="30000" dirty="0">
                <a:sym typeface="Wingdings" panose="05000000000000000000" pitchFamily="2" charset="2"/>
              </a:rPr>
              <a:t>2+  </a:t>
            </a:r>
            <a:r>
              <a:rPr lang="en-US" sz="2000" dirty="0">
                <a:sym typeface="Wingdings" panose="05000000000000000000" pitchFamily="2" charset="2"/>
              </a:rPr>
              <a:t>+  2OH</a:t>
            </a:r>
            <a:r>
              <a:rPr lang="en-US" sz="2000" baseline="30000" dirty="0">
                <a:sym typeface="Wingdings" panose="05000000000000000000" pitchFamily="2" charset="2"/>
              </a:rPr>
              <a:t>-</a:t>
            </a:r>
            <a:r>
              <a:rPr lang="en-US" sz="2000" dirty="0">
                <a:sym typeface="Wingdings" panose="05000000000000000000" pitchFamily="2" charset="2"/>
              </a:rPr>
              <a:t>  +  4H</a:t>
            </a:r>
            <a:r>
              <a:rPr lang="en-US" sz="2000" baseline="-25000" dirty="0">
                <a:sym typeface="Wingdings" panose="05000000000000000000" pitchFamily="2" charset="2"/>
              </a:rPr>
              <a:t>2</a:t>
            </a:r>
            <a:r>
              <a:rPr lang="en-US" sz="2000" dirty="0">
                <a:sym typeface="Wingdings" panose="05000000000000000000" pitchFamily="2" charset="2"/>
              </a:rPr>
              <a:t>O</a:t>
            </a:r>
            <a:endParaRPr lang="en-US" sz="2000" dirty="0"/>
          </a:p>
          <a:p>
            <a:endParaRPr lang="en-US" sz="2000" dirty="0"/>
          </a:p>
        </p:txBody>
      </p:sp>
      <p:sp>
        <p:nvSpPr>
          <p:cNvPr id="4" name="TextBox 3"/>
          <p:cNvSpPr txBox="1"/>
          <p:nvPr/>
        </p:nvSpPr>
        <p:spPr>
          <a:xfrm>
            <a:off x="2854487" y="6047115"/>
            <a:ext cx="533400" cy="277485"/>
          </a:xfrm>
          <a:prstGeom prst="rect">
            <a:avLst/>
          </a:prstGeom>
          <a:noFill/>
        </p:spPr>
        <p:txBody>
          <a:bodyPr wrap="square" rtlCol="0">
            <a:spAutoFit/>
          </a:bodyPr>
          <a:lstStyle/>
          <a:p>
            <a:r>
              <a:rPr lang="en-US" dirty="0"/>
              <a:t>(s)</a:t>
            </a:r>
          </a:p>
        </p:txBody>
      </p:sp>
      <p:sp>
        <p:nvSpPr>
          <p:cNvPr id="5" name="TextBox 4"/>
          <p:cNvSpPr txBox="1"/>
          <p:nvPr/>
        </p:nvSpPr>
        <p:spPr>
          <a:xfrm>
            <a:off x="2883062" y="3321876"/>
            <a:ext cx="457200" cy="369332"/>
          </a:xfrm>
          <a:prstGeom prst="rect">
            <a:avLst/>
          </a:prstGeom>
          <a:noFill/>
        </p:spPr>
        <p:txBody>
          <a:bodyPr wrap="square" rtlCol="0">
            <a:spAutoFit/>
          </a:bodyPr>
          <a:lstStyle/>
          <a:p>
            <a:r>
              <a:rPr lang="en-US" dirty="0"/>
              <a:t>0</a:t>
            </a:r>
          </a:p>
        </p:txBody>
      </p:sp>
      <p:grpSp>
        <p:nvGrpSpPr>
          <p:cNvPr id="6" name="Group 5"/>
          <p:cNvGrpSpPr/>
          <p:nvPr/>
        </p:nvGrpSpPr>
        <p:grpSpPr>
          <a:xfrm>
            <a:off x="381000" y="3803261"/>
            <a:ext cx="2514149" cy="2231639"/>
            <a:chOff x="552450" y="3639001"/>
            <a:chExt cx="2514149" cy="2231639"/>
          </a:xfrm>
        </p:grpSpPr>
        <p:sp>
          <p:nvSpPr>
            <p:cNvPr id="7" name="TextBox 6"/>
            <p:cNvSpPr txBox="1"/>
            <p:nvPr/>
          </p:nvSpPr>
          <p:spPr>
            <a:xfrm>
              <a:off x="1523999" y="4572000"/>
              <a:ext cx="695325" cy="369332"/>
            </a:xfrm>
            <a:prstGeom prst="rect">
              <a:avLst/>
            </a:prstGeom>
            <a:noFill/>
          </p:spPr>
          <p:txBody>
            <a:bodyPr wrap="square" rtlCol="0">
              <a:spAutoFit/>
            </a:bodyPr>
            <a:lstStyle/>
            <a:p>
              <a:r>
                <a:rPr lang="en-US" dirty="0"/>
                <a:t>Co</a:t>
              </a:r>
              <a:r>
                <a:rPr lang="en-US" baseline="30000" dirty="0"/>
                <a:t>2+</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153" y="3639001"/>
              <a:ext cx="1158144" cy="847274"/>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97015" y="4327195"/>
              <a:ext cx="1158144" cy="847274"/>
            </a:xfrm>
            <a:prstGeom prst="rect">
              <a:avLst/>
            </a:prstGeom>
          </p:spPr>
        </p:pic>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2063890" y="4333029"/>
              <a:ext cx="1158144" cy="847274"/>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185006" y="5023366"/>
              <a:ext cx="1158144" cy="847274"/>
            </a:xfrm>
            <a:prstGeom prst="rect">
              <a:avLst/>
            </a:prstGeom>
          </p:spPr>
        </p:pic>
        <p:cxnSp>
          <p:nvCxnSpPr>
            <p:cNvPr id="12" name="Straight Connector 11"/>
            <p:cNvCxnSpPr/>
            <p:nvPr/>
          </p:nvCxnSpPr>
          <p:spPr>
            <a:xfrm>
              <a:off x="1261837" y="47566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057400" y="4750832"/>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a:off x="1628775" y="50233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6200000">
              <a:off x="1628775" y="4467225"/>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16" name="Right Bracket 15"/>
          <p:cNvSpPr/>
          <p:nvPr/>
        </p:nvSpPr>
        <p:spPr>
          <a:xfrm>
            <a:off x="2895148" y="3485646"/>
            <a:ext cx="45719" cy="2808677"/>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Left Bracket 16"/>
          <p:cNvSpPr/>
          <p:nvPr/>
        </p:nvSpPr>
        <p:spPr>
          <a:xfrm>
            <a:off x="228600" y="3569526"/>
            <a:ext cx="45719" cy="2724797"/>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Connector 17"/>
          <p:cNvCxnSpPr>
            <a:endCxn id="8" idx="3"/>
          </p:cNvCxnSpPr>
          <p:nvPr/>
        </p:nvCxnSpPr>
        <p:spPr>
          <a:xfrm flipV="1">
            <a:off x="1771650" y="4226898"/>
            <a:ext cx="436197" cy="51260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1" idx="3"/>
          </p:cNvCxnSpPr>
          <p:nvPr/>
        </p:nvCxnSpPr>
        <p:spPr>
          <a:xfrm flipV="1">
            <a:off x="1013556" y="5056523"/>
            <a:ext cx="481868" cy="55474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61105" y="5540184"/>
            <a:ext cx="758078" cy="406265"/>
          </a:xfrm>
          <a:prstGeom prst="rect">
            <a:avLst/>
          </a:prstGeom>
          <a:noFill/>
        </p:spPr>
        <p:txBody>
          <a:bodyPr wrap="square" rtlCol="0">
            <a:spAutoFit/>
          </a:bodyPr>
          <a:lstStyle/>
          <a:p>
            <a:r>
              <a:rPr lang="en-US" dirty="0"/>
              <a:t>HO</a:t>
            </a:r>
            <a:r>
              <a:rPr lang="en-US" baseline="30000" dirty="0"/>
              <a:t>-</a:t>
            </a:r>
          </a:p>
        </p:txBody>
      </p:sp>
      <p:sp>
        <p:nvSpPr>
          <p:cNvPr id="21" name="TextBox 20"/>
          <p:cNvSpPr txBox="1"/>
          <p:nvPr/>
        </p:nvSpPr>
        <p:spPr>
          <a:xfrm>
            <a:off x="2122018" y="3961600"/>
            <a:ext cx="833886" cy="369332"/>
          </a:xfrm>
          <a:prstGeom prst="rect">
            <a:avLst/>
          </a:prstGeom>
          <a:noFill/>
        </p:spPr>
        <p:txBody>
          <a:bodyPr wrap="square" rtlCol="0">
            <a:spAutoFit/>
          </a:bodyPr>
          <a:lstStyle/>
          <a:p>
            <a:r>
              <a:rPr lang="en-US" dirty="0"/>
              <a:t>OH</a:t>
            </a:r>
            <a:r>
              <a:rPr lang="en-US" baseline="30000" dirty="0"/>
              <a:t>-</a:t>
            </a:r>
          </a:p>
        </p:txBody>
      </p:sp>
      <p:sp>
        <p:nvSpPr>
          <p:cNvPr id="22" name="TextBox 21"/>
          <p:cNvSpPr txBox="1"/>
          <p:nvPr/>
        </p:nvSpPr>
        <p:spPr>
          <a:xfrm>
            <a:off x="3029294" y="4893090"/>
            <a:ext cx="1857375" cy="861774"/>
          </a:xfrm>
          <a:prstGeom prst="rect">
            <a:avLst/>
          </a:prstGeom>
          <a:noFill/>
        </p:spPr>
        <p:txBody>
          <a:bodyPr wrap="square" rtlCol="0">
            <a:spAutoFit/>
          </a:bodyPr>
          <a:lstStyle/>
          <a:p>
            <a:r>
              <a:rPr lang="en-US" sz="2500" dirty="0"/>
              <a:t>+   6NH</a:t>
            </a:r>
            <a:r>
              <a:rPr lang="en-US" sz="2500" baseline="-25000" dirty="0"/>
              <a:t>3</a:t>
            </a:r>
            <a:r>
              <a:rPr lang="en-US" sz="2500" baseline="30000" dirty="0"/>
              <a:t>    </a:t>
            </a:r>
            <a:r>
              <a:rPr lang="en-US" sz="2500" dirty="0">
                <a:sym typeface="Wingdings" panose="05000000000000000000" pitchFamily="2" charset="2"/>
              </a:rPr>
              <a:t></a:t>
            </a:r>
            <a:endParaRPr lang="en-US" sz="2500" dirty="0"/>
          </a:p>
        </p:txBody>
      </p:sp>
      <p:sp>
        <p:nvSpPr>
          <p:cNvPr id="24" name="TextBox 23"/>
          <p:cNvSpPr txBox="1"/>
          <p:nvPr/>
        </p:nvSpPr>
        <p:spPr>
          <a:xfrm>
            <a:off x="6629400" y="3429000"/>
            <a:ext cx="457200" cy="369332"/>
          </a:xfrm>
          <a:prstGeom prst="rect">
            <a:avLst/>
          </a:prstGeom>
          <a:noFill/>
        </p:spPr>
        <p:txBody>
          <a:bodyPr wrap="square" rtlCol="0">
            <a:spAutoFit/>
          </a:bodyPr>
          <a:lstStyle/>
          <a:p>
            <a:r>
              <a:rPr lang="en-US" dirty="0"/>
              <a:t>2+</a:t>
            </a:r>
          </a:p>
        </p:txBody>
      </p:sp>
      <p:grpSp>
        <p:nvGrpSpPr>
          <p:cNvPr id="25" name="Group 24"/>
          <p:cNvGrpSpPr/>
          <p:nvPr/>
        </p:nvGrpSpPr>
        <p:grpSpPr>
          <a:xfrm>
            <a:off x="4973574" y="4586209"/>
            <a:ext cx="1100363" cy="860941"/>
            <a:chOff x="1261837" y="4314825"/>
            <a:chExt cx="1100363" cy="860941"/>
          </a:xfrm>
        </p:grpSpPr>
        <p:sp>
          <p:nvSpPr>
            <p:cNvPr id="26" name="TextBox 25"/>
            <p:cNvSpPr txBox="1"/>
            <p:nvPr/>
          </p:nvSpPr>
          <p:spPr>
            <a:xfrm>
              <a:off x="1523999" y="4572000"/>
              <a:ext cx="695325" cy="369332"/>
            </a:xfrm>
            <a:prstGeom prst="rect">
              <a:avLst/>
            </a:prstGeom>
            <a:noFill/>
          </p:spPr>
          <p:txBody>
            <a:bodyPr wrap="square" rtlCol="0">
              <a:spAutoFit/>
            </a:bodyPr>
            <a:lstStyle/>
            <a:p>
              <a:r>
                <a:rPr lang="en-US" dirty="0"/>
                <a:t>Co</a:t>
              </a:r>
              <a:r>
                <a:rPr lang="en-US" baseline="30000" dirty="0"/>
                <a:t>2+</a:t>
              </a:r>
            </a:p>
          </p:txBody>
        </p:sp>
        <p:cxnSp>
          <p:nvCxnSpPr>
            <p:cNvPr id="31" name="Straight Connector 30"/>
            <p:cNvCxnSpPr/>
            <p:nvPr/>
          </p:nvCxnSpPr>
          <p:spPr>
            <a:xfrm>
              <a:off x="1261837" y="47566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057400" y="4750832"/>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a:off x="1628775" y="5023366"/>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6200000">
              <a:off x="1628775" y="4467225"/>
              <a:ext cx="304800" cy="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grpSp>
      <p:sp>
        <p:nvSpPr>
          <p:cNvPr id="35" name="Right Bracket 34"/>
          <p:cNvSpPr/>
          <p:nvPr/>
        </p:nvSpPr>
        <p:spPr>
          <a:xfrm>
            <a:off x="6664487" y="3592770"/>
            <a:ext cx="45719" cy="2808677"/>
          </a:xfrm>
          <a:prstGeom prst="righ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Left Bracket 35"/>
          <p:cNvSpPr/>
          <p:nvPr/>
        </p:nvSpPr>
        <p:spPr>
          <a:xfrm>
            <a:off x="4378487" y="3676650"/>
            <a:ext cx="45719" cy="2724797"/>
          </a:xfrm>
          <a:prstGeom prst="leftBracket">
            <a:avLst/>
          </a:prstGeom>
          <a:ln w="158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7" name="Straight Connector 36"/>
          <p:cNvCxnSpPr/>
          <p:nvPr/>
        </p:nvCxnSpPr>
        <p:spPr>
          <a:xfrm flipV="1">
            <a:off x="5654837" y="4334022"/>
            <a:ext cx="436197" cy="512604"/>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4896743" y="5163647"/>
            <a:ext cx="481868" cy="554740"/>
          </a:xfrm>
          <a:prstGeom prst="line">
            <a:avLst/>
          </a:prstGeom>
          <a:ln w="25400">
            <a:prstDash val="sysDash"/>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6013774" y="4042232"/>
            <a:ext cx="685800" cy="369332"/>
          </a:xfrm>
          <a:prstGeom prst="rect">
            <a:avLst/>
          </a:prstGeom>
          <a:noFill/>
        </p:spPr>
        <p:txBody>
          <a:bodyPr wrap="square" rtlCol="0">
            <a:spAutoFit/>
          </a:bodyPr>
          <a:lstStyle/>
          <a:p>
            <a:r>
              <a:rPr lang="en-US" dirty="0"/>
              <a:t>NH</a:t>
            </a:r>
            <a:r>
              <a:rPr lang="en-US" baseline="-25000" dirty="0"/>
              <a:t>3</a:t>
            </a:r>
          </a:p>
        </p:txBody>
      </p:sp>
      <p:sp>
        <p:nvSpPr>
          <p:cNvPr id="42" name="TextBox 41"/>
          <p:cNvSpPr txBox="1"/>
          <p:nvPr/>
        </p:nvSpPr>
        <p:spPr>
          <a:xfrm>
            <a:off x="6091034" y="4837550"/>
            <a:ext cx="685800" cy="369332"/>
          </a:xfrm>
          <a:prstGeom prst="rect">
            <a:avLst/>
          </a:prstGeom>
          <a:noFill/>
        </p:spPr>
        <p:txBody>
          <a:bodyPr wrap="square" rtlCol="0">
            <a:spAutoFit/>
          </a:bodyPr>
          <a:lstStyle/>
          <a:p>
            <a:r>
              <a:rPr lang="en-US" dirty="0"/>
              <a:t>NH</a:t>
            </a:r>
            <a:r>
              <a:rPr lang="en-US" baseline="-25000" dirty="0"/>
              <a:t>3</a:t>
            </a:r>
          </a:p>
        </p:txBody>
      </p:sp>
      <p:sp>
        <p:nvSpPr>
          <p:cNvPr id="43" name="TextBox 42"/>
          <p:cNvSpPr txBox="1"/>
          <p:nvPr/>
        </p:nvSpPr>
        <p:spPr>
          <a:xfrm>
            <a:off x="5278374" y="5396546"/>
            <a:ext cx="685800" cy="369332"/>
          </a:xfrm>
          <a:prstGeom prst="rect">
            <a:avLst/>
          </a:prstGeom>
          <a:noFill/>
        </p:spPr>
        <p:txBody>
          <a:bodyPr wrap="square" rtlCol="0">
            <a:spAutoFit/>
          </a:bodyPr>
          <a:lstStyle/>
          <a:p>
            <a:r>
              <a:rPr lang="en-US" dirty="0"/>
              <a:t>NH</a:t>
            </a:r>
            <a:r>
              <a:rPr lang="en-US" baseline="-25000" dirty="0"/>
              <a:t>3</a:t>
            </a:r>
          </a:p>
        </p:txBody>
      </p:sp>
      <p:sp>
        <p:nvSpPr>
          <p:cNvPr id="44" name="TextBox 43"/>
          <p:cNvSpPr txBox="1"/>
          <p:nvPr/>
        </p:nvSpPr>
        <p:spPr>
          <a:xfrm>
            <a:off x="4536422" y="5689302"/>
            <a:ext cx="685800" cy="369332"/>
          </a:xfrm>
          <a:prstGeom prst="rect">
            <a:avLst/>
          </a:prstGeom>
          <a:noFill/>
        </p:spPr>
        <p:txBody>
          <a:bodyPr wrap="square" rtlCol="0">
            <a:spAutoFit/>
          </a:bodyPr>
          <a:lstStyle/>
          <a:p>
            <a:r>
              <a:rPr lang="en-US" dirty="0"/>
              <a:t>NH</a:t>
            </a:r>
            <a:r>
              <a:rPr lang="en-US" baseline="-25000" dirty="0"/>
              <a:t>3</a:t>
            </a:r>
          </a:p>
        </p:txBody>
      </p:sp>
      <p:sp>
        <p:nvSpPr>
          <p:cNvPr id="45" name="TextBox 44"/>
          <p:cNvSpPr txBox="1"/>
          <p:nvPr/>
        </p:nvSpPr>
        <p:spPr>
          <a:xfrm>
            <a:off x="4445162" y="4813365"/>
            <a:ext cx="685800" cy="369332"/>
          </a:xfrm>
          <a:prstGeom prst="rect">
            <a:avLst/>
          </a:prstGeom>
          <a:noFill/>
        </p:spPr>
        <p:txBody>
          <a:bodyPr wrap="square" rtlCol="0">
            <a:spAutoFit/>
          </a:bodyPr>
          <a:lstStyle/>
          <a:p>
            <a:r>
              <a:rPr lang="en-US" dirty="0"/>
              <a:t>NH</a:t>
            </a:r>
            <a:r>
              <a:rPr lang="en-US" baseline="-25000" dirty="0"/>
              <a:t>3</a:t>
            </a:r>
          </a:p>
        </p:txBody>
      </p:sp>
      <p:sp>
        <p:nvSpPr>
          <p:cNvPr id="46" name="TextBox 45"/>
          <p:cNvSpPr txBox="1"/>
          <p:nvPr/>
        </p:nvSpPr>
        <p:spPr>
          <a:xfrm>
            <a:off x="5241272" y="4248091"/>
            <a:ext cx="685800" cy="369332"/>
          </a:xfrm>
          <a:prstGeom prst="rect">
            <a:avLst/>
          </a:prstGeom>
          <a:noFill/>
        </p:spPr>
        <p:txBody>
          <a:bodyPr wrap="square" rtlCol="0">
            <a:spAutoFit/>
          </a:bodyPr>
          <a:lstStyle/>
          <a:p>
            <a:r>
              <a:rPr lang="en-US" dirty="0"/>
              <a:t>NH</a:t>
            </a:r>
            <a:r>
              <a:rPr lang="en-US" baseline="-25000" dirty="0"/>
              <a:t>3</a:t>
            </a:r>
          </a:p>
        </p:txBody>
      </p:sp>
      <p:sp>
        <p:nvSpPr>
          <p:cNvPr id="48" name="TextBox 47"/>
          <p:cNvSpPr txBox="1"/>
          <p:nvPr/>
        </p:nvSpPr>
        <p:spPr>
          <a:xfrm>
            <a:off x="7086600" y="5035811"/>
            <a:ext cx="1857375" cy="477054"/>
          </a:xfrm>
          <a:prstGeom prst="rect">
            <a:avLst/>
          </a:prstGeom>
          <a:noFill/>
        </p:spPr>
        <p:txBody>
          <a:bodyPr wrap="square" rtlCol="0">
            <a:spAutoFit/>
          </a:bodyPr>
          <a:lstStyle/>
          <a:p>
            <a:r>
              <a:rPr lang="en-US" sz="2500" dirty="0"/>
              <a:t>+   2OH</a:t>
            </a:r>
            <a:r>
              <a:rPr lang="en-US" sz="2500" baseline="30000" dirty="0"/>
              <a:t>-</a:t>
            </a:r>
          </a:p>
        </p:txBody>
      </p:sp>
      <p:sp>
        <p:nvSpPr>
          <p:cNvPr id="49" name="TextBox 48"/>
          <p:cNvSpPr txBox="1"/>
          <p:nvPr/>
        </p:nvSpPr>
        <p:spPr>
          <a:xfrm>
            <a:off x="7086601" y="4335522"/>
            <a:ext cx="1857375" cy="477054"/>
          </a:xfrm>
          <a:prstGeom prst="rect">
            <a:avLst/>
          </a:prstGeom>
          <a:noFill/>
        </p:spPr>
        <p:txBody>
          <a:bodyPr wrap="square" rtlCol="0">
            <a:spAutoFit/>
          </a:bodyPr>
          <a:lstStyle/>
          <a:p>
            <a:r>
              <a:rPr lang="en-US" sz="2500" dirty="0"/>
              <a:t>+   4H2O</a:t>
            </a:r>
          </a:p>
        </p:txBody>
      </p:sp>
      <p:sp>
        <p:nvSpPr>
          <p:cNvPr id="50" name="Title 1"/>
          <p:cNvSpPr>
            <a:spLocks noGrp="1"/>
          </p:cNvSpPr>
          <p:nvPr>
            <p:ph type="title"/>
          </p:nvPr>
        </p:nvSpPr>
        <p:spPr/>
        <p:txBody>
          <a:bodyPr>
            <a:normAutofit fontScale="90000"/>
          </a:bodyPr>
          <a:lstStyle/>
          <a:p>
            <a:r>
              <a:rPr lang="en-US" dirty="0"/>
              <a:t>Complex Reactions</a:t>
            </a:r>
            <a:br>
              <a:rPr lang="en-US" dirty="0"/>
            </a:br>
            <a:r>
              <a:rPr lang="en-US" dirty="0"/>
              <a:t>	</a:t>
            </a:r>
            <a:r>
              <a:rPr lang="en-US" sz="3300" dirty="0"/>
              <a:t>Reaction of Cobalt and Ammonium Hydroxide</a:t>
            </a:r>
          </a:p>
        </p:txBody>
      </p:sp>
    </p:spTree>
    <p:extLst>
      <p:ext uri="{BB962C8B-B14F-4D97-AF65-F5344CB8AC3E}">
        <p14:creationId xmlns:p14="http://schemas.microsoft.com/office/powerpoint/2010/main" val="6758864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Complex Key Points</a:t>
            </a:r>
          </a:p>
        </p:txBody>
      </p:sp>
      <p:sp>
        <p:nvSpPr>
          <p:cNvPr id="3" name="Content Placeholder 2"/>
          <p:cNvSpPr>
            <a:spLocks noGrp="1"/>
          </p:cNvSpPr>
          <p:nvPr>
            <p:ph idx="1"/>
          </p:nvPr>
        </p:nvSpPr>
        <p:spPr/>
        <p:txBody>
          <a:bodyPr>
            <a:normAutofit fontScale="92500"/>
          </a:bodyPr>
          <a:lstStyle/>
          <a:p>
            <a:r>
              <a:rPr lang="en-US" dirty="0"/>
              <a:t> Complexation reactions are very visual and are interpreted based on detailed observations</a:t>
            </a:r>
          </a:p>
          <a:p>
            <a:r>
              <a:rPr lang="en-US" dirty="0"/>
              <a:t> The key to this experiment is both taking detailed observations and being able to logically deduce what reactions are happening based on what is available in the test tube, and what actually happens</a:t>
            </a:r>
          </a:p>
          <a:p>
            <a:r>
              <a:rPr lang="en-US" dirty="0"/>
              <a:t> The in lab experiment is fun, but the report can be tricky</a:t>
            </a:r>
          </a:p>
          <a:p>
            <a:pPr lvl="1"/>
            <a:r>
              <a:rPr lang="en-US" dirty="0"/>
              <a:t> Precipitations will occur when coordinating to form a neutral complex</a:t>
            </a:r>
          </a:p>
          <a:p>
            <a:pPr lvl="1"/>
            <a:r>
              <a:rPr lang="en-US" dirty="0"/>
              <a:t> A color change will indicate that the ligands have been replaced, but there is still an overall charge</a:t>
            </a:r>
          </a:p>
        </p:txBody>
      </p:sp>
    </p:spTree>
    <p:extLst>
      <p:ext uri="{BB962C8B-B14F-4D97-AF65-F5344CB8AC3E}">
        <p14:creationId xmlns:p14="http://schemas.microsoft.com/office/powerpoint/2010/main" val="16858951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12305</TotalTime>
  <Words>2035</Words>
  <Application>Microsoft Macintosh PowerPoint</Application>
  <PresentationFormat>On-screen Show (4:3)</PresentationFormat>
  <Paragraphs>165</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Calibri</vt:lpstr>
      <vt:lpstr>Constantia</vt:lpstr>
      <vt:lpstr>Wingdings 2</vt:lpstr>
      <vt:lpstr>Flow</vt:lpstr>
      <vt:lpstr>Coordination Chemistry</vt:lpstr>
      <vt:lpstr>Another Bond Type</vt:lpstr>
      <vt:lpstr>Hydration Shells</vt:lpstr>
      <vt:lpstr>Hydration Shells</vt:lpstr>
      <vt:lpstr>Aquocomplex</vt:lpstr>
      <vt:lpstr>Complex Charges</vt:lpstr>
      <vt:lpstr>Complex Charges</vt:lpstr>
      <vt:lpstr>Lewis Acids &amp; Bases</vt:lpstr>
      <vt:lpstr>Lewis Acids &amp; Bases</vt:lpstr>
      <vt:lpstr>Lewis Acids &amp; Bases, and Complexation</vt:lpstr>
      <vt:lpstr>Lewis Base Reactivity</vt:lpstr>
      <vt:lpstr>Lewis Acid Reactivity</vt:lpstr>
      <vt:lpstr>Complex Reactions  Reaction of Lead and Bromide Ions</vt:lpstr>
      <vt:lpstr>Complex Reactions  Reaction of Lead and Bromide Ions</vt:lpstr>
      <vt:lpstr>Complex Reactions  Reaction of Lead and Hydroxide Ions</vt:lpstr>
      <vt:lpstr>Complex Reactions  Reaction of Lead and Hydroxide Ions</vt:lpstr>
      <vt:lpstr>Complex Reactions  Reaction of Cobalt and Ammonium Hydroxide</vt:lpstr>
      <vt:lpstr>Complex Reactions  Reaction of Cobalt and Ammonium Hydroxide</vt:lpstr>
      <vt:lpstr>Complex Reactions  Reaction of Cobalt and Ammonium Hydroxide</vt:lpstr>
      <vt:lpstr>Complex Reactions  Reaction of Cobalt and Ammonium Hydroxide</vt:lpstr>
      <vt:lpstr>Complex Key Points</vt:lpstr>
    </vt:vector>
  </TitlesOfParts>
  <Company>Univeristy of Massachusetts Lowell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Coordination Chemistry</dc:title>
  <dc:creator>Kevin_Hartman</dc:creator>
  <cp:lastModifiedBy>Ryan Balachandran</cp:lastModifiedBy>
  <cp:revision>17</cp:revision>
  <dcterms:created xsi:type="dcterms:W3CDTF">2016-07-06T20:55:21Z</dcterms:created>
  <dcterms:modified xsi:type="dcterms:W3CDTF">2021-08-30T20:58:03Z</dcterms:modified>
</cp:coreProperties>
</file>