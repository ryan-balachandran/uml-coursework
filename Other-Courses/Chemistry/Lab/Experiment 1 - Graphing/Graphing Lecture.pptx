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0" r:id="rId4"/>
    <p:sldId id="267" r:id="rId5"/>
    <p:sldId id="268" r:id="rId6"/>
    <p:sldId id="261" r:id="rId7"/>
    <p:sldId id="269" r:id="rId8"/>
    <p:sldId id="263" r:id="rId9"/>
    <p:sldId id="270" r:id="rId10"/>
    <p:sldId id="264" r:id="rId11"/>
    <p:sldId id="271" r:id="rId12"/>
    <p:sldId id="280" r:id="rId13"/>
    <p:sldId id="272" r:id="rId14"/>
    <p:sldId id="274" r:id="rId15"/>
    <p:sldId id="281" r:id="rId16"/>
    <p:sldId id="282" r:id="rId17"/>
    <p:sldId id="27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89" autoAdjust="0"/>
    <p:restoredTop sz="94660"/>
  </p:normalViewPr>
  <p:slideViewPr>
    <p:cSldViewPr snapToGrid="0">
      <p:cViewPr varScale="1">
        <p:scale>
          <a:sx n="150" d="100"/>
          <a:sy n="150" d="100"/>
        </p:scale>
        <p:origin x="432"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4C99A0CA-9F51-4DC2-87A1-FC7E72DF77F9}" type="datetimeFigureOut">
              <a:rPr lang="en-US" smtClean="0"/>
              <a:t>8/30/21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F45F2E-B0B4-4819-AA3B-0C4998EFD4BF}"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7114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99A0CA-9F51-4DC2-87A1-FC7E72DF77F9}" type="datetimeFigureOut">
              <a:rPr lang="en-US" smtClean="0"/>
              <a:t>8/30/21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F45F2E-B0B4-4819-AA3B-0C4998EFD4BF}" type="slidenum">
              <a:rPr lang="en-US" smtClean="0"/>
              <a:t>‹#›</a:t>
            </a:fld>
            <a:endParaRPr lang="en-US"/>
          </a:p>
        </p:txBody>
      </p:sp>
    </p:spTree>
    <p:extLst>
      <p:ext uri="{BB962C8B-B14F-4D97-AF65-F5344CB8AC3E}">
        <p14:creationId xmlns:p14="http://schemas.microsoft.com/office/powerpoint/2010/main" val="2143904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99A0CA-9F51-4DC2-87A1-FC7E72DF77F9}" type="datetimeFigureOut">
              <a:rPr lang="en-US" smtClean="0"/>
              <a:t>8/30/21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F45F2E-B0B4-4819-AA3B-0C4998EFD4BF}"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8702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99A0CA-9F51-4DC2-87A1-FC7E72DF77F9}" type="datetimeFigureOut">
              <a:rPr lang="en-US" smtClean="0"/>
              <a:t>8/30/21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F45F2E-B0B4-4819-AA3B-0C4998EFD4BF}" type="slidenum">
              <a:rPr lang="en-US" smtClean="0"/>
              <a:t>‹#›</a:t>
            </a:fld>
            <a:endParaRPr lang="en-US"/>
          </a:p>
        </p:txBody>
      </p:sp>
    </p:spTree>
    <p:extLst>
      <p:ext uri="{BB962C8B-B14F-4D97-AF65-F5344CB8AC3E}">
        <p14:creationId xmlns:p14="http://schemas.microsoft.com/office/powerpoint/2010/main" val="3564665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C99A0CA-9F51-4DC2-87A1-FC7E72DF77F9}" type="datetimeFigureOut">
              <a:rPr lang="en-US" smtClean="0"/>
              <a:t>8/30/21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F45F2E-B0B4-4819-AA3B-0C4998EFD4BF}" type="slidenum">
              <a:rPr lang="en-US" smtClean="0"/>
              <a:t>‹#›</a:t>
            </a:fld>
            <a:endParaRPr lang="en-US"/>
          </a:p>
        </p:txBody>
      </p:sp>
    </p:spTree>
    <p:extLst>
      <p:ext uri="{BB962C8B-B14F-4D97-AF65-F5344CB8AC3E}">
        <p14:creationId xmlns:p14="http://schemas.microsoft.com/office/powerpoint/2010/main" val="2367750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99A0CA-9F51-4DC2-87A1-FC7E72DF77F9}" type="datetimeFigureOut">
              <a:rPr lang="en-US" smtClean="0"/>
              <a:t>8/30/21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F45F2E-B0B4-4819-AA3B-0C4998EFD4BF}" type="slidenum">
              <a:rPr lang="en-US" smtClean="0"/>
              <a:t>‹#›</a:t>
            </a:fld>
            <a:endParaRPr lang="en-US"/>
          </a:p>
        </p:txBody>
      </p:sp>
    </p:spTree>
    <p:extLst>
      <p:ext uri="{BB962C8B-B14F-4D97-AF65-F5344CB8AC3E}">
        <p14:creationId xmlns:p14="http://schemas.microsoft.com/office/powerpoint/2010/main" val="3703567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99A0CA-9F51-4DC2-87A1-FC7E72DF77F9}" type="datetimeFigureOut">
              <a:rPr lang="en-US" smtClean="0"/>
              <a:t>8/30/21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F45F2E-B0B4-4819-AA3B-0C4998EFD4BF}" type="slidenum">
              <a:rPr lang="en-US" smtClean="0"/>
              <a:t>‹#›</a:t>
            </a:fld>
            <a:endParaRPr lang="en-US"/>
          </a:p>
        </p:txBody>
      </p:sp>
    </p:spTree>
    <p:extLst>
      <p:ext uri="{BB962C8B-B14F-4D97-AF65-F5344CB8AC3E}">
        <p14:creationId xmlns:p14="http://schemas.microsoft.com/office/powerpoint/2010/main" val="2154488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99A0CA-9F51-4DC2-87A1-FC7E72DF77F9}" type="datetimeFigureOut">
              <a:rPr lang="en-US" smtClean="0"/>
              <a:t>8/30/21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F45F2E-B0B4-4819-AA3B-0C4998EFD4BF}" type="slidenum">
              <a:rPr lang="en-US" smtClean="0"/>
              <a:t>‹#›</a:t>
            </a:fld>
            <a:endParaRPr lang="en-US"/>
          </a:p>
        </p:txBody>
      </p:sp>
    </p:spTree>
    <p:extLst>
      <p:ext uri="{BB962C8B-B14F-4D97-AF65-F5344CB8AC3E}">
        <p14:creationId xmlns:p14="http://schemas.microsoft.com/office/powerpoint/2010/main" val="1064527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99A0CA-9F51-4DC2-87A1-FC7E72DF77F9}" type="datetimeFigureOut">
              <a:rPr lang="en-US" smtClean="0"/>
              <a:t>8/30/21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F45F2E-B0B4-4819-AA3B-0C4998EFD4BF}"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0390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99A0CA-9F51-4DC2-87A1-FC7E72DF77F9}" type="datetimeFigureOut">
              <a:rPr lang="en-US" smtClean="0"/>
              <a:t>8/30/21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F45F2E-B0B4-4819-AA3B-0C4998EFD4BF}" type="slidenum">
              <a:rPr lang="en-US" smtClean="0"/>
              <a:t>‹#›</a:t>
            </a:fld>
            <a:endParaRPr lang="en-US"/>
          </a:p>
        </p:txBody>
      </p:sp>
    </p:spTree>
    <p:extLst>
      <p:ext uri="{BB962C8B-B14F-4D97-AF65-F5344CB8AC3E}">
        <p14:creationId xmlns:p14="http://schemas.microsoft.com/office/powerpoint/2010/main" val="3591500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99A0CA-9F51-4DC2-87A1-FC7E72DF77F9}" type="datetimeFigureOut">
              <a:rPr lang="en-US" smtClean="0"/>
              <a:t>8/30/21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F45F2E-B0B4-4819-AA3B-0C4998EFD4BF}"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461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C99A0CA-9F51-4DC2-87A1-FC7E72DF77F9}" type="datetimeFigureOut">
              <a:rPr lang="en-US" smtClean="0"/>
              <a:t>8/30/21</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2F45F2E-B0B4-4819-AA3B-0C4998EFD4BF}"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98417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9E166-0C6D-474A-84A2-FD01B57316DC}"/>
              </a:ext>
            </a:extLst>
          </p:cNvPr>
          <p:cNvSpPr>
            <a:spLocks noGrp="1"/>
          </p:cNvSpPr>
          <p:nvPr>
            <p:ph type="ctrTitle"/>
          </p:nvPr>
        </p:nvSpPr>
        <p:spPr/>
        <p:txBody>
          <a:bodyPr/>
          <a:lstStyle/>
          <a:p>
            <a:r>
              <a:rPr lang="en-US" dirty="0"/>
              <a:t>Graphing - Introduction</a:t>
            </a:r>
          </a:p>
        </p:txBody>
      </p:sp>
      <p:sp>
        <p:nvSpPr>
          <p:cNvPr id="3" name="Subtitle 2">
            <a:extLst>
              <a:ext uri="{FF2B5EF4-FFF2-40B4-BE49-F238E27FC236}">
                <a16:creationId xmlns:a16="http://schemas.microsoft.com/office/drawing/2014/main" id="{2C3CDFD9-EE48-4A67-A21A-2A067C86A31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52331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E68D-5FD8-4057-AEEE-1B3CE0DF5A0C}"/>
              </a:ext>
            </a:extLst>
          </p:cNvPr>
          <p:cNvSpPr>
            <a:spLocks noGrp="1"/>
          </p:cNvSpPr>
          <p:nvPr>
            <p:ph type="title"/>
          </p:nvPr>
        </p:nvSpPr>
        <p:spPr/>
        <p:txBody>
          <a:bodyPr/>
          <a:lstStyle/>
          <a:p>
            <a:r>
              <a:rPr lang="en-US" dirty="0"/>
              <a:t>Graphs</a:t>
            </a:r>
          </a:p>
        </p:txBody>
      </p:sp>
      <p:sp>
        <p:nvSpPr>
          <p:cNvPr id="3" name="Content Placeholder 2">
            <a:extLst>
              <a:ext uri="{FF2B5EF4-FFF2-40B4-BE49-F238E27FC236}">
                <a16:creationId xmlns:a16="http://schemas.microsoft.com/office/drawing/2014/main" id="{8EBA6CA1-4935-41AD-A95E-2E77B472A263}"/>
              </a:ext>
            </a:extLst>
          </p:cNvPr>
          <p:cNvSpPr>
            <a:spLocks noGrp="1"/>
          </p:cNvSpPr>
          <p:nvPr>
            <p:ph idx="1"/>
          </p:nvPr>
        </p:nvSpPr>
        <p:spPr/>
        <p:txBody>
          <a:bodyPr>
            <a:normAutofit/>
          </a:bodyPr>
          <a:lstStyle/>
          <a:p>
            <a:r>
              <a:rPr lang="en-US" dirty="0"/>
              <a:t>Graphing of data is something that is not only important in chemistry, but nearly every field. </a:t>
            </a:r>
          </a:p>
          <a:p>
            <a:r>
              <a:rPr lang="en-US" dirty="0"/>
              <a:t>Understanding how to create and read a graph would be useful (if not required) in engineering, the medical field, the sciences, psychology, sociology, kinesiology, history, politics, and many others.</a:t>
            </a:r>
          </a:p>
          <a:p>
            <a:r>
              <a:rPr lang="en-US" dirty="0"/>
              <a:t>Graphs are used to display a large amount of data in a quick way, that is easily interpreted and understood. </a:t>
            </a:r>
          </a:p>
          <a:p>
            <a:r>
              <a:rPr lang="en-US" dirty="0"/>
              <a:t>There are many styles of graphs and choosing one will depend on the data as well as the information wanting to be highlighted</a:t>
            </a:r>
          </a:p>
          <a:p>
            <a:r>
              <a:rPr lang="en-US" dirty="0"/>
              <a:t>In this course, the all graphs will use the </a:t>
            </a:r>
            <a:r>
              <a:rPr lang="en-US" b="1" dirty="0"/>
              <a:t>Scatter Plot </a:t>
            </a:r>
            <a:r>
              <a:rPr lang="en-US" dirty="0"/>
              <a:t>format</a:t>
            </a:r>
          </a:p>
          <a:p>
            <a:endParaRPr lang="en-US" dirty="0"/>
          </a:p>
          <a:p>
            <a:endParaRPr lang="en-US" dirty="0"/>
          </a:p>
        </p:txBody>
      </p:sp>
    </p:spTree>
    <p:extLst>
      <p:ext uri="{BB962C8B-B14F-4D97-AF65-F5344CB8AC3E}">
        <p14:creationId xmlns:p14="http://schemas.microsoft.com/office/powerpoint/2010/main" val="365005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4DBBC-2F67-4883-9751-74120FD1D0D2}"/>
              </a:ext>
            </a:extLst>
          </p:cNvPr>
          <p:cNvSpPr>
            <a:spLocks noGrp="1"/>
          </p:cNvSpPr>
          <p:nvPr>
            <p:ph type="title"/>
          </p:nvPr>
        </p:nvSpPr>
        <p:spPr/>
        <p:txBody>
          <a:bodyPr/>
          <a:lstStyle/>
          <a:p>
            <a:r>
              <a:rPr lang="en-US" dirty="0"/>
              <a:t>Linear graphs</a:t>
            </a:r>
          </a:p>
        </p:txBody>
      </p:sp>
      <p:sp>
        <p:nvSpPr>
          <p:cNvPr id="3" name="Content Placeholder 2">
            <a:extLst>
              <a:ext uri="{FF2B5EF4-FFF2-40B4-BE49-F238E27FC236}">
                <a16:creationId xmlns:a16="http://schemas.microsoft.com/office/drawing/2014/main" id="{FB4BF602-4E85-46C9-9ABC-6A8B9368C059}"/>
              </a:ext>
            </a:extLst>
          </p:cNvPr>
          <p:cNvSpPr>
            <a:spLocks noGrp="1"/>
          </p:cNvSpPr>
          <p:nvPr>
            <p:ph idx="1"/>
          </p:nvPr>
        </p:nvSpPr>
        <p:spPr/>
        <p:txBody>
          <a:bodyPr/>
          <a:lstStyle/>
          <a:p>
            <a:pPr marL="0" indent="0">
              <a:buNone/>
            </a:pPr>
            <a:r>
              <a:rPr lang="en-US" dirty="0"/>
              <a:t>Many of the graphs in the course will display linear relationships between data sets.</a:t>
            </a:r>
          </a:p>
          <a:p>
            <a:pPr marL="0" indent="0">
              <a:buNone/>
            </a:pPr>
            <a:r>
              <a:rPr lang="en-US" dirty="0"/>
              <a:t>Linear data on a graph will give the equation y = mx + b</a:t>
            </a:r>
          </a:p>
          <a:p>
            <a:pPr marL="0" indent="0">
              <a:buNone/>
            </a:pPr>
            <a:r>
              <a:rPr lang="en-US" dirty="0"/>
              <a:t>Y is the value of the Y-Axis (Vertical Axis)</a:t>
            </a:r>
          </a:p>
          <a:p>
            <a:pPr marL="0" indent="0">
              <a:buNone/>
            </a:pPr>
            <a:r>
              <a:rPr lang="en-US" dirty="0"/>
              <a:t>X is the value of the X-Axis (Horizontal Axis)</a:t>
            </a:r>
          </a:p>
          <a:p>
            <a:pPr marL="0" indent="0">
              <a:buNone/>
            </a:pPr>
            <a:r>
              <a:rPr lang="en-US" dirty="0"/>
              <a:t>m is the slope value, or the constant ratio of how the values are related</a:t>
            </a:r>
          </a:p>
          <a:p>
            <a:pPr marL="0" indent="0">
              <a:buNone/>
            </a:pPr>
            <a:r>
              <a:rPr lang="en-US" dirty="0"/>
              <a:t>b  is the Y-Intercept value, or where the data will cross the Y-Axis line</a:t>
            </a:r>
          </a:p>
        </p:txBody>
      </p:sp>
    </p:spTree>
    <p:extLst>
      <p:ext uri="{BB962C8B-B14F-4D97-AF65-F5344CB8AC3E}">
        <p14:creationId xmlns:p14="http://schemas.microsoft.com/office/powerpoint/2010/main" val="3970286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79FC3-10E5-4389-8B9D-7E3C39F545B9}"/>
              </a:ext>
            </a:extLst>
          </p:cNvPr>
          <p:cNvSpPr>
            <a:spLocks noGrp="1"/>
          </p:cNvSpPr>
          <p:nvPr>
            <p:ph type="title"/>
          </p:nvPr>
        </p:nvSpPr>
        <p:spPr/>
        <p:txBody>
          <a:bodyPr/>
          <a:lstStyle/>
          <a:p>
            <a:r>
              <a:rPr lang="en-US" dirty="0"/>
              <a:t>Calculating slope</a:t>
            </a:r>
          </a:p>
        </p:txBody>
      </p:sp>
      <p:sp>
        <p:nvSpPr>
          <p:cNvPr id="3" name="Content Placeholder 2">
            <a:extLst>
              <a:ext uri="{FF2B5EF4-FFF2-40B4-BE49-F238E27FC236}">
                <a16:creationId xmlns:a16="http://schemas.microsoft.com/office/drawing/2014/main" id="{A7B68CAE-E964-4B00-86F9-21B449557EC7}"/>
              </a:ext>
            </a:extLst>
          </p:cNvPr>
          <p:cNvSpPr>
            <a:spLocks noGrp="1"/>
          </p:cNvSpPr>
          <p:nvPr>
            <p:ph idx="1"/>
          </p:nvPr>
        </p:nvSpPr>
        <p:spPr>
          <a:xfrm>
            <a:off x="1024128" y="2286000"/>
            <a:ext cx="3824709" cy="2731510"/>
          </a:xfrm>
        </p:spPr>
        <p:txBody>
          <a:bodyPr>
            <a:normAutofit fontScale="92500" lnSpcReduction="10000"/>
          </a:bodyPr>
          <a:lstStyle/>
          <a:p>
            <a:r>
              <a:rPr lang="en-US" dirty="0"/>
              <a:t>The slope of a straight line, is the rate at which the Y value changes with respect to X. </a:t>
            </a:r>
          </a:p>
          <a:p>
            <a:r>
              <a:rPr lang="en-US" dirty="0"/>
              <a:t>If the X value is increased by 1 and the Y value increases by 1, then the slope would be 1</a:t>
            </a:r>
          </a:p>
          <a:p>
            <a:r>
              <a:rPr lang="en-US" dirty="0"/>
              <a:t>If the X value is increased by 2 and the Y value increases by 1, then the slope would be 0.5</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28BCABF6-C112-4C26-A3BF-551219D3DD0D}"/>
                  </a:ext>
                </a:extLst>
              </p:cNvPr>
              <p:cNvSpPr/>
              <p:nvPr/>
            </p:nvSpPr>
            <p:spPr>
              <a:xfrm>
                <a:off x="2050781" y="5399833"/>
                <a:ext cx="1434495"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𝑠𝑙𝑜𝑝𝑒</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den>
                      </m:f>
                    </m:oMath>
                  </m:oMathPara>
                </a14:m>
                <a:endParaRPr lang="en-US" dirty="0"/>
              </a:p>
            </p:txBody>
          </p:sp>
        </mc:Choice>
        <mc:Fallback xmlns="">
          <p:sp>
            <p:nvSpPr>
              <p:cNvPr id="5" name="Rectangle 4">
                <a:extLst>
                  <a:ext uri="{FF2B5EF4-FFF2-40B4-BE49-F238E27FC236}">
                    <a16:creationId xmlns:a16="http://schemas.microsoft.com/office/drawing/2014/main" id="{28BCABF6-C112-4C26-A3BF-551219D3DD0D}"/>
                  </a:ext>
                </a:extLst>
              </p:cNvPr>
              <p:cNvSpPr>
                <a:spLocks noRot="1" noChangeAspect="1" noMove="1" noResize="1" noEditPoints="1" noAdjustHandles="1" noChangeArrowheads="1" noChangeShapeType="1" noTextEdit="1"/>
              </p:cNvSpPr>
              <p:nvPr/>
            </p:nvSpPr>
            <p:spPr>
              <a:xfrm>
                <a:off x="2050781" y="5399833"/>
                <a:ext cx="1434495" cy="610936"/>
              </a:xfrm>
              <a:prstGeom prst="rect">
                <a:avLst/>
              </a:prstGeom>
              <a:blipFill>
                <a:blip r:embed="rId2"/>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2E95742F-5B42-4AC5-8479-EDD532EBAC8D}"/>
              </a:ext>
            </a:extLst>
          </p:cNvPr>
          <p:cNvSpPr txBox="1"/>
          <p:nvPr/>
        </p:nvSpPr>
        <p:spPr>
          <a:xfrm>
            <a:off x="5352726" y="2155188"/>
            <a:ext cx="6038819" cy="2862322"/>
          </a:xfrm>
          <a:prstGeom prst="rect">
            <a:avLst/>
          </a:prstGeom>
          <a:noFill/>
        </p:spPr>
        <p:txBody>
          <a:bodyPr wrap="square" rtlCol="0">
            <a:spAutoFit/>
          </a:bodyPr>
          <a:lstStyle/>
          <a:p>
            <a:pPr marL="285750" indent="-285750">
              <a:buFont typeface="Arial" panose="020B0604020202020204" pitchFamily="34" charset="0"/>
              <a:buChar char="•"/>
            </a:pPr>
            <a:r>
              <a:rPr lang="en-US" dirty="0"/>
              <a:t>Any two points, connected together will make a straight line, from which a slope can be calculated. </a:t>
            </a:r>
          </a:p>
          <a:p>
            <a:pPr marL="285750" indent="-285750">
              <a:buFont typeface="Arial" panose="020B0604020202020204" pitchFamily="34" charset="0"/>
              <a:buChar char="•"/>
            </a:pPr>
            <a:r>
              <a:rPr lang="en-US" dirty="0"/>
              <a:t>When determining slope from a set of data, the slope should be calculated from points directly on the line of best fit, and not necessarily individual data points</a:t>
            </a:r>
          </a:p>
          <a:p>
            <a:pPr marL="285750" indent="-285750">
              <a:buFont typeface="Arial" panose="020B0604020202020204" pitchFamily="34" charset="0"/>
              <a:buChar char="•"/>
            </a:pPr>
            <a:r>
              <a:rPr lang="en-US" dirty="0"/>
              <a:t>On a cartesian plane, the X and Y values of a point are given in parenthesis (X, Y)</a:t>
            </a:r>
          </a:p>
          <a:p>
            <a:pPr marL="285750" indent="-285750">
              <a:buFont typeface="Arial" panose="020B0604020202020204" pitchFamily="34" charset="0"/>
              <a:buChar char="•"/>
            </a:pPr>
            <a:r>
              <a:rPr lang="en-US" dirty="0"/>
              <a:t>From two separate points on a line, you can calculate the change in Y values and the change in X values between the two points to calculate the slope</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E7452DB1-7104-42E8-A624-4134EFA76CD6}"/>
                  </a:ext>
                </a:extLst>
              </p:cNvPr>
              <p:cNvSpPr/>
              <p:nvPr/>
            </p:nvSpPr>
            <p:spPr>
              <a:xfrm>
                <a:off x="7509473" y="5616579"/>
                <a:ext cx="1914498" cy="6562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𝑠𝑙𝑜𝑝𝑒</m:t>
                      </m:r>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den>
                      </m:f>
                    </m:oMath>
                  </m:oMathPara>
                </a14:m>
                <a:endParaRPr lang="en-US" dirty="0"/>
              </a:p>
            </p:txBody>
          </p:sp>
        </mc:Choice>
        <mc:Fallback xmlns="">
          <p:sp>
            <p:nvSpPr>
              <p:cNvPr id="8" name="Rectangle 7">
                <a:extLst>
                  <a:ext uri="{FF2B5EF4-FFF2-40B4-BE49-F238E27FC236}">
                    <a16:creationId xmlns:a16="http://schemas.microsoft.com/office/drawing/2014/main" id="{E7452DB1-7104-42E8-A624-4134EFA76CD6}"/>
                  </a:ext>
                </a:extLst>
              </p:cNvPr>
              <p:cNvSpPr>
                <a:spLocks noRot="1" noChangeAspect="1" noMove="1" noResize="1" noEditPoints="1" noAdjustHandles="1" noChangeArrowheads="1" noChangeShapeType="1" noTextEdit="1"/>
              </p:cNvSpPr>
              <p:nvPr/>
            </p:nvSpPr>
            <p:spPr>
              <a:xfrm>
                <a:off x="7509473" y="5616579"/>
                <a:ext cx="1914498" cy="65620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1587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2E54-0A39-43A9-867C-1CBE0421A10A}"/>
              </a:ext>
            </a:extLst>
          </p:cNvPr>
          <p:cNvSpPr>
            <a:spLocks noGrp="1"/>
          </p:cNvSpPr>
          <p:nvPr>
            <p:ph type="title"/>
          </p:nvPr>
        </p:nvSpPr>
        <p:spPr/>
        <p:txBody>
          <a:bodyPr/>
          <a:lstStyle/>
          <a:p>
            <a:r>
              <a:rPr lang="en-US" dirty="0"/>
              <a:t>Calculating slope</a:t>
            </a:r>
          </a:p>
        </p:txBody>
      </p:sp>
      <p:pic>
        <p:nvPicPr>
          <p:cNvPr id="4" name="Picture 3" descr="A picture containing green, sitting, water, table&#10;&#10;Description automatically generated">
            <a:extLst>
              <a:ext uri="{FF2B5EF4-FFF2-40B4-BE49-F238E27FC236}">
                <a16:creationId xmlns:a16="http://schemas.microsoft.com/office/drawing/2014/main" id="{ECBCA1D2-24A0-48DF-B73C-4059D09320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84832"/>
            <a:ext cx="6029475" cy="4380062"/>
          </a:xfrm>
          <a:prstGeom prst="rect">
            <a:avLst/>
          </a:prstGeom>
        </p:spPr>
      </p:pic>
      <p:sp>
        <p:nvSpPr>
          <p:cNvPr id="5" name="TextBox 4">
            <a:extLst>
              <a:ext uri="{FF2B5EF4-FFF2-40B4-BE49-F238E27FC236}">
                <a16:creationId xmlns:a16="http://schemas.microsoft.com/office/drawing/2014/main" id="{0FC43CC8-CA1B-4347-A0C0-3E5A6B12B798}"/>
              </a:ext>
            </a:extLst>
          </p:cNvPr>
          <p:cNvSpPr txBox="1"/>
          <p:nvPr/>
        </p:nvSpPr>
        <p:spPr>
          <a:xfrm>
            <a:off x="6095999" y="1349120"/>
            <a:ext cx="4496487" cy="646331"/>
          </a:xfrm>
          <a:prstGeom prst="rect">
            <a:avLst/>
          </a:prstGeom>
          <a:noFill/>
        </p:spPr>
        <p:txBody>
          <a:bodyPr wrap="none" rtlCol="0">
            <a:spAutoFit/>
          </a:bodyPr>
          <a:lstStyle/>
          <a:p>
            <a:r>
              <a:rPr lang="en-US" dirty="0"/>
              <a:t>The graph to the left has two data points given</a:t>
            </a:r>
          </a:p>
          <a:p>
            <a:r>
              <a:rPr lang="en-US" dirty="0"/>
              <a:t>Point 1 = (-5, -3.125) &amp; Point 2 = (7, 4.375)</a:t>
            </a:r>
          </a:p>
        </p:txBody>
      </p:sp>
      <p:sp>
        <p:nvSpPr>
          <p:cNvPr id="6" name="TextBox 5">
            <a:extLst>
              <a:ext uri="{FF2B5EF4-FFF2-40B4-BE49-F238E27FC236}">
                <a16:creationId xmlns:a16="http://schemas.microsoft.com/office/drawing/2014/main" id="{7063EA8B-AD3A-4B14-9CD9-3B7B291EE745}"/>
              </a:ext>
            </a:extLst>
          </p:cNvPr>
          <p:cNvSpPr txBox="1"/>
          <p:nvPr/>
        </p:nvSpPr>
        <p:spPr>
          <a:xfrm>
            <a:off x="6181655" y="3192995"/>
            <a:ext cx="2534668" cy="369332"/>
          </a:xfrm>
          <a:prstGeom prst="rect">
            <a:avLst/>
          </a:prstGeom>
          <a:noFill/>
        </p:spPr>
        <p:txBody>
          <a:bodyPr wrap="none" rtlCol="0">
            <a:spAutoFit/>
          </a:bodyPr>
          <a:lstStyle/>
          <a:p>
            <a:r>
              <a:rPr lang="en-US" dirty="0"/>
              <a:t>The change in the X value</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F6A44F0-3E53-4571-8FC1-DAC84867F803}"/>
                  </a:ext>
                </a:extLst>
              </p:cNvPr>
              <p:cNvSpPr txBox="1"/>
              <p:nvPr/>
            </p:nvSpPr>
            <p:spPr>
              <a:xfrm>
                <a:off x="6248182" y="3700440"/>
                <a:ext cx="42126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=(7−</m:t>
                      </m:r>
                      <m:sPre>
                        <m:sPrePr>
                          <m:ctrlPr>
                            <a:rPr lang="en-US" b="0" i="1" smtClean="0">
                              <a:latin typeface="Cambria Math" panose="02040503050406030204" pitchFamily="18" charset="0"/>
                              <a:ea typeface="Cambria Math" panose="02040503050406030204" pitchFamily="18" charset="0"/>
                            </a:rPr>
                          </m:ctrlPr>
                        </m:sPrePr>
                        <m:sub>
                          <m:r>
                            <a:rPr lang="en-US" b="0" i="1" smtClean="0">
                              <a:latin typeface="Cambria Math" panose="02040503050406030204" pitchFamily="18" charset="0"/>
                              <a:ea typeface="Cambria Math" panose="02040503050406030204" pitchFamily="18" charset="0"/>
                            </a:rPr>
                            <m:t> </m:t>
                          </m:r>
                        </m:sub>
                        <m:sup>
                          <m:r>
                            <a:rPr lang="en-US" b="0" i="1" smtClean="0">
                              <a:latin typeface="Cambria Math" panose="02040503050406030204" pitchFamily="18" charset="0"/>
                            </a:rPr>
                            <m:t>−</m:t>
                          </m:r>
                        </m:sup>
                        <m:e>
                          <m:r>
                            <a:rPr lang="en-US" b="0" i="1" smtClean="0">
                              <a:latin typeface="Cambria Math" panose="02040503050406030204" pitchFamily="18" charset="0"/>
                            </a:rPr>
                            <m:t>5)=</m:t>
                          </m:r>
                          <m:d>
                            <m:dPr>
                              <m:ctrlPr>
                                <a:rPr lang="en-US" b="0" i="1" smtClean="0">
                                  <a:latin typeface="Cambria Math" panose="02040503050406030204" pitchFamily="18" charset="0"/>
                                </a:rPr>
                              </m:ctrlPr>
                            </m:dPr>
                            <m:e>
                              <m:r>
                                <a:rPr lang="en-US" b="0" i="1" smtClean="0">
                                  <a:latin typeface="Cambria Math" panose="02040503050406030204" pitchFamily="18" charset="0"/>
                                </a:rPr>
                                <m:t>7+5</m:t>
                              </m:r>
                            </m:e>
                          </m:d>
                          <m:r>
                            <a:rPr lang="en-US" b="0" i="1" smtClean="0">
                              <a:latin typeface="Cambria Math" panose="02040503050406030204" pitchFamily="18" charset="0"/>
                            </a:rPr>
                            <m:t>=12</m:t>
                          </m:r>
                        </m:e>
                      </m:sPre>
                    </m:oMath>
                  </m:oMathPara>
                </a14:m>
                <a:endParaRPr lang="en-US" dirty="0"/>
              </a:p>
            </p:txBody>
          </p:sp>
        </mc:Choice>
        <mc:Fallback xmlns="">
          <p:sp>
            <p:nvSpPr>
              <p:cNvPr id="7" name="TextBox 6">
                <a:extLst>
                  <a:ext uri="{FF2B5EF4-FFF2-40B4-BE49-F238E27FC236}">
                    <a16:creationId xmlns:a16="http://schemas.microsoft.com/office/drawing/2014/main" id="{EF6A44F0-3E53-4571-8FC1-DAC84867F803}"/>
                  </a:ext>
                </a:extLst>
              </p:cNvPr>
              <p:cNvSpPr txBox="1">
                <a:spLocks noRot="1" noChangeAspect="1" noMove="1" noResize="1" noEditPoints="1" noAdjustHandles="1" noChangeArrowheads="1" noChangeShapeType="1" noTextEdit="1"/>
              </p:cNvSpPr>
              <p:nvPr/>
            </p:nvSpPr>
            <p:spPr>
              <a:xfrm>
                <a:off x="6248182" y="3700440"/>
                <a:ext cx="4212628" cy="276999"/>
              </a:xfrm>
              <a:prstGeom prst="rect">
                <a:avLst/>
              </a:prstGeom>
              <a:blipFill>
                <a:blip r:embed="rId3"/>
                <a:stretch>
                  <a:fillRect l="-868" t="-2222" r="-724" b="-35556"/>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F9225B2B-BD57-463C-878F-A7A8E24E0862}"/>
              </a:ext>
            </a:extLst>
          </p:cNvPr>
          <p:cNvSpPr txBox="1"/>
          <p:nvPr/>
        </p:nvSpPr>
        <p:spPr>
          <a:xfrm>
            <a:off x="6106253" y="2084832"/>
            <a:ext cx="2534668" cy="369332"/>
          </a:xfrm>
          <a:prstGeom prst="rect">
            <a:avLst/>
          </a:prstGeom>
          <a:noFill/>
        </p:spPr>
        <p:txBody>
          <a:bodyPr wrap="none" rtlCol="0">
            <a:spAutoFit/>
          </a:bodyPr>
          <a:lstStyle/>
          <a:p>
            <a:r>
              <a:rPr lang="en-US" dirty="0"/>
              <a:t>The change in the Y value</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405A1A5-0F50-49CE-B038-15FDA694967B}"/>
                  </a:ext>
                </a:extLst>
              </p:cNvPr>
              <p:cNvSpPr txBox="1"/>
              <p:nvPr/>
            </p:nvSpPr>
            <p:spPr>
              <a:xfrm>
                <a:off x="6181655" y="2620962"/>
                <a:ext cx="406733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𝑌</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𝑌</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4.375−</m:t>
                          </m:r>
                          <m:sPre>
                            <m:sPrePr>
                              <m:ctrlPr>
                                <a:rPr lang="en-US" b="0" i="1" smtClean="0">
                                  <a:latin typeface="Cambria Math" panose="02040503050406030204" pitchFamily="18" charset="0"/>
                                  <a:ea typeface="Cambria Math" panose="02040503050406030204" pitchFamily="18" charset="0"/>
                                </a:rPr>
                              </m:ctrlPr>
                            </m:sPrePr>
                            <m:sub>
                              <m:r>
                                <a:rPr lang="en-US" b="0" i="1" smtClean="0">
                                  <a:latin typeface="Cambria Math" panose="02040503050406030204" pitchFamily="18" charset="0"/>
                                  <a:ea typeface="Cambria Math" panose="02040503050406030204" pitchFamily="18" charset="0"/>
                                </a:rPr>
                                <m:t> </m:t>
                              </m:r>
                            </m:sub>
                            <m:sup>
                              <m:r>
                                <a:rPr lang="en-US" b="0" i="1" smtClean="0">
                                  <a:latin typeface="Cambria Math" panose="02040503050406030204" pitchFamily="18" charset="0"/>
                                </a:rPr>
                                <m:t>−</m:t>
                              </m:r>
                            </m:sup>
                            <m:e>
                              <m:r>
                                <a:rPr lang="en-US" b="0" i="1" smtClean="0">
                                  <a:latin typeface="Cambria Math" panose="02040503050406030204" pitchFamily="18" charset="0"/>
                                </a:rPr>
                                <m:t>3.125</m:t>
                              </m:r>
                            </m:e>
                          </m:sPre>
                        </m:e>
                      </m:d>
                      <m:r>
                        <a:rPr lang="en-US" b="0" i="1" smtClean="0">
                          <a:latin typeface="Cambria Math" panose="02040503050406030204" pitchFamily="18" charset="0"/>
                          <a:ea typeface="Cambria Math" panose="02040503050406030204" pitchFamily="18" charset="0"/>
                        </a:rPr>
                        <m:t>=7.5 </m:t>
                      </m:r>
                    </m:oMath>
                  </m:oMathPara>
                </a14:m>
                <a:endParaRPr lang="en-US" dirty="0"/>
              </a:p>
            </p:txBody>
          </p:sp>
        </mc:Choice>
        <mc:Fallback xmlns="">
          <p:sp>
            <p:nvSpPr>
              <p:cNvPr id="9" name="TextBox 8">
                <a:extLst>
                  <a:ext uri="{FF2B5EF4-FFF2-40B4-BE49-F238E27FC236}">
                    <a16:creationId xmlns:a16="http://schemas.microsoft.com/office/drawing/2014/main" id="{A405A1A5-0F50-49CE-B038-15FDA694967B}"/>
                  </a:ext>
                </a:extLst>
              </p:cNvPr>
              <p:cNvSpPr txBox="1">
                <a:spLocks noRot="1" noChangeAspect="1" noMove="1" noResize="1" noEditPoints="1" noAdjustHandles="1" noChangeArrowheads="1" noChangeShapeType="1" noTextEdit="1"/>
              </p:cNvSpPr>
              <p:nvPr/>
            </p:nvSpPr>
            <p:spPr>
              <a:xfrm>
                <a:off x="6181655" y="2620962"/>
                <a:ext cx="4067332" cy="276999"/>
              </a:xfrm>
              <a:prstGeom prst="rect">
                <a:avLst/>
              </a:prstGeom>
              <a:blipFill>
                <a:blip r:embed="rId4"/>
                <a:stretch>
                  <a:fillRect l="-750"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A10A8B7-AD57-4A88-808A-F348008C039B}"/>
                  </a:ext>
                </a:extLst>
              </p:cNvPr>
              <p:cNvSpPr/>
              <p:nvPr/>
            </p:nvSpPr>
            <p:spPr>
              <a:xfrm>
                <a:off x="6759089" y="4300866"/>
                <a:ext cx="2912464" cy="6165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𝑠𝑙𝑜𝑝𝑒</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7.5</m:t>
                          </m:r>
                        </m:num>
                        <m:den>
                          <m:r>
                            <a:rPr lang="en-US" b="0" i="1" smtClean="0">
                              <a:latin typeface="Cambria Math" panose="02040503050406030204" pitchFamily="18" charset="0"/>
                            </a:rPr>
                            <m:t>12</m:t>
                          </m:r>
                        </m:den>
                      </m:f>
                      <m:r>
                        <a:rPr lang="en-US" b="0" i="1" smtClean="0">
                          <a:latin typeface="Cambria Math" panose="02040503050406030204" pitchFamily="18" charset="0"/>
                        </a:rPr>
                        <m:t>=0.625</m:t>
                      </m:r>
                    </m:oMath>
                  </m:oMathPara>
                </a14:m>
                <a:endParaRPr lang="en-US" dirty="0"/>
              </a:p>
            </p:txBody>
          </p:sp>
        </mc:Choice>
        <mc:Fallback xmlns="">
          <p:sp>
            <p:nvSpPr>
              <p:cNvPr id="11" name="Rectangle 10">
                <a:extLst>
                  <a:ext uri="{FF2B5EF4-FFF2-40B4-BE49-F238E27FC236}">
                    <a16:creationId xmlns:a16="http://schemas.microsoft.com/office/drawing/2014/main" id="{2A10A8B7-AD57-4A88-808A-F348008C039B}"/>
                  </a:ext>
                </a:extLst>
              </p:cNvPr>
              <p:cNvSpPr>
                <a:spLocks noRot="1" noChangeAspect="1" noMove="1" noResize="1" noEditPoints="1" noAdjustHandles="1" noChangeArrowheads="1" noChangeShapeType="1" noTextEdit="1"/>
              </p:cNvSpPr>
              <p:nvPr/>
            </p:nvSpPr>
            <p:spPr>
              <a:xfrm>
                <a:off x="6759089" y="4300866"/>
                <a:ext cx="2912464" cy="616515"/>
              </a:xfrm>
              <a:prstGeom prst="rect">
                <a:avLst/>
              </a:prstGeom>
              <a:blipFill>
                <a:blip r:embed="rId5"/>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917EFAD1-70A0-4D6B-AC63-D9A598BFCB24}"/>
              </a:ext>
            </a:extLst>
          </p:cNvPr>
          <p:cNvSpPr txBox="1"/>
          <p:nvPr/>
        </p:nvSpPr>
        <p:spPr>
          <a:xfrm>
            <a:off x="6128793" y="5033473"/>
            <a:ext cx="5861209" cy="646331"/>
          </a:xfrm>
          <a:prstGeom prst="rect">
            <a:avLst/>
          </a:prstGeom>
          <a:noFill/>
        </p:spPr>
        <p:txBody>
          <a:bodyPr wrap="square" rtlCol="0">
            <a:spAutoFit/>
          </a:bodyPr>
          <a:lstStyle/>
          <a:p>
            <a:r>
              <a:rPr lang="en-US" dirty="0"/>
              <a:t>This slope value would be true for any two points chosen along this line</a:t>
            </a:r>
          </a:p>
        </p:txBody>
      </p:sp>
      <p:sp>
        <p:nvSpPr>
          <p:cNvPr id="13" name="TextBox 12">
            <a:extLst>
              <a:ext uri="{FF2B5EF4-FFF2-40B4-BE49-F238E27FC236}">
                <a16:creationId xmlns:a16="http://schemas.microsoft.com/office/drawing/2014/main" id="{52EDEC5E-EE32-4148-9171-DAE5B0619B78}"/>
              </a:ext>
            </a:extLst>
          </p:cNvPr>
          <p:cNvSpPr txBox="1"/>
          <p:nvPr/>
        </p:nvSpPr>
        <p:spPr>
          <a:xfrm>
            <a:off x="6162527" y="5819686"/>
            <a:ext cx="4218847" cy="646331"/>
          </a:xfrm>
          <a:prstGeom prst="rect">
            <a:avLst/>
          </a:prstGeom>
          <a:noFill/>
        </p:spPr>
        <p:txBody>
          <a:bodyPr wrap="none" rtlCol="0">
            <a:spAutoFit/>
          </a:bodyPr>
          <a:lstStyle/>
          <a:p>
            <a:r>
              <a:rPr lang="en-US" dirty="0"/>
              <a:t>What is each block worth in the X direction?</a:t>
            </a:r>
          </a:p>
          <a:p>
            <a:r>
              <a:rPr lang="en-US" dirty="0"/>
              <a:t>What is each block worth in the Y direction?</a:t>
            </a:r>
          </a:p>
        </p:txBody>
      </p:sp>
    </p:spTree>
    <p:extLst>
      <p:ext uri="{BB962C8B-B14F-4D97-AF65-F5344CB8AC3E}">
        <p14:creationId xmlns:p14="http://schemas.microsoft.com/office/powerpoint/2010/main" val="4057081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77A75-CD26-4733-9A96-46DC7FDFC566}"/>
              </a:ext>
            </a:extLst>
          </p:cNvPr>
          <p:cNvSpPr>
            <a:spLocks noGrp="1"/>
          </p:cNvSpPr>
          <p:nvPr>
            <p:ph type="title"/>
          </p:nvPr>
        </p:nvSpPr>
        <p:spPr/>
        <p:txBody>
          <a:bodyPr/>
          <a:lstStyle/>
          <a:p>
            <a:r>
              <a:rPr lang="en-US" dirty="0"/>
              <a:t>Calculating intercept</a:t>
            </a:r>
          </a:p>
        </p:txBody>
      </p:sp>
      <p:sp>
        <p:nvSpPr>
          <p:cNvPr id="3" name="Content Placeholder 2">
            <a:extLst>
              <a:ext uri="{FF2B5EF4-FFF2-40B4-BE49-F238E27FC236}">
                <a16:creationId xmlns:a16="http://schemas.microsoft.com/office/drawing/2014/main" id="{0676E58F-9F2E-4148-AA31-264059136C00}"/>
              </a:ext>
            </a:extLst>
          </p:cNvPr>
          <p:cNvSpPr>
            <a:spLocks noGrp="1"/>
          </p:cNvSpPr>
          <p:nvPr>
            <p:ph idx="1"/>
          </p:nvPr>
        </p:nvSpPr>
        <p:spPr/>
        <p:txBody>
          <a:bodyPr/>
          <a:lstStyle/>
          <a:p>
            <a:r>
              <a:rPr lang="en-US" dirty="0"/>
              <a:t>While the slope defines the rate of change between the X and Y values (the tilt of the line), the Intercept is the overall position of the line, up and down on the Cartesian Plane</a:t>
            </a:r>
          </a:p>
          <a:p>
            <a:r>
              <a:rPr lang="en-US" dirty="0"/>
              <a:t>The previous graph had an intercept of 0, therefore the equation for that line was y=0.625x + 0</a:t>
            </a:r>
          </a:p>
          <a:p>
            <a:r>
              <a:rPr lang="en-US" dirty="0"/>
              <a:t>If the intercept is 0, the line passes directly through the origin point where the X and Y axis cross each other. </a:t>
            </a:r>
          </a:p>
          <a:p>
            <a:r>
              <a:rPr lang="en-US" dirty="0"/>
              <a:t>The intercept can be calculated using the slope and a single data point (x and y values) on the line itself.</a:t>
            </a:r>
          </a:p>
          <a:p>
            <a:r>
              <a:rPr lang="en-US" dirty="0"/>
              <a:t>When calculating intercept from a set of data, the slope must be determined first.</a:t>
            </a:r>
          </a:p>
        </p:txBody>
      </p:sp>
    </p:spTree>
    <p:extLst>
      <p:ext uri="{BB962C8B-B14F-4D97-AF65-F5344CB8AC3E}">
        <p14:creationId xmlns:p14="http://schemas.microsoft.com/office/powerpoint/2010/main" val="1239088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9C38C-19F6-4CD0-85AC-89BF2210C285}"/>
              </a:ext>
            </a:extLst>
          </p:cNvPr>
          <p:cNvSpPr>
            <a:spLocks noGrp="1"/>
          </p:cNvSpPr>
          <p:nvPr>
            <p:ph type="title"/>
          </p:nvPr>
        </p:nvSpPr>
        <p:spPr/>
        <p:txBody>
          <a:bodyPr/>
          <a:lstStyle/>
          <a:p>
            <a:r>
              <a:rPr lang="en-US" dirty="0"/>
              <a:t>Calculating intercept</a:t>
            </a:r>
          </a:p>
        </p:txBody>
      </p:sp>
      <p:pic>
        <p:nvPicPr>
          <p:cNvPr id="8" name="Picture 7" descr="A picture containing building, green, water&#10;&#10;Description automatically generated">
            <a:extLst>
              <a:ext uri="{FF2B5EF4-FFF2-40B4-BE49-F238E27FC236}">
                <a16:creationId xmlns:a16="http://schemas.microsoft.com/office/drawing/2014/main" id="{16B788C2-41B4-4374-B64E-DA66D6AF00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9419" y="2084832"/>
            <a:ext cx="6032004" cy="4381899"/>
          </a:xfrm>
          <a:prstGeom prst="rect">
            <a:avLst/>
          </a:prstGeom>
        </p:spPr>
      </p:pic>
      <p:sp>
        <p:nvSpPr>
          <p:cNvPr id="9" name="TextBox 8">
            <a:extLst>
              <a:ext uri="{FF2B5EF4-FFF2-40B4-BE49-F238E27FC236}">
                <a16:creationId xmlns:a16="http://schemas.microsoft.com/office/drawing/2014/main" id="{339DAA4A-EC7C-4227-B851-962AF8BEFF93}"/>
              </a:ext>
            </a:extLst>
          </p:cNvPr>
          <p:cNvSpPr txBox="1"/>
          <p:nvPr/>
        </p:nvSpPr>
        <p:spPr>
          <a:xfrm>
            <a:off x="268448" y="2085981"/>
            <a:ext cx="5827552" cy="923330"/>
          </a:xfrm>
          <a:prstGeom prst="rect">
            <a:avLst/>
          </a:prstGeom>
          <a:noFill/>
        </p:spPr>
        <p:txBody>
          <a:bodyPr wrap="square" rtlCol="0">
            <a:spAutoFit/>
          </a:bodyPr>
          <a:lstStyle/>
          <a:p>
            <a:pPr marL="285750" indent="-285750">
              <a:buFont typeface="Arial" panose="020B0604020202020204" pitchFamily="34" charset="0"/>
              <a:buChar char="•"/>
            </a:pPr>
            <a:r>
              <a:rPr lang="en-US" dirty="0"/>
              <a:t>In this graph, the slope of the line is still 0.625, but the line no longer crosses the Y-Axis through the origin</a:t>
            </a:r>
          </a:p>
          <a:p>
            <a:pPr marL="285750" indent="-285750">
              <a:buFont typeface="Arial" panose="020B0604020202020204" pitchFamily="34" charset="0"/>
              <a:buChar char="•"/>
            </a:pPr>
            <a:r>
              <a:rPr lang="en-US" dirty="0"/>
              <a:t>The straight line has the standard equation of:</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1A4A191-5574-44A6-8127-2ABB74BBA599}"/>
                  </a:ext>
                </a:extLst>
              </p:cNvPr>
              <p:cNvSpPr txBox="1"/>
              <p:nvPr/>
            </p:nvSpPr>
            <p:spPr>
              <a:xfrm>
                <a:off x="2277270" y="3009311"/>
                <a:ext cx="12295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𝑚𝑥</m:t>
                      </m:r>
                      <m:r>
                        <a:rPr lang="en-US" b="0" i="1" smtClean="0">
                          <a:latin typeface="Cambria Math" panose="02040503050406030204" pitchFamily="18" charset="0"/>
                        </a:rPr>
                        <m:t>+</m:t>
                      </m:r>
                      <m:r>
                        <a:rPr lang="en-US" b="0" i="1" smtClean="0">
                          <a:latin typeface="Cambria Math" panose="02040503050406030204" pitchFamily="18" charset="0"/>
                        </a:rPr>
                        <m:t>𝑏</m:t>
                      </m:r>
                    </m:oMath>
                  </m:oMathPara>
                </a14:m>
                <a:endParaRPr lang="en-US" dirty="0"/>
              </a:p>
            </p:txBody>
          </p:sp>
        </mc:Choice>
        <mc:Fallback xmlns="">
          <p:sp>
            <p:nvSpPr>
              <p:cNvPr id="10" name="TextBox 9">
                <a:extLst>
                  <a:ext uri="{FF2B5EF4-FFF2-40B4-BE49-F238E27FC236}">
                    <a16:creationId xmlns:a16="http://schemas.microsoft.com/office/drawing/2014/main" id="{41A4A191-5574-44A6-8127-2ABB74BBA599}"/>
                  </a:ext>
                </a:extLst>
              </p:cNvPr>
              <p:cNvSpPr txBox="1">
                <a:spLocks noRot="1" noChangeAspect="1" noMove="1" noResize="1" noEditPoints="1" noAdjustHandles="1" noChangeArrowheads="1" noChangeShapeType="1" noTextEdit="1"/>
              </p:cNvSpPr>
              <p:nvPr/>
            </p:nvSpPr>
            <p:spPr>
              <a:xfrm>
                <a:off x="2277270" y="3009311"/>
                <a:ext cx="1229504" cy="276999"/>
              </a:xfrm>
              <a:prstGeom prst="rect">
                <a:avLst/>
              </a:prstGeom>
              <a:blipFill>
                <a:blip r:embed="rId3"/>
                <a:stretch>
                  <a:fillRect l="-3980" r="-3483" b="-26667"/>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6A7E7069-FDB2-4F57-8008-386FAD858E26}"/>
              </a:ext>
            </a:extLst>
          </p:cNvPr>
          <p:cNvSpPr txBox="1"/>
          <p:nvPr/>
        </p:nvSpPr>
        <p:spPr>
          <a:xfrm>
            <a:off x="334104" y="3335133"/>
            <a:ext cx="5441659" cy="646331"/>
          </a:xfrm>
          <a:prstGeom prst="rect">
            <a:avLst/>
          </a:prstGeom>
          <a:noFill/>
        </p:spPr>
        <p:txBody>
          <a:bodyPr wrap="square" rtlCol="0">
            <a:spAutoFit/>
          </a:bodyPr>
          <a:lstStyle/>
          <a:p>
            <a:r>
              <a:rPr lang="en-US" dirty="0"/>
              <a:t>With m being the slope. Based on the slope value calculated of 0.625, the equation for this line would be </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A55BC08-1AF0-44A7-8B33-C218508CC44F}"/>
                  </a:ext>
                </a:extLst>
              </p:cNvPr>
              <p:cNvSpPr txBox="1"/>
              <p:nvPr/>
            </p:nvSpPr>
            <p:spPr>
              <a:xfrm>
                <a:off x="2093726" y="3998782"/>
                <a:ext cx="15965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=0.625</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𝑏</m:t>
                      </m:r>
                    </m:oMath>
                  </m:oMathPara>
                </a14:m>
                <a:endParaRPr lang="en-US" dirty="0"/>
              </a:p>
            </p:txBody>
          </p:sp>
        </mc:Choice>
        <mc:Fallback xmlns="">
          <p:sp>
            <p:nvSpPr>
              <p:cNvPr id="12" name="TextBox 11">
                <a:extLst>
                  <a:ext uri="{FF2B5EF4-FFF2-40B4-BE49-F238E27FC236}">
                    <a16:creationId xmlns:a16="http://schemas.microsoft.com/office/drawing/2014/main" id="{CA55BC08-1AF0-44A7-8B33-C218508CC44F}"/>
                  </a:ext>
                </a:extLst>
              </p:cNvPr>
              <p:cNvSpPr txBox="1">
                <a:spLocks noRot="1" noChangeAspect="1" noMove="1" noResize="1" noEditPoints="1" noAdjustHandles="1" noChangeArrowheads="1" noChangeShapeType="1" noTextEdit="1"/>
              </p:cNvSpPr>
              <p:nvPr/>
            </p:nvSpPr>
            <p:spPr>
              <a:xfrm>
                <a:off x="2093726" y="3998782"/>
                <a:ext cx="1596591" cy="276999"/>
              </a:xfrm>
              <a:prstGeom prst="rect">
                <a:avLst/>
              </a:prstGeom>
              <a:blipFill>
                <a:blip r:embed="rId4"/>
                <a:stretch>
                  <a:fillRect l="-3053" r="-2290" b="-26667"/>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8587E9BC-A6B8-488B-B6B8-DAB48B3E7C49}"/>
              </a:ext>
            </a:extLst>
          </p:cNvPr>
          <p:cNvSpPr txBox="1"/>
          <p:nvPr/>
        </p:nvSpPr>
        <p:spPr>
          <a:xfrm>
            <a:off x="170577" y="4307286"/>
            <a:ext cx="5575883" cy="923330"/>
          </a:xfrm>
          <a:prstGeom prst="rect">
            <a:avLst/>
          </a:prstGeom>
          <a:noFill/>
        </p:spPr>
        <p:txBody>
          <a:bodyPr wrap="square" rtlCol="0">
            <a:spAutoFit/>
          </a:bodyPr>
          <a:lstStyle/>
          <a:p>
            <a:r>
              <a:rPr lang="en-US" dirty="0"/>
              <a:t>Choosing any data point on the line, such as (7, 7.375) and plugging the x and y values in the equation, the intercept (b) can be solved for</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7B20FD68-614F-4D4D-A4FB-172C8EAA8B27}"/>
                  </a:ext>
                </a:extLst>
              </p:cNvPr>
              <p:cNvSpPr/>
              <p:nvPr/>
            </p:nvSpPr>
            <p:spPr>
              <a:xfrm>
                <a:off x="1597275" y="5279439"/>
                <a:ext cx="258949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7.375=</m:t>
                      </m:r>
                      <m:d>
                        <m:dPr>
                          <m:ctrlPr>
                            <a:rPr lang="en-US" b="0" i="1" smtClean="0">
                              <a:latin typeface="Cambria Math" panose="02040503050406030204" pitchFamily="18" charset="0"/>
                            </a:rPr>
                          </m:ctrlPr>
                        </m:dPr>
                        <m:e>
                          <m:r>
                            <a:rPr lang="en-US" b="0" i="1" smtClean="0">
                              <a:latin typeface="Cambria Math" panose="02040503050406030204" pitchFamily="18" charset="0"/>
                            </a:rPr>
                            <m:t>0.625</m:t>
                          </m:r>
                        </m:e>
                      </m:d>
                      <m:d>
                        <m:dPr>
                          <m:ctrlPr>
                            <a:rPr lang="en-US" b="0" i="1" smtClean="0">
                              <a:latin typeface="Cambria Math" panose="02040503050406030204" pitchFamily="18" charset="0"/>
                            </a:rPr>
                          </m:ctrlPr>
                        </m:dPr>
                        <m:e>
                          <m:r>
                            <a:rPr lang="en-US" b="0" i="1" smtClean="0">
                              <a:latin typeface="Cambria Math" panose="02040503050406030204" pitchFamily="18" charset="0"/>
                            </a:rPr>
                            <m:t>7</m:t>
                          </m:r>
                        </m:e>
                      </m:d>
                      <m:r>
                        <a:rPr lang="en-US" b="0" i="1" smtClean="0">
                          <a:latin typeface="Cambria Math" panose="02040503050406030204" pitchFamily="18" charset="0"/>
                        </a:rPr>
                        <m:t>+</m:t>
                      </m:r>
                      <m:r>
                        <a:rPr lang="en-US" b="0" i="1" smtClean="0">
                          <a:latin typeface="Cambria Math" panose="02040503050406030204" pitchFamily="18" charset="0"/>
                        </a:rPr>
                        <m:t>𝑏</m:t>
                      </m:r>
                    </m:oMath>
                  </m:oMathPara>
                </a14:m>
                <a:endParaRPr lang="en-US" dirty="0"/>
              </a:p>
            </p:txBody>
          </p:sp>
        </mc:Choice>
        <mc:Fallback xmlns="">
          <p:sp>
            <p:nvSpPr>
              <p:cNvPr id="15" name="Rectangle 14">
                <a:extLst>
                  <a:ext uri="{FF2B5EF4-FFF2-40B4-BE49-F238E27FC236}">
                    <a16:creationId xmlns:a16="http://schemas.microsoft.com/office/drawing/2014/main" id="{7B20FD68-614F-4D4D-A4FB-172C8EAA8B27}"/>
                  </a:ext>
                </a:extLst>
              </p:cNvPr>
              <p:cNvSpPr>
                <a:spLocks noRot="1" noChangeAspect="1" noMove="1" noResize="1" noEditPoints="1" noAdjustHandles="1" noChangeArrowheads="1" noChangeShapeType="1" noTextEdit="1"/>
              </p:cNvSpPr>
              <p:nvPr/>
            </p:nvSpPr>
            <p:spPr>
              <a:xfrm>
                <a:off x="1597275" y="5279439"/>
                <a:ext cx="2589491"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4585A880-6CE9-4321-812D-F89B23701DD2}"/>
                  </a:ext>
                </a:extLst>
              </p:cNvPr>
              <p:cNvSpPr/>
              <p:nvPr/>
            </p:nvSpPr>
            <p:spPr>
              <a:xfrm>
                <a:off x="1852985" y="5778683"/>
                <a:ext cx="207806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7.375=4.375+</m:t>
                      </m:r>
                      <m:r>
                        <a:rPr lang="en-US" b="0" i="1" smtClean="0">
                          <a:latin typeface="Cambria Math" panose="02040503050406030204" pitchFamily="18" charset="0"/>
                        </a:rPr>
                        <m:t>𝑏</m:t>
                      </m:r>
                    </m:oMath>
                  </m:oMathPara>
                </a14:m>
                <a:endParaRPr lang="en-US" dirty="0"/>
              </a:p>
            </p:txBody>
          </p:sp>
        </mc:Choice>
        <mc:Fallback xmlns="">
          <p:sp>
            <p:nvSpPr>
              <p:cNvPr id="17" name="Rectangle 16">
                <a:extLst>
                  <a:ext uri="{FF2B5EF4-FFF2-40B4-BE49-F238E27FC236}">
                    <a16:creationId xmlns:a16="http://schemas.microsoft.com/office/drawing/2014/main" id="{4585A880-6CE9-4321-812D-F89B23701DD2}"/>
                  </a:ext>
                </a:extLst>
              </p:cNvPr>
              <p:cNvSpPr>
                <a:spLocks noRot="1" noChangeAspect="1" noMove="1" noResize="1" noEditPoints="1" noAdjustHandles="1" noChangeArrowheads="1" noChangeShapeType="1" noTextEdit="1"/>
              </p:cNvSpPr>
              <p:nvPr/>
            </p:nvSpPr>
            <p:spPr>
              <a:xfrm>
                <a:off x="1852985" y="5778683"/>
                <a:ext cx="2078069"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C4AF6B5-46C9-4471-83B1-FFD2CA370490}"/>
                  </a:ext>
                </a:extLst>
              </p:cNvPr>
              <p:cNvSpPr txBox="1"/>
              <p:nvPr/>
            </p:nvSpPr>
            <p:spPr>
              <a:xfrm>
                <a:off x="2571036" y="6272784"/>
                <a:ext cx="6238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=3</m:t>
                      </m:r>
                    </m:oMath>
                  </m:oMathPara>
                </a14:m>
                <a:endParaRPr lang="en-US" dirty="0"/>
              </a:p>
            </p:txBody>
          </p:sp>
        </mc:Choice>
        <mc:Fallback xmlns="">
          <p:sp>
            <p:nvSpPr>
              <p:cNvPr id="18" name="TextBox 17">
                <a:extLst>
                  <a:ext uri="{FF2B5EF4-FFF2-40B4-BE49-F238E27FC236}">
                    <a16:creationId xmlns:a16="http://schemas.microsoft.com/office/drawing/2014/main" id="{EC4AF6B5-46C9-4471-83B1-FFD2CA370490}"/>
                  </a:ext>
                </a:extLst>
              </p:cNvPr>
              <p:cNvSpPr txBox="1">
                <a:spLocks noRot="1" noChangeAspect="1" noMove="1" noResize="1" noEditPoints="1" noAdjustHandles="1" noChangeArrowheads="1" noChangeShapeType="1" noTextEdit="1"/>
              </p:cNvSpPr>
              <p:nvPr/>
            </p:nvSpPr>
            <p:spPr>
              <a:xfrm>
                <a:off x="2571036" y="6272784"/>
                <a:ext cx="623825" cy="276999"/>
              </a:xfrm>
              <a:prstGeom prst="rect">
                <a:avLst/>
              </a:prstGeom>
              <a:blipFill>
                <a:blip r:embed="rId7"/>
                <a:stretch>
                  <a:fillRect l="-7843" r="-7843" b="-8889"/>
                </a:stretch>
              </a:blipFill>
            </p:spPr>
            <p:txBody>
              <a:bodyPr/>
              <a:lstStyle/>
              <a:p>
                <a:r>
                  <a:rPr lang="en-US">
                    <a:noFill/>
                  </a:rPr>
                  <a:t> </a:t>
                </a:r>
              </a:p>
            </p:txBody>
          </p:sp>
        </mc:Fallback>
      </mc:AlternateContent>
    </p:spTree>
    <p:extLst>
      <p:ext uri="{BB962C8B-B14F-4D97-AF65-F5344CB8AC3E}">
        <p14:creationId xmlns:p14="http://schemas.microsoft.com/office/powerpoint/2010/main" val="2957055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33803-5C3C-4CE8-912F-2CD2D1619321}"/>
              </a:ext>
            </a:extLst>
          </p:cNvPr>
          <p:cNvSpPr>
            <a:spLocks noGrp="1"/>
          </p:cNvSpPr>
          <p:nvPr>
            <p:ph type="title"/>
          </p:nvPr>
        </p:nvSpPr>
        <p:spPr/>
        <p:txBody>
          <a:bodyPr/>
          <a:lstStyle/>
          <a:p>
            <a:r>
              <a:rPr lang="en-US" dirty="0"/>
              <a:t>Preparing graphs</a:t>
            </a:r>
          </a:p>
        </p:txBody>
      </p:sp>
      <p:sp>
        <p:nvSpPr>
          <p:cNvPr id="3" name="Content Placeholder 2">
            <a:extLst>
              <a:ext uri="{FF2B5EF4-FFF2-40B4-BE49-F238E27FC236}">
                <a16:creationId xmlns:a16="http://schemas.microsoft.com/office/drawing/2014/main" id="{5D9C6C56-23F1-4D3C-8932-288629C264CC}"/>
              </a:ext>
            </a:extLst>
          </p:cNvPr>
          <p:cNvSpPr>
            <a:spLocks noGrp="1"/>
          </p:cNvSpPr>
          <p:nvPr>
            <p:ph idx="1"/>
          </p:nvPr>
        </p:nvSpPr>
        <p:spPr>
          <a:xfrm>
            <a:off x="1024128" y="1867255"/>
            <a:ext cx="9720073" cy="4482269"/>
          </a:xfrm>
        </p:spPr>
        <p:txBody>
          <a:bodyPr>
            <a:normAutofit fontScale="92500"/>
          </a:bodyPr>
          <a:lstStyle/>
          <a:p>
            <a:r>
              <a:rPr lang="en-US" dirty="0"/>
              <a:t>When preparing your own graph from a set of data, you may need to determine which set of data should be the X-axis, and which should be the Y-axis</a:t>
            </a:r>
          </a:p>
          <a:p>
            <a:r>
              <a:rPr lang="en-US" dirty="0"/>
              <a:t>The X-axis should be the variable that you are controlling in a lab setting</a:t>
            </a:r>
          </a:p>
          <a:p>
            <a:r>
              <a:rPr lang="en-US" dirty="0"/>
              <a:t>This could be things like the concentration of solution that you choose to test, the volume of solution that you choose to weigh, or the frequency of light that you choose to shine on the sample.</a:t>
            </a:r>
          </a:p>
          <a:p>
            <a:r>
              <a:rPr lang="en-US" dirty="0"/>
              <a:t>Depending on what is plotted on the X and Y axis, the slope would be interpreted differently</a:t>
            </a:r>
          </a:p>
          <a:p>
            <a:r>
              <a:rPr lang="en-US" dirty="0"/>
              <a:t>Graphs should also be at the appropriate scale, if your data ranges from 1 to 10, you do not need to create a graph scale that goes to 100</a:t>
            </a:r>
          </a:p>
          <a:p>
            <a:r>
              <a:rPr lang="en-US" dirty="0"/>
              <a:t>The axis scales should be evenly spaced, do not label the scales with the values of your data points</a:t>
            </a:r>
          </a:p>
          <a:p>
            <a:r>
              <a:rPr lang="en-US" dirty="0"/>
              <a:t> </a:t>
            </a:r>
          </a:p>
        </p:txBody>
      </p:sp>
    </p:spTree>
    <p:extLst>
      <p:ext uri="{BB962C8B-B14F-4D97-AF65-F5344CB8AC3E}">
        <p14:creationId xmlns:p14="http://schemas.microsoft.com/office/powerpoint/2010/main" val="148721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84229-CAE8-4BDF-A106-E370C6B04C0B}"/>
              </a:ext>
            </a:extLst>
          </p:cNvPr>
          <p:cNvSpPr>
            <a:spLocks noGrp="1"/>
          </p:cNvSpPr>
          <p:nvPr>
            <p:ph type="title"/>
          </p:nvPr>
        </p:nvSpPr>
        <p:spPr/>
        <p:txBody>
          <a:bodyPr/>
          <a:lstStyle/>
          <a:p>
            <a:r>
              <a:rPr lang="en-US" dirty="0"/>
              <a:t>What to include on a graph</a:t>
            </a:r>
          </a:p>
        </p:txBody>
      </p:sp>
      <p:pic>
        <p:nvPicPr>
          <p:cNvPr id="6" name="Picture 5" descr="A picture containing green, black, water, light&#10;&#10;Description automatically generated">
            <a:extLst>
              <a:ext uri="{FF2B5EF4-FFF2-40B4-BE49-F238E27FC236}">
                <a16:creationId xmlns:a16="http://schemas.microsoft.com/office/drawing/2014/main" id="{94C46375-759F-4968-874E-01F6F48A74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1655" y="1670403"/>
            <a:ext cx="4194496" cy="3047057"/>
          </a:xfrm>
          <a:prstGeom prst="rect">
            <a:avLst/>
          </a:prstGeom>
        </p:spPr>
      </p:pic>
      <p:sp>
        <p:nvSpPr>
          <p:cNvPr id="8" name="TextBox 7">
            <a:extLst>
              <a:ext uri="{FF2B5EF4-FFF2-40B4-BE49-F238E27FC236}">
                <a16:creationId xmlns:a16="http://schemas.microsoft.com/office/drawing/2014/main" id="{839E57A1-D19E-4BEC-8377-7DE0B24FC6D1}"/>
              </a:ext>
            </a:extLst>
          </p:cNvPr>
          <p:cNvSpPr txBox="1"/>
          <p:nvPr/>
        </p:nvSpPr>
        <p:spPr>
          <a:xfrm>
            <a:off x="181761" y="1896583"/>
            <a:ext cx="5914239" cy="4524315"/>
          </a:xfrm>
          <a:prstGeom prst="rect">
            <a:avLst/>
          </a:prstGeom>
          <a:noFill/>
        </p:spPr>
        <p:txBody>
          <a:bodyPr wrap="square" rtlCol="0">
            <a:spAutoFit/>
          </a:bodyPr>
          <a:lstStyle/>
          <a:p>
            <a:pPr marL="285750" indent="-285750">
              <a:buFont typeface="Arial" panose="020B0604020202020204" pitchFamily="34" charset="0"/>
              <a:buChar char="•"/>
            </a:pPr>
            <a:r>
              <a:rPr lang="en-US" dirty="0"/>
              <a:t>Graphs need to be labeled so that they can display the information correctly</a:t>
            </a:r>
          </a:p>
          <a:p>
            <a:pPr marL="285750" indent="-285750">
              <a:buFont typeface="Arial" panose="020B0604020202020204" pitchFamily="34" charset="0"/>
              <a:buChar char="•"/>
            </a:pPr>
            <a:r>
              <a:rPr lang="en-US" dirty="0"/>
              <a:t>An unlabeled graph is meaningless</a:t>
            </a:r>
          </a:p>
          <a:p>
            <a:pPr marL="285750" indent="-285750">
              <a:buFont typeface="Arial" panose="020B0604020202020204" pitchFamily="34" charset="0"/>
              <a:buChar char="•"/>
            </a:pPr>
            <a:r>
              <a:rPr lang="en-US" dirty="0"/>
              <a:t>The previous graphs, could be used to show how to calculate slope and intercept, but the numbers were meaningless, as the graphs were not labeled</a:t>
            </a:r>
          </a:p>
          <a:p>
            <a:pPr marL="285750" indent="-285750">
              <a:buFont typeface="Arial" panose="020B0604020202020204" pitchFamily="34" charset="0"/>
              <a:buChar char="•"/>
            </a:pPr>
            <a:r>
              <a:rPr lang="en-US" dirty="0"/>
              <a:t>All Graphs should include</a:t>
            </a:r>
          </a:p>
          <a:p>
            <a:pPr marL="742950" lvl="1" indent="-285750">
              <a:buFont typeface="Arial" panose="020B0604020202020204" pitchFamily="34" charset="0"/>
              <a:buChar char="•"/>
            </a:pPr>
            <a:r>
              <a:rPr lang="en-US" dirty="0"/>
              <a:t>Descriptive Graph Title, including any variables that are constant</a:t>
            </a:r>
          </a:p>
          <a:p>
            <a:pPr marL="742950" lvl="1" indent="-285750">
              <a:buFont typeface="Arial" panose="020B0604020202020204" pitchFamily="34" charset="0"/>
              <a:buChar char="•"/>
            </a:pPr>
            <a:r>
              <a:rPr lang="en-US" dirty="0"/>
              <a:t>Both an X and Y Axis title, including units</a:t>
            </a:r>
          </a:p>
          <a:p>
            <a:pPr marL="742950" lvl="1" indent="-285750">
              <a:buFont typeface="Arial" panose="020B0604020202020204" pitchFamily="34" charset="0"/>
              <a:buChar char="•"/>
            </a:pPr>
            <a:r>
              <a:rPr lang="en-US" dirty="0"/>
              <a:t>All data points</a:t>
            </a:r>
          </a:p>
          <a:p>
            <a:pPr marL="1200150" lvl="2" indent="-285750">
              <a:buFont typeface="Arial" panose="020B0604020202020204" pitchFamily="34" charset="0"/>
              <a:buChar char="•"/>
            </a:pPr>
            <a:r>
              <a:rPr lang="en-US" dirty="0"/>
              <a:t>A smooth line looks nice, but what points on it are your data and which are just a connection?</a:t>
            </a:r>
          </a:p>
          <a:p>
            <a:pPr marL="742950" lvl="1" indent="-285750">
              <a:buFont typeface="Arial" panose="020B0604020202020204" pitchFamily="34" charset="0"/>
              <a:buChar char="•"/>
            </a:pPr>
            <a:r>
              <a:rPr lang="en-US" dirty="0"/>
              <a:t>A Trendline through the data</a:t>
            </a:r>
          </a:p>
          <a:p>
            <a:pPr marL="1200150" lvl="2" indent="-285750">
              <a:buFont typeface="Arial" panose="020B0604020202020204" pitchFamily="34" charset="0"/>
              <a:buChar char="•"/>
            </a:pPr>
            <a:r>
              <a:rPr lang="en-US" dirty="0"/>
              <a:t>This smooth line is the best approximation for a function from your data</a:t>
            </a:r>
          </a:p>
        </p:txBody>
      </p:sp>
      <p:sp>
        <p:nvSpPr>
          <p:cNvPr id="9" name="TextBox 8">
            <a:extLst>
              <a:ext uri="{FF2B5EF4-FFF2-40B4-BE49-F238E27FC236}">
                <a16:creationId xmlns:a16="http://schemas.microsoft.com/office/drawing/2014/main" id="{678D1612-D6E3-4E4E-963D-9094495E9634}"/>
              </a:ext>
            </a:extLst>
          </p:cNvPr>
          <p:cNvSpPr txBox="1"/>
          <p:nvPr/>
        </p:nvSpPr>
        <p:spPr>
          <a:xfrm>
            <a:off x="6390999" y="4717460"/>
            <a:ext cx="5462017" cy="2585323"/>
          </a:xfrm>
          <a:prstGeom prst="rect">
            <a:avLst/>
          </a:prstGeom>
          <a:noFill/>
        </p:spPr>
        <p:txBody>
          <a:bodyPr wrap="square" rtlCol="0">
            <a:spAutoFit/>
          </a:bodyPr>
          <a:lstStyle/>
          <a:p>
            <a:r>
              <a:rPr lang="en-US" dirty="0"/>
              <a:t>Other options on graphs that are nice to include but not always necessary would be</a:t>
            </a:r>
          </a:p>
          <a:p>
            <a:pPr marL="285750" indent="-285750">
              <a:buFont typeface="Arial" panose="020B0604020202020204" pitchFamily="34" charset="0"/>
              <a:buChar char="•"/>
            </a:pPr>
            <a:r>
              <a:rPr lang="en-US" dirty="0"/>
              <a:t>Gridlines</a:t>
            </a:r>
          </a:p>
          <a:p>
            <a:pPr marL="285750" indent="-285750">
              <a:buFont typeface="Arial" panose="020B0604020202020204" pitchFamily="34" charset="0"/>
              <a:buChar char="•"/>
            </a:pPr>
            <a:r>
              <a:rPr lang="en-US" dirty="0"/>
              <a:t>A legend to identify multiple lines on the same graph</a:t>
            </a:r>
          </a:p>
          <a:p>
            <a:pPr marL="285750" indent="-285750">
              <a:buFont typeface="Arial" panose="020B0604020202020204" pitchFamily="34" charset="0"/>
              <a:buChar char="•"/>
            </a:pPr>
            <a:r>
              <a:rPr lang="en-US" dirty="0"/>
              <a:t>The equation of the trendline</a:t>
            </a:r>
          </a:p>
          <a:p>
            <a:pPr marL="285750" indent="-285750">
              <a:buFont typeface="Arial" panose="020B0604020202020204" pitchFamily="34" charset="0"/>
              <a:buChar char="•"/>
            </a:pPr>
            <a:r>
              <a:rPr lang="en-US" dirty="0"/>
              <a:t>The R</a:t>
            </a:r>
            <a:r>
              <a:rPr lang="en-US" baseline="30000" dirty="0"/>
              <a:t>2</a:t>
            </a:r>
            <a:r>
              <a:rPr lang="en-US" dirty="0"/>
              <a:t> value (a measure of how accurately the line fits the data, an R</a:t>
            </a:r>
            <a:r>
              <a:rPr lang="en-US" baseline="30000" dirty="0"/>
              <a:t>2</a:t>
            </a:r>
            <a:r>
              <a:rPr lang="en-US" dirty="0"/>
              <a:t> value of 1 is perfect)</a:t>
            </a:r>
          </a:p>
          <a:p>
            <a:endParaRPr lang="en-US" dirty="0"/>
          </a:p>
          <a:p>
            <a:endParaRPr lang="en-US" dirty="0"/>
          </a:p>
        </p:txBody>
      </p:sp>
    </p:spTree>
    <p:extLst>
      <p:ext uri="{BB962C8B-B14F-4D97-AF65-F5344CB8AC3E}">
        <p14:creationId xmlns:p14="http://schemas.microsoft.com/office/powerpoint/2010/main" val="208869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D3344-3E61-4074-864E-E7B6162F5A8E}"/>
              </a:ext>
            </a:extLst>
          </p:cNvPr>
          <p:cNvSpPr>
            <a:spLocks noGrp="1"/>
          </p:cNvSpPr>
          <p:nvPr>
            <p:ph type="title"/>
          </p:nvPr>
        </p:nvSpPr>
        <p:spPr/>
        <p:txBody>
          <a:bodyPr/>
          <a:lstStyle/>
          <a:p>
            <a:r>
              <a:rPr lang="en-US" dirty="0"/>
              <a:t>trendlines</a:t>
            </a:r>
          </a:p>
        </p:txBody>
      </p:sp>
      <p:pic>
        <p:nvPicPr>
          <p:cNvPr id="4" name="Picture 3" descr="A picture containing green, black, water, light&#10;&#10;Description automatically generated">
            <a:extLst>
              <a:ext uri="{FF2B5EF4-FFF2-40B4-BE49-F238E27FC236}">
                <a16:creationId xmlns:a16="http://schemas.microsoft.com/office/drawing/2014/main" id="{23385D6B-501B-4511-8531-E72F036CA8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7151" y="1914258"/>
            <a:ext cx="5634912" cy="4093435"/>
          </a:xfrm>
          <a:prstGeom prst="rect">
            <a:avLst/>
          </a:prstGeom>
        </p:spPr>
      </p:pic>
      <p:sp>
        <p:nvSpPr>
          <p:cNvPr id="5" name="TextBox 4">
            <a:extLst>
              <a:ext uri="{FF2B5EF4-FFF2-40B4-BE49-F238E27FC236}">
                <a16:creationId xmlns:a16="http://schemas.microsoft.com/office/drawing/2014/main" id="{9563C47E-48CB-4FC0-8F3D-49934BE20F9A}"/>
              </a:ext>
            </a:extLst>
          </p:cNvPr>
          <p:cNvSpPr txBox="1"/>
          <p:nvPr/>
        </p:nvSpPr>
        <p:spPr>
          <a:xfrm>
            <a:off x="444382" y="2330615"/>
            <a:ext cx="5913689" cy="3416320"/>
          </a:xfrm>
          <a:prstGeom prst="rect">
            <a:avLst/>
          </a:prstGeom>
          <a:noFill/>
        </p:spPr>
        <p:txBody>
          <a:bodyPr wrap="square" rtlCol="0">
            <a:spAutoFit/>
          </a:bodyPr>
          <a:lstStyle/>
          <a:p>
            <a:pPr marL="285750" indent="-285750">
              <a:buFont typeface="Arial" panose="020B0604020202020204" pitchFamily="34" charset="0"/>
              <a:buChar char="•"/>
            </a:pPr>
            <a:r>
              <a:rPr lang="en-US" dirty="0"/>
              <a:t>A trendline is a line of best fit for your measured data. In real life measurements, there is always variability.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trendline is the line that represents all of your data as a whole, instead of individual points.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 the example graph to the right, none of the measured data points fall on the exact trendline.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For this reason, when calculating a slope by hand, you should always choose points that fall on the trendline itself, and not your individual data points</a:t>
            </a:r>
          </a:p>
        </p:txBody>
      </p:sp>
    </p:spTree>
    <p:extLst>
      <p:ext uri="{BB962C8B-B14F-4D97-AF65-F5344CB8AC3E}">
        <p14:creationId xmlns:p14="http://schemas.microsoft.com/office/powerpoint/2010/main" val="939308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9E166-0C6D-474A-84A2-FD01B57316DC}"/>
              </a:ext>
            </a:extLst>
          </p:cNvPr>
          <p:cNvSpPr>
            <a:spLocks noGrp="1"/>
          </p:cNvSpPr>
          <p:nvPr>
            <p:ph type="ctrTitle"/>
          </p:nvPr>
        </p:nvSpPr>
        <p:spPr/>
        <p:txBody>
          <a:bodyPr/>
          <a:lstStyle/>
          <a:p>
            <a:r>
              <a:rPr lang="en-US" dirty="0"/>
              <a:t>Graphing - Experiment</a:t>
            </a:r>
          </a:p>
        </p:txBody>
      </p:sp>
      <p:sp>
        <p:nvSpPr>
          <p:cNvPr id="3" name="Subtitle 2">
            <a:extLst>
              <a:ext uri="{FF2B5EF4-FFF2-40B4-BE49-F238E27FC236}">
                <a16:creationId xmlns:a16="http://schemas.microsoft.com/office/drawing/2014/main" id="{2C3CDFD9-EE48-4A67-A21A-2A067C86A31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36582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1C65B-D703-4BD1-A65B-B42F8D9D0170}"/>
              </a:ext>
            </a:extLst>
          </p:cNvPr>
          <p:cNvSpPr>
            <a:spLocks noGrp="1"/>
          </p:cNvSpPr>
          <p:nvPr>
            <p:ph type="title"/>
          </p:nvPr>
        </p:nvSpPr>
        <p:spPr/>
        <p:txBody>
          <a:bodyPr/>
          <a:lstStyle/>
          <a:p>
            <a:r>
              <a:rPr lang="en-US" dirty="0"/>
              <a:t>Graphing data</a:t>
            </a:r>
          </a:p>
        </p:txBody>
      </p:sp>
      <p:sp>
        <p:nvSpPr>
          <p:cNvPr id="6" name="Content Placeholder 5">
            <a:extLst>
              <a:ext uri="{FF2B5EF4-FFF2-40B4-BE49-F238E27FC236}">
                <a16:creationId xmlns:a16="http://schemas.microsoft.com/office/drawing/2014/main" id="{810B2591-0654-4001-B7FC-6E40091FB614}"/>
              </a:ext>
            </a:extLst>
          </p:cNvPr>
          <p:cNvSpPr>
            <a:spLocks noGrp="1"/>
          </p:cNvSpPr>
          <p:nvPr>
            <p:ph idx="1"/>
          </p:nvPr>
        </p:nvSpPr>
        <p:spPr>
          <a:xfrm>
            <a:off x="864737" y="2084832"/>
            <a:ext cx="9720073" cy="4023360"/>
          </a:xfrm>
        </p:spPr>
        <p:txBody>
          <a:bodyPr/>
          <a:lstStyle/>
          <a:p>
            <a:r>
              <a:rPr lang="en-US" dirty="0"/>
              <a:t>The data that you will be graphing is real data</a:t>
            </a:r>
          </a:p>
          <a:p>
            <a:r>
              <a:rPr lang="en-US" dirty="0"/>
              <a:t>The values are based upon the concept of Gasses, which will be the final topic of the course</a:t>
            </a:r>
          </a:p>
          <a:p>
            <a:r>
              <a:rPr lang="en-US" dirty="0"/>
              <a:t>The first data set (Part A) looks at how Pressure and Volume of a gas are related</a:t>
            </a:r>
          </a:p>
          <a:p>
            <a:pPr lvl="1"/>
            <a:r>
              <a:rPr lang="en-US" dirty="0"/>
              <a:t>This relationship is known as Boyle’s Law</a:t>
            </a:r>
          </a:p>
          <a:p>
            <a:r>
              <a:rPr lang="en-US" dirty="0"/>
              <a:t>The second data set (Part B) looks at how Temperature and Volume of a gas are related</a:t>
            </a:r>
          </a:p>
          <a:p>
            <a:pPr lvl="1"/>
            <a:r>
              <a:rPr lang="en-US" dirty="0"/>
              <a:t>This relationship is known as Charles’s Law</a:t>
            </a:r>
          </a:p>
          <a:p>
            <a:r>
              <a:rPr lang="en-US" dirty="0"/>
              <a:t>The third data set (Part C) looks at the vapor pressure of a water</a:t>
            </a:r>
          </a:p>
          <a:p>
            <a:pPr lvl="1"/>
            <a:r>
              <a:rPr lang="en-US" dirty="0"/>
              <a:t>The vapor pressure is the amount of pressure that comes from evaporation</a:t>
            </a:r>
          </a:p>
        </p:txBody>
      </p:sp>
    </p:spTree>
    <p:extLst>
      <p:ext uri="{BB962C8B-B14F-4D97-AF65-F5344CB8AC3E}">
        <p14:creationId xmlns:p14="http://schemas.microsoft.com/office/powerpoint/2010/main" val="532980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49893-3E8B-441F-B379-F9283BA1F0B5}"/>
              </a:ext>
            </a:extLst>
          </p:cNvPr>
          <p:cNvSpPr>
            <a:spLocks noGrp="1"/>
          </p:cNvSpPr>
          <p:nvPr>
            <p:ph type="title"/>
          </p:nvPr>
        </p:nvSpPr>
        <p:spPr>
          <a:xfrm>
            <a:off x="1007350" y="433230"/>
            <a:ext cx="9720072" cy="1499616"/>
          </a:xfrm>
        </p:spPr>
        <p:txBody>
          <a:bodyPr/>
          <a:lstStyle/>
          <a:p>
            <a:r>
              <a:rPr lang="en-US" dirty="0"/>
              <a:t>Part a – pressure &amp; volume data</a:t>
            </a:r>
          </a:p>
        </p:txBody>
      </p:sp>
      <p:sp>
        <p:nvSpPr>
          <p:cNvPr id="3" name="Content Placeholder 2">
            <a:extLst>
              <a:ext uri="{FF2B5EF4-FFF2-40B4-BE49-F238E27FC236}">
                <a16:creationId xmlns:a16="http://schemas.microsoft.com/office/drawing/2014/main" id="{788279CA-1CF7-499A-9C76-890064211AB3}"/>
              </a:ext>
            </a:extLst>
          </p:cNvPr>
          <p:cNvSpPr>
            <a:spLocks noGrp="1"/>
          </p:cNvSpPr>
          <p:nvPr>
            <p:ph idx="1"/>
          </p:nvPr>
        </p:nvSpPr>
        <p:spPr>
          <a:xfrm>
            <a:off x="264564" y="1638849"/>
            <a:ext cx="9720073" cy="4785921"/>
          </a:xfrm>
        </p:spPr>
        <p:txBody>
          <a:bodyPr>
            <a:normAutofit/>
          </a:bodyPr>
          <a:lstStyle/>
          <a:p>
            <a:r>
              <a:rPr lang="en-US" dirty="0"/>
              <a:t>The first section involves preparing two graphs by hand during the lab session</a:t>
            </a:r>
          </a:p>
          <a:p>
            <a:r>
              <a:rPr lang="en-US" dirty="0"/>
              <a:t>The information describes an experiment where you change the volume (independent variable) and the pressure changes accordingly (dependent variable)</a:t>
            </a:r>
          </a:p>
          <a:p>
            <a:r>
              <a:rPr lang="en-US" dirty="0"/>
              <a:t>Prepare a fully labeled graph for Pressure and Volume</a:t>
            </a:r>
          </a:p>
          <a:p>
            <a:pPr lvl="1"/>
            <a:r>
              <a:rPr lang="en-US" dirty="0"/>
              <a:t>Determine which should be the X-Axis, and which should be the Y-Axis</a:t>
            </a:r>
          </a:p>
          <a:p>
            <a:pPr lvl="1"/>
            <a:r>
              <a:rPr lang="en-US" dirty="0"/>
              <a:t>Label both axis, including appropriate units</a:t>
            </a:r>
          </a:p>
          <a:p>
            <a:pPr lvl="1"/>
            <a:r>
              <a:rPr lang="en-US" dirty="0"/>
              <a:t>Include a title with any other information provided</a:t>
            </a:r>
          </a:p>
          <a:p>
            <a:r>
              <a:rPr lang="en-US" dirty="0"/>
              <a:t>Prepare a fully labeled graph for Pressure and Inverse Volume</a:t>
            </a:r>
          </a:p>
          <a:p>
            <a:pPr lvl="1"/>
            <a:r>
              <a:rPr lang="en-US" dirty="0"/>
              <a:t>Calculate the Inverse Volume for each data point</a:t>
            </a:r>
          </a:p>
          <a:p>
            <a:pPr lvl="1"/>
            <a:r>
              <a:rPr lang="en-US" dirty="0"/>
              <a:t>The inverse volume will be the same axis as the Volume from the first graph</a:t>
            </a:r>
          </a:p>
          <a:p>
            <a:pPr lvl="1"/>
            <a:r>
              <a:rPr lang="en-US" dirty="0"/>
              <a:t>Label both axis, including appropriate units</a:t>
            </a:r>
          </a:p>
          <a:p>
            <a:pPr lvl="1"/>
            <a:r>
              <a:rPr lang="en-US" dirty="0"/>
              <a:t>Include a title with any other information provided</a:t>
            </a:r>
          </a:p>
        </p:txBody>
      </p:sp>
      <p:graphicFrame>
        <p:nvGraphicFramePr>
          <p:cNvPr id="4" name="Table 4">
            <a:extLst>
              <a:ext uri="{FF2B5EF4-FFF2-40B4-BE49-F238E27FC236}">
                <a16:creationId xmlns:a16="http://schemas.microsoft.com/office/drawing/2014/main" id="{14905CE8-23B0-4BBC-A3B6-527639B594FC}"/>
              </a:ext>
            </a:extLst>
          </p:cNvPr>
          <p:cNvGraphicFramePr>
            <a:graphicFrameLocks noGrp="1"/>
          </p:cNvGraphicFramePr>
          <p:nvPr>
            <p:extLst>
              <p:ext uri="{D42A27DB-BD31-4B8C-83A1-F6EECF244321}">
                <p14:modId xmlns:p14="http://schemas.microsoft.com/office/powerpoint/2010/main" val="2447404808"/>
              </p:ext>
            </p:extLst>
          </p:nvPr>
        </p:nvGraphicFramePr>
        <p:xfrm>
          <a:off x="8323743" y="3282023"/>
          <a:ext cx="3707682" cy="3429000"/>
        </p:xfrm>
        <a:graphic>
          <a:graphicData uri="http://schemas.openxmlformats.org/drawingml/2006/table">
            <a:tbl>
              <a:tblPr firstRow="1" bandRow="1">
                <a:tableStyleId>{5C22544A-7EE6-4342-B048-85BDC9FD1C3A}</a:tableStyleId>
              </a:tblPr>
              <a:tblGrid>
                <a:gridCol w="1383347">
                  <a:extLst>
                    <a:ext uri="{9D8B030D-6E8A-4147-A177-3AD203B41FA5}">
                      <a16:colId xmlns:a16="http://schemas.microsoft.com/office/drawing/2014/main" val="1053264587"/>
                    </a:ext>
                  </a:extLst>
                </a:gridCol>
                <a:gridCol w="1083310">
                  <a:extLst>
                    <a:ext uri="{9D8B030D-6E8A-4147-A177-3AD203B41FA5}">
                      <a16:colId xmlns:a16="http://schemas.microsoft.com/office/drawing/2014/main" val="2300924184"/>
                    </a:ext>
                  </a:extLst>
                </a:gridCol>
                <a:gridCol w="1241025">
                  <a:extLst>
                    <a:ext uri="{9D8B030D-6E8A-4147-A177-3AD203B41FA5}">
                      <a16:colId xmlns:a16="http://schemas.microsoft.com/office/drawing/2014/main" val="2347138253"/>
                    </a:ext>
                  </a:extLst>
                </a:gridCol>
              </a:tblGrid>
              <a:tr h="0">
                <a:tc>
                  <a:txBody>
                    <a:bodyPr/>
                    <a:lstStyle/>
                    <a:p>
                      <a:pPr algn="ctr"/>
                      <a:r>
                        <a:rPr lang="en-US" sz="1500" dirty="0"/>
                        <a:t>Pressure (atm)</a:t>
                      </a:r>
                    </a:p>
                  </a:txBody>
                  <a:tcPr/>
                </a:tc>
                <a:tc>
                  <a:txBody>
                    <a:bodyPr/>
                    <a:lstStyle/>
                    <a:p>
                      <a:pPr algn="ctr"/>
                      <a:r>
                        <a:rPr lang="en-US" sz="1500" dirty="0"/>
                        <a:t>Volume (L)</a:t>
                      </a:r>
                    </a:p>
                  </a:txBody>
                  <a:tcPr/>
                </a:tc>
                <a:tc>
                  <a:txBody>
                    <a:bodyPr/>
                    <a:lstStyle/>
                    <a:p>
                      <a:pPr algn="ctr"/>
                      <a:r>
                        <a:rPr lang="en-US" sz="1500" dirty="0"/>
                        <a:t>Inverse Volume (1/L)</a:t>
                      </a:r>
                    </a:p>
                  </a:txBody>
                  <a:tcPr/>
                </a:tc>
                <a:extLst>
                  <a:ext uri="{0D108BD9-81ED-4DB2-BD59-A6C34878D82A}">
                    <a16:rowId xmlns:a16="http://schemas.microsoft.com/office/drawing/2014/main" val="3364698906"/>
                  </a:ext>
                </a:extLst>
              </a:tr>
              <a:tr h="0">
                <a:tc>
                  <a:txBody>
                    <a:bodyPr/>
                    <a:lstStyle/>
                    <a:p>
                      <a:pPr algn="ctr"/>
                      <a:r>
                        <a:rPr lang="en-US" sz="1500" dirty="0"/>
                        <a:t>3.21</a:t>
                      </a:r>
                    </a:p>
                  </a:txBody>
                  <a:tcPr/>
                </a:tc>
                <a:tc>
                  <a:txBody>
                    <a:bodyPr/>
                    <a:lstStyle/>
                    <a:p>
                      <a:pPr algn="ctr"/>
                      <a:r>
                        <a:rPr lang="en-US" sz="1500" dirty="0"/>
                        <a:t>8.24</a:t>
                      </a:r>
                    </a:p>
                  </a:txBody>
                  <a:tcPr/>
                </a:tc>
                <a:tc>
                  <a:txBody>
                    <a:bodyPr/>
                    <a:lstStyle/>
                    <a:p>
                      <a:pPr algn="ctr"/>
                      <a:r>
                        <a:rPr lang="en-US" sz="1500" dirty="0"/>
                        <a:t>0.121</a:t>
                      </a:r>
                    </a:p>
                  </a:txBody>
                  <a:tcPr/>
                </a:tc>
                <a:extLst>
                  <a:ext uri="{0D108BD9-81ED-4DB2-BD59-A6C34878D82A}">
                    <a16:rowId xmlns:a16="http://schemas.microsoft.com/office/drawing/2014/main" val="3680002492"/>
                  </a:ext>
                </a:extLst>
              </a:tr>
              <a:tr h="0">
                <a:tc>
                  <a:txBody>
                    <a:bodyPr/>
                    <a:lstStyle/>
                    <a:p>
                      <a:pPr algn="ctr"/>
                      <a:r>
                        <a:rPr lang="en-US" sz="1500" dirty="0"/>
                        <a:t>3.75</a:t>
                      </a:r>
                    </a:p>
                  </a:txBody>
                  <a:tcPr/>
                </a:tc>
                <a:tc>
                  <a:txBody>
                    <a:bodyPr/>
                    <a:lstStyle/>
                    <a:p>
                      <a:pPr algn="ctr"/>
                      <a:r>
                        <a:rPr lang="en-US" sz="1500" dirty="0"/>
                        <a:t>7.07</a:t>
                      </a:r>
                    </a:p>
                  </a:txBody>
                  <a:tcPr/>
                </a:tc>
                <a:tc>
                  <a:txBody>
                    <a:bodyPr/>
                    <a:lstStyle/>
                    <a:p>
                      <a:pPr algn="ctr"/>
                      <a:endParaRPr lang="en-US" sz="1500" dirty="0"/>
                    </a:p>
                  </a:txBody>
                  <a:tcPr/>
                </a:tc>
                <a:extLst>
                  <a:ext uri="{0D108BD9-81ED-4DB2-BD59-A6C34878D82A}">
                    <a16:rowId xmlns:a16="http://schemas.microsoft.com/office/drawing/2014/main" val="4264211647"/>
                  </a:ext>
                </a:extLst>
              </a:tr>
              <a:tr h="0">
                <a:tc>
                  <a:txBody>
                    <a:bodyPr/>
                    <a:lstStyle/>
                    <a:p>
                      <a:pPr algn="ctr"/>
                      <a:r>
                        <a:rPr lang="en-US" sz="1500" dirty="0"/>
                        <a:t>5.03</a:t>
                      </a:r>
                    </a:p>
                  </a:txBody>
                  <a:tcPr/>
                </a:tc>
                <a:tc>
                  <a:txBody>
                    <a:bodyPr/>
                    <a:lstStyle/>
                    <a:p>
                      <a:pPr algn="ctr"/>
                      <a:r>
                        <a:rPr lang="en-US" sz="1500" dirty="0"/>
                        <a:t>5.26</a:t>
                      </a:r>
                    </a:p>
                  </a:txBody>
                  <a:tcPr/>
                </a:tc>
                <a:tc>
                  <a:txBody>
                    <a:bodyPr/>
                    <a:lstStyle/>
                    <a:p>
                      <a:pPr algn="ctr"/>
                      <a:endParaRPr lang="en-US" sz="1500" dirty="0"/>
                    </a:p>
                  </a:txBody>
                  <a:tcPr/>
                </a:tc>
                <a:extLst>
                  <a:ext uri="{0D108BD9-81ED-4DB2-BD59-A6C34878D82A}">
                    <a16:rowId xmlns:a16="http://schemas.microsoft.com/office/drawing/2014/main" val="4149864885"/>
                  </a:ext>
                </a:extLst>
              </a:tr>
              <a:tr h="0">
                <a:tc>
                  <a:txBody>
                    <a:bodyPr/>
                    <a:lstStyle/>
                    <a:p>
                      <a:pPr algn="ctr"/>
                      <a:r>
                        <a:rPr lang="en-US" sz="1500" dirty="0"/>
                        <a:t>5.86</a:t>
                      </a:r>
                    </a:p>
                  </a:txBody>
                  <a:tcPr/>
                </a:tc>
                <a:tc>
                  <a:txBody>
                    <a:bodyPr/>
                    <a:lstStyle/>
                    <a:p>
                      <a:pPr algn="ctr"/>
                      <a:r>
                        <a:rPr lang="en-US" sz="1500" dirty="0"/>
                        <a:t>4.52</a:t>
                      </a:r>
                    </a:p>
                  </a:txBody>
                  <a:tcPr/>
                </a:tc>
                <a:tc>
                  <a:txBody>
                    <a:bodyPr/>
                    <a:lstStyle/>
                    <a:p>
                      <a:pPr algn="ctr"/>
                      <a:endParaRPr lang="en-US" sz="1500" dirty="0"/>
                    </a:p>
                  </a:txBody>
                  <a:tcPr/>
                </a:tc>
                <a:extLst>
                  <a:ext uri="{0D108BD9-81ED-4DB2-BD59-A6C34878D82A}">
                    <a16:rowId xmlns:a16="http://schemas.microsoft.com/office/drawing/2014/main" val="3359802282"/>
                  </a:ext>
                </a:extLst>
              </a:tr>
              <a:tr h="0">
                <a:tc>
                  <a:txBody>
                    <a:bodyPr/>
                    <a:lstStyle/>
                    <a:p>
                      <a:pPr algn="ctr"/>
                      <a:r>
                        <a:rPr lang="en-US" sz="1500" dirty="0"/>
                        <a:t>7.86</a:t>
                      </a:r>
                    </a:p>
                  </a:txBody>
                  <a:tcPr/>
                </a:tc>
                <a:tc>
                  <a:txBody>
                    <a:bodyPr/>
                    <a:lstStyle/>
                    <a:p>
                      <a:pPr algn="ctr"/>
                      <a:r>
                        <a:rPr lang="en-US" sz="1500" dirty="0"/>
                        <a:t>3.36</a:t>
                      </a:r>
                    </a:p>
                  </a:txBody>
                  <a:tcPr/>
                </a:tc>
                <a:tc>
                  <a:txBody>
                    <a:bodyPr/>
                    <a:lstStyle/>
                    <a:p>
                      <a:pPr algn="ctr"/>
                      <a:endParaRPr lang="en-US" sz="1500" dirty="0"/>
                    </a:p>
                  </a:txBody>
                  <a:tcPr/>
                </a:tc>
                <a:extLst>
                  <a:ext uri="{0D108BD9-81ED-4DB2-BD59-A6C34878D82A}">
                    <a16:rowId xmlns:a16="http://schemas.microsoft.com/office/drawing/2014/main" val="2684850847"/>
                  </a:ext>
                </a:extLst>
              </a:tr>
              <a:tr h="0">
                <a:tc>
                  <a:txBody>
                    <a:bodyPr/>
                    <a:lstStyle/>
                    <a:p>
                      <a:pPr algn="ctr"/>
                      <a:r>
                        <a:rPr lang="en-US" sz="1500" dirty="0"/>
                        <a:t>9.16</a:t>
                      </a:r>
                    </a:p>
                  </a:txBody>
                  <a:tcPr/>
                </a:tc>
                <a:tc>
                  <a:txBody>
                    <a:bodyPr/>
                    <a:lstStyle/>
                    <a:p>
                      <a:pPr algn="ctr"/>
                      <a:r>
                        <a:rPr lang="en-US" sz="1500" dirty="0"/>
                        <a:t>2.89</a:t>
                      </a:r>
                    </a:p>
                  </a:txBody>
                  <a:tcPr/>
                </a:tc>
                <a:tc>
                  <a:txBody>
                    <a:bodyPr/>
                    <a:lstStyle/>
                    <a:p>
                      <a:pPr algn="ctr"/>
                      <a:endParaRPr lang="en-US" sz="1500" dirty="0"/>
                    </a:p>
                  </a:txBody>
                  <a:tcPr/>
                </a:tc>
                <a:extLst>
                  <a:ext uri="{0D108BD9-81ED-4DB2-BD59-A6C34878D82A}">
                    <a16:rowId xmlns:a16="http://schemas.microsoft.com/office/drawing/2014/main" val="955927302"/>
                  </a:ext>
                </a:extLst>
              </a:tr>
              <a:tr h="0">
                <a:tc>
                  <a:txBody>
                    <a:bodyPr/>
                    <a:lstStyle/>
                    <a:p>
                      <a:pPr algn="ctr"/>
                      <a:r>
                        <a:rPr lang="en-US" sz="1500" dirty="0"/>
                        <a:t>12.28</a:t>
                      </a:r>
                    </a:p>
                  </a:txBody>
                  <a:tcPr/>
                </a:tc>
                <a:tc>
                  <a:txBody>
                    <a:bodyPr/>
                    <a:lstStyle/>
                    <a:p>
                      <a:pPr algn="ctr"/>
                      <a:r>
                        <a:rPr lang="en-US" sz="1500" dirty="0"/>
                        <a:t>2.15</a:t>
                      </a:r>
                    </a:p>
                  </a:txBody>
                  <a:tcPr/>
                </a:tc>
                <a:tc>
                  <a:txBody>
                    <a:bodyPr/>
                    <a:lstStyle/>
                    <a:p>
                      <a:pPr algn="ctr"/>
                      <a:endParaRPr lang="en-US" sz="1500" dirty="0"/>
                    </a:p>
                  </a:txBody>
                  <a:tcPr/>
                </a:tc>
                <a:extLst>
                  <a:ext uri="{0D108BD9-81ED-4DB2-BD59-A6C34878D82A}">
                    <a16:rowId xmlns:a16="http://schemas.microsoft.com/office/drawing/2014/main" val="1818838537"/>
                  </a:ext>
                </a:extLst>
              </a:tr>
              <a:tr h="0">
                <a:tc>
                  <a:txBody>
                    <a:bodyPr/>
                    <a:lstStyle/>
                    <a:p>
                      <a:pPr algn="ctr"/>
                      <a:r>
                        <a:rPr lang="en-US" sz="1500" dirty="0"/>
                        <a:t>14.30</a:t>
                      </a:r>
                    </a:p>
                  </a:txBody>
                  <a:tcPr/>
                </a:tc>
                <a:tc>
                  <a:txBody>
                    <a:bodyPr/>
                    <a:lstStyle/>
                    <a:p>
                      <a:pPr algn="ctr"/>
                      <a:r>
                        <a:rPr lang="en-US" sz="1500" dirty="0"/>
                        <a:t>1.84</a:t>
                      </a:r>
                    </a:p>
                  </a:txBody>
                  <a:tcPr/>
                </a:tc>
                <a:tc>
                  <a:txBody>
                    <a:bodyPr/>
                    <a:lstStyle/>
                    <a:p>
                      <a:pPr algn="ctr"/>
                      <a:endParaRPr lang="en-US" sz="1500" dirty="0"/>
                    </a:p>
                  </a:txBody>
                  <a:tcPr/>
                </a:tc>
                <a:extLst>
                  <a:ext uri="{0D108BD9-81ED-4DB2-BD59-A6C34878D82A}">
                    <a16:rowId xmlns:a16="http://schemas.microsoft.com/office/drawing/2014/main" val="3466397395"/>
                  </a:ext>
                </a:extLst>
              </a:tr>
              <a:tr h="0">
                <a:tc>
                  <a:txBody>
                    <a:bodyPr/>
                    <a:lstStyle/>
                    <a:p>
                      <a:pPr algn="ctr"/>
                      <a:r>
                        <a:rPr lang="en-US" sz="1500" dirty="0"/>
                        <a:t>19.16</a:t>
                      </a:r>
                    </a:p>
                  </a:txBody>
                  <a:tcPr/>
                </a:tc>
                <a:tc>
                  <a:txBody>
                    <a:bodyPr/>
                    <a:lstStyle/>
                    <a:p>
                      <a:pPr algn="ctr"/>
                      <a:r>
                        <a:rPr lang="en-US" sz="1500" dirty="0"/>
                        <a:t>1.37</a:t>
                      </a:r>
                    </a:p>
                  </a:txBody>
                  <a:tcPr/>
                </a:tc>
                <a:tc>
                  <a:txBody>
                    <a:bodyPr/>
                    <a:lstStyle/>
                    <a:p>
                      <a:pPr algn="ctr"/>
                      <a:endParaRPr lang="en-US" sz="1500" dirty="0"/>
                    </a:p>
                  </a:txBody>
                  <a:tcPr/>
                </a:tc>
                <a:extLst>
                  <a:ext uri="{0D108BD9-81ED-4DB2-BD59-A6C34878D82A}">
                    <a16:rowId xmlns:a16="http://schemas.microsoft.com/office/drawing/2014/main" val="4085986383"/>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9FA4617-49D0-40CC-A72A-773F13AF6D64}"/>
                  </a:ext>
                </a:extLst>
              </p:cNvPr>
              <p:cNvSpPr txBox="1"/>
              <p:nvPr/>
            </p:nvSpPr>
            <p:spPr>
              <a:xfrm>
                <a:off x="1033379" y="6047433"/>
                <a:ext cx="2834879" cy="520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𝐼𝑛𝑣𝑒𝑟𝑠𝑒</m:t>
                      </m:r>
                      <m:r>
                        <a:rPr lang="en-US" b="0" i="1" smtClean="0">
                          <a:latin typeface="Cambria Math" panose="02040503050406030204" pitchFamily="18" charset="0"/>
                        </a:rPr>
                        <m:t> </m:t>
                      </m:r>
                      <m:r>
                        <a:rPr lang="en-US" b="0" i="1" smtClean="0">
                          <a:latin typeface="Cambria Math" panose="02040503050406030204" pitchFamily="18" charset="0"/>
                        </a:rPr>
                        <m:t>𝑉𝑜𝑙𝑢𝑚𝑒</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𝑉𝑜𝑙𝑢𝑚𝑒</m:t>
                          </m:r>
                        </m:den>
                      </m:f>
                    </m:oMath>
                  </m:oMathPara>
                </a14:m>
                <a:endParaRPr lang="en-US" dirty="0"/>
              </a:p>
            </p:txBody>
          </p:sp>
        </mc:Choice>
        <mc:Fallback xmlns="">
          <p:sp>
            <p:nvSpPr>
              <p:cNvPr id="5" name="TextBox 4">
                <a:extLst>
                  <a:ext uri="{FF2B5EF4-FFF2-40B4-BE49-F238E27FC236}">
                    <a16:creationId xmlns:a16="http://schemas.microsoft.com/office/drawing/2014/main" id="{A9FA4617-49D0-40CC-A72A-773F13AF6D64}"/>
                  </a:ext>
                </a:extLst>
              </p:cNvPr>
              <p:cNvSpPr txBox="1">
                <a:spLocks noRot="1" noChangeAspect="1" noMove="1" noResize="1" noEditPoints="1" noAdjustHandles="1" noChangeArrowheads="1" noChangeShapeType="1" noTextEdit="1"/>
              </p:cNvSpPr>
              <p:nvPr/>
            </p:nvSpPr>
            <p:spPr>
              <a:xfrm>
                <a:off x="1033379" y="6047433"/>
                <a:ext cx="2834879" cy="52046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8FF10E1-53D5-43F4-947A-860EA3258FD7}"/>
                  </a:ext>
                </a:extLst>
              </p:cNvPr>
              <p:cNvSpPr txBox="1"/>
              <p:nvPr/>
            </p:nvSpPr>
            <p:spPr>
              <a:xfrm>
                <a:off x="5026744" y="6047497"/>
                <a:ext cx="1826846"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8.24</m:t>
                          </m:r>
                          <m:r>
                            <a:rPr lang="en-US" b="0" i="1" smtClean="0">
                              <a:latin typeface="Cambria Math" panose="02040503050406030204" pitchFamily="18" charset="0"/>
                            </a:rPr>
                            <m:t>𝐿</m:t>
                          </m:r>
                        </m:den>
                      </m:f>
                      <m:r>
                        <a:rPr lang="en-US" b="0" i="1" smtClean="0">
                          <a:latin typeface="Cambria Math" panose="02040503050406030204" pitchFamily="18" charset="0"/>
                        </a:rPr>
                        <m:t>=0.121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sup>
                      </m:sSup>
                    </m:oMath>
                  </m:oMathPara>
                </a14:m>
                <a:endParaRPr lang="en-US" dirty="0"/>
              </a:p>
            </p:txBody>
          </p:sp>
        </mc:Choice>
        <mc:Fallback xmlns="">
          <p:sp>
            <p:nvSpPr>
              <p:cNvPr id="6" name="TextBox 5">
                <a:extLst>
                  <a:ext uri="{FF2B5EF4-FFF2-40B4-BE49-F238E27FC236}">
                    <a16:creationId xmlns:a16="http://schemas.microsoft.com/office/drawing/2014/main" id="{B8FF10E1-53D5-43F4-947A-860EA3258FD7}"/>
                  </a:ext>
                </a:extLst>
              </p:cNvPr>
              <p:cNvSpPr txBox="1">
                <a:spLocks noRot="1" noChangeAspect="1" noMove="1" noResize="1" noEditPoints="1" noAdjustHandles="1" noChangeArrowheads="1" noChangeShapeType="1" noTextEdit="1"/>
              </p:cNvSpPr>
              <p:nvPr/>
            </p:nvSpPr>
            <p:spPr>
              <a:xfrm>
                <a:off x="5026744" y="6047497"/>
                <a:ext cx="1826846" cy="52039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00466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49893-3E8B-441F-B379-F9283BA1F0B5}"/>
              </a:ext>
            </a:extLst>
          </p:cNvPr>
          <p:cNvSpPr>
            <a:spLocks noGrp="1"/>
          </p:cNvSpPr>
          <p:nvPr>
            <p:ph type="title"/>
          </p:nvPr>
        </p:nvSpPr>
        <p:spPr>
          <a:xfrm>
            <a:off x="1041219" y="397209"/>
            <a:ext cx="9720072" cy="1499616"/>
          </a:xfrm>
        </p:spPr>
        <p:txBody>
          <a:bodyPr/>
          <a:lstStyle/>
          <a:p>
            <a:r>
              <a:rPr lang="en-US" dirty="0"/>
              <a:t>Part b – Temperature vs Volume</a:t>
            </a:r>
          </a:p>
        </p:txBody>
      </p:sp>
      <p:sp>
        <p:nvSpPr>
          <p:cNvPr id="3" name="Content Placeholder 2">
            <a:extLst>
              <a:ext uri="{FF2B5EF4-FFF2-40B4-BE49-F238E27FC236}">
                <a16:creationId xmlns:a16="http://schemas.microsoft.com/office/drawing/2014/main" id="{788279CA-1CF7-499A-9C76-890064211AB3}"/>
              </a:ext>
            </a:extLst>
          </p:cNvPr>
          <p:cNvSpPr>
            <a:spLocks noGrp="1"/>
          </p:cNvSpPr>
          <p:nvPr>
            <p:ph idx="1"/>
          </p:nvPr>
        </p:nvSpPr>
        <p:spPr>
          <a:xfrm>
            <a:off x="459157" y="1477207"/>
            <a:ext cx="10452011" cy="2369891"/>
          </a:xfrm>
        </p:spPr>
        <p:txBody>
          <a:bodyPr/>
          <a:lstStyle/>
          <a:p>
            <a:r>
              <a:rPr lang="en-US" dirty="0"/>
              <a:t>In Part B you will prepare one graph of Temperature and Volume for a gas</a:t>
            </a:r>
          </a:p>
          <a:p>
            <a:r>
              <a:rPr lang="en-US" dirty="0"/>
              <a:t>The graph may be done in the lab session if you have time, otherwise is homework</a:t>
            </a:r>
          </a:p>
          <a:p>
            <a:r>
              <a:rPr lang="en-US" dirty="0"/>
              <a:t>The graph may be done by hand or through a graphing program (Excel, Google Sheets, etc.)</a:t>
            </a:r>
          </a:p>
          <a:p>
            <a:r>
              <a:rPr lang="en-US" dirty="0"/>
              <a:t>All graphs for the remainder of the course, may be done through a graphing program</a:t>
            </a:r>
          </a:p>
          <a:p>
            <a:endParaRPr lang="en-US" dirty="0"/>
          </a:p>
        </p:txBody>
      </p:sp>
      <p:graphicFrame>
        <p:nvGraphicFramePr>
          <p:cNvPr id="9" name="Table 4">
            <a:extLst>
              <a:ext uri="{FF2B5EF4-FFF2-40B4-BE49-F238E27FC236}">
                <a16:creationId xmlns:a16="http://schemas.microsoft.com/office/drawing/2014/main" id="{56D879E6-3559-45E8-8557-8D484C7550DB}"/>
              </a:ext>
            </a:extLst>
          </p:cNvPr>
          <p:cNvGraphicFramePr>
            <a:graphicFrameLocks/>
          </p:cNvGraphicFramePr>
          <p:nvPr>
            <p:extLst>
              <p:ext uri="{D42A27DB-BD31-4B8C-83A1-F6EECF244321}">
                <p14:modId xmlns:p14="http://schemas.microsoft.com/office/powerpoint/2010/main" val="400237126"/>
              </p:ext>
            </p:extLst>
          </p:nvPr>
        </p:nvGraphicFramePr>
        <p:xfrm>
          <a:off x="8963880" y="3662956"/>
          <a:ext cx="2803145" cy="2560320"/>
        </p:xfrm>
        <a:graphic>
          <a:graphicData uri="http://schemas.openxmlformats.org/drawingml/2006/table">
            <a:tbl>
              <a:tblPr firstRow="1" bandRow="1">
                <a:tableStyleId>{5C22544A-7EE6-4342-B048-85BDC9FD1C3A}</a:tableStyleId>
              </a:tblPr>
              <a:tblGrid>
                <a:gridCol w="1569022">
                  <a:extLst>
                    <a:ext uri="{9D8B030D-6E8A-4147-A177-3AD203B41FA5}">
                      <a16:colId xmlns:a16="http://schemas.microsoft.com/office/drawing/2014/main" val="1905906000"/>
                    </a:ext>
                  </a:extLst>
                </a:gridCol>
                <a:gridCol w="1234123">
                  <a:extLst>
                    <a:ext uri="{9D8B030D-6E8A-4147-A177-3AD203B41FA5}">
                      <a16:colId xmlns:a16="http://schemas.microsoft.com/office/drawing/2014/main" val="3195246719"/>
                    </a:ext>
                  </a:extLst>
                </a:gridCol>
              </a:tblGrid>
              <a:tr h="262640">
                <a:tc>
                  <a:txBody>
                    <a:bodyPr/>
                    <a:lstStyle/>
                    <a:p>
                      <a:pPr algn="ctr"/>
                      <a:r>
                        <a:rPr lang="en-US" sz="1500" dirty="0"/>
                        <a:t>Temperature (</a:t>
                      </a:r>
                      <a:r>
                        <a:rPr lang="en-US" sz="1500" dirty="0">
                          <a:latin typeface="Calibri" panose="020F0502020204030204" pitchFamily="34" charset="0"/>
                          <a:cs typeface="Calibri" panose="020F0502020204030204" pitchFamily="34" charset="0"/>
                        </a:rPr>
                        <a:t>⁰C)</a:t>
                      </a:r>
                      <a:endParaRPr lang="en-US" sz="1500" dirty="0"/>
                    </a:p>
                  </a:txBody>
                  <a:tcPr/>
                </a:tc>
                <a:tc>
                  <a:txBody>
                    <a:bodyPr/>
                    <a:lstStyle/>
                    <a:p>
                      <a:pPr algn="ctr"/>
                      <a:r>
                        <a:rPr lang="en-US" sz="1500" dirty="0"/>
                        <a:t>Volume (mL)</a:t>
                      </a:r>
                    </a:p>
                  </a:txBody>
                  <a:tcPr/>
                </a:tc>
                <a:extLst>
                  <a:ext uri="{0D108BD9-81ED-4DB2-BD59-A6C34878D82A}">
                    <a16:rowId xmlns:a16="http://schemas.microsoft.com/office/drawing/2014/main" val="553366674"/>
                  </a:ext>
                </a:extLst>
              </a:tr>
              <a:tr h="262640">
                <a:tc>
                  <a:txBody>
                    <a:bodyPr/>
                    <a:lstStyle/>
                    <a:p>
                      <a:pPr algn="ctr"/>
                      <a:r>
                        <a:rPr lang="en-US" sz="1500" dirty="0"/>
                        <a:t>11</a:t>
                      </a:r>
                    </a:p>
                  </a:txBody>
                  <a:tcPr/>
                </a:tc>
                <a:tc>
                  <a:txBody>
                    <a:bodyPr/>
                    <a:lstStyle/>
                    <a:p>
                      <a:pPr algn="ctr"/>
                      <a:r>
                        <a:rPr lang="en-US" sz="1500" dirty="0"/>
                        <a:t>95.3</a:t>
                      </a:r>
                    </a:p>
                  </a:txBody>
                  <a:tcPr/>
                </a:tc>
                <a:extLst>
                  <a:ext uri="{0D108BD9-81ED-4DB2-BD59-A6C34878D82A}">
                    <a16:rowId xmlns:a16="http://schemas.microsoft.com/office/drawing/2014/main" val="1233308525"/>
                  </a:ext>
                </a:extLst>
              </a:tr>
              <a:tr h="262640">
                <a:tc>
                  <a:txBody>
                    <a:bodyPr/>
                    <a:lstStyle/>
                    <a:p>
                      <a:pPr algn="ctr"/>
                      <a:r>
                        <a:rPr lang="en-US" sz="1500" dirty="0"/>
                        <a:t>25</a:t>
                      </a:r>
                    </a:p>
                  </a:txBody>
                  <a:tcPr/>
                </a:tc>
                <a:tc>
                  <a:txBody>
                    <a:bodyPr/>
                    <a:lstStyle/>
                    <a:p>
                      <a:pPr algn="ctr"/>
                      <a:r>
                        <a:rPr lang="en-US" sz="1500" dirty="0"/>
                        <a:t>100.0</a:t>
                      </a:r>
                    </a:p>
                  </a:txBody>
                  <a:tcPr/>
                </a:tc>
                <a:extLst>
                  <a:ext uri="{0D108BD9-81ED-4DB2-BD59-A6C34878D82A}">
                    <a16:rowId xmlns:a16="http://schemas.microsoft.com/office/drawing/2014/main" val="3984094221"/>
                  </a:ext>
                </a:extLst>
              </a:tr>
              <a:tr h="262640">
                <a:tc>
                  <a:txBody>
                    <a:bodyPr/>
                    <a:lstStyle/>
                    <a:p>
                      <a:pPr algn="ctr"/>
                      <a:r>
                        <a:rPr lang="en-US" sz="1500" dirty="0"/>
                        <a:t>47</a:t>
                      </a:r>
                    </a:p>
                  </a:txBody>
                  <a:tcPr/>
                </a:tc>
                <a:tc>
                  <a:txBody>
                    <a:bodyPr/>
                    <a:lstStyle/>
                    <a:p>
                      <a:pPr algn="ctr"/>
                      <a:r>
                        <a:rPr lang="en-US" sz="1500" dirty="0"/>
                        <a:t>107.4</a:t>
                      </a:r>
                    </a:p>
                  </a:txBody>
                  <a:tcPr/>
                </a:tc>
                <a:extLst>
                  <a:ext uri="{0D108BD9-81ED-4DB2-BD59-A6C34878D82A}">
                    <a16:rowId xmlns:a16="http://schemas.microsoft.com/office/drawing/2014/main" val="3976848805"/>
                  </a:ext>
                </a:extLst>
              </a:tr>
              <a:tr h="262640">
                <a:tc>
                  <a:txBody>
                    <a:bodyPr/>
                    <a:lstStyle/>
                    <a:p>
                      <a:pPr algn="ctr"/>
                      <a:r>
                        <a:rPr lang="en-US" sz="1500" dirty="0"/>
                        <a:t>73</a:t>
                      </a:r>
                    </a:p>
                  </a:txBody>
                  <a:tcPr/>
                </a:tc>
                <a:tc>
                  <a:txBody>
                    <a:bodyPr/>
                    <a:lstStyle/>
                    <a:p>
                      <a:pPr algn="ctr"/>
                      <a:r>
                        <a:rPr lang="en-US" sz="1500" dirty="0"/>
                        <a:t>116.1</a:t>
                      </a:r>
                    </a:p>
                  </a:txBody>
                  <a:tcPr/>
                </a:tc>
                <a:extLst>
                  <a:ext uri="{0D108BD9-81ED-4DB2-BD59-A6C34878D82A}">
                    <a16:rowId xmlns:a16="http://schemas.microsoft.com/office/drawing/2014/main" val="1092074114"/>
                  </a:ext>
                </a:extLst>
              </a:tr>
              <a:tr h="262640">
                <a:tc>
                  <a:txBody>
                    <a:bodyPr/>
                    <a:lstStyle/>
                    <a:p>
                      <a:pPr algn="ctr"/>
                      <a:r>
                        <a:rPr lang="en-US" sz="1500" dirty="0"/>
                        <a:t>159</a:t>
                      </a:r>
                    </a:p>
                  </a:txBody>
                  <a:tcPr/>
                </a:tc>
                <a:tc>
                  <a:txBody>
                    <a:bodyPr/>
                    <a:lstStyle/>
                    <a:p>
                      <a:pPr algn="ctr"/>
                      <a:r>
                        <a:rPr lang="en-US" sz="1500" dirty="0"/>
                        <a:t>145.0</a:t>
                      </a:r>
                    </a:p>
                  </a:txBody>
                  <a:tcPr/>
                </a:tc>
                <a:extLst>
                  <a:ext uri="{0D108BD9-81ED-4DB2-BD59-A6C34878D82A}">
                    <a16:rowId xmlns:a16="http://schemas.microsoft.com/office/drawing/2014/main" val="1719880856"/>
                  </a:ext>
                </a:extLst>
              </a:tr>
              <a:tr h="262640">
                <a:tc>
                  <a:txBody>
                    <a:bodyPr/>
                    <a:lstStyle/>
                    <a:p>
                      <a:pPr algn="ctr"/>
                      <a:r>
                        <a:rPr lang="en-US" sz="1500" dirty="0"/>
                        <a:t>233</a:t>
                      </a:r>
                    </a:p>
                  </a:txBody>
                  <a:tcPr/>
                </a:tc>
                <a:tc>
                  <a:txBody>
                    <a:bodyPr/>
                    <a:lstStyle/>
                    <a:p>
                      <a:pPr algn="ctr"/>
                      <a:r>
                        <a:rPr lang="en-US" sz="1500" dirty="0"/>
                        <a:t>169.8</a:t>
                      </a:r>
                    </a:p>
                  </a:txBody>
                  <a:tcPr/>
                </a:tc>
                <a:extLst>
                  <a:ext uri="{0D108BD9-81ED-4DB2-BD59-A6C34878D82A}">
                    <a16:rowId xmlns:a16="http://schemas.microsoft.com/office/drawing/2014/main" val="2026674247"/>
                  </a:ext>
                </a:extLst>
              </a:tr>
              <a:tr h="304328">
                <a:tc>
                  <a:txBody>
                    <a:bodyPr/>
                    <a:lstStyle/>
                    <a:p>
                      <a:pPr algn="ctr"/>
                      <a:r>
                        <a:rPr lang="en-US" sz="1500" dirty="0"/>
                        <a:t>258</a:t>
                      </a:r>
                    </a:p>
                  </a:txBody>
                  <a:tcPr/>
                </a:tc>
                <a:tc>
                  <a:txBody>
                    <a:bodyPr/>
                    <a:lstStyle/>
                    <a:p>
                      <a:pPr algn="ctr"/>
                      <a:r>
                        <a:rPr lang="en-US" sz="1500" dirty="0"/>
                        <a:t>178.1</a:t>
                      </a:r>
                    </a:p>
                  </a:txBody>
                  <a:tcPr/>
                </a:tc>
                <a:extLst>
                  <a:ext uri="{0D108BD9-81ED-4DB2-BD59-A6C34878D82A}">
                    <a16:rowId xmlns:a16="http://schemas.microsoft.com/office/drawing/2014/main" val="2374203732"/>
                  </a:ext>
                </a:extLst>
              </a:tr>
            </a:tbl>
          </a:graphicData>
        </a:graphic>
      </p:graphicFrame>
      <p:sp>
        <p:nvSpPr>
          <p:cNvPr id="5" name="TextBox 4">
            <a:extLst>
              <a:ext uri="{FF2B5EF4-FFF2-40B4-BE49-F238E27FC236}">
                <a16:creationId xmlns:a16="http://schemas.microsoft.com/office/drawing/2014/main" id="{F9BA873F-1984-49F8-B1F1-825E9D8D4DFD}"/>
              </a:ext>
            </a:extLst>
          </p:cNvPr>
          <p:cNvSpPr txBox="1"/>
          <p:nvPr/>
        </p:nvSpPr>
        <p:spPr>
          <a:xfrm>
            <a:off x="180513" y="3599270"/>
            <a:ext cx="8783367" cy="2369880"/>
          </a:xfrm>
          <a:prstGeom prst="rect">
            <a:avLst/>
          </a:prstGeom>
          <a:noFill/>
        </p:spPr>
        <p:txBody>
          <a:bodyPr wrap="none" rtlCol="0">
            <a:spAutoFit/>
          </a:bodyPr>
          <a:lstStyle/>
          <a:p>
            <a:pPr marL="285750" indent="-285750">
              <a:buClr>
                <a:schemeClr val="accent1"/>
              </a:buClr>
              <a:buFont typeface="Wingdings" panose="05000000000000000000" pitchFamily="2" charset="2"/>
              <a:buChar char="§"/>
            </a:pPr>
            <a:r>
              <a:rPr lang="en-US" sz="2200" dirty="0"/>
              <a:t>Prepare a fully labeled graph for Temperature and Volume</a:t>
            </a:r>
          </a:p>
          <a:p>
            <a:pPr marL="742950" lvl="1" indent="-285750">
              <a:buClr>
                <a:schemeClr val="accent1"/>
              </a:buClr>
              <a:buFont typeface="Wingdings" panose="05000000000000000000" pitchFamily="2" charset="2"/>
              <a:buChar char="§"/>
            </a:pPr>
            <a:r>
              <a:rPr lang="en-US" dirty="0"/>
              <a:t>Use the information provided to determine the Independent and Dependent variables</a:t>
            </a:r>
          </a:p>
          <a:p>
            <a:pPr marL="742950" lvl="1" indent="-285750">
              <a:buClr>
                <a:schemeClr val="accent1"/>
              </a:buClr>
              <a:buFont typeface="Wingdings" panose="05000000000000000000" pitchFamily="2" charset="2"/>
              <a:buChar char="§"/>
            </a:pPr>
            <a:r>
              <a:rPr lang="en-US" dirty="0"/>
              <a:t>Label both axis, including appropriate units</a:t>
            </a:r>
          </a:p>
          <a:p>
            <a:pPr marL="742950" lvl="1" indent="-285750">
              <a:buClr>
                <a:schemeClr val="accent1"/>
              </a:buClr>
              <a:buFont typeface="Wingdings" panose="05000000000000000000" pitchFamily="2" charset="2"/>
              <a:buChar char="§"/>
            </a:pPr>
            <a:r>
              <a:rPr lang="en-US" dirty="0"/>
              <a:t>Include a title with any other information provided</a:t>
            </a:r>
          </a:p>
          <a:p>
            <a:pPr marL="742950" lvl="1" indent="-285750">
              <a:buClr>
                <a:schemeClr val="accent1"/>
              </a:buClr>
              <a:buFont typeface="Wingdings" panose="05000000000000000000" pitchFamily="2" charset="2"/>
              <a:buChar char="§"/>
            </a:pPr>
            <a:r>
              <a:rPr lang="en-US" dirty="0"/>
              <a:t>Calculate the Slope and Intercept of the trendline</a:t>
            </a:r>
          </a:p>
          <a:p>
            <a:pPr marL="742950" lvl="1" indent="-285750">
              <a:buClr>
                <a:schemeClr val="accent1"/>
              </a:buClr>
              <a:buFont typeface="Wingdings" panose="05000000000000000000" pitchFamily="2" charset="2"/>
              <a:buChar char="§"/>
            </a:pPr>
            <a:r>
              <a:rPr lang="en-US" dirty="0"/>
              <a:t>Determine the Equation of the Trendline</a:t>
            </a:r>
          </a:p>
          <a:p>
            <a:pPr marL="742950" lvl="1" indent="-285750">
              <a:buClr>
                <a:schemeClr val="accent1"/>
              </a:buClr>
              <a:buFont typeface="Wingdings" panose="05000000000000000000" pitchFamily="2" charset="2"/>
              <a:buChar char="§"/>
            </a:pPr>
            <a:r>
              <a:rPr lang="en-US" dirty="0"/>
              <a:t>Use your equation to calculate the Temperature if the Volume is zero.</a:t>
            </a:r>
          </a:p>
          <a:p>
            <a:pPr marL="742950" lvl="1" indent="-285750">
              <a:buClr>
                <a:schemeClr val="accent1"/>
              </a:buClr>
              <a:buFont typeface="Wingdings" panose="05000000000000000000" pitchFamily="2" charset="2"/>
              <a:buChar char="§"/>
            </a:pPr>
            <a:r>
              <a:rPr lang="en-US" dirty="0"/>
              <a:t>Calculate the percent error based on the True Value of absolute zero (-273</a:t>
            </a:r>
            <a:r>
              <a:rPr lang="en-US" dirty="0">
                <a:latin typeface="Calibri" panose="020F0502020204030204" pitchFamily="34" charset="0"/>
                <a:cs typeface="Calibri" panose="020F0502020204030204" pitchFamily="34" charset="0"/>
              </a:rPr>
              <a:t>⁰C)</a:t>
            </a:r>
            <a:endParaRPr lang="en-US"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A63E3B6-4F2D-4E8F-A906-151397ABED59}"/>
                  </a:ext>
                </a:extLst>
              </p:cNvPr>
              <p:cNvSpPr txBox="1"/>
              <p:nvPr/>
            </p:nvSpPr>
            <p:spPr>
              <a:xfrm>
                <a:off x="1150286" y="6124121"/>
                <a:ext cx="5721695"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𝐸𝑟𝑟𝑜𝑟</m:t>
                      </m:r>
                      <m:r>
                        <a:rPr lang="en-US" b="0" i="1" smtClean="0">
                          <a:latin typeface="Cambria Math" panose="02040503050406030204" pitchFamily="18" charset="0"/>
                        </a:rPr>
                        <m:t>= </m:t>
                      </m:r>
                      <m:f>
                        <m:fPr>
                          <m:ctrlPr>
                            <a:rPr lang="en-US" b="0"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𝑀𝑒𝑎𝑠𝑢𝑟𝑒𝑑</m:t>
                                  </m:r>
                                  <m:r>
                                    <a:rPr lang="en-US" b="0" i="1" smtClean="0">
                                      <a:latin typeface="Cambria Math" panose="02040503050406030204" pitchFamily="18" charset="0"/>
                                    </a:rPr>
                                    <m:t> </m:t>
                                  </m:r>
                                  <m:r>
                                    <a:rPr lang="en-US" b="0" i="1" smtClean="0">
                                      <a:latin typeface="Cambria Math" panose="02040503050406030204" pitchFamily="18" charset="0"/>
                                    </a:rPr>
                                    <m:t>𝑉𝑎𝑙𝑢𝑒</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𝑇𝑟𝑢𝑒</m:t>
                                  </m:r>
                                  <m:r>
                                    <a:rPr lang="en-US" b="0" i="1" smtClean="0">
                                      <a:latin typeface="Cambria Math" panose="02040503050406030204" pitchFamily="18" charset="0"/>
                                    </a:rPr>
                                    <m:t> </m:t>
                                  </m:r>
                                  <m:r>
                                    <a:rPr lang="en-US" b="0" i="1" smtClean="0">
                                      <a:latin typeface="Cambria Math" panose="02040503050406030204" pitchFamily="18" charset="0"/>
                                    </a:rPr>
                                    <m:t>𝑉𝑎𝑙𝑢𝑒</m:t>
                                  </m:r>
                                </m:e>
                              </m:d>
                            </m:e>
                          </m:d>
                        </m:num>
                        <m:den>
                          <m:d>
                            <m:dPr>
                              <m:ctrlPr>
                                <a:rPr lang="en-US" b="0" i="1" smtClean="0">
                                  <a:latin typeface="Cambria Math" panose="02040503050406030204" pitchFamily="18" charset="0"/>
                                </a:rPr>
                              </m:ctrlPr>
                            </m:dPr>
                            <m:e>
                              <m:r>
                                <a:rPr lang="en-US" b="0" i="1" smtClean="0">
                                  <a:latin typeface="Cambria Math" panose="02040503050406030204" pitchFamily="18" charset="0"/>
                                </a:rPr>
                                <m:t>𝑇𝑟𝑢𝑒</m:t>
                              </m:r>
                              <m:r>
                                <a:rPr lang="en-US" b="0" i="1" smtClean="0">
                                  <a:latin typeface="Cambria Math" panose="02040503050406030204" pitchFamily="18" charset="0"/>
                                </a:rPr>
                                <m:t> </m:t>
                              </m:r>
                              <m:r>
                                <a:rPr lang="en-US" b="0" i="1" smtClean="0">
                                  <a:latin typeface="Cambria Math" panose="02040503050406030204" pitchFamily="18" charset="0"/>
                                </a:rPr>
                                <m:t>𝑉𝑎𝑙𝑢𝑒</m:t>
                              </m:r>
                            </m:e>
                          </m:d>
                        </m:den>
                      </m:f>
                      <m:r>
                        <a:rPr lang="en-US" b="0" i="1" smtClean="0">
                          <a:latin typeface="Cambria Math" panose="02040503050406030204" pitchFamily="18" charset="0"/>
                          <a:ea typeface="Cambria Math" panose="02040503050406030204" pitchFamily="18" charset="0"/>
                        </a:rPr>
                        <m:t>×100%</m:t>
                      </m:r>
                    </m:oMath>
                  </m:oMathPara>
                </a14:m>
                <a:endParaRPr lang="en-US" dirty="0"/>
              </a:p>
            </p:txBody>
          </p:sp>
        </mc:Choice>
        <mc:Fallback xmlns="">
          <p:sp>
            <p:nvSpPr>
              <p:cNvPr id="10" name="TextBox 9">
                <a:extLst>
                  <a:ext uri="{FF2B5EF4-FFF2-40B4-BE49-F238E27FC236}">
                    <a16:creationId xmlns:a16="http://schemas.microsoft.com/office/drawing/2014/main" id="{6A63E3B6-4F2D-4E8F-A906-151397ABED59}"/>
                  </a:ext>
                </a:extLst>
              </p:cNvPr>
              <p:cNvSpPr txBox="1">
                <a:spLocks noRot="1" noChangeAspect="1" noMove="1" noResize="1" noEditPoints="1" noAdjustHandles="1" noChangeArrowheads="1" noChangeShapeType="1" noTextEdit="1"/>
              </p:cNvSpPr>
              <p:nvPr/>
            </p:nvSpPr>
            <p:spPr>
              <a:xfrm>
                <a:off x="1150286" y="6124121"/>
                <a:ext cx="5721695" cy="576761"/>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80659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49893-3E8B-441F-B379-F9283BA1F0B5}"/>
              </a:ext>
            </a:extLst>
          </p:cNvPr>
          <p:cNvSpPr>
            <a:spLocks noGrp="1"/>
          </p:cNvSpPr>
          <p:nvPr>
            <p:ph type="title"/>
          </p:nvPr>
        </p:nvSpPr>
        <p:spPr>
          <a:xfrm>
            <a:off x="1041219" y="397209"/>
            <a:ext cx="9720072" cy="1499616"/>
          </a:xfrm>
        </p:spPr>
        <p:txBody>
          <a:bodyPr/>
          <a:lstStyle/>
          <a:p>
            <a:r>
              <a:rPr lang="en-US" dirty="0"/>
              <a:t>Part C – Vapor pressure of water</a:t>
            </a:r>
          </a:p>
        </p:txBody>
      </p:sp>
      <p:sp>
        <p:nvSpPr>
          <p:cNvPr id="3" name="Content Placeholder 2">
            <a:extLst>
              <a:ext uri="{FF2B5EF4-FFF2-40B4-BE49-F238E27FC236}">
                <a16:creationId xmlns:a16="http://schemas.microsoft.com/office/drawing/2014/main" id="{788279CA-1CF7-499A-9C76-890064211AB3}"/>
              </a:ext>
            </a:extLst>
          </p:cNvPr>
          <p:cNvSpPr>
            <a:spLocks noGrp="1"/>
          </p:cNvSpPr>
          <p:nvPr>
            <p:ph idx="1"/>
          </p:nvPr>
        </p:nvSpPr>
        <p:spPr>
          <a:xfrm>
            <a:off x="459157" y="1477207"/>
            <a:ext cx="8783367" cy="2369891"/>
          </a:xfrm>
        </p:spPr>
        <p:txBody>
          <a:bodyPr>
            <a:normAutofit fontScale="92500"/>
          </a:bodyPr>
          <a:lstStyle/>
          <a:p>
            <a:r>
              <a:rPr lang="en-US" dirty="0"/>
              <a:t>In Part C you will prepare two graphs of Temperature and Volume for a gas</a:t>
            </a:r>
          </a:p>
          <a:p>
            <a:r>
              <a:rPr lang="en-US" dirty="0"/>
              <a:t>The graphs may be done in the lab session if you have time, otherwise are homework</a:t>
            </a:r>
          </a:p>
          <a:p>
            <a:r>
              <a:rPr lang="en-US" dirty="0"/>
              <a:t>The graphs may be done by hand or through a graphing program (Excel, Google Sheets, etc.)</a:t>
            </a:r>
          </a:p>
          <a:p>
            <a:r>
              <a:rPr lang="en-US" dirty="0"/>
              <a:t>All graphs for the remainder of the course, may be done through a graphing program</a:t>
            </a:r>
          </a:p>
          <a:p>
            <a:endParaRPr lang="en-US" dirty="0"/>
          </a:p>
        </p:txBody>
      </p:sp>
      <p:graphicFrame>
        <p:nvGraphicFramePr>
          <p:cNvPr id="9" name="Table 4">
            <a:extLst>
              <a:ext uri="{FF2B5EF4-FFF2-40B4-BE49-F238E27FC236}">
                <a16:creationId xmlns:a16="http://schemas.microsoft.com/office/drawing/2014/main" id="{56D879E6-3559-45E8-8557-8D484C7550DB}"/>
              </a:ext>
            </a:extLst>
          </p:cNvPr>
          <p:cNvGraphicFramePr>
            <a:graphicFrameLocks/>
          </p:cNvGraphicFramePr>
          <p:nvPr>
            <p:extLst>
              <p:ext uri="{D42A27DB-BD31-4B8C-83A1-F6EECF244321}">
                <p14:modId xmlns:p14="http://schemas.microsoft.com/office/powerpoint/2010/main" val="2125262360"/>
              </p:ext>
            </p:extLst>
          </p:nvPr>
        </p:nvGraphicFramePr>
        <p:xfrm>
          <a:off x="9242524" y="112842"/>
          <a:ext cx="2803145" cy="6363712"/>
        </p:xfrm>
        <a:graphic>
          <a:graphicData uri="http://schemas.openxmlformats.org/drawingml/2006/table">
            <a:tbl>
              <a:tblPr firstRow="1" bandRow="1">
                <a:tableStyleId>{5C22544A-7EE6-4342-B048-85BDC9FD1C3A}</a:tableStyleId>
              </a:tblPr>
              <a:tblGrid>
                <a:gridCol w="1569022">
                  <a:extLst>
                    <a:ext uri="{9D8B030D-6E8A-4147-A177-3AD203B41FA5}">
                      <a16:colId xmlns:a16="http://schemas.microsoft.com/office/drawing/2014/main" val="1905906000"/>
                    </a:ext>
                  </a:extLst>
                </a:gridCol>
                <a:gridCol w="1234123">
                  <a:extLst>
                    <a:ext uri="{9D8B030D-6E8A-4147-A177-3AD203B41FA5}">
                      <a16:colId xmlns:a16="http://schemas.microsoft.com/office/drawing/2014/main" val="3195246719"/>
                    </a:ext>
                  </a:extLst>
                </a:gridCol>
              </a:tblGrid>
              <a:tr h="262640">
                <a:tc>
                  <a:txBody>
                    <a:bodyPr/>
                    <a:lstStyle/>
                    <a:p>
                      <a:pPr algn="ctr"/>
                      <a:r>
                        <a:rPr lang="en-US" sz="1200" dirty="0"/>
                        <a:t>Temperature (</a:t>
                      </a:r>
                      <a:r>
                        <a:rPr lang="en-US" sz="1200" dirty="0">
                          <a:latin typeface="Calibri" panose="020F0502020204030204" pitchFamily="34" charset="0"/>
                          <a:cs typeface="Calibri" panose="020F0502020204030204" pitchFamily="34" charset="0"/>
                        </a:rPr>
                        <a:t>⁰C)</a:t>
                      </a:r>
                      <a:endParaRPr lang="en-US" sz="1200" dirty="0"/>
                    </a:p>
                  </a:txBody>
                  <a:tcPr/>
                </a:tc>
                <a:tc>
                  <a:txBody>
                    <a:bodyPr/>
                    <a:lstStyle/>
                    <a:p>
                      <a:pPr algn="ctr"/>
                      <a:r>
                        <a:rPr lang="en-US" sz="1200" dirty="0" err="1"/>
                        <a:t>Vap</a:t>
                      </a:r>
                      <a:r>
                        <a:rPr lang="en-US" sz="1200" dirty="0"/>
                        <a:t>. Press. (mmHg)</a:t>
                      </a:r>
                    </a:p>
                  </a:txBody>
                  <a:tcPr/>
                </a:tc>
                <a:extLst>
                  <a:ext uri="{0D108BD9-81ED-4DB2-BD59-A6C34878D82A}">
                    <a16:rowId xmlns:a16="http://schemas.microsoft.com/office/drawing/2014/main" val="553366674"/>
                  </a:ext>
                </a:extLst>
              </a:tr>
              <a:tr h="0">
                <a:tc>
                  <a:txBody>
                    <a:bodyPr/>
                    <a:lstStyle/>
                    <a:p>
                      <a:pPr algn="ctr"/>
                      <a:r>
                        <a:rPr lang="en-US" sz="1200" dirty="0"/>
                        <a:t>0</a:t>
                      </a:r>
                    </a:p>
                  </a:txBody>
                  <a:tcPr/>
                </a:tc>
                <a:tc>
                  <a:txBody>
                    <a:bodyPr/>
                    <a:lstStyle/>
                    <a:p>
                      <a:pPr algn="ctr"/>
                      <a:r>
                        <a:rPr lang="en-US" sz="1200" dirty="0"/>
                        <a:t>4.6</a:t>
                      </a:r>
                    </a:p>
                  </a:txBody>
                  <a:tcPr/>
                </a:tc>
                <a:extLst>
                  <a:ext uri="{0D108BD9-81ED-4DB2-BD59-A6C34878D82A}">
                    <a16:rowId xmlns:a16="http://schemas.microsoft.com/office/drawing/2014/main" val="1233308525"/>
                  </a:ext>
                </a:extLst>
              </a:tr>
              <a:tr h="262640">
                <a:tc>
                  <a:txBody>
                    <a:bodyPr/>
                    <a:lstStyle/>
                    <a:p>
                      <a:pPr algn="ctr"/>
                      <a:r>
                        <a:rPr lang="en-US" sz="1200" dirty="0"/>
                        <a:t>5</a:t>
                      </a:r>
                    </a:p>
                  </a:txBody>
                  <a:tcPr/>
                </a:tc>
                <a:tc>
                  <a:txBody>
                    <a:bodyPr/>
                    <a:lstStyle/>
                    <a:p>
                      <a:pPr algn="ctr"/>
                      <a:r>
                        <a:rPr lang="en-US" sz="1200" dirty="0"/>
                        <a:t>6.5</a:t>
                      </a:r>
                    </a:p>
                  </a:txBody>
                  <a:tcPr/>
                </a:tc>
                <a:extLst>
                  <a:ext uri="{0D108BD9-81ED-4DB2-BD59-A6C34878D82A}">
                    <a16:rowId xmlns:a16="http://schemas.microsoft.com/office/drawing/2014/main" val="3984094221"/>
                  </a:ext>
                </a:extLst>
              </a:tr>
              <a:tr h="262640">
                <a:tc>
                  <a:txBody>
                    <a:bodyPr/>
                    <a:lstStyle/>
                    <a:p>
                      <a:pPr algn="ctr"/>
                      <a:r>
                        <a:rPr lang="en-US" sz="1200" dirty="0"/>
                        <a:t>10</a:t>
                      </a:r>
                    </a:p>
                  </a:txBody>
                  <a:tcPr/>
                </a:tc>
                <a:tc>
                  <a:txBody>
                    <a:bodyPr/>
                    <a:lstStyle/>
                    <a:p>
                      <a:pPr algn="ctr"/>
                      <a:r>
                        <a:rPr lang="en-US" sz="1200" dirty="0"/>
                        <a:t>9.2</a:t>
                      </a:r>
                    </a:p>
                  </a:txBody>
                  <a:tcPr/>
                </a:tc>
                <a:extLst>
                  <a:ext uri="{0D108BD9-81ED-4DB2-BD59-A6C34878D82A}">
                    <a16:rowId xmlns:a16="http://schemas.microsoft.com/office/drawing/2014/main" val="3976848805"/>
                  </a:ext>
                </a:extLst>
              </a:tr>
              <a:tr h="262640">
                <a:tc>
                  <a:txBody>
                    <a:bodyPr/>
                    <a:lstStyle/>
                    <a:p>
                      <a:pPr algn="ctr"/>
                      <a:r>
                        <a:rPr lang="en-US" sz="1200" dirty="0"/>
                        <a:t>15</a:t>
                      </a:r>
                    </a:p>
                  </a:txBody>
                  <a:tcPr/>
                </a:tc>
                <a:tc>
                  <a:txBody>
                    <a:bodyPr/>
                    <a:lstStyle/>
                    <a:p>
                      <a:pPr algn="ctr"/>
                      <a:r>
                        <a:rPr lang="en-US" sz="1200" dirty="0"/>
                        <a:t>12.8</a:t>
                      </a:r>
                    </a:p>
                  </a:txBody>
                  <a:tcPr/>
                </a:tc>
                <a:extLst>
                  <a:ext uri="{0D108BD9-81ED-4DB2-BD59-A6C34878D82A}">
                    <a16:rowId xmlns:a16="http://schemas.microsoft.com/office/drawing/2014/main" val="1092074114"/>
                  </a:ext>
                </a:extLst>
              </a:tr>
              <a:tr h="262640">
                <a:tc>
                  <a:txBody>
                    <a:bodyPr/>
                    <a:lstStyle/>
                    <a:p>
                      <a:pPr algn="ctr"/>
                      <a:r>
                        <a:rPr lang="en-US" sz="1200" dirty="0"/>
                        <a:t>20</a:t>
                      </a:r>
                    </a:p>
                  </a:txBody>
                  <a:tcPr/>
                </a:tc>
                <a:tc>
                  <a:txBody>
                    <a:bodyPr/>
                    <a:lstStyle/>
                    <a:p>
                      <a:pPr algn="ctr"/>
                      <a:r>
                        <a:rPr lang="en-US" sz="1200" dirty="0"/>
                        <a:t>17.5</a:t>
                      </a:r>
                    </a:p>
                  </a:txBody>
                  <a:tcPr/>
                </a:tc>
                <a:extLst>
                  <a:ext uri="{0D108BD9-81ED-4DB2-BD59-A6C34878D82A}">
                    <a16:rowId xmlns:a16="http://schemas.microsoft.com/office/drawing/2014/main" val="1719880856"/>
                  </a:ext>
                </a:extLst>
              </a:tr>
              <a:tr h="262640">
                <a:tc>
                  <a:txBody>
                    <a:bodyPr/>
                    <a:lstStyle/>
                    <a:p>
                      <a:pPr algn="ctr"/>
                      <a:r>
                        <a:rPr lang="en-US" sz="1200" dirty="0"/>
                        <a:t>25</a:t>
                      </a:r>
                    </a:p>
                  </a:txBody>
                  <a:tcPr/>
                </a:tc>
                <a:tc>
                  <a:txBody>
                    <a:bodyPr/>
                    <a:lstStyle/>
                    <a:p>
                      <a:pPr algn="ctr"/>
                      <a:r>
                        <a:rPr lang="en-US" sz="1200" dirty="0"/>
                        <a:t>23.8</a:t>
                      </a:r>
                    </a:p>
                  </a:txBody>
                  <a:tcPr/>
                </a:tc>
                <a:extLst>
                  <a:ext uri="{0D108BD9-81ED-4DB2-BD59-A6C34878D82A}">
                    <a16:rowId xmlns:a16="http://schemas.microsoft.com/office/drawing/2014/main" val="2026674247"/>
                  </a:ext>
                </a:extLst>
              </a:tr>
              <a:tr h="304328">
                <a:tc>
                  <a:txBody>
                    <a:bodyPr/>
                    <a:lstStyle/>
                    <a:p>
                      <a:pPr algn="ctr"/>
                      <a:r>
                        <a:rPr lang="en-US" sz="1200" dirty="0"/>
                        <a:t>30</a:t>
                      </a:r>
                    </a:p>
                  </a:txBody>
                  <a:tcPr/>
                </a:tc>
                <a:tc>
                  <a:txBody>
                    <a:bodyPr/>
                    <a:lstStyle/>
                    <a:p>
                      <a:pPr algn="ctr"/>
                      <a:r>
                        <a:rPr lang="en-US" sz="1200" dirty="0"/>
                        <a:t>31.8</a:t>
                      </a:r>
                    </a:p>
                  </a:txBody>
                  <a:tcPr/>
                </a:tc>
                <a:extLst>
                  <a:ext uri="{0D108BD9-81ED-4DB2-BD59-A6C34878D82A}">
                    <a16:rowId xmlns:a16="http://schemas.microsoft.com/office/drawing/2014/main" val="2374203732"/>
                  </a:ext>
                </a:extLst>
              </a:tr>
              <a:tr h="304328">
                <a:tc>
                  <a:txBody>
                    <a:bodyPr/>
                    <a:lstStyle/>
                    <a:p>
                      <a:pPr algn="ctr"/>
                      <a:r>
                        <a:rPr lang="en-US" sz="1200" dirty="0"/>
                        <a:t>35</a:t>
                      </a:r>
                    </a:p>
                  </a:txBody>
                  <a:tcPr/>
                </a:tc>
                <a:tc>
                  <a:txBody>
                    <a:bodyPr/>
                    <a:lstStyle/>
                    <a:p>
                      <a:pPr algn="ctr"/>
                      <a:r>
                        <a:rPr lang="en-US" sz="1200" dirty="0"/>
                        <a:t>42.2</a:t>
                      </a:r>
                    </a:p>
                  </a:txBody>
                  <a:tcPr/>
                </a:tc>
                <a:extLst>
                  <a:ext uri="{0D108BD9-81ED-4DB2-BD59-A6C34878D82A}">
                    <a16:rowId xmlns:a16="http://schemas.microsoft.com/office/drawing/2014/main" val="2596539705"/>
                  </a:ext>
                </a:extLst>
              </a:tr>
              <a:tr h="304328">
                <a:tc>
                  <a:txBody>
                    <a:bodyPr/>
                    <a:lstStyle/>
                    <a:p>
                      <a:pPr algn="ctr"/>
                      <a:r>
                        <a:rPr lang="en-US" sz="1200" dirty="0"/>
                        <a:t>40</a:t>
                      </a:r>
                    </a:p>
                  </a:txBody>
                  <a:tcPr/>
                </a:tc>
                <a:tc>
                  <a:txBody>
                    <a:bodyPr/>
                    <a:lstStyle/>
                    <a:p>
                      <a:pPr algn="ctr"/>
                      <a:r>
                        <a:rPr lang="en-US" sz="1200" dirty="0"/>
                        <a:t>55.3</a:t>
                      </a:r>
                    </a:p>
                  </a:txBody>
                  <a:tcPr/>
                </a:tc>
                <a:extLst>
                  <a:ext uri="{0D108BD9-81ED-4DB2-BD59-A6C34878D82A}">
                    <a16:rowId xmlns:a16="http://schemas.microsoft.com/office/drawing/2014/main" val="4108157977"/>
                  </a:ext>
                </a:extLst>
              </a:tr>
              <a:tr h="304328">
                <a:tc>
                  <a:txBody>
                    <a:bodyPr/>
                    <a:lstStyle/>
                    <a:p>
                      <a:pPr algn="ctr"/>
                      <a:r>
                        <a:rPr lang="en-US" sz="1200" dirty="0"/>
                        <a:t>45</a:t>
                      </a:r>
                    </a:p>
                  </a:txBody>
                  <a:tcPr/>
                </a:tc>
                <a:tc>
                  <a:txBody>
                    <a:bodyPr/>
                    <a:lstStyle/>
                    <a:p>
                      <a:pPr algn="ctr"/>
                      <a:r>
                        <a:rPr lang="en-US" sz="1200" dirty="0"/>
                        <a:t>71.9</a:t>
                      </a:r>
                    </a:p>
                  </a:txBody>
                  <a:tcPr/>
                </a:tc>
                <a:extLst>
                  <a:ext uri="{0D108BD9-81ED-4DB2-BD59-A6C34878D82A}">
                    <a16:rowId xmlns:a16="http://schemas.microsoft.com/office/drawing/2014/main" val="3025355163"/>
                  </a:ext>
                </a:extLst>
              </a:tr>
              <a:tr h="304328">
                <a:tc>
                  <a:txBody>
                    <a:bodyPr/>
                    <a:lstStyle/>
                    <a:p>
                      <a:pPr algn="ctr"/>
                      <a:r>
                        <a:rPr lang="en-US" sz="1200" dirty="0"/>
                        <a:t>50</a:t>
                      </a:r>
                    </a:p>
                  </a:txBody>
                  <a:tcPr/>
                </a:tc>
                <a:tc>
                  <a:txBody>
                    <a:bodyPr/>
                    <a:lstStyle/>
                    <a:p>
                      <a:pPr algn="ctr"/>
                      <a:r>
                        <a:rPr lang="en-US" sz="1200" dirty="0"/>
                        <a:t>92.5</a:t>
                      </a:r>
                    </a:p>
                  </a:txBody>
                  <a:tcPr/>
                </a:tc>
                <a:extLst>
                  <a:ext uri="{0D108BD9-81ED-4DB2-BD59-A6C34878D82A}">
                    <a16:rowId xmlns:a16="http://schemas.microsoft.com/office/drawing/2014/main" val="364753866"/>
                  </a:ext>
                </a:extLst>
              </a:tr>
              <a:tr h="304328">
                <a:tc>
                  <a:txBody>
                    <a:bodyPr/>
                    <a:lstStyle/>
                    <a:p>
                      <a:pPr algn="ctr"/>
                      <a:r>
                        <a:rPr lang="en-US" sz="1200" dirty="0"/>
                        <a:t>55</a:t>
                      </a:r>
                    </a:p>
                  </a:txBody>
                  <a:tcPr/>
                </a:tc>
                <a:tc>
                  <a:txBody>
                    <a:bodyPr/>
                    <a:lstStyle/>
                    <a:p>
                      <a:pPr algn="ctr"/>
                      <a:r>
                        <a:rPr lang="en-US" sz="1200" dirty="0"/>
                        <a:t>118.0</a:t>
                      </a:r>
                    </a:p>
                  </a:txBody>
                  <a:tcPr/>
                </a:tc>
                <a:extLst>
                  <a:ext uri="{0D108BD9-81ED-4DB2-BD59-A6C34878D82A}">
                    <a16:rowId xmlns:a16="http://schemas.microsoft.com/office/drawing/2014/main" val="2943083193"/>
                  </a:ext>
                </a:extLst>
              </a:tr>
              <a:tr h="304328">
                <a:tc>
                  <a:txBody>
                    <a:bodyPr/>
                    <a:lstStyle/>
                    <a:p>
                      <a:pPr algn="ctr"/>
                      <a:r>
                        <a:rPr lang="en-US" sz="1200" dirty="0"/>
                        <a:t>60</a:t>
                      </a:r>
                    </a:p>
                  </a:txBody>
                  <a:tcPr/>
                </a:tc>
                <a:tc>
                  <a:txBody>
                    <a:bodyPr/>
                    <a:lstStyle/>
                    <a:p>
                      <a:pPr algn="ctr"/>
                      <a:r>
                        <a:rPr lang="en-US" sz="1200" dirty="0"/>
                        <a:t>149.4</a:t>
                      </a:r>
                    </a:p>
                  </a:txBody>
                  <a:tcPr/>
                </a:tc>
                <a:extLst>
                  <a:ext uri="{0D108BD9-81ED-4DB2-BD59-A6C34878D82A}">
                    <a16:rowId xmlns:a16="http://schemas.microsoft.com/office/drawing/2014/main" val="4116336686"/>
                  </a:ext>
                </a:extLst>
              </a:tr>
              <a:tr h="304328">
                <a:tc>
                  <a:txBody>
                    <a:bodyPr/>
                    <a:lstStyle/>
                    <a:p>
                      <a:pPr algn="ctr"/>
                      <a:r>
                        <a:rPr lang="en-US" sz="1200" dirty="0"/>
                        <a:t>65</a:t>
                      </a:r>
                    </a:p>
                  </a:txBody>
                  <a:tcPr/>
                </a:tc>
                <a:tc>
                  <a:txBody>
                    <a:bodyPr/>
                    <a:lstStyle/>
                    <a:p>
                      <a:pPr algn="ctr"/>
                      <a:r>
                        <a:rPr lang="en-US" sz="1200" dirty="0"/>
                        <a:t>187.5</a:t>
                      </a:r>
                    </a:p>
                  </a:txBody>
                  <a:tcPr/>
                </a:tc>
                <a:extLst>
                  <a:ext uri="{0D108BD9-81ED-4DB2-BD59-A6C34878D82A}">
                    <a16:rowId xmlns:a16="http://schemas.microsoft.com/office/drawing/2014/main" val="2895567501"/>
                  </a:ext>
                </a:extLst>
              </a:tr>
              <a:tr h="304328">
                <a:tc>
                  <a:txBody>
                    <a:bodyPr/>
                    <a:lstStyle/>
                    <a:p>
                      <a:pPr algn="ctr"/>
                      <a:r>
                        <a:rPr lang="en-US" sz="1200" dirty="0"/>
                        <a:t>70</a:t>
                      </a:r>
                    </a:p>
                  </a:txBody>
                  <a:tcPr/>
                </a:tc>
                <a:tc>
                  <a:txBody>
                    <a:bodyPr/>
                    <a:lstStyle/>
                    <a:p>
                      <a:pPr algn="ctr"/>
                      <a:r>
                        <a:rPr lang="en-US" sz="1200" dirty="0"/>
                        <a:t>233.7</a:t>
                      </a:r>
                    </a:p>
                  </a:txBody>
                  <a:tcPr/>
                </a:tc>
                <a:extLst>
                  <a:ext uri="{0D108BD9-81ED-4DB2-BD59-A6C34878D82A}">
                    <a16:rowId xmlns:a16="http://schemas.microsoft.com/office/drawing/2014/main" val="3053621415"/>
                  </a:ext>
                </a:extLst>
              </a:tr>
              <a:tr h="304328">
                <a:tc>
                  <a:txBody>
                    <a:bodyPr/>
                    <a:lstStyle/>
                    <a:p>
                      <a:pPr algn="ctr"/>
                      <a:r>
                        <a:rPr lang="en-US" sz="1200" dirty="0"/>
                        <a:t>75</a:t>
                      </a:r>
                    </a:p>
                  </a:txBody>
                  <a:tcPr/>
                </a:tc>
                <a:tc>
                  <a:txBody>
                    <a:bodyPr/>
                    <a:lstStyle/>
                    <a:p>
                      <a:pPr algn="ctr"/>
                      <a:r>
                        <a:rPr lang="en-US" sz="1200" dirty="0"/>
                        <a:t>289.1</a:t>
                      </a:r>
                    </a:p>
                  </a:txBody>
                  <a:tcPr/>
                </a:tc>
                <a:extLst>
                  <a:ext uri="{0D108BD9-81ED-4DB2-BD59-A6C34878D82A}">
                    <a16:rowId xmlns:a16="http://schemas.microsoft.com/office/drawing/2014/main" val="1109459581"/>
                  </a:ext>
                </a:extLst>
              </a:tr>
              <a:tr h="304328">
                <a:tc>
                  <a:txBody>
                    <a:bodyPr/>
                    <a:lstStyle/>
                    <a:p>
                      <a:pPr algn="ctr"/>
                      <a:r>
                        <a:rPr lang="en-US" sz="1200" dirty="0"/>
                        <a:t>80</a:t>
                      </a:r>
                    </a:p>
                  </a:txBody>
                  <a:tcPr/>
                </a:tc>
                <a:tc>
                  <a:txBody>
                    <a:bodyPr/>
                    <a:lstStyle/>
                    <a:p>
                      <a:pPr algn="ctr"/>
                      <a:r>
                        <a:rPr lang="en-US" sz="1200" dirty="0"/>
                        <a:t>355.1</a:t>
                      </a:r>
                    </a:p>
                  </a:txBody>
                  <a:tcPr/>
                </a:tc>
                <a:extLst>
                  <a:ext uri="{0D108BD9-81ED-4DB2-BD59-A6C34878D82A}">
                    <a16:rowId xmlns:a16="http://schemas.microsoft.com/office/drawing/2014/main" val="1064264146"/>
                  </a:ext>
                </a:extLst>
              </a:tr>
              <a:tr h="304328">
                <a:tc>
                  <a:txBody>
                    <a:bodyPr/>
                    <a:lstStyle/>
                    <a:p>
                      <a:pPr algn="ctr"/>
                      <a:r>
                        <a:rPr lang="en-US" sz="1200" dirty="0"/>
                        <a:t>85</a:t>
                      </a:r>
                    </a:p>
                  </a:txBody>
                  <a:tcPr/>
                </a:tc>
                <a:tc>
                  <a:txBody>
                    <a:bodyPr/>
                    <a:lstStyle/>
                    <a:p>
                      <a:pPr algn="ctr"/>
                      <a:r>
                        <a:rPr lang="en-US" sz="1200" dirty="0"/>
                        <a:t>433.6</a:t>
                      </a:r>
                    </a:p>
                  </a:txBody>
                  <a:tcPr/>
                </a:tc>
                <a:extLst>
                  <a:ext uri="{0D108BD9-81ED-4DB2-BD59-A6C34878D82A}">
                    <a16:rowId xmlns:a16="http://schemas.microsoft.com/office/drawing/2014/main" val="1835279441"/>
                  </a:ext>
                </a:extLst>
              </a:tr>
              <a:tr h="304328">
                <a:tc>
                  <a:txBody>
                    <a:bodyPr/>
                    <a:lstStyle/>
                    <a:p>
                      <a:pPr algn="ctr"/>
                      <a:r>
                        <a:rPr lang="en-US" sz="1200" dirty="0"/>
                        <a:t>90</a:t>
                      </a:r>
                    </a:p>
                  </a:txBody>
                  <a:tcPr/>
                </a:tc>
                <a:tc>
                  <a:txBody>
                    <a:bodyPr/>
                    <a:lstStyle/>
                    <a:p>
                      <a:pPr algn="ctr"/>
                      <a:r>
                        <a:rPr lang="en-US" sz="1200" dirty="0"/>
                        <a:t>525.8</a:t>
                      </a:r>
                    </a:p>
                  </a:txBody>
                  <a:tcPr/>
                </a:tc>
                <a:extLst>
                  <a:ext uri="{0D108BD9-81ED-4DB2-BD59-A6C34878D82A}">
                    <a16:rowId xmlns:a16="http://schemas.microsoft.com/office/drawing/2014/main" val="4013578737"/>
                  </a:ext>
                </a:extLst>
              </a:tr>
              <a:tr h="304328">
                <a:tc>
                  <a:txBody>
                    <a:bodyPr/>
                    <a:lstStyle/>
                    <a:p>
                      <a:pPr algn="ctr"/>
                      <a:r>
                        <a:rPr lang="en-US" sz="1200" dirty="0"/>
                        <a:t>95</a:t>
                      </a:r>
                    </a:p>
                  </a:txBody>
                  <a:tcPr/>
                </a:tc>
                <a:tc>
                  <a:txBody>
                    <a:bodyPr/>
                    <a:lstStyle/>
                    <a:p>
                      <a:pPr algn="ctr"/>
                      <a:r>
                        <a:rPr lang="en-US" sz="1200" dirty="0"/>
                        <a:t>633.9</a:t>
                      </a:r>
                    </a:p>
                  </a:txBody>
                  <a:tcPr/>
                </a:tc>
                <a:extLst>
                  <a:ext uri="{0D108BD9-81ED-4DB2-BD59-A6C34878D82A}">
                    <a16:rowId xmlns:a16="http://schemas.microsoft.com/office/drawing/2014/main" val="3656029820"/>
                  </a:ext>
                </a:extLst>
              </a:tr>
            </a:tbl>
          </a:graphicData>
        </a:graphic>
      </p:graphicFrame>
      <p:sp>
        <p:nvSpPr>
          <p:cNvPr id="5" name="TextBox 4">
            <a:extLst>
              <a:ext uri="{FF2B5EF4-FFF2-40B4-BE49-F238E27FC236}">
                <a16:creationId xmlns:a16="http://schemas.microsoft.com/office/drawing/2014/main" id="{F9BA873F-1984-49F8-B1F1-825E9D8D4DFD}"/>
              </a:ext>
            </a:extLst>
          </p:cNvPr>
          <p:cNvSpPr txBox="1"/>
          <p:nvPr/>
        </p:nvSpPr>
        <p:spPr>
          <a:xfrm>
            <a:off x="264403" y="3847098"/>
            <a:ext cx="8783367" cy="2646878"/>
          </a:xfrm>
          <a:prstGeom prst="rect">
            <a:avLst/>
          </a:prstGeom>
          <a:noFill/>
        </p:spPr>
        <p:txBody>
          <a:bodyPr wrap="none" rtlCol="0">
            <a:spAutoFit/>
          </a:bodyPr>
          <a:lstStyle/>
          <a:p>
            <a:pPr marL="285750" indent="-285750">
              <a:buClr>
                <a:schemeClr val="accent1"/>
              </a:buClr>
              <a:buFont typeface="Wingdings" panose="05000000000000000000" pitchFamily="2" charset="2"/>
              <a:buChar char="§"/>
            </a:pPr>
            <a:r>
              <a:rPr lang="en-US" sz="2200" dirty="0"/>
              <a:t>Prepare a fully labeled graph for Temperature and Vapor Pressure</a:t>
            </a:r>
          </a:p>
          <a:p>
            <a:pPr marL="742950" lvl="1" indent="-285750">
              <a:buClr>
                <a:schemeClr val="accent1"/>
              </a:buClr>
              <a:buFont typeface="Wingdings" panose="05000000000000000000" pitchFamily="2" charset="2"/>
              <a:buChar char="§"/>
            </a:pPr>
            <a:r>
              <a:rPr lang="en-US" dirty="0"/>
              <a:t>Use the information provided to determine the Independent and Dependent variables</a:t>
            </a:r>
          </a:p>
          <a:p>
            <a:pPr marL="742950" lvl="1" indent="-285750">
              <a:buClr>
                <a:schemeClr val="accent1"/>
              </a:buClr>
              <a:buFont typeface="Wingdings" panose="05000000000000000000" pitchFamily="2" charset="2"/>
              <a:buChar char="§"/>
            </a:pPr>
            <a:r>
              <a:rPr lang="en-US" dirty="0"/>
              <a:t>Label both axis, including appropriate units</a:t>
            </a:r>
          </a:p>
          <a:p>
            <a:pPr marL="742950" lvl="1" indent="-285750">
              <a:buClr>
                <a:schemeClr val="accent1"/>
              </a:buClr>
              <a:buFont typeface="Wingdings" panose="05000000000000000000" pitchFamily="2" charset="2"/>
              <a:buChar char="§"/>
            </a:pPr>
            <a:r>
              <a:rPr lang="en-US" dirty="0"/>
              <a:t>Include a title with any other information provided</a:t>
            </a:r>
          </a:p>
          <a:p>
            <a:pPr marL="742950" lvl="1" indent="-285750">
              <a:buClr>
                <a:schemeClr val="accent1"/>
              </a:buClr>
              <a:buFont typeface="Wingdings" panose="05000000000000000000" pitchFamily="2" charset="2"/>
              <a:buChar char="§"/>
            </a:pPr>
            <a:r>
              <a:rPr lang="en-US" dirty="0"/>
              <a:t>Run a trendline through the data (a trendline does not always need to be linear)</a:t>
            </a:r>
          </a:p>
          <a:p>
            <a:pPr marL="742950" lvl="1" indent="-285750">
              <a:buClr>
                <a:schemeClr val="accent1"/>
              </a:buClr>
              <a:buFont typeface="Wingdings" panose="05000000000000000000" pitchFamily="2" charset="2"/>
              <a:buChar char="§"/>
            </a:pPr>
            <a:r>
              <a:rPr lang="en-US" dirty="0"/>
              <a:t>Continue the trendline to a vapor pressure of 760mmHg</a:t>
            </a:r>
          </a:p>
          <a:p>
            <a:pPr marL="742950" lvl="1" indent="-285750">
              <a:buClr>
                <a:schemeClr val="accent1"/>
              </a:buClr>
              <a:buFont typeface="Wingdings" panose="05000000000000000000" pitchFamily="2" charset="2"/>
              <a:buChar char="§"/>
            </a:pPr>
            <a:r>
              <a:rPr lang="en-US" dirty="0">
                <a:latin typeface="Tw Cen MT "/>
                <a:cs typeface="Calibri" panose="020F0502020204030204" pitchFamily="34" charset="0"/>
              </a:rPr>
              <a:t>This continuation of a line is Extrapolation</a:t>
            </a:r>
          </a:p>
          <a:p>
            <a:pPr marL="742950" lvl="1" indent="-285750">
              <a:buClr>
                <a:schemeClr val="accent1"/>
              </a:buClr>
              <a:buFont typeface="Wingdings" panose="05000000000000000000" pitchFamily="2" charset="2"/>
              <a:buChar char="§"/>
            </a:pPr>
            <a:r>
              <a:rPr lang="en-US" dirty="0">
                <a:latin typeface="Tw Cen MT "/>
                <a:cs typeface="Calibri" panose="020F0502020204030204" pitchFamily="34" charset="0"/>
              </a:rPr>
              <a:t>Use the graph to estimate what the temperature will be at this vapor pressure</a:t>
            </a:r>
          </a:p>
          <a:p>
            <a:pPr marL="742950" lvl="1" indent="-285750">
              <a:buClr>
                <a:schemeClr val="accent1"/>
              </a:buClr>
              <a:buFont typeface="Wingdings" panose="05000000000000000000" pitchFamily="2" charset="2"/>
              <a:buChar char="§"/>
            </a:pPr>
            <a:r>
              <a:rPr lang="en-US" dirty="0">
                <a:latin typeface="Tw Cen MT "/>
                <a:cs typeface="Calibri" panose="020F0502020204030204" pitchFamily="34" charset="0"/>
              </a:rPr>
              <a:t>Your estimated temperature should be the Boiling Point of water</a:t>
            </a:r>
            <a:endParaRPr lang="en-US" dirty="0">
              <a:latin typeface="Tw Cen MT "/>
            </a:endParaRPr>
          </a:p>
        </p:txBody>
      </p:sp>
    </p:spTree>
    <p:extLst>
      <p:ext uri="{BB962C8B-B14F-4D97-AF65-F5344CB8AC3E}">
        <p14:creationId xmlns:p14="http://schemas.microsoft.com/office/powerpoint/2010/main" val="3165510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49893-3E8B-441F-B379-F9283BA1F0B5}"/>
              </a:ext>
            </a:extLst>
          </p:cNvPr>
          <p:cNvSpPr>
            <a:spLocks noGrp="1"/>
          </p:cNvSpPr>
          <p:nvPr>
            <p:ph type="title"/>
          </p:nvPr>
        </p:nvSpPr>
        <p:spPr>
          <a:xfrm>
            <a:off x="823106" y="26732"/>
            <a:ext cx="9720072" cy="1499616"/>
          </a:xfrm>
        </p:spPr>
        <p:txBody>
          <a:bodyPr/>
          <a:lstStyle/>
          <a:p>
            <a:r>
              <a:rPr lang="en-US" dirty="0"/>
              <a:t>Part C – Vapor pressure of water</a:t>
            </a:r>
          </a:p>
        </p:txBody>
      </p:sp>
      <p:graphicFrame>
        <p:nvGraphicFramePr>
          <p:cNvPr id="9" name="Table 4">
            <a:extLst>
              <a:ext uri="{FF2B5EF4-FFF2-40B4-BE49-F238E27FC236}">
                <a16:creationId xmlns:a16="http://schemas.microsoft.com/office/drawing/2014/main" id="{56D879E6-3559-45E8-8557-8D484C7550DB}"/>
              </a:ext>
            </a:extLst>
          </p:cNvPr>
          <p:cNvGraphicFramePr>
            <a:graphicFrameLocks/>
          </p:cNvGraphicFramePr>
          <p:nvPr>
            <p:extLst>
              <p:ext uri="{D42A27DB-BD31-4B8C-83A1-F6EECF244321}">
                <p14:modId xmlns:p14="http://schemas.microsoft.com/office/powerpoint/2010/main" val="452306626"/>
              </p:ext>
            </p:extLst>
          </p:nvPr>
        </p:nvGraphicFramePr>
        <p:xfrm>
          <a:off x="485447" y="3412740"/>
          <a:ext cx="5974077" cy="1508760"/>
        </p:xfrm>
        <a:graphic>
          <a:graphicData uri="http://schemas.openxmlformats.org/drawingml/2006/table">
            <a:tbl>
              <a:tblPr firstRow="1" bandRow="1">
                <a:tableStyleId>{5C22544A-7EE6-4342-B048-85BDC9FD1C3A}</a:tableStyleId>
              </a:tblPr>
              <a:tblGrid>
                <a:gridCol w="1216840">
                  <a:extLst>
                    <a:ext uri="{9D8B030D-6E8A-4147-A177-3AD203B41FA5}">
                      <a16:colId xmlns:a16="http://schemas.microsoft.com/office/drawing/2014/main" val="1905906000"/>
                    </a:ext>
                  </a:extLst>
                </a:gridCol>
                <a:gridCol w="1120251">
                  <a:extLst>
                    <a:ext uri="{9D8B030D-6E8A-4147-A177-3AD203B41FA5}">
                      <a16:colId xmlns:a16="http://schemas.microsoft.com/office/drawing/2014/main" val="3195246719"/>
                    </a:ext>
                  </a:extLst>
                </a:gridCol>
                <a:gridCol w="1098058">
                  <a:extLst>
                    <a:ext uri="{9D8B030D-6E8A-4147-A177-3AD203B41FA5}">
                      <a16:colId xmlns:a16="http://schemas.microsoft.com/office/drawing/2014/main" val="1856484356"/>
                    </a:ext>
                  </a:extLst>
                </a:gridCol>
                <a:gridCol w="1269464">
                  <a:extLst>
                    <a:ext uri="{9D8B030D-6E8A-4147-A177-3AD203B41FA5}">
                      <a16:colId xmlns:a16="http://schemas.microsoft.com/office/drawing/2014/main" val="4147715604"/>
                    </a:ext>
                  </a:extLst>
                </a:gridCol>
                <a:gridCol w="1269464">
                  <a:extLst>
                    <a:ext uri="{9D8B030D-6E8A-4147-A177-3AD203B41FA5}">
                      <a16:colId xmlns:a16="http://schemas.microsoft.com/office/drawing/2014/main" val="3757495502"/>
                    </a:ext>
                  </a:extLst>
                </a:gridCol>
              </a:tblGrid>
              <a:tr h="262640">
                <a:tc>
                  <a:txBody>
                    <a:bodyPr/>
                    <a:lstStyle/>
                    <a:p>
                      <a:pPr algn="ctr"/>
                      <a:r>
                        <a:rPr lang="en-US" sz="1500" dirty="0"/>
                        <a:t>Temp. (</a:t>
                      </a:r>
                      <a:r>
                        <a:rPr lang="en-US" sz="1500" dirty="0">
                          <a:latin typeface="Calibri" panose="020F0502020204030204" pitchFamily="34" charset="0"/>
                          <a:cs typeface="Calibri" panose="020F0502020204030204" pitchFamily="34" charset="0"/>
                        </a:rPr>
                        <a:t>⁰C)</a:t>
                      </a:r>
                      <a:endParaRPr lang="en-US" sz="1500" dirty="0"/>
                    </a:p>
                  </a:txBody>
                  <a:tcPr/>
                </a:tc>
                <a:tc>
                  <a:txBody>
                    <a:bodyPr/>
                    <a:lstStyle/>
                    <a:p>
                      <a:pPr algn="ctr"/>
                      <a:r>
                        <a:rPr lang="en-US" sz="1500" dirty="0" err="1"/>
                        <a:t>Vap</a:t>
                      </a:r>
                      <a:r>
                        <a:rPr lang="en-US" sz="1500" dirty="0"/>
                        <a:t>. Pres. (mmHg)</a:t>
                      </a:r>
                    </a:p>
                  </a:txBody>
                  <a:tcPr/>
                </a:tc>
                <a:tc>
                  <a:txBody>
                    <a:bodyPr/>
                    <a:lstStyle/>
                    <a:p>
                      <a:pPr algn="ctr"/>
                      <a:r>
                        <a:rPr lang="en-US" sz="1500" dirty="0"/>
                        <a:t>Temp (K)</a:t>
                      </a:r>
                    </a:p>
                  </a:txBody>
                  <a:tcPr/>
                </a:tc>
                <a:tc>
                  <a:txBody>
                    <a:bodyPr/>
                    <a:lstStyle/>
                    <a:p>
                      <a:pPr algn="ctr"/>
                      <a:r>
                        <a:rPr lang="en-US" sz="1500" dirty="0"/>
                        <a:t>Inverse Temp (1/K)</a:t>
                      </a:r>
                    </a:p>
                  </a:txBody>
                  <a:tcPr/>
                </a:tc>
                <a:tc>
                  <a:txBody>
                    <a:bodyPr/>
                    <a:lstStyle/>
                    <a:p>
                      <a:pPr algn="ctr"/>
                      <a:r>
                        <a:rPr lang="en-US" sz="1500" dirty="0"/>
                        <a:t>Natural Log </a:t>
                      </a:r>
                      <a:r>
                        <a:rPr lang="en-US" sz="1500" dirty="0" err="1"/>
                        <a:t>Vap</a:t>
                      </a:r>
                      <a:r>
                        <a:rPr lang="en-US" sz="1500" dirty="0"/>
                        <a:t>. Pres.</a:t>
                      </a:r>
                    </a:p>
                  </a:txBody>
                  <a:tcPr/>
                </a:tc>
                <a:extLst>
                  <a:ext uri="{0D108BD9-81ED-4DB2-BD59-A6C34878D82A}">
                    <a16:rowId xmlns:a16="http://schemas.microsoft.com/office/drawing/2014/main" val="553366674"/>
                  </a:ext>
                </a:extLst>
              </a:tr>
              <a:tr h="0">
                <a:tc>
                  <a:txBody>
                    <a:bodyPr/>
                    <a:lstStyle/>
                    <a:p>
                      <a:pPr algn="ctr"/>
                      <a:r>
                        <a:rPr lang="en-US" sz="1500" dirty="0"/>
                        <a:t>0</a:t>
                      </a:r>
                    </a:p>
                  </a:txBody>
                  <a:tcPr/>
                </a:tc>
                <a:tc>
                  <a:txBody>
                    <a:bodyPr/>
                    <a:lstStyle/>
                    <a:p>
                      <a:pPr algn="ctr"/>
                      <a:r>
                        <a:rPr lang="en-US" sz="1500" dirty="0"/>
                        <a:t>4.6</a:t>
                      </a:r>
                    </a:p>
                  </a:txBody>
                  <a:tcPr/>
                </a:tc>
                <a:tc>
                  <a:txBody>
                    <a:bodyPr/>
                    <a:lstStyle/>
                    <a:p>
                      <a:pPr algn="ctr"/>
                      <a:r>
                        <a:rPr lang="en-US" sz="1500" dirty="0"/>
                        <a:t>273</a:t>
                      </a:r>
                    </a:p>
                  </a:txBody>
                  <a:tcPr/>
                </a:tc>
                <a:tc>
                  <a:txBody>
                    <a:bodyPr/>
                    <a:lstStyle/>
                    <a:p>
                      <a:pPr algn="ctr"/>
                      <a:r>
                        <a:rPr lang="en-US" sz="1500" dirty="0"/>
                        <a:t>0.00366</a:t>
                      </a:r>
                    </a:p>
                  </a:txBody>
                  <a:tcPr/>
                </a:tc>
                <a:tc>
                  <a:txBody>
                    <a:bodyPr/>
                    <a:lstStyle/>
                    <a:p>
                      <a:pPr algn="ctr"/>
                      <a:r>
                        <a:rPr lang="en-US" sz="1500" dirty="0"/>
                        <a:t>1.526</a:t>
                      </a:r>
                    </a:p>
                  </a:txBody>
                  <a:tcPr/>
                </a:tc>
                <a:extLst>
                  <a:ext uri="{0D108BD9-81ED-4DB2-BD59-A6C34878D82A}">
                    <a16:rowId xmlns:a16="http://schemas.microsoft.com/office/drawing/2014/main" val="1233308525"/>
                  </a:ext>
                </a:extLst>
              </a:tr>
              <a:tr h="262640">
                <a:tc>
                  <a:txBody>
                    <a:bodyPr/>
                    <a:lstStyle/>
                    <a:p>
                      <a:pPr algn="ctr"/>
                      <a:r>
                        <a:rPr lang="en-US" sz="1500" dirty="0"/>
                        <a:t>5</a:t>
                      </a:r>
                    </a:p>
                  </a:txBody>
                  <a:tcPr/>
                </a:tc>
                <a:tc>
                  <a:txBody>
                    <a:bodyPr/>
                    <a:lstStyle/>
                    <a:p>
                      <a:pPr algn="ctr"/>
                      <a:r>
                        <a:rPr lang="en-US" sz="1500" dirty="0"/>
                        <a:t>6.5</a:t>
                      </a:r>
                    </a:p>
                  </a:txBody>
                  <a:tcPr/>
                </a:tc>
                <a:tc>
                  <a:txBody>
                    <a:bodyPr/>
                    <a:lstStyle/>
                    <a:p>
                      <a:pPr algn="ctr"/>
                      <a:r>
                        <a:rPr lang="en-US" sz="1500" dirty="0"/>
                        <a:t>278</a:t>
                      </a:r>
                    </a:p>
                  </a:txBody>
                  <a:tcPr/>
                </a:tc>
                <a:tc>
                  <a:txBody>
                    <a:bodyPr/>
                    <a:lstStyle/>
                    <a:p>
                      <a:pPr algn="ctr"/>
                      <a:r>
                        <a:rPr lang="en-US" sz="1500" dirty="0"/>
                        <a:t>0.00360</a:t>
                      </a:r>
                    </a:p>
                  </a:txBody>
                  <a:tcPr/>
                </a:tc>
                <a:tc>
                  <a:txBody>
                    <a:bodyPr/>
                    <a:lstStyle/>
                    <a:p>
                      <a:pPr algn="ctr"/>
                      <a:r>
                        <a:rPr lang="en-US" sz="1500" dirty="0"/>
                        <a:t>1.872</a:t>
                      </a:r>
                    </a:p>
                  </a:txBody>
                  <a:tcPr/>
                </a:tc>
                <a:extLst>
                  <a:ext uri="{0D108BD9-81ED-4DB2-BD59-A6C34878D82A}">
                    <a16:rowId xmlns:a16="http://schemas.microsoft.com/office/drawing/2014/main" val="3984094221"/>
                  </a:ext>
                </a:extLst>
              </a:tr>
              <a:tr h="253821">
                <a:tc>
                  <a:txBody>
                    <a:bodyPr/>
                    <a:lstStyle/>
                    <a:p>
                      <a:pPr algn="ctr"/>
                      <a:r>
                        <a:rPr lang="en-US" sz="1500" dirty="0"/>
                        <a:t>10</a:t>
                      </a:r>
                    </a:p>
                  </a:txBody>
                  <a:tcPr/>
                </a:tc>
                <a:tc>
                  <a:txBody>
                    <a:bodyPr/>
                    <a:lstStyle/>
                    <a:p>
                      <a:pPr algn="ctr"/>
                      <a:r>
                        <a:rPr lang="en-US" sz="1500" dirty="0"/>
                        <a:t>9.2</a:t>
                      </a:r>
                    </a:p>
                  </a:txBody>
                  <a:tcPr/>
                </a:tc>
                <a:tc>
                  <a:txBody>
                    <a:bodyPr/>
                    <a:lstStyle/>
                    <a:p>
                      <a:pPr algn="ctr"/>
                      <a:r>
                        <a:rPr lang="en-US" sz="1500" dirty="0"/>
                        <a:t>283</a:t>
                      </a:r>
                    </a:p>
                  </a:txBody>
                  <a:tcPr/>
                </a:tc>
                <a:tc>
                  <a:txBody>
                    <a:bodyPr/>
                    <a:lstStyle/>
                    <a:p>
                      <a:pPr algn="ctr"/>
                      <a:r>
                        <a:rPr lang="en-US" sz="1500" dirty="0"/>
                        <a:t>0.00357</a:t>
                      </a:r>
                    </a:p>
                  </a:txBody>
                  <a:tcPr/>
                </a:tc>
                <a:tc>
                  <a:txBody>
                    <a:bodyPr/>
                    <a:lstStyle/>
                    <a:p>
                      <a:pPr algn="ctr"/>
                      <a:r>
                        <a:rPr lang="en-US" sz="1500" dirty="0"/>
                        <a:t>2.219</a:t>
                      </a:r>
                    </a:p>
                  </a:txBody>
                  <a:tcPr/>
                </a:tc>
                <a:extLst>
                  <a:ext uri="{0D108BD9-81ED-4DB2-BD59-A6C34878D82A}">
                    <a16:rowId xmlns:a16="http://schemas.microsoft.com/office/drawing/2014/main" val="3976848805"/>
                  </a:ext>
                </a:extLst>
              </a:tr>
            </a:tbl>
          </a:graphicData>
        </a:graphic>
      </p:graphicFrame>
      <p:sp>
        <p:nvSpPr>
          <p:cNvPr id="5" name="TextBox 4">
            <a:extLst>
              <a:ext uri="{FF2B5EF4-FFF2-40B4-BE49-F238E27FC236}">
                <a16:creationId xmlns:a16="http://schemas.microsoft.com/office/drawing/2014/main" id="{F9BA873F-1984-49F8-B1F1-825E9D8D4DFD}"/>
              </a:ext>
            </a:extLst>
          </p:cNvPr>
          <p:cNvSpPr txBox="1"/>
          <p:nvPr/>
        </p:nvSpPr>
        <p:spPr>
          <a:xfrm>
            <a:off x="823106" y="1153064"/>
            <a:ext cx="10680616" cy="2092881"/>
          </a:xfrm>
          <a:prstGeom prst="rect">
            <a:avLst/>
          </a:prstGeom>
          <a:noFill/>
        </p:spPr>
        <p:txBody>
          <a:bodyPr wrap="none" rtlCol="0">
            <a:spAutoFit/>
          </a:bodyPr>
          <a:lstStyle/>
          <a:p>
            <a:pPr marL="285750" indent="-285750">
              <a:buClr>
                <a:schemeClr val="accent1"/>
              </a:buClr>
              <a:buFont typeface="Wingdings" panose="05000000000000000000" pitchFamily="2" charset="2"/>
              <a:buChar char="§"/>
            </a:pPr>
            <a:r>
              <a:rPr lang="en-US" sz="2200" dirty="0"/>
              <a:t>Prepare a fully labeled graph for Inverse Temperature and Natural Log of Vapor Pressure</a:t>
            </a:r>
          </a:p>
          <a:p>
            <a:pPr marL="742950" lvl="1" indent="-285750">
              <a:buClr>
                <a:schemeClr val="accent1"/>
              </a:buClr>
              <a:buFont typeface="Wingdings" panose="05000000000000000000" pitchFamily="2" charset="2"/>
              <a:buChar char="§"/>
            </a:pPr>
            <a:r>
              <a:rPr lang="en-US" dirty="0"/>
              <a:t>The inverse temperature will be the same axis as temperature</a:t>
            </a:r>
          </a:p>
          <a:p>
            <a:pPr marL="742950" lvl="1" indent="-285750">
              <a:buClr>
                <a:schemeClr val="accent1"/>
              </a:buClr>
              <a:buFont typeface="Wingdings" panose="05000000000000000000" pitchFamily="2" charset="2"/>
              <a:buChar char="§"/>
            </a:pPr>
            <a:r>
              <a:rPr lang="en-US" dirty="0"/>
              <a:t>The natural log of vapor pressure will be the same axis as vapor pressure</a:t>
            </a:r>
          </a:p>
          <a:p>
            <a:pPr marL="742950" lvl="1" indent="-285750">
              <a:buClr>
                <a:schemeClr val="accent1"/>
              </a:buClr>
              <a:buFont typeface="Wingdings" panose="05000000000000000000" pitchFamily="2" charset="2"/>
              <a:buChar char="§"/>
            </a:pPr>
            <a:r>
              <a:rPr lang="en-US" dirty="0"/>
              <a:t>Label both axis, including appropriate units</a:t>
            </a:r>
          </a:p>
          <a:p>
            <a:pPr marL="742950" lvl="1" indent="-285750">
              <a:buClr>
                <a:schemeClr val="accent1"/>
              </a:buClr>
              <a:buFont typeface="Wingdings" panose="05000000000000000000" pitchFamily="2" charset="2"/>
              <a:buChar char="§"/>
            </a:pPr>
            <a:r>
              <a:rPr lang="en-US" dirty="0"/>
              <a:t>Include a title with any other information provided</a:t>
            </a:r>
          </a:p>
          <a:p>
            <a:pPr marL="742950" lvl="1" indent="-285750">
              <a:buClr>
                <a:schemeClr val="accent1"/>
              </a:buClr>
              <a:buFont typeface="Wingdings" panose="05000000000000000000" pitchFamily="2" charset="2"/>
              <a:buChar char="§"/>
            </a:pPr>
            <a:r>
              <a:rPr lang="en-US" dirty="0"/>
              <a:t>Run a trendline through the data and determine the slope of the line</a:t>
            </a:r>
          </a:p>
          <a:p>
            <a:pPr marL="742950" lvl="1" indent="-285750">
              <a:buClr>
                <a:schemeClr val="accent1"/>
              </a:buClr>
              <a:buFont typeface="Wingdings" panose="05000000000000000000" pitchFamily="2" charset="2"/>
              <a:buChar char="§"/>
            </a:pPr>
            <a:r>
              <a:rPr lang="en-US" dirty="0"/>
              <a:t>Use the slope of the trendline to calculate a property with a given equation.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F04BEEF-3BAD-4D10-8097-242C304CF37F}"/>
                  </a:ext>
                </a:extLst>
              </p:cNvPr>
              <p:cNvSpPr txBox="1"/>
              <p:nvPr/>
            </p:nvSpPr>
            <p:spPr>
              <a:xfrm>
                <a:off x="7925165" y="3703682"/>
                <a:ext cx="245971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𝐾𝑒𝑙𝑣𝑖𝑛</m:t>
                      </m:r>
                      <m:r>
                        <a:rPr lang="en-US" b="0" i="1" smtClean="0">
                          <a:latin typeface="Cambria Math" panose="02040503050406030204" pitchFamily="18" charset="0"/>
                        </a:rPr>
                        <m:t>=</m:t>
                      </m:r>
                      <m:r>
                        <a:rPr lang="en-US" b="0" i="1" smtClean="0">
                          <a:latin typeface="Cambria Math" panose="02040503050406030204" pitchFamily="18" charset="0"/>
                        </a:rPr>
                        <m:t>𝐶𝑒𝑙𝑠𝑖𝑢𝑠</m:t>
                      </m:r>
                      <m:r>
                        <a:rPr lang="en-US" b="0" i="1" smtClean="0">
                          <a:latin typeface="Cambria Math" panose="02040503050406030204" pitchFamily="18" charset="0"/>
                        </a:rPr>
                        <m:t>+273</m:t>
                      </m:r>
                    </m:oMath>
                  </m:oMathPara>
                </a14:m>
                <a:endParaRPr lang="en-US" dirty="0"/>
              </a:p>
            </p:txBody>
          </p:sp>
        </mc:Choice>
        <mc:Fallback xmlns="">
          <p:sp>
            <p:nvSpPr>
              <p:cNvPr id="7" name="TextBox 6">
                <a:extLst>
                  <a:ext uri="{FF2B5EF4-FFF2-40B4-BE49-F238E27FC236}">
                    <a16:creationId xmlns:a16="http://schemas.microsoft.com/office/drawing/2014/main" id="{DF04BEEF-3BAD-4D10-8097-242C304CF37F}"/>
                  </a:ext>
                </a:extLst>
              </p:cNvPr>
              <p:cNvSpPr txBox="1">
                <a:spLocks noRot="1" noChangeAspect="1" noMove="1" noResize="1" noEditPoints="1" noAdjustHandles="1" noChangeArrowheads="1" noChangeShapeType="1" noTextEdit="1"/>
              </p:cNvSpPr>
              <p:nvPr/>
            </p:nvSpPr>
            <p:spPr>
              <a:xfrm>
                <a:off x="7925165" y="3703682"/>
                <a:ext cx="2459712" cy="276999"/>
              </a:xfrm>
              <a:prstGeom prst="rect">
                <a:avLst/>
              </a:prstGeom>
              <a:blipFill>
                <a:blip r:embed="rId2"/>
                <a:stretch>
                  <a:fillRect l="-1733" r="-1733"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E7C9F4C-BB38-4719-9E8B-7A0A91A88883}"/>
                  </a:ext>
                </a:extLst>
              </p:cNvPr>
              <p:cNvSpPr txBox="1"/>
              <p:nvPr/>
            </p:nvSpPr>
            <p:spPr>
              <a:xfrm>
                <a:off x="823106" y="5200959"/>
                <a:ext cx="4017895" cy="5670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𝐼𝑛𝑣𝑒𝑟𝑠𝑒</m:t>
                      </m:r>
                      <m:r>
                        <a:rPr lang="en-US" b="0" i="1" smtClean="0">
                          <a:latin typeface="Cambria Math" panose="02040503050406030204" pitchFamily="18" charset="0"/>
                        </a:rPr>
                        <m:t> </m:t>
                      </m:r>
                      <m:r>
                        <a:rPr lang="en-US" b="0" i="1" smtClean="0">
                          <a:latin typeface="Cambria Math" panose="02040503050406030204" pitchFamily="18" charset="0"/>
                        </a:rPr>
                        <m:t>𝑇𝑒𝑚𝑝𝑒𝑟𝑎𝑡𝑢𝑟𝑒</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𝑇𝑒𝑚𝑝𝑒𝑟𝑎𝑡𝑢𝑟𝑒</m:t>
                          </m:r>
                        </m:den>
                      </m:f>
                    </m:oMath>
                  </m:oMathPara>
                </a14:m>
                <a:endParaRPr lang="en-US" dirty="0"/>
              </a:p>
            </p:txBody>
          </p:sp>
        </mc:Choice>
        <mc:Fallback xmlns="">
          <p:sp>
            <p:nvSpPr>
              <p:cNvPr id="10" name="TextBox 9">
                <a:extLst>
                  <a:ext uri="{FF2B5EF4-FFF2-40B4-BE49-F238E27FC236}">
                    <a16:creationId xmlns:a16="http://schemas.microsoft.com/office/drawing/2014/main" id="{9E7C9F4C-BB38-4719-9E8B-7A0A91A88883}"/>
                  </a:ext>
                </a:extLst>
              </p:cNvPr>
              <p:cNvSpPr txBox="1">
                <a:spLocks noRot="1" noChangeAspect="1" noMove="1" noResize="1" noEditPoints="1" noAdjustHandles="1" noChangeArrowheads="1" noChangeShapeType="1" noTextEdit="1"/>
              </p:cNvSpPr>
              <p:nvPr/>
            </p:nvSpPr>
            <p:spPr>
              <a:xfrm>
                <a:off x="823106" y="5200959"/>
                <a:ext cx="4017895" cy="56707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7EB6F3A-B13C-4FE9-BF5E-D92AB449A9DB}"/>
                  </a:ext>
                </a:extLst>
              </p:cNvPr>
              <p:cNvSpPr txBox="1"/>
              <p:nvPr/>
            </p:nvSpPr>
            <p:spPr>
              <a:xfrm>
                <a:off x="1805581" y="6068521"/>
                <a:ext cx="2274597"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1" i="1" smtClean="0">
                              <a:latin typeface="Cambria Math" panose="02040503050406030204" pitchFamily="18" charset="0"/>
                            </a:rPr>
                          </m:ctrlPr>
                        </m:fPr>
                        <m:num>
                          <m:r>
                            <a:rPr lang="en-US" b="1" i="1" smtClean="0">
                              <a:latin typeface="Cambria Math" panose="02040503050406030204" pitchFamily="18" charset="0"/>
                            </a:rPr>
                            <m:t>𝟏</m:t>
                          </m:r>
                        </m:num>
                        <m:den>
                          <m:r>
                            <a:rPr lang="en-US" b="1" i="1" smtClean="0">
                              <a:latin typeface="Cambria Math" panose="02040503050406030204" pitchFamily="18" charset="0"/>
                            </a:rPr>
                            <m:t>𝟐𝟕𝟑</m:t>
                          </m:r>
                          <m:r>
                            <a:rPr lang="en-US" b="1" i="1" smtClean="0">
                              <a:latin typeface="Cambria Math" panose="02040503050406030204" pitchFamily="18" charset="0"/>
                            </a:rPr>
                            <m:t>𝑲</m:t>
                          </m:r>
                        </m:den>
                      </m:f>
                      <m:r>
                        <a:rPr lang="en-US" b="1" i="1" smtClean="0">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𝟎𝟎𝟑𝟔𝟔</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𝑲</m:t>
                          </m:r>
                        </m:e>
                        <m:sup>
                          <m:r>
                            <a:rPr lang="en-US" b="1" i="1" smtClean="0">
                              <a:latin typeface="Cambria Math" panose="02040503050406030204" pitchFamily="18" charset="0"/>
                            </a:rPr>
                            <m:t>−</m:t>
                          </m:r>
                          <m:r>
                            <a:rPr lang="en-US" b="1" i="1" smtClean="0">
                              <a:latin typeface="Cambria Math" panose="02040503050406030204" pitchFamily="18" charset="0"/>
                            </a:rPr>
                            <m:t>𝟏</m:t>
                          </m:r>
                        </m:sup>
                      </m:sSup>
                    </m:oMath>
                  </m:oMathPara>
                </a14:m>
                <a:endParaRPr lang="en-US" b="1" dirty="0"/>
              </a:p>
            </p:txBody>
          </p:sp>
        </mc:Choice>
        <mc:Fallback xmlns="">
          <p:sp>
            <p:nvSpPr>
              <p:cNvPr id="11" name="TextBox 10">
                <a:extLst>
                  <a:ext uri="{FF2B5EF4-FFF2-40B4-BE49-F238E27FC236}">
                    <a16:creationId xmlns:a16="http://schemas.microsoft.com/office/drawing/2014/main" id="{97EB6F3A-B13C-4FE9-BF5E-D92AB449A9DB}"/>
                  </a:ext>
                </a:extLst>
              </p:cNvPr>
              <p:cNvSpPr txBox="1">
                <a:spLocks noRot="1" noChangeAspect="1" noMove="1" noResize="1" noEditPoints="1" noAdjustHandles="1" noChangeArrowheads="1" noChangeShapeType="1" noTextEdit="1"/>
              </p:cNvSpPr>
              <p:nvPr/>
            </p:nvSpPr>
            <p:spPr>
              <a:xfrm>
                <a:off x="1805581" y="6068521"/>
                <a:ext cx="2274597" cy="5203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3017337-F4FD-44B6-AE5C-DEB9259FA61B}"/>
                  </a:ext>
                </a:extLst>
              </p:cNvPr>
              <p:cNvSpPr txBox="1"/>
              <p:nvPr/>
            </p:nvSpPr>
            <p:spPr>
              <a:xfrm>
                <a:off x="6900846" y="5371426"/>
                <a:ext cx="42752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𝑁𝑎𝑡</m:t>
                      </m:r>
                      <m:r>
                        <a:rPr lang="en-US" b="0" i="1" smtClean="0">
                          <a:latin typeface="Cambria Math" panose="02040503050406030204" pitchFamily="18" charset="0"/>
                        </a:rPr>
                        <m:t>. </m:t>
                      </m:r>
                      <m:r>
                        <a:rPr lang="en-US" b="0" i="1" smtClean="0">
                          <a:latin typeface="Cambria Math" panose="02040503050406030204" pitchFamily="18" charset="0"/>
                        </a:rPr>
                        <m:t>𝐿𝑜𝑔</m:t>
                      </m:r>
                      <m:r>
                        <a:rPr lang="en-US" b="0" i="1" smtClean="0">
                          <a:latin typeface="Cambria Math" panose="02040503050406030204" pitchFamily="18" charset="0"/>
                        </a:rPr>
                        <m:t> </m:t>
                      </m:r>
                      <m:r>
                        <a:rPr lang="en-US" b="0" i="1" smtClean="0">
                          <a:latin typeface="Cambria Math" panose="02040503050406030204" pitchFamily="18" charset="0"/>
                        </a:rPr>
                        <m:t>𝑉𝑎𝑝</m:t>
                      </m:r>
                      <m:r>
                        <a:rPr lang="en-US" b="0" i="1" smtClean="0">
                          <a:latin typeface="Cambria Math" panose="02040503050406030204" pitchFamily="18" charset="0"/>
                        </a:rPr>
                        <m:t>. </m:t>
                      </m:r>
                      <m:r>
                        <a:rPr lang="en-US" b="0" i="1" smtClean="0">
                          <a:latin typeface="Cambria Math" panose="02040503050406030204" pitchFamily="18" charset="0"/>
                        </a:rPr>
                        <m:t>𝑃𝑟𝑒𝑠</m:t>
                      </m:r>
                      <m:r>
                        <a:rPr lang="en-US" b="0" i="1" smtClean="0">
                          <a:latin typeface="Cambria Math" panose="02040503050406030204" pitchFamily="18" charset="0"/>
                        </a:rPr>
                        <m:t>.=</m:t>
                      </m:r>
                      <m:r>
                        <a:rPr lang="en-US" b="0" i="1" smtClean="0">
                          <a:latin typeface="Cambria Math" panose="02040503050406030204" pitchFamily="18" charset="0"/>
                        </a:rPr>
                        <m:t>𝑙𝑛</m:t>
                      </m:r>
                      <m:d>
                        <m:dPr>
                          <m:ctrlPr>
                            <a:rPr lang="en-US" b="0" i="1" smtClean="0">
                              <a:latin typeface="Cambria Math" panose="02040503050406030204" pitchFamily="18" charset="0"/>
                            </a:rPr>
                          </m:ctrlPr>
                        </m:dPr>
                        <m:e>
                          <m:r>
                            <a:rPr lang="en-US" b="0" i="1" smtClean="0">
                              <a:latin typeface="Cambria Math" panose="02040503050406030204" pitchFamily="18" charset="0"/>
                            </a:rPr>
                            <m:t>𝑉𝑎𝑝𝑜𝑟</m:t>
                          </m:r>
                          <m:r>
                            <a:rPr lang="en-US" b="0" i="1" smtClean="0">
                              <a:latin typeface="Cambria Math" panose="02040503050406030204" pitchFamily="18" charset="0"/>
                            </a:rPr>
                            <m:t> </m:t>
                          </m:r>
                          <m:r>
                            <a:rPr lang="en-US" b="0" i="1" smtClean="0">
                              <a:latin typeface="Cambria Math" panose="02040503050406030204" pitchFamily="18" charset="0"/>
                            </a:rPr>
                            <m:t>𝑃𝑟𝑒𝑠𝑠𝑢𝑟𝑒</m:t>
                          </m:r>
                        </m:e>
                      </m:d>
                    </m:oMath>
                  </m:oMathPara>
                </a14:m>
                <a:endParaRPr lang="en-US" dirty="0"/>
              </a:p>
            </p:txBody>
          </p:sp>
        </mc:Choice>
        <mc:Fallback xmlns="">
          <p:sp>
            <p:nvSpPr>
              <p:cNvPr id="8" name="TextBox 7">
                <a:extLst>
                  <a:ext uri="{FF2B5EF4-FFF2-40B4-BE49-F238E27FC236}">
                    <a16:creationId xmlns:a16="http://schemas.microsoft.com/office/drawing/2014/main" id="{B3017337-F4FD-44B6-AE5C-DEB9259FA61B}"/>
                  </a:ext>
                </a:extLst>
              </p:cNvPr>
              <p:cNvSpPr txBox="1">
                <a:spLocks noRot="1" noChangeAspect="1" noMove="1" noResize="1" noEditPoints="1" noAdjustHandles="1" noChangeArrowheads="1" noChangeShapeType="1" noTextEdit="1"/>
              </p:cNvSpPr>
              <p:nvPr/>
            </p:nvSpPr>
            <p:spPr>
              <a:xfrm>
                <a:off x="6900846" y="5371426"/>
                <a:ext cx="4275273" cy="276999"/>
              </a:xfrm>
              <a:prstGeom prst="rect">
                <a:avLst/>
              </a:prstGeom>
              <a:blipFill>
                <a:blip r:embed="rId5"/>
                <a:stretch>
                  <a:fillRect l="-999"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231DB2-3582-4133-A32C-E2CF40B64B5D}"/>
                  </a:ext>
                </a:extLst>
              </p:cNvPr>
              <p:cNvSpPr txBox="1"/>
              <p:nvPr/>
            </p:nvSpPr>
            <p:spPr>
              <a:xfrm>
                <a:off x="7692089" y="4301509"/>
                <a:ext cx="284052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𝑲𝒆𝒍𝒗𝒊𝒏</m:t>
                      </m:r>
                      <m:r>
                        <a:rPr lang="en-US" b="1" i="1" smtClean="0">
                          <a:latin typeface="Cambria Math" panose="02040503050406030204" pitchFamily="18" charset="0"/>
                        </a:rPr>
                        <m:t>=</m:t>
                      </m:r>
                      <m:r>
                        <a:rPr lang="en-US" b="1" i="1" smtClean="0">
                          <a:latin typeface="Cambria Math" panose="02040503050406030204" pitchFamily="18" charset="0"/>
                        </a:rPr>
                        <m:t>𝟎</m:t>
                      </m:r>
                      <m:r>
                        <a:rPr lang="en-US" b="1" i="1" smtClean="0">
                          <a:latin typeface="Cambria Math" panose="02040503050406030204" pitchFamily="18" charset="0"/>
                        </a:rPr>
                        <m:t>+</m:t>
                      </m:r>
                      <m:r>
                        <a:rPr lang="en-US" b="1" i="1" smtClean="0">
                          <a:latin typeface="Cambria Math" panose="02040503050406030204" pitchFamily="18" charset="0"/>
                        </a:rPr>
                        <m:t>𝟐𝟕𝟑</m:t>
                      </m:r>
                      <m:r>
                        <a:rPr lang="en-US" b="1" i="1" smtClean="0">
                          <a:latin typeface="Cambria Math" panose="02040503050406030204" pitchFamily="18" charset="0"/>
                        </a:rPr>
                        <m:t>=</m:t>
                      </m:r>
                      <m:r>
                        <a:rPr lang="en-US" b="1" i="1" smtClean="0">
                          <a:latin typeface="Cambria Math" panose="02040503050406030204" pitchFamily="18" charset="0"/>
                        </a:rPr>
                        <m:t>𝟐𝟕𝟑</m:t>
                      </m:r>
                      <m:r>
                        <a:rPr lang="en-US" b="1" i="1" smtClean="0">
                          <a:latin typeface="Cambria Math" panose="02040503050406030204" pitchFamily="18" charset="0"/>
                        </a:rPr>
                        <m:t>𝑲</m:t>
                      </m:r>
                    </m:oMath>
                  </m:oMathPara>
                </a14:m>
                <a:endParaRPr lang="en-US" b="1" dirty="0"/>
              </a:p>
            </p:txBody>
          </p:sp>
        </mc:Choice>
        <mc:Fallback xmlns="">
          <p:sp>
            <p:nvSpPr>
              <p:cNvPr id="12" name="TextBox 11">
                <a:extLst>
                  <a:ext uri="{FF2B5EF4-FFF2-40B4-BE49-F238E27FC236}">
                    <a16:creationId xmlns:a16="http://schemas.microsoft.com/office/drawing/2014/main" id="{EE231DB2-3582-4133-A32C-E2CF40B64B5D}"/>
                  </a:ext>
                </a:extLst>
              </p:cNvPr>
              <p:cNvSpPr txBox="1">
                <a:spLocks noRot="1" noChangeAspect="1" noMove="1" noResize="1" noEditPoints="1" noAdjustHandles="1" noChangeArrowheads="1" noChangeShapeType="1" noTextEdit="1"/>
              </p:cNvSpPr>
              <p:nvPr/>
            </p:nvSpPr>
            <p:spPr>
              <a:xfrm>
                <a:off x="7692089" y="4301509"/>
                <a:ext cx="2840521" cy="276999"/>
              </a:xfrm>
              <a:prstGeom prst="rect">
                <a:avLst/>
              </a:prstGeom>
              <a:blipFill>
                <a:blip r:embed="rId6"/>
                <a:stretch>
                  <a:fillRect l="-1717" t="-2222" r="-1502"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504ED0D-5954-46A2-9AC5-B7A2855757DF}"/>
                  </a:ext>
                </a:extLst>
              </p:cNvPr>
              <p:cNvSpPr txBox="1"/>
              <p:nvPr/>
            </p:nvSpPr>
            <p:spPr>
              <a:xfrm>
                <a:off x="7115102" y="5982015"/>
                <a:ext cx="41269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𝑵𝒂𝒕</m:t>
                      </m:r>
                      <m:r>
                        <a:rPr lang="en-US" b="1" i="1" smtClean="0">
                          <a:latin typeface="Cambria Math" panose="02040503050406030204" pitchFamily="18" charset="0"/>
                        </a:rPr>
                        <m:t>. </m:t>
                      </m:r>
                      <m:r>
                        <a:rPr lang="en-US" b="1" i="1" smtClean="0">
                          <a:latin typeface="Cambria Math" panose="02040503050406030204" pitchFamily="18" charset="0"/>
                        </a:rPr>
                        <m:t>𝑳𝒐𝒈</m:t>
                      </m:r>
                      <m:r>
                        <a:rPr lang="en-US" b="1" i="1" smtClean="0">
                          <a:latin typeface="Cambria Math" panose="02040503050406030204" pitchFamily="18" charset="0"/>
                        </a:rPr>
                        <m:t> </m:t>
                      </m:r>
                      <m:r>
                        <a:rPr lang="en-US" b="1" i="1" smtClean="0">
                          <a:latin typeface="Cambria Math" panose="02040503050406030204" pitchFamily="18" charset="0"/>
                        </a:rPr>
                        <m:t>𝑽𝒂𝒑</m:t>
                      </m:r>
                      <m:r>
                        <a:rPr lang="en-US" b="1" i="1" smtClean="0">
                          <a:latin typeface="Cambria Math" panose="02040503050406030204" pitchFamily="18" charset="0"/>
                        </a:rPr>
                        <m:t>. </m:t>
                      </m:r>
                      <m:r>
                        <a:rPr lang="en-US" b="1" i="1" smtClean="0">
                          <a:latin typeface="Cambria Math" panose="02040503050406030204" pitchFamily="18" charset="0"/>
                        </a:rPr>
                        <m:t>𝑷𝒓𝒆𝒔</m:t>
                      </m:r>
                      <m:r>
                        <a:rPr lang="en-US" b="1" i="1" smtClean="0">
                          <a:latin typeface="Cambria Math" panose="02040503050406030204" pitchFamily="18" charset="0"/>
                        </a:rPr>
                        <m:t>.=</m:t>
                      </m:r>
                      <m:r>
                        <a:rPr lang="en-US" b="1" i="1" smtClean="0">
                          <a:latin typeface="Cambria Math" panose="02040503050406030204" pitchFamily="18" charset="0"/>
                        </a:rPr>
                        <m:t>𝒍𝒏</m:t>
                      </m:r>
                      <m:d>
                        <m:dPr>
                          <m:ctrlPr>
                            <a:rPr lang="en-US" b="1" i="1" smtClean="0">
                              <a:latin typeface="Cambria Math" panose="02040503050406030204" pitchFamily="18" charset="0"/>
                            </a:rPr>
                          </m:ctrlPr>
                        </m:dPr>
                        <m:e>
                          <m:r>
                            <a:rPr lang="en-US" b="1" i="1" smtClean="0">
                              <a:latin typeface="Cambria Math" panose="02040503050406030204" pitchFamily="18" charset="0"/>
                            </a:rPr>
                            <m:t>𝟒</m:t>
                          </m:r>
                          <m:r>
                            <a:rPr lang="en-US" b="1" i="1" smtClean="0">
                              <a:latin typeface="Cambria Math" panose="02040503050406030204" pitchFamily="18" charset="0"/>
                            </a:rPr>
                            <m:t>.</m:t>
                          </m:r>
                          <m:r>
                            <a:rPr lang="en-US" b="1" i="1" smtClean="0">
                              <a:latin typeface="Cambria Math" panose="02040503050406030204" pitchFamily="18" charset="0"/>
                            </a:rPr>
                            <m:t>𝟔</m:t>
                          </m:r>
                        </m:e>
                      </m:d>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𝟓𝟐𝟔</m:t>
                      </m:r>
                    </m:oMath>
                  </m:oMathPara>
                </a14:m>
                <a:endParaRPr lang="en-US" b="1" dirty="0"/>
              </a:p>
            </p:txBody>
          </p:sp>
        </mc:Choice>
        <mc:Fallback xmlns="">
          <p:sp>
            <p:nvSpPr>
              <p:cNvPr id="13" name="TextBox 12">
                <a:extLst>
                  <a:ext uri="{FF2B5EF4-FFF2-40B4-BE49-F238E27FC236}">
                    <a16:creationId xmlns:a16="http://schemas.microsoft.com/office/drawing/2014/main" id="{1504ED0D-5954-46A2-9AC5-B7A2855757DF}"/>
                  </a:ext>
                </a:extLst>
              </p:cNvPr>
              <p:cNvSpPr txBox="1">
                <a:spLocks noRot="1" noChangeAspect="1" noMove="1" noResize="1" noEditPoints="1" noAdjustHandles="1" noChangeArrowheads="1" noChangeShapeType="1" noTextEdit="1"/>
              </p:cNvSpPr>
              <p:nvPr/>
            </p:nvSpPr>
            <p:spPr>
              <a:xfrm>
                <a:off x="7115102" y="5982015"/>
                <a:ext cx="4126964" cy="276999"/>
              </a:xfrm>
              <a:prstGeom prst="rect">
                <a:avLst/>
              </a:prstGeom>
              <a:blipFill>
                <a:blip r:embed="rId7"/>
                <a:stretch>
                  <a:fillRect l="-739" r="-1034" b="-32609"/>
                </a:stretch>
              </a:blipFill>
            </p:spPr>
            <p:txBody>
              <a:bodyPr/>
              <a:lstStyle/>
              <a:p>
                <a:r>
                  <a:rPr lang="en-US">
                    <a:noFill/>
                  </a:rPr>
                  <a:t> </a:t>
                </a:r>
              </a:p>
            </p:txBody>
          </p:sp>
        </mc:Fallback>
      </mc:AlternateContent>
    </p:spTree>
    <p:extLst>
      <p:ext uri="{BB962C8B-B14F-4D97-AF65-F5344CB8AC3E}">
        <p14:creationId xmlns:p14="http://schemas.microsoft.com/office/powerpoint/2010/main" val="4030621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49893-3E8B-441F-B379-F9283BA1F0B5}"/>
              </a:ext>
            </a:extLst>
          </p:cNvPr>
          <p:cNvSpPr>
            <a:spLocks noGrp="1"/>
          </p:cNvSpPr>
          <p:nvPr>
            <p:ph type="title"/>
          </p:nvPr>
        </p:nvSpPr>
        <p:spPr/>
        <p:txBody>
          <a:bodyPr/>
          <a:lstStyle/>
          <a:p>
            <a:r>
              <a:rPr lang="en-US" dirty="0"/>
              <a:t>summary</a:t>
            </a:r>
          </a:p>
        </p:txBody>
      </p:sp>
      <p:sp>
        <p:nvSpPr>
          <p:cNvPr id="6" name="Rectangle: Rounded Corners 5">
            <a:extLst>
              <a:ext uri="{FF2B5EF4-FFF2-40B4-BE49-F238E27FC236}">
                <a16:creationId xmlns:a16="http://schemas.microsoft.com/office/drawing/2014/main" id="{E5EDE0DA-1B80-4E9C-9825-84558B8A9C64}"/>
              </a:ext>
            </a:extLst>
          </p:cNvPr>
          <p:cNvSpPr/>
          <p:nvPr/>
        </p:nvSpPr>
        <p:spPr>
          <a:xfrm>
            <a:off x="620786" y="2808913"/>
            <a:ext cx="2567031" cy="3942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Part A</a:t>
            </a:r>
          </a:p>
        </p:txBody>
      </p:sp>
      <p:sp>
        <p:nvSpPr>
          <p:cNvPr id="7" name="Rectangle: Rounded Corners 6">
            <a:extLst>
              <a:ext uri="{FF2B5EF4-FFF2-40B4-BE49-F238E27FC236}">
                <a16:creationId xmlns:a16="http://schemas.microsoft.com/office/drawing/2014/main" id="{77F11184-3D51-4308-A592-B755423FC208}"/>
              </a:ext>
            </a:extLst>
          </p:cNvPr>
          <p:cNvSpPr/>
          <p:nvPr/>
        </p:nvSpPr>
        <p:spPr>
          <a:xfrm>
            <a:off x="8616893" y="2808913"/>
            <a:ext cx="2567031" cy="3942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Part C</a:t>
            </a:r>
          </a:p>
        </p:txBody>
      </p:sp>
      <p:sp>
        <p:nvSpPr>
          <p:cNvPr id="8" name="Rectangle: Rounded Corners 7">
            <a:extLst>
              <a:ext uri="{FF2B5EF4-FFF2-40B4-BE49-F238E27FC236}">
                <a16:creationId xmlns:a16="http://schemas.microsoft.com/office/drawing/2014/main" id="{9739F8E3-4AB6-47C7-A115-0FB78C07F65D}"/>
              </a:ext>
            </a:extLst>
          </p:cNvPr>
          <p:cNvSpPr/>
          <p:nvPr/>
        </p:nvSpPr>
        <p:spPr>
          <a:xfrm>
            <a:off x="4448961" y="2808913"/>
            <a:ext cx="2567031" cy="3942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Part B</a:t>
            </a:r>
          </a:p>
        </p:txBody>
      </p:sp>
      <p:sp>
        <p:nvSpPr>
          <p:cNvPr id="9" name="TextBox 8">
            <a:extLst>
              <a:ext uri="{FF2B5EF4-FFF2-40B4-BE49-F238E27FC236}">
                <a16:creationId xmlns:a16="http://schemas.microsoft.com/office/drawing/2014/main" id="{775E8671-7C3D-4B72-BA80-D2CFD58CCC80}"/>
              </a:ext>
            </a:extLst>
          </p:cNvPr>
          <p:cNvSpPr txBox="1"/>
          <p:nvPr/>
        </p:nvSpPr>
        <p:spPr>
          <a:xfrm>
            <a:off x="352768" y="3429000"/>
            <a:ext cx="3028426" cy="2308324"/>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t>Prepare two graphs by hand in the lab session</a:t>
            </a:r>
          </a:p>
          <a:p>
            <a:pPr marL="285750" indent="-285750">
              <a:buClr>
                <a:schemeClr val="accent1"/>
              </a:buClr>
              <a:buFont typeface="Arial" panose="020B0604020202020204" pitchFamily="34" charset="0"/>
              <a:buChar char="•"/>
            </a:pPr>
            <a:r>
              <a:rPr lang="en-US" dirty="0"/>
              <a:t>The first graph is Pressure vs Volume</a:t>
            </a:r>
          </a:p>
          <a:p>
            <a:pPr marL="285750" indent="-285750">
              <a:buClr>
                <a:schemeClr val="accent1"/>
              </a:buClr>
              <a:buFont typeface="Arial" panose="020B0604020202020204" pitchFamily="34" charset="0"/>
              <a:buChar char="•"/>
            </a:pPr>
            <a:r>
              <a:rPr lang="en-US" dirty="0"/>
              <a:t>The second graph is Pressure vs. Inverse Volume</a:t>
            </a:r>
          </a:p>
          <a:p>
            <a:pPr marL="285750" indent="-285750">
              <a:buClr>
                <a:schemeClr val="accent1"/>
              </a:buClr>
              <a:buFont typeface="Arial" panose="020B0604020202020204" pitchFamily="34" charset="0"/>
              <a:buChar char="•"/>
            </a:pPr>
            <a:r>
              <a:rPr lang="en-US" dirty="0"/>
              <a:t>Both graphs should be properly labeled</a:t>
            </a:r>
          </a:p>
        </p:txBody>
      </p:sp>
      <p:sp>
        <p:nvSpPr>
          <p:cNvPr id="3" name="TextBox 2">
            <a:extLst>
              <a:ext uri="{FF2B5EF4-FFF2-40B4-BE49-F238E27FC236}">
                <a16:creationId xmlns:a16="http://schemas.microsoft.com/office/drawing/2014/main" id="{7E8ADF3D-3309-4A06-93CA-50DB9A3D6949}"/>
              </a:ext>
            </a:extLst>
          </p:cNvPr>
          <p:cNvSpPr txBox="1"/>
          <p:nvPr/>
        </p:nvSpPr>
        <p:spPr>
          <a:xfrm>
            <a:off x="3387231" y="1424972"/>
            <a:ext cx="7901763" cy="923330"/>
          </a:xfrm>
          <a:prstGeom prst="rect">
            <a:avLst/>
          </a:prstGeom>
          <a:noFill/>
        </p:spPr>
        <p:txBody>
          <a:bodyPr wrap="square" rtlCol="0">
            <a:spAutoFit/>
          </a:bodyPr>
          <a:lstStyle/>
          <a:p>
            <a:pPr marL="285750" indent="-285750">
              <a:buClr>
                <a:schemeClr val="accent1"/>
              </a:buClr>
              <a:buFont typeface="Wingdings" panose="05000000000000000000" pitchFamily="2" charset="2"/>
              <a:buChar char="Ø"/>
            </a:pPr>
            <a:r>
              <a:rPr lang="en-US" dirty="0"/>
              <a:t>Any graphs by hand, must be done on graph paper</a:t>
            </a:r>
          </a:p>
          <a:p>
            <a:pPr marL="285750" indent="-285750">
              <a:buClr>
                <a:schemeClr val="accent1"/>
              </a:buClr>
              <a:buFont typeface="Wingdings" panose="05000000000000000000" pitchFamily="2" charset="2"/>
              <a:buChar char="Ø"/>
            </a:pPr>
            <a:r>
              <a:rPr lang="en-US" dirty="0"/>
              <a:t>Parts B and C, as well as any other graphs in the course, may be done by hand or through a graphing program</a:t>
            </a:r>
          </a:p>
        </p:txBody>
      </p:sp>
      <p:sp>
        <p:nvSpPr>
          <p:cNvPr id="4" name="TextBox 3">
            <a:extLst>
              <a:ext uri="{FF2B5EF4-FFF2-40B4-BE49-F238E27FC236}">
                <a16:creationId xmlns:a16="http://schemas.microsoft.com/office/drawing/2014/main" id="{B0D6897E-C524-4226-B3DD-931369CA6305}"/>
              </a:ext>
            </a:extLst>
          </p:cNvPr>
          <p:cNvSpPr txBox="1"/>
          <p:nvPr/>
        </p:nvSpPr>
        <p:spPr>
          <a:xfrm>
            <a:off x="4346731" y="3494036"/>
            <a:ext cx="3028426" cy="2031325"/>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t>Prepare one graph of Pressure vs Volume</a:t>
            </a:r>
          </a:p>
          <a:p>
            <a:pPr marL="285750" indent="-285750">
              <a:buClr>
                <a:schemeClr val="accent1"/>
              </a:buClr>
              <a:buFont typeface="Arial" panose="020B0604020202020204" pitchFamily="34" charset="0"/>
              <a:buChar char="•"/>
            </a:pPr>
            <a:r>
              <a:rPr lang="en-US" dirty="0"/>
              <a:t>Determine the slope and intercept for the trendline</a:t>
            </a:r>
          </a:p>
          <a:p>
            <a:pPr marL="285750" indent="-285750">
              <a:buClr>
                <a:schemeClr val="accent1"/>
              </a:buClr>
              <a:buFont typeface="Arial" panose="020B0604020202020204" pitchFamily="34" charset="0"/>
              <a:buChar char="•"/>
            </a:pPr>
            <a:r>
              <a:rPr lang="en-US" dirty="0"/>
              <a:t>Use your trendline equation to determine Absolute Zero</a:t>
            </a:r>
          </a:p>
          <a:p>
            <a:pPr marL="285750" indent="-285750">
              <a:buClr>
                <a:schemeClr val="accent1"/>
              </a:buClr>
              <a:buFont typeface="Arial" panose="020B0604020202020204" pitchFamily="34" charset="0"/>
              <a:buChar char="•"/>
            </a:pPr>
            <a:r>
              <a:rPr lang="en-US" dirty="0"/>
              <a:t>Calculate a Percent Error </a:t>
            </a:r>
          </a:p>
        </p:txBody>
      </p:sp>
      <p:sp>
        <p:nvSpPr>
          <p:cNvPr id="5" name="TextBox 4">
            <a:extLst>
              <a:ext uri="{FF2B5EF4-FFF2-40B4-BE49-F238E27FC236}">
                <a16:creationId xmlns:a16="http://schemas.microsoft.com/office/drawing/2014/main" id="{F29F85B7-13FA-4118-8664-FE076CC88100}"/>
              </a:ext>
            </a:extLst>
          </p:cNvPr>
          <p:cNvSpPr txBox="1"/>
          <p:nvPr/>
        </p:nvSpPr>
        <p:spPr>
          <a:xfrm>
            <a:off x="8084426" y="3414045"/>
            <a:ext cx="3631963" cy="3139321"/>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dirty="0"/>
              <a:t>Prepare two graphs based on the vapor pressure of water</a:t>
            </a:r>
          </a:p>
          <a:p>
            <a:pPr marL="285750" indent="-285750">
              <a:buClr>
                <a:schemeClr val="accent1"/>
              </a:buClr>
              <a:buFont typeface="Arial" panose="020B0604020202020204" pitchFamily="34" charset="0"/>
              <a:buChar char="•"/>
            </a:pPr>
            <a:r>
              <a:rPr lang="en-US" dirty="0"/>
              <a:t>The first graph will be Temperature vs the Vapor Pressure of Water</a:t>
            </a:r>
          </a:p>
          <a:p>
            <a:pPr marL="285750" indent="-285750">
              <a:buClr>
                <a:schemeClr val="accent1"/>
              </a:buClr>
              <a:buFont typeface="Arial" panose="020B0604020202020204" pitchFamily="34" charset="0"/>
              <a:buChar char="•"/>
            </a:pPr>
            <a:r>
              <a:rPr lang="en-US" dirty="0"/>
              <a:t>The second graph will be the Inverse Temperature vs the Natural Log of the Vapor Pressure of Water</a:t>
            </a:r>
          </a:p>
          <a:p>
            <a:pPr marL="285750" indent="-285750">
              <a:buClr>
                <a:schemeClr val="accent1"/>
              </a:buClr>
              <a:buFont typeface="Arial" panose="020B0604020202020204" pitchFamily="34" charset="0"/>
              <a:buChar char="•"/>
            </a:pPr>
            <a:r>
              <a:rPr lang="en-US" dirty="0"/>
              <a:t>Extend your trendline to determine the Boiling Point of water</a:t>
            </a:r>
          </a:p>
        </p:txBody>
      </p:sp>
    </p:spTree>
    <p:extLst>
      <p:ext uri="{BB962C8B-B14F-4D97-AF65-F5344CB8AC3E}">
        <p14:creationId xmlns:p14="http://schemas.microsoft.com/office/powerpoint/2010/main" val="32452639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11289</TotalTime>
  <Words>2158</Words>
  <Application>Microsoft Macintosh PowerPoint</Application>
  <PresentationFormat>Widescreen</PresentationFormat>
  <Paragraphs>267</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Cambria Math</vt:lpstr>
      <vt:lpstr>Tw Cen MT</vt:lpstr>
      <vt:lpstr>Tw Cen MT </vt:lpstr>
      <vt:lpstr>Tw Cen MT Condensed</vt:lpstr>
      <vt:lpstr>Wingdings</vt:lpstr>
      <vt:lpstr>Wingdings 3</vt:lpstr>
      <vt:lpstr>Integral</vt:lpstr>
      <vt:lpstr>Graphing - Introduction</vt:lpstr>
      <vt:lpstr>Graphs</vt:lpstr>
      <vt:lpstr>Linear graphs</vt:lpstr>
      <vt:lpstr>Calculating slope</vt:lpstr>
      <vt:lpstr>Calculating slope</vt:lpstr>
      <vt:lpstr>Calculating intercept</vt:lpstr>
      <vt:lpstr>Calculating intercept</vt:lpstr>
      <vt:lpstr>Preparing graphs</vt:lpstr>
      <vt:lpstr>What to include on a graph</vt:lpstr>
      <vt:lpstr>trendlines</vt:lpstr>
      <vt:lpstr>Graphing - Experiment</vt:lpstr>
      <vt:lpstr>Graphing data</vt:lpstr>
      <vt:lpstr>Part a – pressure &amp; volume data</vt:lpstr>
      <vt:lpstr>Part b – Temperature vs Volume</vt:lpstr>
      <vt:lpstr>Part C – Vapor pressure of water</vt:lpstr>
      <vt:lpstr>Part C – Vapor pressure of water</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Moles &amp; Molarity</dc:title>
  <dc:creator>Kevin</dc:creator>
  <cp:lastModifiedBy>Ryan Balachandran</cp:lastModifiedBy>
  <cp:revision>55</cp:revision>
  <dcterms:created xsi:type="dcterms:W3CDTF">2020-03-24T15:47:02Z</dcterms:created>
  <dcterms:modified xsi:type="dcterms:W3CDTF">2021-08-30T21:10:07Z</dcterms:modified>
</cp:coreProperties>
</file>