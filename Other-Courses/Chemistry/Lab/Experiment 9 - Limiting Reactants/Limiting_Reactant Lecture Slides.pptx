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6" r:id="rId3"/>
    <p:sldId id="268" r:id="rId4"/>
    <p:sldId id="259" r:id="rId5"/>
    <p:sldId id="272" r:id="rId6"/>
    <p:sldId id="269" r:id="rId7"/>
    <p:sldId id="270" r:id="rId8"/>
    <p:sldId id="271" r:id="rId9"/>
    <p:sldId id="267" r:id="rId10"/>
    <p:sldId id="273" r:id="rId11"/>
    <p:sldId id="280" r:id="rId12"/>
    <p:sldId id="282" r:id="rId13"/>
    <p:sldId id="274" r:id="rId14"/>
    <p:sldId id="278" r:id="rId15"/>
    <p:sldId id="275" r:id="rId16"/>
    <p:sldId id="276" r:id="rId17"/>
    <p:sldId id="279" r:id="rId18"/>
    <p:sldId id="281" r:id="rId19"/>
    <p:sldId id="263" r:id="rId20"/>
    <p:sldId id="261"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382" autoAdjust="0"/>
    <p:restoredTop sz="94660"/>
  </p:normalViewPr>
  <p:slideViewPr>
    <p:cSldViewPr snapToGrid="0">
      <p:cViewPr varScale="1">
        <p:scale>
          <a:sx n="150" d="100"/>
          <a:sy n="150" d="100"/>
        </p:scale>
        <p:origin x="43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D3703608-CBAA-4BF8-8884-F3CF5AF54AA6}"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D755FB-D0C5-4D04-A115-E21C91E4DF9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8246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703608-CBAA-4BF8-8884-F3CF5AF54AA6}"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27499942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3703608-CBAA-4BF8-8884-F3CF5AF54AA6}"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D755FB-D0C5-4D04-A115-E21C91E4DF9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4406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3703608-CBAA-4BF8-8884-F3CF5AF54AA6}" type="datetimeFigureOut">
              <a:rPr lang="en-US" smtClean="0"/>
              <a:t>11/1/21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16791176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3703608-CBAA-4BF8-8884-F3CF5AF54AA6}" type="datetimeFigureOut">
              <a:rPr lang="en-US" smtClean="0"/>
              <a:t>11/1/21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13061527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3703608-CBAA-4BF8-8884-F3CF5AF54AA6}" type="datetimeFigureOut">
              <a:rPr lang="en-US" smtClean="0"/>
              <a:t>11/1/21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32629548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3703608-CBAA-4BF8-8884-F3CF5AF54AA6}" type="datetimeFigureOut">
              <a:rPr lang="en-US" smtClean="0"/>
              <a:t>11/1/21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384403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703608-CBAA-4BF8-8884-F3CF5AF54AA6}" type="datetimeFigureOut">
              <a:rPr lang="en-US" smtClean="0"/>
              <a:t>11/1/21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30992417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3703608-CBAA-4BF8-8884-F3CF5AF54AA6}" type="datetimeFigureOut">
              <a:rPr lang="en-US" smtClean="0"/>
              <a:t>11/1/21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D755FB-D0C5-4D04-A115-E21C91E4DF90}" type="slidenum">
              <a:rPr lang="en-US" smtClean="0"/>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0400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703608-CBAA-4BF8-8884-F3CF5AF54AA6}"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D755FB-D0C5-4D04-A115-E21C91E4DF90}" type="slidenum">
              <a:rPr lang="en-US" smtClean="0"/>
              <a:t>‹#›</a:t>
            </a:fld>
            <a:endParaRPr lang="en-US"/>
          </a:p>
        </p:txBody>
      </p:sp>
    </p:spTree>
    <p:extLst>
      <p:ext uri="{BB962C8B-B14F-4D97-AF65-F5344CB8AC3E}">
        <p14:creationId xmlns:p14="http://schemas.microsoft.com/office/powerpoint/2010/main" val="4817444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3703608-CBAA-4BF8-8884-F3CF5AF54AA6}" type="datetimeFigureOut">
              <a:rPr lang="en-US" smtClean="0"/>
              <a:t>11/1/21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D755FB-D0C5-4D04-A115-E21C91E4DF90}"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8485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D3703608-CBAA-4BF8-8884-F3CF5AF54AA6}" type="datetimeFigureOut">
              <a:rPr lang="en-US" smtClean="0"/>
              <a:t>11/1/21</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A4D755FB-D0C5-4D04-A115-E21C91E4DF90}"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005862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100.png"/></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hyperlink" Target="https://phet.colorado.edu/sims/html/reactants-products-and-leftovers/latest/reactants-products-and-leftovers_en.html"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image" Target="../media/image23.jpg"/><Relationship Id="rId1" Type="http://schemas.openxmlformats.org/officeDocument/2006/relationships/slideLayout" Target="../slideLayouts/slideLayout2.xml"/><Relationship Id="rId6" Type="http://schemas.openxmlformats.org/officeDocument/2006/relationships/image" Target="../media/image27.gif"/><Relationship Id="rId5" Type="http://schemas.openxmlformats.org/officeDocument/2006/relationships/image" Target="../media/image26.jp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FF01-E758-411A-94CB-05B3FFEECE27}"/>
              </a:ext>
            </a:extLst>
          </p:cNvPr>
          <p:cNvSpPr>
            <a:spLocks noGrp="1"/>
          </p:cNvSpPr>
          <p:nvPr>
            <p:ph type="ctrTitle"/>
          </p:nvPr>
        </p:nvSpPr>
        <p:spPr/>
        <p:txBody>
          <a:bodyPr/>
          <a:lstStyle/>
          <a:p>
            <a:r>
              <a:rPr lang="en-US" dirty="0"/>
              <a:t>Limiting reactants</a:t>
            </a:r>
          </a:p>
        </p:txBody>
      </p:sp>
      <p:sp>
        <p:nvSpPr>
          <p:cNvPr id="3" name="Subtitle 2">
            <a:extLst>
              <a:ext uri="{FF2B5EF4-FFF2-40B4-BE49-F238E27FC236}">
                <a16:creationId xmlns:a16="http://schemas.microsoft.com/office/drawing/2014/main" id="{A9012553-290F-46C7-B1B3-6FBA0887FAE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2897325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809F6-3A3A-4F41-A502-E764F078BB7E}"/>
              </a:ext>
            </a:extLst>
          </p:cNvPr>
          <p:cNvSpPr>
            <a:spLocks noGrp="1"/>
          </p:cNvSpPr>
          <p:nvPr>
            <p:ph type="title"/>
          </p:nvPr>
        </p:nvSpPr>
        <p:spPr/>
        <p:txBody>
          <a:bodyPr/>
          <a:lstStyle/>
          <a:p>
            <a:r>
              <a:rPr lang="en-US" dirty="0"/>
              <a:t>Products &amp; reactants</a:t>
            </a:r>
          </a:p>
        </p:txBody>
      </p:sp>
      <p:sp>
        <p:nvSpPr>
          <p:cNvPr id="3" name="Content Placeholder 2">
            <a:extLst>
              <a:ext uri="{FF2B5EF4-FFF2-40B4-BE49-F238E27FC236}">
                <a16:creationId xmlns:a16="http://schemas.microsoft.com/office/drawing/2014/main" id="{C246862B-94A4-4548-A36D-9DCC89285582}"/>
              </a:ext>
            </a:extLst>
          </p:cNvPr>
          <p:cNvSpPr>
            <a:spLocks noGrp="1"/>
          </p:cNvSpPr>
          <p:nvPr>
            <p:ph idx="1"/>
          </p:nvPr>
        </p:nvSpPr>
        <p:spPr/>
        <p:txBody>
          <a:bodyPr>
            <a:normAutofit lnSpcReduction="10000"/>
          </a:bodyPr>
          <a:lstStyle/>
          <a:p>
            <a:r>
              <a:rPr lang="en-US" dirty="0"/>
              <a:t>In a chemical reaction, there are starting chemicals (reactants) and the resulting chemicals that are formed in the reaction (products)</a:t>
            </a:r>
          </a:p>
          <a:p>
            <a:r>
              <a:rPr lang="en-US" dirty="0"/>
              <a:t>Reactants typically appear on the left, while products appear on the right, with the reaction arrow in between </a:t>
            </a:r>
          </a:p>
          <a:p>
            <a:r>
              <a:rPr lang="en-US" dirty="0"/>
              <a:t>There are a number of different types of reactions which can involve one or more reactant to create one or more products</a:t>
            </a:r>
          </a:p>
          <a:p>
            <a:r>
              <a:rPr lang="en-US" dirty="0"/>
              <a:t>While these chemical reactions are exact down to the molecule, in real world applications dealing with mass, volume and concentration, there is bound to be more of one thing than is needed</a:t>
            </a:r>
          </a:p>
          <a:p>
            <a:r>
              <a:rPr lang="en-US" dirty="0"/>
              <a:t>If there is not enough of one reactant to fully react with the other, this would be the Limiting Reactant</a:t>
            </a:r>
          </a:p>
        </p:txBody>
      </p:sp>
    </p:spTree>
    <p:extLst>
      <p:ext uri="{BB962C8B-B14F-4D97-AF65-F5344CB8AC3E}">
        <p14:creationId xmlns:p14="http://schemas.microsoft.com/office/powerpoint/2010/main" val="5822787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09749-E9DD-4816-9E70-44041CF4C8D8}"/>
              </a:ext>
            </a:extLst>
          </p:cNvPr>
          <p:cNvSpPr>
            <a:spLocks noGrp="1"/>
          </p:cNvSpPr>
          <p:nvPr>
            <p:ph type="title"/>
          </p:nvPr>
        </p:nvSpPr>
        <p:spPr/>
        <p:txBody>
          <a:bodyPr/>
          <a:lstStyle/>
          <a:p>
            <a:r>
              <a:rPr lang="en-US" dirty="0"/>
              <a:t>Balanced Chemical reactions</a:t>
            </a:r>
          </a:p>
        </p:txBody>
      </p:sp>
      <p:sp>
        <p:nvSpPr>
          <p:cNvPr id="3" name="Content Placeholder 2">
            <a:extLst>
              <a:ext uri="{FF2B5EF4-FFF2-40B4-BE49-F238E27FC236}">
                <a16:creationId xmlns:a16="http://schemas.microsoft.com/office/drawing/2014/main" id="{DA041AA7-983C-450B-B769-11F75FF4D4BE}"/>
              </a:ext>
            </a:extLst>
          </p:cNvPr>
          <p:cNvSpPr>
            <a:spLocks noGrp="1"/>
          </p:cNvSpPr>
          <p:nvPr>
            <p:ph idx="1"/>
          </p:nvPr>
        </p:nvSpPr>
        <p:spPr>
          <a:xfrm>
            <a:off x="1024127" y="2589673"/>
            <a:ext cx="9720073" cy="3861461"/>
          </a:xfrm>
        </p:spPr>
        <p:txBody>
          <a:bodyPr>
            <a:normAutofit/>
          </a:bodyPr>
          <a:lstStyle/>
          <a:p>
            <a:r>
              <a:rPr lang="en-US" dirty="0"/>
              <a:t>In the reaction above, exactly one mole of CaCl</a:t>
            </a:r>
            <a:r>
              <a:rPr lang="en-US" baseline="-25000" dirty="0"/>
              <a:t>2</a:t>
            </a:r>
            <a:r>
              <a:rPr lang="en-US" dirty="0"/>
              <a:t> will react with exactly 2 mols of NaOH to form one mole of the Ca(OH)</a:t>
            </a:r>
            <a:r>
              <a:rPr lang="en-US" baseline="-25000" dirty="0"/>
              <a:t>2(s) </a:t>
            </a:r>
            <a:r>
              <a:rPr lang="en-US" dirty="0"/>
              <a:t>product and exactly 2 moles of NaCl</a:t>
            </a:r>
            <a:r>
              <a:rPr lang="en-US" baseline="-25000" dirty="0"/>
              <a:t>(</a:t>
            </a:r>
            <a:r>
              <a:rPr lang="en-US" baseline="-25000" dirty="0" err="1"/>
              <a:t>aq</a:t>
            </a:r>
            <a:r>
              <a:rPr lang="en-US" baseline="-25000" dirty="0"/>
              <a:t>)</a:t>
            </a:r>
          </a:p>
          <a:p>
            <a:r>
              <a:rPr lang="en-US" dirty="0"/>
              <a:t>Using the Molecular Weights, this corresponds to exactly 110.98g of CaCl</a:t>
            </a:r>
            <a:r>
              <a:rPr lang="en-US" baseline="-25000" dirty="0"/>
              <a:t>2</a:t>
            </a:r>
            <a:r>
              <a:rPr lang="en-US" dirty="0"/>
              <a:t> reacting with exactly 79.99g of NaOH to form exactly 74.09g Ca(OH)</a:t>
            </a:r>
            <a:r>
              <a:rPr lang="en-US" baseline="-25000" dirty="0"/>
              <a:t>2</a:t>
            </a:r>
            <a:r>
              <a:rPr lang="en-US" dirty="0"/>
              <a:t> and 116.88g NaCl</a:t>
            </a:r>
          </a:p>
          <a:p>
            <a:endParaRPr lang="en-US" dirty="0"/>
          </a:p>
          <a:p>
            <a:endParaRPr lang="en-US" dirty="0"/>
          </a:p>
          <a:p>
            <a:r>
              <a:rPr lang="en-US" dirty="0"/>
              <a:t>What happens if in a lab, these exact amounts of reactant are not precisely measured? One reactant will be not enough (Limiting Reactant) and one will be too much.</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A811139-A626-4B3C-87D2-7943C155418B}"/>
                  </a:ext>
                </a:extLst>
              </p:cNvPr>
              <p:cNvSpPr txBox="1"/>
              <p:nvPr/>
            </p:nvSpPr>
            <p:spPr>
              <a:xfrm>
                <a:off x="3211418" y="2204304"/>
                <a:ext cx="535697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𝑪𝒂𝑪𝒍</m:t>
                          </m:r>
                        </m:e>
                        <m:sub>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𝟐</m:t>
                          </m:r>
                          <m:r>
                            <a:rPr lang="en-US" b="1" i="1" smtClean="0">
                              <a:latin typeface="Cambria Math" panose="02040503050406030204" pitchFamily="18" charset="0"/>
                            </a:rPr>
                            <m:t>𝑵𝒂𝑶𝑯</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𝑪𝒂</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𝑶𝑯</m:t>
                          </m:r>
                          <m:r>
                            <a:rPr lang="en-US" b="1" i="1" smtClean="0">
                              <a:latin typeface="Cambria Math" panose="02040503050406030204" pitchFamily="18" charset="0"/>
                              <a:ea typeface="Cambria Math" panose="02040503050406030204" pitchFamily="18" charset="0"/>
                            </a:rPr>
                            <m:t>)</m:t>
                          </m:r>
                        </m:e>
                        <m:sub>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𝒔</m:t>
                          </m:r>
                          <m:r>
                            <a:rPr lang="en-US" b="1" i="1" smtClean="0">
                              <a:latin typeface="Cambria Math" panose="02040503050406030204" pitchFamily="18" charset="0"/>
                              <a:ea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𝑵𝒂𝑪𝒍</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Sub>
                    </m:oMath>
                  </m:oMathPara>
                </a14:m>
                <a:endParaRPr lang="en-US" b="1" dirty="0"/>
              </a:p>
            </p:txBody>
          </p:sp>
        </mc:Choice>
        <mc:Fallback xmlns="">
          <p:sp>
            <p:nvSpPr>
              <p:cNvPr id="4" name="TextBox 3">
                <a:extLst>
                  <a:ext uri="{FF2B5EF4-FFF2-40B4-BE49-F238E27FC236}">
                    <a16:creationId xmlns:a16="http://schemas.microsoft.com/office/drawing/2014/main" id="{DA811139-A626-4B3C-87D2-7943C155418B}"/>
                  </a:ext>
                </a:extLst>
              </p:cNvPr>
              <p:cNvSpPr txBox="1">
                <a:spLocks noRot="1" noChangeAspect="1" noMove="1" noResize="1" noEditPoints="1" noAdjustHandles="1" noChangeArrowheads="1" noChangeShapeType="1" noTextEdit="1"/>
              </p:cNvSpPr>
              <p:nvPr/>
            </p:nvSpPr>
            <p:spPr>
              <a:xfrm>
                <a:off x="3211418" y="2204304"/>
                <a:ext cx="5356979" cy="303673"/>
              </a:xfrm>
              <a:prstGeom prst="rect">
                <a:avLst/>
              </a:prstGeom>
              <a:blipFill>
                <a:blip r:embed="rId2"/>
                <a:stretch>
                  <a:fillRect l="-683" t="-2041" r="-341" b="-2857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F23701A-C684-48C6-833E-A2B40D131ADE}"/>
                  </a:ext>
                </a:extLst>
              </p:cNvPr>
              <p:cNvSpPr txBox="1"/>
              <p:nvPr/>
            </p:nvSpPr>
            <p:spPr>
              <a:xfrm>
                <a:off x="1809169" y="4368566"/>
                <a:ext cx="873610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𝟏𝟏𝟎</m:t>
                          </m:r>
                          <m:r>
                            <a:rPr lang="en-US" b="1" i="1" smtClean="0">
                              <a:latin typeface="Cambria Math" panose="02040503050406030204" pitchFamily="18" charset="0"/>
                            </a:rPr>
                            <m:t>.</m:t>
                          </m:r>
                          <m:r>
                            <a:rPr lang="en-US" b="1" i="1" smtClean="0">
                              <a:latin typeface="Cambria Math" panose="02040503050406030204" pitchFamily="18" charset="0"/>
                            </a:rPr>
                            <m:t>𝟗𝟖</m:t>
                          </m:r>
                          <m:r>
                            <a:rPr lang="en-US" b="1" i="1" smtClean="0">
                              <a:latin typeface="Cambria Math" panose="02040503050406030204" pitchFamily="18" charset="0"/>
                            </a:rPr>
                            <m:t>𝒈</m:t>
                          </m:r>
                          <m:r>
                            <a:rPr lang="en-US" b="1" i="1" smtClean="0">
                              <a:latin typeface="Cambria Math" panose="02040503050406030204" pitchFamily="18" charset="0"/>
                            </a:rPr>
                            <m:t> </m:t>
                          </m:r>
                          <m:r>
                            <a:rPr lang="en-US" b="1" i="1" smtClean="0">
                              <a:latin typeface="Cambria Math" panose="02040503050406030204" pitchFamily="18" charset="0"/>
                            </a:rPr>
                            <m:t>𝑪𝒂𝑪𝒍</m:t>
                          </m:r>
                        </m:e>
                        <m:sub>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𝟕𝟗</m:t>
                          </m:r>
                          <m:r>
                            <a:rPr lang="en-US" b="1" i="1" smtClean="0">
                              <a:latin typeface="Cambria Math" panose="02040503050406030204" pitchFamily="18" charset="0"/>
                            </a:rPr>
                            <m:t>.</m:t>
                          </m:r>
                          <m:r>
                            <a:rPr lang="en-US" b="1" i="1" smtClean="0">
                              <a:latin typeface="Cambria Math" panose="02040503050406030204" pitchFamily="18" charset="0"/>
                            </a:rPr>
                            <m:t>𝟗𝟗</m:t>
                          </m:r>
                          <m:r>
                            <a:rPr lang="en-US" b="1" i="1" smtClean="0">
                              <a:latin typeface="Cambria Math" panose="02040503050406030204" pitchFamily="18" charset="0"/>
                            </a:rPr>
                            <m:t>𝒈</m:t>
                          </m:r>
                          <m:r>
                            <a:rPr lang="en-US" b="1" i="1" smtClean="0">
                              <a:latin typeface="Cambria Math" panose="02040503050406030204" pitchFamily="18" charset="0"/>
                            </a:rPr>
                            <m:t> </m:t>
                          </m:r>
                          <m:r>
                            <a:rPr lang="en-US" b="1" i="1" smtClean="0">
                              <a:latin typeface="Cambria Math" panose="02040503050406030204" pitchFamily="18" charset="0"/>
                            </a:rPr>
                            <m:t>𝑵𝒂𝑶𝑯</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𝟕𝟒</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𝟎𝟗</m:t>
                          </m:r>
                          <m:r>
                            <a:rPr lang="en-US" b="1" i="1" smtClean="0">
                              <a:latin typeface="Cambria Math" panose="02040503050406030204" pitchFamily="18" charset="0"/>
                              <a:ea typeface="Cambria Math" panose="02040503050406030204" pitchFamily="18" charset="0"/>
                            </a:rPr>
                            <m:t>𝒈</m:t>
                          </m:r>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𝑪𝒂</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𝑶𝑯</m:t>
                          </m:r>
                          <m:r>
                            <a:rPr lang="en-US" b="1" i="1" smtClean="0">
                              <a:latin typeface="Cambria Math" panose="02040503050406030204" pitchFamily="18" charset="0"/>
                              <a:ea typeface="Cambria Math" panose="02040503050406030204" pitchFamily="18" charset="0"/>
                            </a:rPr>
                            <m:t>)</m:t>
                          </m:r>
                        </m:e>
                        <m:sub>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𝒔</m:t>
                          </m:r>
                          <m:r>
                            <a:rPr lang="en-US" b="1" i="1" smtClean="0">
                              <a:latin typeface="Cambria Math" panose="02040503050406030204" pitchFamily="18" charset="0"/>
                              <a:ea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𝟏𝟏𝟔</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𝟖𝟖</m:t>
                          </m:r>
                          <m:r>
                            <a:rPr lang="en-US" b="1" i="1" smtClean="0">
                              <a:latin typeface="Cambria Math" panose="02040503050406030204" pitchFamily="18" charset="0"/>
                              <a:ea typeface="Cambria Math" panose="02040503050406030204" pitchFamily="18" charset="0"/>
                            </a:rPr>
                            <m:t>𝒈</m:t>
                          </m:r>
                          <m:r>
                            <a:rPr lang="en-US" b="1" i="1" smtClean="0">
                              <a:latin typeface="Cambria Math" panose="02040503050406030204" pitchFamily="18" charset="0"/>
                              <a:ea typeface="Cambria Math" panose="02040503050406030204" pitchFamily="18" charset="0"/>
                            </a:rPr>
                            <m:t> </m:t>
                          </m:r>
                          <m:r>
                            <a:rPr lang="en-US" b="1" i="1" smtClean="0">
                              <a:latin typeface="Cambria Math" panose="02040503050406030204" pitchFamily="18" charset="0"/>
                              <a:ea typeface="Cambria Math" panose="02040503050406030204" pitchFamily="18" charset="0"/>
                            </a:rPr>
                            <m:t>𝑵𝒂𝑪𝒍</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Sub>
                    </m:oMath>
                  </m:oMathPara>
                </a14:m>
                <a:endParaRPr lang="en-US" b="1" dirty="0"/>
              </a:p>
            </p:txBody>
          </p:sp>
        </mc:Choice>
        <mc:Fallback xmlns="">
          <p:sp>
            <p:nvSpPr>
              <p:cNvPr id="5" name="TextBox 4">
                <a:extLst>
                  <a:ext uri="{FF2B5EF4-FFF2-40B4-BE49-F238E27FC236}">
                    <a16:creationId xmlns:a16="http://schemas.microsoft.com/office/drawing/2014/main" id="{AF23701A-C684-48C6-833E-A2B40D131ADE}"/>
                  </a:ext>
                </a:extLst>
              </p:cNvPr>
              <p:cNvSpPr txBox="1">
                <a:spLocks noRot="1" noChangeAspect="1" noMove="1" noResize="1" noEditPoints="1" noAdjustHandles="1" noChangeArrowheads="1" noChangeShapeType="1" noTextEdit="1"/>
              </p:cNvSpPr>
              <p:nvPr/>
            </p:nvSpPr>
            <p:spPr>
              <a:xfrm>
                <a:off x="1809169" y="4368566"/>
                <a:ext cx="8736109" cy="303673"/>
              </a:xfrm>
              <a:prstGeom prst="rect">
                <a:avLst/>
              </a:prstGeom>
              <a:blipFill>
                <a:blip r:embed="rId3"/>
                <a:stretch>
                  <a:fillRect l="-140" t="-2041" r="-70" b="-28571"/>
                </a:stretch>
              </a:blipFill>
            </p:spPr>
            <p:txBody>
              <a:bodyPr/>
              <a:lstStyle/>
              <a:p>
                <a:r>
                  <a:rPr lang="en-US">
                    <a:noFill/>
                  </a:rPr>
                  <a:t> </a:t>
                </a:r>
              </a:p>
            </p:txBody>
          </p:sp>
        </mc:Fallback>
      </mc:AlternateContent>
    </p:spTree>
    <p:extLst>
      <p:ext uri="{BB962C8B-B14F-4D97-AF65-F5344CB8AC3E}">
        <p14:creationId xmlns:p14="http://schemas.microsoft.com/office/powerpoint/2010/main" val="28260944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3C8C-D8D4-4D9D-8F44-389C0A5C81C7}"/>
              </a:ext>
            </a:extLst>
          </p:cNvPr>
          <p:cNvSpPr>
            <a:spLocks noGrp="1"/>
          </p:cNvSpPr>
          <p:nvPr>
            <p:ph type="title"/>
          </p:nvPr>
        </p:nvSpPr>
        <p:spPr/>
        <p:txBody>
          <a:bodyPr/>
          <a:lstStyle/>
          <a:p>
            <a:r>
              <a:rPr lang="en-US" dirty="0"/>
              <a:t>Limiting reactants – grams to moles</a:t>
            </a:r>
          </a:p>
        </p:txBody>
      </p:sp>
      <p:sp>
        <p:nvSpPr>
          <p:cNvPr id="10" name="Content Placeholder 9">
            <a:extLst>
              <a:ext uri="{FF2B5EF4-FFF2-40B4-BE49-F238E27FC236}">
                <a16:creationId xmlns:a16="http://schemas.microsoft.com/office/drawing/2014/main" id="{E0AF0E39-99DA-4239-8043-CE6DE1885F4B}"/>
              </a:ext>
            </a:extLst>
          </p:cNvPr>
          <p:cNvSpPr>
            <a:spLocks noGrp="1"/>
          </p:cNvSpPr>
          <p:nvPr>
            <p:ph idx="1"/>
          </p:nvPr>
        </p:nvSpPr>
        <p:spPr>
          <a:xfrm>
            <a:off x="1024128" y="2286000"/>
            <a:ext cx="9720073" cy="1080930"/>
          </a:xfrm>
        </p:spPr>
        <p:txBody>
          <a:bodyPr>
            <a:normAutofit/>
          </a:bodyPr>
          <a:lstStyle/>
          <a:p>
            <a:r>
              <a:rPr lang="en-US" dirty="0"/>
              <a:t>What if only 50.00g of both CaCl</a:t>
            </a:r>
            <a:r>
              <a:rPr lang="en-US" baseline="-25000" dirty="0"/>
              <a:t>2</a:t>
            </a:r>
            <a:r>
              <a:rPr lang="en-US" dirty="0"/>
              <a:t> and NaOH was used in the reaction?</a:t>
            </a:r>
          </a:p>
          <a:p>
            <a:r>
              <a:rPr lang="en-US" dirty="0"/>
              <a:t>How would this affect the reaction and the products?</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29722F-6B7F-403B-B803-1C5B243307FA}"/>
                  </a:ext>
                </a:extLst>
              </p:cNvPr>
              <p:cNvSpPr txBox="1"/>
              <p:nvPr/>
            </p:nvSpPr>
            <p:spPr>
              <a:xfrm>
                <a:off x="3296308" y="1781159"/>
                <a:ext cx="535697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𝑪𝒂𝑪𝒍</m:t>
                          </m:r>
                        </m:e>
                        <m:sub>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𝟐</m:t>
                          </m:r>
                          <m:r>
                            <a:rPr lang="en-US" b="1" i="1" smtClean="0">
                              <a:latin typeface="Cambria Math" panose="02040503050406030204" pitchFamily="18" charset="0"/>
                            </a:rPr>
                            <m:t>𝑵𝒂𝑶𝑯</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𝑪𝒂</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𝑶𝑯</m:t>
                          </m:r>
                          <m:r>
                            <a:rPr lang="en-US" b="1" i="1" smtClean="0">
                              <a:latin typeface="Cambria Math" panose="02040503050406030204" pitchFamily="18" charset="0"/>
                              <a:ea typeface="Cambria Math" panose="02040503050406030204" pitchFamily="18" charset="0"/>
                            </a:rPr>
                            <m:t>)</m:t>
                          </m:r>
                        </m:e>
                        <m:sub>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𝒔</m:t>
                          </m:r>
                          <m:r>
                            <a:rPr lang="en-US" b="1" i="1" smtClean="0">
                              <a:latin typeface="Cambria Math" panose="02040503050406030204" pitchFamily="18" charset="0"/>
                              <a:ea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𝑵𝒂𝑪𝒍</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Sub>
                    </m:oMath>
                  </m:oMathPara>
                </a14:m>
                <a:endParaRPr lang="en-US" b="1" dirty="0"/>
              </a:p>
            </p:txBody>
          </p:sp>
        </mc:Choice>
        <mc:Fallback xmlns="">
          <p:sp>
            <p:nvSpPr>
              <p:cNvPr id="11" name="TextBox 10">
                <a:extLst>
                  <a:ext uri="{FF2B5EF4-FFF2-40B4-BE49-F238E27FC236}">
                    <a16:creationId xmlns:a16="http://schemas.microsoft.com/office/drawing/2014/main" id="{D529722F-6B7F-403B-B803-1C5B243307FA}"/>
                  </a:ext>
                </a:extLst>
              </p:cNvPr>
              <p:cNvSpPr txBox="1">
                <a:spLocks noRot="1" noChangeAspect="1" noMove="1" noResize="1" noEditPoints="1" noAdjustHandles="1" noChangeArrowheads="1" noChangeShapeType="1" noTextEdit="1"/>
              </p:cNvSpPr>
              <p:nvPr/>
            </p:nvSpPr>
            <p:spPr>
              <a:xfrm>
                <a:off x="3296308" y="1781159"/>
                <a:ext cx="5356979" cy="303673"/>
              </a:xfrm>
              <a:prstGeom prst="rect">
                <a:avLst/>
              </a:prstGeom>
              <a:blipFill>
                <a:blip r:embed="rId2"/>
                <a:stretch>
                  <a:fillRect l="-683" r="-341"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8DBCCA4-693C-45DF-99B8-E7D75A340A21}"/>
                  </a:ext>
                </a:extLst>
              </p:cNvPr>
              <p:cNvSpPr txBox="1"/>
              <p:nvPr/>
            </p:nvSpPr>
            <p:spPr>
              <a:xfrm>
                <a:off x="2281398" y="3416261"/>
                <a:ext cx="7022243"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50.00</m:t>
                          </m:r>
                          <m:r>
                            <a:rPr lang="en-US" b="0" i="1" smtClean="0">
                              <a:latin typeface="Cambria Math" panose="02040503050406030204" pitchFamily="18" charset="0"/>
                            </a:rPr>
                            <m:t>𝑔</m:t>
                          </m:r>
                          <m:r>
                            <a:rPr lang="en-US" b="0" i="1" smtClean="0">
                              <a:latin typeface="Cambria Math" panose="02040503050406030204" pitchFamily="18" charset="0"/>
                            </a:rPr>
                            <m:t> </m:t>
                          </m:r>
                          <m:r>
                            <a:rPr lang="en-US" b="0" i="1" smtClean="0">
                              <a:latin typeface="Cambria Math" panose="02040503050406030204" pitchFamily="18" charset="0"/>
                            </a:rPr>
                            <m:t>𝐶𝑎𝐶𝑙</m:t>
                          </m:r>
                        </m:e>
                        <m:sub>
                          <m:r>
                            <a:rPr lang="en-US" b="0" i="1" smtClean="0">
                              <a:latin typeface="Cambria Math" panose="02040503050406030204" pitchFamily="18" charset="0"/>
                            </a:rPr>
                            <m:t>2(</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50.00</m:t>
                          </m:r>
                          <m:r>
                            <a:rPr lang="en-US" b="0" i="1" smtClean="0">
                              <a:latin typeface="Cambria Math" panose="02040503050406030204" pitchFamily="18" charset="0"/>
                            </a:rPr>
                            <m:t>𝑔</m:t>
                          </m:r>
                          <m:r>
                            <a:rPr lang="en-US" b="0" i="1" smtClean="0">
                              <a:latin typeface="Cambria Math" panose="02040503050406030204" pitchFamily="18" charset="0"/>
                            </a:rPr>
                            <m:t> </m:t>
                          </m:r>
                          <m:r>
                            <a:rPr lang="en-US" b="0" i="1" smtClean="0">
                              <a:latin typeface="Cambria Math" panose="02040503050406030204" pitchFamily="18" charset="0"/>
                            </a:rPr>
                            <m:t>𝑁𝑎𝑂𝐻</m:t>
                          </m:r>
                        </m:e>
                        <m:sub>
                          <m:r>
                            <a:rPr lang="en-US" b="0" i="1" smtClean="0">
                              <a:latin typeface="Cambria Math" panose="02040503050406030204" pitchFamily="18" charset="0"/>
                            </a:rPr>
                            <m:t>(</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𝑔</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𝑁𝑎𝐶𝑙</m:t>
                          </m:r>
                        </m:e>
                        <m: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𝑎𝑞</m:t>
                          </m:r>
                          <m:r>
                            <a:rPr lang="en-US" b="0" i="1" smtClean="0">
                              <a:latin typeface="Cambria Math" panose="02040503050406030204" pitchFamily="18" charset="0"/>
                              <a:ea typeface="Cambria Math" panose="02040503050406030204" pitchFamily="18" charset="0"/>
                            </a:rPr>
                            <m:t>)</m:t>
                          </m:r>
                        </m:sub>
                      </m:sSub>
                    </m:oMath>
                  </m:oMathPara>
                </a14:m>
                <a:endParaRPr lang="en-US" dirty="0"/>
              </a:p>
            </p:txBody>
          </p:sp>
        </mc:Choice>
        <mc:Fallback xmlns="">
          <p:sp>
            <p:nvSpPr>
              <p:cNvPr id="12" name="TextBox 11">
                <a:extLst>
                  <a:ext uri="{FF2B5EF4-FFF2-40B4-BE49-F238E27FC236}">
                    <a16:creationId xmlns:a16="http://schemas.microsoft.com/office/drawing/2014/main" id="{68DBCCA4-693C-45DF-99B8-E7D75A340A21}"/>
                  </a:ext>
                </a:extLst>
              </p:cNvPr>
              <p:cNvSpPr txBox="1">
                <a:spLocks noRot="1" noChangeAspect="1" noMove="1" noResize="1" noEditPoints="1" noAdjustHandles="1" noChangeArrowheads="1" noChangeShapeType="1" noTextEdit="1"/>
              </p:cNvSpPr>
              <p:nvPr/>
            </p:nvSpPr>
            <p:spPr>
              <a:xfrm>
                <a:off x="2281398" y="3416261"/>
                <a:ext cx="7022243" cy="303673"/>
              </a:xfrm>
              <a:prstGeom prst="rect">
                <a:avLst/>
              </a:prstGeom>
              <a:blipFill>
                <a:blip r:embed="rId3"/>
                <a:stretch>
                  <a:fillRect l="-260" r="-174" b="-28000"/>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15296BE2-3DB8-420A-810C-488E306F5785}"/>
              </a:ext>
            </a:extLst>
          </p:cNvPr>
          <p:cNvSpPr txBox="1"/>
          <p:nvPr/>
        </p:nvSpPr>
        <p:spPr>
          <a:xfrm>
            <a:off x="224665" y="4196053"/>
            <a:ext cx="11500264" cy="400110"/>
          </a:xfrm>
          <a:prstGeom prst="rect">
            <a:avLst/>
          </a:prstGeom>
          <a:noFill/>
        </p:spPr>
        <p:txBody>
          <a:bodyPr wrap="none" rtlCol="0">
            <a:spAutoFit/>
          </a:bodyPr>
          <a:lstStyle/>
          <a:p>
            <a:r>
              <a:rPr lang="en-US" sz="2000" dirty="0"/>
              <a:t>In nearly every case, the first step, if given an amount in grams is to convert to moles using the molecular weight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635677A-3819-4B16-91B4-340B11DDB49D}"/>
                  </a:ext>
                </a:extLst>
              </p:cNvPr>
              <p:cNvSpPr txBox="1"/>
              <p:nvPr/>
            </p:nvSpPr>
            <p:spPr>
              <a:xfrm>
                <a:off x="1184249" y="4949167"/>
                <a:ext cx="4509055" cy="5745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50.00</m:t>
                      </m:r>
                      <m:r>
                        <a:rPr lang="en-US" b="0" i="1" smtClean="0">
                          <a:latin typeface="Cambria Math" panose="02040503050406030204" pitchFamily="18" charset="0"/>
                        </a:rPr>
                        <m:t>𝑔</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𝑚𝑜𝑙</m:t>
                          </m:r>
                        </m:num>
                        <m:den>
                          <m:r>
                            <a:rPr lang="en-US" b="0" i="1" smtClean="0">
                              <a:latin typeface="Cambria Math" panose="02040503050406030204" pitchFamily="18" charset="0"/>
                              <a:ea typeface="Cambria Math" panose="02040503050406030204" pitchFamily="18" charset="0"/>
                            </a:rPr>
                            <m:t>110.98</m:t>
                          </m:r>
                          <m:r>
                            <a:rPr lang="en-US" b="0" i="1" smtClean="0">
                              <a:latin typeface="Cambria Math" panose="02040503050406030204" pitchFamily="18" charset="0"/>
                              <a:ea typeface="Cambria Math" panose="02040503050406030204" pitchFamily="18" charset="0"/>
                            </a:rPr>
                            <m:t>𝑔</m:t>
                          </m:r>
                        </m:den>
                      </m:f>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0.4505</m:t>
                      </m:r>
                      <m:r>
                        <m:rPr>
                          <m:sty m:val="p"/>
                        </m:rPr>
                        <a:rPr lang="en-US" b="0" i="0" smtClean="0">
                          <a:latin typeface="Cambria Math" panose="02040503050406030204" pitchFamily="18" charset="0"/>
                          <a:ea typeface="Cambria Math" panose="02040503050406030204" pitchFamily="18" charset="0"/>
                        </a:rPr>
                        <m:t>mol</m:t>
                      </m:r>
                      <m:r>
                        <a:rPr lang="en-US" b="0" i="0"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𝐶𝑎𝐶𝑙</m:t>
                          </m:r>
                        </m:e>
                        <m:sub>
                          <m:r>
                            <a:rPr lang="en-US" b="0" i="1" smtClean="0">
                              <a:latin typeface="Cambria Math" panose="02040503050406030204" pitchFamily="18" charset="0"/>
                              <a:ea typeface="Cambria Math" panose="02040503050406030204" pitchFamily="18" charset="0"/>
                            </a:rPr>
                            <m:t>2</m:t>
                          </m:r>
                        </m:sub>
                      </m:sSub>
                    </m:oMath>
                  </m:oMathPara>
                </a14:m>
                <a:endParaRPr lang="en-US" dirty="0"/>
              </a:p>
            </p:txBody>
          </p:sp>
        </mc:Choice>
        <mc:Fallback xmlns="">
          <p:sp>
            <p:nvSpPr>
              <p:cNvPr id="14" name="TextBox 13">
                <a:extLst>
                  <a:ext uri="{FF2B5EF4-FFF2-40B4-BE49-F238E27FC236}">
                    <a16:creationId xmlns:a16="http://schemas.microsoft.com/office/drawing/2014/main" id="{6635677A-3819-4B16-91B4-340B11DDB49D}"/>
                  </a:ext>
                </a:extLst>
              </p:cNvPr>
              <p:cNvSpPr txBox="1">
                <a:spLocks noRot="1" noChangeAspect="1" noMove="1" noResize="1" noEditPoints="1" noAdjustHandles="1" noChangeArrowheads="1" noChangeShapeType="1" noTextEdit="1"/>
              </p:cNvSpPr>
              <p:nvPr/>
            </p:nvSpPr>
            <p:spPr>
              <a:xfrm>
                <a:off x="1184249" y="4949167"/>
                <a:ext cx="4509055" cy="574516"/>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BFA5749-7AFB-4DFA-93C9-70FE094ED230}"/>
                  </a:ext>
                </a:extLst>
              </p:cNvPr>
              <p:cNvSpPr txBox="1"/>
              <p:nvPr/>
            </p:nvSpPr>
            <p:spPr>
              <a:xfrm>
                <a:off x="6498697" y="4949167"/>
                <a:ext cx="4468146" cy="5745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50.00</m:t>
                      </m:r>
                      <m:r>
                        <a:rPr lang="en-US" b="0" i="1" smtClean="0">
                          <a:latin typeface="Cambria Math" panose="02040503050406030204" pitchFamily="18" charset="0"/>
                        </a:rPr>
                        <m:t>𝑔</m:t>
                      </m:r>
                      <m:r>
                        <a:rPr lang="en-US" b="0" i="1" smtClean="0">
                          <a:latin typeface="Cambria Math" panose="02040503050406030204" pitchFamily="18" charset="0"/>
                        </a:rPr>
                        <m:t> </m:t>
                      </m:r>
                      <m:r>
                        <a:rPr lang="en-US" b="0" i="1" smtClean="0">
                          <a:latin typeface="Cambria Math" panose="02040503050406030204" pitchFamily="18" charset="0"/>
                        </a:rPr>
                        <m:t>𝑁𝑎𝑂𝐻</m:t>
                      </m:r>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𝑚𝑜𝑙</m:t>
                          </m:r>
                        </m:num>
                        <m:den>
                          <m:r>
                            <a:rPr lang="en-US" b="0" i="1" smtClean="0">
                              <a:latin typeface="Cambria Math" panose="02040503050406030204" pitchFamily="18" charset="0"/>
                              <a:ea typeface="Cambria Math" panose="02040503050406030204" pitchFamily="18" charset="0"/>
                            </a:rPr>
                            <m:t>39.995</m:t>
                          </m:r>
                          <m:r>
                            <a:rPr lang="en-US" b="0" i="1" smtClean="0">
                              <a:latin typeface="Cambria Math" panose="02040503050406030204" pitchFamily="18" charset="0"/>
                              <a:ea typeface="Cambria Math" panose="02040503050406030204" pitchFamily="18" charset="0"/>
                            </a:rPr>
                            <m:t>𝑔</m:t>
                          </m:r>
                        </m:den>
                      </m:f>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1.250</m:t>
                      </m:r>
                      <m:r>
                        <m:rPr>
                          <m:sty m:val="p"/>
                        </m:rPr>
                        <a:rPr lang="en-US" b="0" i="0" smtClean="0">
                          <a:latin typeface="Cambria Math" panose="02040503050406030204" pitchFamily="18" charset="0"/>
                          <a:ea typeface="Cambria Math" panose="02040503050406030204" pitchFamily="18" charset="0"/>
                        </a:rPr>
                        <m:t>mol</m:t>
                      </m:r>
                      <m:r>
                        <a:rPr lang="en-US" b="0" i="0"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𝑁𝑎𝑂𝐻</m:t>
                      </m:r>
                    </m:oMath>
                  </m:oMathPara>
                </a14:m>
                <a:endParaRPr lang="en-US" dirty="0"/>
              </a:p>
            </p:txBody>
          </p:sp>
        </mc:Choice>
        <mc:Fallback xmlns="">
          <p:sp>
            <p:nvSpPr>
              <p:cNvPr id="15" name="TextBox 14">
                <a:extLst>
                  <a:ext uri="{FF2B5EF4-FFF2-40B4-BE49-F238E27FC236}">
                    <a16:creationId xmlns:a16="http://schemas.microsoft.com/office/drawing/2014/main" id="{7BFA5749-7AFB-4DFA-93C9-70FE094ED230}"/>
                  </a:ext>
                </a:extLst>
              </p:cNvPr>
              <p:cNvSpPr txBox="1">
                <a:spLocks noRot="1" noChangeAspect="1" noMove="1" noResize="1" noEditPoints="1" noAdjustHandles="1" noChangeArrowheads="1" noChangeShapeType="1" noTextEdit="1"/>
              </p:cNvSpPr>
              <p:nvPr/>
            </p:nvSpPr>
            <p:spPr>
              <a:xfrm>
                <a:off x="6498697" y="4949167"/>
                <a:ext cx="4468146" cy="574516"/>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427818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21399-3F05-49BD-B7B6-94714FD86018}"/>
              </a:ext>
            </a:extLst>
          </p:cNvPr>
          <p:cNvSpPr>
            <a:spLocks noGrp="1"/>
          </p:cNvSpPr>
          <p:nvPr>
            <p:ph type="title"/>
          </p:nvPr>
        </p:nvSpPr>
        <p:spPr/>
        <p:txBody>
          <a:bodyPr/>
          <a:lstStyle/>
          <a:p>
            <a:r>
              <a:rPr lang="en-US" dirty="0"/>
              <a:t>Limiting reactant – molarity to moles</a:t>
            </a:r>
          </a:p>
        </p:txBody>
      </p:sp>
      <p:sp>
        <p:nvSpPr>
          <p:cNvPr id="3" name="Content Placeholder 2">
            <a:extLst>
              <a:ext uri="{FF2B5EF4-FFF2-40B4-BE49-F238E27FC236}">
                <a16:creationId xmlns:a16="http://schemas.microsoft.com/office/drawing/2014/main" id="{331E836A-77D0-4BA4-8961-E1E4DB6355E6}"/>
              </a:ext>
            </a:extLst>
          </p:cNvPr>
          <p:cNvSpPr>
            <a:spLocks noGrp="1"/>
          </p:cNvSpPr>
          <p:nvPr>
            <p:ph idx="1"/>
          </p:nvPr>
        </p:nvSpPr>
        <p:spPr>
          <a:xfrm>
            <a:off x="1024128" y="2286000"/>
            <a:ext cx="9720073" cy="3594683"/>
          </a:xfrm>
        </p:spPr>
        <p:txBody>
          <a:bodyPr/>
          <a:lstStyle/>
          <a:p>
            <a:r>
              <a:rPr lang="en-US" dirty="0"/>
              <a:t>Most reactions in general chemistry are preformed as solutions, where there is a concentration of reactant dissolve in water. </a:t>
            </a:r>
          </a:p>
          <a:p>
            <a:r>
              <a:rPr lang="en-US" dirty="0"/>
              <a:t>In keeping with the same example, what if 250.0mL of a 1.802M CaCl2 solution was combined with 500.0mL of a 2.500M NaOH solution, how many moles are there?</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0898D6-A8CC-401D-89CD-A7A0BC59D702}"/>
                  </a:ext>
                </a:extLst>
              </p:cNvPr>
              <p:cNvSpPr txBox="1"/>
              <p:nvPr/>
            </p:nvSpPr>
            <p:spPr>
              <a:xfrm>
                <a:off x="3296308" y="1781159"/>
                <a:ext cx="535697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𝑪𝒂𝑪𝒍</m:t>
                          </m:r>
                        </m:e>
                        <m:sub>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𝟐</m:t>
                          </m:r>
                          <m:r>
                            <a:rPr lang="en-US" b="1" i="1" smtClean="0">
                              <a:latin typeface="Cambria Math" panose="02040503050406030204" pitchFamily="18" charset="0"/>
                            </a:rPr>
                            <m:t>𝑵𝒂𝑶𝑯</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𝑪𝒂</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𝑶𝑯</m:t>
                          </m:r>
                          <m:r>
                            <a:rPr lang="en-US" b="1" i="1" smtClean="0">
                              <a:latin typeface="Cambria Math" panose="02040503050406030204" pitchFamily="18" charset="0"/>
                              <a:ea typeface="Cambria Math" panose="02040503050406030204" pitchFamily="18" charset="0"/>
                            </a:rPr>
                            <m:t>)</m:t>
                          </m:r>
                        </m:e>
                        <m:sub>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𝒔</m:t>
                          </m:r>
                          <m:r>
                            <a:rPr lang="en-US" b="1" i="1" smtClean="0">
                              <a:latin typeface="Cambria Math" panose="02040503050406030204" pitchFamily="18" charset="0"/>
                              <a:ea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𝑵𝒂𝑪𝒍</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Sub>
                    </m:oMath>
                  </m:oMathPara>
                </a14:m>
                <a:endParaRPr lang="en-US" b="1" dirty="0"/>
              </a:p>
            </p:txBody>
          </p:sp>
        </mc:Choice>
        <mc:Fallback xmlns="">
          <p:sp>
            <p:nvSpPr>
              <p:cNvPr id="5" name="TextBox 4">
                <a:extLst>
                  <a:ext uri="{FF2B5EF4-FFF2-40B4-BE49-F238E27FC236}">
                    <a16:creationId xmlns:a16="http://schemas.microsoft.com/office/drawing/2014/main" id="{0B0898D6-A8CC-401D-89CD-A7A0BC59D702}"/>
                  </a:ext>
                </a:extLst>
              </p:cNvPr>
              <p:cNvSpPr txBox="1">
                <a:spLocks noRot="1" noChangeAspect="1" noMove="1" noResize="1" noEditPoints="1" noAdjustHandles="1" noChangeArrowheads="1" noChangeShapeType="1" noTextEdit="1"/>
              </p:cNvSpPr>
              <p:nvPr/>
            </p:nvSpPr>
            <p:spPr>
              <a:xfrm>
                <a:off x="3296308" y="1781159"/>
                <a:ext cx="5356979" cy="303673"/>
              </a:xfrm>
              <a:prstGeom prst="rect">
                <a:avLst/>
              </a:prstGeom>
              <a:blipFill>
                <a:blip r:embed="rId2"/>
                <a:stretch>
                  <a:fillRect l="-683" r="-341"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6AF5457A-D50E-4191-A927-F07B75F0866A}"/>
                  </a:ext>
                </a:extLst>
              </p:cNvPr>
              <p:cNvSpPr txBox="1"/>
              <p:nvPr/>
            </p:nvSpPr>
            <p:spPr>
              <a:xfrm>
                <a:off x="4798502" y="4083341"/>
                <a:ext cx="1736521" cy="72789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500" b="1" i="1" smtClean="0">
                          <a:latin typeface="Cambria Math" panose="02040503050406030204" pitchFamily="18" charset="0"/>
                        </a:rPr>
                        <m:t>𝑴</m:t>
                      </m:r>
                      <m:r>
                        <a:rPr lang="en-US" sz="2500" b="1" i="1" smtClean="0">
                          <a:latin typeface="Cambria Math" panose="02040503050406030204" pitchFamily="18" charset="0"/>
                        </a:rPr>
                        <m:t>= </m:t>
                      </m:r>
                      <m:f>
                        <m:fPr>
                          <m:ctrlPr>
                            <a:rPr lang="en-US" sz="2500" b="1" i="1" smtClean="0">
                              <a:latin typeface="Cambria Math" panose="02040503050406030204" pitchFamily="18" charset="0"/>
                            </a:rPr>
                          </m:ctrlPr>
                        </m:fPr>
                        <m:num>
                          <m:r>
                            <a:rPr lang="en-US" sz="2500" b="1" i="1" smtClean="0">
                              <a:latin typeface="Cambria Math" panose="02040503050406030204" pitchFamily="18" charset="0"/>
                            </a:rPr>
                            <m:t>𝒎𝒐𝒍𝒔</m:t>
                          </m:r>
                        </m:num>
                        <m:den>
                          <m:r>
                            <a:rPr lang="en-US" sz="2500" b="1" i="1" smtClean="0">
                              <a:latin typeface="Cambria Math" panose="02040503050406030204" pitchFamily="18" charset="0"/>
                            </a:rPr>
                            <m:t>𝑳</m:t>
                          </m:r>
                        </m:den>
                      </m:f>
                    </m:oMath>
                  </m:oMathPara>
                </a14:m>
                <a:endParaRPr lang="en-US" sz="2500" b="1" dirty="0"/>
              </a:p>
            </p:txBody>
          </p:sp>
        </mc:Choice>
        <mc:Fallback xmlns="">
          <p:sp>
            <p:nvSpPr>
              <p:cNvPr id="6" name="TextBox 5">
                <a:extLst>
                  <a:ext uri="{FF2B5EF4-FFF2-40B4-BE49-F238E27FC236}">
                    <a16:creationId xmlns:a16="http://schemas.microsoft.com/office/drawing/2014/main" id="{6AF5457A-D50E-4191-A927-F07B75F0866A}"/>
                  </a:ext>
                </a:extLst>
              </p:cNvPr>
              <p:cNvSpPr txBox="1">
                <a:spLocks noRot="1" noChangeAspect="1" noMove="1" noResize="1" noEditPoints="1" noAdjustHandles="1" noChangeArrowheads="1" noChangeShapeType="1" noTextEdit="1"/>
              </p:cNvSpPr>
              <p:nvPr/>
            </p:nvSpPr>
            <p:spPr>
              <a:xfrm>
                <a:off x="4798502" y="4083341"/>
                <a:ext cx="1736521" cy="72789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B266FF6-8F8A-47BD-A0DE-59FA932F8A73}"/>
                  </a:ext>
                </a:extLst>
              </p:cNvPr>
              <p:cNvSpPr txBox="1"/>
              <p:nvPr/>
            </p:nvSpPr>
            <p:spPr>
              <a:xfrm>
                <a:off x="637564" y="5171813"/>
                <a:ext cx="4054636"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1.802</m:t>
                      </m:r>
                      <m:r>
                        <a:rPr lang="en-US" b="0" i="1" smtClean="0">
                          <a:latin typeface="Cambria Math" panose="02040503050406030204" pitchFamily="18" charset="0"/>
                        </a:rPr>
                        <m:t>𝑀</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𝑚𝑜𝑙𝑠</m:t>
                          </m:r>
                        </m:num>
                        <m:den>
                          <m:r>
                            <a:rPr lang="en-US" b="0" i="1" smtClean="0">
                              <a:latin typeface="Cambria Math" panose="02040503050406030204" pitchFamily="18" charset="0"/>
                            </a:rPr>
                            <m:t>0.250</m:t>
                          </m:r>
                          <m:r>
                            <a:rPr lang="en-US" b="0" i="1" smtClean="0">
                              <a:latin typeface="Cambria Math" panose="02040503050406030204" pitchFamily="18" charset="0"/>
                            </a:rPr>
                            <m:t>𝐿</m:t>
                          </m:r>
                        </m:den>
                      </m:f>
                      <m:r>
                        <a:rPr lang="en-US" b="0" i="1" smtClean="0">
                          <a:latin typeface="Cambria Math" panose="02040503050406030204" pitchFamily="18" charset="0"/>
                        </a:rPr>
                        <m:t>=0.4505</m:t>
                      </m:r>
                      <m:r>
                        <a:rPr lang="en-US" b="0" i="1" smtClean="0">
                          <a:latin typeface="Cambria Math" panose="02040503050406030204" pitchFamily="18" charset="0"/>
                        </a:rPr>
                        <m:t>𝑚𝑜𝑙𝑠</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sub>
                      </m:sSub>
                    </m:oMath>
                  </m:oMathPara>
                </a14:m>
                <a:endParaRPr lang="en-US" dirty="0"/>
              </a:p>
            </p:txBody>
          </p:sp>
        </mc:Choice>
        <mc:Fallback xmlns="">
          <p:sp>
            <p:nvSpPr>
              <p:cNvPr id="7" name="TextBox 6">
                <a:extLst>
                  <a:ext uri="{FF2B5EF4-FFF2-40B4-BE49-F238E27FC236}">
                    <a16:creationId xmlns:a16="http://schemas.microsoft.com/office/drawing/2014/main" id="{5B266FF6-8F8A-47BD-A0DE-59FA932F8A73}"/>
                  </a:ext>
                </a:extLst>
              </p:cNvPr>
              <p:cNvSpPr txBox="1">
                <a:spLocks noRot="1" noChangeAspect="1" noMove="1" noResize="1" noEditPoints="1" noAdjustHandles="1" noChangeArrowheads="1" noChangeShapeType="1" noTextEdit="1"/>
              </p:cNvSpPr>
              <p:nvPr/>
            </p:nvSpPr>
            <p:spPr>
              <a:xfrm>
                <a:off x="637564" y="5171813"/>
                <a:ext cx="4054636" cy="52597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3AE3DC7-E9D3-440B-93C8-135FE9E31E28}"/>
                  </a:ext>
                </a:extLst>
              </p:cNvPr>
              <p:cNvSpPr txBox="1"/>
              <p:nvPr/>
            </p:nvSpPr>
            <p:spPr>
              <a:xfrm>
                <a:off x="6762926" y="5106099"/>
                <a:ext cx="3963649" cy="52597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2</m:t>
                      </m:r>
                      <m:r>
                        <a:rPr lang="en-US" b="0" i="1" smtClean="0">
                          <a:latin typeface="Cambria Math" panose="02040503050406030204" pitchFamily="18" charset="0"/>
                        </a:rPr>
                        <m:t>.500</m:t>
                      </m:r>
                      <m:r>
                        <a:rPr lang="en-US" b="0" i="1" smtClean="0">
                          <a:latin typeface="Cambria Math" panose="02040503050406030204" pitchFamily="18" charset="0"/>
                        </a:rPr>
                        <m:t>𝑀</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𝑚𝑜𝑙𝑠</m:t>
                          </m:r>
                        </m:num>
                        <m:den>
                          <m:r>
                            <a:rPr lang="en-US" b="0" i="1" smtClean="0">
                              <a:latin typeface="Cambria Math" panose="02040503050406030204" pitchFamily="18" charset="0"/>
                            </a:rPr>
                            <m:t>0.500</m:t>
                          </m:r>
                          <m:r>
                            <a:rPr lang="en-US" b="0" i="1" smtClean="0">
                              <a:latin typeface="Cambria Math" panose="02040503050406030204" pitchFamily="18" charset="0"/>
                            </a:rPr>
                            <m:t>𝐿</m:t>
                          </m:r>
                        </m:den>
                      </m:f>
                      <m:r>
                        <a:rPr lang="en-US" b="0" i="1" smtClean="0">
                          <a:latin typeface="Cambria Math" panose="02040503050406030204" pitchFamily="18" charset="0"/>
                        </a:rPr>
                        <m:t>=1.250 </m:t>
                      </m:r>
                      <m:r>
                        <a:rPr lang="en-US" b="0" i="1" smtClean="0">
                          <a:latin typeface="Cambria Math" panose="02040503050406030204" pitchFamily="18" charset="0"/>
                        </a:rPr>
                        <m:t>𝑚𝑜𝑙𝑠</m:t>
                      </m:r>
                      <m:r>
                        <a:rPr lang="en-US" b="0" i="1" smtClean="0">
                          <a:latin typeface="Cambria Math" panose="02040503050406030204" pitchFamily="18" charset="0"/>
                        </a:rPr>
                        <m:t> </m:t>
                      </m:r>
                      <m:r>
                        <a:rPr lang="en-US" b="0" i="1" smtClean="0">
                          <a:latin typeface="Cambria Math" panose="02040503050406030204" pitchFamily="18" charset="0"/>
                        </a:rPr>
                        <m:t>𝑁𝑎𝑂𝐻</m:t>
                      </m:r>
                    </m:oMath>
                  </m:oMathPara>
                </a14:m>
                <a:endParaRPr lang="en-US" dirty="0"/>
              </a:p>
            </p:txBody>
          </p:sp>
        </mc:Choice>
        <mc:Fallback xmlns="">
          <p:sp>
            <p:nvSpPr>
              <p:cNvPr id="9" name="TextBox 8">
                <a:extLst>
                  <a:ext uri="{FF2B5EF4-FFF2-40B4-BE49-F238E27FC236}">
                    <a16:creationId xmlns:a16="http://schemas.microsoft.com/office/drawing/2014/main" id="{83AE3DC7-E9D3-440B-93C8-135FE9E31E28}"/>
                  </a:ext>
                </a:extLst>
              </p:cNvPr>
              <p:cNvSpPr txBox="1">
                <a:spLocks noRot="1" noChangeAspect="1" noMove="1" noResize="1" noEditPoints="1" noAdjustHandles="1" noChangeArrowheads="1" noChangeShapeType="1" noTextEdit="1"/>
              </p:cNvSpPr>
              <p:nvPr/>
            </p:nvSpPr>
            <p:spPr>
              <a:xfrm>
                <a:off x="6762926" y="5106099"/>
                <a:ext cx="3963649" cy="525978"/>
              </a:xfrm>
              <a:prstGeom prst="rect">
                <a:avLst/>
              </a:prstGeom>
              <a:blipFill>
                <a:blip r:embed="rId5"/>
                <a:stretch>
                  <a:fillRect/>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98AAD2F2-BDF2-41C7-AB83-90F281908406}"/>
              </a:ext>
            </a:extLst>
          </p:cNvPr>
          <p:cNvSpPr txBox="1"/>
          <p:nvPr/>
        </p:nvSpPr>
        <p:spPr>
          <a:xfrm>
            <a:off x="1551963" y="4328719"/>
            <a:ext cx="1737976" cy="369332"/>
          </a:xfrm>
          <a:prstGeom prst="rect">
            <a:avLst/>
          </a:prstGeom>
          <a:noFill/>
        </p:spPr>
        <p:txBody>
          <a:bodyPr wrap="none" rtlCol="0">
            <a:spAutoFit/>
          </a:bodyPr>
          <a:lstStyle/>
          <a:p>
            <a:r>
              <a:rPr lang="en-US" dirty="0"/>
              <a:t>Calcium Chloride</a:t>
            </a:r>
          </a:p>
        </p:txBody>
      </p:sp>
      <p:sp>
        <p:nvSpPr>
          <p:cNvPr id="12" name="TextBox 11">
            <a:extLst>
              <a:ext uri="{FF2B5EF4-FFF2-40B4-BE49-F238E27FC236}">
                <a16:creationId xmlns:a16="http://schemas.microsoft.com/office/drawing/2014/main" id="{95A7813C-7E3E-47C9-9CC8-707CE8141449}"/>
              </a:ext>
            </a:extLst>
          </p:cNvPr>
          <p:cNvSpPr txBox="1"/>
          <p:nvPr/>
        </p:nvSpPr>
        <p:spPr>
          <a:xfrm>
            <a:off x="8043586" y="4404297"/>
            <a:ext cx="1874359" cy="369332"/>
          </a:xfrm>
          <a:prstGeom prst="rect">
            <a:avLst/>
          </a:prstGeom>
          <a:noFill/>
        </p:spPr>
        <p:txBody>
          <a:bodyPr wrap="none" rtlCol="0">
            <a:spAutoFit/>
          </a:bodyPr>
          <a:lstStyle/>
          <a:p>
            <a:r>
              <a:rPr lang="en-US" dirty="0"/>
              <a:t>Sodium Hydroxide</a:t>
            </a:r>
          </a:p>
        </p:txBody>
      </p:sp>
    </p:spTree>
    <p:extLst>
      <p:ext uri="{BB962C8B-B14F-4D97-AF65-F5344CB8AC3E}">
        <p14:creationId xmlns:p14="http://schemas.microsoft.com/office/powerpoint/2010/main" val="1139321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83C8C-D8D4-4D9D-8F44-389C0A5C81C7}"/>
              </a:ext>
            </a:extLst>
          </p:cNvPr>
          <p:cNvSpPr>
            <a:spLocks noGrp="1"/>
          </p:cNvSpPr>
          <p:nvPr>
            <p:ph type="title"/>
          </p:nvPr>
        </p:nvSpPr>
        <p:spPr/>
        <p:txBody>
          <a:bodyPr/>
          <a:lstStyle/>
          <a:p>
            <a:r>
              <a:rPr lang="en-US" dirty="0"/>
              <a:t>Limiting reactants – reaction stoichiometry</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D529722F-6B7F-403B-B803-1C5B243307FA}"/>
                  </a:ext>
                </a:extLst>
              </p:cNvPr>
              <p:cNvSpPr txBox="1"/>
              <p:nvPr/>
            </p:nvSpPr>
            <p:spPr>
              <a:xfrm>
                <a:off x="3296308" y="2080472"/>
                <a:ext cx="5175712"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𝑁𝑎𝑂𝐻</m:t>
                          </m:r>
                        </m:e>
                        <m:sub>
                          <m:r>
                            <a:rPr lang="en-US" b="0" i="1" smtClean="0">
                              <a:latin typeface="Cambria Math" panose="02040503050406030204" pitchFamily="18" charset="0"/>
                            </a:rPr>
                            <m:t>(</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𝑁𝑎𝐶𝑙</m:t>
                          </m:r>
                        </m:e>
                        <m: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𝑎𝑞</m:t>
                          </m:r>
                          <m:r>
                            <a:rPr lang="en-US" b="0" i="1" smtClean="0">
                              <a:latin typeface="Cambria Math" panose="02040503050406030204" pitchFamily="18" charset="0"/>
                              <a:ea typeface="Cambria Math" panose="02040503050406030204" pitchFamily="18" charset="0"/>
                            </a:rPr>
                            <m:t>)</m:t>
                          </m:r>
                        </m:sub>
                      </m:sSub>
                    </m:oMath>
                  </m:oMathPara>
                </a14:m>
                <a:endParaRPr lang="en-US" dirty="0"/>
              </a:p>
            </p:txBody>
          </p:sp>
        </mc:Choice>
        <mc:Fallback xmlns="">
          <p:sp>
            <p:nvSpPr>
              <p:cNvPr id="11" name="TextBox 10">
                <a:extLst>
                  <a:ext uri="{FF2B5EF4-FFF2-40B4-BE49-F238E27FC236}">
                    <a16:creationId xmlns:a16="http://schemas.microsoft.com/office/drawing/2014/main" id="{D529722F-6B7F-403B-B803-1C5B243307FA}"/>
                  </a:ext>
                </a:extLst>
              </p:cNvPr>
              <p:cNvSpPr txBox="1">
                <a:spLocks noRot="1" noChangeAspect="1" noMove="1" noResize="1" noEditPoints="1" noAdjustHandles="1" noChangeArrowheads="1" noChangeShapeType="1" noTextEdit="1"/>
              </p:cNvSpPr>
              <p:nvPr/>
            </p:nvSpPr>
            <p:spPr>
              <a:xfrm>
                <a:off x="3296308" y="2080472"/>
                <a:ext cx="5175712" cy="303673"/>
              </a:xfrm>
              <a:prstGeom prst="rect">
                <a:avLst/>
              </a:prstGeom>
              <a:blipFill>
                <a:blip r:embed="rId2"/>
                <a:stretch>
                  <a:fillRect l="-589" r="-353"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635677A-3819-4B16-91B4-340B11DDB49D}"/>
                  </a:ext>
                </a:extLst>
              </p:cNvPr>
              <p:cNvSpPr txBox="1"/>
              <p:nvPr/>
            </p:nvSpPr>
            <p:spPr>
              <a:xfrm>
                <a:off x="2235135" y="4500379"/>
                <a:ext cx="5851666" cy="57291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0.4505</m:t>
                      </m:r>
                      <m:r>
                        <a:rPr lang="en-US" b="0" i="1" smtClean="0">
                          <a:latin typeface="Cambria Math" panose="02040503050406030204" pitchFamily="18" charset="0"/>
                        </a:rPr>
                        <m:t>𝑚𝑜𝑙</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𝑚𝑜𝑙</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sub>
                          </m:sSub>
                        </m:num>
                        <m:den>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𝑚𝑜𝑙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𝐶𝑎𝐶𝑙</m:t>
                              </m:r>
                            </m:e>
                            <m:sub>
                              <m:r>
                                <a:rPr lang="en-US" b="0" i="1" smtClean="0">
                                  <a:latin typeface="Cambria Math" panose="02040503050406030204" pitchFamily="18" charset="0"/>
                                  <a:ea typeface="Cambria Math" panose="02040503050406030204" pitchFamily="18" charset="0"/>
                                </a:rPr>
                                <m:t>2</m:t>
                              </m:r>
                            </m:sub>
                          </m:sSub>
                        </m:den>
                      </m:f>
                      <m:r>
                        <a:rPr lang="en-US" b="0" i="1" smtClean="0">
                          <a:latin typeface="Cambria Math" panose="02040503050406030204" pitchFamily="18" charset="0"/>
                          <a:ea typeface="Cambria Math" panose="02040503050406030204" pitchFamily="18" charset="0"/>
                        </a:rPr>
                        <m:t>=</m:t>
                      </m:r>
                      <m:r>
                        <a:rPr lang="en-US" b="0" i="0" smtClean="0">
                          <a:latin typeface="Cambria Math" panose="02040503050406030204" pitchFamily="18" charset="0"/>
                          <a:ea typeface="Cambria Math" panose="02040503050406030204" pitchFamily="18" charset="0"/>
                        </a:rPr>
                        <m:t>0.4505</m:t>
                      </m:r>
                      <m:r>
                        <m:rPr>
                          <m:sty m:val="p"/>
                        </m:rPr>
                        <a:rPr lang="en-US" b="0" i="0" smtClean="0">
                          <a:latin typeface="Cambria Math" panose="02040503050406030204" pitchFamily="18" charset="0"/>
                          <a:ea typeface="Cambria Math" panose="02040503050406030204" pitchFamily="18" charset="0"/>
                        </a:rPr>
                        <m:t>mol</m:t>
                      </m:r>
                      <m:r>
                        <a:rPr lang="en-US" b="0" i="0"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sub>
                      </m:sSub>
                    </m:oMath>
                  </m:oMathPara>
                </a14:m>
                <a:endParaRPr lang="en-US" dirty="0"/>
              </a:p>
            </p:txBody>
          </p:sp>
        </mc:Choice>
        <mc:Fallback xmlns="">
          <p:sp>
            <p:nvSpPr>
              <p:cNvPr id="14" name="TextBox 13">
                <a:extLst>
                  <a:ext uri="{FF2B5EF4-FFF2-40B4-BE49-F238E27FC236}">
                    <a16:creationId xmlns:a16="http://schemas.microsoft.com/office/drawing/2014/main" id="{6635677A-3819-4B16-91B4-340B11DDB49D}"/>
                  </a:ext>
                </a:extLst>
              </p:cNvPr>
              <p:cNvSpPr txBox="1">
                <a:spLocks noRot="1" noChangeAspect="1" noMove="1" noResize="1" noEditPoints="1" noAdjustHandles="1" noChangeArrowheads="1" noChangeShapeType="1" noTextEdit="1"/>
              </p:cNvSpPr>
              <p:nvPr/>
            </p:nvSpPr>
            <p:spPr>
              <a:xfrm>
                <a:off x="2235135" y="4500379"/>
                <a:ext cx="5851666" cy="572914"/>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7BFA5749-7AFB-4DFA-93C9-70FE094ED230}"/>
                  </a:ext>
                </a:extLst>
              </p:cNvPr>
              <p:cNvSpPr txBox="1"/>
              <p:nvPr/>
            </p:nvSpPr>
            <p:spPr>
              <a:xfrm>
                <a:off x="2184448" y="5575132"/>
                <a:ext cx="5953040" cy="52764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1.250</m:t>
                      </m:r>
                      <m:r>
                        <a:rPr lang="en-US" b="0" i="1" smtClean="0">
                          <a:latin typeface="Cambria Math" panose="02040503050406030204" pitchFamily="18" charset="0"/>
                        </a:rPr>
                        <m:t>𝑚𝑜𝑙</m:t>
                      </m:r>
                      <m:r>
                        <a:rPr lang="en-US" b="0" i="1" smtClean="0">
                          <a:latin typeface="Cambria Math" panose="02040503050406030204" pitchFamily="18" charset="0"/>
                        </a:rPr>
                        <m:t> </m:t>
                      </m:r>
                      <m:r>
                        <a:rPr lang="en-US" b="0" i="1" smtClean="0">
                          <a:latin typeface="Cambria Math" panose="02040503050406030204" pitchFamily="18" charset="0"/>
                        </a:rPr>
                        <m:t>𝑁𝑎𝑂𝐻</m:t>
                      </m:r>
                      <m:r>
                        <a:rPr lang="en-US" b="0" i="1" smtClean="0">
                          <a:latin typeface="Cambria Math" panose="02040503050406030204" pitchFamily="18" charset="0"/>
                          <a:ea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1</m:t>
                          </m:r>
                          <m:r>
                            <a:rPr lang="en-US" i="1">
                              <a:latin typeface="Cambria Math" panose="02040503050406030204" pitchFamily="18" charset="0"/>
                              <a:ea typeface="Cambria Math" panose="02040503050406030204" pitchFamily="18" charset="0"/>
                            </a:rPr>
                            <m:t>𝑚𝑜𝑙</m:t>
                          </m:r>
                          <m:r>
                            <a:rPr lang="en-US" i="1">
                              <a:latin typeface="Cambria Math" panose="02040503050406030204" pitchFamily="18" charset="0"/>
                              <a:ea typeface="Cambria Math" panose="02040503050406030204" pitchFamily="18" charset="0"/>
                            </a:rPr>
                            <m:t> </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𝐶𝑎</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𝑂𝐻</m:t>
                              </m:r>
                              <m:r>
                                <a:rPr lang="en-US" i="1">
                                  <a:latin typeface="Cambria Math" panose="02040503050406030204" pitchFamily="18" charset="0"/>
                                  <a:ea typeface="Cambria Math" panose="02040503050406030204" pitchFamily="18" charset="0"/>
                                </a:rPr>
                                <m:t>)</m:t>
                              </m:r>
                            </m:e>
                            <m:sub>
                              <m:r>
                                <a:rPr lang="en-US" i="1">
                                  <a:latin typeface="Cambria Math" panose="02040503050406030204" pitchFamily="18" charset="0"/>
                                  <a:ea typeface="Cambria Math" panose="02040503050406030204" pitchFamily="18" charset="0"/>
                                </a:rPr>
                                <m:t>2</m:t>
                              </m:r>
                            </m:sub>
                          </m:sSub>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𝑚𝑜𝑙</m:t>
                          </m:r>
                          <m:r>
                            <a:rPr lang="en-US" b="0" i="1" smtClean="0">
                              <a:latin typeface="Cambria Math" panose="02040503050406030204" pitchFamily="18" charset="0"/>
                              <a:ea typeface="Cambria Math" panose="02040503050406030204" pitchFamily="18" charset="0"/>
                            </a:rPr>
                            <m:t> </m:t>
                          </m:r>
                          <m:r>
                            <a:rPr lang="en-US" b="0" i="1" smtClean="0">
                              <a:latin typeface="Cambria Math" panose="02040503050406030204" pitchFamily="18" charset="0"/>
                              <a:ea typeface="Cambria Math" panose="02040503050406030204" pitchFamily="18" charset="0"/>
                            </a:rPr>
                            <m:t>𝑁𝑎𝑂𝐻</m:t>
                          </m:r>
                        </m:den>
                      </m:f>
                      <m:r>
                        <a:rPr lang="en-US" b="0" i="0" smtClean="0">
                          <a:latin typeface="Cambria Math" panose="02040503050406030204" pitchFamily="18" charset="0"/>
                          <a:ea typeface="Cambria Math" panose="02040503050406030204" pitchFamily="18" charset="0"/>
                        </a:rPr>
                        <m:t>=0.6250</m:t>
                      </m:r>
                      <m:r>
                        <m:rPr>
                          <m:sty m:val="p"/>
                        </m:rPr>
                        <a:rPr lang="en-US" b="0" i="0" smtClean="0">
                          <a:latin typeface="Cambria Math" panose="02040503050406030204" pitchFamily="18" charset="0"/>
                          <a:ea typeface="Cambria Math" panose="02040503050406030204" pitchFamily="18" charset="0"/>
                        </a:rPr>
                        <m:t>mol</m:t>
                      </m:r>
                      <m:r>
                        <a:rPr lang="en-US" b="0" i="0"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sub>
                      </m:sSub>
                    </m:oMath>
                  </m:oMathPara>
                </a14:m>
                <a:endParaRPr lang="en-US" dirty="0"/>
              </a:p>
            </p:txBody>
          </p:sp>
        </mc:Choice>
        <mc:Fallback xmlns="">
          <p:sp>
            <p:nvSpPr>
              <p:cNvPr id="15" name="TextBox 14">
                <a:extLst>
                  <a:ext uri="{FF2B5EF4-FFF2-40B4-BE49-F238E27FC236}">
                    <a16:creationId xmlns:a16="http://schemas.microsoft.com/office/drawing/2014/main" id="{7BFA5749-7AFB-4DFA-93C9-70FE094ED230}"/>
                  </a:ext>
                </a:extLst>
              </p:cNvPr>
              <p:cNvSpPr txBox="1">
                <a:spLocks noRot="1" noChangeAspect="1" noMove="1" noResize="1" noEditPoints="1" noAdjustHandles="1" noChangeArrowheads="1" noChangeShapeType="1" noTextEdit="1"/>
              </p:cNvSpPr>
              <p:nvPr/>
            </p:nvSpPr>
            <p:spPr>
              <a:xfrm>
                <a:off x="2184448" y="5575132"/>
                <a:ext cx="5953040" cy="527645"/>
              </a:xfrm>
              <a:prstGeom prst="rect">
                <a:avLst/>
              </a:prstGeom>
              <a:blipFill>
                <a:blip r:embed="rId4"/>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6FA2384E-B626-4D6D-ABA0-15353AD1F8FD}"/>
              </a:ext>
            </a:extLst>
          </p:cNvPr>
          <p:cNvSpPr txBox="1"/>
          <p:nvPr/>
        </p:nvSpPr>
        <p:spPr>
          <a:xfrm>
            <a:off x="1024128" y="2502310"/>
            <a:ext cx="9982725" cy="1477328"/>
          </a:xfrm>
          <a:prstGeom prst="rect">
            <a:avLst/>
          </a:prstGeom>
          <a:noFill/>
        </p:spPr>
        <p:txBody>
          <a:bodyPr wrap="square" rtlCol="0">
            <a:spAutoFit/>
          </a:bodyPr>
          <a:lstStyle/>
          <a:p>
            <a:r>
              <a:rPr lang="en-US" dirty="0"/>
              <a:t>With the moles of each reactant determined, you can see how much solid product can be formed, by multiplying by the reaction stoichiometry</a:t>
            </a:r>
          </a:p>
          <a:p>
            <a:r>
              <a:rPr lang="en-US" dirty="0"/>
              <a:t>In this example reaction, for every one mole of CaCl</a:t>
            </a:r>
            <a:r>
              <a:rPr lang="en-US" baseline="-25000" dirty="0"/>
              <a:t>2</a:t>
            </a:r>
            <a:r>
              <a:rPr lang="en-US" dirty="0"/>
              <a:t> that reacts, there will be one mole of Ca(OH)</a:t>
            </a:r>
            <a:r>
              <a:rPr lang="en-US" baseline="-25000" dirty="0"/>
              <a:t>2</a:t>
            </a:r>
            <a:r>
              <a:rPr lang="en-US" dirty="0"/>
              <a:t> produced</a:t>
            </a:r>
          </a:p>
          <a:p>
            <a:r>
              <a:rPr lang="en-US" dirty="0"/>
              <a:t>Likewise, for every two moles of NaOH, there will be only one mole of Ca(OH)</a:t>
            </a:r>
            <a:r>
              <a:rPr lang="en-US" baseline="-25000" dirty="0"/>
              <a:t>2</a:t>
            </a:r>
            <a:r>
              <a:rPr lang="en-US" dirty="0"/>
              <a:t> produced</a:t>
            </a:r>
          </a:p>
        </p:txBody>
      </p:sp>
    </p:spTree>
    <p:extLst>
      <p:ext uri="{BB962C8B-B14F-4D97-AF65-F5344CB8AC3E}">
        <p14:creationId xmlns:p14="http://schemas.microsoft.com/office/powerpoint/2010/main" val="2218349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3CBA91-C241-48D9-8A72-57A4DDBF4332}"/>
              </a:ext>
            </a:extLst>
          </p:cNvPr>
          <p:cNvSpPr>
            <a:spLocks noGrp="1"/>
          </p:cNvSpPr>
          <p:nvPr>
            <p:ph type="title"/>
          </p:nvPr>
        </p:nvSpPr>
        <p:spPr/>
        <p:txBody>
          <a:bodyPr/>
          <a:lstStyle/>
          <a:p>
            <a:r>
              <a:rPr lang="en-US" dirty="0"/>
              <a:t>Limiting reactant</a:t>
            </a:r>
          </a:p>
        </p:txBody>
      </p:sp>
      <p:sp>
        <p:nvSpPr>
          <p:cNvPr id="3" name="Content Placeholder 2">
            <a:extLst>
              <a:ext uri="{FF2B5EF4-FFF2-40B4-BE49-F238E27FC236}">
                <a16:creationId xmlns:a16="http://schemas.microsoft.com/office/drawing/2014/main" id="{8B2BABCD-E02B-40AD-84E6-7B416473949A}"/>
              </a:ext>
            </a:extLst>
          </p:cNvPr>
          <p:cNvSpPr>
            <a:spLocks noGrp="1"/>
          </p:cNvSpPr>
          <p:nvPr>
            <p:ph idx="1"/>
          </p:nvPr>
        </p:nvSpPr>
        <p:spPr>
          <a:xfrm>
            <a:off x="1024127" y="2374230"/>
            <a:ext cx="9720073" cy="1095359"/>
          </a:xfrm>
        </p:spPr>
        <p:txBody>
          <a:bodyPr/>
          <a:lstStyle/>
          <a:p>
            <a:r>
              <a:rPr lang="en-US" dirty="0"/>
              <a:t>An amount of 50.00g CaCl</a:t>
            </a:r>
            <a:r>
              <a:rPr lang="en-US" baseline="-25000" dirty="0"/>
              <a:t>2</a:t>
            </a:r>
            <a:r>
              <a:rPr lang="en-US" dirty="0"/>
              <a:t> will produce 0.4505mols of Ca(OH)</a:t>
            </a:r>
            <a:r>
              <a:rPr lang="en-US" baseline="-25000" dirty="0"/>
              <a:t>2(s) </a:t>
            </a:r>
            <a:r>
              <a:rPr lang="en-US" dirty="0"/>
              <a:t>product</a:t>
            </a:r>
          </a:p>
          <a:p>
            <a:r>
              <a:rPr lang="en-US" dirty="0"/>
              <a:t>An amount of 50.00g NaOH will produce 0.6250mols of Ca(OH)</a:t>
            </a:r>
            <a:r>
              <a:rPr lang="en-US" baseline="-25000" dirty="0"/>
              <a:t>2(s) </a:t>
            </a:r>
            <a:r>
              <a:rPr lang="en-US" dirty="0"/>
              <a:t>product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854596F-700E-4C9A-ACAE-BB44F0AE852C}"/>
                  </a:ext>
                </a:extLst>
              </p:cNvPr>
              <p:cNvSpPr txBox="1"/>
              <p:nvPr/>
            </p:nvSpPr>
            <p:spPr>
              <a:xfrm>
                <a:off x="3296308" y="1881743"/>
                <a:ext cx="5175712"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𝑁𝑎𝑂𝐻</m:t>
                          </m:r>
                        </m:e>
                        <m:sub>
                          <m:r>
                            <a:rPr lang="en-US" b="0" i="1" smtClean="0">
                              <a:latin typeface="Cambria Math" panose="02040503050406030204" pitchFamily="18" charset="0"/>
                            </a:rPr>
                            <m:t>(</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𝑁𝑎𝐶𝑙</m:t>
                          </m:r>
                        </m:e>
                        <m: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𝑎𝑞</m:t>
                          </m:r>
                          <m:r>
                            <a:rPr lang="en-US" b="0" i="1" smtClean="0">
                              <a:latin typeface="Cambria Math" panose="02040503050406030204" pitchFamily="18" charset="0"/>
                              <a:ea typeface="Cambria Math" panose="02040503050406030204" pitchFamily="18" charset="0"/>
                            </a:rPr>
                            <m:t>)</m:t>
                          </m:r>
                        </m:sub>
                      </m:sSub>
                    </m:oMath>
                  </m:oMathPara>
                </a14:m>
                <a:endParaRPr lang="en-US" dirty="0"/>
              </a:p>
            </p:txBody>
          </p:sp>
        </mc:Choice>
        <mc:Fallback xmlns="">
          <p:sp>
            <p:nvSpPr>
              <p:cNvPr id="4" name="TextBox 3">
                <a:extLst>
                  <a:ext uri="{FF2B5EF4-FFF2-40B4-BE49-F238E27FC236}">
                    <a16:creationId xmlns:a16="http://schemas.microsoft.com/office/drawing/2014/main" id="{2854596F-700E-4C9A-ACAE-BB44F0AE852C}"/>
                  </a:ext>
                </a:extLst>
              </p:cNvPr>
              <p:cNvSpPr txBox="1">
                <a:spLocks noRot="1" noChangeAspect="1" noMove="1" noResize="1" noEditPoints="1" noAdjustHandles="1" noChangeArrowheads="1" noChangeShapeType="1" noTextEdit="1"/>
              </p:cNvSpPr>
              <p:nvPr/>
            </p:nvSpPr>
            <p:spPr>
              <a:xfrm>
                <a:off x="3296308" y="1881743"/>
                <a:ext cx="5175712" cy="303673"/>
              </a:xfrm>
              <a:prstGeom prst="rect">
                <a:avLst/>
              </a:prstGeom>
              <a:blipFill>
                <a:blip r:embed="rId2"/>
                <a:stretch>
                  <a:fillRect l="-589" t="-2000" r="-353" b="-26000"/>
                </a:stretch>
              </a:blipFill>
            </p:spPr>
            <p:txBody>
              <a:bodyPr/>
              <a:lstStyle/>
              <a:p>
                <a:r>
                  <a:rPr lang="en-US">
                    <a:noFill/>
                  </a:rPr>
                  <a:t> </a:t>
                </a:r>
              </a:p>
            </p:txBody>
          </p:sp>
        </mc:Fallback>
      </mc:AlternateContent>
      <p:sp>
        <p:nvSpPr>
          <p:cNvPr id="5" name="TextBox 4">
            <a:extLst>
              <a:ext uri="{FF2B5EF4-FFF2-40B4-BE49-F238E27FC236}">
                <a16:creationId xmlns:a16="http://schemas.microsoft.com/office/drawing/2014/main" id="{43B6E55F-345E-4FD1-821B-99956B8DC3AB}"/>
              </a:ext>
            </a:extLst>
          </p:cNvPr>
          <p:cNvSpPr txBox="1"/>
          <p:nvPr/>
        </p:nvSpPr>
        <p:spPr>
          <a:xfrm>
            <a:off x="1116918" y="3469589"/>
            <a:ext cx="9812924" cy="646331"/>
          </a:xfrm>
          <a:prstGeom prst="rect">
            <a:avLst/>
          </a:prstGeom>
          <a:noFill/>
        </p:spPr>
        <p:txBody>
          <a:bodyPr wrap="square" rtlCol="0">
            <a:spAutoFit/>
          </a:bodyPr>
          <a:lstStyle/>
          <a:p>
            <a:r>
              <a:rPr lang="en-US" dirty="0"/>
              <a:t>From these amounts, it is shown that the 50.00g of CaCl</a:t>
            </a:r>
            <a:r>
              <a:rPr lang="en-US" baseline="-25000" dirty="0"/>
              <a:t>2</a:t>
            </a:r>
            <a:r>
              <a:rPr lang="en-US" dirty="0"/>
              <a:t> will produce </a:t>
            </a:r>
            <a:r>
              <a:rPr lang="en-US" i="1" dirty="0"/>
              <a:t>less</a:t>
            </a:r>
            <a:r>
              <a:rPr lang="en-US" dirty="0"/>
              <a:t> product, therefore in this example, the </a:t>
            </a:r>
            <a:r>
              <a:rPr lang="en-US" b="1" dirty="0"/>
              <a:t>CaCl</a:t>
            </a:r>
            <a:r>
              <a:rPr lang="en-US" b="1" baseline="-25000" dirty="0"/>
              <a:t>2</a:t>
            </a:r>
            <a:r>
              <a:rPr lang="en-US" b="1" dirty="0"/>
              <a:t> is the limiting reactant</a:t>
            </a:r>
          </a:p>
        </p:txBody>
      </p:sp>
      <p:sp>
        <p:nvSpPr>
          <p:cNvPr id="6" name="TextBox 5">
            <a:extLst>
              <a:ext uri="{FF2B5EF4-FFF2-40B4-BE49-F238E27FC236}">
                <a16:creationId xmlns:a16="http://schemas.microsoft.com/office/drawing/2014/main" id="{858910A0-4117-4113-B1B7-285C373E1763}"/>
              </a:ext>
            </a:extLst>
          </p:cNvPr>
          <p:cNvSpPr txBox="1"/>
          <p:nvPr/>
        </p:nvSpPr>
        <p:spPr>
          <a:xfrm>
            <a:off x="1024127" y="4372164"/>
            <a:ext cx="8941871" cy="1200329"/>
          </a:xfrm>
          <a:prstGeom prst="rect">
            <a:avLst/>
          </a:prstGeom>
          <a:noFill/>
        </p:spPr>
        <p:txBody>
          <a:bodyPr wrap="none" rtlCol="0">
            <a:spAutoFit/>
          </a:bodyPr>
          <a:lstStyle/>
          <a:p>
            <a:r>
              <a:rPr lang="en-US" dirty="0"/>
              <a:t>With the limiting reactant determined, the following quantities of a  reaction can be figured out</a:t>
            </a:r>
          </a:p>
          <a:p>
            <a:pPr marL="285750" indent="-285750">
              <a:buFont typeface="Arial" panose="020B0604020202020204" pitchFamily="34" charset="0"/>
              <a:buChar char="•"/>
            </a:pPr>
            <a:r>
              <a:rPr lang="en-US" dirty="0"/>
              <a:t>How much product will be formed (Theoretical Yield)</a:t>
            </a:r>
          </a:p>
          <a:p>
            <a:pPr marL="285750" indent="-285750">
              <a:buFont typeface="Arial" panose="020B0604020202020204" pitchFamily="34" charset="0"/>
              <a:buChar char="•"/>
            </a:pPr>
            <a:r>
              <a:rPr lang="en-US" dirty="0"/>
              <a:t>How much excess reactant remains</a:t>
            </a:r>
          </a:p>
          <a:p>
            <a:pPr marL="285750" indent="-285750">
              <a:buFont typeface="Arial" panose="020B0604020202020204" pitchFamily="34" charset="0"/>
              <a:buChar char="•"/>
            </a:pPr>
            <a:r>
              <a:rPr lang="en-US" dirty="0"/>
              <a:t>How much more reactant can be added</a:t>
            </a:r>
          </a:p>
        </p:txBody>
      </p:sp>
    </p:spTree>
    <p:extLst>
      <p:ext uri="{BB962C8B-B14F-4D97-AF65-F5344CB8AC3E}">
        <p14:creationId xmlns:p14="http://schemas.microsoft.com/office/powerpoint/2010/main" val="17499874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5001D-D152-4249-A30A-1A655EA4A7AC}"/>
              </a:ext>
            </a:extLst>
          </p:cNvPr>
          <p:cNvSpPr>
            <a:spLocks noGrp="1"/>
          </p:cNvSpPr>
          <p:nvPr>
            <p:ph type="title"/>
          </p:nvPr>
        </p:nvSpPr>
        <p:spPr>
          <a:xfrm>
            <a:off x="1005933" y="42048"/>
            <a:ext cx="9720072" cy="1499616"/>
          </a:xfrm>
        </p:spPr>
        <p:txBody>
          <a:bodyPr/>
          <a:lstStyle/>
          <a:p>
            <a:r>
              <a:rPr lang="en-US" dirty="0"/>
              <a:t>Limiting reactant - scenarios</a:t>
            </a:r>
          </a:p>
        </p:txBody>
      </p:sp>
      <p:sp>
        <p:nvSpPr>
          <p:cNvPr id="4" name="TextBox 3">
            <a:extLst>
              <a:ext uri="{FF2B5EF4-FFF2-40B4-BE49-F238E27FC236}">
                <a16:creationId xmlns:a16="http://schemas.microsoft.com/office/drawing/2014/main" id="{7DFDCF8F-AD11-4B7B-AA44-FFCC8B8C0D88}"/>
              </a:ext>
            </a:extLst>
          </p:cNvPr>
          <p:cNvSpPr txBox="1"/>
          <p:nvPr/>
        </p:nvSpPr>
        <p:spPr>
          <a:xfrm>
            <a:off x="6251604" y="1696208"/>
            <a:ext cx="6027247" cy="369332"/>
          </a:xfrm>
          <a:prstGeom prst="rect">
            <a:avLst/>
          </a:prstGeom>
          <a:noFill/>
        </p:spPr>
        <p:txBody>
          <a:bodyPr wrap="square" rtlCol="0">
            <a:spAutoFit/>
          </a:bodyPr>
          <a:lstStyle/>
          <a:p>
            <a:r>
              <a:rPr lang="en-US" b="1" u="sng" dirty="0"/>
              <a:t>How much </a:t>
            </a:r>
            <a:r>
              <a:rPr lang="en-US" b="1" i="1" u="sng" dirty="0"/>
              <a:t>excess</a:t>
            </a:r>
            <a:r>
              <a:rPr lang="en-US" b="1" u="sng" dirty="0"/>
              <a:t> reactant is remaining?</a:t>
            </a:r>
          </a:p>
        </p:txBody>
      </p:sp>
      <p:sp>
        <p:nvSpPr>
          <p:cNvPr id="5" name="TextBox 4">
            <a:extLst>
              <a:ext uri="{FF2B5EF4-FFF2-40B4-BE49-F238E27FC236}">
                <a16:creationId xmlns:a16="http://schemas.microsoft.com/office/drawing/2014/main" id="{33DDBE4E-25BF-4696-9F08-DA60122E2DCA}"/>
              </a:ext>
            </a:extLst>
          </p:cNvPr>
          <p:cNvSpPr txBox="1"/>
          <p:nvPr/>
        </p:nvSpPr>
        <p:spPr>
          <a:xfrm>
            <a:off x="524361" y="1869077"/>
            <a:ext cx="3056606" cy="369332"/>
          </a:xfrm>
          <a:prstGeom prst="rect">
            <a:avLst/>
          </a:prstGeom>
          <a:noFill/>
        </p:spPr>
        <p:txBody>
          <a:bodyPr wrap="none" rtlCol="0">
            <a:spAutoFit/>
          </a:bodyPr>
          <a:lstStyle/>
          <a:p>
            <a:r>
              <a:rPr lang="en-US" b="1" u="sng" dirty="0"/>
              <a:t>How much product is formed?</a:t>
            </a:r>
          </a:p>
        </p:txBody>
      </p:sp>
      <p:sp>
        <p:nvSpPr>
          <p:cNvPr id="6" name="TextBox 5">
            <a:extLst>
              <a:ext uri="{FF2B5EF4-FFF2-40B4-BE49-F238E27FC236}">
                <a16:creationId xmlns:a16="http://schemas.microsoft.com/office/drawing/2014/main" id="{7E4A0D4F-36D0-4804-98ED-45477A4C9449}"/>
              </a:ext>
            </a:extLst>
          </p:cNvPr>
          <p:cNvSpPr txBox="1"/>
          <p:nvPr/>
        </p:nvSpPr>
        <p:spPr>
          <a:xfrm>
            <a:off x="6323336" y="5084844"/>
            <a:ext cx="4831259" cy="369332"/>
          </a:xfrm>
          <a:prstGeom prst="rect">
            <a:avLst/>
          </a:prstGeom>
          <a:noFill/>
        </p:spPr>
        <p:txBody>
          <a:bodyPr wrap="square" rtlCol="0">
            <a:spAutoFit/>
          </a:bodyPr>
          <a:lstStyle/>
          <a:p>
            <a:r>
              <a:rPr lang="en-US" b="1" u="sng" dirty="0"/>
              <a:t>How much </a:t>
            </a:r>
            <a:r>
              <a:rPr lang="en-US" b="1" i="1" u="sng" dirty="0"/>
              <a:t>more</a:t>
            </a:r>
            <a:r>
              <a:rPr lang="en-US" b="1" u="sng" dirty="0"/>
              <a:t> limiting reactant is needed?</a:t>
            </a: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124DE86-D01A-4D32-8690-DD5C9C326A14}"/>
                  </a:ext>
                </a:extLst>
              </p:cNvPr>
              <p:cNvSpPr txBox="1"/>
              <p:nvPr/>
            </p:nvSpPr>
            <p:spPr>
              <a:xfrm>
                <a:off x="3100433" y="1164156"/>
                <a:ext cx="5175712"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𝑁𝑎𝑂𝐻</m:t>
                          </m:r>
                        </m:e>
                        <m:sub>
                          <m:r>
                            <a:rPr lang="en-US" b="0" i="1" smtClean="0">
                              <a:latin typeface="Cambria Math" panose="02040503050406030204" pitchFamily="18" charset="0"/>
                            </a:rPr>
                            <m:t>(</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𝑁𝑎𝐶𝑙</m:t>
                          </m:r>
                        </m:e>
                        <m: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𝑎𝑞</m:t>
                          </m:r>
                          <m:r>
                            <a:rPr lang="en-US" b="0" i="1" smtClean="0">
                              <a:latin typeface="Cambria Math" panose="02040503050406030204" pitchFamily="18" charset="0"/>
                              <a:ea typeface="Cambria Math" panose="02040503050406030204" pitchFamily="18" charset="0"/>
                            </a:rPr>
                            <m:t>)</m:t>
                          </m:r>
                        </m:sub>
                      </m:sSub>
                    </m:oMath>
                  </m:oMathPara>
                </a14:m>
                <a:endParaRPr lang="en-US" dirty="0"/>
              </a:p>
            </p:txBody>
          </p:sp>
        </mc:Choice>
        <mc:Fallback xmlns="">
          <p:sp>
            <p:nvSpPr>
              <p:cNvPr id="7" name="TextBox 6">
                <a:extLst>
                  <a:ext uri="{FF2B5EF4-FFF2-40B4-BE49-F238E27FC236}">
                    <a16:creationId xmlns:a16="http://schemas.microsoft.com/office/drawing/2014/main" id="{0124DE86-D01A-4D32-8690-DD5C9C326A14}"/>
                  </a:ext>
                </a:extLst>
              </p:cNvPr>
              <p:cNvSpPr txBox="1">
                <a:spLocks noRot="1" noChangeAspect="1" noMove="1" noResize="1" noEditPoints="1" noAdjustHandles="1" noChangeArrowheads="1" noChangeShapeType="1" noTextEdit="1"/>
              </p:cNvSpPr>
              <p:nvPr/>
            </p:nvSpPr>
            <p:spPr>
              <a:xfrm>
                <a:off x="3100433" y="1164156"/>
                <a:ext cx="5175712" cy="303673"/>
              </a:xfrm>
              <a:prstGeom prst="rect">
                <a:avLst/>
              </a:prstGeom>
              <a:blipFill>
                <a:blip r:embed="rId2"/>
                <a:stretch>
                  <a:fillRect l="-589" r="-353" b="-26000"/>
                </a:stretch>
              </a:blipFill>
            </p:spPr>
            <p:txBody>
              <a:bodyPr/>
              <a:lstStyle/>
              <a:p>
                <a:r>
                  <a:rPr lang="en-US">
                    <a:noFill/>
                  </a:rPr>
                  <a:t> </a:t>
                </a:r>
              </a:p>
            </p:txBody>
          </p:sp>
        </mc:Fallback>
      </mc:AlternateContent>
      <p:sp>
        <p:nvSpPr>
          <p:cNvPr id="9" name="TextBox 8">
            <a:extLst>
              <a:ext uri="{FF2B5EF4-FFF2-40B4-BE49-F238E27FC236}">
                <a16:creationId xmlns:a16="http://schemas.microsoft.com/office/drawing/2014/main" id="{A4827CCE-62DA-411F-AB85-F18A4BDEB69D}"/>
              </a:ext>
            </a:extLst>
          </p:cNvPr>
          <p:cNvSpPr txBox="1"/>
          <p:nvPr/>
        </p:nvSpPr>
        <p:spPr>
          <a:xfrm>
            <a:off x="260645" y="2230439"/>
            <a:ext cx="3675664" cy="1200329"/>
          </a:xfrm>
          <a:prstGeom prst="rect">
            <a:avLst/>
          </a:prstGeom>
          <a:noFill/>
        </p:spPr>
        <p:txBody>
          <a:bodyPr wrap="square" rtlCol="0">
            <a:spAutoFit/>
          </a:bodyPr>
          <a:lstStyle/>
          <a:p>
            <a:r>
              <a:rPr lang="en-US" dirty="0"/>
              <a:t>To determine how much product is formed, you find the amount that would be generated by the limiting reactant.</a:t>
            </a:r>
          </a:p>
        </p:txBody>
      </p:sp>
      <p:sp>
        <p:nvSpPr>
          <p:cNvPr id="10" name="TextBox 9">
            <a:extLst>
              <a:ext uri="{FF2B5EF4-FFF2-40B4-BE49-F238E27FC236}">
                <a16:creationId xmlns:a16="http://schemas.microsoft.com/office/drawing/2014/main" id="{7F78E056-66FE-4484-957F-86777B210A6D}"/>
              </a:ext>
            </a:extLst>
          </p:cNvPr>
          <p:cNvSpPr txBox="1"/>
          <p:nvPr/>
        </p:nvSpPr>
        <p:spPr>
          <a:xfrm>
            <a:off x="214832" y="3477815"/>
            <a:ext cx="3675664" cy="646331"/>
          </a:xfrm>
          <a:prstGeom prst="rect">
            <a:avLst/>
          </a:prstGeom>
          <a:noFill/>
        </p:spPr>
        <p:txBody>
          <a:bodyPr wrap="square" rtlCol="0">
            <a:spAutoFit/>
          </a:bodyPr>
          <a:lstStyle/>
          <a:p>
            <a:r>
              <a:rPr lang="en-US" dirty="0"/>
              <a:t>In this example, 0.4505mol of Ca(OH)</a:t>
            </a:r>
            <a:r>
              <a:rPr lang="en-US" baseline="-25000" dirty="0"/>
              <a:t>2(s)</a:t>
            </a:r>
            <a:r>
              <a:rPr lang="en-US" dirty="0"/>
              <a:t> is formed</a:t>
            </a:r>
          </a:p>
        </p:txBody>
      </p:sp>
      <p:sp>
        <p:nvSpPr>
          <p:cNvPr id="11" name="TextBox 10">
            <a:extLst>
              <a:ext uri="{FF2B5EF4-FFF2-40B4-BE49-F238E27FC236}">
                <a16:creationId xmlns:a16="http://schemas.microsoft.com/office/drawing/2014/main" id="{1576E8A0-0A3D-430D-97A3-71183070F571}"/>
              </a:ext>
            </a:extLst>
          </p:cNvPr>
          <p:cNvSpPr txBox="1"/>
          <p:nvPr/>
        </p:nvSpPr>
        <p:spPr>
          <a:xfrm>
            <a:off x="115626" y="4385616"/>
            <a:ext cx="3965701" cy="923330"/>
          </a:xfrm>
          <a:prstGeom prst="rect">
            <a:avLst/>
          </a:prstGeom>
          <a:noFill/>
        </p:spPr>
        <p:txBody>
          <a:bodyPr wrap="square" rtlCol="0">
            <a:spAutoFit/>
          </a:bodyPr>
          <a:lstStyle/>
          <a:p>
            <a:r>
              <a:rPr lang="en-US" dirty="0"/>
              <a:t>Using the Molecular Mass of Ca(OH)</a:t>
            </a:r>
            <a:r>
              <a:rPr lang="en-US" baseline="-25000" dirty="0"/>
              <a:t>2</a:t>
            </a:r>
            <a:r>
              <a:rPr lang="en-US" dirty="0"/>
              <a:t>, the actual amount of product can be determined</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648EBB85-4441-468D-957C-FA48D3E715D5}"/>
                  </a:ext>
                </a:extLst>
              </p:cNvPr>
              <p:cNvSpPr txBox="1"/>
              <p:nvPr/>
            </p:nvSpPr>
            <p:spPr>
              <a:xfrm>
                <a:off x="21946" y="5668634"/>
                <a:ext cx="4436599" cy="462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0.4505</m:t>
                      </m:r>
                      <m:r>
                        <a:rPr lang="en-US" sz="1600" b="0" i="1" smtClean="0">
                          <a:latin typeface="Cambria Math" panose="02040503050406030204" pitchFamily="18" charset="0"/>
                        </a:rPr>
                        <m:t>𝑚𝑜𝑙</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𝐶𝑎</m:t>
                          </m:r>
                          <m:r>
                            <a:rPr lang="en-US" sz="1600" b="0" i="1" smtClean="0">
                              <a:latin typeface="Cambria Math" panose="02040503050406030204" pitchFamily="18" charset="0"/>
                            </a:rPr>
                            <m:t>(</m:t>
                          </m:r>
                          <m:r>
                            <a:rPr lang="en-US" sz="1600" b="0" i="1" smtClean="0">
                              <a:latin typeface="Cambria Math" panose="02040503050406030204" pitchFamily="18" charset="0"/>
                            </a:rPr>
                            <m:t>𝑂𝐻</m:t>
                          </m:r>
                          <m:r>
                            <a:rPr lang="en-US" sz="1600" b="0" i="1" smtClean="0">
                              <a:latin typeface="Cambria Math" panose="02040503050406030204" pitchFamily="18" charset="0"/>
                            </a:rPr>
                            <m:t>)</m:t>
                          </m:r>
                        </m:e>
                        <m:sub>
                          <m:r>
                            <a:rPr lang="en-US" sz="1600" b="0" i="1" smtClean="0">
                              <a:latin typeface="Cambria Math" panose="02040503050406030204" pitchFamily="18" charset="0"/>
                            </a:rPr>
                            <m:t>2</m:t>
                          </m:r>
                        </m:sub>
                      </m:sSub>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74.09</m:t>
                          </m:r>
                          <m:r>
                            <a:rPr lang="en-US" sz="1600" b="0" i="1" smtClean="0">
                              <a:latin typeface="Cambria Math" panose="02040503050406030204" pitchFamily="18" charset="0"/>
                              <a:ea typeface="Cambria Math" panose="02040503050406030204" pitchFamily="18" charset="0"/>
                            </a:rPr>
                            <m:t>𝑔</m:t>
                          </m:r>
                        </m:num>
                        <m:den>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𝑚𝑜𝑙</m:t>
                          </m:r>
                        </m:den>
                      </m:f>
                      <m:r>
                        <a:rPr lang="en-US" sz="1600" b="0" i="1" smtClean="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33.38</m:t>
                      </m:r>
                      <m:r>
                        <m:rPr>
                          <m:sty m:val="p"/>
                        </m:rPr>
                        <a:rPr lang="en-US" sz="1600" b="0" i="0" smtClean="0">
                          <a:latin typeface="Cambria Math" panose="02040503050406030204" pitchFamily="18" charset="0"/>
                          <a:ea typeface="Cambria Math" panose="02040503050406030204" pitchFamily="18" charset="0"/>
                        </a:rPr>
                        <m:t>g</m:t>
                      </m:r>
                      <m:r>
                        <a:rPr lang="en-US" sz="1600" b="0" i="0"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𝐶𝑎</m:t>
                          </m:r>
                          <m:r>
                            <a:rPr lang="en-US" sz="1600" b="0" i="1" smtClean="0">
                              <a:latin typeface="Cambria Math" panose="02040503050406030204" pitchFamily="18" charset="0"/>
                              <a:ea typeface="Cambria Math" panose="02040503050406030204" pitchFamily="18" charset="0"/>
                            </a:rPr>
                            <m:t>(</m:t>
                          </m:r>
                          <m:r>
                            <a:rPr lang="en-US" sz="1600" b="0" i="1" smtClean="0">
                              <a:latin typeface="Cambria Math" panose="02040503050406030204" pitchFamily="18" charset="0"/>
                              <a:ea typeface="Cambria Math" panose="02040503050406030204" pitchFamily="18" charset="0"/>
                            </a:rPr>
                            <m:t>𝑂𝐻</m:t>
                          </m:r>
                          <m:r>
                            <a:rPr lang="en-US" sz="1600" b="0" i="1" smtClean="0">
                              <a:latin typeface="Cambria Math" panose="02040503050406030204" pitchFamily="18" charset="0"/>
                              <a:ea typeface="Cambria Math" panose="02040503050406030204" pitchFamily="18" charset="0"/>
                            </a:rPr>
                            <m:t>)</m:t>
                          </m:r>
                        </m:e>
                        <m:sub>
                          <m:r>
                            <a:rPr lang="en-US" sz="1600" b="0" i="1" smtClean="0">
                              <a:latin typeface="Cambria Math" panose="02040503050406030204" pitchFamily="18" charset="0"/>
                              <a:ea typeface="Cambria Math" panose="02040503050406030204" pitchFamily="18" charset="0"/>
                            </a:rPr>
                            <m:t>2</m:t>
                          </m:r>
                        </m:sub>
                      </m:sSub>
                    </m:oMath>
                  </m:oMathPara>
                </a14:m>
                <a:endParaRPr lang="en-US" sz="1600" dirty="0"/>
              </a:p>
            </p:txBody>
          </p:sp>
        </mc:Choice>
        <mc:Fallback xmlns="">
          <p:sp>
            <p:nvSpPr>
              <p:cNvPr id="12" name="TextBox 11">
                <a:extLst>
                  <a:ext uri="{FF2B5EF4-FFF2-40B4-BE49-F238E27FC236}">
                    <a16:creationId xmlns:a16="http://schemas.microsoft.com/office/drawing/2014/main" id="{648EBB85-4441-468D-957C-FA48D3E715D5}"/>
                  </a:ext>
                </a:extLst>
              </p:cNvPr>
              <p:cNvSpPr txBox="1">
                <a:spLocks noRot="1" noChangeAspect="1" noMove="1" noResize="1" noEditPoints="1" noAdjustHandles="1" noChangeArrowheads="1" noChangeShapeType="1" noTextEdit="1"/>
              </p:cNvSpPr>
              <p:nvPr/>
            </p:nvSpPr>
            <p:spPr>
              <a:xfrm>
                <a:off x="21946" y="5668634"/>
                <a:ext cx="4436599" cy="462691"/>
              </a:xfrm>
              <a:prstGeom prst="rect">
                <a:avLst/>
              </a:prstGeom>
              <a:blipFill>
                <a:blip r:embed="rId3"/>
                <a:stretch>
                  <a:fillRect/>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BE31C3E-E6A0-4B1D-A673-A07AE8B4A2BE}"/>
              </a:ext>
            </a:extLst>
          </p:cNvPr>
          <p:cNvSpPr txBox="1"/>
          <p:nvPr/>
        </p:nvSpPr>
        <p:spPr>
          <a:xfrm>
            <a:off x="4478246" y="2053743"/>
            <a:ext cx="7595797" cy="646331"/>
          </a:xfrm>
          <a:prstGeom prst="rect">
            <a:avLst/>
          </a:prstGeom>
          <a:noFill/>
        </p:spPr>
        <p:txBody>
          <a:bodyPr wrap="square" rtlCol="0">
            <a:spAutoFit/>
          </a:bodyPr>
          <a:lstStyle/>
          <a:p>
            <a:r>
              <a:rPr lang="en-US" dirty="0"/>
              <a:t>Just as with determining the amount of product, the stoichiometry from the limiting reactant can be used to determine the amounts of each reactant or product</a:t>
            </a:r>
          </a:p>
        </p:txBody>
      </p:sp>
      <p:sp>
        <p:nvSpPr>
          <p:cNvPr id="14" name="TextBox 13">
            <a:extLst>
              <a:ext uri="{FF2B5EF4-FFF2-40B4-BE49-F238E27FC236}">
                <a16:creationId xmlns:a16="http://schemas.microsoft.com/office/drawing/2014/main" id="{381004CF-7583-4452-AAFF-1847586F3EA9}"/>
              </a:ext>
            </a:extLst>
          </p:cNvPr>
          <p:cNvSpPr txBox="1"/>
          <p:nvPr/>
        </p:nvSpPr>
        <p:spPr>
          <a:xfrm>
            <a:off x="6533521" y="2751123"/>
            <a:ext cx="3652923" cy="369332"/>
          </a:xfrm>
          <a:prstGeom prst="rect">
            <a:avLst/>
          </a:prstGeom>
          <a:noFill/>
        </p:spPr>
        <p:txBody>
          <a:bodyPr wrap="none" rtlCol="0">
            <a:spAutoFit/>
          </a:bodyPr>
          <a:lstStyle/>
          <a:p>
            <a:r>
              <a:rPr lang="en-US" dirty="0"/>
              <a:t>CaCl</a:t>
            </a:r>
            <a:r>
              <a:rPr lang="en-US" baseline="-25000" dirty="0"/>
              <a:t>2</a:t>
            </a:r>
            <a:r>
              <a:rPr lang="en-US" dirty="0"/>
              <a:t> and NaOH react in a 1:2 ratio</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3267545-7B2E-43F1-822A-2068DBC1392D}"/>
                  </a:ext>
                </a:extLst>
              </p:cNvPr>
              <p:cNvSpPr txBox="1"/>
              <p:nvPr/>
            </p:nvSpPr>
            <p:spPr>
              <a:xfrm>
                <a:off x="4478246" y="3184034"/>
                <a:ext cx="5467971" cy="50776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0.4505</m:t>
                      </m:r>
                      <m:r>
                        <a:rPr lang="en-US" sz="1600" b="0" i="1" smtClean="0">
                          <a:latin typeface="Cambria Math" panose="02040503050406030204" pitchFamily="18" charset="0"/>
                        </a:rPr>
                        <m:t>𝑚𝑜𝑙</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𝐶𝑎𝐶𝑙</m:t>
                          </m:r>
                        </m:e>
                        <m:sub>
                          <m:r>
                            <a:rPr lang="en-US" sz="1600" b="0" i="1" smtClean="0">
                              <a:latin typeface="Cambria Math" panose="02040503050406030204" pitchFamily="18" charset="0"/>
                            </a:rPr>
                            <m:t>2</m:t>
                          </m:r>
                        </m:sub>
                      </m:sSub>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𝑚𝑜𝑙</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𝑁𝑎𝑂𝐻</m:t>
                          </m:r>
                        </m:num>
                        <m:den>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𝑚𝑜𝑙</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𝐶𝑎𝐶𝑙</m:t>
                              </m:r>
                            </m:e>
                            <m:sub>
                              <m:r>
                                <a:rPr lang="en-US" sz="1600" b="0" i="1" smtClean="0">
                                  <a:latin typeface="Cambria Math" panose="02040503050406030204" pitchFamily="18" charset="0"/>
                                  <a:ea typeface="Cambria Math" panose="02040503050406030204" pitchFamily="18" charset="0"/>
                                </a:rPr>
                                <m:t>2</m:t>
                              </m:r>
                            </m:sub>
                          </m:sSub>
                        </m:den>
                      </m:f>
                      <m:r>
                        <a:rPr lang="en-US" sz="1600" b="0" i="1" smtClean="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0.9010</m:t>
                      </m:r>
                      <m:r>
                        <m:rPr>
                          <m:sty m:val="p"/>
                        </m:rPr>
                        <a:rPr lang="en-US" sz="1600" b="0" i="0" smtClean="0">
                          <a:latin typeface="Cambria Math" panose="02040503050406030204" pitchFamily="18" charset="0"/>
                          <a:ea typeface="Cambria Math" panose="02040503050406030204" pitchFamily="18" charset="0"/>
                        </a:rPr>
                        <m:t>mol</m:t>
                      </m:r>
                      <m:r>
                        <a:rPr lang="en-US" sz="1600" b="0" i="0"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𝑁𝑎𝑂𝐻</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𝑟𝑒𝑎𝑐𝑡𝑒𝑑</m:t>
                      </m:r>
                    </m:oMath>
                  </m:oMathPara>
                </a14:m>
                <a:endParaRPr lang="en-US" sz="1600" dirty="0"/>
              </a:p>
            </p:txBody>
          </p:sp>
        </mc:Choice>
        <mc:Fallback xmlns="">
          <p:sp>
            <p:nvSpPr>
              <p:cNvPr id="15" name="TextBox 14">
                <a:extLst>
                  <a:ext uri="{FF2B5EF4-FFF2-40B4-BE49-F238E27FC236}">
                    <a16:creationId xmlns:a16="http://schemas.microsoft.com/office/drawing/2014/main" id="{33267545-7B2E-43F1-822A-2068DBC1392D}"/>
                  </a:ext>
                </a:extLst>
              </p:cNvPr>
              <p:cNvSpPr txBox="1">
                <a:spLocks noRot="1" noChangeAspect="1" noMove="1" noResize="1" noEditPoints="1" noAdjustHandles="1" noChangeArrowheads="1" noChangeShapeType="1" noTextEdit="1"/>
              </p:cNvSpPr>
              <p:nvPr/>
            </p:nvSpPr>
            <p:spPr>
              <a:xfrm>
                <a:off x="4478246" y="3184034"/>
                <a:ext cx="5467971" cy="50776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4981AD1-FCBA-4BEE-A679-9E983A3E3315}"/>
                  </a:ext>
                </a:extLst>
              </p:cNvPr>
              <p:cNvSpPr txBox="1"/>
              <p:nvPr/>
            </p:nvSpPr>
            <p:spPr>
              <a:xfrm>
                <a:off x="6629377" y="3820583"/>
                <a:ext cx="4831259" cy="4676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0.9010</m:t>
                      </m:r>
                      <m:r>
                        <a:rPr lang="en-US" sz="1600" b="0" i="1" smtClean="0">
                          <a:latin typeface="Cambria Math" panose="02040503050406030204" pitchFamily="18" charset="0"/>
                        </a:rPr>
                        <m:t>𝑚𝑜𝑙</m:t>
                      </m:r>
                      <m:r>
                        <a:rPr lang="en-US" sz="1600" b="0" i="1" smtClean="0">
                          <a:latin typeface="Cambria Math" panose="02040503050406030204" pitchFamily="18" charset="0"/>
                        </a:rPr>
                        <m:t> </m:t>
                      </m:r>
                      <m:r>
                        <a:rPr lang="en-US" sz="1600" b="0" i="1" smtClean="0">
                          <a:latin typeface="Cambria Math" panose="02040503050406030204" pitchFamily="18" charset="0"/>
                        </a:rPr>
                        <m:t>𝑁𝑎𝑂𝐻</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39.995</m:t>
                          </m:r>
                          <m:r>
                            <a:rPr lang="en-US" sz="1600" b="0" i="1" smtClean="0">
                              <a:latin typeface="Cambria Math" panose="02040503050406030204" pitchFamily="18" charset="0"/>
                              <a:ea typeface="Cambria Math" panose="02040503050406030204" pitchFamily="18" charset="0"/>
                            </a:rPr>
                            <m:t>𝑔</m:t>
                          </m:r>
                        </m:num>
                        <m:den>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𝑚𝑜𝑙</m:t>
                          </m:r>
                        </m:den>
                      </m:f>
                      <m:r>
                        <a:rPr lang="en-US" sz="1600" b="0" i="1" smtClean="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36.04</m:t>
                      </m:r>
                      <m:r>
                        <m:rPr>
                          <m:sty m:val="p"/>
                        </m:rPr>
                        <a:rPr lang="en-US" sz="1600" b="0" i="0" smtClean="0">
                          <a:latin typeface="Cambria Math" panose="02040503050406030204" pitchFamily="18" charset="0"/>
                          <a:ea typeface="Cambria Math" panose="02040503050406030204" pitchFamily="18" charset="0"/>
                        </a:rPr>
                        <m:t>g</m:t>
                      </m:r>
                      <m:r>
                        <a:rPr lang="en-US" sz="1600" b="0" i="0"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𝑁𝑎𝑂𝐻</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𝑟𝑒𝑎𝑐𝑡𝑒𝑑</m:t>
                      </m:r>
                    </m:oMath>
                  </m:oMathPara>
                </a14:m>
                <a:endParaRPr lang="en-US" sz="1600" dirty="0"/>
              </a:p>
            </p:txBody>
          </p:sp>
        </mc:Choice>
        <mc:Fallback xmlns="">
          <p:sp>
            <p:nvSpPr>
              <p:cNvPr id="16" name="TextBox 15">
                <a:extLst>
                  <a:ext uri="{FF2B5EF4-FFF2-40B4-BE49-F238E27FC236}">
                    <a16:creationId xmlns:a16="http://schemas.microsoft.com/office/drawing/2014/main" id="{E4981AD1-FCBA-4BEE-A679-9E983A3E3315}"/>
                  </a:ext>
                </a:extLst>
              </p:cNvPr>
              <p:cNvSpPr txBox="1">
                <a:spLocks noRot="1" noChangeAspect="1" noMove="1" noResize="1" noEditPoints="1" noAdjustHandles="1" noChangeArrowheads="1" noChangeShapeType="1" noTextEdit="1"/>
              </p:cNvSpPr>
              <p:nvPr/>
            </p:nvSpPr>
            <p:spPr>
              <a:xfrm>
                <a:off x="6629377" y="3820583"/>
                <a:ext cx="4831259" cy="46769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TextBox 16">
                <a:extLst>
                  <a:ext uri="{FF2B5EF4-FFF2-40B4-BE49-F238E27FC236}">
                    <a16:creationId xmlns:a16="http://schemas.microsoft.com/office/drawing/2014/main" id="{5FAE5B76-A4C3-4174-B2D1-2DCEFB3A9268}"/>
                  </a:ext>
                </a:extLst>
              </p:cNvPr>
              <p:cNvSpPr txBox="1"/>
              <p:nvPr/>
            </p:nvSpPr>
            <p:spPr>
              <a:xfrm>
                <a:off x="4775988" y="4370023"/>
                <a:ext cx="3515065"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50.00</m:t>
                      </m:r>
                      <m:r>
                        <a:rPr lang="en-US" sz="1600" b="0" i="1" smtClean="0">
                          <a:latin typeface="Cambria Math" panose="02040503050406030204" pitchFamily="18" charset="0"/>
                        </a:rPr>
                        <m:t>𝑔</m:t>
                      </m:r>
                      <m:r>
                        <a:rPr lang="en-US" sz="1600" b="0" i="1" smtClean="0">
                          <a:latin typeface="Cambria Math" panose="02040503050406030204" pitchFamily="18" charset="0"/>
                        </a:rPr>
                        <m:t> −36.04</m:t>
                      </m:r>
                      <m:r>
                        <a:rPr lang="en-US" sz="1600" b="0" i="1" smtClean="0">
                          <a:latin typeface="Cambria Math" panose="02040503050406030204" pitchFamily="18" charset="0"/>
                        </a:rPr>
                        <m:t>𝑔</m:t>
                      </m:r>
                      <m:r>
                        <a:rPr lang="en-US" sz="1600" b="0" i="1" smtClean="0">
                          <a:latin typeface="Cambria Math" panose="02040503050406030204" pitchFamily="18" charset="0"/>
                        </a:rPr>
                        <m:t>=13.96</m:t>
                      </m:r>
                      <m:r>
                        <a:rPr lang="en-US" sz="1600" b="0" i="1" smtClean="0">
                          <a:latin typeface="Cambria Math" panose="02040503050406030204" pitchFamily="18" charset="0"/>
                        </a:rPr>
                        <m:t>𝑔</m:t>
                      </m:r>
                      <m:r>
                        <a:rPr lang="en-US" sz="1600" b="0" i="1" smtClean="0">
                          <a:latin typeface="Cambria Math" panose="02040503050406030204" pitchFamily="18" charset="0"/>
                        </a:rPr>
                        <m:t> </m:t>
                      </m:r>
                      <m:r>
                        <a:rPr lang="en-US" sz="1600" b="0" i="1" smtClean="0">
                          <a:latin typeface="Cambria Math" panose="02040503050406030204" pitchFamily="18" charset="0"/>
                        </a:rPr>
                        <m:t>𝑟𝑒𝑚𝑎𝑖𝑛𝑖𝑛𝑔</m:t>
                      </m:r>
                    </m:oMath>
                  </m:oMathPara>
                </a14:m>
                <a:endParaRPr lang="en-US" sz="1600" dirty="0"/>
              </a:p>
            </p:txBody>
          </p:sp>
        </mc:Choice>
        <mc:Fallback xmlns="">
          <p:sp>
            <p:nvSpPr>
              <p:cNvPr id="17" name="TextBox 16">
                <a:extLst>
                  <a:ext uri="{FF2B5EF4-FFF2-40B4-BE49-F238E27FC236}">
                    <a16:creationId xmlns:a16="http://schemas.microsoft.com/office/drawing/2014/main" id="{5FAE5B76-A4C3-4174-B2D1-2DCEFB3A9268}"/>
                  </a:ext>
                </a:extLst>
              </p:cNvPr>
              <p:cNvSpPr txBox="1">
                <a:spLocks noRot="1" noChangeAspect="1" noMove="1" noResize="1" noEditPoints="1" noAdjustHandles="1" noChangeArrowheads="1" noChangeShapeType="1" noTextEdit="1"/>
              </p:cNvSpPr>
              <p:nvPr/>
            </p:nvSpPr>
            <p:spPr>
              <a:xfrm>
                <a:off x="4775988" y="4370023"/>
                <a:ext cx="3515065" cy="246221"/>
              </a:xfrm>
              <a:prstGeom prst="rect">
                <a:avLst/>
              </a:prstGeom>
              <a:blipFill>
                <a:blip r:embed="rId6"/>
                <a:stretch>
                  <a:fillRect l="-867" r="-1040"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EDEED986-BB81-4C7F-8A08-E940709BC7BE}"/>
                  </a:ext>
                </a:extLst>
              </p:cNvPr>
              <p:cNvSpPr txBox="1"/>
              <p:nvPr/>
            </p:nvSpPr>
            <p:spPr>
              <a:xfrm>
                <a:off x="6878737" y="4724170"/>
                <a:ext cx="4410566" cy="24622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1.250</m:t>
                      </m:r>
                      <m:r>
                        <a:rPr lang="en-US" sz="1600" b="0" i="1" smtClean="0">
                          <a:latin typeface="Cambria Math" panose="02040503050406030204" pitchFamily="18" charset="0"/>
                        </a:rPr>
                        <m:t>𝑚𝑜𝑙</m:t>
                      </m:r>
                      <m:r>
                        <a:rPr lang="en-US" sz="1600" b="0" i="1" smtClean="0">
                          <a:latin typeface="Cambria Math" panose="02040503050406030204" pitchFamily="18" charset="0"/>
                        </a:rPr>
                        <m:t> −0.9010</m:t>
                      </m:r>
                      <m:r>
                        <a:rPr lang="en-US" sz="1600" b="0" i="1" smtClean="0">
                          <a:latin typeface="Cambria Math" panose="02040503050406030204" pitchFamily="18" charset="0"/>
                        </a:rPr>
                        <m:t>𝑚𝑜𝑙</m:t>
                      </m:r>
                      <m:r>
                        <a:rPr lang="en-US" sz="1600" b="0" i="1" smtClean="0">
                          <a:latin typeface="Cambria Math" panose="02040503050406030204" pitchFamily="18" charset="0"/>
                        </a:rPr>
                        <m:t>=0.3490</m:t>
                      </m:r>
                      <m:r>
                        <a:rPr lang="en-US" sz="1600" b="0" i="1" smtClean="0">
                          <a:latin typeface="Cambria Math" panose="02040503050406030204" pitchFamily="18" charset="0"/>
                        </a:rPr>
                        <m:t>𝑚𝑜𝑙</m:t>
                      </m:r>
                      <m:r>
                        <a:rPr lang="en-US" sz="1600" b="0" i="1" smtClean="0">
                          <a:latin typeface="Cambria Math" panose="02040503050406030204" pitchFamily="18" charset="0"/>
                        </a:rPr>
                        <m:t> </m:t>
                      </m:r>
                      <m:r>
                        <a:rPr lang="en-US" sz="1600" b="0" i="1" smtClean="0">
                          <a:latin typeface="Cambria Math" panose="02040503050406030204" pitchFamily="18" charset="0"/>
                        </a:rPr>
                        <m:t>𝑟𝑒𝑚𝑎𝑖𝑛𝑖𝑛𝑔</m:t>
                      </m:r>
                    </m:oMath>
                  </m:oMathPara>
                </a14:m>
                <a:endParaRPr lang="en-US" sz="1600" dirty="0"/>
              </a:p>
            </p:txBody>
          </p:sp>
        </mc:Choice>
        <mc:Fallback xmlns="">
          <p:sp>
            <p:nvSpPr>
              <p:cNvPr id="18" name="TextBox 17">
                <a:extLst>
                  <a:ext uri="{FF2B5EF4-FFF2-40B4-BE49-F238E27FC236}">
                    <a16:creationId xmlns:a16="http://schemas.microsoft.com/office/drawing/2014/main" id="{EDEED986-BB81-4C7F-8A08-E940709BC7BE}"/>
                  </a:ext>
                </a:extLst>
              </p:cNvPr>
              <p:cNvSpPr txBox="1">
                <a:spLocks noRot="1" noChangeAspect="1" noMove="1" noResize="1" noEditPoints="1" noAdjustHandles="1" noChangeArrowheads="1" noChangeShapeType="1" noTextEdit="1"/>
              </p:cNvSpPr>
              <p:nvPr/>
            </p:nvSpPr>
            <p:spPr>
              <a:xfrm>
                <a:off x="6878737" y="4724170"/>
                <a:ext cx="4410566" cy="246221"/>
              </a:xfrm>
              <a:prstGeom prst="rect">
                <a:avLst/>
              </a:prstGeom>
              <a:blipFill>
                <a:blip r:embed="rId7"/>
                <a:stretch>
                  <a:fillRect l="-414" r="-691" b="-35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06B92D7E-CB02-4B9D-98B8-72BE178E42BE}"/>
                  </a:ext>
                </a:extLst>
              </p:cNvPr>
              <p:cNvSpPr txBox="1"/>
              <p:nvPr/>
            </p:nvSpPr>
            <p:spPr>
              <a:xfrm>
                <a:off x="5567005" y="5522612"/>
                <a:ext cx="5418278" cy="46756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0.3490</m:t>
                      </m:r>
                      <m:r>
                        <a:rPr lang="en-US" sz="1600" b="0" i="1" smtClean="0">
                          <a:latin typeface="Cambria Math" panose="02040503050406030204" pitchFamily="18" charset="0"/>
                        </a:rPr>
                        <m:t>𝑚𝑜𝑙</m:t>
                      </m:r>
                      <m:r>
                        <a:rPr lang="en-US" sz="1600" b="0" i="1" smtClean="0">
                          <a:latin typeface="Cambria Math" panose="02040503050406030204" pitchFamily="18" charset="0"/>
                        </a:rPr>
                        <m:t> </m:t>
                      </m:r>
                      <m:r>
                        <a:rPr lang="en-US" sz="1600" b="0" i="1" smtClean="0">
                          <a:latin typeface="Cambria Math" panose="02040503050406030204" pitchFamily="18" charset="0"/>
                        </a:rPr>
                        <m:t>𝑁𝑎𝑂𝐻</m:t>
                      </m:r>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𝑚𝑜𝑙</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𝐶𝑎𝐶𝑙</m:t>
                              </m:r>
                            </m:e>
                            <m:sub>
                              <m:r>
                                <a:rPr lang="en-US" sz="1600" b="0" i="1" smtClean="0">
                                  <a:latin typeface="Cambria Math" panose="02040503050406030204" pitchFamily="18" charset="0"/>
                                  <a:ea typeface="Cambria Math" panose="02040503050406030204" pitchFamily="18" charset="0"/>
                                </a:rPr>
                                <m:t>2</m:t>
                              </m:r>
                            </m:sub>
                          </m:sSub>
                        </m:num>
                        <m:den>
                          <m:r>
                            <a:rPr lang="en-US" sz="1600" b="0" i="1" smtClean="0">
                              <a:latin typeface="Cambria Math" panose="02040503050406030204" pitchFamily="18" charset="0"/>
                              <a:ea typeface="Cambria Math" panose="02040503050406030204" pitchFamily="18" charset="0"/>
                            </a:rPr>
                            <m:t>2</m:t>
                          </m:r>
                          <m:r>
                            <a:rPr lang="en-US" sz="1600" b="0" i="1" smtClean="0">
                              <a:latin typeface="Cambria Math" panose="02040503050406030204" pitchFamily="18" charset="0"/>
                              <a:ea typeface="Cambria Math" panose="02040503050406030204" pitchFamily="18" charset="0"/>
                            </a:rPr>
                            <m:t>𝑚𝑜𝑙</m:t>
                          </m:r>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𝑁𝑎𝑂𝐻</m:t>
                          </m:r>
                        </m:den>
                      </m:f>
                      <m:r>
                        <a:rPr lang="en-US" sz="1600" b="0" i="1" smtClean="0">
                          <a:latin typeface="Cambria Math" panose="02040503050406030204" pitchFamily="18" charset="0"/>
                          <a:ea typeface="Cambria Math" panose="02040503050406030204" pitchFamily="18" charset="0"/>
                        </a:rPr>
                        <m:t>=</m:t>
                      </m:r>
                      <m:r>
                        <a:rPr lang="en-US" sz="1600" b="0" i="0" smtClean="0">
                          <a:latin typeface="Cambria Math" panose="02040503050406030204" pitchFamily="18" charset="0"/>
                          <a:ea typeface="Cambria Math" panose="02040503050406030204" pitchFamily="18" charset="0"/>
                        </a:rPr>
                        <m:t>0.1745</m:t>
                      </m:r>
                      <m:r>
                        <m:rPr>
                          <m:sty m:val="p"/>
                        </m:rPr>
                        <a:rPr lang="en-US" sz="1600" b="0" i="0" smtClean="0">
                          <a:latin typeface="Cambria Math" panose="02040503050406030204" pitchFamily="18" charset="0"/>
                          <a:ea typeface="Cambria Math" panose="02040503050406030204" pitchFamily="18" charset="0"/>
                        </a:rPr>
                        <m:t>mol</m:t>
                      </m:r>
                      <m:r>
                        <a:rPr lang="en-US" sz="1600" b="0" i="0"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𝐶𝑎𝐶𝑙</m:t>
                          </m:r>
                        </m:e>
                        <m:sub>
                          <m:r>
                            <a:rPr lang="en-US" sz="1600" b="0" i="1" smtClean="0">
                              <a:latin typeface="Cambria Math" panose="02040503050406030204" pitchFamily="18" charset="0"/>
                              <a:ea typeface="Cambria Math" panose="02040503050406030204" pitchFamily="18" charset="0"/>
                            </a:rPr>
                            <m:t>2</m:t>
                          </m:r>
                        </m:sub>
                      </m:sSub>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𝑛𝑒𝑒𝑑𝑒𝑑</m:t>
                      </m:r>
                    </m:oMath>
                  </m:oMathPara>
                </a14:m>
                <a:endParaRPr lang="en-US" sz="1600" dirty="0"/>
              </a:p>
            </p:txBody>
          </p:sp>
        </mc:Choice>
        <mc:Fallback xmlns="">
          <p:sp>
            <p:nvSpPr>
              <p:cNvPr id="19" name="TextBox 18">
                <a:extLst>
                  <a:ext uri="{FF2B5EF4-FFF2-40B4-BE49-F238E27FC236}">
                    <a16:creationId xmlns:a16="http://schemas.microsoft.com/office/drawing/2014/main" id="{06B92D7E-CB02-4B9D-98B8-72BE178E42BE}"/>
                  </a:ext>
                </a:extLst>
              </p:cNvPr>
              <p:cNvSpPr txBox="1">
                <a:spLocks noRot="1" noChangeAspect="1" noMove="1" noResize="1" noEditPoints="1" noAdjustHandles="1" noChangeArrowheads="1" noChangeShapeType="1" noTextEdit="1"/>
              </p:cNvSpPr>
              <p:nvPr/>
            </p:nvSpPr>
            <p:spPr>
              <a:xfrm>
                <a:off x="5567005" y="5522612"/>
                <a:ext cx="5418278" cy="46756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993331FB-4CCE-4CE0-A4A2-F703FF6FA6BC}"/>
                  </a:ext>
                </a:extLst>
              </p:cNvPr>
              <p:cNvSpPr txBox="1"/>
              <p:nvPr/>
            </p:nvSpPr>
            <p:spPr>
              <a:xfrm>
                <a:off x="5676834" y="6193952"/>
                <a:ext cx="4724370" cy="462691"/>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1600" b="0" i="1" smtClean="0">
                          <a:latin typeface="Cambria Math" panose="02040503050406030204" pitchFamily="18" charset="0"/>
                        </a:rPr>
                        <m:t>0.1745</m:t>
                      </m:r>
                      <m:r>
                        <a:rPr lang="en-US" sz="1600" b="0" i="1" smtClean="0">
                          <a:latin typeface="Cambria Math" panose="02040503050406030204" pitchFamily="18" charset="0"/>
                        </a:rPr>
                        <m:t>𝑚𝑜𝑙</m:t>
                      </m:r>
                      <m:r>
                        <a:rPr lang="en-US" sz="1600" b="0" i="1" smtClean="0">
                          <a:latin typeface="Cambria Math" panose="02040503050406030204" pitchFamily="18" charset="0"/>
                        </a:rPr>
                        <m:t> </m:t>
                      </m:r>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𝐶𝑎𝐶𝑙</m:t>
                          </m:r>
                        </m:e>
                        <m:sub>
                          <m:r>
                            <a:rPr lang="en-US" sz="1600" b="0" i="1" smtClean="0">
                              <a:latin typeface="Cambria Math" panose="02040503050406030204" pitchFamily="18" charset="0"/>
                            </a:rPr>
                            <m:t>2</m:t>
                          </m:r>
                        </m:sub>
                      </m:sSub>
                      <m:r>
                        <a:rPr lang="en-US" sz="1600" b="0" i="1" smtClean="0">
                          <a:latin typeface="Cambria Math" panose="02040503050406030204" pitchFamily="18" charset="0"/>
                          <a:ea typeface="Cambria Math" panose="02040503050406030204" pitchFamily="18" charset="0"/>
                        </a:rPr>
                        <m:t>×</m:t>
                      </m:r>
                      <m:f>
                        <m:fPr>
                          <m:ctrlPr>
                            <a:rPr lang="en-US" sz="1600" b="0" i="1" smtClean="0">
                              <a:latin typeface="Cambria Math" panose="02040503050406030204" pitchFamily="18" charset="0"/>
                              <a:ea typeface="Cambria Math" panose="02040503050406030204" pitchFamily="18" charset="0"/>
                            </a:rPr>
                          </m:ctrlPr>
                        </m:fPr>
                        <m:num>
                          <m:r>
                            <a:rPr lang="en-US" sz="1600" b="0" i="1" smtClean="0">
                              <a:latin typeface="Cambria Math" panose="02040503050406030204" pitchFamily="18" charset="0"/>
                              <a:ea typeface="Cambria Math" panose="02040503050406030204" pitchFamily="18" charset="0"/>
                            </a:rPr>
                            <m:t>110.98</m:t>
                          </m:r>
                          <m:r>
                            <a:rPr lang="en-US" sz="1600" b="0" i="1" smtClean="0">
                              <a:latin typeface="Cambria Math" panose="02040503050406030204" pitchFamily="18" charset="0"/>
                              <a:ea typeface="Cambria Math" panose="02040503050406030204" pitchFamily="18" charset="0"/>
                            </a:rPr>
                            <m:t>𝑔</m:t>
                          </m:r>
                        </m:num>
                        <m:den>
                          <m:r>
                            <a:rPr lang="en-US" sz="1600" b="0" i="1"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𝑚𝑜𝑙</m:t>
                          </m:r>
                        </m:den>
                      </m:f>
                      <m:r>
                        <a:rPr lang="en-US" sz="1600" b="0" i="1" smtClean="0">
                          <a:latin typeface="Cambria Math" panose="02040503050406030204" pitchFamily="18" charset="0"/>
                          <a:ea typeface="Cambria Math" panose="02040503050406030204" pitchFamily="18" charset="0"/>
                        </a:rPr>
                        <m:t>=19.37</m:t>
                      </m:r>
                      <m:r>
                        <a:rPr lang="en-US" sz="1600" b="0" i="1" smtClean="0">
                          <a:latin typeface="Cambria Math" panose="02040503050406030204" pitchFamily="18" charset="0"/>
                          <a:ea typeface="Cambria Math" panose="02040503050406030204" pitchFamily="18" charset="0"/>
                        </a:rPr>
                        <m:t>𝑔</m:t>
                      </m:r>
                      <m:r>
                        <a:rPr lang="en-US" sz="1600" b="0" i="1" smtClean="0">
                          <a:latin typeface="Cambria Math" panose="02040503050406030204" pitchFamily="18" charset="0"/>
                          <a:ea typeface="Cambria Math" panose="02040503050406030204" pitchFamily="18" charset="0"/>
                        </a:rPr>
                        <m:t> </m:t>
                      </m:r>
                      <m:sSub>
                        <m:sSubPr>
                          <m:ctrlPr>
                            <a:rPr lang="en-US" sz="1600" b="0" i="1" smtClean="0">
                              <a:latin typeface="Cambria Math" panose="02040503050406030204" pitchFamily="18" charset="0"/>
                              <a:ea typeface="Cambria Math" panose="02040503050406030204" pitchFamily="18" charset="0"/>
                            </a:rPr>
                          </m:ctrlPr>
                        </m:sSubPr>
                        <m:e>
                          <m:r>
                            <a:rPr lang="en-US" sz="1600" b="0" i="1" smtClean="0">
                              <a:latin typeface="Cambria Math" panose="02040503050406030204" pitchFamily="18" charset="0"/>
                              <a:ea typeface="Cambria Math" panose="02040503050406030204" pitchFamily="18" charset="0"/>
                            </a:rPr>
                            <m:t>𝐶𝑎𝐶𝑙</m:t>
                          </m:r>
                        </m:e>
                        <m:sub>
                          <m:r>
                            <a:rPr lang="en-US" sz="1600" b="0" i="1" smtClean="0">
                              <a:latin typeface="Cambria Math" panose="02040503050406030204" pitchFamily="18" charset="0"/>
                              <a:ea typeface="Cambria Math" panose="02040503050406030204" pitchFamily="18" charset="0"/>
                            </a:rPr>
                            <m:t>2</m:t>
                          </m:r>
                        </m:sub>
                      </m:sSub>
                      <m:r>
                        <a:rPr lang="en-US" sz="1600" b="0" i="1" smtClean="0">
                          <a:latin typeface="Cambria Math" panose="02040503050406030204" pitchFamily="18" charset="0"/>
                          <a:ea typeface="Cambria Math" panose="02040503050406030204" pitchFamily="18" charset="0"/>
                        </a:rPr>
                        <m:t> </m:t>
                      </m:r>
                      <m:r>
                        <a:rPr lang="en-US" sz="1600" b="0" i="1" smtClean="0">
                          <a:latin typeface="Cambria Math" panose="02040503050406030204" pitchFamily="18" charset="0"/>
                          <a:ea typeface="Cambria Math" panose="02040503050406030204" pitchFamily="18" charset="0"/>
                        </a:rPr>
                        <m:t>𝑛𝑒𝑒𝑑𝑒𝑑</m:t>
                      </m:r>
                    </m:oMath>
                  </m:oMathPara>
                </a14:m>
                <a:endParaRPr lang="en-US" sz="1600" dirty="0"/>
              </a:p>
            </p:txBody>
          </p:sp>
        </mc:Choice>
        <mc:Fallback xmlns="">
          <p:sp>
            <p:nvSpPr>
              <p:cNvPr id="20" name="TextBox 19">
                <a:extLst>
                  <a:ext uri="{FF2B5EF4-FFF2-40B4-BE49-F238E27FC236}">
                    <a16:creationId xmlns:a16="http://schemas.microsoft.com/office/drawing/2014/main" id="{993331FB-4CCE-4CE0-A4A2-F703FF6FA6BC}"/>
                  </a:ext>
                </a:extLst>
              </p:cNvPr>
              <p:cNvSpPr txBox="1">
                <a:spLocks noRot="1" noChangeAspect="1" noMove="1" noResize="1" noEditPoints="1" noAdjustHandles="1" noChangeArrowheads="1" noChangeShapeType="1" noTextEdit="1"/>
              </p:cNvSpPr>
              <p:nvPr/>
            </p:nvSpPr>
            <p:spPr>
              <a:xfrm>
                <a:off x="5676834" y="6193952"/>
                <a:ext cx="4724370" cy="462691"/>
              </a:xfrm>
              <a:prstGeom prst="rect">
                <a:avLst/>
              </a:prstGeom>
              <a:blipFill>
                <a:blip r:embed="rId9"/>
                <a:stretch>
                  <a:fillRect/>
                </a:stretch>
              </a:blipFill>
            </p:spPr>
            <p:txBody>
              <a:bodyPr/>
              <a:lstStyle/>
              <a:p>
                <a:r>
                  <a:rPr lang="en-US">
                    <a:noFill/>
                  </a:rPr>
                  <a:t> </a:t>
                </a:r>
              </a:p>
            </p:txBody>
          </p:sp>
        </mc:Fallback>
      </mc:AlternateContent>
      <p:cxnSp>
        <p:nvCxnSpPr>
          <p:cNvPr id="22" name="Straight Connector 21">
            <a:extLst>
              <a:ext uri="{FF2B5EF4-FFF2-40B4-BE49-F238E27FC236}">
                <a16:creationId xmlns:a16="http://schemas.microsoft.com/office/drawing/2014/main" id="{381F7E9A-7283-4DF5-9753-1A05FBBE8EEB}"/>
              </a:ext>
            </a:extLst>
          </p:cNvPr>
          <p:cNvCxnSpPr/>
          <p:nvPr/>
        </p:nvCxnSpPr>
        <p:spPr>
          <a:xfrm>
            <a:off x="4441204" y="1696208"/>
            <a:ext cx="0" cy="496043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A818C74-E935-4FA5-8B54-A76774BE5F20}"/>
              </a:ext>
            </a:extLst>
          </p:cNvPr>
          <p:cNvCxnSpPr/>
          <p:nvPr/>
        </p:nvCxnSpPr>
        <p:spPr>
          <a:xfrm>
            <a:off x="4608821" y="5084844"/>
            <a:ext cx="737043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71270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70AB2-909F-451C-9A66-5A860BE94B55}"/>
              </a:ext>
            </a:extLst>
          </p:cNvPr>
          <p:cNvSpPr>
            <a:spLocks noGrp="1"/>
          </p:cNvSpPr>
          <p:nvPr>
            <p:ph type="title"/>
          </p:nvPr>
        </p:nvSpPr>
        <p:spPr>
          <a:xfrm>
            <a:off x="1024128" y="118933"/>
            <a:ext cx="9720072" cy="1499616"/>
          </a:xfrm>
        </p:spPr>
        <p:txBody>
          <a:bodyPr/>
          <a:lstStyle/>
          <a:p>
            <a:r>
              <a:rPr lang="en-US" dirty="0"/>
              <a:t>Reactants vs. spectators</a:t>
            </a:r>
          </a:p>
        </p:txBody>
      </p:sp>
      <p:sp>
        <p:nvSpPr>
          <p:cNvPr id="3" name="Content Placeholder 2">
            <a:extLst>
              <a:ext uri="{FF2B5EF4-FFF2-40B4-BE49-F238E27FC236}">
                <a16:creationId xmlns:a16="http://schemas.microsoft.com/office/drawing/2014/main" id="{334CBD18-99FC-44C3-B266-B9D9EDD04ADD}"/>
              </a:ext>
            </a:extLst>
          </p:cNvPr>
          <p:cNvSpPr>
            <a:spLocks noGrp="1"/>
          </p:cNvSpPr>
          <p:nvPr>
            <p:ph idx="1"/>
          </p:nvPr>
        </p:nvSpPr>
        <p:spPr>
          <a:xfrm>
            <a:off x="1024128" y="1368694"/>
            <a:ext cx="9720073" cy="1795494"/>
          </a:xfrm>
        </p:spPr>
        <p:txBody>
          <a:bodyPr>
            <a:normAutofit/>
          </a:bodyPr>
          <a:lstStyle/>
          <a:p>
            <a:r>
              <a:rPr lang="en-US" sz="2000" dirty="0"/>
              <a:t>The first reaction below refers to the full chemical salts used to prepare solutions</a:t>
            </a:r>
          </a:p>
          <a:p>
            <a:r>
              <a:rPr lang="en-US" sz="2000" dirty="0"/>
              <a:t>The CaCl</a:t>
            </a:r>
            <a:r>
              <a:rPr lang="en-US" sz="2000" baseline="-25000" dirty="0"/>
              <a:t>2</a:t>
            </a:r>
            <a:r>
              <a:rPr lang="en-US" sz="2000" dirty="0"/>
              <a:t>, NaOH and NaCl are all aqueous, indicating they have fully dissolved in water, and dissociated into their ions</a:t>
            </a:r>
          </a:p>
          <a:p>
            <a:r>
              <a:rPr lang="en-US" sz="2000" dirty="0"/>
              <a:t>The Ca(OH)</a:t>
            </a:r>
            <a:r>
              <a:rPr lang="en-US" sz="2000" baseline="-25000" dirty="0"/>
              <a:t>2</a:t>
            </a:r>
            <a:r>
              <a:rPr lang="en-US" sz="2000" dirty="0"/>
              <a:t> is a solid, therefore it did not dissociate</a:t>
            </a:r>
          </a:p>
          <a:p>
            <a:endParaRPr lang="en-US" sz="2000" dirty="0"/>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EFF492-B67F-4743-A2E3-6D9F635FEDF3}"/>
                  </a:ext>
                </a:extLst>
              </p:cNvPr>
              <p:cNvSpPr txBox="1"/>
              <p:nvPr/>
            </p:nvSpPr>
            <p:spPr>
              <a:xfrm>
                <a:off x="3075642" y="3160169"/>
                <a:ext cx="5356979"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rPr>
                          </m:ctrlPr>
                        </m:sSubPr>
                        <m:e>
                          <m:r>
                            <a:rPr lang="en-US" b="1" i="1" smtClean="0">
                              <a:latin typeface="Cambria Math" panose="02040503050406030204" pitchFamily="18" charset="0"/>
                            </a:rPr>
                            <m:t>𝑪𝒂𝑪𝒍</m:t>
                          </m:r>
                        </m:e>
                        <m:sub>
                          <m:r>
                            <a:rPr lang="en-US" b="1" i="1" smtClean="0">
                              <a:latin typeface="Cambria Math" panose="02040503050406030204" pitchFamily="18" charset="0"/>
                            </a:rPr>
                            <m:t>𝟐</m:t>
                          </m:r>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rPr>
                        <m:t>+</m:t>
                      </m:r>
                      <m:sSub>
                        <m:sSubPr>
                          <m:ctrlPr>
                            <a:rPr lang="en-US" b="1" i="1" smtClean="0">
                              <a:latin typeface="Cambria Math" panose="02040503050406030204" pitchFamily="18" charset="0"/>
                            </a:rPr>
                          </m:ctrlPr>
                        </m:sSubPr>
                        <m:e>
                          <m:r>
                            <a:rPr lang="en-US" b="1" i="1" smtClean="0">
                              <a:latin typeface="Cambria Math" panose="02040503050406030204" pitchFamily="18" charset="0"/>
                            </a:rPr>
                            <m:t>𝟐</m:t>
                          </m:r>
                          <m:r>
                            <a:rPr lang="en-US" b="1" i="1" smtClean="0">
                              <a:latin typeface="Cambria Math" panose="02040503050406030204" pitchFamily="18" charset="0"/>
                            </a:rPr>
                            <m:t>𝑵𝒂𝑶𝑯</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𝑪𝒂</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𝑶𝑯</m:t>
                          </m:r>
                          <m:r>
                            <a:rPr lang="en-US" b="1" i="1" smtClean="0">
                              <a:latin typeface="Cambria Math" panose="02040503050406030204" pitchFamily="18" charset="0"/>
                              <a:ea typeface="Cambria Math" panose="02040503050406030204" pitchFamily="18" charset="0"/>
                            </a:rPr>
                            <m:t>)</m:t>
                          </m:r>
                        </m:e>
                        <m:sub>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𝒔</m:t>
                          </m:r>
                          <m:r>
                            <a:rPr lang="en-US" b="1" i="1" smtClean="0">
                              <a:latin typeface="Cambria Math" panose="02040503050406030204" pitchFamily="18" charset="0"/>
                              <a:ea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𝑵𝒂𝑪𝒍</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Sub>
                    </m:oMath>
                  </m:oMathPara>
                </a14:m>
                <a:endParaRPr lang="en-US" b="1" dirty="0"/>
              </a:p>
            </p:txBody>
          </p:sp>
        </mc:Choice>
        <mc:Fallback xmlns="">
          <p:sp>
            <p:nvSpPr>
              <p:cNvPr id="5" name="TextBox 4">
                <a:extLst>
                  <a:ext uri="{FF2B5EF4-FFF2-40B4-BE49-F238E27FC236}">
                    <a16:creationId xmlns:a16="http://schemas.microsoft.com/office/drawing/2014/main" id="{90EFF492-B67F-4743-A2E3-6D9F635FEDF3}"/>
                  </a:ext>
                </a:extLst>
              </p:cNvPr>
              <p:cNvSpPr txBox="1">
                <a:spLocks noRot="1" noChangeAspect="1" noMove="1" noResize="1" noEditPoints="1" noAdjustHandles="1" noChangeArrowheads="1" noChangeShapeType="1" noTextEdit="1"/>
              </p:cNvSpPr>
              <p:nvPr/>
            </p:nvSpPr>
            <p:spPr>
              <a:xfrm>
                <a:off x="3075642" y="3160169"/>
                <a:ext cx="5356979" cy="303673"/>
              </a:xfrm>
              <a:prstGeom prst="rect">
                <a:avLst/>
              </a:prstGeom>
              <a:blipFill>
                <a:blip r:embed="rId2"/>
                <a:stretch>
                  <a:fillRect l="-683" r="-456" b="-28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550F915-5333-41BD-83E0-F4AE662A35DB}"/>
                  </a:ext>
                </a:extLst>
              </p:cNvPr>
              <p:cNvSpPr txBox="1"/>
              <p:nvPr/>
            </p:nvSpPr>
            <p:spPr>
              <a:xfrm>
                <a:off x="1969665" y="3874448"/>
                <a:ext cx="7568931" cy="33868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𝑪𝒂</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up>
                          <m:r>
                            <a:rPr lang="en-US" b="1" i="1" smtClean="0">
                              <a:latin typeface="Cambria Math" panose="02040503050406030204" pitchFamily="18" charset="0"/>
                            </a:rPr>
                            <m:t>𝟐</m:t>
                          </m:r>
                          <m:r>
                            <a:rPr lang="en-US" b="1" i="1" smtClean="0">
                              <a:latin typeface="Cambria Math" panose="02040503050406030204" pitchFamily="18" charset="0"/>
                            </a:rPr>
                            <m:t>+</m:t>
                          </m:r>
                        </m:sup>
                      </m:sSubSup>
                      <m:r>
                        <a:rPr lang="en-US" b="1" i="1" smtClean="0">
                          <a:latin typeface="Cambria Math" panose="02040503050406030204" pitchFamily="18" charset="0"/>
                        </a:rPr>
                        <m:t>+</m:t>
                      </m:r>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𝟐</m:t>
                          </m:r>
                          <m:r>
                            <a:rPr lang="en-US" b="1" i="1" smtClean="0">
                              <a:latin typeface="Cambria Math" panose="02040503050406030204" pitchFamily="18" charset="0"/>
                            </a:rPr>
                            <m:t>𝑪𝒍</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up>
                          <m:r>
                            <a:rPr lang="en-US" b="1" i="1" smtClean="0">
                              <a:latin typeface="Cambria Math" panose="02040503050406030204" pitchFamily="18" charset="0"/>
                            </a:rPr>
                            <m:t>−</m:t>
                          </m:r>
                        </m:sup>
                      </m:sSubSup>
                      <m:r>
                        <a:rPr lang="en-US" b="1" i="1" smtClean="0">
                          <a:latin typeface="Cambria Math" panose="02040503050406030204" pitchFamily="18" charset="0"/>
                        </a:rPr>
                        <m:t>+</m:t>
                      </m:r>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𝟐</m:t>
                          </m:r>
                          <m:r>
                            <a:rPr lang="en-US" b="1" i="1" smtClean="0">
                              <a:latin typeface="Cambria Math" panose="02040503050406030204" pitchFamily="18" charset="0"/>
                            </a:rPr>
                            <m:t>𝑵𝒂</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up>
                          <m:r>
                            <a:rPr lang="en-US" b="1" i="1" smtClean="0">
                              <a:latin typeface="Cambria Math" panose="02040503050406030204" pitchFamily="18" charset="0"/>
                            </a:rPr>
                            <m:t>+</m:t>
                          </m:r>
                        </m:sup>
                      </m:sSubSup>
                      <m:r>
                        <a:rPr lang="en-US" b="1" i="1" smtClean="0">
                          <a:latin typeface="Cambria Math" panose="02040503050406030204" pitchFamily="18" charset="0"/>
                        </a:rPr>
                        <m:t>+</m:t>
                      </m:r>
                      <m:sSubSup>
                        <m:sSubSupPr>
                          <m:ctrlPr>
                            <a:rPr lang="en-US" b="1" i="1" smtClean="0">
                              <a:latin typeface="Cambria Math" panose="02040503050406030204" pitchFamily="18" charset="0"/>
                            </a:rPr>
                          </m:ctrlPr>
                        </m:sSubSupPr>
                        <m:e>
                          <m:r>
                            <a:rPr lang="en-US" b="1" i="1" smtClean="0">
                              <a:latin typeface="Cambria Math" panose="02040503050406030204" pitchFamily="18" charset="0"/>
                            </a:rPr>
                            <m:t>𝟐</m:t>
                          </m:r>
                          <m:r>
                            <a:rPr lang="en-US" b="1" i="1" smtClean="0">
                              <a:latin typeface="Cambria Math" panose="02040503050406030204" pitchFamily="18" charset="0"/>
                            </a:rPr>
                            <m:t>𝑶𝑯</m:t>
                          </m:r>
                        </m:e>
                        <m:sub>
                          <m:r>
                            <a:rPr lang="en-US" b="1" i="1" smtClean="0">
                              <a:latin typeface="Cambria Math" panose="02040503050406030204" pitchFamily="18" charset="0"/>
                            </a:rPr>
                            <m:t>(</m:t>
                          </m:r>
                          <m:r>
                            <a:rPr lang="en-US" b="1" i="1" smtClean="0">
                              <a:latin typeface="Cambria Math" panose="02040503050406030204" pitchFamily="18" charset="0"/>
                            </a:rPr>
                            <m:t>𝒂𝒒</m:t>
                          </m:r>
                          <m:r>
                            <a:rPr lang="en-US" b="1" i="1" smtClean="0">
                              <a:latin typeface="Cambria Math" panose="02040503050406030204" pitchFamily="18" charset="0"/>
                            </a:rPr>
                            <m:t>)</m:t>
                          </m:r>
                        </m:sub>
                        <m:sup>
                          <m:r>
                            <a:rPr lang="en-US" b="1" i="1" smtClean="0">
                              <a:latin typeface="Cambria Math" panose="02040503050406030204" pitchFamily="18" charset="0"/>
                            </a:rPr>
                            <m:t>−</m:t>
                          </m:r>
                        </m:sup>
                      </m:sSubSup>
                      <m:r>
                        <a:rPr lang="en-US" b="1" i="1" smtClean="0">
                          <a:latin typeface="Cambria Math" panose="02040503050406030204" pitchFamily="18" charset="0"/>
                          <a:ea typeface="Cambria Math" panose="02040503050406030204" pitchFamily="18" charset="0"/>
                        </a:rPr>
                        <m:t>⟹</m:t>
                      </m:r>
                      <m:sSub>
                        <m:sSubPr>
                          <m:ctrlPr>
                            <a:rPr lang="en-US" b="1" i="1" smtClean="0">
                              <a:latin typeface="Cambria Math" panose="02040503050406030204" pitchFamily="18" charset="0"/>
                              <a:ea typeface="Cambria Math" panose="02040503050406030204" pitchFamily="18" charset="0"/>
                            </a:rPr>
                          </m:ctrlPr>
                        </m:sSubPr>
                        <m:e>
                          <m:r>
                            <a:rPr lang="en-US" b="1" i="1" smtClean="0">
                              <a:latin typeface="Cambria Math" panose="02040503050406030204" pitchFamily="18" charset="0"/>
                              <a:ea typeface="Cambria Math" panose="02040503050406030204" pitchFamily="18" charset="0"/>
                            </a:rPr>
                            <m:t>𝑪𝒂</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𝑶𝑯</m:t>
                          </m:r>
                          <m:r>
                            <a:rPr lang="en-US" b="1" i="1" smtClean="0">
                              <a:latin typeface="Cambria Math" panose="02040503050406030204" pitchFamily="18" charset="0"/>
                              <a:ea typeface="Cambria Math" panose="02040503050406030204" pitchFamily="18" charset="0"/>
                            </a:rPr>
                            <m:t>)</m:t>
                          </m:r>
                        </m:e>
                        <m:sub>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𝒔</m:t>
                          </m:r>
                          <m:r>
                            <a:rPr lang="en-US" b="1" i="1" smtClean="0">
                              <a:latin typeface="Cambria Math" panose="02040503050406030204" pitchFamily="18" charset="0"/>
                              <a:ea typeface="Cambria Math" panose="02040503050406030204" pitchFamily="18" charset="0"/>
                            </a:rPr>
                            <m:t>)</m:t>
                          </m:r>
                        </m:sub>
                      </m:sSub>
                      <m:r>
                        <a:rPr lang="en-US" b="1" i="1" smtClean="0">
                          <a:latin typeface="Cambria Math" panose="02040503050406030204" pitchFamily="18" charset="0"/>
                          <a:ea typeface="Cambria Math" panose="02040503050406030204" pitchFamily="18" charset="0"/>
                        </a:rPr>
                        <m:t>+</m:t>
                      </m:r>
                      <m:sSubSup>
                        <m:sSubSupPr>
                          <m:ctrlPr>
                            <a:rPr lang="en-US" b="1" i="1" smtClean="0">
                              <a:latin typeface="Cambria Math" panose="02040503050406030204" pitchFamily="18" charset="0"/>
                              <a:ea typeface="Cambria Math" panose="02040503050406030204" pitchFamily="18" charset="0"/>
                            </a:rPr>
                          </m:ctrlPr>
                        </m:sSubSupPr>
                        <m:e>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𝑵𝒂</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up>
                          <m:r>
                            <a:rPr lang="en-US" b="1" i="1" smtClean="0">
                              <a:latin typeface="Cambria Math" panose="02040503050406030204" pitchFamily="18" charset="0"/>
                              <a:ea typeface="Cambria Math" panose="02040503050406030204" pitchFamily="18" charset="0"/>
                            </a:rPr>
                            <m:t>+</m:t>
                          </m:r>
                        </m:sup>
                      </m:sSubSup>
                      <m:r>
                        <a:rPr lang="en-US" b="1" i="1" smtClean="0">
                          <a:latin typeface="Cambria Math" panose="02040503050406030204" pitchFamily="18" charset="0"/>
                          <a:ea typeface="Cambria Math" panose="02040503050406030204" pitchFamily="18" charset="0"/>
                        </a:rPr>
                        <m:t>+</m:t>
                      </m:r>
                      <m:sSubSup>
                        <m:sSubSupPr>
                          <m:ctrlPr>
                            <a:rPr lang="en-US" b="1" i="1" smtClean="0">
                              <a:latin typeface="Cambria Math" panose="02040503050406030204" pitchFamily="18" charset="0"/>
                              <a:ea typeface="Cambria Math" panose="02040503050406030204" pitchFamily="18" charset="0"/>
                            </a:rPr>
                          </m:ctrlPr>
                        </m:sSubSupPr>
                        <m:e>
                          <m:r>
                            <a:rPr lang="en-US" b="1" i="1" smtClean="0">
                              <a:latin typeface="Cambria Math" panose="02040503050406030204" pitchFamily="18" charset="0"/>
                              <a:ea typeface="Cambria Math" panose="02040503050406030204" pitchFamily="18" charset="0"/>
                            </a:rPr>
                            <m:t>𝟐</m:t>
                          </m:r>
                          <m:r>
                            <a:rPr lang="en-US" b="1" i="1" smtClean="0">
                              <a:latin typeface="Cambria Math" panose="02040503050406030204" pitchFamily="18" charset="0"/>
                              <a:ea typeface="Cambria Math" panose="02040503050406030204" pitchFamily="18" charset="0"/>
                            </a:rPr>
                            <m:t>𝑪𝒍</m:t>
                          </m:r>
                        </m:e>
                        <m:sub>
                          <m:r>
                            <a:rPr lang="en-US" b="1" i="1" smtClean="0">
                              <a:latin typeface="Cambria Math" panose="02040503050406030204" pitchFamily="18" charset="0"/>
                              <a:ea typeface="Cambria Math" panose="02040503050406030204" pitchFamily="18" charset="0"/>
                            </a:rPr>
                            <m:t>(</m:t>
                          </m:r>
                          <m:r>
                            <a:rPr lang="en-US" b="1" i="1" smtClean="0">
                              <a:latin typeface="Cambria Math" panose="02040503050406030204" pitchFamily="18" charset="0"/>
                              <a:ea typeface="Cambria Math" panose="02040503050406030204" pitchFamily="18" charset="0"/>
                            </a:rPr>
                            <m:t>𝒂𝒒</m:t>
                          </m:r>
                          <m:r>
                            <a:rPr lang="en-US" b="1" i="1" smtClean="0">
                              <a:latin typeface="Cambria Math" panose="02040503050406030204" pitchFamily="18" charset="0"/>
                              <a:ea typeface="Cambria Math" panose="02040503050406030204" pitchFamily="18" charset="0"/>
                            </a:rPr>
                            <m:t>)</m:t>
                          </m:r>
                        </m:sub>
                        <m:sup>
                          <m:r>
                            <a:rPr lang="en-US" b="1" i="1" smtClean="0">
                              <a:latin typeface="Cambria Math" panose="02040503050406030204" pitchFamily="18" charset="0"/>
                              <a:ea typeface="Cambria Math" panose="02040503050406030204" pitchFamily="18" charset="0"/>
                            </a:rPr>
                            <m:t>−</m:t>
                          </m:r>
                        </m:sup>
                      </m:sSubSup>
                    </m:oMath>
                  </m:oMathPara>
                </a14:m>
                <a:endParaRPr lang="en-US" b="1" dirty="0"/>
              </a:p>
            </p:txBody>
          </p:sp>
        </mc:Choice>
        <mc:Fallback xmlns="">
          <p:sp>
            <p:nvSpPr>
              <p:cNvPr id="6" name="TextBox 5">
                <a:extLst>
                  <a:ext uri="{FF2B5EF4-FFF2-40B4-BE49-F238E27FC236}">
                    <a16:creationId xmlns:a16="http://schemas.microsoft.com/office/drawing/2014/main" id="{0550F915-5333-41BD-83E0-F4AE662A35DB}"/>
                  </a:ext>
                </a:extLst>
              </p:cNvPr>
              <p:cNvSpPr txBox="1">
                <a:spLocks noRot="1" noChangeAspect="1" noMove="1" noResize="1" noEditPoints="1" noAdjustHandles="1" noChangeArrowheads="1" noChangeShapeType="1" noTextEdit="1"/>
              </p:cNvSpPr>
              <p:nvPr/>
            </p:nvSpPr>
            <p:spPr>
              <a:xfrm>
                <a:off x="1969665" y="3874448"/>
                <a:ext cx="7568931" cy="338682"/>
              </a:xfrm>
              <a:prstGeom prst="rect">
                <a:avLst/>
              </a:prstGeom>
              <a:blipFill>
                <a:blip r:embed="rId3"/>
                <a:stretch>
                  <a:fillRect l="-161" r="-161" b="-25455"/>
                </a:stretch>
              </a:blipFill>
            </p:spPr>
            <p:txBody>
              <a:bodyPr/>
              <a:lstStyle/>
              <a:p>
                <a:r>
                  <a:rPr lang="en-US">
                    <a:noFill/>
                  </a:rPr>
                  <a:t> </a:t>
                </a:r>
              </a:p>
            </p:txBody>
          </p:sp>
        </mc:Fallback>
      </mc:AlternateContent>
      <p:sp>
        <p:nvSpPr>
          <p:cNvPr id="7" name="TextBox 6">
            <a:extLst>
              <a:ext uri="{FF2B5EF4-FFF2-40B4-BE49-F238E27FC236}">
                <a16:creationId xmlns:a16="http://schemas.microsoft.com/office/drawing/2014/main" id="{721CB488-E449-4378-913C-89DF6F70D3F2}"/>
              </a:ext>
            </a:extLst>
          </p:cNvPr>
          <p:cNvSpPr txBox="1"/>
          <p:nvPr/>
        </p:nvSpPr>
        <p:spPr>
          <a:xfrm>
            <a:off x="868761" y="4613048"/>
            <a:ext cx="10575396" cy="1200329"/>
          </a:xfrm>
          <a:prstGeom prst="rect">
            <a:avLst/>
          </a:prstGeom>
          <a:noFill/>
        </p:spPr>
        <p:txBody>
          <a:bodyPr wrap="none" rtlCol="0">
            <a:spAutoFit/>
          </a:bodyPr>
          <a:lstStyle/>
          <a:p>
            <a:pPr marL="285750" indent="-285750">
              <a:buFont typeface="Arial" panose="020B0604020202020204" pitchFamily="34" charset="0"/>
              <a:buChar char="•"/>
            </a:pPr>
            <a:r>
              <a:rPr lang="en-US" dirty="0"/>
              <a:t>Looking at the Full Ionic reaction, there are sodium ions and chloride ions present on both sides of the equation</a:t>
            </a:r>
          </a:p>
          <a:p>
            <a:pPr marL="285750" indent="-285750">
              <a:buFont typeface="Arial" panose="020B0604020202020204" pitchFamily="34" charset="0"/>
              <a:buChar char="•"/>
            </a:pPr>
            <a:r>
              <a:rPr lang="en-US" dirty="0"/>
              <a:t>These were not involved in the reaction, as their form did not change</a:t>
            </a:r>
          </a:p>
          <a:p>
            <a:pPr marL="285750" indent="-285750">
              <a:buFont typeface="Arial" panose="020B0604020202020204" pitchFamily="34" charset="0"/>
              <a:buChar char="•"/>
            </a:pPr>
            <a:r>
              <a:rPr lang="en-US" dirty="0"/>
              <a:t>The Na</a:t>
            </a:r>
            <a:r>
              <a:rPr lang="en-US" baseline="30000" dirty="0"/>
              <a:t>+</a:t>
            </a:r>
            <a:r>
              <a:rPr lang="en-US" dirty="0"/>
              <a:t> and Cl</a:t>
            </a:r>
            <a:r>
              <a:rPr lang="en-US" baseline="30000" dirty="0"/>
              <a:t>-</a:t>
            </a:r>
            <a:r>
              <a:rPr lang="en-US" dirty="0"/>
              <a:t> are Spectators in the reaction</a:t>
            </a:r>
          </a:p>
          <a:p>
            <a:pPr marL="285750" indent="-285750">
              <a:buFont typeface="Arial" panose="020B0604020202020204" pitchFamily="34" charset="0"/>
              <a:buChar char="•"/>
            </a:pPr>
            <a:r>
              <a:rPr lang="en-US" dirty="0"/>
              <a:t>The Ca</a:t>
            </a:r>
            <a:r>
              <a:rPr lang="en-US" baseline="30000" dirty="0"/>
              <a:t>2+</a:t>
            </a:r>
            <a:r>
              <a:rPr lang="en-US" dirty="0"/>
              <a:t> and OH</a:t>
            </a:r>
            <a:r>
              <a:rPr lang="en-US" baseline="30000" dirty="0"/>
              <a:t>-</a:t>
            </a:r>
            <a:r>
              <a:rPr lang="en-US" dirty="0"/>
              <a:t> are the reactants, because they no longer exist in the products as separate ions</a:t>
            </a:r>
          </a:p>
        </p:txBody>
      </p:sp>
      <p:sp>
        <p:nvSpPr>
          <p:cNvPr id="8" name="TextBox 7">
            <a:extLst>
              <a:ext uri="{FF2B5EF4-FFF2-40B4-BE49-F238E27FC236}">
                <a16:creationId xmlns:a16="http://schemas.microsoft.com/office/drawing/2014/main" id="{252D3A62-9BE5-4F9A-8781-8F2BA4882DFB}"/>
              </a:ext>
            </a:extLst>
          </p:cNvPr>
          <p:cNvSpPr txBox="1"/>
          <p:nvPr/>
        </p:nvSpPr>
        <p:spPr>
          <a:xfrm>
            <a:off x="868761" y="6295544"/>
            <a:ext cx="10189956" cy="492443"/>
          </a:xfrm>
          <a:prstGeom prst="rect">
            <a:avLst/>
          </a:prstGeom>
          <a:noFill/>
        </p:spPr>
        <p:txBody>
          <a:bodyPr wrap="square" rtlCol="0">
            <a:spAutoFit/>
          </a:bodyPr>
          <a:lstStyle/>
          <a:p>
            <a:r>
              <a:rPr lang="en-US" sz="1300" dirty="0"/>
              <a:t>Many times, Ions displaying a charge do not have phases, as it is assumed to be aqueous. However, it is good practice to always label the phase, as there are instances where Ions would not be aqueous (ions can exist in the gas phase or in solvents other than water)</a:t>
            </a:r>
          </a:p>
        </p:txBody>
      </p:sp>
      <p:cxnSp>
        <p:nvCxnSpPr>
          <p:cNvPr id="10" name="Straight Arrow Connector 9">
            <a:extLst>
              <a:ext uri="{FF2B5EF4-FFF2-40B4-BE49-F238E27FC236}">
                <a16:creationId xmlns:a16="http://schemas.microsoft.com/office/drawing/2014/main" id="{D3947CB3-9DC5-41C4-9B1B-B86A320A9410}"/>
              </a:ext>
            </a:extLst>
          </p:cNvPr>
          <p:cNvCxnSpPr/>
          <p:nvPr/>
        </p:nvCxnSpPr>
        <p:spPr>
          <a:xfrm flipH="1">
            <a:off x="2540682" y="3463842"/>
            <a:ext cx="718019" cy="410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432D6AD3-5220-47E0-8A6F-AB596396F249}"/>
              </a:ext>
            </a:extLst>
          </p:cNvPr>
          <p:cNvCxnSpPr>
            <a:cxnSpLocks/>
          </p:cNvCxnSpPr>
          <p:nvPr/>
        </p:nvCxnSpPr>
        <p:spPr>
          <a:xfrm flipH="1">
            <a:off x="3228016" y="3458498"/>
            <a:ext cx="30685" cy="4159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919233C6-4065-43AA-BCB4-9D5CB33E0B0D}"/>
              </a:ext>
            </a:extLst>
          </p:cNvPr>
          <p:cNvCxnSpPr/>
          <p:nvPr/>
        </p:nvCxnSpPr>
        <p:spPr>
          <a:xfrm flipH="1">
            <a:off x="4288684" y="3463842"/>
            <a:ext cx="436739" cy="410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D030B9D-7A50-4493-B874-64642DC70B29}"/>
              </a:ext>
            </a:extLst>
          </p:cNvPr>
          <p:cNvCxnSpPr/>
          <p:nvPr/>
        </p:nvCxnSpPr>
        <p:spPr>
          <a:xfrm>
            <a:off x="4731560" y="3463842"/>
            <a:ext cx="503227" cy="399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45CC02BF-6E07-47F5-B65A-1C63AE5FA0E8}"/>
              </a:ext>
            </a:extLst>
          </p:cNvPr>
          <p:cNvCxnSpPr/>
          <p:nvPr/>
        </p:nvCxnSpPr>
        <p:spPr>
          <a:xfrm>
            <a:off x="7683415" y="3463842"/>
            <a:ext cx="220929" cy="399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54327A7E-EC78-48C7-9CBB-3E2190E982A1}"/>
              </a:ext>
            </a:extLst>
          </p:cNvPr>
          <p:cNvCxnSpPr/>
          <p:nvPr/>
        </p:nvCxnSpPr>
        <p:spPr>
          <a:xfrm>
            <a:off x="7689552" y="3458498"/>
            <a:ext cx="1190561" cy="405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Left Brace 21">
            <a:extLst>
              <a:ext uri="{FF2B5EF4-FFF2-40B4-BE49-F238E27FC236}">
                <a16:creationId xmlns:a16="http://schemas.microsoft.com/office/drawing/2014/main" id="{7840A7AF-CB05-4271-822A-092745990C93}"/>
              </a:ext>
            </a:extLst>
          </p:cNvPr>
          <p:cNvSpPr/>
          <p:nvPr/>
        </p:nvSpPr>
        <p:spPr>
          <a:xfrm rot="16200000">
            <a:off x="6380800" y="2914389"/>
            <a:ext cx="150466" cy="1238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Left Brace 22">
            <a:extLst>
              <a:ext uri="{FF2B5EF4-FFF2-40B4-BE49-F238E27FC236}">
                <a16:creationId xmlns:a16="http://schemas.microsoft.com/office/drawing/2014/main" id="{EA747628-3EDE-4F22-B263-F699CC9B3A83}"/>
              </a:ext>
            </a:extLst>
          </p:cNvPr>
          <p:cNvSpPr/>
          <p:nvPr/>
        </p:nvSpPr>
        <p:spPr>
          <a:xfrm rot="5400000">
            <a:off x="6772004" y="3255107"/>
            <a:ext cx="150466" cy="1238683"/>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8809043A-C721-4F69-BCFA-F370376594C7}"/>
              </a:ext>
            </a:extLst>
          </p:cNvPr>
          <p:cNvCxnSpPr>
            <a:stCxn id="22" idx="1"/>
            <a:endCxn id="23" idx="1"/>
          </p:cNvCxnSpPr>
          <p:nvPr/>
        </p:nvCxnSpPr>
        <p:spPr>
          <a:xfrm>
            <a:off x="6456034" y="3608964"/>
            <a:ext cx="391203" cy="190252"/>
          </a:xfrm>
          <a:prstGeom prst="line">
            <a:avLst/>
          </a:prstGeom>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F59AB97A-6C2F-48DE-BE9C-BD3EE8EAB07D}"/>
              </a:ext>
            </a:extLst>
          </p:cNvPr>
          <p:cNvSpPr/>
          <p:nvPr/>
        </p:nvSpPr>
        <p:spPr>
          <a:xfrm>
            <a:off x="1816526" y="3661129"/>
            <a:ext cx="969686" cy="7528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CF10445-3CCE-4727-A9BF-66509B7C1CD4}"/>
              </a:ext>
            </a:extLst>
          </p:cNvPr>
          <p:cNvSpPr/>
          <p:nvPr/>
        </p:nvSpPr>
        <p:spPr>
          <a:xfrm>
            <a:off x="4867005" y="3678203"/>
            <a:ext cx="969686" cy="7528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9FC9B377-07D0-44E1-AB89-265370D6D36D}"/>
              </a:ext>
            </a:extLst>
          </p:cNvPr>
          <p:cNvSpPr/>
          <p:nvPr/>
        </p:nvSpPr>
        <p:spPr>
          <a:xfrm>
            <a:off x="165183" y="2811286"/>
            <a:ext cx="969686" cy="75282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a:solidFill>
                  <a:sysClr val="windowText" lastClr="000000"/>
                </a:solidFill>
              </a:rPr>
              <a:t>Reactants</a:t>
            </a:r>
          </a:p>
        </p:txBody>
      </p:sp>
      <p:sp>
        <p:nvSpPr>
          <p:cNvPr id="29" name="Rectangle 28">
            <a:extLst>
              <a:ext uri="{FF2B5EF4-FFF2-40B4-BE49-F238E27FC236}">
                <a16:creationId xmlns:a16="http://schemas.microsoft.com/office/drawing/2014/main" id="{273F24F8-F590-4E91-8A56-0057D3870726}"/>
              </a:ext>
            </a:extLst>
          </p:cNvPr>
          <p:cNvSpPr/>
          <p:nvPr/>
        </p:nvSpPr>
        <p:spPr>
          <a:xfrm>
            <a:off x="3828628" y="3799215"/>
            <a:ext cx="969686" cy="54671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7097C78-404A-4816-916E-1B597D0B929B}"/>
              </a:ext>
            </a:extLst>
          </p:cNvPr>
          <p:cNvSpPr/>
          <p:nvPr/>
        </p:nvSpPr>
        <p:spPr>
          <a:xfrm>
            <a:off x="2789793" y="3798379"/>
            <a:ext cx="969686" cy="54671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DBF3BD1-E457-45A5-86F9-4A6F5B0ED0CB}"/>
              </a:ext>
            </a:extLst>
          </p:cNvPr>
          <p:cNvSpPr/>
          <p:nvPr/>
        </p:nvSpPr>
        <p:spPr>
          <a:xfrm>
            <a:off x="171469" y="3661129"/>
            <a:ext cx="969686" cy="546712"/>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ysClr val="windowText" lastClr="000000"/>
                </a:solidFill>
              </a:rPr>
              <a:t>Spectators</a:t>
            </a:r>
          </a:p>
        </p:txBody>
      </p:sp>
    </p:spTree>
    <p:extLst>
      <p:ext uri="{BB962C8B-B14F-4D97-AF65-F5344CB8AC3E}">
        <p14:creationId xmlns:p14="http://schemas.microsoft.com/office/powerpoint/2010/main" val="375334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AFF01-E758-411A-94CB-05B3FFEECE27}"/>
              </a:ext>
            </a:extLst>
          </p:cNvPr>
          <p:cNvSpPr>
            <a:spLocks noGrp="1"/>
          </p:cNvSpPr>
          <p:nvPr>
            <p:ph type="ctrTitle"/>
          </p:nvPr>
        </p:nvSpPr>
        <p:spPr/>
        <p:txBody>
          <a:bodyPr/>
          <a:lstStyle/>
          <a:p>
            <a:r>
              <a:rPr lang="en-US" dirty="0"/>
              <a:t>Limiting reactants - experiment</a:t>
            </a:r>
          </a:p>
        </p:txBody>
      </p:sp>
      <p:sp>
        <p:nvSpPr>
          <p:cNvPr id="3" name="Subtitle 2">
            <a:extLst>
              <a:ext uri="{FF2B5EF4-FFF2-40B4-BE49-F238E27FC236}">
                <a16:creationId xmlns:a16="http://schemas.microsoft.com/office/drawing/2014/main" id="{A9012553-290F-46C7-B1B3-6FBA0887FAEA}"/>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410554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4CB43-D7B3-488B-9B63-CF4521B31EB8}"/>
              </a:ext>
            </a:extLst>
          </p:cNvPr>
          <p:cNvSpPr>
            <a:spLocks noGrp="1"/>
          </p:cNvSpPr>
          <p:nvPr>
            <p:ph type="title"/>
          </p:nvPr>
        </p:nvSpPr>
        <p:spPr/>
        <p:txBody>
          <a:bodyPr/>
          <a:lstStyle/>
          <a:p>
            <a:r>
              <a:rPr lang="en-US" dirty="0"/>
              <a:t>Part a – limiting reactant simulation</a:t>
            </a:r>
          </a:p>
        </p:txBody>
      </p:sp>
      <p:sp>
        <p:nvSpPr>
          <p:cNvPr id="3" name="Content Placeholder 2">
            <a:extLst>
              <a:ext uri="{FF2B5EF4-FFF2-40B4-BE49-F238E27FC236}">
                <a16:creationId xmlns:a16="http://schemas.microsoft.com/office/drawing/2014/main" id="{F1EDEBC6-98BC-4E6C-9470-FD62BBD6CB46}"/>
              </a:ext>
            </a:extLst>
          </p:cNvPr>
          <p:cNvSpPr>
            <a:spLocks noGrp="1"/>
          </p:cNvSpPr>
          <p:nvPr>
            <p:ph idx="1"/>
          </p:nvPr>
        </p:nvSpPr>
        <p:spPr>
          <a:xfrm>
            <a:off x="834675" y="3093441"/>
            <a:ext cx="9720073" cy="2843784"/>
          </a:xfrm>
        </p:spPr>
        <p:txBody>
          <a:bodyPr/>
          <a:lstStyle/>
          <a:p>
            <a:pPr>
              <a:buFont typeface="Wingdings" panose="05000000000000000000" pitchFamily="2" charset="2"/>
              <a:buChar char="§"/>
            </a:pPr>
            <a:r>
              <a:rPr lang="en-US" dirty="0"/>
              <a:t>Complete the Limiting Reactant Game (Level 3) and attach a screen shot of the final score to your report</a:t>
            </a:r>
          </a:p>
          <a:p>
            <a:pPr>
              <a:buFont typeface="Wingdings" panose="05000000000000000000" pitchFamily="2" charset="2"/>
              <a:buChar char="§"/>
            </a:pPr>
            <a:r>
              <a:rPr lang="en-US" dirty="0"/>
              <a:t>For each of the 5 reactions, record the following</a:t>
            </a:r>
          </a:p>
          <a:p>
            <a:pPr lvl="1">
              <a:buFont typeface="Wingdings" panose="05000000000000000000" pitchFamily="2" charset="2"/>
              <a:buChar char="§"/>
            </a:pPr>
            <a:r>
              <a:rPr lang="en-US" dirty="0"/>
              <a:t>Balanced chemical reaction</a:t>
            </a:r>
          </a:p>
          <a:p>
            <a:pPr lvl="1">
              <a:buFont typeface="Wingdings" panose="05000000000000000000" pitchFamily="2" charset="2"/>
              <a:buChar char="§"/>
            </a:pPr>
            <a:r>
              <a:rPr lang="en-US" dirty="0"/>
              <a:t>Reactants and number of moles provided in simulation</a:t>
            </a:r>
          </a:p>
          <a:p>
            <a:pPr lvl="1">
              <a:buFont typeface="Wingdings" panose="05000000000000000000" pitchFamily="2" charset="2"/>
              <a:buChar char="§"/>
            </a:pPr>
            <a:r>
              <a:rPr lang="en-US" dirty="0"/>
              <a:t>Final products (including leftovers) and number of moles </a:t>
            </a:r>
          </a:p>
          <a:p>
            <a:pPr>
              <a:buFont typeface="Wingdings" panose="05000000000000000000" pitchFamily="2" charset="2"/>
              <a:buChar char="§"/>
            </a:pPr>
            <a:r>
              <a:rPr lang="en-US" dirty="0"/>
              <a:t>For each compound (reactants and products), convert the moles into grams</a:t>
            </a:r>
          </a:p>
        </p:txBody>
      </p:sp>
      <p:sp>
        <p:nvSpPr>
          <p:cNvPr id="4" name="TextBox 3">
            <a:extLst>
              <a:ext uri="{FF2B5EF4-FFF2-40B4-BE49-F238E27FC236}">
                <a16:creationId xmlns:a16="http://schemas.microsoft.com/office/drawing/2014/main" id="{8C044ECB-C102-49BB-A08F-B67C5AF923F6}"/>
              </a:ext>
            </a:extLst>
          </p:cNvPr>
          <p:cNvSpPr txBox="1"/>
          <p:nvPr/>
        </p:nvSpPr>
        <p:spPr>
          <a:xfrm>
            <a:off x="1637251" y="2084832"/>
            <a:ext cx="8917497" cy="646331"/>
          </a:xfrm>
          <a:prstGeom prst="rect">
            <a:avLst/>
          </a:prstGeom>
          <a:noFill/>
        </p:spPr>
        <p:txBody>
          <a:bodyPr wrap="square" rtlCol="0">
            <a:spAutoFit/>
          </a:bodyPr>
          <a:lstStyle/>
          <a:p>
            <a:r>
              <a:rPr lang="en-US" b="1" dirty="0"/>
              <a:t>Direct Link: </a:t>
            </a:r>
            <a:r>
              <a:rPr lang="en-US" sz="1800" i="1" u="sng" dirty="0">
                <a:solidFill>
                  <a:srgbClr val="0563C1"/>
                </a:solidFill>
                <a:effectLst/>
                <a:latin typeface="Calibri" panose="020F0502020204030204" pitchFamily="34" charset="0"/>
                <a:ea typeface="Calibri" panose="020F0502020204030204" pitchFamily="34" charset="0"/>
                <a:cs typeface="Times New Roman" panose="02020603050405020304" pitchFamily="18" charset="0"/>
                <a:hlinkClick r:id="rId2"/>
              </a:rPr>
              <a:t>https://phet.colorado.edu/sims/html/reactants-products-and-leftovers/latest/reactants-products-and-leftovers_en.html</a:t>
            </a:r>
            <a:r>
              <a:rPr lang="en-US" sz="1800" i="1" dirty="0">
                <a:effectLst/>
                <a:latin typeface="Calibri" panose="020F0502020204030204" pitchFamily="34" charset="0"/>
                <a:ea typeface="Calibri" panose="020F0502020204030204" pitchFamily="34" charset="0"/>
                <a:cs typeface="Times New Roman" panose="02020603050405020304" pitchFamily="18" charset="0"/>
              </a:rPr>
              <a:t> </a:t>
            </a:r>
            <a:endParaRPr lang="en-US" dirty="0"/>
          </a:p>
        </p:txBody>
      </p:sp>
    </p:spTree>
    <p:extLst>
      <p:ext uri="{BB962C8B-B14F-4D97-AF65-F5344CB8AC3E}">
        <p14:creationId xmlns:p14="http://schemas.microsoft.com/office/powerpoint/2010/main" val="13558442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BAEC-85C8-4FD0-BAEC-6DB6D2ED6E9A}"/>
              </a:ext>
            </a:extLst>
          </p:cNvPr>
          <p:cNvSpPr>
            <a:spLocks noGrp="1"/>
          </p:cNvSpPr>
          <p:nvPr>
            <p:ph type="title"/>
          </p:nvPr>
        </p:nvSpPr>
        <p:spPr/>
        <p:txBody>
          <a:bodyPr/>
          <a:lstStyle/>
          <a:p>
            <a:r>
              <a:rPr lang="en-US" dirty="0"/>
              <a:t>Adding up molecules</a:t>
            </a:r>
          </a:p>
        </p:txBody>
      </p:sp>
      <p:graphicFrame>
        <p:nvGraphicFramePr>
          <p:cNvPr id="6" name="Table 6">
            <a:extLst>
              <a:ext uri="{FF2B5EF4-FFF2-40B4-BE49-F238E27FC236}">
                <a16:creationId xmlns:a16="http://schemas.microsoft.com/office/drawing/2014/main" id="{13CDA256-ECA8-407B-ABAC-5690F473D76F}"/>
              </a:ext>
            </a:extLst>
          </p:cNvPr>
          <p:cNvGraphicFramePr>
            <a:graphicFrameLocks noGrp="1"/>
          </p:cNvGraphicFramePr>
          <p:nvPr>
            <p:extLst>
              <p:ext uri="{D42A27DB-BD31-4B8C-83A1-F6EECF244321}">
                <p14:modId xmlns:p14="http://schemas.microsoft.com/office/powerpoint/2010/main" val="1283998218"/>
              </p:ext>
            </p:extLst>
          </p:nvPr>
        </p:nvGraphicFramePr>
        <p:xfrm>
          <a:off x="5781423" y="2997783"/>
          <a:ext cx="6306872" cy="1858411"/>
        </p:xfrm>
        <a:graphic>
          <a:graphicData uri="http://schemas.openxmlformats.org/drawingml/2006/table">
            <a:tbl>
              <a:tblPr firstRow="1" bandRow="1">
                <a:tableStyleId>{5C22544A-7EE6-4342-B048-85BDC9FD1C3A}</a:tableStyleId>
              </a:tblPr>
              <a:tblGrid>
                <a:gridCol w="1240162">
                  <a:extLst>
                    <a:ext uri="{9D8B030D-6E8A-4147-A177-3AD203B41FA5}">
                      <a16:colId xmlns:a16="http://schemas.microsoft.com/office/drawing/2014/main" val="2143897787"/>
                    </a:ext>
                  </a:extLst>
                </a:gridCol>
                <a:gridCol w="822121">
                  <a:extLst>
                    <a:ext uri="{9D8B030D-6E8A-4147-A177-3AD203B41FA5}">
                      <a16:colId xmlns:a16="http://schemas.microsoft.com/office/drawing/2014/main" val="343173123"/>
                    </a:ext>
                  </a:extLst>
                </a:gridCol>
                <a:gridCol w="1036117">
                  <a:extLst>
                    <a:ext uri="{9D8B030D-6E8A-4147-A177-3AD203B41FA5}">
                      <a16:colId xmlns:a16="http://schemas.microsoft.com/office/drawing/2014/main" val="2626180853"/>
                    </a:ext>
                  </a:extLst>
                </a:gridCol>
                <a:gridCol w="1305449">
                  <a:extLst>
                    <a:ext uri="{9D8B030D-6E8A-4147-A177-3AD203B41FA5}">
                      <a16:colId xmlns:a16="http://schemas.microsoft.com/office/drawing/2014/main" val="3482915959"/>
                    </a:ext>
                  </a:extLst>
                </a:gridCol>
                <a:gridCol w="825124">
                  <a:extLst>
                    <a:ext uri="{9D8B030D-6E8A-4147-A177-3AD203B41FA5}">
                      <a16:colId xmlns:a16="http://schemas.microsoft.com/office/drawing/2014/main" val="786052848"/>
                    </a:ext>
                  </a:extLst>
                </a:gridCol>
                <a:gridCol w="1077899">
                  <a:extLst>
                    <a:ext uri="{9D8B030D-6E8A-4147-A177-3AD203B41FA5}">
                      <a16:colId xmlns:a16="http://schemas.microsoft.com/office/drawing/2014/main" val="3679284055"/>
                    </a:ext>
                  </a:extLst>
                </a:gridCol>
              </a:tblGrid>
              <a:tr h="370840">
                <a:tc>
                  <a:txBody>
                    <a:bodyPr/>
                    <a:lstStyle/>
                    <a:p>
                      <a:r>
                        <a:rPr lang="en-US" dirty="0"/>
                        <a:t>Compound</a:t>
                      </a:r>
                    </a:p>
                  </a:txBody>
                  <a:tcPr/>
                </a:tc>
                <a:tc>
                  <a:txBody>
                    <a:bodyPr/>
                    <a:lstStyle/>
                    <a:p>
                      <a:r>
                        <a:rPr lang="en-US" dirty="0"/>
                        <a:t>Moles</a:t>
                      </a:r>
                    </a:p>
                  </a:txBody>
                  <a:tcPr/>
                </a:tc>
                <a:tc>
                  <a:txBody>
                    <a:bodyPr/>
                    <a:lstStyle/>
                    <a:p>
                      <a:r>
                        <a:rPr lang="en-US" dirty="0"/>
                        <a:t>Mass</a:t>
                      </a:r>
                    </a:p>
                  </a:txBody>
                  <a:tcPr/>
                </a:tc>
                <a:tc>
                  <a:txBody>
                    <a:bodyPr/>
                    <a:lstStyle/>
                    <a:p>
                      <a:r>
                        <a:rPr lang="en-US" dirty="0"/>
                        <a:t>Compound</a:t>
                      </a:r>
                    </a:p>
                  </a:txBody>
                  <a:tcPr/>
                </a:tc>
                <a:tc>
                  <a:txBody>
                    <a:bodyPr/>
                    <a:lstStyle/>
                    <a:p>
                      <a:r>
                        <a:rPr lang="en-US" dirty="0"/>
                        <a:t>Moles</a:t>
                      </a:r>
                    </a:p>
                  </a:txBody>
                  <a:tcPr/>
                </a:tc>
                <a:tc>
                  <a:txBody>
                    <a:bodyPr/>
                    <a:lstStyle/>
                    <a:p>
                      <a:r>
                        <a:rPr lang="en-US" dirty="0"/>
                        <a:t>Mass</a:t>
                      </a:r>
                    </a:p>
                  </a:txBody>
                  <a:tcPr/>
                </a:tc>
                <a:extLst>
                  <a:ext uri="{0D108BD9-81ED-4DB2-BD59-A6C34878D82A}">
                    <a16:rowId xmlns:a16="http://schemas.microsoft.com/office/drawing/2014/main" val="2643861740"/>
                  </a:ext>
                </a:extLst>
              </a:tr>
              <a:tr h="370840">
                <a:tc>
                  <a:txBody>
                    <a:bodyPr/>
                    <a:lstStyle/>
                    <a:p>
                      <a:pPr algn="ctr"/>
                      <a:r>
                        <a:rPr lang="en-US" dirty="0"/>
                        <a:t>NH</a:t>
                      </a:r>
                      <a:r>
                        <a:rPr lang="en-US" baseline="-25000" dirty="0"/>
                        <a:t>3</a:t>
                      </a:r>
                    </a:p>
                  </a:txBody>
                  <a:tcPr/>
                </a:tc>
                <a:tc>
                  <a:txBody>
                    <a:bodyPr/>
                    <a:lstStyle/>
                    <a:p>
                      <a:pPr algn="ctr"/>
                      <a:r>
                        <a:rPr lang="en-US" dirty="0"/>
                        <a:t>4</a:t>
                      </a:r>
                    </a:p>
                  </a:txBody>
                  <a:tcPr/>
                </a:tc>
                <a:tc>
                  <a:txBody>
                    <a:bodyPr/>
                    <a:lstStyle/>
                    <a:p>
                      <a:r>
                        <a:rPr lang="en-US" dirty="0"/>
                        <a:t>68.136g</a:t>
                      </a:r>
                    </a:p>
                  </a:txBody>
                  <a:tcPr/>
                </a:tc>
                <a:tc>
                  <a:txBody>
                    <a:bodyPr/>
                    <a:lstStyle/>
                    <a:p>
                      <a:pPr algn="ctr"/>
                      <a:r>
                        <a:rPr lang="en-US" dirty="0"/>
                        <a:t>N</a:t>
                      </a:r>
                      <a:r>
                        <a:rPr lang="en-US" baseline="-25000" dirty="0"/>
                        <a:t>2</a:t>
                      </a:r>
                    </a:p>
                  </a:txBody>
                  <a:tcPr/>
                </a:tc>
                <a:tc>
                  <a:txBody>
                    <a:bodyPr/>
                    <a:lstStyle/>
                    <a:p>
                      <a:pPr algn="ctr"/>
                      <a:r>
                        <a:rPr lang="en-US" dirty="0"/>
                        <a:t>5</a:t>
                      </a:r>
                    </a:p>
                  </a:txBody>
                  <a:tcPr/>
                </a:tc>
                <a:tc>
                  <a:txBody>
                    <a:bodyPr/>
                    <a:lstStyle/>
                    <a:p>
                      <a:r>
                        <a:rPr lang="en-US" dirty="0"/>
                        <a:t>140.1g</a:t>
                      </a:r>
                    </a:p>
                  </a:txBody>
                  <a:tcPr/>
                </a:tc>
                <a:extLst>
                  <a:ext uri="{0D108BD9-81ED-4DB2-BD59-A6C34878D82A}">
                    <a16:rowId xmlns:a16="http://schemas.microsoft.com/office/drawing/2014/main" val="4121520692"/>
                  </a:ext>
                </a:extLst>
              </a:tr>
              <a:tr h="375051">
                <a:tc>
                  <a:txBody>
                    <a:bodyPr/>
                    <a:lstStyle/>
                    <a:p>
                      <a:pPr algn="ctr"/>
                      <a:r>
                        <a:rPr lang="en-US" dirty="0"/>
                        <a:t>NO</a:t>
                      </a:r>
                    </a:p>
                  </a:txBody>
                  <a:tcPr/>
                </a:tc>
                <a:tc>
                  <a:txBody>
                    <a:bodyPr/>
                    <a:lstStyle/>
                    <a:p>
                      <a:pPr algn="ctr"/>
                      <a:r>
                        <a:rPr lang="en-US" dirty="0"/>
                        <a:t>8</a:t>
                      </a:r>
                    </a:p>
                  </a:txBody>
                  <a:tcPr/>
                </a:tc>
                <a:tc>
                  <a:txBody>
                    <a:bodyPr/>
                    <a:lstStyle/>
                    <a:p>
                      <a:r>
                        <a:rPr lang="en-US" dirty="0"/>
                        <a:t>240.08g</a:t>
                      </a:r>
                    </a:p>
                  </a:txBody>
                  <a:tcPr/>
                </a:tc>
                <a:tc>
                  <a:txBody>
                    <a:bodyPr/>
                    <a:lstStyle/>
                    <a:p>
                      <a:pPr algn="ctr"/>
                      <a:r>
                        <a:rPr lang="en-US" dirty="0"/>
                        <a:t>H</a:t>
                      </a:r>
                      <a:r>
                        <a:rPr lang="en-US" baseline="-25000" dirty="0"/>
                        <a:t>2</a:t>
                      </a:r>
                      <a:r>
                        <a:rPr lang="en-US" dirty="0"/>
                        <a:t>O</a:t>
                      </a:r>
                    </a:p>
                  </a:txBody>
                  <a:tcPr/>
                </a:tc>
                <a:tc>
                  <a:txBody>
                    <a:bodyPr/>
                    <a:lstStyle/>
                    <a:p>
                      <a:pPr algn="ctr"/>
                      <a:r>
                        <a:rPr lang="en-US" dirty="0"/>
                        <a:t>6</a:t>
                      </a:r>
                    </a:p>
                  </a:txBody>
                  <a:tcPr/>
                </a:tc>
                <a:tc>
                  <a:txBody>
                    <a:bodyPr/>
                    <a:lstStyle/>
                    <a:p>
                      <a:r>
                        <a:rPr lang="en-US" dirty="0"/>
                        <a:t>108.1g</a:t>
                      </a:r>
                    </a:p>
                  </a:txBody>
                  <a:tcPr/>
                </a:tc>
                <a:extLst>
                  <a:ext uri="{0D108BD9-81ED-4DB2-BD59-A6C34878D82A}">
                    <a16:rowId xmlns:a16="http://schemas.microsoft.com/office/drawing/2014/main" val="3513608601"/>
                  </a:ext>
                </a:extLst>
              </a:tr>
              <a:tr h="370840">
                <a:tc>
                  <a:txBody>
                    <a:bodyPr/>
                    <a:lstStyle/>
                    <a:p>
                      <a:endParaRPr lang="en-US" dirty="0"/>
                    </a:p>
                  </a:txBody>
                  <a:tcPr/>
                </a:tc>
                <a:tc>
                  <a:txBody>
                    <a:bodyPr/>
                    <a:lstStyle/>
                    <a:p>
                      <a:endParaRPr lang="en-US"/>
                    </a:p>
                  </a:txBody>
                  <a:tcPr/>
                </a:tc>
                <a:tc>
                  <a:txBody>
                    <a:bodyPr/>
                    <a:lstStyle/>
                    <a:p>
                      <a:endParaRPr lang="en-US"/>
                    </a:p>
                  </a:txBody>
                  <a:tcPr/>
                </a:tc>
                <a:tc>
                  <a:txBody>
                    <a:bodyPr/>
                    <a:lstStyle/>
                    <a:p>
                      <a:pPr algn="ctr"/>
                      <a:r>
                        <a:rPr lang="en-US" dirty="0"/>
                        <a:t>NH</a:t>
                      </a:r>
                      <a:r>
                        <a:rPr lang="en-US" baseline="-25000" dirty="0"/>
                        <a:t>3</a:t>
                      </a:r>
                    </a:p>
                  </a:txBody>
                  <a:tcPr/>
                </a:tc>
                <a:tc>
                  <a:txBody>
                    <a:bodyPr/>
                    <a:lstStyle/>
                    <a:p>
                      <a:pPr algn="ctr"/>
                      <a:r>
                        <a:rPr lang="en-US" dirty="0"/>
                        <a:t>0</a:t>
                      </a:r>
                    </a:p>
                  </a:txBody>
                  <a:tcPr/>
                </a:tc>
                <a:tc>
                  <a:txBody>
                    <a:bodyPr/>
                    <a:lstStyle/>
                    <a:p>
                      <a:r>
                        <a:rPr lang="en-US" dirty="0"/>
                        <a:t>0.00g</a:t>
                      </a:r>
                    </a:p>
                  </a:txBody>
                  <a:tcPr/>
                </a:tc>
                <a:extLst>
                  <a:ext uri="{0D108BD9-81ED-4DB2-BD59-A6C34878D82A}">
                    <a16:rowId xmlns:a16="http://schemas.microsoft.com/office/drawing/2014/main" val="384755900"/>
                  </a:ext>
                </a:extLst>
              </a:tr>
              <a:tr h="370840">
                <a:tc>
                  <a:txBody>
                    <a:bodyPr/>
                    <a:lstStyle/>
                    <a:p>
                      <a:endParaRPr lang="en-US"/>
                    </a:p>
                  </a:txBody>
                  <a:tcPr/>
                </a:tc>
                <a:tc>
                  <a:txBody>
                    <a:bodyPr/>
                    <a:lstStyle/>
                    <a:p>
                      <a:endParaRPr lang="en-US"/>
                    </a:p>
                  </a:txBody>
                  <a:tcPr/>
                </a:tc>
                <a:tc>
                  <a:txBody>
                    <a:bodyPr/>
                    <a:lstStyle/>
                    <a:p>
                      <a:endParaRPr lang="en-US" dirty="0"/>
                    </a:p>
                  </a:txBody>
                  <a:tcPr/>
                </a:tc>
                <a:tc>
                  <a:txBody>
                    <a:bodyPr/>
                    <a:lstStyle/>
                    <a:p>
                      <a:pPr algn="ctr"/>
                      <a:r>
                        <a:rPr lang="en-US" dirty="0"/>
                        <a:t>NO</a:t>
                      </a:r>
                    </a:p>
                  </a:txBody>
                  <a:tcPr/>
                </a:tc>
                <a:tc>
                  <a:txBody>
                    <a:bodyPr/>
                    <a:lstStyle/>
                    <a:p>
                      <a:pPr algn="ctr"/>
                      <a:r>
                        <a:rPr lang="en-US" dirty="0"/>
                        <a:t>2</a:t>
                      </a:r>
                    </a:p>
                  </a:txBody>
                  <a:tcPr/>
                </a:tc>
                <a:tc>
                  <a:txBody>
                    <a:bodyPr/>
                    <a:lstStyle/>
                    <a:p>
                      <a:r>
                        <a:rPr lang="en-US" dirty="0"/>
                        <a:t>60.02g</a:t>
                      </a:r>
                    </a:p>
                  </a:txBody>
                  <a:tcPr/>
                </a:tc>
                <a:extLst>
                  <a:ext uri="{0D108BD9-81ED-4DB2-BD59-A6C34878D82A}">
                    <a16:rowId xmlns:a16="http://schemas.microsoft.com/office/drawing/2014/main" val="1111415916"/>
                  </a:ext>
                </a:extLst>
              </a:tr>
            </a:tbl>
          </a:graphicData>
        </a:graphic>
      </p:graphicFrame>
      <p:pic>
        <p:nvPicPr>
          <p:cNvPr id="8" name="Picture 7">
            <a:extLst>
              <a:ext uri="{FF2B5EF4-FFF2-40B4-BE49-F238E27FC236}">
                <a16:creationId xmlns:a16="http://schemas.microsoft.com/office/drawing/2014/main" id="{C0CE41D7-F027-4E91-99D4-DAB81CB614F3}"/>
              </a:ext>
            </a:extLst>
          </p:cNvPr>
          <p:cNvPicPr>
            <a:picLocks noChangeAspect="1"/>
          </p:cNvPicPr>
          <p:nvPr/>
        </p:nvPicPr>
        <p:blipFill rotWithShape="1">
          <a:blip r:embed="rId2"/>
          <a:srcRect l="56009" t="19895" r="10757" b="11943"/>
          <a:stretch/>
        </p:blipFill>
        <p:spPr>
          <a:xfrm>
            <a:off x="377503" y="2166539"/>
            <a:ext cx="5403920" cy="3210803"/>
          </a:xfrm>
          <a:prstGeom prst="rect">
            <a:avLst/>
          </a:prstGeom>
        </p:spPr>
      </p:pic>
      <p:sp>
        <p:nvSpPr>
          <p:cNvPr id="9" name="Oval 8">
            <a:extLst>
              <a:ext uri="{FF2B5EF4-FFF2-40B4-BE49-F238E27FC236}">
                <a16:creationId xmlns:a16="http://schemas.microsoft.com/office/drawing/2014/main" id="{ABFA26BE-3049-4940-8A32-7625F03311A3}"/>
              </a:ext>
            </a:extLst>
          </p:cNvPr>
          <p:cNvSpPr/>
          <p:nvPr/>
        </p:nvSpPr>
        <p:spPr>
          <a:xfrm>
            <a:off x="290123" y="4098021"/>
            <a:ext cx="5578680" cy="147646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5CCDBDC9-5388-4E1D-BDC0-13311386077D}"/>
              </a:ext>
            </a:extLst>
          </p:cNvPr>
          <p:cNvSpPr txBox="1"/>
          <p:nvPr/>
        </p:nvSpPr>
        <p:spPr>
          <a:xfrm>
            <a:off x="6635692" y="2541001"/>
            <a:ext cx="1097929" cy="369332"/>
          </a:xfrm>
          <a:prstGeom prst="rect">
            <a:avLst/>
          </a:prstGeom>
          <a:noFill/>
        </p:spPr>
        <p:txBody>
          <a:bodyPr wrap="none" rtlCol="0">
            <a:spAutoFit/>
          </a:bodyPr>
          <a:lstStyle/>
          <a:p>
            <a:r>
              <a:rPr lang="en-US" b="1" dirty="0"/>
              <a:t>Reactants</a:t>
            </a:r>
          </a:p>
        </p:txBody>
      </p:sp>
      <p:sp>
        <p:nvSpPr>
          <p:cNvPr id="11" name="TextBox 10">
            <a:extLst>
              <a:ext uri="{FF2B5EF4-FFF2-40B4-BE49-F238E27FC236}">
                <a16:creationId xmlns:a16="http://schemas.microsoft.com/office/drawing/2014/main" id="{6CBEDC8F-01A2-422E-82E5-3BD89BC7CD6E}"/>
              </a:ext>
            </a:extLst>
          </p:cNvPr>
          <p:cNvSpPr txBox="1"/>
          <p:nvPr/>
        </p:nvSpPr>
        <p:spPr>
          <a:xfrm>
            <a:off x="9957732" y="2541001"/>
            <a:ext cx="994183" cy="369332"/>
          </a:xfrm>
          <a:prstGeom prst="rect">
            <a:avLst/>
          </a:prstGeom>
          <a:noFill/>
        </p:spPr>
        <p:txBody>
          <a:bodyPr wrap="none" rtlCol="0">
            <a:spAutoFit/>
          </a:bodyPr>
          <a:lstStyle/>
          <a:p>
            <a:r>
              <a:rPr lang="en-US" b="1" dirty="0"/>
              <a:t>Products</a:t>
            </a:r>
          </a:p>
        </p:txBody>
      </p:sp>
      <p:cxnSp>
        <p:nvCxnSpPr>
          <p:cNvPr id="13" name="Straight Connector 12">
            <a:extLst>
              <a:ext uri="{FF2B5EF4-FFF2-40B4-BE49-F238E27FC236}">
                <a16:creationId xmlns:a16="http://schemas.microsoft.com/office/drawing/2014/main" id="{46121B0E-45B1-4E86-A3E8-14ADA7A7A231}"/>
              </a:ext>
            </a:extLst>
          </p:cNvPr>
          <p:cNvCxnSpPr/>
          <p:nvPr/>
        </p:nvCxnSpPr>
        <p:spPr>
          <a:xfrm>
            <a:off x="8875552" y="2398388"/>
            <a:ext cx="0" cy="2671893"/>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9AB6265-000C-418B-B368-979AA47272B8}"/>
              </a:ext>
            </a:extLst>
          </p:cNvPr>
          <p:cNvSpPr txBox="1"/>
          <p:nvPr/>
        </p:nvSpPr>
        <p:spPr>
          <a:xfrm>
            <a:off x="570452" y="5657571"/>
            <a:ext cx="5069772" cy="646331"/>
          </a:xfrm>
          <a:prstGeom prst="rect">
            <a:avLst/>
          </a:prstGeom>
          <a:noFill/>
        </p:spPr>
        <p:txBody>
          <a:bodyPr wrap="square" rtlCol="0">
            <a:spAutoFit/>
          </a:bodyPr>
          <a:lstStyle/>
          <a:p>
            <a:r>
              <a:rPr lang="en-US" dirty="0"/>
              <a:t>When the situation is balanced, you can add the total number of moles reactant and moles product</a:t>
            </a:r>
          </a:p>
        </p:txBody>
      </p:sp>
      <p:sp>
        <p:nvSpPr>
          <p:cNvPr id="15" name="TextBox 14">
            <a:extLst>
              <a:ext uri="{FF2B5EF4-FFF2-40B4-BE49-F238E27FC236}">
                <a16:creationId xmlns:a16="http://schemas.microsoft.com/office/drawing/2014/main" id="{C37E0CFC-4395-4C3C-94B2-8DBCE8C88DF9}"/>
              </a:ext>
            </a:extLst>
          </p:cNvPr>
          <p:cNvSpPr txBox="1"/>
          <p:nvPr/>
        </p:nvSpPr>
        <p:spPr>
          <a:xfrm>
            <a:off x="6096000" y="1870745"/>
            <a:ext cx="5718494" cy="646331"/>
          </a:xfrm>
          <a:prstGeom prst="rect">
            <a:avLst/>
          </a:prstGeom>
          <a:noFill/>
        </p:spPr>
        <p:txBody>
          <a:bodyPr wrap="square" rtlCol="0">
            <a:spAutoFit/>
          </a:bodyPr>
          <a:lstStyle/>
          <a:p>
            <a:r>
              <a:rPr lang="en-US" dirty="0"/>
              <a:t>The moles of each compound can be multiplied by its molecular weight to give the mass of each material</a:t>
            </a:r>
          </a:p>
        </p:txBody>
      </p:sp>
      <p:sp>
        <p:nvSpPr>
          <p:cNvPr id="16" name="TextBox 15">
            <a:extLst>
              <a:ext uri="{FF2B5EF4-FFF2-40B4-BE49-F238E27FC236}">
                <a16:creationId xmlns:a16="http://schemas.microsoft.com/office/drawing/2014/main" id="{4976AB3E-BCB6-4B48-8DE9-49F3796274C2}"/>
              </a:ext>
            </a:extLst>
          </p:cNvPr>
          <p:cNvSpPr txBox="1"/>
          <p:nvPr/>
        </p:nvSpPr>
        <p:spPr>
          <a:xfrm>
            <a:off x="6096000" y="4943644"/>
            <a:ext cx="5867278" cy="1754326"/>
          </a:xfrm>
          <a:prstGeom prst="rect">
            <a:avLst/>
          </a:prstGeom>
          <a:noFill/>
        </p:spPr>
        <p:txBody>
          <a:bodyPr wrap="square" rtlCol="0">
            <a:spAutoFit/>
          </a:bodyPr>
          <a:lstStyle/>
          <a:p>
            <a:r>
              <a:rPr lang="en-US" dirty="0"/>
              <a:t>As a check, to see if everything is correct, add the total mass on both sides. Due to conservation of mass, every atom and mole is accounted for. The total amount of reactant mass (including extras) will equal the total amount of product mass (including leftovers). In this example, both sides of the equation have a mass of 308.2g</a:t>
            </a:r>
          </a:p>
        </p:txBody>
      </p:sp>
    </p:spTree>
    <p:extLst>
      <p:ext uri="{BB962C8B-B14F-4D97-AF65-F5344CB8AC3E}">
        <p14:creationId xmlns:p14="http://schemas.microsoft.com/office/powerpoint/2010/main" val="13467885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588A1-5B09-41EA-827C-1DB9477077E8}"/>
              </a:ext>
            </a:extLst>
          </p:cNvPr>
          <p:cNvSpPr>
            <a:spLocks noGrp="1"/>
          </p:cNvSpPr>
          <p:nvPr>
            <p:ph type="title"/>
          </p:nvPr>
        </p:nvSpPr>
        <p:spPr/>
        <p:txBody>
          <a:bodyPr/>
          <a:lstStyle/>
          <a:p>
            <a:r>
              <a:rPr lang="en-US" dirty="0"/>
              <a:t>Part b – video reaction overview</a:t>
            </a:r>
          </a:p>
        </p:txBody>
      </p:sp>
      <p:sp>
        <p:nvSpPr>
          <p:cNvPr id="3" name="Content Placeholder 2">
            <a:extLst>
              <a:ext uri="{FF2B5EF4-FFF2-40B4-BE49-F238E27FC236}">
                <a16:creationId xmlns:a16="http://schemas.microsoft.com/office/drawing/2014/main" id="{5B8A3E66-EC37-4389-88D9-A5167B9B5E8E}"/>
              </a:ext>
            </a:extLst>
          </p:cNvPr>
          <p:cNvSpPr>
            <a:spLocks noGrp="1"/>
          </p:cNvSpPr>
          <p:nvPr>
            <p:ph idx="1"/>
          </p:nvPr>
        </p:nvSpPr>
        <p:spPr>
          <a:xfrm>
            <a:off x="319489" y="1844142"/>
            <a:ext cx="11490593" cy="4606992"/>
          </a:xfrm>
        </p:spPr>
        <p:txBody>
          <a:bodyPr>
            <a:normAutofit/>
          </a:bodyPr>
          <a:lstStyle/>
          <a:p>
            <a:r>
              <a:rPr lang="en-US" dirty="0"/>
              <a:t>This experiment involves interpreting the results of two precipitation reactions based on an unknown</a:t>
            </a:r>
          </a:p>
          <a:p>
            <a:r>
              <a:rPr lang="en-US" dirty="0"/>
              <a:t>In each reaction, you will determine, through observations, what is the Limiting Reactant</a:t>
            </a:r>
          </a:p>
          <a:p>
            <a:r>
              <a:rPr lang="en-US" dirty="0"/>
              <a:t>The first reaction is a precipitation reaction with two solutions</a:t>
            </a:r>
          </a:p>
          <a:p>
            <a:pPr lvl="1"/>
            <a:r>
              <a:rPr lang="en-US" dirty="0"/>
              <a:t>The identity of the solutions is given in the unknown file.</a:t>
            </a:r>
          </a:p>
          <a:p>
            <a:pPr lvl="1"/>
            <a:r>
              <a:rPr lang="en-US" dirty="0"/>
              <a:t>The reaction will form a solid precipitate</a:t>
            </a:r>
          </a:p>
          <a:p>
            <a:pPr lvl="1"/>
            <a:r>
              <a:rPr lang="en-US" dirty="0"/>
              <a:t>The product mixture is poured through filter paper and the filtrate that passes through is collected</a:t>
            </a:r>
          </a:p>
          <a:p>
            <a:pPr lvl="1"/>
            <a:r>
              <a:rPr lang="en-US" dirty="0"/>
              <a:t>To two separate portions of the filtrate, additional reactant is added</a:t>
            </a:r>
          </a:p>
          <a:p>
            <a:pPr marL="128016" lvl="1" indent="0">
              <a:buNone/>
            </a:pPr>
            <a:r>
              <a:rPr lang="en-US" sz="2200" dirty="0"/>
              <a:t>The second reaction is a reaction between Calcium Chloride and Sodium Hydroxide</a:t>
            </a:r>
          </a:p>
          <a:p>
            <a:pPr lvl="2"/>
            <a:r>
              <a:rPr lang="en-US" sz="1800" dirty="0"/>
              <a:t>The identity of the limiting reactant is determined using the same interpretation as Reaction #1</a:t>
            </a:r>
          </a:p>
          <a:p>
            <a:pPr lvl="2"/>
            <a:r>
              <a:rPr lang="en-US" sz="1800" dirty="0"/>
              <a:t>The specific solution concentrations are given in the unknown file</a:t>
            </a:r>
          </a:p>
          <a:p>
            <a:pPr lvl="2"/>
            <a:r>
              <a:rPr lang="en-US" sz="1800" dirty="0"/>
              <a:t>Using the limiting reactant identity &amp; the concentrations, you will determine the mass of product formed</a:t>
            </a:r>
          </a:p>
          <a:p>
            <a:pPr lvl="2"/>
            <a:r>
              <a:rPr lang="en-US" sz="1800" dirty="0"/>
              <a:t>The solubility of the product will also be taken into account.</a:t>
            </a:r>
          </a:p>
        </p:txBody>
      </p:sp>
    </p:spTree>
    <p:extLst>
      <p:ext uri="{BB962C8B-B14F-4D97-AF65-F5344CB8AC3E}">
        <p14:creationId xmlns:p14="http://schemas.microsoft.com/office/powerpoint/2010/main" val="968292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8CCD6-4D96-4081-AD2A-690F578C649F}"/>
              </a:ext>
            </a:extLst>
          </p:cNvPr>
          <p:cNvSpPr>
            <a:spLocks noGrp="1"/>
          </p:cNvSpPr>
          <p:nvPr>
            <p:ph type="title"/>
          </p:nvPr>
        </p:nvSpPr>
        <p:spPr/>
        <p:txBody>
          <a:bodyPr/>
          <a:lstStyle/>
          <a:p>
            <a:r>
              <a:rPr lang="en-US" dirty="0"/>
              <a:t>Precipitation reactions</a:t>
            </a:r>
          </a:p>
        </p:txBody>
      </p:sp>
      <p:sp>
        <p:nvSpPr>
          <p:cNvPr id="3" name="Content Placeholder 2">
            <a:extLst>
              <a:ext uri="{FF2B5EF4-FFF2-40B4-BE49-F238E27FC236}">
                <a16:creationId xmlns:a16="http://schemas.microsoft.com/office/drawing/2014/main" id="{63CD835D-FC2C-43A7-A795-5F91BA4E7DA7}"/>
              </a:ext>
            </a:extLst>
          </p:cNvPr>
          <p:cNvSpPr>
            <a:spLocks noGrp="1"/>
          </p:cNvSpPr>
          <p:nvPr>
            <p:ph idx="1"/>
          </p:nvPr>
        </p:nvSpPr>
        <p:spPr>
          <a:xfrm>
            <a:off x="1024128" y="1758225"/>
            <a:ext cx="9720073" cy="4023360"/>
          </a:xfrm>
        </p:spPr>
        <p:txBody>
          <a:bodyPr/>
          <a:lstStyle/>
          <a:p>
            <a:r>
              <a:rPr lang="en-US" dirty="0"/>
              <a:t>A precipitation reaction is a class of reactions where a solid will form when two liquid solutions are combined</a:t>
            </a:r>
          </a:p>
          <a:p>
            <a:r>
              <a:rPr lang="en-US" dirty="0"/>
              <a:t>These reactions are driven primarily by the solubility of the product</a:t>
            </a:r>
          </a:p>
          <a:p>
            <a:r>
              <a:rPr lang="en-US" dirty="0"/>
              <a:t>If the total theoretical mass of product is below the solubility limit, there will be no reaction (the solid that would form, stays dissolved)</a:t>
            </a:r>
          </a:p>
          <a:p>
            <a:r>
              <a:rPr lang="en-US" dirty="0"/>
              <a:t>If the total theoretical mass of product is above the solubility limit, there will be a reaction</a:t>
            </a:r>
          </a:p>
          <a:p>
            <a:r>
              <a:rPr lang="en-US" dirty="0"/>
              <a:t>The actual amount of solid that precipitates would be the total theoretical mass, minus the amount that could be dissolved (solubility)</a:t>
            </a:r>
          </a:p>
        </p:txBody>
      </p:sp>
    </p:spTree>
    <p:extLst>
      <p:ext uri="{BB962C8B-B14F-4D97-AF65-F5344CB8AC3E}">
        <p14:creationId xmlns:p14="http://schemas.microsoft.com/office/powerpoint/2010/main" val="22317255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A7987-3BE0-4882-85B0-6D80B46FF776}"/>
              </a:ext>
            </a:extLst>
          </p:cNvPr>
          <p:cNvSpPr>
            <a:spLocks noGrp="1"/>
          </p:cNvSpPr>
          <p:nvPr>
            <p:ph type="title"/>
          </p:nvPr>
        </p:nvSpPr>
        <p:spPr/>
        <p:txBody>
          <a:bodyPr/>
          <a:lstStyle/>
          <a:p>
            <a:r>
              <a:rPr lang="en-US" dirty="0"/>
              <a:t>Filter paper</a:t>
            </a:r>
          </a:p>
        </p:txBody>
      </p:sp>
      <p:sp>
        <p:nvSpPr>
          <p:cNvPr id="3" name="Content Placeholder 2">
            <a:extLst>
              <a:ext uri="{FF2B5EF4-FFF2-40B4-BE49-F238E27FC236}">
                <a16:creationId xmlns:a16="http://schemas.microsoft.com/office/drawing/2014/main" id="{F8BEDD42-B844-4EFF-9493-3C6068553ADF}"/>
              </a:ext>
            </a:extLst>
          </p:cNvPr>
          <p:cNvSpPr>
            <a:spLocks noGrp="1"/>
          </p:cNvSpPr>
          <p:nvPr>
            <p:ph idx="1"/>
          </p:nvPr>
        </p:nvSpPr>
        <p:spPr>
          <a:xfrm>
            <a:off x="781905" y="2001385"/>
            <a:ext cx="4625772" cy="4023360"/>
          </a:xfrm>
        </p:spPr>
        <p:txBody>
          <a:bodyPr>
            <a:normAutofit fontScale="92500" lnSpcReduction="20000"/>
          </a:bodyPr>
          <a:lstStyle/>
          <a:p>
            <a:r>
              <a:rPr lang="en-US" dirty="0"/>
              <a:t>To separate out the product, filter paper is used in the lab</a:t>
            </a:r>
          </a:p>
          <a:p>
            <a:r>
              <a:rPr lang="en-US" dirty="0"/>
              <a:t>Filter paper is typically found as circles</a:t>
            </a:r>
          </a:p>
          <a:p>
            <a:r>
              <a:rPr lang="en-US" dirty="0"/>
              <a:t>These circles are folded in half, and then folded in half again to appear as a ¼ circle</a:t>
            </a:r>
          </a:p>
          <a:p>
            <a:r>
              <a:rPr lang="en-US" dirty="0"/>
              <a:t>These ¼ circles can open and appear as its own paper funnel, which is placed in your normal funnel.</a:t>
            </a:r>
          </a:p>
          <a:p>
            <a:r>
              <a:rPr lang="en-US" dirty="0"/>
              <a:t>The entire mixture (solid and liquid) is poured into a funnel containing a piece of filter paper</a:t>
            </a:r>
          </a:p>
          <a:p>
            <a:r>
              <a:rPr lang="en-US" dirty="0"/>
              <a:t>The liquid that passes through the filter paper is referred to as the Filtrate</a:t>
            </a:r>
          </a:p>
          <a:p>
            <a:endParaRPr lang="en-US" dirty="0"/>
          </a:p>
        </p:txBody>
      </p:sp>
      <p:pic>
        <p:nvPicPr>
          <p:cNvPr id="8" name="Picture 7" descr="A picture containing cup, table, sitting, using&#10;&#10;Description automatically generated">
            <a:extLst>
              <a:ext uri="{FF2B5EF4-FFF2-40B4-BE49-F238E27FC236}">
                <a16:creationId xmlns:a16="http://schemas.microsoft.com/office/drawing/2014/main" id="{427350D8-D36F-497F-A504-94A775DA8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33079" y="1855575"/>
            <a:ext cx="3028950" cy="1514475"/>
          </a:xfrm>
          <a:prstGeom prst="rect">
            <a:avLst/>
          </a:prstGeom>
        </p:spPr>
      </p:pic>
      <p:pic>
        <p:nvPicPr>
          <p:cNvPr id="10" name="Picture 9" descr="A picture containing food, table&#10;&#10;Description automatically generated">
            <a:extLst>
              <a:ext uri="{FF2B5EF4-FFF2-40B4-BE49-F238E27FC236}">
                <a16:creationId xmlns:a16="http://schemas.microsoft.com/office/drawing/2014/main" id="{3E171BF8-1016-4949-B78F-218A76D4B6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35881" y="81566"/>
            <a:ext cx="2474214" cy="1492462"/>
          </a:xfrm>
          <a:prstGeom prst="rect">
            <a:avLst/>
          </a:prstGeom>
        </p:spPr>
      </p:pic>
      <p:pic>
        <p:nvPicPr>
          <p:cNvPr id="12" name="Picture 11" descr="Icon&#10;&#10;Description automatically generated">
            <a:extLst>
              <a:ext uri="{FF2B5EF4-FFF2-40B4-BE49-F238E27FC236}">
                <a16:creationId xmlns:a16="http://schemas.microsoft.com/office/drawing/2014/main" id="{D914C1CE-12C0-43F0-A358-FA68FBE76FA2}"/>
              </a:ext>
            </a:extLst>
          </p:cNvPr>
          <p:cNvPicPr>
            <a:picLocks noChangeAspect="1"/>
          </p:cNvPicPr>
          <p:nvPr/>
        </p:nvPicPr>
        <p:blipFill rotWithShape="1">
          <a:blip r:embed="rId4">
            <a:extLst>
              <a:ext uri="{28A0092B-C50C-407E-A947-70E740481C1C}">
                <a14:useLocalDpi xmlns:a14="http://schemas.microsoft.com/office/drawing/2010/main" val="0"/>
              </a:ext>
            </a:extLst>
          </a:blip>
          <a:srcRect l="34868" t="440" r="35075" b="-440"/>
          <a:stretch/>
        </p:blipFill>
        <p:spPr>
          <a:xfrm>
            <a:off x="5701563" y="585216"/>
            <a:ext cx="1803633" cy="3000375"/>
          </a:xfrm>
          <a:prstGeom prst="rect">
            <a:avLst/>
          </a:prstGeom>
        </p:spPr>
      </p:pic>
      <p:pic>
        <p:nvPicPr>
          <p:cNvPr id="14" name="Picture 13" descr="Diagram&#10;&#10;Description automatically generated">
            <a:extLst>
              <a:ext uri="{FF2B5EF4-FFF2-40B4-BE49-F238E27FC236}">
                <a16:creationId xmlns:a16="http://schemas.microsoft.com/office/drawing/2014/main" id="{E90410D8-861A-4099-AFB4-91339D44137E}"/>
              </a:ext>
            </a:extLst>
          </p:cNvPr>
          <p:cNvPicPr>
            <a:picLocks noChangeAspect="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l="373" t="26324"/>
          <a:stretch/>
        </p:blipFill>
        <p:spPr>
          <a:xfrm>
            <a:off x="7356279" y="3867138"/>
            <a:ext cx="4858649" cy="2722843"/>
          </a:xfrm>
          <a:prstGeom prst="rect">
            <a:avLst/>
          </a:prstGeom>
        </p:spPr>
      </p:pic>
      <p:pic>
        <p:nvPicPr>
          <p:cNvPr id="16" name="Picture 15" descr="A picture containing indoor, table, sitting, small&#10;&#10;Description automatically generated">
            <a:extLst>
              <a:ext uri="{FF2B5EF4-FFF2-40B4-BE49-F238E27FC236}">
                <a16:creationId xmlns:a16="http://schemas.microsoft.com/office/drawing/2014/main" id="{A4EA82BB-BFC1-4126-87A5-40C65384B69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407677" y="4070675"/>
            <a:ext cx="1809750" cy="2152650"/>
          </a:xfrm>
          <a:prstGeom prst="rect">
            <a:avLst/>
          </a:prstGeom>
        </p:spPr>
      </p:pic>
    </p:spTree>
    <p:extLst>
      <p:ext uri="{BB962C8B-B14F-4D97-AF65-F5344CB8AC3E}">
        <p14:creationId xmlns:p14="http://schemas.microsoft.com/office/powerpoint/2010/main" val="1848092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lowchart: Delay 14">
            <a:extLst>
              <a:ext uri="{FF2B5EF4-FFF2-40B4-BE49-F238E27FC236}">
                <a16:creationId xmlns:a16="http://schemas.microsoft.com/office/drawing/2014/main" id="{998ECE5B-8F1F-441E-B0C4-D915A135076A}"/>
              </a:ext>
            </a:extLst>
          </p:cNvPr>
          <p:cNvSpPr/>
          <p:nvPr/>
        </p:nvSpPr>
        <p:spPr>
          <a:xfrm rot="5400000">
            <a:off x="6973825" y="4240242"/>
            <a:ext cx="1758314" cy="700757"/>
          </a:xfrm>
          <a:prstGeom prst="flowChartDelay">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9B295D9-9956-41BA-8FF5-E088E0AC8AC4}"/>
              </a:ext>
            </a:extLst>
          </p:cNvPr>
          <p:cNvSpPr>
            <a:spLocks noGrp="1"/>
          </p:cNvSpPr>
          <p:nvPr>
            <p:ph type="title"/>
          </p:nvPr>
        </p:nvSpPr>
        <p:spPr/>
        <p:txBody>
          <a:bodyPr/>
          <a:lstStyle/>
          <a:p>
            <a:r>
              <a:rPr lang="en-US" dirty="0"/>
              <a:t>Interpreting observations</a:t>
            </a:r>
          </a:p>
        </p:txBody>
      </p:sp>
      <p:sp>
        <p:nvSpPr>
          <p:cNvPr id="3" name="Content Placeholder 2">
            <a:extLst>
              <a:ext uri="{FF2B5EF4-FFF2-40B4-BE49-F238E27FC236}">
                <a16:creationId xmlns:a16="http://schemas.microsoft.com/office/drawing/2014/main" id="{A616CEC4-E8ED-4750-8C30-8401477CBE37}"/>
              </a:ext>
            </a:extLst>
          </p:cNvPr>
          <p:cNvSpPr>
            <a:spLocks noGrp="1"/>
          </p:cNvSpPr>
          <p:nvPr>
            <p:ph idx="1"/>
          </p:nvPr>
        </p:nvSpPr>
        <p:spPr>
          <a:xfrm>
            <a:off x="309564" y="2084832"/>
            <a:ext cx="4631829" cy="4023360"/>
          </a:xfrm>
        </p:spPr>
        <p:txBody>
          <a:bodyPr/>
          <a:lstStyle/>
          <a:p>
            <a:r>
              <a:rPr lang="en-US" dirty="0"/>
              <a:t>To experimentally determine the limiting reactant, you will split the filtrate into two portions</a:t>
            </a:r>
          </a:p>
          <a:p>
            <a:r>
              <a:rPr lang="en-US" dirty="0"/>
              <a:t>To the first portion, you will add additional Calcium Chloride</a:t>
            </a:r>
          </a:p>
          <a:p>
            <a:r>
              <a:rPr lang="en-US" dirty="0"/>
              <a:t>To the second portion, you will add more of the other reactant</a:t>
            </a:r>
          </a:p>
          <a:p>
            <a:r>
              <a:rPr lang="en-US" dirty="0"/>
              <a:t>Which ever additional reactant causes more precipitation, indicates that it initially was the limiting reactant</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23F8436A-B4B5-44AD-AB87-39762492CD7F}"/>
                  </a:ext>
                </a:extLst>
              </p:cNvPr>
              <p:cNvSpPr txBox="1"/>
              <p:nvPr/>
            </p:nvSpPr>
            <p:spPr>
              <a:xfrm>
                <a:off x="6370473" y="381555"/>
                <a:ext cx="5175712" cy="3036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a:rPr lang="en-US" b="0" i="1" smtClean="0">
                              <a:latin typeface="Cambria Math" panose="02040503050406030204" pitchFamily="18" charset="0"/>
                            </a:rPr>
                            <m:t>𝐶𝑎𝐶𝑙</m:t>
                          </m:r>
                        </m:e>
                        <m:sub>
                          <m:r>
                            <a:rPr lang="en-US" b="0" i="1" smtClean="0">
                              <a:latin typeface="Cambria Math" panose="02040503050406030204" pitchFamily="18" charset="0"/>
                            </a:rPr>
                            <m:t>2(</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2</m:t>
                          </m:r>
                          <m:r>
                            <a:rPr lang="en-US" b="0" i="1" smtClean="0">
                              <a:latin typeface="Cambria Math" panose="02040503050406030204" pitchFamily="18" charset="0"/>
                            </a:rPr>
                            <m:t>𝑁𝑎𝑂𝐻</m:t>
                          </m:r>
                        </m:e>
                        <m:sub>
                          <m:r>
                            <a:rPr lang="en-US" b="0" i="1" smtClean="0">
                              <a:latin typeface="Cambria Math" panose="02040503050406030204" pitchFamily="18" charset="0"/>
                            </a:rPr>
                            <m:t>(</m:t>
                          </m:r>
                          <m:r>
                            <a:rPr lang="en-US" b="0" i="1" smtClean="0">
                              <a:latin typeface="Cambria Math" panose="02040503050406030204" pitchFamily="18" charset="0"/>
                            </a:rPr>
                            <m:t>𝑎𝑞</m:t>
                          </m:r>
                          <m:r>
                            <a:rPr lang="en-US" b="0" i="1" smtClean="0">
                              <a:latin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𝐶𝑎</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𝑂𝐻</m:t>
                          </m:r>
                          <m:r>
                            <a:rPr lang="en-US" b="0" i="1" smtClean="0">
                              <a:latin typeface="Cambria Math" panose="02040503050406030204" pitchFamily="18" charset="0"/>
                              <a:ea typeface="Cambria Math" panose="02040503050406030204" pitchFamily="18" charset="0"/>
                            </a:rPr>
                            <m:t>)</m:t>
                          </m:r>
                        </m:e>
                        <m:sub>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𝑠</m:t>
                          </m:r>
                          <m:r>
                            <a:rPr lang="en-US" b="0" i="1" smtClean="0">
                              <a:latin typeface="Cambria Math" panose="02040503050406030204" pitchFamily="18" charset="0"/>
                              <a:ea typeface="Cambria Math" panose="02040503050406030204" pitchFamily="18" charset="0"/>
                            </a:rPr>
                            <m:t>)</m:t>
                          </m:r>
                        </m:sub>
                      </m:sSub>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𝑁𝑎𝐶𝑙</m:t>
                          </m:r>
                        </m:e>
                        <m:sub>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𝑎𝑞</m:t>
                          </m:r>
                          <m:r>
                            <a:rPr lang="en-US" b="0" i="1" smtClean="0">
                              <a:latin typeface="Cambria Math" panose="02040503050406030204" pitchFamily="18" charset="0"/>
                              <a:ea typeface="Cambria Math" panose="02040503050406030204" pitchFamily="18" charset="0"/>
                            </a:rPr>
                            <m:t>)</m:t>
                          </m:r>
                        </m:sub>
                      </m:sSub>
                    </m:oMath>
                  </m:oMathPara>
                </a14:m>
                <a:endParaRPr lang="en-US" dirty="0"/>
              </a:p>
            </p:txBody>
          </p:sp>
        </mc:Choice>
        <mc:Fallback xmlns="">
          <p:sp>
            <p:nvSpPr>
              <p:cNvPr id="4" name="TextBox 3">
                <a:extLst>
                  <a:ext uri="{FF2B5EF4-FFF2-40B4-BE49-F238E27FC236}">
                    <a16:creationId xmlns:a16="http://schemas.microsoft.com/office/drawing/2014/main" id="{23F8436A-B4B5-44AD-AB87-39762492CD7F}"/>
                  </a:ext>
                </a:extLst>
              </p:cNvPr>
              <p:cNvSpPr txBox="1">
                <a:spLocks noRot="1" noChangeAspect="1" noMove="1" noResize="1" noEditPoints="1" noAdjustHandles="1" noChangeArrowheads="1" noChangeShapeType="1" noTextEdit="1"/>
              </p:cNvSpPr>
              <p:nvPr/>
            </p:nvSpPr>
            <p:spPr>
              <a:xfrm>
                <a:off x="6370473" y="381555"/>
                <a:ext cx="5175712" cy="303673"/>
              </a:xfrm>
              <a:prstGeom prst="rect">
                <a:avLst/>
              </a:prstGeom>
              <a:blipFill>
                <a:blip r:embed="rId2"/>
                <a:stretch>
                  <a:fillRect l="-589" t="-2041" r="-471" b="-28571"/>
                </a:stretch>
              </a:blipFill>
            </p:spPr>
            <p:txBody>
              <a:bodyPr/>
              <a:lstStyle/>
              <a:p>
                <a:r>
                  <a:rPr lang="en-US">
                    <a:noFill/>
                  </a:rPr>
                  <a:t> </a:t>
                </a:r>
              </a:p>
            </p:txBody>
          </p:sp>
        </mc:Fallback>
      </mc:AlternateContent>
      <p:sp>
        <p:nvSpPr>
          <p:cNvPr id="6" name="Flowchart: Delay 5">
            <a:extLst>
              <a:ext uri="{FF2B5EF4-FFF2-40B4-BE49-F238E27FC236}">
                <a16:creationId xmlns:a16="http://schemas.microsoft.com/office/drawing/2014/main" id="{6DACE95C-EC31-4445-B254-40B6E232EA40}"/>
              </a:ext>
            </a:extLst>
          </p:cNvPr>
          <p:cNvSpPr/>
          <p:nvPr/>
        </p:nvSpPr>
        <p:spPr>
          <a:xfrm rot="5400000">
            <a:off x="6973825" y="1886154"/>
            <a:ext cx="1758314" cy="700757"/>
          </a:xfrm>
          <a:prstGeom prst="flowChartDelay">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Delay 7">
            <a:extLst>
              <a:ext uri="{FF2B5EF4-FFF2-40B4-BE49-F238E27FC236}">
                <a16:creationId xmlns:a16="http://schemas.microsoft.com/office/drawing/2014/main" id="{8113FEBF-53F3-480A-BBA3-256E6A26D36B}"/>
              </a:ext>
            </a:extLst>
          </p:cNvPr>
          <p:cNvSpPr/>
          <p:nvPr/>
        </p:nvSpPr>
        <p:spPr>
          <a:xfrm rot="5400000">
            <a:off x="7423494" y="4689911"/>
            <a:ext cx="858976" cy="700757"/>
          </a:xfrm>
          <a:prstGeom prst="flowChartDelay">
            <a:avLst/>
          </a:prstGeom>
          <a:blipFill>
            <a:blip r:embed="rId3"/>
            <a:tile tx="0" ty="0" sx="100000" sy="100000" flip="none" algn="tl"/>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lowchart: Delay 9">
            <a:extLst>
              <a:ext uri="{FF2B5EF4-FFF2-40B4-BE49-F238E27FC236}">
                <a16:creationId xmlns:a16="http://schemas.microsoft.com/office/drawing/2014/main" id="{F3D51C77-FFE8-4BB4-8F43-EC4223156600}"/>
              </a:ext>
            </a:extLst>
          </p:cNvPr>
          <p:cNvSpPr/>
          <p:nvPr/>
        </p:nvSpPr>
        <p:spPr>
          <a:xfrm rot="5400000">
            <a:off x="8590998" y="1892163"/>
            <a:ext cx="1758314" cy="700757"/>
          </a:xfrm>
          <a:prstGeom prst="flowChartDelay">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Delay 11">
            <a:extLst>
              <a:ext uri="{FF2B5EF4-FFF2-40B4-BE49-F238E27FC236}">
                <a16:creationId xmlns:a16="http://schemas.microsoft.com/office/drawing/2014/main" id="{81E09052-E8AD-4FA1-9CD1-EB499AD98D16}"/>
              </a:ext>
            </a:extLst>
          </p:cNvPr>
          <p:cNvSpPr/>
          <p:nvPr/>
        </p:nvSpPr>
        <p:spPr>
          <a:xfrm rot="5400000">
            <a:off x="8590998" y="4240242"/>
            <a:ext cx="1758314" cy="700757"/>
          </a:xfrm>
          <a:prstGeom prst="flowChartDelay">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CE72A9B-8F30-4DD9-AEE9-B803F518EB1A}"/>
              </a:ext>
            </a:extLst>
          </p:cNvPr>
          <p:cNvSpPr txBox="1"/>
          <p:nvPr/>
        </p:nvSpPr>
        <p:spPr>
          <a:xfrm>
            <a:off x="8246551" y="1688387"/>
            <a:ext cx="830035" cy="369332"/>
          </a:xfrm>
          <a:prstGeom prst="rect">
            <a:avLst/>
          </a:prstGeom>
          <a:noFill/>
        </p:spPr>
        <p:txBody>
          <a:bodyPr wrap="none" rtlCol="0">
            <a:spAutoFit/>
          </a:bodyPr>
          <a:lstStyle/>
          <a:p>
            <a:r>
              <a:rPr lang="en-US" dirty="0"/>
              <a:t>Filtrate</a:t>
            </a:r>
          </a:p>
        </p:txBody>
      </p:sp>
      <p:sp>
        <p:nvSpPr>
          <p:cNvPr id="16" name="TextBox 15">
            <a:extLst>
              <a:ext uri="{FF2B5EF4-FFF2-40B4-BE49-F238E27FC236}">
                <a16:creationId xmlns:a16="http://schemas.microsoft.com/office/drawing/2014/main" id="{6A032995-CC5D-4256-A3FA-B1698D0DB80C}"/>
              </a:ext>
            </a:extLst>
          </p:cNvPr>
          <p:cNvSpPr txBox="1"/>
          <p:nvPr/>
        </p:nvSpPr>
        <p:spPr>
          <a:xfrm>
            <a:off x="8920428" y="5469778"/>
            <a:ext cx="1287084" cy="369332"/>
          </a:xfrm>
          <a:prstGeom prst="rect">
            <a:avLst/>
          </a:prstGeom>
          <a:noFill/>
        </p:spPr>
        <p:txBody>
          <a:bodyPr wrap="none" rtlCol="0">
            <a:spAutoFit/>
          </a:bodyPr>
          <a:lstStyle/>
          <a:p>
            <a:r>
              <a:rPr lang="en-US" dirty="0"/>
              <a:t>No Reaction</a:t>
            </a:r>
          </a:p>
        </p:txBody>
      </p:sp>
      <p:sp>
        <p:nvSpPr>
          <p:cNvPr id="17" name="TextBox 16">
            <a:extLst>
              <a:ext uri="{FF2B5EF4-FFF2-40B4-BE49-F238E27FC236}">
                <a16:creationId xmlns:a16="http://schemas.microsoft.com/office/drawing/2014/main" id="{661C479A-1E7A-43F8-BB28-40EF3195B60F}"/>
              </a:ext>
            </a:extLst>
          </p:cNvPr>
          <p:cNvSpPr txBox="1"/>
          <p:nvPr/>
        </p:nvSpPr>
        <p:spPr>
          <a:xfrm>
            <a:off x="7183570" y="5436069"/>
            <a:ext cx="1329210" cy="369332"/>
          </a:xfrm>
          <a:prstGeom prst="rect">
            <a:avLst/>
          </a:prstGeom>
          <a:noFill/>
        </p:spPr>
        <p:txBody>
          <a:bodyPr wrap="none" rtlCol="0">
            <a:spAutoFit/>
          </a:bodyPr>
          <a:lstStyle/>
          <a:p>
            <a:r>
              <a:rPr lang="en-US" dirty="0"/>
              <a:t>Precipitation</a:t>
            </a:r>
          </a:p>
        </p:txBody>
      </p:sp>
      <p:sp>
        <p:nvSpPr>
          <p:cNvPr id="18" name="TextBox 17">
            <a:extLst>
              <a:ext uri="{FF2B5EF4-FFF2-40B4-BE49-F238E27FC236}">
                <a16:creationId xmlns:a16="http://schemas.microsoft.com/office/drawing/2014/main" id="{571FE8EC-1542-449F-BB7D-7C6812B3D654}"/>
              </a:ext>
            </a:extLst>
          </p:cNvPr>
          <p:cNvSpPr txBox="1"/>
          <p:nvPr/>
        </p:nvSpPr>
        <p:spPr>
          <a:xfrm>
            <a:off x="10015069" y="2713481"/>
            <a:ext cx="1798890" cy="369332"/>
          </a:xfrm>
          <a:prstGeom prst="rect">
            <a:avLst/>
          </a:prstGeom>
          <a:noFill/>
        </p:spPr>
        <p:txBody>
          <a:bodyPr wrap="none" rtlCol="0">
            <a:spAutoFit/>
          </a:bodyPr>
          <a:lstStyle/>
          <a:p>
            <a:r>
              <a:rPr lang="en-US" dirty="0"/>
              <a:t>Additional NaOH</a:t>
            </a:r>
          </a:p>
        </p:txBody>
      </p:sp>
      <p:sp>
        <p:nvSpPr>
          <p:cNvPr id="19" name="TextBox 18">
            <a:extLst>
              <a:ext uri="{FF2B5EF4-FFF2-40B4-BE49-F238E27FC236}">
                <a16:creationId xmlns:a16="http://schemas.microsoft.com/office/drawing/2014/main" id="{A34C0536-A367-4557-A623-183532C2EBCB}"/>
              </a:ext>
            </a:extLst>
          </p:cNvPr>
          <p:cNvSpPr txBox="1"/>
          <p:nvPr/>
        </p:nvSpPr>
        <p:spPr>
          <a:xfrm>
            <a:off x="5509178" y="2605145"/>
            <a:ext cx="1784463" cy="369332"/>
          </a:xfrm>
          <a:prstGeom prst="rect">
            <a:avLst/>
          </a:prstGeom>
          <a:noFill/>
        </p:spPr>
        <p:txBody>
          <a:bodyPr wrap="none" rtlCol="0">
            <a:spAutoFit/>
          </a:bodyPr>
          <a:lstStyle/>
          <a:p>
            <a:r>
              <a:rPr lang="en-US" dirty="0"/>
              <a:t>Additional CaCl</a:t>
            </a:r>
            <a:r>
              <a:rPr lang="en-US" baseline="-25000" dirty="0"/>
              <a:t>2</a:t>
            </a:r>
          </a:p>
        </p:txBody>
      </p:sp>
      <p:cxnSp>
        <p:nvCxnSpPr>
          <p:cNvPr id="21" name="Straight Arrow Connector 20">
            <a:extLst>
              <a:ext uri="{FF2B5EF4-FFF2-40B4-BE49-F238E27FC236}">
                <a16:creationId xmlns:a16="http://schemas.microsoft.com/office/drawing/2014/main" id="{588680EB-6B91-4505-9ECB-271F8A8E22C1}"/>
              </a:ext>
            </a:extLst>
          </p:cNvPr>
          <p:cNvCxnSpPr>
            <a:stCxn id="6" idx="3"/>
            <a:endCxn id="15" idx="1"/>
          </p:cNvCxnSpPr>
          <p:nvPr/>
        </p:nvCxnSpPr>
        <p:spPr>
          <a:xfrm>
            <a:off x="7852982" y="3115690"/>
            <a:ext cx="0" cy="59577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5E51568-1234-4E09-8029-0997AAFB3A36}"/>
              </a:ext>
            </a:extLst>
          </p:cNvPr>
          <p:cNvCxnSpPr>
            <a:stCxn id="10" idx="3"/>
            <a:endCxn id="12" idx="1"/>
          </p:cNvCxnSpPr>
          <p:nvPr/>
        </p:nvCxnSpPr>
        <p:spPr>
          <a:xfrm>
            <a:off x="9470155" y="3121699"/>
            <a:ext cx="0" cy="5897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E00E390-E9A0-44A2-A354-3223A2FA81F7}"/>
              </a:ext>
            </a:extLst>
          </p:cNvPr>
          <p:cNvCxnSpPr>
            <a:stCxn id="19" idx="2"/>
            <a:endCxn id="15" idx="1"/>
          </p:cNvCxnSpPr>
          <p:nvPr/>
        </p:nvCxnSpPr>
        <p:spPr>
          <a:xfrm>
            <a:off x="6401410" y="2974477"/>
            <a:ext cx="1451572" cy="7369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EADBD971-BD4D-4BE3-9C24-5E53EFCE9640}"/>
              </a:ext>
            </a:extLst>
          </p:cNvPr>
          <p:cNvCxnSpPr>
            <a:stCxn id="18" idx="2"/>
            <a:endCxn id="12" idx="1"/>
          </p:cNvCxnSpPr>
          <p:nvPr/>
        </p:nvCxnSpPr>
        <p:spPr>
          <a:xfrm flipH="1">
            <a:off x="9470155" y="3082813"/>
            <a:ext cx="1444359" cy="6286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D09B7DE-79DD-4F65-8797-40443341E7F3}"/>
              </a:ext>
            </a:extLst>
          </p:cNvPr>
          <p:cNvSpPr txBox="1"/>
          <p:nvPr/>
        </p:nvSpPr>
        <p:spPr>
          <a:xfrm>
            <a:off x="5716514" y="6057604"/>
            <a:ext cx="6031395" cy="369332"/>
          </a:xfrm>
          <a:prstGeom prst="rect">
            <a:avLst/>
          </a:prstGeom>
          <a:noFill/>
        </p:spPr>
        <p:txBody>
          <a:bodyPr wrap="none" rtlCol="0">
            <a:spAutoFit/>
          </a:bodyPr>
          <a:lstStyle/>
          <a:p>
            <a:r>
              <a:rPr lang="en-US" dirty="0"/>
              <a:t>In the above situation, the CaCl2 was the initial limiting reactant</a:t>
            </a:r>
          </a:p>
        </p:txBody>
      </p:sp>
    </p:spTree>
    <p:extLst>
      <p:ext uri="{BB962C8B-B14F-4D97-AF65-F5344CB8AC3E}">
        <p14:creationId xmlns:p14="http://schemas.microsoft.com/office/powerpoint/2010/main" val="22809669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C33EE-7CF8-415C-BA17-26A987BEA35B}"/>
              </a:ext>
            </a:extLst>
          </p:cNvPr>
          <p:cNvSpPr>
            <a:spLocks noGrp="1"/>
          </p:cNvSpPr>
          <p:nvPr>
            <p:ph type="title"/>
          </p:nvPr>
        </p:nvSpPr>
        <p:spPr/>
        <p:txBody>
          <a:bodyPr/>
          <a:lstStyle/>
          <a:p>
            <a:r>
              <a:rPr lang="en-US" dirty="0"/>
              <a:t>Interpreting observations</a:t>
            </a:r>
          </a:p>
        </p:txBody>
      </p:sp>
      <p:sp>
        <p:nvSpPr>
          <p:cNvPr id="3" name="Content Placeholder 2">
            <a:extLst>
              <a:ext uri="{FF2B5EF4-FFF2-40B4-BE49-F238E27FC236}">
                <a16:creationId xmlns:a16="http://schemas.microsoft.com/office/drawing/2014/main" id="{CE46AE5C-A039-4A3A-A77F-7A73FF559E7F}"/>
              </a:ext>
            </a:extLst>
          </p:cNvPr>
          <p:cNvSpPr>
            <a:spLocks noGrp="1"/>
          </p:cNvSpPr>
          <p:nvPr>
            <p:ph idx="1"/>
          </p:nvPr>
        </p:nvSpPr>
        <p:spPr/>
        <p:txBody>
          <a:bodyPr/>
          <a:lstStyle/>
          <a:p>
            <a:r>
              <a:rPr lang="en-US" dirty="0"/>
              <a:t>A limiting reactant is a reactant which becomes depleted first in the reaction</a:t>
            </a:r>
          </a:p>
          <a:p>
            <a:r>
              <a:rPr lang="en-US" dirty="0"/>
              <a:t>There is typically another reactant in excess, which given the chance, will continue to react</a:t>
            </a:r>
          </a:p>
          <a:p>
            <a:r>
              <a:rPr lang="en-US" dirty="0"/>
              <a:t>In this experimental setup, the filtrate contains all of the excess reactant</a:t>
            </a:r>
          </a:p>
          <a:p>
            <a:r>
              <a:rPr lang="en-US" dirty="0"/>
              <a:t>By adding more excess reactant, nothing will happen</a:t>
            </a:r>
          </a:p>
          <a:p>
            <a:r>
              <a:rPr lang="en-US" dirty="0"/>
              <a:t>By adding more of the limiting reactant, this will cause a reaction with the excess reactant in the filtrate, which can be visually seen</a:t>
            </a:r>
          </a:p>
        </p:txBody>
      </p:sp>
    </p:spTree>
    <p:extLst>
      <p:ext uri="{BB962C8B-B14F-4D97-AF65-F5344CB8AC3E}">
        <p14:creationId xmlns:p14="http://schemas.microsoft.com/office/powerpoint/2010/main" val="28386927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F77B8-B2E2-4E14-B5C8-33BA2C09EAFD}"/>
              </a:ext>
            </a:extLst>
          </p:cNvPr>
          <p:cNvSpPr>
            <a:spLocks noGrp="1"/>
          </p:cNvSpPr>
          <p:nvPr>
            <p:ph type="title"/>
          </p:nvPr>
        </p:nvSpPr>
        <p:spPr/>
        <p:txBody>
          <a:bodyPr/>
          <a:lstStyle/>
          <a:p>
            <a:r>
              <a:rPr lang="en-US" dirty="0"/>
              <a:t>Part c – home experiment </a:t>
            </a:r>
          </a:p>
        </p:txBody>
      </p:sp>
      <p:sp>
        <p:nvSpPr>
          <p:cNvPr id="3" name="Content Placeholder 2">
            <a:extLst>
              <a:ext uri="{FF2B5EF4-FFF2-40B4-BE49-F238E27FC236}">
                <a16:creationId xmlns:a16="http://schemas.microsoft.com/office/drawing/2014/main" id="{F8018596-A8BB-4538-904A-A2BE21B0A0A5}"/>
              </a:ext>
            </a:extLst>
          </p:cNvPr>
          <p:cNvSpPr>
            <a:spLocks noGrp="1"/>
          </p:cNvSpPr>
          <p:nvPr>
            <p:ph idx="1"/>
          </p:nvPr>
        </p:nvSpPr>
        <p:spPr>
          <a:xfrm>
            <a:off x="1024127" y="2151776"/>
            <a:ext cx="9720073" cy="4023360"/>
          </a:xfrm>
        </p:spPr>
        <p:txBody>
          <a:bodyPr/>
          <a:lstStyle/>
          <a:p>
            <a:r>
              <a:rPr lang="en-US" dirty="0"/>
              <a:t>This is a home experiment looking at a reaction that you may have done as a child, mixing Baking Soda and Vinegar</a:t>
            </a:r>
          </a:p>
          <a:p>
            <a:r>
              <a:rPr lang="en-US" dirty="0"/>
              <a:t>Baking Soda (Sodium Bicarbonate) reacts with Vinegar (Acetic Acid) to produce Water, Carbon Dioxide, and aqueous Sodium Acetate salt.</a:t>
            </a:r>
          </a:p>
          <a:p>
            <a:r>
              <a:rPr lang="en-US" dirty="0"/>
              <a:t>For this experiment, you will prepare a baking soda solution with exactly 1 teaspoon of baking soda, dissolved in 7 Tablespoons of water</a:t>
            </a:r>
          </a:p>
          <a:p>
            <a:r>
              <a:rPr lang="en-US" dirty="0"/>
              <a:t>You will react this Baking Soda solution with Vinegar in two reactions and interpret the observations, indicating which was the limiting reactant in each case</a:t>
            </a:r>
          </a:p>
          <a:p>
            <a:endParaRPr lang="en-US" dirty="0"/>
          </a:p>
        </p:txBody>
      </p:sp>
    </p:spTree>
    <p:extLst>
      <p:ext uri="{BB962C8B-B14F-4D97-AF65-F5344CB8AC3E}">
        <p14:creationId xmlns:p14="http://schemas.microsoft.com/office/powerpoint/2010/main" val="2802971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CD3A-6094-463D-8D11-F117ABFEB648}"/>
              </a:ext>
            </a:extLst>
          </p:cNvPr>
          <p:cNvSpPr>
            <a:spLocks noGrp="1"/>
          </p:cNvSpPr>
          <p:nvPr>
            <p:ph type="title"/>
          </p:nvPr>
        </p:nvSpPr>
        <p:spPr/>
        <p:txBody>
          <a:bodyPr/>
          <a:lstStyle/>
          <a:p>
            <a:r>
              <a:rPr lang="en-US" dirty="0"/>
              <a:t>Interpreting observations</a:t>
            </a:r>
          </a:p>
        </p:txBody>
      </p:sp>
      <p:sp>
        <p:nvSpPr>
          <p:cNvPr id="8" name="Flowchart: Magnetic Disk 7">
            <a:extLst>
              <a:ext uri="{FF2B5EF4-FFF2-40B4-BE49-F238E27FC236}">
                <a16:creationId xmlns:a16="http://schemas.microsoft.com/office/drawing/2014/main" id="{F31E00D3-0FEE-4BB4-B06B-83365C91CF9B}"/>
              </a:ext>
            </a:extLst>
          </p:cNvPr>
          <p:cNvSpPr/>
          <p:nvPr/>
        </p:nvSpPr>
        <p:spPr>
          <a:xfrm>
            <a:off x="769093" y="1891836"/>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lowchart: Magnetic Disk 8">
            <a:extLst>
              <a:ext uri="{FF2B5EF4-FFF2-40B4-BE49-F238E27FC236}">
                <a16:creationId xmlns:a16="http://schemas.microsoft.com/office/drawing/2014/main" id="{B0890F48-AD2D-45AA-BB4F-185FF2A7022E}"/>
              </a:ext>
            </a:extLst>
          </p:cNvPr>
          <p:cNvSpPr/>
          <p:nvPr/>
        </p:nvSpPr>
        <p:spPr>
          <a:xfrm>
            <a:off x="2826493" y="1891836"/>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lowchart: Connector 10">
            <a:extLst>
              <a:ext uri="{FF2B5EF4-FFF2-40B4-BE49-F238E27FC236}">
                <a16:creationId xmlns:a16="http://schemas.microsoft.com/office/drawing/2014/main" id="{CEEBCB5B-D506-474E-BB08-96CDC99B4EB9}"/>
              </a:ext>
            </a:extLst>
          </p:cNvPr>
          <p:cNvSpPr/>
          <p:nvPr/>
        </p:nvSpPr>
        <p:spPr>
          <a:xfrm>
            <a:off x="7342697" y="462693"/>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40477C4F-15C9-4281-A0DE-6CBFE56ACA36}"/>
              </a:ext>
            </a:extLst>
          </p:cNvPr>
          <p:cNvSpPr/>
          <p:nvPr/>
        </p:nvSpPr>
        <p:spPr>
          <a:xfrm>
            <a:off x="7342697" y="911427"/>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lowchart: Magnetic Disk 12">
            <a:extLst>
              <a:ext uri="{FF2B5EF4-FFF2-40B4-BE49-F238E27FC236}">
                <a16:creationId xmlns:a16="http://schemas.microsoft.com/office/drawing/2014/main" id="{1DCB8825-9D38-409F-BCBA-1EF2DF6C3339}"/>
              </a:ext>
            </a:extLst>
          </p:cNvPr>
          <p:cNvSpPr/>
          <p:nvPr/>
        </p:nvSpPr>
        <p:spPr>
          <a:xfrm>
            <a:off x="1734293" y="4355636"/>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a:extLst>
              <a:ext uri="{FF2B5EF4-FFF2-40B4-BE49-F238E27FC236}">
                <a16:creationId xmlns:a16="http://schemas.microsoft.com/office/drawing/2014/main" id="{B8E151A1-45EC-4261-8713-FF3E271464E7}"/>
              </a:ext>
            </a:extLst>
          </p:cNvPr>
          <p:cNvSpPr/>
          <p:nvPr/>
        </p:nvSpPr>
        <p:spPr>
          <a:xfrm>
            <a:off x="7342697" y="1360161"/>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CF91DB7E-F130-4762-81A7-DEED22EFDA55}"/>
              </a:ext>
            </a:extLst>
          </p:cNvPr>
          <p:cNvSpPr/>
          <p:nvPr/>
        </p:nvSpPr>
        <p:spPr>
          <a:xfrm>
            <a:off x="7342697" y="1789929"/>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lowchart: Connector 15">
            <a:extLst>
              <a:ext uri="{FF2B5EF4-FFF2-40B4-BE49-F238E27FC236}">
                <a16:creationId xmlns:a16="http://schemas.microsoft.com/office/drawing/2014/main" id="{49AFF6F2-ED3B-423A-B5CA-8034E7C42642}"/>
              </a:ext>
            </a:extLst>
          </p:cNvPr>
          <p:cNvSpPr/>
          <p:nvPr/>
        </p:nvSpPr>
        <p:spPr>
          <a:xfrm>
            <a:off x="905594" y="267529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lowchart: Connector 16">
            <a:extLst>
              <a:ext uri="{FF2B5EF4-FFF2-40B4-BE49-F238E27FC236}">
                <a16:creationId xmlns:a16="http://schemas.microsoft.com/office/drawing/2014/main" id="{2835FA11-46D7-4AF7-932B-64D3B2B5C16C}"/>
              </a:ext>
            </a:extLst>
          </p:cNvPr>
          <p:cNvSpPr/>
          <p:nvPr/>
        </p:nvSpPr>
        <p:spPr>
          <a:xfrm>
            <a:off x="1387846" y="305377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lowchart: Connector 17">
            <a:extLst>
              <a:ext uri="{FF2B5EF4-FFF2-40B4-BE49-F238E27FC236}">
                <a16:creationId xmlns:a16="http://schemas.microsoft.com/office/drawing/2014/main" id="{6207E715-D88D-4FBA-A79A-A1A23DFEF2FC}"/>
              </a:ext>
            </a:extLst>
          </p:cNvPr>
          <p:cNvSpPr/>
          <p:nvPr/>
        </p:nvSpPr>
        <p:spPr>
          <a:xfrm>
            <a:off x="1760722" y="3314212"/>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lowchart: Connector 18">
            <a:extLst>
              <a:ext uri="{FF2B5EF4-FFF2-40B4-BE49-F238E27FC236}">
                <a16:creationId xmlns:a16="http://schemas.microsoft.com/office/drawing/2014/main" id="{8B25924A-B403-4ED4-A381-78D9599D4C26}"/>
              </a:ext>
            </a:extLst>
          </p:cNvPr>
          <p:cNvSpPr/>
          <p:nvPr/>
        </p:nvSpPr>
        <p:spPr>
          <a:xfrm>
            <a:off x="947236" y="3168565"/>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lowchart: Connector 19">
            <a:extLst>
              <a:ext uri="{FF2B5EF4-FFF2-40B4-BE49-F238E27FC236}">
                <a16:creationId xmlns:a16="http://schemas.microsoft.com/office/drawing/2014/main" id="{9C3369AE-E83C-4C30-9065-8ECA3CF3496C}"/>
              </a:ext>
            </a:extLst>
          </p:cNvPr>
          <p:cNvSpPr/>
          <p:nvPr/>
        </p:nvSpPr>
        <p:spPr>
          <a:xfrm>
            <a:off x="1256612" y="3592425"/>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lowchart: Connector 20">
            <a:extLst>
              <a:ext uri="{FF2B5EF4-FFF2-40B4-BE49-F238E27FC236}">
                <a16:creationId xmlns:a16="http://schemas.microsoft.com/office/drawing/2014/main" id="{5E5E031A-AC68-4402-A3B9-57E36B61FA54}"/>
              </a:ext>
            </a:extLst>
          </p:cNvPr>
          <p:cNvSpPr/>
          <p:nvPr/>
        </p:nvSpPr>
        <p:spPr>
          <a:xfrm>
            <a:off x="1883833" y="2613828"/>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lowchart: Connector 21">
            <a:extLst>
              <a:ext uri="{FF2B5EF4-FFF2-40B4-BE49-F238E27FC236}">
                <a16:creationId xmlns:a16="http://schemas.microsoft.com/office/drawing/2014/main" id="{8E9E75BB-3FBA-4476-B896-9AAFB9360740}"/>
              </a:ext>
            </a:extLst>
          </p:cNvPr>
          <p:cNvSpPr/>
          <p:nvPr/>
        </p:nvSpPr>
        <p:spPr>
          <a:xfrm>
            <a:off x="2998573" y="2744045"/>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lowchart: Connector 22">
            <a:extLst>
              <a:ext uri="{FF2B5EF4-FFF2-40B4-BE49-F238E27FC236}">
                <a16:creationId xmlns:a16="http://schemas.microsoft.com/office/drawing/2014/main" id="{F2061FE8-A78A-491E-B537-535F25EDDD44}"/>
              </a:ext>
            </a:extLst>
          </p:cNvPr>
          <p:cNvSpPr/>
          <p:nvPr/>
        </p:nvSpPr>
        <p:spPr>
          <a:xfrm>
            <a:off x="3445246" y="3166194"/>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lowchart: Connector 23">
            <a:extLst>
              <a:ext uri="{FF2B5EF4-FFF2-40B4-BE49-F238E27FC236}">
                <a16:creationId xmlns:a16="http://schemas.microsoft.com/office/drawing/2014/main" id="{08F00CEC-85B1-4B99-A4D6-D972DC46F737}"/>
              </a:ext>
            </a:extLst>
          </p:cNvPr>
          <p:cNvSpPr/>
          <p:nvPr/>
        </p:nvSpPr>
        <p:spPr>
          <a:xfrm>
            <a:off x="3019739" y="3592425"/>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lowchart: Connector 24">
            <a:extLst>
              <a:ext uri="{FF2B5EF4-FFF2-40B4-BE49-F238E27FC236}">
                <a16:creationId xmlns:a16="http://schemas.microsoft.com/office/drawing/2014/main" id="{54B8EFCD-0EF1-4DC4-AD10-4CD48258BE00}"/>
              </a:ext>
            </a:extLst>
          </p:cNvPr>
          <p:cNvSpPr/>
          <p:nvPr/>
        </p:nvSpPr>
        <p:spPr>
          <a:xfrm>
            <a:off x="3898900" y="2675297"/>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Flowchart: Connector 25">
            <a:extLst>
              <a:ext uri="{FF2B5EF4-FFF2-40B4-BE49-F238E27FC236}">
                <a16:creationId xmlns:a16="http://schemas.microsoft.com/office/drawing/2014/main" id="{4E9B623F-8D1E-4177-9271-B1D757F51292}"/>
              </a:ext>
            </a:extLst>
          </p:cNvPr>
          <p:cNvSpPr/>
          <p:nvPr/>
        </p:nvSpPr>
        <p:spPr>
          <a:xfrm>
            <a:off x="2707959" y="5303033"/>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Flowchart: Connector 26">
            <a:extLst>
              <a:ext uri="{FF2B5EF4-FFF2-40B4-BE49-F238E27FC236}">
                <a16:creationId xmlns:a16="http://schemas.microsoft.com/office/drawing/2014/main" id="{01921093-87DE-43B3-AA4D-9ED1B0F60AC3}"/>
              </a:ext>
            </a:extLst>
          </p:cNvPr>
          <p:cNvSpPr/>
          <p:nvPr/>
        </p:nvSpPr>
        <p:spPr>
          <a:xfrm>
            <a:off x="1896533" y="5172815"/>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Flowchart: Connector 27">
            <a:extLst>
              <a:ext uri="{FF2B5EF4-FFF2-40B4-BE49-F238E27FC236}">
                <a16:creationId xmlns:a16="http://schemas.microsoft.com/office/drawing/2014/main" id="{22AF6018-44DB-4571-B732-4847DC76CF4F}"/>
              </a:ext>
            </a:extLst>
          </p:cNvPr>
          <p:cNvSpPr/>
          <p:nvPr/>
        </p:nvSpPr>
        <p:spPr>
          <a:xfrm>
            <a:off x="2753038" y="6012349"/>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lowchart: Connector 28">
            <a:extLst>
              <a:ext uri="{FF2B5EF4-FFF2-40B4-BE49-F238E27FC236}">
                <a16:creationId xmlns:a16="http://schemas.microsoft.com/office/drawing/2014/main" id="{30E25376-E65A-42D6-BC82-BB488AAAE8DD}"/>
              </a:ext>
            </a:extLst>
          </p:cNvPr>
          <p:cNvSpPr/>
          <p:nvPr/>
        </p:nvSpPr>
        <p:spPr>
          <a:xfrm>
            <a:off x="2133600" y="5913797"/>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lowchart: Connector 29">
            <a:extLst>
              <a:ext uri="{FF2B5EF4-FFF2-40B4-BE49-F238E27FC236}">
                <a16:creationId xmlns:a16="http://schemas.microsoft.com/office/drawing/2014/main" id="{E0449CE1-6718-4AE5-91D5-2B985199FA9D}"/>
              </a:ext>
            </a:extLst>
          </p:cNvPr>
          <p:cNvSpPr/>
          <p:nvPr/>
        </p:nvSpPr>
        <p:spPr>
          <a:xfrm>
            <a:off x="2531876" y="572784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lowchart: Connector 30">
            <a:extLst>
              <a:ext uri="{FF2B5EF4-FFF2-40B4-BE49-F238E27FC236}">
                <a16:creationId xmlns:a16="http://schemas.microsoft.com/office/drawing/2014/main" id="{7E4EADE1-CE43-4EAD-8A7D-44502A3ADF2D}"/>
              </a:ext>
            </a:extLst>
          </p:cNvPr>
          <p:cNvSpPr/>
          <p:nvPr/>
        </p:nvSpPr>
        <p:spPr>
          <a:xfrm>
            <a:off x="2250759" y="5333660"/>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lowchart: Connector 31">
            <a:extLst>
              <a:ext uri="{FF2B5EF4-FFF2-40B4-BE49-F238E27FC236}">
                <a16:creationId xmlns:a16="http://schemas.microsoft.com/office/drawing/2014/main" id="{9F7C18A8-BFA2-40D8-A5F1-9B194A22B64B}"/>
              </a:ext>
            </a:extLst>
          </p:cNvPr>
          <p:cNvSpPr/>
          <p:nvPr/>
        </p:nvSpPr>
        <p:spPr>
          <a:xfrm>
            <a:off x="2120900" y="4461130"/>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lowchart: Connector 32">
            <a:extLst>
              <a:ext uri="{FF2B5EF4-FFF2-40B4-BE49-F238E27FC236}">
                <a16:creationId xmlns:a16="http://schemas.microsoft.com/office/drawing/2014/main" id="{877FA136-1869-46CC-BC8C-84F5D71D1425}"/>
              </a:ext>
            </a:extLst>
          </p:cNvPr>
          <p:cNvSpPr/>
          <p:nvPr/>
        </p:nvSpPr>
        <p:spPr>
          <a:xfrm>
            <a:off x="2484967" y="4056931"/>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lowchart: Connector 33">
            <a:extLst>
              <a:ext uri="{FF2B5EF4-FFF2-40B4-BE49-F238E27FC236}">
                <a16:creationId xmlns:a16="http://schemas.microsoft.com/office/drawing/2014/main" id="{6123E9BA-B54E-4375-89A5-D999216CB0E5}"/>
              </a:ext>
            </a:extLst>
          </p:cNvPr>
          <p:cNvSpPr/>
          <p:nvPr/>
        </p:nvSpPr>
        <p:spPr>
          <a:xfrm>
            <a:off x="2799606" y="4445845"/>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lowchart: Connector 34">
            <a:extLst>
              <a:ext uri="{FF2B5EF4-FFF2-40B4-BE49-F238E27FC236}">
                <a16:creationId xmlns:a16="http://schemas.microsoft.com/office/drawing/2014/main" id="{1AEDB77F-711A-4C35-B13C-165F4D5E6709}"/>
              </a:ext>
            </a:extLst>
          </p:cNvPr>
          <p:cNvSpPr/>
          <p:nvPr/>
        </p:nvSpPr>
        <p:spPr>
          <a:xfrm>
            <a:off x="1777999" y="4112977"/>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79D268DA-F436-4B78-8D75-4903D88070F0}"/>
              </a:ext>
            </a:extLst>
          </p:cNvPr>
          <p:cNvSpPr txBox="1"/>
          <p:nvPr/>
        </p:nvSpPr>
        <p:spPr>
          <a:xfrm>
            <a:off x="816250" y="2035202"/>
            <a:ext cx="1354858" cy="369332"/>
          </a:xfrm>
          <a:prstGeom prst="rect">
            <a:avLst/>
          </a:prstGeom>
          <a:noFill/>
        </p:spPr>
        <p:txBody>
          <a:bodyPr wrap="none" rtlCol="0">
            <a:spAutoFit/>
          </a:bodyPr>
          <a:lstStyle/>
          <a:p>
            <a:r>
              <a:rPr lang="en-US" dirty="0"/>
              <a:t>Baking Soda</a:t>
            </a:r>
          </a:p>
        </p:txBody>
      </p:sp>
      <p:sp>
        <p:nvSpPr>
          <p:cNvPr id="38" name="TextBox 37">
            <a:extLst>
              <a:ext uri="{FF2B5EF4-FFF2-40B4-BE49-F238E27FC236}">
                <a16:creationId xmlns:a16="http://schemas.microsoft.com/office/drawing/2014/main" id="{306C4C57-FBFA-48BE-8030-BF27EC5E2A43}"/>
              </a:ext>
            </a:extLst>
          </p:cNvPr>
          <p:cNvSpPr txBox="1"/>
          <p:nvPr/>
        </p:nvSpPr>
        <p:spPr>
          <a:xfrm>
            <a:off x="3057152" y="2052127"/>
            <a:ext cx="917431" cy="369332"/>
          </a:xfrm>
          <a:prstGeom prst="rect">
            <a:avLst/>
          </a:prstGeom>
          <a:noFill/>
        </p:spPr>
        <p:txBody>
          <a:bodyPr wrap="none" rtlCol="0">
            <a:spAutoFit/>
          </a:bodyPr>
          <a:lstStyle/>
          <a:p>
            <a:r>
              <a:rPr lang="en-US" dirty="0"/>
              <a:t>Vinegar</a:t>
            </a:r>
          </a:p>
        </p:txBody>
      </p:sp>
      <p:sp>
        <p:nvSpPr>
          <p:cNvPr id="39" name="TextBox 38">
            <a:extLst>
              <a:ext uri="{FF2B5EF4-FFF2-40B4-BE49-F238E27FC236}">
                <a16:creationId xmlns:a16="http://schemas.microsoft.com/office/drawing/2014/main" id="{9DAB48B3-2FF2-4383-BC31-95C18A7ED85D}"/>
              </a:ext>
            </a:extLst>
          </p:cNvPr>
          <p:cNvSpPr txBox="1"/>
          <p:nvPr/>
        </p:nvSpPr>
        <p:spPr>
          <a:xfrm>
            <a:off x="7694749" y="856978"/>
            <a:ext cx="917431" cy="369332"/>
          </a:xfrm>
          <a:prstGeom prst="rect">
            <a:avLst/>
          </a:prstGeom>
          <a:noFill/>
        </p:spPr>
        <p:txBody>
          <a:bodyPr wrap="none" rtlCol="0">
            <a:spAutoFit/>
          </a:bodyPr>
          <a:lstStyle/>
          <a:p>
            <a:r>
              <a:rPr lang="en-US" dirty="0"/>
              <a:t>Vinegar</a:t>
            </a:r>
          </a:p>
        </p:txBody>
      </p:sp>
      <p:sp>
        <p:nvSpPr>
          <p:cNvPr id="40" name="TextBox 39">
            <a:extLst>
              <a:ext uri="{FF2B5EF4-FFF2-40B4-BE49-F238E27FC236}">
                <a16:creationId xmlns:a16="http://schemas.microsoft.com/office/drawing/2014/main" id="{8A2BA1EB-B5FD-4293-AAFF-7BAF32D38495}"/>
              </a:ext>
            </a:extLst>
          </p:cNvPr>
          <p:cNvSpPr txBox="1"/>
          <p:nvPr/>
        </p:nvSpPr>
        <p:spPr>
          <a:xfrm>
            <a:off x="7698982" y="408244"/>
            <a:ext cx="1354858" cy="369332"/>
          </a:xfrm>
          <a:prstGeom prst="rect">
            <a:avLst/>
          </a:prstGeom>
          <a:noFill/>
        </p:spPr>
        <p:txBody>
          <a:bodyPr wrap="none" rtlCol="0">
            <a:spAutoFit/>
          </a:bodyPr>
          <a:lstStyle/>
          <a:p>
            <a:r>
              <a:rPr lang="en-US" dirty="0"/>
              <a:t>Baking Soda</a:t>
            </a:r>
          </a:p>
        </p:txBody>
      </p:sp>
      <p:sp>
        <p:nvSpPr>
          <p:cNvPr id="41" name="TextBox 40">
            <a:extLst>
              <a:ext uri="{FF2B5EF4-FFF2-40B4-BE49-F238E27FC236}">
                <a16:creationId xmlns:a16="http://schemas.microsoft.com/office/drawing/2014/main" id="{284DDAA9-FF6A-4CFE-96A9-015FA82DAC5A}"/>
              </a:ext>
            </a:extLst>
          </p:cNvPr>
          <p:cNvSpPr txBox="1"/>
          <p:nvPr/>
        </p:nvSpPr>
        <p:spPr>
          <a:xfrm>
            <a:off x="7694749" y="1295246"/>
            <a:ext cx="1642950" cy="369332"/>
          </a:xfrm>
          <a:prstGeom prst="rect">
            <a:avLst/>
          </a:prstGeom>
          <a:noFill/>
        </p:spPr>
        <p:txBody>
          <a:bodyPr wrap="none" rtlCol="0">
            <a:spAutoFit/>
          </a:bodyPr>
          <a:lstStyle/>
          <a:p>
            <a:r>
              <a:rPr lang="en-US" dirty="0"/>
              <a:t>Carbon Dioxide</a:t>
            </a:r>
          </a:p>
        </p:txBody>
      </p:sp>
      <p:sp>
        <p:nvSpPr>
          <p:cNvPr id="42" name="TextBox 41">
            <a:extLst>
              <a:ext uri="{FF2B5EF4-FFF2-40B4-BE49-F238E27FC236}">
                <a16:creationId xmlns:a16="http://schemas.microsoft.com/office/drawing/2014/main" id="{75103ED6-923C-4E6E-A18D-7CDAFCD6EAEA}"/>
              </a:ext>
            </a:extLst>
          </p:cNvPr>
          <p:cNvSpPr txBox="1"/>
          <p:nvPr/>
        </p:nvSpPr>
        <p:spPr>
          <a:xfrm>
            <a:off x="7694749" y="1715500"/>
            <a:ext cx="2334229" cy="369332"/>
          </a:xfrm>
          <a:prstGeom prst="rect">
            <a:avLst/>
          </a:prstGeom>
          <a:noFill/>
        </p:spPr>
        <p:txBody>
          <a:bodyPr wrap="none" rtlCol="0">
            <a:spAutoFit/>
          </a:bodyPr>
          <a:lstStyle/>
          <a:p>
            <a:r>
              <a:rPr lang="en-US" dirty="0"/>
              <a:t>Water/Sodium Acetate</a:t>
            </a:r>
          </a:p>
        </p:txBody>
      </p:sp>
      <p:cxnSp>
        <p:nvCxnSpPr>
          <p:cNvPr id="46" name="Straight Connector 45">
            <a:extLst>
              <a:ext uri="{FF2B5EF4-FFF2-40B4-BE49-F238E27FC236}">
                <a16:creationId xmlns:a16="http://schemas.microsoft.com/office/drawing/2014/main" id="{2DDDBFAA-920B-4DC8-98E5-17B057C69F9B}"/>
              </a:ext>
            </a:extLst>
          </p:cNvPr>
          <p:cNvCxnSpPr/>
          <p:nvPr/>
        </p:nvCxnSpPr>
        <p:spPr>
          <a:xfrm>
            <a:off x="947236" y="4187148"/>
            <a:ext cx="0" cy="1376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AD7BA124-3C99-4780-8E36-24432489E21F}"/>
              </a:ext>
            </a:extLst>
          </p:cNvPr>
          <p:cNvCxnSpPr/>
          <p:nvPr/>
        </p:nvCxnSpPr>
        <p:spPr>
          <a:xfrm>
            <a:off x="4017433" y="4236456"/>
            <a:ext cx="0" cy="1376320"/>
          </a:xfrm>
          <a:prstGeom prst="line">
            <a:avLst/>
          </a:prstGeom>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2EBCC302-DDC8-4002-9F39-AA522D567813}"/>
              </a:ext>
            </a:extLst>
          </p:cNvPr>
          <p:cNvCxnSpPr/>
          <p:nvPr/>
        </p:nvCxnSpPr>
        <p:spPr>
          <a:xfrm flipH="1">
            <a:off x="3352800" y="5594095"/>
            <a:ext cx="66463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17DA0A4-6970-47DD-A124-901A33749D78}"/>
              </a:ext>
            </a:extLst>
          </p:cNvPr>
          <p:cNvCxnSpPr/>
          <p:nvPr/>
        </p:nvCxnSpPr>
        <p:spPr>
          <a:xfrm>
            <a:off x="905594" y="5563468"/>
            <a:ext cx="71931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ED43CCBC-C064-4957-AFA8-ACB76BF440D0}"/>
              </a:ext>
            </a:extLst>
          </p:cNvPr>
          <p:cNvSpPr txBox="1"/>
          <p:nvPr/>
        </p:nvSpPr>
        <p:spPr>
          <a:xfrm>
            <a:off x="4663825" y="2521099"/>
            <a:ext cx="2440677" cy="923330"/>
          </a:xfrm>
          <a:prstGeom prst="rect">
            <a:avLst/>
          </a:prstGeom>
          <a:noFill/>
        </p:spPr>
        <p:txBody>
          <a:bodyPr wrap="square" rtlCol="0">
            <a:spAutoFit/>
          </a:bodyPr>
          <a:lstStyle/>
          <a:p>
            <a:r>
              <a:rPr lang="en-US" dirty="0"/>
              <a:t>Before the reaction, the baking soda and vinegar are separate</a:t>
            </a:r>
          </a:p>
        </p:txBody>
      </p:sp>
      <p:sp>
        <p:nvSpPr>
          <p:cNvPr id="4" name="TextBox 3">
            <a:extLst>
              <a:ext uri="{FF2B5EF4-FFF2-40B4-BE49-F238E27FC236}">
                <a16:creationId xmlns:a16="http://schemas.microsoft.com/office/drawing/2014/main" id="{9671D9BD-3D56-43A5-8DB8-FBCAC80B1AC7}"/>
              </a:ext>
            </a:extLst>
          </p:cNvPr>
          <p:cNvSpPr txBox="1"/>
          <p:nvPr/>
        </p:nvSpPr>
        <p:spPr>
          <a:xfrm>
            <a:off x="4490193" y="4297510"/>
            <a:ext cx="2871702" cy="1477328"/>
          </a:xfrm>
          <a:prstGeom prst="rect">
            <a:avLst/>
          </a:prstGeom>
          <a:noFill/>
        </p:spPr>
        <p:txBody>
          <a:bodyPr wrap="square" rtlCol="0">
            <a:spAutoFit/>
          </a:bodyPr>
          <a:lstStyle/>
          <a:p>
            <a:r>
              <a:rPr lang="en-US" dirty="0"/>
              <a:t>When they are mixed together, they react to form carbon dioxide, which bubbles away, water, and dissolved sodium acetate. </a:t>
            </a:r>
          </a:p>
        </p:txBody>
      </p:sp>
      <p:sp>
        <p:nvSpPr>
          <p:cNvPr id="43" name="Flowchart: Magnetic Disk 42">
            <a:extLst>
              <a:ext uri="{FF2B5EF4-FFF2-40B4-BE49-F238E27FC236}">
                <a16:creationId xmlns:a16="http://schemas.microsoft.com/office/drawing/2014/main" id="{F6B075D9-B858-4EB5-9844-85748EB2F487}"/>
              </a:ext>
            </a:extLst>
          </p:cNvPr>
          <p:cNvSpPr/>
          <p:nvPr/>
        </p:nvSpPr>
        <p:spPr>
          <a:xfrm>
            <a:off x="9097076" y="2088347"/>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Flowchart: Connector 43">
            <a:extLst>
              <a:ext uri="{FF2B5EF4-FFF2-40B4-BE49-F238E27FC236}">
                <a16:creationId xmlns:a16="http://schemas.microsoft.com/office/drawing/2014/main" id="{23D626A0-5A6C-46DA-97D2-B8666101E0BF}"/>
              </a:ext>
            </a:extLst>
          </p:cNvPr>
          <p:cNvSpPr/>
          <p:nvPr/>
        </p:nvSpPr>
        <p:spPr>
          <a:xfrm>
            <a:off x="10070742" y="3035744"/>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lowchart: Connector 44">
            <a:extLst>
              <a:ext uri="{FF2B5EF4-FFF2-40B4-BE49-F238E27FC236}">
                <a16:creationId xmlns:a16="http://schemas.microsoft.com/office/drawing/2014/main" id="{2154DB10-60EE-4AE9-8E64-A2410F8F55FC}"/>
              </a:ext>
            </a:extLst>
          </p:cNvPr>
          <p:cNvSpPr/>
          <p:nvPr/>
        </p:nvSpPr>
        <p:spPr>
          <a:xfrm>
            <a:off x="9259316" y="2905526"/>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Flowchart: Connector 47">
            <a:extLst>
              <a:ext uri="{FF2B5EF4-FFF2-40B4-BE49-F238E27FC236}">
                <a16:creationId xmlns:a16="http://schemas.microsoft.com/office/drawing/2014/main" id="{54335CC2-40A7-4E9E-90C9-C3FC7B2FE7F8}"/>
              </a:ext>
            </a:extLst>
          </p:cNvPr>
          <p:cNvSpPr/>
          <p:nvPr/>
        </p:nvSpPr>
        <p:spPr>
          <a:xfrm>
            <a:off x="10115821" y="3745060"/>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lowchart: Connector 49">
            <a:extLst>
              <a:ext uri="{FF2B5EF4-FFF2-40B4-BE49-F238E27FC236}">
                <a16:creationId xmlns:a16="http://schemas.microsoft.com/office/drawing/2014/main" id="{E8424C45-19CA-42F0-9050-2DC1967A75D8}"/>
              </a:ext>
            </a:extLst>
          </p:cNvPr>
          <p:cNvSpPr/>
          <p:nvPr/>
        </p:nvSpPr>
        <p:spPr>
          <a:xfrm>
            <a:off x="9496383" y="3646508"/>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Flowchart: Connector 51">
            <a:extLst>
              <a:ext uri="{FF2B5EF4-FFF2-40B4-BE49-F238E27FC236}">
                <a16:creationId xmlns:a16="http://schemas.microsoft.com/office/drawing/2014/main" id="{C46BDA02-BABC-4C1A-9670-AB26B6E902AA}"/>
              </a:ext>
            </a:extLst>
          </p:cNvPr>
          <p:cNvSpPr/>
          <p:nvPr/>
        </p:nvSpPr>
        <p:spPr>
          <a:xfrm>
            <a:off x="9894659" y="3460558"/>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Connector 52">
            <a:extLst>
              <a:ext uri="{FF2B5EF4-FFF2-40B4-BE49-F238E27FC236}">
                <a16:creationId xmlns:a16="http://schemas.microsoft.com/office/drawing/2014/main" id="{9C0BF24C-9A78-4DC6-BC4D-96AA3B3B0611}"/>
              </a:ext>
            </a:extLst>
          </p:cNvPr>
          <p:cNvSpPr/>
          <p:nvPr/>
        </p:nvSpPr>
        <p:spPr>
          <a:xfrm>
            <a:off x="9613542" y="3066371"/>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8DAC8D8-F131-4A6E-94BE-031A4AD7F7EE}"/>
              </a:ext>
            </a:extLst>
          </p:cNvPr>
          <p:cNvSpPr txBox="1"/>
          <p:nvPr/>
        </p:nvSpPr>
        <p:spPr>
          <a:xfrm>
            <a:off x="8387839" y="4304782"/>
            <a:ext cx="3106803" cy="1477328"/>
          </a:xfrm>
          <a:prstGeom prst="rect">
            <a:avLst/>
          </a:prstGeom>
          <a:noFill/>
        </p:spPr>
        <p:txBody>
          <a:bodyPr wrap="square" rtlCol="0">
            <a:spAutoFit/>
          </a:bodyPr>
          <a:lstStyle/>
          <a:p>
            <a:r>
              <a:rPr lang="en-US" dirty="0"/>
              <a:t>All of the Vinegar was reacted, and what remains in the glass are the products of water and sodium acetate, and some unreacted baking soda</a:t>
            </a:r>
          </a:p>
        </p:txBody>
      </p:sp>
      <p:sp>
        <p:nvSpPr>
          <p:cNvPr id="6" name="TextBox 5">
            <a:extLst>
              <a:ext uri="{FF2B5EF4-FFF2-40B4-BE49-F238E27FC236}">
                <a16:creationId xmlns:a16="http://schemas.microsoft.com/office/drawing/2014/main" id="{856D4AF6-16E5-457F-B1A7-B9CDDEA2107B}"/>
              </a:ext>
            </a:extLst>
          </p:cNvPr>
          <p:cNvSpPr txBox="1"/>
          <p:nvPr/>
        </p:nvSpPr>
        <p:spPr>
          <a:xfrm>
            <a:off x="4196376" y="5838825"/>
            <a:ext cx="7340151" cy="369332"/>
          </a:xfrm>
          <a:prstGeom prst="rect">
            <a:avLst/>
          </a:prstGeom>
          <a:noFill/>
        </p:spPr>
        <p:txBody>
          <a:bodyPr wrap="none" rtlCol="0">
            <a:spAutoFit/>
          </a:bodyPr>
          <a:lstStyle/>
          <a:p>
            <a:r>
              <a:rPr lang="en-US" dirty="0"/>
              <a:t>Baking Soda + Vinegar </a:t>
            </a:r>
            <a:r>
              <a:rPr lang="en-US" dirty="0">
                <a:sym typeface="Wingdings" panose="05000000000000000000" pitchFamily="2" charset="2"/>
              </a:rPr>
              <a:t> Carbon Dioxide + Water  +  Salt (sodium acetate)</a:t>
            </a:r>
            <a:endParaRPr lang="en-US" dirty="0"/>
          </a:p>
        </p:txBody>
      </p:sp>
      <p:sp>
        <p:nvSpPr>
          <p:cNvPr id="7" name="TextBox 6">
            <a:extLst>
              <a:ext uri="{FF2B5EF4-FFF2-40B4-BE49-F238E27FC236}">
                <a16:creationId xmlns:a16="http://schemas.microsoft.com/office/drawing/2014/main" id="{92D6B415-9282-4503-991A-FF9C19EC73DB}"/>
              </a:ext>
            </a:extLst>
          </p:cNvPr>
          <p:cNvSpPr txBox="1"/>
          <p:nvPr/>
        </p:nvSpPr>
        <p:spPr>
          <a:xfrm>
            <a:off x="4135967" y="6303061"/>
            <a:ext cx="6869188" cy="369332"/>
          </a:xfrm>
          <a:prstGeom prst="rect">
            <a:avLst/>
          </a:prstGeom>
          <a:noFill/>
        </p:spPr>
        <p:txBody>
          <a:bodyPr wrap="none" rtlCol="0">
            <a:spAutoFit/>
          </a:bodyPr>
          <a:lstStyle/>
          <a:p>
            <a:r>
              <a:rPr lang="en-US" dirty="0"/>
              <a:t>NaHCO</a:t>
            </a:r>
            <a:r>
              <a:rPr lang="en-US" baseline="-25000" dirty="0"/>
              <a:t>3(</a:t>
            </a:r>
            <a:r>
              <a:rPr lang="en-US" baseline="-25000" dirty="0" err="1"/>
              <a:t>aq</a:t>
            </a:r>
            <a:r>
              <a:rPr lang="en-US" baseline="-25000" dirty="0"/>
              <a:t>)</a:t>
            </a:r>
            <a:r>
              <a:rPr lang="en-US" dirty="0"/>
              <a:t>  +  CH</a:t>
            </a:r>
            <a:r>
              <a:rPr lang="en-US" baseline="-25000" dirty="0"/>
              <a:t>3</a:t>
            </a:r>
            <a:r>
              <a:rPr lang="en-US" dirty="0"/>
              <a:t>COOH</a:t>
            </a:r>
            <a:r>
              <a:rPr lang="en-US" baseline="-25000" dirty="0"/>
              <a:t>(</a:t>
            </a:r>
            <a:r>
              <a:rPr lang="en-US" baseline="-25000" dirty="0" err="1"/>
              <a:t>aq</a:t>
            </a:r>
            <a:r>
              <a:rPr lang="en-US" baseline="-25000" dirty="0"/>
              <a:t>)  </a:t>
            </a:r>
            <a:r>
              <a:rPr lang="en-US" dirty="0">
                <a:sym typeface="Wingdings" panose="05000000000000000000" pitchFamily="2" charset="2"/>
              </a:rPr>
              <a:t>  CO</a:t>
            </a:r>
            <a:r>
              <a:rPr lang="en-US" baseline="-25000" dirty="0">
                <a:sym typeface="Wingdings" panose="05000000000000000000" pitchFamily="2" charset="2"/>
              </a:rPr>
              <a:t>2(g)  </a:t>
            </a:r>
            <a:r>
              <a:rPr lang="en-US" dirty="0">
                <a:sym typeface="Wingdings" panose="05000000000000000000" pitchFamily="2" charset="2"/>
              </a:rPr>
              <a:t>+  H</a:t>
            </a:r>
            <a:r>
              <a:rPr lang="en-US" baseline="-25000" dirty="0">
                <a:sym typeface="Wingdings" panose="05000000000000000000" pitchFamily="2" charset="2"/>
              </a:rPr>
              <a:t>2</a:t>
            </a:r>
            <a:r>
              <a:rPr lang="en-US" dirty="0">
                <a:sym typeface="Wingdings" panose="05000000000000000000" pitchFamily="2" charset="2"/>
              </a:rPr>
              <a:t>O</a:t>
            </a:r>
            <a:r>
              <a:rPr lang="en-US" baseline="-25000" dirty="0">
                <a:sym typeface="Wingdings" panose="05000000000000000000" pitchFamily="2" charset="2"/>
              </a:rPr>
              <a:t>(l)  </a:t>
            </a:r>
            <a:r>
              <a:rPr lang="en-US" dirty="0">
                <a:sym typeface="Wingdings" panose="05000000000000000000" pitchFamily="2" charset="2"/>
              </a:rPr>
              <a:t>+  CH</a:t>
            </a:r>
            <a:r>
              <a:rPr lang="en-US" baseline="-25000" dirty="0">
                <a:sym typeface="Wingdings" panose="05000000000000000000" pitchFamily="2" charset="2"/>
              </a:rPr>
              <a:t>3</a:t>
            </a:r>
            <a:r>
              <a:rPr lang="en-US" dirty="0">
                <a:sym typeface="Wingdings" panose="05000000000000000000" pitchFamily="2" charset="2"/>
              </a:rPr>
              <a:t>COONa</a:t>
            </a:r>
            <a:r>
              <a:rPr lang="en-US" baseline="-25000" dirty="0">
                <a:sym typeface="Wingdings" panose="05000000000000000000" pitchFamily="2" charset="2"/>
              </a:rPr>
              <a:t>(</a:t>
            </a:r>
            <a:r>
              <a:rPr lang="en-US" baseline="-25000" dirty="0" err="1">
                <a:sym typeface="Wingdings" panose="05000000000000000000" pitchFamily="2" charset="2"/>
              </a:rPr>
              <a:t>aq</a:t>
            </a:r>
            <a:r>
              <a:rPr lang="en-US" baseline="-25000" dirty="0">
                <a:sym typeface="Wingdings" panose="05000000000000000000" pitchFamily="2" charset="2"/>
              </a:rPr>
              <a:t>)</a:t>
            </a:r>
            <a:r>
              <a:rPr lang="en-US" baseline="-25000" dirty="0"/>
              <a:t>  </a:t>
            </a:r>
          </a:p>
        </p:txBody>
      </p:sp>
      <p:sp>
        <p:nvSpPr>
          <p:cNvPr id="56" name="Flowchart: Connector 55">
            <a:extLst>
              <a:ext uri="{FF2B5EF4-FFF2-40B4-BE49-F238E27FC236}">
                <a16:creationId xmlns:a16="http://schemas.microsoft.com/office/drawing/2014/main" id="{7EC9305E-6D45-4A19-8DDC-07BB3736D7E9}"/>
              </a:ext>
            </a:extLst>
          </p:cNvPr>
          <p:cNvSpPr/>
          <p:nvPr/>
        </p:nvSpPr>
        <p:spPr>
          <a:xfrm>
            <a:off x="1548056" y="2722856"/>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Connector 56">
            <a:extLst>
              <a:ext uri="{FF2B5EF4-FFF2-40B4-BE49-F238E27FC236}">
                <a16:creationId xmlns:a16="http://schemas.microsoft.com/office/drawing/2014/main" id="{26F50FCF-1F57-44E9-8E37-5D3F81635DB9}"/>
              </a:ext>
            </a:extLst>
          </p:cNvPr>
          <p:cNvSpPr/>
          <p:nvPr/>
        </p:nvSpPr>
        <p:spPr>
          <a:xfrm>
            <a:off x="1593139" y="3636575"/>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Connector 57">
            <a:extLst>
              <a:ext uri="{FF2B5EF4-FFF2-40B4-BE49-F238E27FC236}">
                <a16:creationId xmlns:a16="http://schemas.microsoft.com/office/drawing/2014/main" id="{49457D27-F2B0-46F2-AE2B-2803F3960F32}"/>
              </a:ext>
            </a:extLst>
          </p:cNvPr>
          <p:cNvSpPr/>
          <p:nvPr/>
        </p:nvSpPr>
        <p:spPr>
          <a:xfrm>
            <a:off x="1932948" y="5576124"/>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Connector 58">
            <a:extLst>
              <a:ext uri="{FF2B5EF4-FFF2-40B4-BE49-F238E27FC236}">
                <a16:creationId xmlns:a16="http://schemas.microsoft.com/office/drawing/2014/main" id="{4F86DF8D-4D92-43D6-996A-2F9F575A6DB5}"/>
              </a:ext>
            </a:extLst>
          </p:cNvPr>
          <p:cNvSpPr/>
          <p:nvPr/>
        </p:nvSpPr>
        <p:spPr>
          <a:xfrm>
            <a:off x="2912876" y="5576124"/>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Connector 59">
            <a:extLst>
              <a:ext uri="{FF2B5EF4-FFF2-40B4-BE49-F238E27FC236}">
                <a16:creationId xmlns:a16="http://schemas.microsoft.com/office/drawing/2014/main" id="{2E4A98E3-6AD1-4744-9930-6D48D7352EF8}"/>
              </a:ext>
            </a:extLst>
          </p:cNvPr>
          <p:cNvSpPr/>
          <p:nvPr/>
        </p:nvSpPr>
        <p:spPr>
          <a:xfrm>
            <a:off x="9274875" y="3314211"/>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Flowchart: Connector 61">
            <a:extLst>
              <a:ext uri="{FF2B5EF4-FFF2-40B4-BE49-F238E27FC236}">
                <a16:creationId xmlns:a16="http://schemas.microsoft.com/office/drawing/2014/main" id="{177834CA-2285-4144-A43E-4E2AF22D7274}"/>
              </a:ext>
            </a:extLst>
          </p:cNvPr>
          <p:cNvSpPr/>
          <p:nvPr/>
        </p:nvSpPr>
        <p:spPr>
          <a:xfrm>
            <a:off x="10237029" y="3305150"/>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00946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CD3A-6094-463D-8D11-F117ABFEB648}"/>
              </a:ext>
            </a:extLst>
          </p:cNvPr>
          <p:cNvSpPr>
            <a:spLocks noGrp="1"/>
          </p:cNvSpPr>
          <p:nvPr>
            <p:ph type="title"/>
          </p:nvPr>
        </p:nvSpPr>
        <p:spPr>
          <a:xfrm>
            <a:off x="853421" y="-193693"/>
            <a:ext cx="9720072" cy="1499616"/>
          </a:xfrm>
        </p:spPr>
        <p:txBody>
          <a:bodyPr/>
          <a:lstStyle/>
          <a:p>
            <a:r>
              <a:rPr lang="en-US" dirty="0"/>
              <a:t>Interpreting observations</a:t>
            </a:r>
          </a:p>
        </p:txBody>
      </p:sp>
      <p:sp>
        <p:nvSpPr>
          <p:cNvPr id="11" name="Flowchart: Connector 10">
            <a:extLst>
              <a:ext uri="{FF2B5EF4-FFF2-40B4-BE49-F238E27FC236}">
                <a16:creationId xmlns:a16="http://schemas.microsoft.com/office/drawing/2014/main" id="{CEEBCB5B-D506-474E-BB08-96CDC99B4EB9}"/>
              </a:ext>
            </a:extLst>
          </p:cNvPr>
          <p:cNvSpPr/>
          <p:nvPr/>
        </p:nvSpPr>
        <p:spPr>
          <a:xfrm>
            <a:off x="7404100" y="497161"/>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lowchart: Connector 11">
            <a:extLst>
              <a:ext uri="{FF2B5EF4-FFF2-40B4-BE49-F238E27FC236}">
                <a16:creationId xmlns:a16="http://schemas.microsoft.com/office/drawing/2014/main" id="{40477C4F-15C9-4281-A0DE-6CBFE56ACA36}"/>
              </a:ext>
            </a:extLst>
          </p:cNvPr>
          <p:cNvSpPr/>
          <p:nvPr/>
        </p:nvSpPr>
        <p:spPr>
          <a:xfrm>
            <a:off x="7404100" y="945895"/>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lowchart: Connector 13">
            <a:extLst>
              <a:ext uri="{FF2B5EF4-FFF2-40B4-BE49-F238E27FC236}">
                <a16:creationId xmlns:a16="http://schemas.microsoft.com/office/drawing/2014/main" id="{B8E151A1-45EC-4261-8713-FF3E271464E7}"/>
              </a:ext>
            </a:extLst>
          </p:cNvPr>
          <p:cNvSpPr/>
          <p:nvPr/>
        </p:nvSpPr>
        <p:spPr>
          <a:xfrm>
            <a:off x="7404100" y="1394629"/>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lowchart: Connector 14">
            <a:extLst>
              <a:ext uri="{FF2B5EF4-FFF2-40B4-BE49-F238E27FC236}">
                <a16:creationId xmlns:a16="http://schemas.microsoft.com/office/drawing/2014/main" id="{CF91DB7E-F130-4762-81A7-DEED22EFDA55}"/>
              </a:ext>
            </a:extLst>
          </p:cNvPr>
          <p:cNvSpPr/>
          <p:nvPr/>
        </p:nvSpPr>
        <p:spPr>
          <a:xfrm>
            <a:off x="7404100" y="1824397"/>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9DAB48B3-2FF2-4383-BC31-95C18A7ED85D}"/>
              </a:ext>
            </a:extLst>
          </p:cNvPr>
          <p:cNvSpPr txBox="1"/>
          <p:nvPr/>
        </p:nvSpPr>
        <p:spPr>
          <a:xfrm>
            <a:off x="7756152" y="891446"/>
            <a:ext cx="917431" cy="369332"/>
          </a:xfrm>
          <a:prstGeom prst="rect">
            <a:avLst/>
          </a:prstGeom>
          <a:noFill/>
        </p:spPr>
        <p:txBody>
          <a:bodyPr wrap="none" rtlCol="0">
            <a:spAutoFit/>
          </a:bodyPr>
          <a:lstStyle/>
          <a:p>
            <a:r>
              <a:rPr lang="en-US" dirty="0"/>
              <a:t>Vinegar</a:t>
            </a:r>
          </a:p>
        </p:txBody>
      </p:sp>
      <p:sp>
        <p:nvSpPr>
          <p:cNvPr id="40" name="TextBox 39">
            <a:extLst>
              <a:ext uri="{FF2B5EF4-FFF2-40B4-BE49-F238E27FC236}">
                <a16:creationId xmlns:a16="http://schemas.microsoft.com/office/drawing/2014/main" id="{8A2BA1EB-B5FD-4293-AAFF-7BAF32D38495}"/>
              </a:ext>
            </a:extLst>
          </p:cNvPr>
          <p:cNvSpPr txBox="1"/>
          <p:nvPr/>
        </p:nvSpPr>
        <p:spPr>
          <a:xfrm>
            <a:off x="7760385" y="442712"/>
            <a:ext cx="1354858" cy="369332"/>
          </a:xfrm>
          <a:prstGeom prst="rect">
            <a:avLst/>
          </a:prstGeom>
          <a:noFill/>
        </p:spPr>
        <p:txBody>
          <a:bodyPr wrap="none" rtlCol="0">
            <a:spAutoFit/>
          </a:bodyPr>
          <a:lstStyle/>
          <a:p>
            <a:r>
              <a:rPr lang="en-US" dirty="0"/>
              <a:t>Baking Soda</a:t>
            </a:r>
          </a:p>
        </p:txBody>
      </p:sp>
      <p:sp>
        <p:nvSpPr>
          <p:cNvPr id="41" name="TextBox 40">
            <a:extLst>
              <a:ext uri="{FF2B5EF4-FFF2-40B4-BE49-F238E27FC236}">
                <a16:creationId xmlns:a16="http://schemas.microsoft.com/office/drawing/2014/main" id="{284DDAA9-FF6A-4CFE-96A9-015FA82DAC5A}"/>
              </a:ext>
            </a:extLst>
          </p:cNvPr>
          <p:cNvSpPr txBox="1"/>
          <p:nvPr/>
        </p:nvSpPr>
        <p:spPr>
          <a:xfrm>
            <a:off x="7756152" y="1329714"/>
            <a:ext cx="1642950" cy="369332"/>
          </a:xfrm>
          <a:prstGeom prst="rect">
            <a:avLst/>
          </a:prstGeom>
          <a:noFill/>
        </p:spPr>
        <p:txBody>
          <a:bodyPr wrap="none" rtlCol="0">
            <a:spAutoFit/>
          </a:bodyPr>
          <a:lstStyle/>
          <a:p>
            <a:r>
              <a:rPr lang="en-US" dirty="0"/>
              <a:t>Carbon Dioxide</a:t>
            </a:r>
          </a:p>
        </p:txBody>
      </p:sp>
      <p:sp>
        <p:nvSpPr>
          <p:cNvPr id="42" name="TextBox 41">
            <a:extLst>
              <a:ext uri="{FF2B5EF4-FFF2-40B4-BE49-F238E27FC236}">
                <a16:creationId xmlns:a16="http://schemas.microsoft.com/office/drawing/2014/main" id="{75103ED6-923C-4E6E-A18D-7CDAFCD6EAEA}"/>
              </a:ext>
            </a:extLst>
          </p:cNvPr>
          <p:cNvSpPr txBox="1"/>
          <p:nvPr/>
        </p:nvSpPr>
        <p:spPr>
          <a:xfrm>
            <a:off x="7756152" y="1749968"/>
            <a:ext cx="780919" cy="369332"/>
          </a:xfrm>
          <a:prstGeom prst="rect">
            <a:avLst/>
          </a:prstGeom>
          <a:noFill/>
        </p:spPr>
        <p:txBody>
          <a:bodyPr wrap="none" rtlCol="0">
            <a:spAutoFit/>
          </a:bodyPr>
          <a:lstStyle/>
          <a:p>
            <a:r>
              <a:rPr lang="en-US" dirty="0"/>
              <a:t>Water</a:t>
            </a:r>
          </a:p>
        </p:txBody>
      </p:sp>
      <p:sp>
        <p:nvSpPr>
          <p:cNvPr id="52" name="Flowchart: Magnetic Disk 51">
            <a:extLst>
              <a:ext uri="{FF2B5EF4-FFF2-40B4-BE49-F238E27FC236}">
                <a16:creationId xmlns:a16="http://schemas.microsoft.com/office/drawing/2014/main" id="{5A5E7E8B-3521-4287-BB7A-B4A65D556D73}"/>
              </a:ext>
            </a:extLst>
          </p:cNvPr>
          <p:cNvSpPr/>
          <p:nvPr/>
        </p:nvSpPr>
        <p:spPr>
          <a:xfrm>
            <a:off x="1124166" y="1962137"/>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Flowchart: Connector 52">
            <a:extLst>
              <a:ext uri="{FF2B5EF4-FFF2-40B4-BE49-F238E27FC236}">
                <a16:creationId xmlns:a16="http://schemas.microsoft.com/office/drawing/2014/main" id="{5785DF53-6F1A-456E-91BC-7A11279E70CE}"/>
              </a:ext>
            </a:extLst>
          </p:cNvPr>
          <p:cNvSpPr/>
          <p:nvPr/>
        </p:nvSpPr>
        <p:spPr>
          <a:xfrm>
            <a:off x="2097832" y="2909534"/>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lowchart: Connector 53">
            <a:extLst>
              <a:ext uri="{FF2B5EF4-FFF2-40B4-BE49-F238E27FC236}">
                <a16:creationId xmlns:a16="http://schemas.microsoft.com/office/drawing/2014/main" id="{0916A026-788A-40EC-82A0-68C54FB19418}"/>
              </a:ext>
            </a:extLst>
          </p:cNvPr>
          <p:cNvSpPr/>
          <p:nvPr/>
        </p:nvSpPr>
        <p:spPr>
          <a:xfrm>
            <a:off x="1286406" y="2779316"/>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lowchart: Connector 54">
            <a:extLst>
              <a:ext uri="{FF2B5EF4-FFF2-40B4-BE49-F238E27FC236}">
                <a16:creationId xmlns:a16="http://schemas.microsoft.com/office/drawing/2014/main" id="{D74CEC09-0A65-4C75-B1E8-B5827BB6436C}"/>
              </a:ext>
            </a:extLst>
          </p:cNvPr>
          <p:cNvSpPr/>
          <p:nvPr/>
        </p:nvSpPr>
        <p:spPr>
          <a:xfrm>
            <a:off x="2142911" y="3618850"/>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Flowchart: Connector 55">
            <a:extLst>
              <a:ext uri="{FF2B5EF4-FFF2-40B4-BE49-F238E27FC236}">
                <a16:creationId xmlns:a16="http://schemas.microsoft.com/office/drawing/2014/main" id="{1585CB4C-8919-425D-AB0D-10324A5F6000}"/>
              </a:ext>
            </a:extLst>
          </p:cNvPr>
          <p:cNvSpPr/>
          <p:nvPr/>
        </p:nvSpPr>
        <p:spPr>
          <a:xfrm>
            <a:off x="1523473" y="3520298"/>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Flowchart: Connector 56">
            <a:extLst>
              <a:ext uri="{FF2B5EF4-FFF2-40B4-BE49-F238E27FC236}">
                <a16:creationId xmlns:a16="http://schemas.microsoft.com/office/drawing/2014/main" id="{411C9090-C180-40E8-BA01-78916464C780}"/>
              </a:ext>
            </a:extLst>
          </p:cNvPr>
          <p:cNvSpPr/>
          <p:nvPr/>
        </p:nvSpPr>
        <p:spPr>
          <a:xfrm>
            <a:off x="1921749" y="3334348"/>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Flowchart: Connector 57">
            <a:extLst>
              <a:ext uri="{FF2B5EF4-FFF2-40B4-BE49-F238E27FC236}">
                <a16:creationId xmlns:a16="http://schemas.microsoft.com/office/drawing/2014/main" id="{510DA6BF-D351-4DB7-AEB9-CB2E3B9928E1}"/>
              </a:ext>
            </a:extLst>
          </p:cNvPr>
          <p:cNvSpPr/>
          <p:nvPr/>
        </p:nvSpPr>
        <p:spPr>
          <a:xfrm>
            <a:off x="1640632" y="2940161"/>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Flowchart: Connector 58">
            <a:extLst>
              <a:ext uri="{FF2B5EF4-FFF2-40B4-BE49-F238E27FC236}">
                <a16:creationId xmlns:a16="http://schemas.microsoft.com/office/drawing/2014/main" id="{861C6F2D-0E2F-4942-AFAD-36E561797687}"/>
              </a:ext>
            </a:extLst>
          </p:cNvPr>
          <p:cNvSpPr/>
          <p:nvPr/>
        </p:nvSpPr>
        <p:spPr>
          <a:xfrm>
            <a:off x="1301965" y="3188001"/>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lowchart: Connector 59">
            <a:extLst>
              <a:ext uri="{FF2B5EF4-FFF2-40B4-BE49-F238E27FC236}">
                <a16:creationId xmlns:a16="http://schemas.microsoft.com/office/drawing/2014/main" id="{90BD5D16-C21E-44A6-B5CE-6B7FC9FA719E}"/>
              </a:ext>
            </a:extLst>
          </p:cNvPr>
          <p:cNvSpPr/>
          <p:nvPr/>
        </p:nvSpPr>
        <p:spPr>
          <a:xfrm>
            <a:off x="2264119" y="3178940"/>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Flowchart: Magnetic Disk 60">
            <a:extLst>
              <a:ext uri="{FF2B5EF4-FFF2-40B4-BE49-F238E27FC236}">
                <a16:creationId xmlns:a16="http://schemas.microsoft.com/office/drawing/2014/main" id="{3B6DF63A-2CF9-4E8F-931C-AC3791C00358}"/>
              </a:ext>
            </a:extLst>
          </p:cNvPr>
          <p:cNvSpPr/>
          <p:nvPr/>
        </p:nvSpPr>
        <p:spPr>
          <a:xfrm>
            <a:off x="115041" y="4320753"/>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Flowchart: Connector 62">
            <a:extLst>
              <a:ext uri="{FF2B5EF4-FFF2-40B4-BE49-F238E27FC236}">
                <a16:creationId xmlns:a16="http://schemas.microsoft.com/office/drawing/2014/main" id="{F868487A-7840-4072-8174-2F47409A198C}"/>
              </a:ext>
            </a:extLst>
          </p:cNvPr>
          <p:cNvSpPr/>
          <p:nvPr/>
        </p:nvSpPr>
        <p:spPr>
          <a:xfrm>
            <a:off x="349607" y="5208747"/>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Flowchart: Connector 63">
            <a:extLst>
              <a:ext uri="{FF2B5EF4-FFF2-40B4-BE49-F238E27FC236}">
                <a16:creationId xmlns:a16="http://schemas.microsoft.com/office/drawing/2014/main" id="{D85A561C-4A37-48CF-A44C-EAE6030F45E2}"/>
              </a:ext>
            </a:extLst>
          </p:cNvPr>
          <p:cNvSpPr/>
          <p:nvPr/>
        </p:nvSpPr>
        <p:spPr>
          <a:xfrm>
            <a:off x="993073" y="5809880"/>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lowchart: Connector 64">
            <a:extLst>
              <a:ext uri="{FF2B5EF4-FFF2-40B4-BE49-F238E27FC236}">
                <a16:creationId xmlns:a16="http://schemas.microsoft.com/office/drawing/2014/main" id="{1D926D42-2223-4891-BAD5-1FB72B83522B}"/>
              </a:ext>
            </a:extLst>
          </p:cNvPr>
          <p:cNvSpPr/>
          <p:nvPr/>
        </p:nvSpPr>
        <p:spPr>
          <a:xfrm>
            <a:off x="994962" y="520874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Flowchart: Connector 65">
            <a:extLst>
              <a:ext uri="{FF2B5EF4-FFF2-40B4-BE49-F238E27FC236}">
                <a16:creationId xmlns:a16="http://schemas.microsoft.com/office/drawing/2014/main" id="{9AB4A683-3B10-4049-9E6A-2D3ED2AE6133}"/>
              </a:ext>
            </a:extLst>
          </p:cNvPr>
          <p:cNvSpPr/>
          <p:nvPr/>
        </p:nvSpPr>
        <p:spPr>
          <a:xfrm>
            <a:off x="435524" y="571214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lowchart: Magnetic Disk 66">
            <a:extLst>
              <a:ext uri="{FF2B5EF4-FFF2-40B4-BE49-F238E27FC236}">
                <a16:creationId xmlns:a16="http://schemas.microsoft.com/office/drawing/2014/main" id="{BCEA29A1-06E3-4E0C-98F7-2E9DDDAC1019}"/>
              </a:ext>
            </a:extLst>
          </p:cNvPr>
          <p:cNvSpPr/>
          <p:nvPr/>
        </p:nvSpPr>
        <p:spPr>
          <a:xfrm>
            <a:off x="2251732" y="4334273"/>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lowchart: Connector 67">
            <a:extLst>
              <a:ext uri="{FF2B5EF4-FFF2-40B4-BE49-F238E27FC236}">
                <a16:creationId xmlns:a16="http://schemas.microsoft.com/office/drawing/2014/main" id="{9A1BC052-078C-4CDC-AE3A-7EB552F951F8}"/>
              </a:ext>
            </a:extLst>
          </p:cNvPr>
          <p:cNvSpPr/>
          <p:nvPr/>
        </p:nvSpPr>
        <p:spPr>
          <a:xfrm>
            <a:off x="2486298" y="5222267"/>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Flowchart: Connector 68">
            <a:extLst>
              <a:ext uri="{FF2B5EF4-FFF2-40B4-BE49-F238E27FC236}">
                <a16:creationId xmlns:a16="http://schemas.microsoft.com/office/drawing/2014/main" id="{839CE38F-3E68-4EAA-9E36-EB4094C62A6A}"/>
              </a:ext>
            </a:extLst>
          </p:cNvPr>
          <p:cNvSpPr/>
          <p:nvPr/>
        </p:nvSpPr>
        <p:spPr>
          <a:xfrm>
            <a:off x="3129764" y="5823400"/>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lowchart: Connector 69">
            <a:extLst>
              <a:ext uri="{FF2B5EF4-FFF2-40B4-BE49-F238E27FC236}">
                <a16:creationId xmlns:a16="http://schemas.microsoft.com/office/drawing/2014/main" id="{AAC179E2-C8C7-438A-88CD-81E6D2FDB814}"/>
              </a:ext>
            </a:extLst>
          </p:cNvPr>
          <p:cNvSpPr/>
          <p:nvPr/>
        </p:nvSpPr>
        <p:spPr>
          <a:xfrm>
            <a:off x="3131653" y="522226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Flowchart: Connector 70">
            <a:extLst>
              <a:ext uri="{FF2B5EF4-FFF2-40B4-BE49-F238E27FC236}">
                <a16:creationId xmlns:a16="http://schemas.microsoft.com/office/drawing/2014/main" id="{42C34779-8125-480F-89DA-6517FF3D95A3}"/>
              </a:ext>
            </a:extLst>
          </p:cNvPr>
          <p:cNvSpPr/>
          <p:nvPr/>
        </p:nvSpPr>
        <p:spPr>
          <a:xfrm>
            <a:off x="2572215" y="5725667"/>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Flowchart: Magnetic Disk 71">
            <a:extLst>
              <a:ext uri="{FF2B5EF4-FFF2-40B4-BE49-F238E27FC236}">
                <a16:creationId xmlns:a16="http://schemas.microsoft.com/office/drawing/2014/main" id="{09A64A13-9BE1-40C0-9501-B9FEC1399293}"/>
              </a:ext>
            </a:extLst>
          </p:cNvPr>
          <p:cNvSpPr/>
          <p:nvPr/>
        </p:nvSpPr>
        <p:spPr>
          <a:xfrm>
            <a:off x="5769842" y="2181198"/>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Flowchart: Connector 72">
            <a:extLst>
              <a:ext uri="{FF2B5EF4-FFF2-40B4-BE49-F238E27FC236}">
                <a16:creationId xmlns:a16="http://schemas.microsoft.com/office/drawing/2014/main" id="{29C559BB-6D56-422D-904B-31E6DA8AE887}"/>
              </a:ext>
            </a:extLst>
          </p:cNvPr>
          <p:cNvSpPr/>
          <p:nvPr/>
        </p:nvSpPr>
        <p:spPr>
          <a:xfrm>
            <a:off x="6004408" y="3069192"/>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lowchart: Connector 73">
            <a:extLst>
              <a:ext uri="{FF2B5EF4-FFF2-40B4-BE49-F238E27FC236}">
                <a16:creationId xmlns:a16="http://schemas.microsoft.com/office/drawing/2014/main" id="{16D46EB4-045C-4F88-B758-F12DC4F28E4C}"/>
              </a:ext>
            </a:extLst>
          </p:cNvPr>
          <p:cNvSpPr/>
          <p:nvPr/>
        </p:nvSpPr>
        <p:spPr>
          <a:xfrm>
            <a:off x="6647874" y="3670325"/>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lowchart: Connector 74">
            <a:extLst>
              <a:ext uri="{FF2B5EF4-FFF2-40B4-BE49-F238E27FC236}">
                <a16:creationId xmlns:a16="http://schemas.microsoft.com/office/drawing/2014/main" id="{B36AB17E-A85F-472C-8982-54E7688BDA44}"/>
              </a:ext>
            </a:extLst>
          </p:cNvPr>
          <p:cNvSpPr/>
          <p:nvPr/>
        </p:nvSpPr>
        <p:spPr>
          <a:xfrm>
            <a:off x="6649763" y="3069192"/>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lowchart: Connector 75">
            <a:extLst>
              <a:ext uri="{FF2B5EF4-FFF2-40B4-BE49-F238E27FC236}">
                <a16:creationId xmlns:a16="http://schemas.microsoft.com/office/drawing/2014/main" id="{79819E40-450B-4A76-A8C2-F238FD039866}"/>
              </a:ext>
            </a:extLst>
          </p:cNvPr>
          <p:cNvSpPr/>
          <p:nvPr/>
        </p:nvSpPr>
        <p:spPr>
          <a:xfrm>
            <a:off x="6090325" y="3572592"/>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lowchart: Magnetic Disk 76">
            <a:extLst>
              <a:ext uri="{FF2B5EF4-FFF2-40B4-BE49-F238E27FC236}">
                <a16:creationId xmlns:a16="http://schemas.microsoft.com/office/drawing/2014/main" id="{F0C07811-E7DF-4DDA-95C8-861527A1716A}"/>
              </a:ext>
            </a:extLst>
          </p:cNvPr>
          <p:cNvSpPr/>
          <p:nvPr/>
        </p:nvSpPr>
        <p:spPr>
          <a:xfrm>
            <a:off x="9764300" y="2142219"/>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Flowchart: Connector 77">
            <a:extLst>
              <a:ext uri="{FF2B5EF4-FFF2-40B4-BE49-F238E27FC236}">
                <a16:creationId xmlns:a16="http://schemas.microsoft.com/office/drawing/2014/main" id="{7D9E095C-F0D4-4BA1-837C-3A1650E50298}"/>
              </a:ext>
            </a:extLst>
          </p:cNvPr>
          <p:cNvSpPr/>
          <p:nvPr/>
        </p:nvSpPr>
        <p:spPr>
          <a:xfrm>
            <a:off x="9998866" y="3030213"/>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Flowchart: Connector 78">
            <a:extLst>
              <a:ext uri="{FF2B5EF4-FFF2-40B4-BE49-F238E27FC236}">
                <a16:creationId xmlns:a16="http://schemas.microsoft.com/office/drawing/2014/main" id="{72DDE4E8-BBD2-4BC2-B7C7-6BF6F3FBD64D}"/>
              </a:ext>
            </a:extLst>
          </p:cNvPr>
          <p:cNvSpPr/>
          <p:nvPr/>
        </p:nvSpPr>
        <p:spPr>
          <a:xfrm>
            <a:off x="10642332" y="3631346"/>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lowchart: Connector 79">
            <a:extLst>
              <a:ext uri="{FF2B5EF4-FFF2-40B4-BE49-F238E27FC236}">
                <a16:creationId xmlns:a16="http://schemas.microsoft.com/office/drawing/2014/main" id="{51CBF452-970D-41DC-B810-90AD6E969482}"/>
              </a:ext>
            </a:extLst>
          </p:cNvPr>
          <p:cNvSpPr/>
          <p:nvPr/>
        </p:nvSpPr>
        <p:spPr>
          <a:xfrm>
            <a:off x="10644221" y="3030213"/>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Flowchart: Connector 80">
            <a:extLst>
              <a:ext uri="{FF2B5EF4-FFF2-40B4-BE49-F238E27FC236}">
                <a16:creationId xmlns:a16="http://schemas.microsoft.com/office/drawing/2014/main" id="{35A5F4D4-5690-4B2A-9271-2DABECE42908}"/>
              </a:ext>
            </a:extLst>
          </p:cNvPr>
          <p:cNvSpPr/>
          <p:nvPr/>
        </p:nvSpPr>
        <p:spPr>
          <a:xfrm>
            <a:off x="10084783" y="3533613"/>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Flowchart: Magnetic Disk 81">
            <a:extLst>
              <a:ext uri="{FF2B5EF4-FFF2-40B4-BE49-F238E27FC236}">
                <a16:creationId xmlns:a16="http://schemas.microsoft.com/office/drawing/2014/main" id="{10951D49-9F30-44AA-A7CF-B7193584CB9A}"/>
              </a:ext>
            </a:extLst>
          </p:cNvPr>
          <p:cNvSpPr/>
          <p:nvPr/>
        </p:nvSpPr>
        <p:spPr>
          <a:xfrm>
            <a:off x="5769842" y="4545310"/>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Flowchart: Connector 82">
            <a:extLst>
              <a:ext uri="{FF2B5EF4-FFF2-40B4-BE49-F238E27FC236}">
                <a16:creationId xmlns:a16="http://schemas.microsoft.com/office/drawing/2014/main" id="{FB478846-F0F1-4BE9-91F7-5A14AA530ACE}"/>
              </a:ext>
            </a:extLst>
          </p:cNvPr>
          <p:cNvSpPr/>
          <p:nvPr/>
        </p:nvSpPr>
        <p:spPr>
          <a:xfrm>
            <a:off x="6004408" y="5433304"/>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Flowchart: Connector 83">
            <a:extLst>
              <a:ext uri="{FF2B5EF4-FFF2-40B4-BE49-F238E27FC236}">
                <a16:creationId xmlns:a16="http://schemas.microsoft.com/office/drawing/2014/main" id="{5E75E82E-4F2B-4D52-96B3-C7590484736B}"/>
              </a:ext>
            </a:extLst>
          </p:cNvPr>
          <p:cNvSpPr/>
          <p:nvPr/>
        </p:nvSpPr>
        <p:spPr>
          <a:xfrm>
            <a:off x="6647874" y="6034437"/>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lowchart: Connector 84">
            <a:extLst>
              <a:ext uri="{FF2B5EF4-FFF2-40B4-BE49-F238E27FC236}">
                <a16:creationId xmlns:a16="http://schemas.microsoft.com/office/drawing/2014/main" id="{9B35B5B6-6A30-4679-85E1-1FDFAB24E61C}"/>
              </a:ext>
            </a:extLst>
          </p:cNvPr>
          <p:cNvSpPr/>
          <p:nvPr/>
        </p:nvSpPr>
        <p:spPr>
          <a:xfrm>
            <a:off x="6649763" y="5433304"/>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Flowchart: Connector 85">
            <a:extLst>
              <a:ext uri="{FF2B5EF4-FFF2-40B4-BE49-F238E27FC236}">
                <a16:creationId xmlns:a16="http://schemas.microsoft.com/office/drawing/2014/main" id="{92326185-923E-48D8-B78A-86762B64BCAD}"/>
              </a:ext>
            </a:extLst>
          </p:cNvPr>
          <p:cNvSpPr/>
          <p:nvPr/>
        </p:nvSpPr>
        <p:spPr>
          <a:xfrm>
            <a:off x="6090325" y="5936704"/>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Flowchart: Magnetic Disk 91">
            <a:extLst>
              <a:ext uri="{FF2B5EF4-FFF2-40B4-BE49-F238E27FC236}">
                <a16:creationId xmlns:a16="http://schemas.microsoft.com/office/drawing/2014/main" id="{18E109AC-B82F-4FB9-B774-71CA6A31CF77}"/>
              </a:ext>
            </a:extLst>
          </p:cNvPr>
          <p:cNvSpPr/>
          <p:nvPr/>
        </p:nvSpPr>
        <p:spPr>
          <a:xfrm>
            <a:off x="9764300" y="4526051"/>
            <a:ext cx="1474574" cy="2155231"/>
          </a:xfrm>
          <a:prstGeom prst="flowChartMagneticDisk">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Flowchart: Connector 92">
            <a:extLst>
              <a:ext uri="{FF2B5EF4-FFF2-40B4-BE49-F238E27FC236}">
                <a16:creationId xmlns:a16="http://schemas.microsoft.com/office/drawing/2014/main" id="{487B6095-B89F-4BC3-BFD8-A41CE1A94730}"/>
              </a:ext>
            </a:extLst>
          </p:cNvPr>
          <p:cNvSpPr/>
          <p:nvPr/>
        </p:nvSpPr>
        <p:spPr>
          <a:xfrm>
            <a:off x="9998866" y="5414045"/>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Flowchart: Connector 93">
            <a:extLst>
              <a:ext uri="{FF2B5EF4-FFF2-40B4-BE49-F238E27FC236}">
                <a16:creationId xmlns:a16="http://schemas.microsoft.com/office/drawing/2014/main" id="{715B89CF-A8C5-433F-B68A-674AECDD0718}"/>
              </a:ext>
            </a:extLst>
          </p:cNvPr>
          <p:cNvSpPr/>
          <p:nvPr/>
        </p:nvSpPr>
        <p:spPr>
          <a:xfrm>
            <a:off x="10642332" y="6015178"/>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Flowchart: Connector 96">
            <a:extLst>
              <a:ext uri="{FF2B5EF4-FFF2-40B4-BE49-F238E27FC236}">
                <a16:creationId xmlns:a16="http://schemas.microsoft.com/office/drawing/2014/main" id="{607BA17F-8D90-4C0B-B941-7F166FD13C58}"/>
              </a:ext>
            </a:extLst>
          </p:cNvPr>
          <p:cNvSpPr/>
          <p:nvPr/>
        </p:nvSpPr>
        <p:spPr>
          <a:xfrm>
            <a:off x="4749548" y="1518434"/>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Flowchart: Connector 97">
            <a:extLst>
              <a:ext uri="{FF2B5EF4-FFF2-40B4-BE49-F238E27FC236}">
                <a16:creationId xmlns:a16="http://schemas.microsoft.com/office/drawing/2014/main" id="{DFD00B79-1DBD-4854-8C7B-BC2606633597}"/>
              </a:ext>
            </a:extLst>
          </p:cNvPr>
          <p:cNvSpPr/>
          <p:nvPr/>
        </p:nvSpPr>
        <p:spPr>
          <a:xfrm>
            <a:off x="5038541" y="1880209"/>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Flowchart: Connector 99">
            <a:extLst>
              <a:ext uri="{FF2B5EF4-FFF2-40B4-BE49-F238E27FC236}">
                <a16:creationId xmlns:a16="http://schemas.microsoft.com/office/drawing/2014/main" id="{B2648A37-0857-4037-A121-83959B0CCE0E}"/>
              </a:ext>
            </a:extLst>
          </p:cNvPr>
          <p:cNvSpPr/>
          <p:nvPr/>
        </p:nvSpPr>
        <p:spPr>
          <a:xfrm>
            <a:off x="6324890" y="6283510"/>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Flowchart: Connector 100">
            <a:extLst>
              <a:ext uri="{FF2B5EF4-FFF2-40B4-BE49-F238E27FC236}">
                <a16:creationId xmlns:a16="http://schemas.microsoft.com/office/drawing/2014/main" id="{7FADEE98-92AC-4C1F-BD08-1A13ABEE6C90}"/>
              </a:ext>
            </a:extLst>
          </p:cNvPr>
          <p:cNvSpPr/>
          <p:nvPr/>
        </p:nvSpPr>
        <p:spPr>
          <a:xfrm>
            <a:off x="6901936" y="5754743"/>
            <a:ext cx="237067" cy="260435"/>
          </a:xfrm>
          <a:prstGeom prst="flowChartConnector">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Flowchart: Connector 102">
            <a:extLst>
              <a:ext uri="{FF2B5EF4-FFF2-40B4-BE49-F238E27FC236}">
                <a16:creationId xmlns:a16="http://schemas.microsoft.com/office/drawing/2014/main" id="{9ADAEDFA-160F-4D4F-B197-C29349D8878F}"/>
              </a:ext>
            </a:extLst>
          </p:cNvPr>
          <p:cNvSpPr/>
          <p:nvPr/>
        </p:nvSpPr>
        <p:spPr>
          <a:xfrm>
            <a:off x="11617900" y="1357074"/>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Flowchart: Connector 103">
            <a:extLst>
              <a:ext uri="{FF2B5EF4-FFF2-40B4-BE49-F238E27FC236}">
                <a16:creationId xmlns:a16="http://schemas.microsoft.com/office/drawing/2014/main" id="{38CDF8C0-17CB-4A20-A08C-41839F8A5D0D}"/>
              </a:ext>
            </a:extLst>
          </p:cNvPr>
          <p:cNvSpPr/>
          <p:nvPr/>
        </p:nvSpPr>
        <p:spPr>
          <a:xfrm>
            <a:off x="11076146" y="1406199"/>
            <a:ext cx="237067" cy="260435"/>
          </a:xfrm>
          <a:prstGeom prst="flowChartConnector">
            <a:avLst/>
          </a:prstGeom>
          <a:solidFill>
            <a:srgbClr val="FF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Flowchart: Connector 104">
            <a:extLst>
              <a:ext uri="{FF2B5EF4-FFF2-40B4-BE49-F238E27FC236}">
                <a16:creationId xmlns:a16="http://schemas.microsoft.com/office/drawing/2014/main" id="{E30796C1-F6F7-48FF-AB1D-F5F2C9D7882D}"/>
              </a:ext>
            </a:extLst>
          </p:cNvPr>
          <p:cNvSpPr/>
          <p:nvPr/>
        </p:nvSpPr>
        <p:spPr>
          <a:xfrm>
            <a:off x="10111275" y="5972582"/>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Flowchart: Connector 105">
            <a:extLst>
              <a:ext uri="{FF2B5EF4-FFF2-40B4-BE49-F238E27FC236}">
                <a16:creationId xmlns:a16="http://schemas.microsoft.com/office/drawing/2014/main" id="{9A0C8CDF-2AD2-4B3A-9CA5-283649416DB9}"/>
              </a:ext>
            </a:extLst>
          </p:cNvPr>
          <p:cNvSpPr/>
          <p:nvPr/>
        </p:nvSpPr>
        <p:spPr>
          <a:xfrm>
            <a:off x="10618870" y="5436421"/>
            <a:ext cx="237067" cy="260435"/>
          </a:xfrm>
          <a:prstGeom prst="flowChartConnector">
            <a:avLst/>
          </a:prstGeom>
          <a:solidFill>
            <a:schemeClr val="accent2"/>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lowchart: Connector 106">
            <a:extLst>
              <a:ext uri="{FF2B5EF4-FFF2-40B4-BE49-F238E27FC236}">
                <a16:creationId xmlns:a16="http://schemas.microsoft.com/office/drawing/2014/main" id="{E1628D3F-4F12-47D5-8C4F-367BCA156795}"/>
              </a:ext>
            </a:extLst>
          </p:cNvPr>
          <p:cNvSpPr/>
          <p:nvPr/>
        </p:nvSpPr>
        <p:spPr>
          <a:xfrm>
            <a:off x="10760865" y="4649557"/>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Flowchart: Connector 107">
            <a:extLst>
              <a:ext uri="{FF2B5EF4-FFF2-40B4-BE49-F238E27FC236}">
                <a16:creationId xmlns:a16="http://schemas.microsoft.com/office/drawing/2014/main" id="{4F165E8B-6F31-4151-A57E-1CBF5CC3058F}"/>
              </a:ext>
            </a:extLst>
          </p:cNvPr>
          <p:cNvSpPr/>
          <p:nvPr/>
        </p:nvSpPr>
        <p:spPr>
          <a:xfrm>
            <a:off x="9998866" y="4495780"/>
            <a:ext cx="237067" cy="260435"/>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0" name="Straight Connector 109">
            <a:extLst>
              <a:ext uri="{FF2B5EF4-FFF2-40B4-BE49-F238E27FC236}">
                <a16:creationId xmlns:a16="http://schemas.microsoft.com/office/drawing/2014/main" id="{2EB06782-5D13-40A6-BA7F-6266D6BBEDAB}"/>
              </a:ext>
            </a:extLst>
          </p:cNvPr>
          <p:cNvCxnSpPr/>
          <p:nvPr/>
        </p:nvCxnSpPr>
        <p:spPr>
          <a:xfrm flipV="1">
            <a:off x="2723365" y="2936994"/>
            <a:ext cx="431210" cy="676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0A45011B-785E-4ECE-BCEF-7E9C5BBF6744}"/>
              </a:ext>
            </a:extLst>
          </p:cNvPr>
          <p:cNvCxnSpPr/>
          <p:nvPr/>
        </p:nvCxnSpPr>
        <p:spPr>
          <a:xfrm flipH="1">
            <a:off x="693052" y="2947190"/>
            <a:ext cx="354226" cy="9539"/>
          </a:xfrm>
          <a:prstGeom prst="line">
            <a:avLst/>
          </a:prstGeom>
        </p:spPr>
        <p:style>
          <a:lnRef idx="1">
            <a:schemeClr val="accent1"/>
          </a:lnRef>
          <a:fillRef idx="0">
            <a:schemeClr val="accent1"/>
          </a:fillRef>
          <a:effectRef idx="0">
            <a:schemeClr val="accent1"/>
          </a:effectRef>
          <a:fontRef idx="minor">
            <a:schemeClr val="tx1"/>
          </a:fontRef>
        </p:style>
      </p:cxnSp>
      <p:cxnSp>
        <p:nvCxnSpPr>
          <p:cNvPr id="116" name="Straight Arrow Connector 115">
            <a:extLst>
              <a:ext uri="{FF2B5EF4-FFF2-40B4-BE49-F238E27FC236}">
                <a16:creationId xmlns:a16="http://schemas.microsoft.com/office/drawing/2014/main" id="{31AE507F-A0C5-4084-B8AB-8791D9D60EEC}"/>
              </a:ext>
            </a:extLst>
          </p:cNvPr>
          <p:cNvCxnSpPr/>
          <p:nvPr/>
        </p:nvCxnSpPr>
        <p:spPr>
          <a:xfrm>
            <a:off x="3129764" y="2936994"/>
            <a:ext cx="0" cy="10677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95B2CA25-0E5E-403E-9643-EBC0E51B1ABC}"/>
              </a:ext>
            </a:extLst>
          </p:cNvPr>
          <p:cNvCxnSpPr/>
          <p:nvPr/>
        </p:nvCxnSpPr>
        <p:spPr>
          <a:xfrm flipH="1">
            <a:off x="672591" y="2943754"/>
            <a:ext cx="20461" cy="11736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9" name="Flowchart: Connector 118">
            <a:extLst>
              <a:ext uri="{FF2B5EF4-FFF2-40B4-BE49-F238E27FC236}">
                <a16:creationId xmlns:a16="http://schemas.microsoft.com/office/drawing/2014/main" id="{1240B8E0-44F0-4DD2-A3AB-4DC007325A4B}"/>
              </a:ext>
            </a:extLst>
          </p:cNvPr>
          <p:cNvSpPr/>
          <p:nvPr/>
        </p:nvSpPr>
        <p:spPr>
          <a:xfrm>
            <a:off x="4446334" y="1300678"/>
            <a:ext cx="1196089" cy="1123051"/>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0" name="Flowchart: Connector 119">
            <a:extLst>
              <a:ext uri="{FF2B5EF4-FFF2-40B4-BE49-F238E27FC236}">
                <a16:creationId xmlns:a16="http://schemas.microsoft.com/office/drawing/2014/main" id="{08AB5F1B-E665-482F-AD8B-A98FD6A4F5E8}"/>
              </a:ext>
            </a:extLst>
          </p:cNvPr>
          <p:cNvSpPr/>
          <p:nvPr/>
        </p:nvSpPr>
        <p:spPr>
          <a:xfrm>
            <a:off x="10909587" y="930149"/>
            <a:ext cx="1196089" cy="1123051"/>
          </a:xfrm>
          <a:prstGeom prst="flowChartConnector">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2" name="Straight Connector 121">
            <a:extLst>
              <a:ext uri="{FF2B5EF4-FFF2-40B4-BE49-F238E27FC236}">
                <a16:creationId xmlns:a16="http://schemas.microsoft.com/office/drawing/2014/main" id="{B509734C-764F-40D9-B001-16FBB4A0ACF3}"/>
              </a:ext>
            </a:extLst>
          </p:cNvPr>
          <p:cNvCxnSpPr>
            <a:cxnSpLocks/>
          </p:cNvCxnSpPr>
          <p:nvPr/>
        </p:nvCxnSpPr>
        <p:spPr>
          <a:xfrm>
            <a:off x="5703702" y="1610847"/>
            <a:ext cx="85825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Arrow Connector 123">
            <a:extLst>
              <a:ext uri="{FF2B5EF4-FFF2-40B4-BE49-F238E27FC236}">
                <a16:creationId xmlns:a16="http://schemas.microsoft.com/office/drawing/2014/main" id="{FA93E123-DC0A-4E06-98D9-A00D25F76049}"/>
              </a:ext>
            </a:extLst>
          </p:cNvPr>
          <p:cNvCxnSpPr/>
          <p:nvPr/>
        </p:nvCxnSpPr>
        <p:spPr>
          <a:xfrm>
            <a:off x="6561957" y="1617509"/>
            <a:ext cx="0" cy="8062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5" name="Arrow: Right 124">
            <a:extLst>
              <a:ext uri="{FF2B5EF4-FFF2-40B4-BE49-F238E27FC236}">
                <a16:creationId xmlns:a16="http://schemas.microsoft.com/office/drawing/2014/main" id="{B1DA64E2-D303-46C4-962A-16CBE8BB75E1}"/>
              </a:ext>
            </a:extLst>
          </p:cNvPr>
          <p:cNvSpPr/>
          <p:nvPr/>
        </p:nvSpPr>
        <p:spPr>
          <a:xfrm rot="5400000">
            <a:off x="6139463" y="4344389"/>
            <a:ext cx="812800" cy="305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Arrow: Right 125">
            <a:extLst>
              <a:ext uri="{FF2B5EF4-FFF2-40B4-BE49-F238E27FC236}">
                <a16:creationId xmlns:a16="http://schemas.microsoft.com/office/drawing/2014/main" id="{99C407BF-8C9E-4614-8DBB-119BF61DB82D}"/>
              </a:ext>
            </a:extLst>
          </p:cNvPr>
          <p:cNvSpPr/>
          <p:nvPr/>
        </p:nvSpPr>
        <p:spPr>
          <a:xfrm rot="5400000">
            <a:off x="10120721" y="4197099"/>
            <a:ext cx="812800" cy="3054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8" name="Straight Connector 127">
            <a:extLst>
              <a:ext uri="{FF2B5EF4-FFF2-40B4-BE49-F238E27FC236}">
                <a16:creationId xmlns:a16="http://schemas.microsoft.com/office/drawing/2014/main" id="{0AD535E9-E609-46B1-9C1C-7D25A9179955}"/>
              </a:ext>
            </a:extLst>
          </p:cNvPr>
          <p:cNvCxnSpPr>
            <a:stCxn id="120" idx="2"/>
          </p:cNvCxnSpPr>
          <p:nvPr/>
        </p:nvCxnSpPr>
        <p:spPr>
          <a:xfrm flipH="1" flipV="1">
            <a:off x="10470499" y="1487291"/>
            <a:ext cx="439088" cy="438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0" name="Straight Arrow Connector 129">
            <a:extLst>
              <a:ext uri="{FF2B5EF4-FFF2-40B4-BE49-F238E27FC236}">
                <a16:creationId xmlns:a16="http://schemas.microsoft.com/office/drawing/2014/main" id="{53C7B7EF-D07A-4327-BA78-B539D6B65F31}"/>
              </a:ext>
            </a:extLst>
          </p:cNvPr>
          <p:cNvCxnSpPr/>
          <p:nvPr/>
        </p:nvCxnSpPr>
        <p:spPr>
          <a:xfrm>
            <a:off x="10501587" y="1487291"/>
            <a:ext cx="0" cy="9791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31" name="TextBox 130">
            <a:extLst>
              <a:ext uri="{FF2B5EF4-FFF2-40B4-BE49-F238E27FC236}">
                <a16:creationId xmlns:a16="http://schemas.microsoft.com/office/drawing/2014/main" id="{9FA80B3C-295C-4F0D-B3CD-37CD0E7DCF8A}"/>
              </a:ext>
            </a:extLst>
          </p:cNvPr>
          <p:cNvSpPr txBox="1"/>
          <p:nvPr/>
        </p:nvSpPr>
        <p:spPr>
          <a:xfrm>
            <a:off x="821337" y="1002876"/>
            <a:ext cx="2543090" cy="923330"/>
          </a:xfrm>
          <a:prstGeom prst="rect">
            <a:avLst/>
          </a:prstGeom>
          <a:noFill/>
        </p:spPr>
        <p:txBody>
          <a:bodyPr wrap="square" rtlCol="0">
            <a:spAutoFit/>
          </a:bodyPr>
          <a:lstStyle/>
          <a:p>
            <a:r>
              <a:rPr lang="en-US" dirty="0"/>
              <a:t>The mixture from the first reaction is split into two portions</a:t>
            </a:r>
          </a:p>
        </p:txBody>
      </p:sp>
      <p:sp>
        <p:nvSpPr>
          <p:cNvPr id="132" name="TextBox 131">
            <a:extLst>
              <a:ext uri="{FF2B5EF4-FFF2-40B4-BE49-F238E27FC236}">
                <a16:creationId xmlns:a16="http://schemas.microsoft.com/office/drawing/2014/main" id="{2D56F023-227F-449C-A56D-0652ACCBD408}"/>
              </a:ext>
            </a:extLst>
          </p:cNvPr>
          <p:cNvSpPr txBox="1"/>
          <p:nvPr/>
        </p:nvSpPr>
        <p:spPr>
          <a:xfrm>
            <a:off x="3911969" y="2780154"/>
            <a:ext cx="1986888" cy="3139321"/>
          </a:xfrm>
          <a:prstGeom prst="rect">
            <a:avLst/>
          </a:prstGeom>
          <a:noFill/>
        </p:spPr>
        <p:txBody>
          <a:bodyPr wrap="square" rtlCol="0">
            <a:spAutoFit/>
          </a:bodyPr>
          <a:lstStyle/>
          <a:p>
            <a:r>
              <a:rPr lang="en-US" dirty="0"/>
              <a:t>To one portion, additional baking soda is added. No changes happen, since there is no vinegar present in the glass. This indicates that Baking Soda was </a:t>
            </a:r>
            <a:r>
              <a:rPr lang="en-US" b="1" dirty="0"/>
              <a:t>not</a:t>
            </a:r>
            <a:r>
              <a:rPr lang="en-US" dirty="0"/>
              <a:t> the limiting reactant</a:t>
            </a:r>
          </a:p>
        </p:txBody>
      </p:sp>
      <p:sp>
        <p:nvSpPr>
          <p:cNvPr id="133" name="TextBox 132">
            <a:extLst>
              <a:ext uri="{FF2B5EF4-FFF2-40B4-BE49-F238E27FC236}">
                <a16:creationId xmlns:a16="http://schemas.microsoft.com/office/drawing/2014/main" id="{BFF973E7-B927-4289-BA9B-FF254D02A153}"/>
              </a:ext>
            </a:extLst>
          </p:cNvPr>
          <p:cNvSpPr txBox="1"/>
          <p:nvPr/>
        </p:nvSpPr>
        <p:spPr>
          <a:xfrm>
            <a:off x="7807834" y="2569782"/>
            <a:ext cx="1986888" cy="3416320"/>
          </a:xfrm>
          <a:prstGeom prst="rect">
            <a:avLst/>
          </a:prstGeom>
          <a:noFill/>
        </p:spPr>
        <p:txBody>
          <a:bodyPr wrap="square" rtlCol="0">
            <a:spAutoFit/>
          </a:bodyPr>
          <a:lstStyle/>
          <a:p>
            <a:r>
              <a:rPr lang="en-US" dirty="0"/>
              <a:t>To one portion, additional vinegar is added. A reaction is seen to take place. This indicates that there was additional Baking Soda left in the glass, meaning that Vinegar was the Limiting Reactant initially</a:t>
            </a:r>
          </a:p>
        </p:txBody>
      </p:sp>
      <p:cxnSp>
        <p:nvCxnSpPr>
          <p:cNvPr id="135" name="Straight Connector 134">
            <a:extLst>
              <a:ext uri="{FF2B5EF4-FFF2-40B4-BE49-F238E27FC236}">
                <a16:creationId xmlns:a16="http://schemas.microsoft.com/office/drawing/2014/main" id="{1BABADD7-32B1-4C24-BE94-6685C98FA6E0}"/>
              </a:ext>
            </a:extLst>
          </p:cNvPr>
          <p:cNvCxnSpPr/>
          <p:nvPr/>
        </p:nvCxnSpPr>
        <p:spPr>
          <a:xfrm>
            <a:off x="3726306" y="891446"/>
            <a:ext cx="93664" cy="5809095"/>
          </a:xfrm>
          <a:prstGeom prst="line">
            <a:avLst/>
          </a:prstGeom>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59394602-17F2-4D04-B2BC-FC8D364DEE11}"/>
              </a:ext>
            </a:extLst>
          </p:cNvPr>
          <p:cNvCxnSpPr/>
          <p:nvPr/>
        </p:nvCxnSpPr>
        <p:spPr>
          <a:xfrm>
            <a:off x="7505176" y="2256090"/>
            <a:ext cx="89967" cy="42878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235362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TM02900720[[fn=Integral]]</Template>
  <TotalTime>44702</TotalTime>
  <Words>2088</Words>
  <Application>Microsoft Macintosh PowerPoint</Application>
  <PresentationFormat>Widescreen</PresentationFormat>
  <Paragraphs>186</Paragraphs>
  <Slides>20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20</vt:i4>
      </vt:variant>
    </vt:vector>
  </HeadingPairs>
  <TitlesOfParts>
    <vt:vector size="28" baseType="lpstr">
      <vt:lpstr>Arial</vt:lpstr>
      <vt:lpstr>Calibri</vt:lpstr>
      <vt:lpstr>Cambria Math</vt:lpstr>
      <vt:lpstr>Tw Cen MT</vt:lpstr>
      <vt:lpstr>Tw Cen MT Condensed</vt:lpstr>
      <vt:lpstr>Wingdings</vt:lpstr>
      <vt:lpstr>Wingdings 3</vt:lpstr>
      <vt:lpstr>Integral</vt:lpstr>
      <vt:lpstr>Limiting reactants</vt:lpstr>
      <vt:lpstr>Products &amp; reactants</vt:lpstr>
      <vt:lpstr>Balanced Chemical reactions</vt:lpstr>
      <vt:lpstr>Limiting reactants – grams to moles</vt:lpstr>
      <vt:lpstr>Limiting reactant – molarity to moles</vt:lpstr>
      <vt:lpstr>Limiting reactants – reaction stoichiometry</vt:lpstr>
      <vt:lpstr>Limiting reactant</vt:lpstr>
      <vt:lpstr>Limiting reactant - scenarios</vt:lpstr>
      <vt:lpstr>Reactants vs. spectators</vt:lpstr>
      <vt:lpstr>Limiting reactants - experiment</vt:lpstr>
      <vt:lpstr>Part a – limiting reactant simulation</vt:lpstr>
      <vt:lpstr>Adding up molecules</vt:lpstr>
      <vt:lpstr>Part b – video reaction overview</vt:lpstr>
      <vt:lpstr>Precipitation reactions</vt:lpstr>
      <vt:lpstr>Filter paper</vt:lpstr>
      <vt:lpstr>Interpreting observations</vt:lpstr>
      <vt:lpstr>Interpreting observations</vt:lpstr>
      <vt:lpstr>Part c – home experiment </vt:lpstr>
      <vt:lpstr>Interpreting observations</vt:lpstr>
      <vt:lpstr>Interpreting observations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Hartman, Kevin M</dc:creator>
  <cp:lastModifiedBy>Ryan Balachandran</cp:lastModifiedBy>
  <cp:revision>72</cp:revision>
  <dcterms:created xsi:type="dcterms:W3CDTF">2020-03-16T23:29:03Z</dcterms:created>
  <dcterms:modified xsi:type="dcterms:W3CDTF">2021-11-01T22:18:57Z</dcterms:modified>
</cp:coreProperties>
</file>