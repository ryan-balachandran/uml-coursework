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0" r:id="rId2"/>
    <p:sldMasterId id="2147483652" r:id="rId3"/>
  </p:sldMasterIdLst>
  <p:notesMasterIdLst>
    <p:notesMasterId r:id="rId46"/>
  </p:notesMasterIdLst>
  <p:sldIdLst>
    <p:sldId id="284" r:id="rId4"/>
    <p:sldId id="285" r:id="rId5"/>
    <p:sldId id="286" r:id="rId6"/>
    <p:sldId id="287" r:id="rId7"/>
    <p:sldId id="288" r:id="rId8"/>
    <p:sldId id="289" r:id="rId9"/>
    <p:sldId id="293" r:id="rId10"/>
    <p:sldId id="372" r:id="rId11"/>
    <p:sldId id="373" r:id="rId12"/>
    <p:sldId id="290" r:id="rId13"/>
    <p:sldId id="256" r:id="rId14"/>
    <p:sldId id="376" r:id="rId15"/>
    <p:sldId id="295" r:id="rId16"/>
    <p:sldId id="366" r:id="rId17"/>
    <p:sldId id="301" r:id="rId18"/>
    <p:sldId id="332" r:id="rId19"/>
    <p:sldId id="302" r:id="rId20"/>
    <p:sldId id="304" r:id="rId21"/>
    <p:sldId id="351" r:id="rId22"/>
    <p:sldId id="306" r:id="rId23"/>
    <p:sldId id="307" r:id="rId24"/>
    <p:sldId id="309" r:id="rId25"/>
    <p:sldId id="312" r:id="rId26"/>
    <p:sldId id="368" r:id="rId27"/>
    <p:sldId id="367" r:id="rId28"/>
    <p:sldId id="369" r:id="rId29"/>
    <p:sldId id="336" r:id="rId30"/>
    <p:sldId id="338" r:id="rId31"/>
    <p:sldId id="370" r:id="rId32"/>
    <p:sldId id="339" r:id="rId33"/>
    <p:sldId id="365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71" r:id="rId45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663300"/>
    <a:srgbClr val="008000"/>
    <a:srgbClr val="CC0000"/>
    <a:srgbClr val="CCFF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624"/>
  </p:normalViewPr>
  <p:slideViewPr>
    <p:cSldViewPr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9" d="100"/>
        <a:sy n="119" d="100"/>
      </p:scale>
      <p:origin x="0" y="26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16927-21FB-45BE-9815-9A740330FA9B}" type="datetimeFigureOut">
              <a:rPr lang="en-US" smtClean="0"/>
              <a:pPr/>
              <a:t>10/28/19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65B0C-B35D-4608-94F8-324A6C7A47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4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37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Processor State (x86-64, Partial)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3340100" cy="5435600"/>
          </a:xfrm>
          <a:ln/>
        </p:spPr>
        <p:txBody>
          <a:bodyPr/>
          <a:lstStyle/>
          <a:p>
            <a:r>
              <a:rPr lang="en-US" dirty="0"/>
              <a:t>Information about currently executing program</a:t>
            </a:r>
          </a:p>
          <a:p>
            <a:pPr marL="552450" lvl="1"/>
            <a:r>
              <a:rPr lang="en-US" dirty="0"/>
              <a:t>Temporary data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Location of runtime stack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)</a:t>
            </a:r>
          </a:p>
          <a:p>
            <a:pPr marL="552450" lvl="1"/>
            <a:r>
              <a:rPr lang="en-US" dirty="0"/>
              <a:t>Location of current code control point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  <a:r>
              <a:rPr lang="en-US" dirty="0"/>
              <a:t>, … )</a:t>
            </a:r>
          </a:p>
          <a:p>
            <a:pPr marL="552450" lvl="1"/>
            <a:r>
              <a:rPr lang="en-US" dirty="0"/>
              <a:t>Status of recent tests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CF, ZF, SF, OF</a:t>
            </a:r>
            <a:r>
              <a:rPr lang="en-US" dirty="0"/>
              <a:t> )</a:t>
            </a:r>
          </a:p>
        </p:txBody>
      </p:sp>
      <p:sp>
        <p:nvSpPr>
          <p:cNvPr id="33797" name="Rectangle 5"/>
          <p:cNvSpPr>
            <a:spLocks/>
          </p:cNvSpPr>
          <p:nvPr/>
        </p:nvSpPr>
        <p:spPr bwMode="auto">
          <a:xfrm>
            <a:off x="4466772" y="5410200"/>
            <a:ext cx="2057400" cy="308610"/>
          </a:xfrm>
          <a:prstGeom prst="rect">
            <a:avLst/>
          </a:prstGeom>
          <a:solidFill>
            <a:srgbClr val="D6D6F4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  <p:sp>
        <p:nvSpPr>
          <p:cNvPr id="33798" name="Rectangle 6"/>
          <p:cNvSpPr>
            <a:spLocks/>
          </p:cNvSpPr>
          <p:nvPr/>
        </p:nvSpPr>
        <p:spPr bwMode="auto">
          <a:xfrm>
            <a:off x="4466772" y="1828800"/>
            <a:ext cx="1026974" cy="384721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</a:p>
        </p:txBody>
      </p:sp>
      <p:sp>
        <p:nvSpPr>
          <p:cNvPr id="33799" name="Rectangle 7"/>
          <p:cNvSpPr>
            <a:spLocks/>
          </p:cNvSpPr>
          <p:nvPr/>
        </p:nvSpPr>
        <p:spPr bwMode="auto">
          <a:xfrm>
            <a:off x="1981200" y="5638800"/>
            <a:ext cx="18986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Current stack top</a:t>
            </a:r>
          </a:p>
        </p:txBody>
      </p:sp>
      <p:sp>
        <p:nvSpPr>
          <p:cNvPr id="33801" name="Rectangle 9"/>
          <p:cNvSpPr>
            <a:spLocks/>
          </p:cNvSpPr>
          <p:nvPr/>
        </p:nvSpPr>
        <p:spPr bwMode="auto">
          <a:xfrm>
            <a:off x="6676572" y="5334000"/>
            <a:ext cx="2063750" cy="3810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Instruction pointer</a:t>
            </a:r>
          </a:p>
        </p:txBody>
      </p:sp>
      <p:sp>
        <p:nvSpPr>
          <p:cNvPr id="33802" name="Rectangle 10"/>
          <p:cNvSpPr>
            <a:spLocks/>
          </p:cNvSpPr>
          <p:nvPr/>
        </p:nvSpPr>
        <p:spPr bwMode="auto">
          <a:xfrm>
            <a:off x="44858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CF</a:t>
            </a:r>
          </a:p>
        </p:txBody>
      </p:sp>
      <p:sp>
        <p:nvSpPr>
          <p:cNvPr id="33803" name="Rectangle 11"/>
          <p:cNvSpPr>
            <a:spLocks/>
          </p:cNvSpPr>
          <p:nvPr/>
        </p:nvSpPr>
        <p:spPr bwMode="auto">
          <a:xfrm>
            <a:off x="51589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ZF</a:t>
            </a:r>
          </a:p>
        </p:txBody>
      </p:sp>
      <p:sp>
        <p:nvSpPr>
          <p:cNvPr id="33804" name="Rectangle 12"/>
          <p:cNvSpPr>
            <a:spLocks/>
          </p:cNvSpPr>
          <p:nvPr/>
        </p:nvSpPr>
        <p:spPr bwMode="auto">
          <a:xfrm>
            <a:off x="58320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SF</a:t>
            </a:r>
          </a:p>
        </p:txBody>
      </p:sp>
      <p:sp>
        <p:nvSpPr>
          <p:cNvPr id="33805" name="Rectangle 13"/>
          <p:cNvSpPr>
            <a:spLocks/>
          </p:cNvSpPr>
          <p:nvPr/>
        </p:nvSpPr>
        <p:spPr bwMode="auto">
          <a:xfrm>
            <a:off x="6505122" y="6019800"/>
            <a:ext cx="533400" cy="533400"/>
          </a:xfrm>
          <a:prstGeom prst="rect">
            <a:avLst/>
          </a:prstGeom>
          <a:solidFill>
            <a:srgbClr val="C5FEB8"/>
          </a:solidFill>
          <a:ln w="2556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OF</a:t>
            </a:r>
          </a:p>
        </p:txBody>
      </p:sp>
      <p:sp>
        <p:nvSpPr>
          <p:cNvPr id="33806" name="Rectangle 14"/>
          <p:cNvSpPr>
            <a:spLocks/>
          </p:cNvSpPr>
          <p:nvPr/>
        </p:nvSpPr>
        <p:spPr bwMode="auto">
          <a:xfrm>
            <a:off x="7189788" y="6019800"/>
            <a:ext cx="1801812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dirty="0">
                <a:solidFill>
                  <a:srgbClr val="C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Condition codes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4466772" y="2286000"/>
            <a:ext cx="4296228" cy="2743200"/>
            <a:chOff x="762000" y="1143000"/>
            <a:chExt cx="7518400" cy="4800600"/>
          </a:xfrm>
        </p:grpSpPr>
        <p:sp>
          <p:nvSpPr>
            <p:cNvPr id="27" name="Rectangle 1"/>
            <p:cNvSpPr>
              <a:spLocks/>
            </p:cNvSpPr>
            <p:nvPr/>
          </p:nvSpPr>
          <p:spPr bwMode="auto">
            <a:xfrm>
              <a:off x="762000" y="4800600"/>
              <a:ext cx="3556000" cy="533400"/>
            </a:xfrm>
            <a:prstGeom prst="rect">
              <a:avLst/>
            </a:prstGeom>
            <a:solidFill>
              <a:srgbClr val="EFBFBF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%rsp</a:t>
              </a:r>
            </a:p>
          </p:txBody>
        </p:sp>
        <p:sp>
          <p:nvSpPr>
            <p:cNvPr id="28" name="Rectangle 22"/>
            <p:cNvSpPr>
              <a:spLocks/>
            </p:cNvSpPr>
            <p:nvPr/>
          </p:nvSpPr>
          <p:spPr bwMode="auto">
            <a:xfrm>
              <a:off x="47244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%r8</a:t>
              </a:r>
            </a:p>
          </p:txBody>
        </p:sp>
        <p:sp>
          <p:nvSpPr>
            <p:cNvPr id="29" name="Rectangle 23"/>
            <p:cNvSpPr>
              <a:spLocks/>
            </p:cNvSpPr>
            <p:nvPr/>
          </p:nvSpPr>
          <p:spPr bwMode="auto">
            <a:xfrm>
              <a:off x="47244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%r9</a:t>
              </a:r>
            </a:p>
          </p:txBody>
        </p:sp>
        <p:sp>
          <p:nvSpPr>
            <p:cNvPr id="30" name="Rectangle 24"/>
            <p:cNvSpPr>
              <a:spLocks/>
            </p:cNvSpPr>
            <p:nvPr/>
          </p:nvSpPr>
          <p:spPr bwMode="auto">
            <a:xfrm>
              <a:off x="47244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%r10</a:t>
              </a:r>
            </a:p>
          </p:txBody>
        </p:sp>
        <p:sp>
          <p:nvSpPr>
            <p:cNvPr id="31" name="Rectangle 25"/>
            <p:cNvSpPr>
              <a:spLocks/>
            </p:cNvSpPr>
            <p:nvPr/>
          </p:nvSpPr>
          <p:spPr bwMode="auto">
            <a:xfrm>
              <a:off x="47244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%r11</a:t>
              </a:r>
            </a:p>
          </p:txBody>
        </p:sp>
        <p:sp>
          <p:nvSpPr>
            <p:cNvPr id="32" name="Rectangle 26"/>
            <p:cNvSpPr>
              <a:spLocks/>
            </p:cNvSpPr>
            <p:nvPr/>
          </p:nvSpPr>
          <p:spPr bwMode="auto">
            <a:xfrm>
              <a:off x="47244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%r12</a:t>
              </a:r>
            </a:p>
          </p:txBody>
        </p:sp>
        <p:sp>
          <p:nvSpPr>
            <p:cNvPr id="33" name="Rectangle 27"/>
            <p:cNvSpPr>
              <a:spLocks/>
            </p:cNvSpPr>
            <p:nvPr/>
          </p:nvSpPr>
          <p:spPr bwMode="auto">
            <a:xfrm>
              <a:off x="47244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%r13</a:t>
              </a:r>
            </a:p>
          </p:txBody>
        </p:sp>
        <p:sp>
          <p:nvSpPr>
            <p:cNvPr id="34" name="Rectangle 28"/>
            <p:cNvSpPr>
              <a:spLocks/>
            </p:cNvSpPr>
            <p:nvPr/>
          </p:nvSpPr>
          <p:spPr bwMode="auto">
            <a:xfrm>
              <a:off x="4724400" y="4800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%r14</a:t>
              </a:r>
            </a:p>
          </p:txBody>
        </p:sp>
        <p:sp>
          <p:nvSpPr>
            <p:cNvPr id="35" name="Rectangle 29"/>
            <p:cNvSpPr>
              <a:spLocks/>
            </p:cNvSpPr>
            <p:nvPr/>
          </p:nvSpPr>
          <p:spPr bwMode="auto">
            <a:xfrm>
              <a:off x="47244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%r15</a:t>
              </a:r>
            </a:p>
          </p:txBody>
        </p:sp>
        <p:sp>
          <p:nvSpPr>
            <p:cNvPr id="36" name="Rectangle 30"/>
            <p:cNvSpPr>
              <a:spLocks/>
            </p:cNvSpPr>
            <p:nvPr/>
          </p:nvSpPr>
          <p:spPr bwMode="auto">
            <a:xfrm>
              <a:off x="762000" y="1143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rax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7" name="Rectangle 31"/>
            <p:cNvSpPr>
              <a:spLocks/>
            </p:cNvSpPr>
            <p:nvPr/>
          </p:nvSpPr>
          <p:spPr bwMode="auto">
            <a:xfrm>
              <a:off x="762000" y="17526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rbx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38" name="Rectangle 32"/>
            <p:cNvSpPr>
              <a:spLocks/>
            </p:cNvSpPr>
            <p:nvPr/>
          </p:nvSpPr>
          <p:spPr bwMode="auto">
            <a:xfrm>
              <a:off x="762000" y="2362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%rcx</a:t>
              </a:r>
            </a:p>
          </p:txBody>
        </p:sp>
        <p:sp>
          <p:nvSpPr>
            <p:cNvPr id="39" name="Rectangle 33"/>
            <p:cNvSpPr>
              <a:spLocks/>
            </p:cNvSpPr>
            <p:nvPr/>
          </p:nvSpPr>
          <p:spPr bwMode="auto">
            <a:xfrm>
              <a:off x="762000" y="29718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%rdx</a:t>
              </a:r>
            </a:p>
          </p:txBody>
        </p:sp>
        <p:sp>
          <p:nvSpPr>
            <p:cNvPr id="40" name="Rectangle 34"/>
            <p:cNvSpPr>
              <a:spLocks/>
            </p:cNvSpPr>
            <p:nvPr/>
          </p:nvSpPr>
          <p:spPr bwMode="auto">
            <a:xfrm>
              <a:off x="762000" y="35814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%rsi</a:t>
              </a:r>
            </a:p>
          </p:txBody>
        </p:sp>
        <p:sp>
          <p:nvSpPr>
            <p:cNvPr id="41" name="Rectangle 35"/>
            <p:cNvSpPr>
              <a:spLocks/>
            </p:cNvSpPr>
            <p:nvPr/>
          </p:nvSpPr>
          <p:spPr bwMode="auto">
            <a:xfrm>
              <a:off x="762000" y="41910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%rdi</a:t>
              </a:r>
            </a:p>
          </p:txBody>
        </p:sp>
        <p:sp>
          <p:nvSpPr>
            <p:cNvPr id="42" name="Rectangle 36"/>
            <p:cNvSpPr>
              <a:spLocks/>
            </p:cNvSpPr>
            <p:nvPr/>
          </p:nvSpPr>
          <p:spPr bwMode="auto">
            <a:xfrm>
              <a:off x="762000" y="5410200"/>
              <a:ext cx="3556000" cy="533400"/>
            </a:xfrm>
            <a:prstGeom prst="rect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pPr algn="l"/>
              <a:r>
                <a:rPr lang="en-US" sz="180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%rbp</a:t>
              </a:r>
            </a:p>
          </p:txBody>
        </p:sp>
      </p:grpSp>
      <p:cxnSp>
        <p:nvCxnSpPr>
          <p:cNvPr id="3" name="Straight Arrow Connector 2"/>
          <p:cNvCxnSpPr>
            <a:endCxn id="27" idx="1"/>
          </p:cNvCxnSpPr>
          <p:nvPr/>
        </p:nvCxnSpPr>
        <p:spPr bwMode="auto">
          <a:xfrm flipV="1">
            <a:off x="3657600" y="4528457"/>
            <a:ext cx="809172" cy="118654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481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(Implicit Setting)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Single bit registers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</a:t>
            </a:r>
            <a:r>
              <a:rPr lang="en-US" dirty="0"/>
              <a:t>	 Carry Flag (for unsigned)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</a:t>
            </a:r>
            <a:r>
              <a:rPr lang="en-US" dirty="0"/>
              <a:t>  Sign Flag (for signed)</a:t>
            </a:r>
          </a:p>
          <a:p>
            <a:pPr marL="317500" lvl="1" indent="0"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</a:t>
            </a:r>
            <a:r>
              <a:rPr lang="en-US" dirty="0"/>
              <a:t>	 Zero Flag	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</a:t>
            </a:r>
            <a:r>
              <a:rPr lang="en-US" dirty="0"/>
              <a:t>  Overflow Flag (for signed)</a:t>
            </a:r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Implicitly set (think of it as side effect) by arithmetic operations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Example: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addq</a:t>
            </a:r>
            <a:r>
              <a:rPr lang="en-US" dirty="0"/>
              <a:t>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en-US" dirty="0" err="1"/>
              <a:t>,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/>
              <a:t> ↔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a+b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 set</a:t>
            </a:r>
            <a:r>
              <a:rPr lang="en-US" dirty="0"/>
              <a:t> if carry out from most significant bit (unsigned overflow)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== 0</a:t>
            </a:r>
            <a:endParaRPr lang="en-US" dirty="0"/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t &lt; 0</a:t>
            </a:r>
            <a:r>
              <a:rPr lang="en-US" dirty="0"/>
              <a:t> (as signed)</a:t>
            </a:r>
          </a:p>
          <a:p>
            <a:pPr marL="317500" lvl="1" indent="0">
              <a:buNone/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 set</a:t>
            </a:r>
            <a:r>
              <a:rPr lang="en-US" dirty="0"/>
              <a:t> if two’s-complement (signed) overflow</a:t>
            </a:r>
            <a:br>
              <a:rPr lang="en-US" dirty="0"/>
            </a:b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b&gt;0 &amp;&amp; t&lt;0) || (a&lt;0 &amp;&amp; b&lt;0 &amp;&amp; t&gt;=0)</a:t>
            </a: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endParaRPr lang="en-US" dirty="0"/>
          </a:p>
          <a:p>
            <a:pPr>
              <a:tabLst>
                <a:tab pos="1225550" algn="l"/>
                <a:tab pos="4060825" algn="l"/>
                <a:tab pos="1225550" algn="l"/>
                <a:tab pos="4060825" algn="l"/>
              </a:tabLst>
            </a:pPr>
            <a:r>
              <a:rPr lang="en-US" dirty="0"/>
              <a:t>Not set by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leaq</a:t>
            </a:r>
            <a:r>
              <a:rPr lang="en-US" dirty="0"/>
              <a:t> instruction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(Explicit Setting: Compare)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Explicit Setting by Compare Instruction</a:t>
            </a:r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cmpq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a-b</a:t>
            </a:r>
            <a:r>
              <a:rPr lang="en-US" dirty="0"/>
              <a:t> without setting destination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CF set</a:t>
            </a:r>
            <a:r>
              <a:rPr lang="en-US" dirty="0"/>
              <a:t> if carry out from most significant bit (used for unsigned comparisons)</a:t>
            </a:r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 == b</a:t>
            </a:r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if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(a-b) &lt; 0</a:t>
            </a:r>
            <a:r>
              <a:rPr lang="en-US" dirty="0"/>
              <a:t> (as signed)</a:t>
            </a:r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OF set</a:t>
            </a:r>
            <a:r>
              <a:rPr lang="en-US" dirty="0"/>
              <a:t> if two’s-complement (signed) overflow</a:t>
            </a:r>
            <a:br>
              <a:rPr lang="en-US" dirty="0"/>
            </a:b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(a&gt;0 &amp;&amp; b&lt;0 &amp;&amp; (a-b)&lt;0) || (a&lt;0 &amp;&amp; b&gt;0 &amp;&amp; (a-b)&gt;0)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686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Condition Codes (Explicit Setting: Test)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Explicit Setting by Test instruction</a:t>
            </a:r>
          </a:p>
          <a:p>
            <a:pPr marL="317500" lvl="1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r>
              <a:rPr lang="en-US" dirty="0"/>
              <a:t>,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endParaRPr lang="en-US" dirty="0"/>
          </a:p>
          <a:p>
            <a:pPr marL="603250" lvl="2" indent="0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testq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b,a</a:t>
            </a:r>
            <a:r>
              <a:rPr lang="en-US" dirty="0"/>
              <a:t> like computing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/>
              <a:t> without setting destination 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/>
              <a:t>Sets condition codes based on value of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Src1</a:t>
            </a:r>
            <a:r>
              <a:rPr lang="en-US" dirty="0"/>
              <a:t> &amp;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Src2</a:t>
            </a:r>
            <a:endParaRPr lang="en-US" dirty="0"/>
          </a:p>
          <a:p>
            <a:pPr marL="317500" lvl="1" indent="0"/>
            <a:r>
              <a:rPr lang="en-US" dirty="0"/>
              <a:t>Useful to have one of the operands be a mask</a:t>
            </a:r>
          </a:p>
          <a:p>
            <a:pPr marL="317500" lvl="1" indent="0"/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ZF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== 0</a:t>
            </a:r>
            <a:endParaRPr lang="en-US" dirty="0"/>
          </a:p>
          <a:p>
            <a:pPr marL="317500" lvl="1" indent="0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SF set</a:t>
            </a:r>
            <a:r>
              <a:rPr lang="en-US" dirty="0"/>
              <a:t> when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a&amp;b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&lt; 0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78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Reading Condition Codes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</a:t>
            </a:r>
          </a:p>
          <a:p>
            <a:pPr marL="552450" lvl="1"/>
            <a:r>
              <a:rPr lang="en-US" dirty="0"/>
              <a:t>Set low-order byte of destination to 0 or 1 based on combinations of condition codes</a:t>
            </a:r>
          </a:p>
          <a:p>
            <a:pPr marL="552450" lvl="1"/>
            <a:r>
              <a:rPr lang="en-US" dirty="0"/>
              <a:t>Does not alter remaining 7 bytes</a:t>
            </a:r>
          </a:p>
          <a:p>
            <a:pPr marL="552450" lvl="1"/>
            <a:endParaRPr lang="en-US" dirty="0"/>
          </a:p>
        </p:txBody>
      </p:sp>
      <p:graphicFrame>
        <p:nvGraphicFramePr>
          <p:cNvPr id="37893" name="Group 5"/>
          <p:cNvGraphicFramePr>
            <a:graphicFrameLocks noGrp="1"/>
          </p:cNvGraphicFramePr>
          <p:nvPr/>
        </p:nvGraphicFramePr>
        <p:xfrm>
          <a:off x="1295400" y="2976880"/>
          <a:ext cx="6096000" cy="357632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SetX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setns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setge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setle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seta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setb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25400" marR="25400" marT="25400" marB="254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/>
          </p:cNvSpPr>
          <p:nvPr/>
        </p:nvSpPr>
        <p:spPr bwMode="auto">
          <a:xfrm>
            <a:off x="304800" y="5410200"/>
            <a:ext cx="6629400" cy="1117600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%rdi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Compare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x:y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lvl="1"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setg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%al          # Set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when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&gt;</a:t>
            </a:r>
          </a:p>
          <a:p>
            <a:pPr lvl="1"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movzbl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%al,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Zero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rest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of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14350" algn="l"/>
                <a:tab pos="2801938" algn="l"/>
                <a:tab pos="3086100" algn="l"/>
                <a:tab pos="3086100" algn="l"/>
                <a:tab pos="3086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38914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8915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38920" name="Rectangle 8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Reading Condition Codes (Cont.)</a:t>
            </a: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81000" y="1155700"/>
            <a:ext cx="5880100" cy="3327400"/>
          </a:xfrm>
          <a:ln/>
        </p:spPr>
        <p:txBody>
          <a:bodyPr/>
          <a:lstStyle/>
          <a:p>
            <a:r>
              <a:rPr lang="en-US" dirty="0" err="1"/>
              <a:t>SetX</a:t>
            </a:r>
            <a:r>
              <a:rPr lang="en-US" dirty="0"/>
              <a:t> Instructions: </a:t>
            </a:r>
          </a:p>
          <a:p>
            <a:pPr marL="552450" lvl="1"/>
            <a:r>
              <a:rPr lang="en-US" dirty="0"/>
              <a:t>Set single byte based on combination of condition codes</a:t>
            </a:r>
          </a:p>
          <a:p>
            <a:r>
              <a:rPr lang="en-US" dirty="0"/>
              <a:t>One of addressable byte registers</a:t>
            </a:r>
          </a:p>
          <a:p>
            <a:pPr marL="552450" lvl="1"/>
            <a:r>
              <a:rPr lang="en-US" dirty="0"/>
              <a:t>Does not alter remaining bytes</a:t>
            </a:r>
          </a:p>
          <a:p>
            <a:pPr marL="552450" lvl="1"/>
            <a:r>
              <a:rPr lang="en-US" dirty="0"/>
              <a:t>Typically use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movzbl</a:t>
            </a:r>
            <a:r>
              <a:rPr lang="en-US" dirty="0"/>
              <a:t> to finish job</a:t>
            </a:r>
          </a:p>
          <a:p>
            <a:pPr marL="838200" lvl="2"/>
            <a:r>
              <a:rPr lang="en-US" dirty="0"/>
              <a:t>32-bit instructions also set upper 32 bits to 0</a:t>
            </a:r>
          </a:p>
        </p:txBody>
      </p:sp>
      <p:sp>
        <p:nvSpPr>
          <p:cNvPr id="38922" name="Rectangle 10"/>
          <p:cNvSpPr>
            <a:spLocks/>
          </p:cNvSpPr>
          <p:nvPr/>
        </p:nvSpPr>
        <p:spPr bwMode="auto">
          <a:xfrm>
            <a:off x="1143000" y="3886200"/>
            <a:ext cx="3429000" cy="1295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x &gt;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5258"/>
              </p:ext>
            </p:extLst>
          </p:nvPr>
        </p:nvGraphicFramePr>
        <p:xfrm>
          <a:off x="5638800" y="37338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096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Jumping</a:t>
            </a:r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863600"/>
          </a:xfrm>
          <a:ln/>
        </p:spPr>
        <p:txBody>
          <a:bodyPr/>
          <a:lstStyle/>
          <a:p>
            <a:r>
              <a:rPr lang="en-US"/>
              <a:t>jX Instructions</a:t>
            </a:r>
          </a:p>
          <a:p>
            <a:pPr marL="552450" lvl="1"/>
            <a:r>
              <a:rPr lang="en-US"/>
              <a:t>Jump to different part of code depending on condition codes</a:t>
            </a:r>
          </a:p>
        </p:txBody>
      </p:sp>
      <p:graphicFrame>
        <p:nvGraphicFramePr>
          <p:cNvPr id="40965" name="Group 5"/>
          <p:cNvGraphicFramePr>
            <a:graphicFrameLocks noGrp="1"/>
          </p:cNvGraphicFramePr>
          <p:nvPr/>
        </p:nvGraphicFramePr>
        <p:xfrm>
          <a:off x="1511300" y="2433638"/>
          <a:ext cx="6096000" cy="390144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jX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Condition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Description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jmp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1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Unconditional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12900" algn="l"/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Equal /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Not Equal / Not Zero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jns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~SF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Nonnegative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jge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Greater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jle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(SF^OF)|ZF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Less or Equal (Signed)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ja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~CF&amp;~ZF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Above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jb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CF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16510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Below (unsigned)</a:t>
                      </a:r>
                    </a:p>
                  </a:txBody>
                  <a:tcPr marL="38100" marR="38100" marT="38100" marB="38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3"/>
          <p:cNvSpPr>
            <a:spLocks noChangeArrowheads="1"/>
          </p:cNvSpPr>
          <p:nvPr/>
        </p:nvSpPr>
        <p:spPr bwMode="auto">
          <a:xfrm>
            <a:off x="395514" y="2035175"/>
            <a:ext cx="3124200" cy="1196975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algn="l"/>
            <a:r>
              <a:rPr lang="en-US" altLang="en-US" sz="1800" dirty="0">
                <a:latin typeface="Courier New" charset="0"/>
              </a:rPr>
              <a:t>if (</a:t>
            </a:r>
            <a:r>
              <a:rPr lang="en-US" altLang="en-US" sz="1800" i="1" dirty="0">
                <a:latin typeface="Courier New" charset="0"/>
              </a:rPr>
              <a:t>t</a:t>
            </a:r>
            <a:r>
              <a:rPr lang="en-US" altLang="en-US" sz="1800" dirty="0">
                <a:latin typeface="Courier New" charset="0"/>
              </a:rPr>
              <a:t>)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  </a:t>
            </a:r>
            <a:r>
              <a:rPr lang="en-US" altLang="en-US" sz="1800" i="1" dirty="0">
                <a:latin typeface="Courier New" charset="0"/>
              </a:rPr>
              <a:t>then-statement</a:t>
            </a:r>
            <a:r>
              <a:rPr lang="en-US" altLang="en-US" sz="1800" dirty="0">
                <a:latin typeface="Courier New" charset="0"/>
              </a:rPr>
              <a:t>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else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  </a:t>
            </a:r>
            <a:r>
              <a:rPr lang="en-US" altLang="en-US" sz="1800" i="1" dirty="0">
                <a:latin typeface="Courier New" charset="0"/>
              </a:rPr>
              <a:t>else-statement</a:t>
            </a:r>
            <a:r>
              <a:rPr lang="en-US" altLang="en-US" sz="1800" dirty="0">
                <a:latin typeface="Courier New" charset="0"/>
              </a:rPr>
              <a:t>;</a:t>
            </a:r>
          </a:p>
        </p:txBody>
      </p:sp>
      <p:sp>
        <p:nvSpPr>
          <p:cNvPr id="40962" name="Rectangle 4"/>
          <p:cNvSpPr>
            <a:spLocks noChangeArrowheads="1"/>
          </p:cNvSpPr>
          <p:nvPr/>
        </p:nvSpPr>
        <p:spPr bwMode="auto">
          <a:xfrm>
            <a:off x="395514" y="3514016"/>
            <a:ext cx="3886200" cy="2305759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algn="l"/>
            <a:r>
              <a:rPr lang="en-US" altLang="en-US" sz="1800" i="1" dirty="0">
                <a:latin typeface="Courier New" charset="0"/>
              </a:rPr>
              <a:t>t</a:t>
            </a:r>
            <a:r>
              <a:rPr lang="en-US" altLang="en-US" sz="1800" dirty="0">
                <a:latin typeface="Courier New" charset="0"/>
              </a:rPr>
              <a:t> = </a:t>
            </a:r>
            <a:r>
              <a:rPr lang="en-US" altLang="en-US" sz="1800" dirty="0" err="1">
                <a:latin typeface="Courier New" charset="0"/>
              </a:rPr>
              <a:t>test_expr</a:t>
            </a:r>
            <a:r>
              <a:rPr lang="en-US" altLang="en-US" sz="1800" dirty="0">
                <a:latin typeface="Courier New" charset="0"/>
              </a:rPr>
              <a:t>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if (!</a:t>
            </a:r>
            <a:r>
              <a:rPr lang="en-US" altLang="en-US" sz="1800" i="1" dirty="0">
                <a:latin typeface="Courier New" charset="0"/>
              </a:rPr>
              <a:t>t</a:t>
            </a:r>
            <a:r>
              <a:rPr lang="en-US" altLang="en-US" sz="1800" dirty="0">
                <a:latin typeface="Courier New" charset="0"/>
              </a:rPr>
              <a:t>)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   </a:t>
            </a:r>
            <a:r>
              <a:rPr lang="en-US" altLang="en-US" sz="1800" dirty="0" err="1">
                <a:latin typeface="Courier New" charset="0"/>
              </a:rPr>
              <a:t>goto</a:t>
            </a:r>
            <a:r>
              <a:rPr lang="en-US" altLang="en-US" sz="1800" dirty="0">
                <a:latin typeface="Courier New" charset="0"/>
              </a:rPr>
              <a:t> false;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do </a:t>
            </a:r>
            <a:r>
              <a:rPr lang="en-US" altLang="en-US" sz="1800" i="1" dirty="0">
                <a:latin typeface="Courier New" charset="0"/>
              </a:rPr>
              <a:t>then-statement</a:t>
            </a:r>
            <a:r>
              <a:rPr lang="en-US" altLang="en-US" sz="1800" dirty="0">
                <a:latin typeface="Courier New" charset="0"/>
              </a:rPr>
              <a:t>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</a:t>
            </a:r>
            <a:r>
              <a:rPr lang="en-US" altLang="en-US" sz="1800" dirty="0" err="1">
                <a:latin typeface="Courier New" charset="0"/>
              </a:rPr>
              <a:t>goto</a:t>
            </a:r>
            <a:r>
              <a:rPr lang="en-US" altLang="en-US" sz="1800" dirty="0">
                <a:latin typeface="Courier New" charset="0"/>
              </a:rPr>
              <a:t> done;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false: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do </a:t>
            </a:r>
            <a:r>
              <a:rPr lang="en-US" altLang="en-US" sz="1800" i="1" dirty="0">
                <a:latin typeface="Courier New" charset="0"/>
              </a:rPr>
              <a:t>else-statement</a:t>
            </a:r>
            <a:r>
              <a:rPr lang="en-US" altLang="en-US" sz="1800" dirty="0">
                <a:latin typeface="Courier New" charset="0"/>
              </a:rPr>
              <a:t>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done:</a:t>
            </a:r>
          </a:p>
        </p:txBody>
      </p:sp>
      <p:sp>
        <p:nvSpPr>
          <p:cNvPr id="40963" name="Rectangle 4"/>
          <p:cNvSpPr>
            <a:spLocks noChangeArrowheads="1"/>
          </p:cNvSpPr>
          <p:nvPr/>
        </p:nvSpPr>
        <p:spPr bwMode="auto">
          <a:xfrm>
            <a:off x="4880429" y="3542365"/>
            <a:ext cx="3886200" cy="2847975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algn="l"/>
            <a:r>
              <a:rPr lang="en-US" altLang="en-US" sz="1800" dirty="0" err="1">
                <a:latin typeface="Courier New" charset="0"/>
              </a:rPr>
              <a:t>int</a:t>
            </a:r>
            <a:r>
              <a:rPr lang="en-US" altLang="en-US" sz="1800" dirty="0">
                <a:latin typeface="Courier New" charset="0"/>
              </a:rPr>
              <a:t> </a:t>
            </a:r>
            <a:r>
              <a:rPr lang="en-US" altLang="en-US" sz="1800" dirty="0" err="1">
                <a:latin typeface="Courier New" charset="0"/>
              </a:rPr>
              <a:t>goto_max</a:t>
            </a:r>
            <a:r>
              <a:rPr lang="en-US" altLang="en-US" sz="1800" dirty="0">
                <a:latin typeface="Courier New" charset="0"/>
              </a:rPr>
              <a:t>(</a:t>
            </a:r>
            <a:r>
              <a:rPr lang="en-US" altLang="en-US" sz="1800" dirty="0" err="1">
                <a:latin typeface="Courier New" charset="0"/>
              </a:rPr>
              <a:t>int</a:t>
            </a:r>
            <a:r>
              <a:rPr lang="en-US" altLang="en-US" sz="1800" dirty="0">
                <a:latin typeface="Courier New" charset="0"/>
              </a:rPr>
              <a:t> x, </a:t>
            </a:r>
            <a:r>
              <a:rPr lang="en-US" altLang="en-US" sz="1800" dirty="0" err="1">
                <a:latin typeface="Courier New" charset="0"/>
              </a:rPr>
              <a:t>int</a:t>
            </a:r>
            <a:r>
              <a:rPr lang="en-US" altLang="en-US" sz="1800" dirty="0">
                <a:latin typeface="Courier New" charset="0"/>
              </a:rPr>
              <a:t> y)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{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</a:t>
            </a:r>
            <a:r>
              <a:rPr lang="en-US" altLang="en-US" sz="1800" dirty="0" err="1">
                <a:latin typeface="Courier New" charset="0"/>
              </a:rPr>
              <a:t>int</a:t>
            </a:r>
            <a:r>
              <a:rPr lang="en-US" altLang="en-US" sz="1800" dirty="0">
                <a:latin typeface="Courier New" charset="0"/>
              </a:rPr>
              <a:t> </a:t>
            </a:r>
            <a:r>
              <a:rPr lang="en-US" altLang="en-US" sz="1800" dirty="0" err="1">
                <a:latin typeface="Courier New" charset="0"/>
              </a:rPr>
              <a:t>rval</a:t>
            </a:r>
            <a:r>
              <a:rPr lang="en-US" altLang="en-US" sz="1800" dirty="0">
                <a:latin typeface="Courier New" charset="0"/>
              </a:rPr>
              <a:t> = y;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</a:t>
            </a:r>
            <a:r>
              <a:rPr lang="en-US" altLang="en-US" sz="1800" dirty="0" err="1">
                <a:latin typeface="Courier New" charset="0"/>
              </a:rPr>
              <a:t>int</a:t>
            </a:r>
            <a:r>
              <a:rPr lang="en-US" altLang="en-US" sz="1800" dirty="0">
                <a:latin typeface="Courier New" charset="0"/>
              </a:rPr>
              <a:t> ok = (x &lt;= y);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if (ok)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  </a:t>
            </a:r>
            <a:r>
              <a:rPr lang="en-US" altLang="en-US" sz="1800" dirty="0" err="1">
                <a:latin typeface="Courier New" charset="0"/>
              </a:rPr>
              <a:t>goto</a:t>
            </a:r>
            <a:r>
              <a:rPr lang="en-US" altLang="en-US" sz="1800" dirty="0">
                <a:latin typeface="Courier New" charset="0"/>
              </a:rPr>
              <a:t> done;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</a:t>
            </a:r>
            <a:r>
              <a:rPr lang="en-US" altLang="en-US" sz="1800" dirty="0" err="1">
                <a:latin typeface="Courier New" charset="0"/>
              </a:rPr>
              <a:t>rval</a:t>
            </a:r>
            <a:r>
              <a:rPr lang="en-US" altLang="en-US" sz="1800" dirty="0">
                <a:latin typeface="Courier New" charset="0"/>
              </a:rPr>
              <a:t> = x;</a:t>
            </a:r>
          </a:p>
          <a:p>
            <a:pPr algn="l"/>
            <a:r>
              <a:rPr lang="en-US" altLang="en-US" sz="1800" i="1" dirty="0">
                <a:latin typeface="Courier New" charset="0"/>
              </a:rPr>
              <a:t>done:</a:t>
            </a:r>
            <a:endParaRPr lang="en-US" altLang="en-US" sz="1800" dirty="0">
              <a:latin typeface="Courier New" charset="0"/>
            </a:endParaRPr>
          </a:p>
          <a:p>
            <a:pPr algn="l"/>
            <a:r>
              <a:rPr lang="en-US" altLang="en-US" sz="1800" dirty="0">
                <a:latin typeface="Courier New" charset="0"/>
              </a:rPr>
              <a:t>  return </a:t>
            </a:r>
            <a:r>
              <a:rPr lang="en-US" altLang="en-US" sz="1800" dirty="0" err="1">
                <a:latin typeface="Courier New" charset="0"/>
              </a:rPr>
              <a:t>rval</a:t>
            </a:r>
            <a:r>
              <a:rPr lang="en-US" altLang="en-US" sz="1800" dirty="0">
                <a:latin typeface="Courier New" charset="0"/>
              </a:rPr>
              <a:t>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}</a:t>
            </a:r>
          </a:p>
        </p:txBody>
      </p:sp>
      <p:sp>
        <p:nvSpPr>
          <p:cNvPr id="40964" name="Rectangle 3"/>
          <p:cNvSpPr>
            <a:spLocks noChangeArrowheads="1"/>
          </p:cNvSpPr>
          <p:nvPr/>
        </p:nvSpPr>
        <p:spPr bwMode="auto">
          <a:xfrm>
            <a:off x="4880429" y="1243692"/>
            <a:ext cx="3124200" cy="2024063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-128"/>
              </a:defRPr>
            </a:lvl9pPr>
          </a:lstStyle>
          <a:p>
            <a:pPr algn="l"/>
            <a:r>
              <a:rPr lang="en-US" altLang="en-US" sz="1800" dirty="0" err="1">
                <a:latin typeface="Courier New" charset="0"/>
              </a:rPr>
              <a:t>int</a:t>
            </a:r>
            <a:r>
              <a:rPr lang="en-US" altLang="en-US" sz="1800" dirty="0">
                <a:latin typeface="Courier New" charset="0"/>
              </a:rPr>
              <a:t> max(</a:t>
            </a:r>
            <a:r>
              <a:rPr lang="en-US" altLang="en-US" sz="1800" dirty="0" err="1">
                <a:latin typeface="Courier New" charset="0"/>
              </a:rPr>
              <a:t>int</a:t>
            </a:r>
            <a:r>
              <a:rPr lang="en-US" altLang="en-US" sz="1800" dirty="0">
                <a:latin typeface="Courier New" charset="0"/>
              </a:rPr>
              <a:t> x, </a:t>
            </a:r>
            <a:r>
              <a:rPr lang="en-US" altLang="en-US" sz="1800" dirty="0" err="1">
                <a:latin typeface="Courier New" charset="0"/>
              </a:rPr>
              <a:t>int</a:t>
            </a:r>
            <a:r>
              <a:rPr lang="en-US" altLang="en-US" sz="1800" dirty="0">
                <a:latin typeface="Courier New" charset="0"/>
              </a:rPr>
              <a:t> y)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{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if (x &gt; y)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  return x;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else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    return y;</a:t>
            </a:r>
          </a:p>
          <a:p>
            <a:pPr algn="l"/>
            <a:r>
              <a:rPr lang="en-US" altLang="en-US" sz="1800" dirty="0">
                <a:latin typeface="Courier New" charset="0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81000" y="254000"/>
            <a:ext cx="8382000" cy="1143000"/>
          </a:xfrm>
          <a:prstGeom prst="rect">
            <a:avLst/>
          </a:prstGeom>
          <a:ln/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0"/>
                <a:cs typeface="ヒラギノ角ゴ ProN W6" charset="0"/>
                <a:sym typeface="Calibri Bold" charset="0"/>
              </a:defRPr>
            </a:lvl9pPr>
          </a:lstStyle>
          <a:p>
            <a:pPr marL="119063" indent="-119063"/>
            <a:r>
              <a:rPr lang="en-US" kern="0" dirty="0"/>
              <a:t>Conditional Branch</a:t>
            </a:r>
          </a:p>
        </p:txBody>
      </p:sp>
    </p:spTree>
    <p:extLst>
      <p:ext uri="{BB962C8B-B14F-4D97-AF65-F5344CB8AC3E}">
        <p14:creationId xmlns:p14="http://schemas.microsoft.com/office/powerpoint/2010/main" val="186555645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198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457700" cy="5435600"/>
          </a:xfrm>
          <a:ln/>
        </p:spPr>
        <p:txBody>
          <a:bodyPr/>
          <a:lstStyle/>
          <a:p>
            <a:r>
              <a:rPr lang="en-US" dirty="0"/>
              <a:t>Region of memory managed with stack discipline</a:t>
            </a:r>
          </a:p>
          <a:p>
            <a:r>
              <a:rPr lang="en-US" dirty="0"/>
              <a:t>Grows toward lower addresses</a:t>
            </a:r>
          </a:p>
          <a:p>
            <a:endParaRPr lang="en-US" dirty="0"/>
          </a:p>
          <a:p>
            <a:r>
              <a:rPr lang="en-US" dirty="0"/>
              <a:t>Register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contains </a:t>
            </a:r>
            <a:br>
              <a:rPr lang="en-US" dirty="0"/>
            </a:br>
            <a:r>
              <a:rPr lang="en-US" dirty="0"/>
              <a:t>lowest  stack address</a:t>
            </a:r>
          </a:p>
          <a:p>
            <a:pPr marL="552450" lvl="1"/>
            <a:r>
              <a:rPr lang="en-US" dirty="0"/>
              <a:t>address of “top” element</a:t>
            </a:r>
          </a:p>
        </p:txBody>
      </p:sp>
      <p:grpSp>
        <p:nvGrpSpPr>
          <p:cNvPr id="41989" name="Group 5"/>
          <p:cNvGrpSpPr>
            <a:grpSpLocks/>
          </p:cNvGrpSpPr>
          <p:nvPr/>
        </p:nvGrpSpPr>
        <p:grpSpPr bwMode="auto">
          <a:xfrm>
            <a:off x="2463800" y="1066800"/>
            <a:ext cx="6559550" cy="5013325"/>
            <a:chOff x="0" y="0"/>
            <a:chExt cx="4131" cy="3158"/>
          </a:xfrm>
        </p:grpSpPr>
        <p:sp>
          <p:nvSpPr>
            <p:cNvPr id="41990" name="Line 6"/>
            <p:cNvSpPr>
              <a:spLocks noChangeShapeType="1"/>
            </p:cNvSpPr>
            <p:nvPr/>
          </p:nvSpPr>
          <p:spPr bwMode="auto">
            <a:xfrm>
              <a:off x="1679" y="2496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1" name="Rectangle 7"/>
            <p:cNvSpPr>
              <a:spLocks/>
            </p:cNvSpPr>
            <p:nvPr/>
          </p:nvSpPr>
          <p:spPr bwMode="auto">
            <a:xfrm>
              <a:off x="0" y="2350"/>
              <a:ext cx="1659" cy="28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1992" name="Rectangle 8"/>
            <p:cNvSpPr>
              <a:spLocks/>
            </p:cNvSpPr>
            <p:nvPr/>
          </p:nvSpPr>
          <p:spPr bwMode="auto">
            <a:xfrm>
              <a:off x="2073" y="576"/>
              <a:ext cx="822" cy="2016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>
              <a:off x="3418" y="1824"/>
              <a:ext cx="0" cy="864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4" name="Rectangle 10"/>
            <p:cNvSpPr>
              <a:spLocks/>
            </p:cNvSpPr>
            <p:nvPr/>
          </p:nvSpPr>
          <p:spPr bwMode="auto">
            <a:xfrm>
              <a:off x="3477" y="1918"/>
              <a:ext cx="512" cy="576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Stack Grows</a:t>
              </a:r>
              <a:endParaRPr lang="en-US">
                <a:solidFill>
                  <a:schemeClr val="tx1"/>
                </a:solidFill>
                <a:latin typeface="Arial Narrow" charset="0"/>
                <a:ea typeface="Lucida Grande" charset="0"/>
                <a:cs typeface="Lucida Grande" charset="0"/>
                <a:sym typeface="Arial Narrow" charset="0"/>
              </a:endParaRPr>
            </a:p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Down</a:t>
              </a:r>
            </a:p>
          </p:txBody>
        </p:sp>
        <p:sp>
          <p:nvSpPr>
            <p:cNvPr id="41995" name="Line 11"/>
            <p:cNvSpPr>
              <a:spLocks noChangeShapeType="1"/>
            </p:cNvSpPr>
            <p:nvPr/>
          </p:nvSpPr>
          <p:spPr bwMode="auto">
            <a:xfrm rot="10800000" flipH="1">
              <a:off x="3418" y="432"/>
              <a:ext cx="0" cy="912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6" name="Rectangle 12"/>
            <p:cNvSpPr>
              <a:spLocks/>
            </p:cNvSpPr>
            <p:nvPr/>
          </p:nvSpPr>
          <p:spPr bwMode="auto">
            <a:xfrm>
              <a:off x="3480" y="690"/>
              <a:ext cx="651" cy="4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Increasing</a:t>
              </a:r>
              <a:endParaRPr lang="en-US">
                <a:solidFill>
                  <a:schemeClr val="tx1"/>
                </a:solidFill>
                <a:latin typeface="Arial Narrow" charset="0"/>
                <a:ea typeface="Lucida Grande" charset="0"/>
                <a:cs typeface="Lucida Grande" charset="0"/>
                <a:sym typeface="Arial Narrow" charset="0"/>
              </a:endParaRPr>
            </a:p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Addresses</a:t>
              </a:r>
            </a:p>
          </p:txBody>
        </p:sp>
        <p:sp>
          <p:nvSpPr>
            <p:cNvPr id="41997" name="Rectangle 13"/>
            <p:cNvSpPr>
              <a:spLocks/>
            </p:cNvSpPr>
            <p:nvPr/>
          </p:nvSpPr>
          <p:spPr bwMode="auto">
            <a:xfrm>
              <a:off x="1994" y="2878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  <p:sp>
          <p:nvSpPr>
            <p:cNvPr id="41998" name="Line 14"/>
            <p:cNvSpPr>
              <a:spLocks noChangeShapeType="1"/>
            </p:cNvSpPr>
            <p:nvPr/>
          </p:nvSpPr>
          <p:spPr bwMode="auto">
            <a:xfrm>
              <a:off x="2072" y="2400"/>
              <a:ext cx="816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9" name="Rectangle 15"/>
            <p:cNvSpPr>
              <a:spLocks/>
            </p:cNvSpPr>
            <p:nvPr/>
          </p:nvSpPr>
          <p:spPr bwMode="auto">
            <a:xfrm>
              <a:off x="1842" y="0"/>
              <a:ext cx="1285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“Bottom”</a:t>
              </a:r>
            </a:p>
          </p:txBody>
        </p:sp>
        <p:sp>
          <p:nvSpPr>
            <p:cNvPr id="42000" name="AutoShape 16"/>
            <p:cNvSpPr>
              <a:spLocks/>
            </p:cNvSpPr>
            <p:nvPr/>
          </p:nvSpPr>
          <p:spPr bwMode="auto">
            <a:xfrm>
              <a:off x="2288" y="288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2001" name="AutoShape 17"/>
            <p:cNvSpPr>
              <a:spLocks/>
            </p:cNvSpPr>
            <p:nvPr/>
          </p:nvSpPr>
          <p:spPr bwMode="auto">
            <a:xfrm rot="10800000" flipH="1">
              <a:off x="2288" y="2640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312266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Push</a:t>
            </a:r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pushq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Fetch operand at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Decrement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Write operand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3019" name="Group 11"/>
          <p:cNvGrpSpPr>
            <a:grpSpLocks/>
          </p:cNvGrpSpPr>
          <p:nvPr/>
        </p:nvGrpSpPr>
        <p:grpSpPr bwMode="auto">
          <a:xfrm>
            <a:off x="5040313" y="5011738"/>
            <a:ext cx="2016125" cy="474662"/>
            <a:chOff x="0" y="0"/>
            <a:chExt cx="1270" cy="298"/>
          </a:xfrm>
        </p:grpSpPr>
        <p:sp>
          <p:nvSpPr>
            <p:cNvPr id="43020" name="Rectangle 12"/>
            <p:cNvSpPr>
              <a:spLocks/>
            </p:cNvSpPr>
            <p:nvPr/>
          </p:nvSpPr>
          <p:spPr bwMode="auto">
            <a:xfrm>
              <a:off x="450" y="106"/>
              <a:ext cx="820" cy="192"/>
            </a:xfrm>
            <a:prstGeom prst="rect">
              <a:avLst/>
            </a:prstGeom>
            <a:solidFill>
              <a:srgbClr val="8484E0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6" y="203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2" name="Rectangle 14"/>
            <p:cNvSpPr>
              <a:spLocks/>
            </p:cNvSpPr>
            <p:nvPr/>
          </p:nvSpPr>
          <p:spPr bwMode="auto">
            <a:xfrm>
              <a:off x="222" y="0"/>
              <a:ext cx="154" cy="203"/>
            </a:xfrm>
            <a:prstGeom prst="rect">
              <a:avLst/>
            </a:prstGeom>
            <a:noFill/>
            <a:ln w="1905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-8</a:t>
              </a:r>
            </a:p>
          </p:txBody>
        </p:sp>
        <p:sp>
          <p:nvSpPr>
            <p:cNvPr id="43023" name="AutoShape 15"/>
            <p:cNvSpPr>
              <a:spLocks/>
            </p:cNvSpPr>
            <p:nvPr/>
          </p:nvSpPr>
          <p:spPr bwMode="auto">
            <a:xfrm>
              <a:off x="0" y="53"/>
              <a:ext cx="232" cy="12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3024" name="Line 16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5" name="Rectangle 17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6" name="Line 18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7" name="Rectangle 19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9" name="Rectangle 21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1" name="Rectangle 23"/>
          <p:cNvSpPr>
            <a:spLocks/>
          </p:cNvSpPr>
          <p:nvPr/>
        </p:nvSpPr>
        <p:spPr bwMode="auto">
          <a:xfrm>
            <a:off x="5387975" y="1066800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sp>
        <p:nvSpPr>
          <p:cNvPr id="43032" name="AutoShape 24"/>
          <p:cNvSpPr>
            <a:spLocks/>
          </p:cNvSpPr>
          <p:nvPr/>
        </p:nvSpPr>
        <p:spPr bwMode="auto">
          <a:xfrm>
            <a:off x="6097588" y="15240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3033" name="Group 25"/>
          <p:cNvGrpSpPr>
            <a:grpSpLocks/>
          </p:cNvGrpSpPr>
          <p:nvPr/>
        </p:nvGrpSpPr>
        <p:grpSpPr bwMode="auto">
          <a:xfrm>
            <a:off x="2544763" y="4759325"/>
            <a:ext cx="4641850" cy="1628775"/>
            <a:chOff x="59" y="0"/>
            <a:chExt cx="2924" cy="1026"/>
          </a:xfrm>
        </p:grpSpPr>
        <p:sp>
          <p:nvSpPr>
            <p:cNvPr id="43034" name="Rectangle 26"/>
            <p:cNvSpPr>
              <a:spLocks/>
            </p:cNvSpPr>
            <p:nvPr/>
          </p:nvSpPr>
          <p:spPr bwMode="auto">
            <a:xfrm>
              <a:off x="59" y="0"/>
              <a:ext cx="1600" cy="233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3035" name="Rectangle 27"/>
            <p:cNvSpPr>
              <a:spLocks/>
            </p:cNvSpPr>
            <p:nvPr/>
          </p:nvSpPr>
          <p:spPr bwMode="auto">
            <a:xfrm>
              <a:off x="2002" y="746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  <p:sp>
          <p:nvSpPr>
            <p:cNvPr id="43036" name="AutoShape 28"/>
            <p:cNvSpPr>
              <a:spLocks/>
            </p:cNvSpPr>
            <p:nvPr/>
          </p:nvSpPr>
          <p:spPr bwMode="auto">
            <a:xfrm rot="10800000" flipH="1">
              <a:off x="2296" y="506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68826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AutoShape 1"/>
          <p:cNvSpPr>
            <a:spLocks/>
          </p:cNvSpPr>
          <p:nvPr/>
        </p:nvSpPr>
        <p:spPr bwMode="auto">
          <a:xfrm rot="10800000" flipH="1">
            <a:off x="6108700" y="52578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5" name="Rectangle 3"/>
          <p:cNvSpPr>
            <a:spLocks/>
          </p:cNvSpPr>
          <p:nvPr/>
        </p:nvSpPr>
        <p:spPr bwMode="auto">
          <a:xfrm>
            <a:off x="2559593" y="4797425"/>
            <a:ext cx="2539457" cy="36933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44036" name="Rectangle 4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8" name="Rectangle 6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0" name="Rectangle 8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4041" name="Rectangle 9"/>
          <p:cNvSpPr>
            <a:spLocks/>
          </p:cNvSpPr>
          <p:nvPr/>
        </p:nvSpPr>
        <p:spPr bwMode="auto">
          <a:xfrm>
            <a:off x="5630863" y="5635625"/>
            <a:ext cx="1555750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3" name="Rectangle 11"/>
          <p:cNvSpPr>
            <a:spLocks/>
          </p:cNvSpPr>
          <p:nvPr/>
        </p:nvSpPr>
        <p:spPr bwMode="auto">
          <a:xfrm>
            <a:off x="5387975" y="1066800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sp>
        <p:nvSpPr>
          <p:cNvPr id="44044" name="AutoShape 12"/>
          <p:cNvSpPr>
            <a:spLocks/>
          </p:cNvSpPr>
          <p:nvPr/>
        </p:nvSpPr>
        <p:spPr bwMode="auto">
          <a:xfrm>
            <a:off x="6097588" y="15240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5" name="Rectangle 13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4046" name="Rectangle 14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4051" name="Rectangle 1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Pop</a:t>
            </a:r>
          </a:p>
        </p:txBody>
      </p:sp>
      <p:sp>
        <p:nvSpPr>
          <p:cNvPr id="44052" name="Rectangle 20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4054" name="Group 22"/>
          <p:cNvGrpSpPr>
            <a:grpSpLocks/>
          </p:cNvGrpSpPr>
          <p:nvPr/>
        </p:nvGrpSpPr>
        <p:grpSpPr bwMode="auto">
          <a:xfrm>
            <a:off x="5040313" y="4706938"/>
            <a:ext cx="635000" cy="323850"/>
            <a:chOff x="0" y="0"/>
            <a:chExt cx="400" cy="204"/>
          </a:xfrm>
        </p:grpSpPr>
        <p:sp>
          <p:nvSpPr>
            <p:cNvPr id="44055" name="Line 23"/>
            <p:cNvSpPr>
              <a:spLocks noChangeShapeType="1"/>
            </p:cNvSpPr>
            <p:nvPr/>
          </p:nvSpPr>
          <p:spPr bwMode="auto">
            <a:xfrm>
              <a:off x="56" y="10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4056" name="Rectangle 24"/>
            <p:cNvSpPr>
              <a:spLocks/>
            </p:cNvSpPr>
            <p:nvPr/>
          </p:nvSpPr>
          <p:spPr bwMode="auto">
            <a:xfrm>
              <a:off x="222" y="0"/>
              <a:ext cx="178" cy="204"/>
            </a:xfrm>
            <a:prstGeom prst="rect">
              <a:avLst/>
            </a:prstGeom>
            <a:noFill/>
            <a:ln w="1905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+8</a:t>
              </a:r>
            </a:p>
          </p:txBody>
        </p:sp>
        <p:sp>
          <p:nvSpPr>
            <p:cNvPr id="44057" name="AutoShape 25"/>
            <p:cNvSpPr>
              <a:spLocks/>
            </p:cNvSpPr>
            <p:nvPr/>
          </p:nvSpPr>
          <p:spPr bwMode="auto">
            <a:xfrm rot="10800000" flipH="1">
              <a:off x="0" y="53"/>
              <a:ext cx="232" cy="12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4058" name="Rectangle 26"/>
          <p:cNvSpPr>
            <a:spLocks/>
          </p:cNvSpPr>
          <p:nvPr/>
        </p:nvSpPr>
        <p:spPr bwMode="auto">
          <a:xfrm>
            <a:off x="5754688" y="4876800"/>
            <a:ext cx="1301750" cy="3048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9" name="Rectangle 27"/>
          <p:cNvSpPr>
            <a:spLocks/>
          </p:cNvSpPr>
          <p:nvPr/>
        </p:nvSpPr>
        <p:spPr bwMode="auto">
          <a:xfrm>
            <a:off x="5753100" y="4876800"/>
            <a:ext cx="1301750" cy="3048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60" name="Freeform 28"/>
          <p:cNvSpPr>
            <a:spLocks/>
          </p:cNvSpPr>
          <p:nvPr/>
        </p:nvSpPr>
        <p:spPr bwMode="auto">
          <a:xfrm>
            <a:off x="6107113" y="4953000"/>
            <a:ext cx="604837" cy="685800"/>
          </a:xfrm>
          <a:custGeom>
            <a:avLst/>
            <a:gdLst/>
            <a:ahLst/>
            <a:cxnLst>
              <a:cxn ang="0">
                <a:pos x="5263" y="6200"/>
              </a:cxn>
              <a:cxn ang="0">
                <a:pos x="5263" y="21600"/>
              </a:cxn>
              <a:cxn ang="0">
                <a:pos x="16144" y="21600"/>
              </a:cxn>
              <a:cxn ang="0">
                <a:pos x="16144" y="6400"/>
              </a:cxn>
              <a:cxn ang="0">
                <a:pos x="21600" y="6400"/>
              </a:cxn>
              <a:cxn ang="0">
                <a:pos x="10929" y="0"/>
              </a:cxn>
              <a:cxn ang="0">
                <a:pos x="0" y="6043"/>
              </a:cxn>
              <a:cxn ang="0">
                <a:pos x="5263" y="6200"/>
              </a:cxn>
              <a:cxn ang="0">
                <a:pos x="5263" y="6200"/>
              </a:cxn>
            </a:cxnLst>
            <a:rect l="0" t="0" r="r" b="b"/>
            <a:pathLst>
              <a:path w="21600" h="21600">
                <a:moveTo>
                  <a:pt x="5263" y="6200"/>
                </a:moveTo>
                <a:lnTo>
                  <a:pt x="5263" y="21600"/>
                </a:lnTo>
                <a:lnTo>
                  <a:pt x="16144" y="21600"/>
                </a:lnTo>
                <a:lnTo>
                  <a:pt x="16144" y="6400"/>
                </a:lnTo>
                <a:lnTo>
                  <a:pt x="21600" y="6400"/>
                </a:lnTo>
                <a:lnTo>
                  <a:pt x="10929" y="0"/>
                </a:lnTo>
                <a:lnTo>
                  <a:pt x="0" y="6043"/>
                </a:lnTo>
                <a:lnTo>
                  <a:pt x="5263" y="6200"/>
                </a:lnTo>
                <a:close/>
                <a:moveTo>
                  <a:pt x="5263" y="6200"/>
                </a:moveTo>
              </a:path>
            </a:pathLst>
          </a:custGeom>
          <a:solidFill>
            <a:srgbClr val="980002"/>
          </a:solidFill>
          <a:ln w="381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Rectangle 8"/>
          <p:cNvSpPr txBox="1">
            <a:spLocks noChangeArrowheads="1"/>
          </p:cNvSpPr>
          <p:nvPr/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popq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Dest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Read value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cs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Increment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Store value at </a:t>
            </a:r>
            <a:r>
              <a:rPr lang="en-US" dirty="0" err="1"/>
              <a:t>Dest</a:t>
            </a:r>
            <a:r>
              <a:rPr lang="en-US" dirty="0"/>
              <a:t> (must be register)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827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7594624" presetClass="entr" presetSubtype="1395378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67594624" presetClass="entr" presetSubtype="13953796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505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Procedure Data Flow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First 6 arguments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Return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4645025" y="5791199"/>
            <a:ext cx="4041775" cy="334963"/>
          </a:xfrm>
        </p:spPr>
        <p:txBody>
          <a:bodyPr/>
          <a:lstStyle/>
          <a:p>
            <a:r>
              <a:rPr lang="en-US" dirty="0"/>
              <a:t>Only allocate stack space when needed</a:t>
            </a:r>
          </a:p>
        </p:txBody>
      </p:sp>
      <p:sp>
        <p:nvSpPr>
          <p:cNvPr id="9" name="Rectangle 9"/>
          <p:cNvSpPr>
            <a:spLocks/>
          </p:cNvSpPr>
          <p:nvPr/>
        </p:nvSpPr>
        <p:spPr bwMode="auto">
          <a:xfrm>
            <a:off x="762000" y="2819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762000" y="3200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rsi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762000" y="3581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762000" y="3962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rcx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762000" y="4343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762000" y="4724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762000" y="57912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38800" y="2438400"/>
            <a:ext cx="1346200" cy="2667000"/>
            <a:chOff x="5943600" y="2057400"/>
            <a:chExt cx="1346200" cy="2667000"/>
          </a:xfrm>
        </p:grpSpPr>
        <p:sp>
          <p:nvSpPr>
            <p:cNvPr id="16" name="Rectangle 14"/>
            <p:cNvSpPr>
              <a:spLocks/>
            </p:cNvSpPr>
            <p:nvPr/>
          </p:nvSpPr>
          <p:spPr bwMode="auto">
            <a:xfrm>
              <a:off x="5943600" y="4343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7</a:t>
              </a:r>
            </a:p>
          </p:txBody>
        </p:sp>
        <p:sp>
          <p:nvSpPr>
            <p:cNvPr id="17" name="Rectangle 15"/>
            <p:cNvSpPr>
              <a:spLocks/>
            </p:cNvSpPr>
            <p:nvPr/>
          </p:nvSpPr>
          <p:spPr bwMode="auto">
            <a:xfrm>
              <a:off x="5943600" y="3200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</a:p>
          </p:txBody>
        </p:sp>
        <p:sp>
          <p:nvSpPr>
            <p:cNvPr id="18" name="Rectangle 14"/>
            <p:cNvSpPr>
              <a:spLocks/>
            </p:cNvSpPr>
            <p:nvPr/>
          </p:nvSpPr>
          <p:spPr bwMode="auto">
            <a:xfrm>
              <a:off x="5943600" y="3962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8</a:t>
              </a:r>
            </a:p>
          </p:txBody>
        </p:sp>
        <p:sp>
          <p:nvSpPr>
            <p:cNvPr id="19" name="Rectangle 14"/>
            <p:cNvSpPr>
              <a:spLocks/>
            </p:cNvSpPr>
            <p:nvPr/>
          </p:nvSpPr>
          <p:spPr bwMode="auto">
            <a:xfrm>
              <a:off x="5943600" y="2819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i="1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n</a:t>
              </a:r>
            </a:p>
          </p:txBody>
        </p:sp>
        <p:sp>
          <p:nvSpPr>
            <p:cNvPr id="20" name="Rectangle 15"/>
            <p:cNvSpPr>
              <a:spLocks/>
            </p:cNvSpPr>
            <p:nvPr/>
          </p:nvSpPr>
          <p:spPr bwMode="auto">
            <a:xfrm>
              <a:off x="5943600" y="2057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54089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Branch Example (Old Style)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508000" y="22352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3013" name="Rectangle 5"/>
          <p:cNvSpPr>
            <a:spLocks/>
          </p:cNvSpPr>
          <p:nvPr/>
        </p:nvSpPr>
        <p:spPr bwMode="auto">
          <a:xfrm>
            <a:off x="4445000" y="1968500"/>
            <a:ext cx="4394200" cy="48133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jle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.L4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0000FF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.L4:       # x &lt;= y</a:t>
            </a: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b="1" dirty="0">
              <a:solidFill>
                <a:srgbClr val="CC0000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  <a:tab pos="1828800" algn="l"/>
                <a:tab pos="4572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041400"/>
          </a:xfrm>
        </p:spPr>
        <p:txBody>
          <a:bodyPr/>
          <a:lstStyle/>
          <a:p>
            <a:r>
              <a:rPr lang="en-US" dirty="0"/>
              <a:t>Generation</a:t>
            </a:r>
          </a:p>
          <a:p>
            <a:pPr marL="279400" lvl="1" indent="0">
              <a:buNone/>
            </a:pP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&gt;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gcc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Og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-S –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fno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-if-conversion </a:t>
            </a:r>
            <a:r>
              <a:rPr lang="en-US" b="1" dirty="0" err="1">
                <a:solidFill>
                  <a:srgbClr val="800000"/>
                </a:solidFill>
                <a:latin typeface="Courier New"/>
                <a:cs typeface="Courier New"/>
              </a:rPr>
              <a:t>control.c</a:t>
            </a:r>
            <a:endParaRPr lang="en-US" b="1" dirty="0">
              <a:solidFill>
                <a:srgbClr val="800000"/>
              </a:solidFill>
              <a:latin typeface="Courier New"/>
              <a:cs typeface="Courier New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254207"/>
              </p:ext>
            </p:extLst>
          </p:nvPr>
        </p:nvGraphicFramePr>
        <p:xfrm>
          <a:off x="4800600" y="50292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Expressing with </a:t>
            </a:r>
            <a:r>
              <a:rPr lang="en-US" dirty="0" err="1"/>
              <a:t>Goto</a:t>
            </a:r>
            <a:r>
              <a:rPr lang="en-US" dirty="0"/>
              <a:t> Code</a:t>
            </a:r>
          </a:p>
        </p:txBody>
      </p:sp>
      <p:sp>
        <p:nvSpPr>
          <p:cNvPr id="43012" name="Rectangle 4"/>
          <p:cNvSpPr>
            <a:spLocks/>
          </p:cNvSpPr>
          <p:nvPr/>
        </p:nvSpPr>
        <p:spPr bwMode="auto">
          <a:xfrm>
            <a:off x="457200" y="2235200"/>
            <a:ext cx="40386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7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1041400"/>
          </a:xfrm>
        </p:spPr>
        <p:txBody>
          <a:bodyPr/>
          <a:lstStyle/>
          <a:p>
            <a:r>
              <a:rPr lang="en-US" dirty="0"/>
              <a:t>C allows </a:t>
            </a:r>
            <a:r>
              <a:rPr lang="en-US" b="1" dirty="0" err="1">
                <a:latin typeface="Courier New"/>
                <a:cs typeface="Courier New"/>
              </a:rPr>
              <a:t>goto</a:t>
            </a:r>
            <a:r>
              <a:rPr lang="en-US" dirty="0"/>
              <a:t> statement</a:t>
            </a:r>
          </a:p>
          <a:p>
            <a:r>
              <a:rPr lang="en-US" dirty="0"/>
              <a:t>Jump to position designated by label</a:t>
            </a:r>
          </a:p>
          <a:p>
            <a:endParaRPr lang="en-US" dirty="0"/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596493" y="2224314"/>
            <a:ext cx="42672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absdiff_j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 &lt;= 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Else: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214523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/>
          </p:cNvSpPr>
          <p:nvPr/>
        </p:nvSpPr>
        <p:spPr bwMode="auto">
          <a:xfrm>
            <a:off x="366713" y="141605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457200" y="1887538"/>
            <a:ext cx="5715000" cy="419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381000" y="339725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457200" y="3816350"/>
            <a:ext cx="3746500" cy="2355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Done;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Else: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Conditional Expression Translation (Using Branches)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330700" y="3886200"/>
            <a:ext cx="4432300" cy="2946400"/>
          </a:xfrm>
          <a:ln/>
        </p:spPr>
        <p:txBody>
          <a:bodyPr/>
          <a:lstStyle/>
          <a:p>
            <a:pPr marL="552450" lvl="1"/>
            <a:r>
              <a:rPr lang="en-US" dirty="0"/>
              <a:t>Create separate code regions for then &amp; else expressions</a:t>
            </a:r>
          </a:p>
          <a:p>
            <a:pPr marL="552450" lvl="1"/>
            <a:r>
              <a:rPr lang="en-US" dirty="0"/>
              <a:t>Execute appropriate one</a:t>
            </a:r>
          </a:p>
        </p:txBody>
      </p:sp>
      <p:sp>
        <p:nvSpPr>
          <p:cNvPr id="49161" name="Rectangle 9"/>
          <p:cNvSpPr>
            <a:spLocks/>
          </p:cNvSpPr>
          <p:nvPr/>
        </p:nvSpPr>
        <p:spPr bwMode="auto">
          <a:xfrm>
            <a:off x="1193800" y="2540000"/>
            <a:ext cx="3149600" cy="355600"/>
          </a:xfrm>
          <a:prstGeom prst="rect">
            <a:avLst/>
          </a:prstGeom>
          <a:solidFill>
            <a:srgbClr val="99CC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x&gt;y ? x-y : y-x;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/>
          </p:cNvSpPr>
          <p:nvPr/>
        </p:nvSpPr>
        <p:spPr bwMode="auto">
          <a:xfrm>
            <a:off x="5181600" y="2362200"/>
            <a:ext cx="2933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5181600" y="2819400"/>
            <a:ext cx="2514600" cy="1160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2000" b="1" i="1" dirty="0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Test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?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Then_Expr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: </a:t>
            </a:r>
            <a:r>
              <a:rPr lang="en-US" sz="2000" b="1" i="1" dirty="0" err="1">
                <a:solidFill>
                  <a:schemeClr val="tx1"/>
                </a:solidFill>
                <a:latin typeface="Calibri"/>
                <a:ea typeface="Calibri Bold Italic" charset="0"/>
                <a:cs typeface="Calibri"/>
                <a:sym typeface="Calibri Bold Italic" charset="0"/>
              </a:rPr>
              <a:t>Else_Expr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5105400" y="40386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5105400" y="4495800"/>
            <a:ext cx="3746500" cy="159385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result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Then_Expr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Arial Narro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i="1" dirty="0" err="1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Else_Expr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!</a:t>
            </a:r>
            <a:r>
              <a:rPr lang="en-US" sz="1800" b="1" i="1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if (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nt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) result = 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eval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  <a:tab pos="2794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 return result;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Using Conditional Moves</a:t>
            </a:r>
          </a:p>
        </p:txBody>
      </p:sp>
      <p:sp>
        <p:nvSpPr>
          <p:cNvPr id="491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3500" y="1219200"/>
            <a:ext cx="4889500" cy="4038600"/>
          </a:xfrm>
          <a:ln/>
        </p:spPr>
        <p:txBody>
          <a:bodyPr/>
          <a:lstStyle/>
          <a:p>
            <a:pPr marL="292100"/>
            <a:r>
              <a:rPr lang="en-US" dirty="0"/>
              <a:t>Conditional Move Instructions</a:t>
            </a:r>
          </a:p>
          <a:p>
            <a:pPr marL="552450" lvl="1"/>
            <a:r>
              <a:rPr lang="en-US" dirty="0"/>
              <a:t>Instruction supports:</a:t>
            </a:r>
          </a:p>
          <a:p>
            <a:pPr marL="838200" lvl="2">
              <a:buNone/>
            </a:pPr>
            <a:r>
              <a:rPr lang="en-US" dirty="0"/>
              <a:t>if (Test) </a:t>
            </a:r>
            <a:r>
              <a:rPr lang="en-US" dirty="0" err="1"/>
              <a:t>Dest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 </a:t>
            </a:r>
            <a:r>
              <a:rPr lang="en-US" dirty="0" err="1">
                <a:sym typeface="Wingdings" pitchFamily="2" charset="2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Supported in post-1995 x86 processors</a:t>
            </a:r>
          </a:p>
          <a:p>
            <a:pPr marL="552450" lvl="1"/>
            <a:r>
              <a:rPr lang="en-US" dirty="0"/>
              <a:t>GCC tries to use them</a:t>
            </a:r>
          </a:p>
          <a:p>
            <a:pPr marL="838200" lvl="2"/>
            <a:r>
              <a:rPr lang="en-US" dirty="0"/>
              <a:t>But, only when known to be safe</a:t>
            </a:r>
          </a:p>
          <a:p>
            <a:pPr marL="292100"/>
            <a:r>
              <a:rPr lang="en-US" dirty="0"/>
              <a:t>Why?</a:t>
            </a:r>
          </a:p>
          <a:p>
            <a:pPr marL="552450" lvl="1"/>
            <a:r>
              <a:rPr lang="en-US" dirty="0"/>
              <a:t>Branches are very disruptive to instruction flow through pipelines</a:t>
            </a:r>
          </a:p>
          <a:p>
            <a:pPr marL="552450" lvl="1"/>
            <a:r>
              <a:rPr lang="en-US" dirty="0"/>
              <a:t>Conditional moves do not require control transfer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01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Conditional Move Example</a:t>
            </a:r>
          </a:p>
        </p:txBody>
      </p:sp>
      <p:sp>
        <p:nvSpPr>
          <p:cNvPr id="50186" name="Rectangle 10"/>
          <p:cNvSpPr>
            <a:spLocks/>
          </p:cNvSpPr>
          <p:nvPr/>
        </p:nvSpPr>
        <p:spPr bwMode="auto">
          <a:xfrm>
            <a:off x="6616700" y="1752600"/>
            <a:ext cx="2286000" cy="19812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2286000" y="4267200"/>
            <a:ext cx="6642100" cy="2590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absdiff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rgbClr val="0000FF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x-y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subq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r>
              <a:rPr lang="tr-TR" sz="1800" b="1" dirty="0">
                <a:solidFill>
                  <a:srgbClr val="CC0000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y-x</a:t>
            </a: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cmpq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x:y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cmovle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&lt;=,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</a:t>
            </a:r>
            <a:r>
              <a:rPr lang="tr-TR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eval</a:t>
            </a:r>
            <a:endParaRPr lang="tr-TR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15900" algn="l"/>
                <a:tab pos="1195388" algn="l"/>
                <a:tab pos="215900" algn="l"/>
                <a:tab pos="2860675" algn="l"/>
                <a:tab pos="2959100" algn="l"/>
                <a:tab pos="2159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  <a:tab pos="215900" algn="l"/>
                <a:tab pos="1308100" algn="l"/>
                <a:tab pos="2959100" algn="l"/>
              </a:tabLst>
            </a:pPr>
            <a:r>
              <a:rPr lang="tr-TR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57200" y="1295400"/>
            <a:ext cx="3670300" cy="2946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absdiff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x, long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if (x &gt; y)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x-y;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result = y-x;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82559"/>
              </p:ext>
            </p:extLst>
          </p:nvPr>
        </p:nvGraphicFramePr>
        <p:xfrm>
          <a:off x="4724400" y="1905000"/>
          <a:ext cx="335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22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2227" name="Rectangle 3"/>
          <p:cNvSpPr>
            <a:spLocks/>
          </p:cNvSpPr>
          <p:nvPr/>
        </p:nvSpPr>
        <p:spPr bwMode="auto">
          <a:xfrm>
            <a:off x="457200" y="1143000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Expensive Computations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Bad Cases for Conditional Move</a:t>
            </a: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2151062"/>
            <a:ext cx="7086600" cy="790576"/>
          </a:xfrm>
          <a:ln/>
        </p:spPr>
        <p:txBody>
          <a:bodyPr/>
          <a:lstStyle/>
          <a:p>
            <a:r>
              <a:rPr lang="en-US" sz="2000" dirty="0"/>
              <a:t>Both values get computed</a:t>
            </a:r>
          </a:p>
          <a:p>
            <a:r>
              <a:rPr lang="en-US" sz="2000" dirty="0"/>
              <a:t>Only makes sense when computations are very simple</a:t>
            </a:r>
          </a:p>
        </p:txBody>
      </p:sp>
      <p:sp>
        <p:nvSpPr>
          <p:cNvPr id="52232" name="Rectangle 8"/>
          <p:cNvSpPr>
            <a:spLocks/>
          </p:cNvSpPr>
          <p:nvPr/>
        </p:nvSpPr>
        <p:spPr bwMode="auto">
          <a:xfrm>
            <a:off x="533400" y="1617662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Test(x)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Hard1(x)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Hard2(x);</a:t>
            </a: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457200" y="3145517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Risky Computations</a:t>
            </a:r>
          </a:p>
        </p:txBody>
      </p:sp>
      <p:sp>
        <p:nvSpPr>
          <p:cNvPr id="11" name="Rectangle 7"/>
          <p:cNvSpPr txBox="1">
            <a:spLocks noChangeArrowheads="1"/>
          </p:cNvSpPr>
          <p:nvPr/>
        </p:nvSpPr>
        <p:spPr bwMode="auto">
          <a:xfrm>
            <a:off x="685800" y="4109810"/>
            <a:ext cx="472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rPr>
              <a:t>Both values get computed</a:t>
            </a:r>
          </a:p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lang="en-US" sz="2000" kern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rPr>
              <a:t>May have undesirable effects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 Bold" charset="0"/>
            </a:endParaRPr>
          </a:p>
        </p:txBody>
      </p:sp>
      <p:sp>
        <p:nvSpPr>
          <p:cNvPr id="12" name="Rectangle 8"/>
          <p:cNvSpPr>
            <a:spLocks/>
          </p:cNvSpPr>
          <p:nvPr/>
        </p:nvSpPr>
        <p:spPr bwMode="auto">
          <a:xfrm>
            <a:off x="533400" y="3594665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*p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0;</a:t>
            </a:r>
          </a:p>
        </p:txBody>
      </p:sp>
      <p:sp>
        <p:nvSpPr>
          <p:cNvPr id="13" name="Rectangle 3"/>
          <p:cNvSpPr>
            <a:spLocks/>
          </p:cNvSpPr>
          <p:nvPr/>
        </p:nvSpPr>
        <p:spPr bwMode="auto">
          <a:xfrm>
            <a:off x="457200" y="4925784"/>
            <a:ext cx="4724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Computations with side effects</a:t>
            </a: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685800" y="5842228"/>
            <a:ext cx="4724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Calibri Bold" charset="0"/>
              </a:rPr>
              <a:t>Both values get computed</a:t>
            </a:r>
          </a:p>
          <a:p>
            <a:pPr marL="254000" marR="0" lvl="0" indent="-2540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tabLst/>
              <a:defRPr/>
            </a:pPr>
            <a:r>
              <a:rPr lang="en-US" sz="2000" kern="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rPr>
              <a:t>Must be side-effect free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 Bold" charset="0"/>
            </a:endParaRPr>
          </a:p>
        </p:txBody>
      </p:sp>
      <p:sp>
        <p:nvSpPr>
          <p:cNvPr id="15" name="Rectangle 8"/>
          <p:cNvSpPr>
            <a:spLocks/>
          </p:cNvSpPr>
          <p:nvPr/>
        </p:nvSpPr>
        <p:spPr bwMode="auto">
          <a:xfrm>
            <a:off x="533400" y="5386388"/>
            <a:ext cx="5410200" cy="398462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x &gt; 0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?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x*=7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: x+=3;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676400" y="1752600"/>
            <a:ext cx="4876800" cy="2260600"/>
          </a:xfrm>
          <a:ln/>
        </p:spPr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dirty="0"/>
              <a:t>Loops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12321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pcount_do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 while (x);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293687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“Do-While” Loop Example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4953000"/>
            <a:ext cx="8382000" cy="1282700"/>
          </a:xfrm>
          <a:ln/>
        </p:spPr>
        <p:txBody>
          <a:bodyPr/>
          <a:lstStyle/>
          <a:p>
            <a:r>
              <a:rPr lang="en-US" dirty="0"/>
              <a:t>Count number of 1’s in argument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/>
              <a:t> (“</a:t>
            </a:r>
            <a:r>
              <a:rPr lang="en-US" dirty="0" err="1"/>
              <a:t>popcount</a:t>
            </a:r>
            <a:r>
              <a:rPr lang="en-US" dirty="0"/>
              <a:t>”)</a:t>
            </a:r>
          </a:p>
          <a:p>
            <a:r>
              <a:rPr lang="en-US" dirty="0"/>
              <a:t>Use conditional branch to either continue looping or to exit loop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529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5303" name="Rectangle 7"/>
          <p:cNvSpPr>
            <a:spLocks/>
          </p:cNvSpPr>
          <p:nvPr/>
        </p:nvSpPr>
        <p:spPr bwMode="auto">
          <a:xfrm>
            <a:off x="290513" y="1066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5305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“Do-While” Loop Compilation</a:t>
            </a:r>
          </a:p>
        </p:txBody>
      </p:sp>
      <p:sp>
        <p:nvSpPr>
          <p:cNvPr id="55307" name="Rectangle 11"/>
          <p:cNvSpPr>
            <a:spLocks/>
          </p:cNvSpPr>
          <p:nvPr/>
        </p:nvSpPr>
        <p:spPr bwMode="auto">
          <a:xfrm>
            <a:off x="2133600" y="4343400"/>
            <a:ext cx="5791200" cy="20574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$0,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0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.L2:			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loop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%rdi,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andl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edx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	#  t =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&amp; 0x1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result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+= t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shrq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%rdi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&gt;&gt;= 1</a:t>
            </a: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jne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.L2		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if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(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loop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>
              <a:tabLst>
                <a:tab pos="292100" algn="l"/>
                <a:tab pos="292100" algn="l"/>
                <a:tab pos="292100" algn="l"/>
                <a:tab pos="1150938" algn="l"/>
                <a:tab pos="292100" algn="l"/>
                <a:tab pos="2860675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  <a:tab pos="292100" algn="l"/>
                <a:tab pos="30861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rep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sp>
        <p:nvSpPr>
          <p:cNvPr id="9" name="Rectangle 6"/>
          <p:cNvSpPr>
            <a:spLocks/>
          </p:cNvSpPr>
          <p:nvPr/>
        </p:nvSpPr>
        <p:spPr bwMode="auto">
          <a:xfrm>
            <a:off x="381000" y="1524001"/>
            <a:ext cx="4041775" cy="25908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437412"/>
              </p:ext>
            </p:extLst>
          </p:nvPr>
        </p:nvGraphicFramePr>
        <p:xfrm>
          <a:off x="4724400" y="1905000"/>
          <a:ext cx="33528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632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6323" name="Rectangle 3"/>
          <p:cNvSpPr>
            <a:spLocks/>
          </p:cNvSpPr>
          <p:nvPr/>
        </p:nvSpPr>
        <p:spPr bwMode="auto">
          <a:xfrm>
            <a:off x="444500" y="1228725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6324" name="Rectangle 4"/>
          <p:cNvSpPr>
            <a:spLocks/>
          </p:cNvSpPr>
          <p:nvPr/>
        </p:nvSpPr>
        <p:spPr bwMode="auto">
          <a:xfrm>
            <a:off x="533400" y="1641475"/>
            <a:ext cx="2895600" cy="1219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</p:txBody>
      </p:sp>
      <p:sp>
        <p:nvSpPr>
          <p:cNvPr id="56325" name="Rectangle 5"/>
          <p:cNvSpPr>
            <a:spLocks/>
          </p:cNvSpPr>
          <p:nvPr/>
        </p:nvSpPr>
        <p:spPr bwMode="auto">
          <a:xfrm>
            <a:off x="3810000" y="12192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6326" name="Rectangle 6"/>
          <p:cNvSpPr>
            <a:spLocks/>
          </p:cNvSpPr>
          <p:nvPr/>
        </p:nvSpPr>
        <p:spPr bwMode="auto">
          <a:xfrm>
            <a:off x="3886200" y="1631949"/>
            <a:ext cx="2743200" cy="1685925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General “Do-While” Translation</a:t>
            </a:r>
          </a:p>
        </p:txBody>
      </p:sp>
      <p:sp>
        <p:nvSpPr>
          <p:cNvPr id="5632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3035300"/>
            <a:ext cx="8382000" cy="3797300"/>
          </a:xfrm>
          <a:ln/>
        </p:spPr>
        <p:txBody>
          <a:bodyPr/>
          <a:lstStyle/>
          <a:p>
            <a:r>
              <a:rPr lang="en-US" dirty="0"/>
              <a:t>Body:</a:t>
            </a:r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pPr marL="234950" lvl="1"/>
            <a:endParaRPr lang="en-US" dirty="0"/>
          </a:p>
          <a:p>
            <a:endParaRPr lang="en-US" dirty="0"/>
          </a:p>
        </p:txBody>
      </p:sp>
      <p:sp>
        <p:nvSpPr>
          <p:cNvPr id="56329" name="Rectangle 9"/>
          <p:cNvSpPr>
            <a:spLocks/>
          </p:cNvSpPr>
          <p:nvPr/>
        </p:nvSpPr>
        <p:spPr bwMode="auto">
          <a:xfrm>
            <a:off x="1625600" y="3146425"/>
            <a:ext cx="2222500" cy="2260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{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Statement</a:t>
            </a:r>
            <a:r>
              <a:rPr lang="en-US" sz="2000" b="1" baseline="-25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  …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 </a:t>
            </a:r>
            <a:r>
              <a:rPr lang="en-US" sz="20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Statement</a:t>
            </a:r>
            <a:r>
              <a:rPr lang="en-US" sz="2000" b="1" baseline="-25000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/>
          </p:cNvSpPr>
          <p:nvPr/>
        </p:nvSpPr>
        <p:spPr bwMode="auto">
          <a:xfrm>
            <a:off x="304800" y="30861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381000" y="3505200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#1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“Jump-to-middle” translation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-</a:t>
            </a:r>
            <a:r>
              <a:rPr lang="en-US" b="1" dirty="0" err="1">
                <a:latin typeface="Courier New"/>
                <a:cs typeface="Courier New"/>
              </a:rPr>
              <a:t>Og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181600" y="2095501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257800" y="2514600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3657600" y="3048000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to Middle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pcount_goto_jtm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#1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118100"/>
            <a:ext cx="8382000" cy="1282700"/>
          </a:xfrm>
          <a:ln/>
        </p:spPr>
        <p:txBody>
          <a:bodyPr/>
          <a:lstStyle/>
          <a:p>
            <a:r>
              <a:rPr lang="en-US" dirty="0"/>
              <a:t>Compare to do-while version of function</a:t>
            </a:r>
          </a:p>
          <a:p>
            <a:r>
              <a:rPr lang="en-US" dirty="0"/>
              <a:t>Initial </a:t>
            </a:r>
            <a:r>
              <a:rPr lang="en-US" dirty="0" err="1"/>
              <a:t>goto</a:t>
            </a:r>
            <a:r>
              <a:rPr lang="en-US" dirty="0"/>
              <a:t> starts loop at test</a:t>
            </a:r>
          </a:p>
        </p:txBody>
      </p:sp>
    </p:spTree>
    <p:extLst>
      <p:ext uri="{BB962C8B-B14F-4D97-AF65-F5344CB8AC3E}">
        <p14:creationId xmlns:p14="http://schemas.microsoft.com/office/powerpoint/2010/main" val="209401061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/>
          </p:cNvSpPr>
          <p:nvPr/>
        </p:nvSpPr>
        <p:spPr bwMode="auto">
          <a:xfrm>
            <a:off x="533400" y="1524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While version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609600" y="2006601"/>
            <a:ext cx="2514600" cy="8001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while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cs typeface="Courier New" pitchFamily="49" charset="0"/>
                <a:sym typeface="Courier New Bold" charset="0"/>
              </a:rPr>
              <a:t>Body</a:t>
            </a:r>
          </a:p>
        </p:txBody>
      </p:sp>
      <p:sp>
        <p:nvSpPr>
          <p:cNvPr id="59397" name="Rectangle 5"/>
          <p:cNvSpPr>
            <a:spLocks/>
          </p:cNvSpPr>
          <p:nvPr/>
        </p:nvSpPr>
        <p:spPr bwMode="auto">
          <a:xfrm>
            <a:off x="533400" y="3687764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Do-While Version</a:t>
            </a:r>
          </a:p>
        </p:txBody>
      </p:sp>
      <p:sp>
        <p:nvSpPr>
          <p:cNvPr id="59398" name="Rectangle 6"/>
          <p:cNvSpPr>
            <a:spLocks/>
          </p:cNvSpPr>
          <p:nvPr/>
        </p:nvSpPr>
        <p:spPr bwMode="auto">
          <a:xfrm>
            <a:off x="457200" y="4106863"/>
            <a:ext cx="3048000" cy="22050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while(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General “While” Translation #2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67200" y="1752600"/>
            <a:ext cx="4419600" cy="3992563"/>
          </a:xfrm>
        </p:spPr>
        <p:txBody>
          <a:bodyPr/>
          <a:lstStyle/>
          <a:p>
            <a:r>
              <a:rPr lang="en-US" dirty="0"/>
              <a:t>“Do-while” conversion</a:t>
            </a:r>
          </a:p>
          <a:p>
            <a:r>
              <a:rPr lang="en-US" dirty="0"/>
              <a:t>Used with </a:t>
            </a:r>
            <a:r>
              <a:rPr lang="en-US" b="1" dirty="0">
                <a:latin typeface="Courier New"/>
                <a:cs typeface="Courier New"/>
              </a:rPr>
              <a:t>–O1</a:t>
            </a: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5257800" y="3352800"/>
            <a:ext cx="29083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 Version</a:t>
            </a:r>
          </a:p>
        </p:txBody>
      </p:sp>
      <p:sp>
        <p:nvSpPr>
          <p:cNvPr id="59401" name="Rectangle 9"/>
          <p:cNvSpPr>
            <a:spLocks/>
          </p:cNvSpPr>
          <p:nvPr/>
        </p:nvSpPr>
        <p:spPr bwMode="auto">
          <a:xfrm>
            <a:off x="5334000" y="3771899"/>
            <a:ext cx="3429000" cy="2624138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loop: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Body</a:t>
            </a:r>
            <a:endParaRPr lang="en-US" sz="3200" i="1" dirty="0">
              <a:solidFill>
                <a:schemeClr val="tx1"/>
              </a:solidFill>
              <a:latin typeface="+mj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2400" i="1" dirty="0">
                <a:solidFill>
                  <a:schemeClr val="tx1"/>
                </a:solidFill>
                <a:latin typeface="+mj-lt"/>
                <a:ea typeface="Calibri Bold Italic" charset="0"/>
                <a:cs typeface="Courier New" pitchFamily="49" charset="0"/>
                <a:sym typeface="Calibri Bold Italic" charset="0"/>
              </a:rPr>
              <a:t>Test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loop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3200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 Italic" charset="0"/>
              </a:rPr>
              <a:t>done:</a:t>
            </a:r>
          </a:p>
        </p:txBody>
      </p:sp>
      <p:sp>
        <p:nvSpPr>
          <p:cNvPr id="59402" name="AutoShape 10"/>
          <p:cNvSpPr>
            <a:spLocks/>
          </p:cNvSpPr>
          <p:nvPr/>
        </p:nvSpPr>
        <p:spPr bwMode="auto">
          <a:xfrm>
            <a:off x="1371600" y="2878138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AutoShape 11"/>
          <p:cNvSpPr>
            <a:spLocks/>
          </p:cNvSpPr>
          <p:nvPr/>
        </p:nvSpPr>
        <p:spPr bwMode="auto">
          <a:xfrm rot="16200000">
            <a:off x="4038600" y="4178301"/>
            <a:ext cx="762000" cy="1524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030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457200" y="14478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530225" y="1863724"/>
            <a:ext cx="3736976" cy="2632076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4724400" y="1447800"/>
            <a:ext cx="23114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Do-While Version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4797424" y="1863724"/>
            <a:ext cx="4041775" cy="3165476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x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x &gt;&gt;=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if(x)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loop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While Loop Example #2</a:t>
            </a:r>
          </a:p>
        </p:txBody>
      </p:sp>
      <p:sp>
        <p:nvSpPr>
          <p:cNvPr id="542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5118100"/>
            <a:ext cx="8382000" cy="1282700"/>
          </a:xfrm>
          <a:ln/>
        </p:spPr>
        <p:txBody>
          <a:bodyPr/>
          <a:lstStyle/>
          <a:p>
            <a:r>
              <a:rPr lang="en-US" dirty="0"/>
              <a:t>Compare to do-while version of function</a:t>
            </a:r>
          </a:p>
          <a:p>
            <a:r>
              <a:rPr lang="en-US" dirty="0"/>
              <a:t>Initial conditional guards entrance to loop</a:t>
            </a:r>
          </a:p>
        </p:txBody>
      </p:sp>
    </p:spTree>
    <p:extLst>
      <p:ext uri="{BB962C8B-B14F-4D97-AF65-F5344CB8AC3E}">
        <p14:creationId xmlns:p14="http://schemas.microsoft.com/office/powerpoint/2010/main" val="11691958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Form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for (</a:t>
            </a:r>
            <a:r>
              <a:rPr lang="en-US" sz="2400" i="1"/>
              <a:t>Init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Test</a:t>
            </a:r>
            <a:r>
              <a:rPr lang="en-US" sz="2400">
                <a:latin typeface="Courier New" charset="0"/>
              </a:rPr>
              <a:t>; </a:t>
            </a:r>
            <a:r>
              <a:rPr lang="en-US" sz="2400" i="1"/>
              <a:t>Update </a:t>
            </a:r>
            <a:r>
              <a:rPr lang="en-US" sz="240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Courier New" charset="0"/>
              </a:rPr>
              <a:t>    </a:t>
            </a:r>
            <a:r>
              <a:rPr lang="en-US" sz="2400" i="1"/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8100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ctr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General Form</a:t>
            </a:r>
          </a:p>
          <a:p>
            <a:pPr marL="223838" indent="-223838" algn="ctr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381000" y="2819400"/>
            <a:ext cx="4495800" cy="3962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#define WSIZE 8*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sizeof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5181600" y="1295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5181600" y="22098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5181600" y="32004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5029200" y="4191000"/>
            <a:ext cx="4114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unsigned bit =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5238750" y="838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238750" y="17970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5257800" y="27876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5276850" y="37782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 </a:t>
            </a:r>
            <a:r>
              <a:rPr lang="en-US" dirty="0">
                <a:sym typeface="Wingdings" pitchFamily="2" charset="2"/>
              </a:rPr>
              <a:t> While Loop</a:t>
            </a:r>
            <a:endParaRPr 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81000" y="1676400"/>
            <a:ext cx="4419600" cy="1013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for (</a:t>
            </a:r>
            <a:r>
              <a:rPr lang="en-US" sz="2400" i="1" dirty="0">
                <a:latin typeface="+mj-lt"/>
              </a:rPr>
              <a:t>Init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Test</a:t>
            </a:r>
            <a:r>
              <a:rPr lang="en-US" sz="2400" dirty="0">
                <a:latin typeface="Courier New" charset="0"/>
              </a:rPr>
              <a:t>;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i="1" dirty="0"/>
              <a:t> </a:t>
            </a:r>
            <a:r>
              <a:rPr lang="en-US" sz="2400" dirty="0">
                <a:latin typeface="Courier New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14350" y="1143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For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1447800" y="3962400"/>
            <a:ext cx="2819400" cy="26750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i="1" dirty="0">
                <a:latin typeface="+mj-lt"/>
              </a:rPr>
              <a:t>Init</a:t>
            </a:r>
            <a:r>
              <a:rPr lang="en-US" sz="2400" i="1" dirty="0">
                <a:latin typeface="Courier New" charset="0"/>
              </a:rPr>
              <a:t>;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while (</a:t>
            </a:r>
            <a:r>
              <a:rPr lang="en-US" sz="2400" i="1" dirty="0">
                <a:latin typeface="+mj-lt"/>
              </a:rPr>
              <a:t>Test </a:t>
            </a:r>
            <a:r>
              <a:rPr lang="en-US" sz="2400" dirty="0">
                <a:latin typeface="Courier New" charset="0"/>
              </a:rPr>
              <a:t>) {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sz="2400" dirty="0">
                <a:latin typeface="Courier New" charset="0"/>
              </a:rPr>
              <a:t>    </a:t>
            </a:r>
            <a:r>
              <a:rPr lang="en-US" sz="2400" i="1" dirty="0">
                <a:latin typeface="+mj-lt"/>
              </a:rPr>
              <a:t>Body</a:t>
            </a:r>
            <a:endParaRPr lang="en-US" sz="2400" i="1" dirty="0"/>
          </a:p>
          <a:p>
            <a:pPr algn="l">
              <a:spcBef>
                <a:spcPct val="50000"/>
              </a:spcBef>
            </a:pPr>
            <a:r>
              <a:rPr lang="en-US" sz="2400" i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i="1" dirty="0">
                <a:latin typeface="+mj-lt"/>
              </a:rPr>
              <a:t>Update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>
              <a:spcBef>
                <a:spcPct val="50000"/>
              </a:spcBef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590550" y="34290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</a:rPr>
              <a:t>While Version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9" name="AutoShape 10"/>
          <p:cNvSpPr>
            <a:spLocks/>
          </p:cNvSpPr>
          <p:nvPr/>
        </p:nvSpPr>
        <p:spPr bwMode="auto">
          <a:xfrm>
            <a:off x="2438400" y="2895600"/>
            <a:ext cx="762000" cy="842963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1842"/>
                </a:moveTo>
                <a:lnTo>
                  <a:pt x="5400" y="11842"/>
                </a:lnTo>
                <a:lnTo>
                  <a:pt x="5400" y="0"/>
                </a:lnTo>
                <a:lnTo>
                  <a:pt x="16200" y="0"/>
                </a:lnTo>
                <a:lnTo>
                  <a:pt x="16200" y="11842"/>
                </a:lnTo>
                <a:lnTo>
                  <a:pt x="21600" y="11842"/>
                </a:lnTo>
                <a:lnTo>
                  <a:pt x="10800" y="21600"/>
                </a:lnTo>
                <a:close/>
                <a:moveTo>
                  <a:pt x="0" y="11842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For-While Conversion</a:t>
            </a:r>
          </a:p>
        </p:txBody>
      </p:sp>
      <p:sp>
        <p:nvSpPr>
          <p:cNvPr id="24" name="Rectangle 4"/>
          <p:cNvSpPr>
            <a:spLocks/>
          </p:cNvSpPr>
          <p:nvPr/>
        </p:nvSpPr>
        <p:spPr bwMode="auto">
          <a:xfrm>
            <a:off x="4419600" y="1143000"/>
            <a:ext cx="4495800" cy="4343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pcount_for_while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while (</a:t>
            </a:r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 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5" name="Rectangle 4"/>
          <p:cNvSpPr>
            <a:spLocks/>
          </p:cNvSpPr>
          <p:nvPr/>
        </p:nvSpPr>
        <p:spPr bwMode="auto">
          <a:xfrm>
            <a:off x="381000" y="18605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</a:t>
            </a:r>
          </a:p>
        </p:txBody>
      </p:sp>
      <p:sp>
        <p:nvSpPr>
          <p:cNvPr id="26" name="Rectangle 4"/>
          <p:cNvSpPr>
            <a:spLocks/>
          </p:cNvSpPr>
          <p:nvPr/>
        </p:nvSpPr>
        <p:spPr bwMode="auto">
          <a:xfrm>
            <a:off x="381000" y="277495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FF66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381000" y="3810000"/>
            <a:ext cx="2133600" cy="381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</a:t>
            </a:r>
          </a:p>
        </p:txBody>
      </p:sp>
      <p:sp>
        <p:nvSpPr>
          <p:cNvPr id="28" name="Rectangle 4"/>
          <p:cNvSpPr>
            <a:spLocks/>
          </p:cNvSpPr>
          <p:nvPr/>
        </p:nvSpPr>
        <p:spPr bwMode="auto">
          <a:xfrm>
            <a:off x="228600" y="4756150"/>
            <a:ext cx="4114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unsigned bit =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(x &gt;&gt; </a:t>
            </a:r>
            <a:r>
              <a:rPr lang="en-US" sz="1800" b="1" dirty="0" err="1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rgbClr val="CC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438150" y="140335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Init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438150" y="23622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Test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457200" y="33528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Update</a:t>
            </a: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476250" y="4343400"/>
            <a:ext cx="344805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+mj-lt"/>
                <a:cs typeface="Calibri"/>
              </a:rPr>
              <a:t>Body</a:t>
            </a:r>
          </a:p>
          <a:p>
            <a:pPr marL="223838" indent="-223838" algn="l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10021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51" name="Rectangle 7"/>
          <p:cNvSpPr>
            <a:spLocks/>
          </p:cNvSpPr>
          <p:nvPr/>
        </p:nvSpPr>
        <p:spPr bwMode="auto">
          <a:xfrm>
            <a:off x="381000" y="1354138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 Code</a:t>
            </a:r>
          </a:p>
        </p:txBody>
      </p:sp>
      <p:sp>
        <p:nvSpPr>
          <p:cNvPr id="57355" name="Rectangle 1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“For” Loop</a:t>
            </a:r>
            <a:r>
              <a:rPr lang="en-US" dirty="0">
                <a:sym typeface="Wingdings"/>
              </a:rPr>
              <a:t> Do-While Conversion</a:t>
            </a:r>
            <a:endParaRPr lang="en-US" dirty="0"/>
          </a:p>
        </p:txBody>
      </p:sp>
      <p:sp>
        <p:nvSpPr>
          <p:cNvPr id="57356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381000" y="5676900"/>
            <a:ext cx="4191000" cy="876300"/>
          </a:xfrm>
          <a:ln/>
        </p:spPr>
        <p:txBody>
          <a:bodyPr/>
          <a:lstStyle/>
          <a:p>
            <a:r>
              <a:rPr lang="en-US" dirty="0"/>
              <a:t>Initial test can be optimized away</a:t>
            </a:r>
          </a:p>
        </p:txBody>
      </p:sp>
      <p:sp>
        <p:nvSpPr>
          <p:cNvPr id="15" name="Rectangle 4"/>
          <p:cNvSpPr>
            <a:spLocks/>
          </p:cNvSpPr>
          <p:nvPr/>
        </p:nvSpPr>
        <p:spPr bwMode="auto">
          <a:xfrm>
            <a:off x="228600" y="1905000"/>
            <a:ext cx="4191000" cy="3733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for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057400" y="1143000"/>
            <a:ext cx="26162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863"/>
              </a:spcBef>
            </a:pPr>
            <a:r>
              <a:rPr lang="en-US" sz="24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Goto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Version</a:t>
            </a:r>
          </a:p>
        </p:txBody>
      </p:sp>
      <p:sp>
        <p:nvSpPr>
          <p:cNvPr id="9" name="Rectangle 4"/>
          <p:cNvSpPr>
            <a:spLocks/>
          </p:cNvSpPr>
          <p:nvPr/>
        </p:nvSpPr>
        <p:spPr bwMode="auto">
          <a:xfrm>
            <a:off x="4724400" y="1371600"/>
            <a:ext cx="4343400" cy="541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pcount_for_goto_dw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size_t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result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(!(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unsigned bit =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(x &gt;&gt;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&amp; 0x1;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result += bit;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}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++;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&lt; WSIZE)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loop;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done: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result;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514600"/>
            <a:ext cx="49244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971800"/>
            <a:ext cx="75020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!</a:t>
            </a:r>
            <a:r>
              <a:rPr lang="en-US" sz="1800" i="1" dirty="0">
                <a:latin typeface="+mj-lt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6200" y="4038600"/>
            <a:ext cx="71045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800" y="4876800"/>
            <a:ext cx="92845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5334000"/>
            <a:ext cx="61234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+mj-lt"/>
              </a:rPr>
              <a:t>Test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029200" y="2819400"/>
            <a:ext cx="2209800" cy="533400"/>
            <a:chOff x="5029200" y="2743200"/>
            <a:chExt cx="2209800" cy="5334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 flipH="1">
              <a:off x="5029200" y="2743200"/>
              <a:ext cx="2209800" cy="5334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433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57400" y="2133600"/>
            <a:ext cx="5486400" cy="2971800"/>
          </a:xfrm>
          <a:ln/>
        </p:spPr>
        <p:txBody>
          <a:bodyPr/>
          <a:lstStyle/>
          <a:p>
            <a:r>
              <a:rPr lang="en-US" b="1" dirty="0">
                <a:solidFill>
                  <a:srgbClr val="7F7F7F"/>
                </a:solidFill>
              </a:rPr>
              <a:t>Control: Condition codes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Conditional branches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Loops</a:t>
            </a:r>
          </a:p>
          <a:p>
            <a:r>
              <a:rPr lang="en-US" b="1" dirty="0"/>
              <a:t>Switch Statements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4495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150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4622800" y="254000"/>
            <a:ext cx="4140200" cy="1143000"/>
          </a:xfrm>
          <a:ln/>
        </p:spPr>
        <p:txBody>
          <a:bodyPr/>
          <a:lstStyle/>
          <a:p>
            <a:pPr marL="119063" indent="-119063"/>
            <a:r>
              <a:rPr lang="en-US"/>
              <a:t>Switch Statement Example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953000" y="1803400"/>
            <a:ext cx="3810000" cy="5029200"/>
          </a:xfrm>
          <a:ln/>
        </p:spPr>
        <p:txBody>
          <a:bodyPr/>
          <a:lstStyle/>
          <a:p>
            <a:r>
              <a:rPr lang="en-US" dirty="0"/>
              <a:t>Multiple case labels</a:t>
            </a:r>
          </a:p>
          <a:p>
            <a:pPr marL="552450" lvl="1"/>
            <a:r>
              <a:rPr lang="en-US" dirty="0"/>
              <a:t>Here: 5 &amp; 6</a:t>
            </a:r>
          </a:p>
          <a:p>
            <a:r>
              <a:rPr lang="en-US" dirty="0"/>
              <a:t>Fall through cases</a:t>
            </a:r>
          </a:p>
          <a:p>
            <a:pPr marL="552450" lvl="1"/>
            <a:r>
              <a:rPr lang="en-US" dirty="0"/>
              <a:t>Here: 2</a:t>
            </a:r>
          </a:p>
          <a:p>
            <a:r>
              <a:rPr lang="en-US" dirty="0"/>
              <a:t>Missing cases</a:t>
            </a:r>
          </a:p>
          <a:p>
            <a:pPr marL="552450" lvl="1"/>
            <a:r>
              <a:rPr lang="en-US" dirty="0"/>
              <a:t>Here: 4</a:t>
            </a:r>
          </a:p>
        </p:txBody>
      </p:sp>
      <p:sp>
        <p:nvSpPr>
          <p:cNvPr id="21509" name="Rectangle 5"/>
          <p:cNvSpPr>
            <a:spLocks/>
          </p:cNvSpPr>
          <p:nvPr/>
        </p:nvSpPr>
        <p:spPr bwMode="auto">
          <a:xfrm>
            <a:off x="254000" y="304800"/>
            <a:ext cx="4127500" cy="6400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303491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253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 Structure</a:t>
            </a:r>
          </a:p>
        </p:txBody>
      </p:sp>
      <p:sp>
        <p:nvSpPr>
          <p:cNvPr id="22532" name="Rectangle 4"/>
          <p:cNvSpPr>
            <a:spLocks/>
          </p:cNvSpPr>
          <p:nvPr/>
        </p:nvSpPr>
        <p:spPr bwMode="auto">
          <a:xfrm>
            <a:off x="7235825" y="15875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0</a:t>
            </a:r>
          </a:p>
        </p:txBody>
      </p:sp>
      <p:sp>
        <p:nvSpPr>
          <p:cNvPr id="22533" name="Rectangle 5"/>
          <p:cNvSpPr>
            <a:spLocks/>
          </p:cNvSpPr>
          <p:nvPr/>
        </p:nvSpPr>
        <p:spPr bwMode="auto">
          <a:xfrm>
            <a:off x="6030913" y="15875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Targ0:</a:t>
            </a:r>
          </a:p>
        </p:txBody>
      </p:sp>
      <p:sp>
        <p:nvSpPr>
          <p:cNvPr id="22534" name="Rectangle 6"/>
          <p:cNvSpPr>
            <a:spLocks/>
          </p:cNvSpPr>
          <p:nvPr/>
        </p:nvSpPr>
        <p:spPr bwMode="auto">
          <a:xfrm>
            <a:off x="7235825" y="25781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1</a:t>
            </a:r>
          </a:p>
        </p:txBody>
      </p:sp>
      <p:sp>
        <p:nvSpPr>
          <p:cNvPr id="22535" name="Rectangle 7"/>
          <p:cNvSpPr>
            <a:spLocks/>
          </p:cNvSpPr>
          <p:nvPr/>
        </p:nvSpPr>
        <p:spPr bwMode="auto">
          <a:xfrm>
            <a:off x="6030913" y="25781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Targ1:</a:t>
            </a:r>
          </a:p>
        </p:txBody>
      </p:sp>
      <p:sp>
        <p:nvSpPr>
          <p:cNvPr id="22536" name="Rectangle 8"/>
          <p:cNvSpPr>
            <a:spLocks/>
          </p:cNvSpPr>
          <p:nvPr/>
        </p:nvSpPr>
        <p:spPr bwMode="auto">
          <a:xfrm>
            <a:off x="7235825" y="35687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2</a:t>
            </a:r>
          </a:p>
        </p:txBody>
      </p:sp>
      <p:sp>
        <p:nvSpPr>
          <p:cNvPr id="22537" name="Rectangle 9"/>
          <p:cNvSpPr>
            <a:spLocks/>
          </p:cNvSpPr>
          <p:nvPr/>
        </p:nvSpPr>
        <p:spPr bwMode="auto">
          <a:xfrm>
            <a:off x="6030913" y="3568700"/>
            <a:ext cx="10048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Targ2:</a:t>
            </a:r>
          </a:p>
        </p:txBody>
      </p:sp>
      <p:sp>
        <p:nvSpPr>
          <p:cNvPr id="22538" name="Rectangle 10"/>
          <p:cNvSpPr>
            <a:spLocks/>
          </p:cNvSpPr>
          <p:nvPr/>
        </p:nvSpPr>
        <p:spPr bwMode="auto">
          <a:xfrm>
            <a:off x="7204075" y="5702300"/>
            <a:ext cx="1160463" cy="838200"/>
          </a:xfrm>
          <a:prstGeom prst="rect">
            <a:avLst/>
          </a:prstGeom>
          <a:solidFill>
            <a:srgbClr val="CCFF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Code Block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</a:p>
        </p:txBody>
      </p:sp>
      <p:sp>
        <p:nvSpPr>
          <p:cNvPr id="22539" name="Rectangle 11"/>
          <p:cNvSpPr>
            <a:spLocks/>
          </p:cNvSpPr>
          <p:nvPr/>
        </p:nvSpPr>
        <p:spPr bwMode="auto">
          <a:xfrm>
            <a:off x="5694363" y="5702300"/>
            <a:ext cx="1309687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20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</a:p>
        </p:txBody>
      </p:sp>
      <p:sp>
        <p:nvSpPr>
          <p:cNvPr id="22540" name="Rectangle 12"/>
          <p:cNvSpPr>
            <a:spLocks/>
          </p:cNvSpPr>
          <p:nvPr/>
        </p:nvSpPr>
        <p:spPr bwMode="auto">
          <a:xfrm>
            <a:off x="7702550" y="4559300"/>
            <a:ext cx="227013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1" name="Rectangle 13"/>
          <p:cNvSpPr>
            <a:spLocks/>
          </p:cNvSpPr>
          <p:nvPr/>
        </p:nvSpPr>
        <p:spPr bwMode="auto">
          <a:xfrm>
            <a:off x="3937000" y="1714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Targ0</a:t>
            </a:r>
          </a:p>
        </p:txBody>
      </p:sp>
      <p:sp>
        <p:nvSpPr>
          <p:cNvPr id="22542" name="Rectangle 14"/>
          <p:cNvSpPr>
            <a:spLocks/>
          </p:cNvSpPr>
          <p:nvPr/>
        </p:nvSpPr>
        <p:spPr bwMode="auto">
          <a:xfrm>
            <a:off x="3937000" y="2095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Targ1</a:t>
            </a:r>
          </a:p>
        </p:txBody>
      </p:sp>
      <p:sp>
        <p:nvSpPr>
          <p:cNvPr id="22543" name="Rectangle 15"/>
          <p:cNvSpPr>
            <a:spLocks/>
          </p:cNvSpPr>
          <p:nvPr/>
        </p:nvSpPr>
        <p:spPr bwMode="auto">
          <a:xfrm>
            <a:off x="3937000" y="24765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Targ2</a:t>
            </a:r>
          </a:p>
        </p:txBody>
      </p:sp>
      <p:sp>
        <p:nvSpPr>
          <p:cNvPr id="22544" name="Rectangle 16"/>
          <p:cNvSpPr>
            <a:spLocks/>
          </p:cNvSpPr>
          <p:nvPr/>
        </p:nvSpPr>
        <p:spPr bwMode="auto">
          <a:xfrm>
            <a:off x="3937000" y="3771900"/>
            <a:ext cx="1270000" cy="3810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Targ</a:t>
            </a:r>
            <a:r>
              <a:rPr lang="en-US" sz="180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</a:t>
            </a:r>
          </a:p>
        </p:txBody>
      </p:sp>
      <p:sp>
        <p:nvSpPr>
          <p:cNvPr id="22545" name="Rectangle 17"/>
          <p:cNvSpPr>
            <a:spLocks/>
          </p:cNvSpPr>
          <p:nvPr/>
        </p:nvSpPr>
        <p:spPr bwMode="auto">
          <a:xfrm>
            <a:off x="3937000" y="2857500"/>
            <a:ext cx="1270000" cy="914400"/>
          </a:xfrm>
          <a:prstGeom prst="rect">
            <a:avLst/>
          </a:prstGeom>
          <a:solidFill>
            <a:srgbClr val="D6D6F4"/>
          </a:solidFill>
          <a:ln w="2857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•</a:t>
            </a:r>
          </a:p>
        </p:txBody>
      </p:sp>
      <p:sp>
        <p:nvSpPr>
          <p:cNvPr id="22546" name="Rectangle 18"/>
          <p:cNvSpPr>
            <a:spLocks/>
          </p:cNvSpPr>
          <p:nvPr/>
        </p:nvSpPr>
        <p:spPr bwMode="auto">
          <a:xfrm>
            <a:off x="3111500" y="1701800"/>
            <a:ext cx="852488" cy="3683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jtab:</a:t>
            </a:r>
          </a:p>
        </p:txBody>
      </p:sp>
      <p:sp>
        <p:nvSpPr>
          <p:cNvPr id="22547" name="Rectangle 19"/>
          <p:cNvSpPr>
            <a:spLocks/>
          </p:cNvSpPr>
          <p:nvPr/>
        </p:nvSpPr>
        <p:spPr bwMode="auto">
          <a:xfrm>
            <a:off x="304800" y="5092700"/>
            <a:ext cx="2667000" cy="3937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goto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*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JTab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[x];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</p:txBody>
      </p:sp>
      <p:sp>
        <p:nvSpPr>
          <p:cNvPr id="22548" name="Rectangle 20"/>
          <p:cNvSpPr>
            <a:spLocks/>
          </p:cNvSpPr>
          <p:nvPr/>
        </p:nvSpPr>
        <p:spPr bwMode="auto">
          <a:xfrm>
            <a:off x="304800" y="1663700"/>
            <a:ext cx="2298700" cy="26035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switch(x) {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val_0: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0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• • •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case val_</a:t>
            </a:r>
            <a:r>
              <a:rPr lang="en-US" sz="1800" dirty="0">
                <a:solidFill>
                  <a:schemeClr val="tx1"/>
                </a:solidFill>
                <a:latin typeface="Courier New Bold Italic" charset="0"/>
                <a:cs typeface="Courier New Bold Italic" charset="0"/>
                <a:sym typeface="Courier New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-1: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   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Block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–1</a:t>
            </a:r>
            <a:endParaRPr lang="en-US" sz="2400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}</a:t>
            </a:r>
          </a:p>
        </p:txBody>
      </p:sp>
      <p:sp>
        <p:nvSpPr>
          <p:cNvPr id="22549" name="Rectangle 21"/>
          <p:cNvSpPr>
            <a:spLocks/>
          </p:cNvSpPr>
          <p:nvPr/>
        </p:nvSpPr>
        <p:spPr bwMode="auto">
          <a:xfrm>
            <a:off x="285750" y="1295400"/>
            <a:ext cx="1390650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Switch Form</a:t>
            </a:r>
          </a:p>
        </p:txBody>
      </p:sp>
      <p:sp>
        <p:nvSpPr>
          <p:cNvPr id="22550" name="Rectangle 22"/>
          <p:cNvSpPr>
            <a:spLocks/>
          </p:cNvSpPr>
          <p:nvPr/>
        </p:nvSpPr>
        <p:spPr bwMode="auto">
          <a:xfrm>
            <a:off x="271463" y="4724400"/>
            <a:ext cx="2633859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Translation (Extended C)</a:t>
            </a:r>
          </a:p>
        </p:txBody>
      </p:sp>
      <p:sp>
        <p:nvSpPr>
          <p:cNvPr id="22551" name="Rectangle 23"/>
          <p:cNvSpPr>
            <a:spLocks/>
          </p:cNvSpPr>
          <p:nvPr/>
        </p:nvSpPr>
        <p:spPr bwMode="auto">
          <a:xfrm>
            <a:off x="3725863" y="1282700"/>
            <a:ext cx="1268412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2552" name="Rectangle 24"/>
          <p:cNvSpPr>
            <a:spLocks/>
          </p:cNvSpPr>
          <p:nvPr/>
        </p:nvSpPr>
        <p:spPr bwMode="auto">
          <a:xfrm>
            <a:off x="6923088" y="1219200"/>
            <a:ext cx="1462087" cy="381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Targets</a:t>
            </a:r>
          </a:p>
        </p:txBody>
      </p:sp>
    </p:spTree>
    <p:extLst>
      <p:ext uri="{BB962C8B-B14F-4D97-AF65-F5344CB8AC3E}">
        <p14:creationId xmlns:p14="http://schemas.microsoft.com/office/powerpoint/2010/main" val="53849361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3556" name="Rectangle 4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3562" name="Rectangle 10"/>
          <p:cNvSpPr>
            <a:spLocks/>
          </p:cNvSpPr>
          <p:nvPr/>
        </p:nvSpPr>
        <p:spPr bwMode="auto">
          <a:xfrm>
            <a:off x="393700" y="381635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Setup:</a:t>
            </a:r>
          </a:p>
        </p:txBody>
      </p:sp>
      <p:sp>
        <p:nvSpPr>
          <p:cNvPr id="23563" name="Rectangle 11"/>
          <p:cNvSpPr>
            <a:spLocks/>
          </p:cNvSpPr>
          <p:nvPr/>
        </p:nvSpPr>
        <p:spPr bwMode="auto">
          <a:xfrm>
            <a:off x="457200" y="13763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x, long y, long z)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18" name="Rectangle 1"/>
          <p:cNvSpPr>
            <a:spLocks/>
          </p:cNvSpPr>
          <p:nvPr/>
        </p:nvSpPr>
        <p:spPr bwMode="auto">
          <a:xfrm>
            <a:off x="304800" y="4267200"/>
            <a:ext cx="7620000" cy="2159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.L8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*.L4(,%rdi,8)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 flipV="1">
            <a:off x="1295400" y="5334000"/>
            <a:ext cx="990600" cy="609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838200" y="59436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What range of values takes default?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943600"/>
            <a:ext cx="22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Note that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sz="2400" dirty="0">
                <a:solidFill>
                  <a:srgbClr val="C00000"/>
                </a:solidFill>
                <a:latin typeface="Calibri" pitchFamily="34" charset="0"/>
              </a:rPr>
              <a:t> not initialized here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88483"/>
              </p:ext>
            </p:extLst>
          </p:nvPr>
        </p:nvGraphicFramePr>
        <p:xfrm>
          <a:off x="5181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46390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45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Switch Statement Example</a:t>
            </a:r>
          </a:p>
        </p:txBody>
      </p:sp>
      <p:sp>
        <p:nvSpPr>
          <p:cNvPr id="24580" name="Rectangle 4"/>
          <p:cNvSpPr>
            <a:spLocks/>
          </p:cNvSpPr>
          <p:nvPr/>
        </p:nvSpPr>
        <p:spPr bwMode="auto">
          <a:xfrm>
            <a:off x="457200" y="1350962"/>
            <a:ext cx="5575300" cy="23066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switch_eg(long x, long y, long z)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 . .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w;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4581" name="Rectangle 5"/>
          <p:cNvSpPr>
            <a:spLocks/>
          </p:cNvSpPr>
          <p:nvPr/>
        </p:nvSpPr>
        <p:spPr bwMode="auto">
          <a:xfrm>
            <a:off x="76200" y="5334000"/>
            <a:ext cx="1004888" cy="635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Indirect </a:t>
            </a:r>
            <a:b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</a:br>
            <a:r>
              <a:rPr lang="en-US" sz="18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jump</a:t>
            </a:r>
          </a:p>
        </p:txBody>
      </p:sp>
      <p:sp>
        <p:nvSpPr>
          <p:cNvPr id="24582" name="AutoShape 6"/>
          <p:cNvSpPr>
            <a:spLocks/>
          </p:cNvSpPr>
          <p:nvPr/>
        </p:nvSpPr>
        <p:spPr bwMode="auto">
          <a:xfrm>
            <a:off x="1066800" y="5410200"/>
            <a:ext cx="631825" cy="38100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00000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4583" name="Rectangle 7"/>
          <p:cNvSpPr>
            <a:spLocks/>
          </p:cNvSpPr>
          <p:nvPr/>
        </p:nvSpPr>
        <p:spPr bwMode="auto">
          <a:xfrm>
            <a:off x="6172200" y="2286000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4584" name="Rectangle 8"/>
          <p:cNvSpPr>
            <a:spLocks/>
          </p:cNvSpPr>
          <p:nvPr/>
        </p:nvSpPr>
        <p:spPr bwMode="auto">
          <a:xfrm>
            <a:off x="6248400" y="26670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4586" name="Rectangle 10"/>
          <p:cNvSpPr>
            <a:spLocks/>
          </p:cNvSpPr>
          <p:nvPr/>
        </p:nvSpPr>
        <p:spPr bwMode="auto">
          <a:xfrm>
            <a:off x="393700" y="381635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223838" indent="-2238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Setup:</a:t>
            </a:r>
          </a:p>
        </p:txBody>
      </p:sp>
      <p:sp>
        <p:nvSpPr>
          <p:cNvPr id="12" name="Rectangle 1"/>
          <p:cNvSpPr>
            <a:spLocks/>
          </p:cNvSpPr>
          <p:nvPr/>
        </p:nvSpPr>
        <p:spPr bwMode="auto">
          <a:xfrm>
            <a:off x="1143000" y="4241800"/>
            <a:ext cx="5867400" cy="2082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311275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  <a:tab pos="342900" algn="l"/>
                <a:tab pos="3251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switch_eg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cmpq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$6, %rdi      # x:6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ja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.L8           # Use default</a:t>
            </a:r>
          </a:p>
          <a:p>
            <a:pPr algn="l"/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*.L4(,%rdi,8)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JTab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]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48364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56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Assembly Setup Explanation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56200"/>
          </a:xfrm>
          <a:ln/>
        </p:spPr>
        <p:txBody>
          <a:bodyPr/>
          <a:lstStyle/>
          <a:p>
            <a:r>
              <a:rPr lang="en-US" dirty="0"/>
              <a:t>Table Structure</a:t>
            </a:r>
          </a:p>
          <a:p>
            <a:pPr marL="552450" lvl="1"/>
            <a:r>
              <a:rPr lang="en-US" dirty="0"/>
              <a:t>Each target requires 8 bytes</a:t>
            </a:r>
          </a:p>
          <a:p>
            <a:pPr marL="552450" lvl="1"/>
            <a:r>
              <a:rPr lang="en-US" dirty="0"/>
              <a:t>Base address at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endParaRPr lang="en-US" dirty="0"/>
          </a:p>
          <a:p>
            <a:r>
              <a:rPr lang="en-US" dirty="0"/>
              <a:t>Jumping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.L8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Jump target is denoted by label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.L8</a:t>
            </a:r>
            <a:endParaRPr lang="en-US" dirty="0"/>
          </a:p>
          <a:p>
            <a:pPr marL="552450" lvl="1"/>
            <a:endParaRPr lang="en-US" dirty="0"/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Indirect:</a:t>
            </a:r>
            <a:r>
              <a:rPr lang="en-US" dirty="0"/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*.L4(,%rdi,8)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Start of jump table: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</a:t>
            </a:r>
            <a:endParaRPr lang="en-US" dirty="0"/>
          </a:p>
          <a:p>
            <a:pPr marL="552450" lvl="1"/>
            <a:r>
              <a:rPr lang="en-US" dirty="0"/>
              <a:t>Must scale by factor of 8 (addresses are 8 bytes)</a:t>
            </a:r>
          </a:p>
          <a:p>
            <a:pPr marL="552450" lvl="1"/>
            <a:r>
              <a:rPr lang="en-US" dirty="0"/>
              <a:t>Fetch target from effective Address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.L4 + x*8</a:t>
            </a:r>
            <a:endParaRPr lang="en-US" dirty="0"/>
          </a:p>
          <a:p>
            <a:pPr marL="838200" lvl="2"/>
            <a:r>
              <a:rPr lang="en-US" dirty="0"/>
              <a:t>Only for  0 ≤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dirty="0"/>
              <a:t> ≤ 6</a:t>
            </a:r>
          </a:p>
        </p:txBody>
      </p:sp>
      <p:sp>
        <p:nvSpPr>
          <p:cNvPr id="25606" name="Rectangle 6"/>
          <p:cNvSpPr>
            <a:spLocks/>
          </p:cNvSpPr>
          <p:nvPr/>
        </p:nvSpPr>
        <p:spPr bwMode="auto">
          <a:xfrm>
            <a:off x="5257800" y="1646238"/>
            <a:ext cx="1246188" cy="3810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5486400" y="21336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697329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/>
          <p:cNvSpPr>
            <a:spLocks/>
          </p:cNvSpPr>
          <p:nvPr/>
        </p:nvSpPr>
        <p:spPr bwMode="auto">
          <a:xfrm>
            <a:off x="1130300" y="1981200"/>
            <a:ext cx="2832100" cy="2286000"/>
          </a:xfrm>
          <a:prstGeom prst="rect">
            <a:avLst/>
          </a:prstGeom>
          <a:solidFill>
            <a:srgbClr val="D6D6F4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.section	.</a:t>
            </a:r>
            <a:r>
              <a:rPr lang="en-US" sz="1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rodata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.align 8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.L4: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0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.L3	# x = 1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.L5	# x = 2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.L9	# x = 3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.L8	# x = 4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5</a:t>
            </a:r>
          </a:p>
          <a:p>
            <a:pPr algn="l">
              <a:tabLst>
                <a:tab pos="228600" algn="l"/>
                <a:tab pos="1201738" algn="l"/>
                <a:tab pos="1768475" algn="l"/>
                <a:tab pos="2463800" algn="l"/>
                <a:tab pos="2286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  <a:tab pos="228600" algn="l"/>
                <a:tab pos="1663700" algn="l"/>
                <a:tab pos="246380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.quad	.L7	# x = 6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Jump Table</a:t>
            </a:r>
          </a:p>
        </p:txBody>
      </p:sp>
      <p:sp>
        <p:nvSpPr>
          <p:cNvPr id="26629" name="Rectangle 5"/>
          <p:cNvSpPr>
            <a:spLocks/>
          </p:cNvSpPr>
          <p:nvPr/>
        </p:nvSpPr>
        <p:spPr bwMode="auto">
          <a:xfrm>
            <a:off x="292100" y="1371600"/>
            <a:ext cx="3454400" cy="3810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 algn="l">
              <a:spcBef>
                <a:spcPts val="638"/>
              </a:spcBef>
            </a:pP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Jump table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4419600" y="1600200"/>
            <a:ext cx="4432300" cy="4770437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1:    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      // .L5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      // .L9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6:    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   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3581400" y="2743200"/>
            <a:ext cx="1371600" cy="27241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 rot="10800000" flipH="1">
            <a:off x="3568700" y="2146300"/>
            <a:ext cx="1390650" cy="73660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 rot="10800000" flipH="1">
            <a:off x="3570288" y="2906713"/>
            <a:ext cx="1392237" cy="236537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4" name="Line 10"/>
          <p:cNvSpPr>
            <a:spLocks noChangeShapeType="1"/>
          </p:cNvSpPr>
          <p:nvPr/>
        </p:nvSpPr>
        <p:spPr bwMode="auto">
          <a:xfrm>
            <a:off x="3575050" y="3403600"/>
            <a:ext cx="1390650" cy="271463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5" name="Line 11"/>
          <p:cNvSpPr>
            <a:spLocks noChangeShapeType="1"/>
          </p:cNvSpPr>
          <p:nvPr/>
        </p:nvSpPr>
        <p:spPr bwMode="auto">
          <a:xfrm>
            <a:off x="3581400" y="3670300"/>
            <a:ext cx="1373188" cy="17970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3581400" y="3905250"/>
            <a:ext cx="1295400" cy="6667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3581400" y="4159250"/>
            <a:ext cx="1295400" cy="641350"/>
          </a:xfrm>
          <a:prstGeom prst="line">
            <a:avLst/>
          </a:prstGeom>
          <a:noFill/>
          <a:ln w="25400" cap="flat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4175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1)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1371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.L3: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imulq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*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z</a:t>
            </a:r>
            <a:endParaRPr lang="pt-BR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pt-BR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pt-BR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1981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case 1:	  // .L3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y*z;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193612"/>
              </p:ext>
            </p:extLst>
          </p:nvPr>
        </p:nvGraphicFramePr>
        <p:xfrm>
          <a:off x="1752600" y="41148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50519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Handling Fall-Through</a:t>
            </a:r>
          </a:p>
        </p:txBody>
      </p:sp>
      <p:sp>
        <p:nvSpPr>
          <p:cNvPr id="26630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sp>
        <p:nvSpPr>
          <p:cNvPr id="16" name="Rectangle 6"/>
          <p:cNvSpPr>
            <a:spLocks/>
          </p:cNvSpPr>
          <p:nvPr/>
        </p:nvSpPr>
        <p:spPr bwMode="auto">
          <a:xfrm>
            <a:off x="6172200" y="4419600"/>
            <a:ext cx="2743200" cy="762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case 3: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= 1;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7" name="Rectangle 6"/>
          <p:cNvSpPr>
            <a:spLocks/>
          </p:cNvSpPr>
          <p:nvPr/>
        </p:nvSpPr>
        <p:spPr bwMode="auto">
          <a:xfrm>
            <a:off x="4191000" y="2133600"/>
            <a:ext cx="2743200" cy="990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goto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merge;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sp>
        <p:nvSpPr>
          <p:cNvPr id="18" name="Rectangle 6"/>
          <p:cNvSpPr>
            <a:spLocks/>
          </p:cNvSpPr>
          <p:nvPr/>
        </p:nvSpPr>
        <p:spPr bwMode="auto">
          <a:xfrm>
            <a:off x="6172200" y="5181600"/>
            <a:ext cx="2743200" cy="685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merge: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</p:txBody>
      </p:sp>
      <p:cxnSp>
        <p:nvCxnSpPr>
          <p:cNvPr id="20" name="Straight Arrow Connector 19"/>
          <p:cNvCxnSpPr>
            <a:endCxn id="17" idx="1"/>
          </p:cNvCxnSpPr>
          <p:nvPr/>
        </p:nvCxnSpPr>
        <p:spPr bwMode="auto">
          <a:xfrm flipV="1">
            <a:off x="1752600" y="2628900"/>
            <a:ext cx="2438400" cy="190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>
            <a:endCxn id="16" idx="1"/>
          </p:cNvCxnSpPr>
          <p:nvPr/>
        </p:nvCxnSpPr>
        <p:spPr bwMode="auto">
          <a:xfrm>
            <a:off x="1905000" y="3733800"/>
            <a:ext cx="4267200" cy="10668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>
            <a:stCxn id="17" idx="2"/>
          </p:cNvCxnSpPr>
          <p:nvPr/>
        </p:nvCxnSpPr>
        <p:spPr bwMode="auto">
          <a:xfrm>
            <a:off x="5562600" y="3124200"/>
            <a:ext cx="609600" cy="2286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11501647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2, x == 3)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3962400" y="1295400"/>
            <a:ext cx="5041900" cy="3048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.L5:                  # Case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cqto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idivq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jmp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.L6     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goto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endParaRPr lang="cs-CZ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.L9:                  # Case 3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                  #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merge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rcx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+=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ret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39700" y="1524000"/>
            <a:ext cx="36703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w = 1;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. . .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	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2: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y/z;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/* Fall Through */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3: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+=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	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239769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433227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Code Blocks (x == 5, x == 6, default)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4267200" y="1295400"/>
            <a:ext cx="4737100" cy="21336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.L7:               # Case 5,6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$1,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1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-= z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.L8:               # Default: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$2, %</a:t>
            </a:r>
            <a:r>
              <a:rPr lang="cs-CZ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#  2</a:t>
            </a:r>
          </a:p>
          <a:p>
            <a:pPr algn="l">
              <a:tabLst>
                <a:tab pos="342900" algn="l"/>
                <a:tab pos="342900" algn="l"/>
                <a:tab pos="1082675" algn="l"/>
                <a:tab pos="342900" algn="l"/>
                <a:tab pos="240665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  <a:tab pos="342900" algn="l"/>
                <a:tab pos="2463800" algn="l"/>
              </a:tabLst>
            </a:pPr>
            <a:r>
              <a:rPr lang="cs-CZ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228600" y="1295400"/>
            <a:ext cx="3898900" cy="2819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switch(x)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. . .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case 5:  // .L7</a:t>
            </a:r>
          </a:p>
          <a:p>
            <a:pPr algn="l"/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case 6:  // .L7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-= z;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break;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default: // .L8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w = 2;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038513"/>
              </p:ext>
            </p:extLst>
          </p:nvPr>
        </p:nvGraphicFramePr>
        <p:xfrm>
          <a:off x="3810000" y="4572000"/>
          <a:ext cx="335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26601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9938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Summarizing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C Control</a:t>
            </a:r>
          </a:p>
          <a:p>
            <a:pPr marL="546100" lvl="1"/>
            <a:r>
              <a:rPr lang="en-US" dirty="0"/>
              <a:t>if-then-else</a:t>
            </a:r>
          </a:p>
          <a:p>
            <a:pPr marL="546100" lvl="1"/>
            <a:r>
              <a:rPr lang="en-US" dirty="0"/>
              <a:t>do-while</a:t>
            </a:r>
          </a:p>
          <a:p>
            <a:pPr marL="546100" lvl="1"/>
            <a:r>
              <a:rPr lang="en-US" dirty="0"/>
              <a:t>while, for</a:t>
            </a:r>
          </a:p>
          <a:p>
            <a:pPr marL="546100" lvl="1"/>
            <a:r>
              <a:rPr lang="en-US" dirty="0"/>
              <a:t>switch</a:t>
            </a:r>
          </a:p>
          <a:p>
            <a:r>
              <a:rPr lang="en-US" dirty="0"/>
              <a:t>Assembler Control</a:t>
            </a:r>
          </a:p>
          <a:p>
            <a:pPr marL="546100" lvl="1"/>
            <a:r>
              <a:rPr lang="en-US" dirty="0"/>
              <a:t>Conditional jump</a:t>
            </a:r>
          </a:p>
          <a:p>
            <a:pPr marL="546100" lvl="1"/>
            <a:r>
              <a:rPr lang="en-US" dirty="0"/>
              <a:t>Conditional move</a:t>
            </a:r>
          </a:p>
          <a:p>
            <a:pPr marL="546100" lvl="1"/>
            <a:r>
              <a:rPr lang="en-US" dirty="0"/>
              <a:t>Indirect jump (via jump tables)</a:t>
            </a:r>
          </a:p>
          <a:p>
            <a:pPr marL="546100" lvl="1"/>
            <a:r>
              <a:rPr lang="en-US" dirty="0"/>
              <a:t>Compiler generates code sequence to implement more complex control</a:t>
            </a:r>
          </a:p>
          <a:p>
            <a:r>
              <a:rPr lang="en-US" dirty="0"/>
              <a:t>Standard Techniques</a:t>
            </a:r>
          </a:p>
          <a:p>
            <a:pPr marL="546100" lvl="1"/>
            <a:r>
              <a:rPr lang="en-US" dirty="0"/>
              <a:t>Loops converted to do-while or jump-to-middle form</a:t>
            </a:r>
          </a:p>
          <a:p>
            <a:pPr marL="546100" lvl="1"/>
            <a:r>
              <a:rPr lang="en-US" dirty="0"/>
              <a:t>Large switch statements use jump tables</a:t>
            </a:r>
          </a:p>
          <a:p>
            <a:pPr marL="546100" lvl="1"/>
            <a:r>
              <a:rPr lang="en-US" dirty="0"/>
              <a:t>Sparse switch statements may use decision trees (if-</a:t>
            </a:r>
            <a:r>
              <a:rPr lang="en-US" dirty="0" err="1"/>
              <a:t>elseif</a:t>
            </a:r>
            <a:r>
              <a:rPr lang="en-US" dirty="0"/>
              <a:t>-</a:t>
            </a:r>
            <a:r>
              <a:rPr lang="en-US" dirty="0" err="1"/>
              <a:t>elseif</a:t>
            </a:r>
            <a:r>
              <a:rPr lang="en-US" dirty="0"/>
              <a:t>-else)</a:t>
            </a:r>
          </a:p>
        </p:txBody>
      </p:sp>
    </p:spTree>
    <p:extLst>
      <p:ext uri="{BB962C8B-B14F-4D97-AF65-F5344CB8AC3E}">
        <p14:creationId xmlns:p14="http://schemas.microsoft.com/office/powerpoint/2010/main" val="11345175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22454</TotalTime>
  <Pages>0</Pages>
  <Words>3423</Words>
  <Characters>0</Characters>
  <Application>Microsoft Macintosh PowerPoint</Application>
  <PresentationFormat>On-screen Show (4:3)</PresentationFormat>
  <Lines>0</Lines>
  <Paragraphs>989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63" baseType="lpstr">
      <vt:lpstr>ＭＳ Ｐゴシック</vt:lpstr>
      <vt:lpstr>ヒラギノ角ゴ ProN W3</vt:lpstr>
      <vt:lpstr>ヒラギノ角ゴ ProN W6</vt:lpstr>
      <vt:lpstr>Arial Narrow</vt:lpstr>
      <vt:lpstr>Arial Narrow Bold</vt:lpstr>
      <vt:lpstr>Calibri</vt:lpstr>
      <vt:lpstr>Calibri Bold</vt:lpstr>
      <vt:lpstr>Calibri Bold Italic</vt:lpstr>
      <vt:lpstr>Calibri Italic</vt:lpstr>
      <vt:lpstr>Courier New</vt:lpstr>
      <vt:lpstr>Courier New Bold</vt:lpstr>
      <vt:lpstr>Courier New Bold Italic</vt:lpstr>
      <vt:lpstr>Gill Sans</vt:lpstr>
      <vt:lpstr>Lucida Grande</vt:lpstr>
      <vt:lpstr>Monaco</vt:lpstr>
      <vt:lpstr>Times New Roman</vt:lpstr>
      <vt:lpstr>Wingdings</vt:lpstr>
      <vt:lpstr>Wingdings 2</vt:lpstr>
      <vt:lpstr>Title and Content: Build</vt:lpstr>
      <vt:lpstr>Title and Content</vt:lpstr>
      <vt:lpstr>Title Only</vt:lpstr>
      <vt:lpstr>Processor State (x86-64, Partial)</vt:lpstr>
      <vt:lpstr>Condition Codes (Implicit Setting)</vt:lpstr>
      <vt:lpstr>Condition Codes (Explicit Setting: Compare)</vt:lpstr>
      <vt:lpstr>Condition Codes (Explicit Setting: Test)</vt:lpstr>
      <vt:lpstr>Reading Condition Codes</vt:lpstr>
      <vt:lpstr>Reading Condition Codes (Cont.)</vt:lpstr>
      <vt:lpstr>Jumping</vt:lpstr>
      <vt:lpstr>PowerPoint Presentation</vt:lpstr>
      <vt:lpstr>x86-64 Stack</vt:lpstr>
      <vt:lpstr>x86-64 Stack: Push</vt:lpstr>
      <vt:lpstr>x86-64 Stack: Pop</vt:lpstr>
      <vt:lpstr>Procedure Data Flow</vt:lpstr>
      <vt:lpstr>Conditional Branch Example (Old Style)</vt:lpstr>
      <vt:lpstr>Expressing with Goto Code</vt:lpstr>
      <vt:lpstr>General Conditional Expression Translation (Using Branches)</vt:lpstr>
      <vt:lpstr>Using Conditional Moves</vt:lpstr>
      <vt:lpstr>Conditional Move Example</vt:lpstr>
      <vt:lpstr>Bad Cases for Conditional Move</vt:lpstr>
      <vt:lpstr>PowerPoint Presentation</vt:lpstr>
      <vt:lpstr>“Do-While” Loop Example</vt:lpstr>
      <vt:lpstr>“Do-While” Loop Compilation</vt:lpstr>
      <vt:lpstr>General “Do-While” Translation</vt:lpstr>
      <vt:lpstr>General “While” Translation #1</vt:lpstr>
      <vt:lpstr>While Loop Example #1</vt:lpstr>
      <vt:lpstr>General “While” Translation #2</vt:lpstr>
      <vt:lpstr>While Loop Example #2</vt:lpstr>
      <vt:lpstr>“For” Loop Form</vt:lpstr>
      <vt:lpstr>“For” Loop  While Loop</vt:lpstr>
      <vt:lpstr>For-While Conversion</vt:lpstr>
      <vt:lpstr>“For” Loop Do-While Conversion</vt:lpstr>
      <vt:lpstr>PowerPoint Presentation</vt:lpstr>
      <vt:lpstr>Switch Statement Example</vt:lpstr>
      <vt:lpstr>Jump Table Structure</vt:lpstr>
      <vt:lpstr>Switch Statement Example</vt:lpstr>
      <vt:lpstr>Switch Statement Example</vt:lpstr>
      <vt:lpstr>Assembly Setup Explanation</vt:lpstr>
      <vt:lpstr>Jump Table</vt:lpstr>
      <vt:lpstr>Code Blocks (x == 1)</vt:lpstr>
      <vt:lpstr>Handling Fall-Through</vt:lpstr>
      <vt:lpstr>Code Blocks (x == 2, x == 3)</vt:lpstr>
      <vt:lpstr>Code Blocks (x == 5, x == 6, default)</vt:lpstr>
      <vt:lpstr>Summarizing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Ryan Balachandran</cp:lastModifiedBy>
  <cp:revision>1056</cp:revision>
  <cp:lastPrinted>2013-09-12T14:46:51Z</cp:lastPrinted>
  <dcterms:created xsi:type="dcterms:W3CDTF">2012-09-13T15:33:55Z</dcterms:created>
  <dcterms:modified xsi:type="dcterms:W3CDTF">2019-10-28T16:06:38Z</dcterms:modified>
</cp:coreProperties>
</file>