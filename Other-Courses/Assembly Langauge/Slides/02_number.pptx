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notesMasterIdLst>
    <p:notesMasterId r:id="rId21"/>
  </p:notesMasterIdLst>
  <p:handoutMasterIdLst>
    <p:handoutMasterId r:id="rId22"/>
  </p:handoutMasterIdLst>
  <p:sldIdLst>
    <p:sldId id="403" r:id="rId2"/>
    <p:sldId id="402" r:id="rId3"/>
    <p:sldId id="385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  <p:sldId id="399" r:id="rId18"/>
    <p:sldId id="400" r:id="rId19"/>
    <p:sldId id="401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624"/>
  </p:normalViewPr>
  <p:slideViewPr>
    <p:cSldViewPr>
      <p:cViewPr varScale="1">
        <p:scale>
          <a:sx n="106" d="100"/>
          <a:sy n="106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C269512-A79B-224C-A1B2-7AA922A32E7A}" type="datetimeFigureOut">
              <a:rPr lang="en-US" altLang="en-US"/>
              <a:pPr>
                <a:defRPr/>
              </a:pPr>
              <a:t>10/23/19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A4B9A76-CA62-3745-9923-DCC7800254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45151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FA72871A-7BEE-1A4F-AA3B-0793EF163B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0583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28738" y="1295400"/>
            <a:ext cx="6486525" cy="3152775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eaLnBrk="1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3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rtlCol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59F892-6695-074D-B83B-45A3DB7E66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884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428A3-335F-7545-8E46-AF1407D562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344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DB675-DF1B-644D-BA2B-F333D7310E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60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2C166E-F1F5-DB48-8B95-E94522DAED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1508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DFF10-3676-5449-9C0D-41E8E347C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520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9F67C-3FD0-114E-A1A3-558F31392E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6879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C357BD-B363-444E-A57C-EA87E75249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648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AB5468-3610-E447-B1AA-82A270435A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353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99A4E-BA7B-6949-859E-1E6E12EAAD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0065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3A5A09-47C4-6844-8336-C041DC1315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492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FAB9B-0AAC-E049-ABD5-C7FD3BF9ED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7430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4BD60-6B14-8B41-8592-4482D7A7CC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466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275" y="62753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5113" y="6275388"/>
            <a:ext cx="48402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813" y="6275388"/>
            <a:ext cx="990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7E0D917-1783-6B45-BFA6-32D6499DF8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52" r:id="rId9"/>
    <p:sldLayoutId id="2147484153" r:id="rId10"/>
    <p:sldLayoutId id="2147484154" r:id="rId11"/>
    <p:sldLayoutId id="214748415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9pPr>
    </p:titleStyle>
    <p:bodyStyle>
      <a:lvl1pPr marL="349250" indent="-349250" algn="l" rtl="0" eaLnBrk="0" fontAlgn="base" hangingPunct="0">
        <a:spcBef>
          <a:spcPts val="2000"/>
        </a:spcBef>
        <a:spcAft>
          <a:spcPct val="0"/>
        </a:spcAft>
        <a:buClr>
          <a:srgbClr val="6FB7D7"/>
        </a:buClr>
        <a:buSzPct val="110000"/>
        <a:buFont typeface="Wingdings 2" charset="2"/>
        <a:buChar char=""/>
        <a:defRPr sz="2400" kern="1200">
          <a:solidFill>
            <a:srgbClr val="595959"/>
          </a:solidFill>
          <a:latin typeface="+mn-lt"/>
          <a:ea typeface="ＭＳ Ｐゴシック" charset="0"/>
          <a:cs typeface="ＭＳ Ｐゴシック" charset="0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charset="2"/>
        <a:buChar char=""/>
        <a:defRPr sz="2200" kern="1200">
          <a:solidFill>
            <a:srgbClr val="595959"/>
          </a:solidFill>
          <a:latin typeface="+mn-lt"/>
          <a:ea typeface="ＭＳ Ｐゴシック" charset="0"/>
          <a:cs typeface="+mn-cs"/>
        </a:defRPr>
      </a:lvl2pPr>
      <a:lvl3pPr marL="96837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charset="2"/>
        <a:buChar char=""/>
        <a:defRPr sz="2000" kern="1200">
          <a:solidFill>
            <a:srgbClr val="595959"/>
          </a:solidFill>
          <a:latin typeface="+mn-lt"/>
          <a:ea typeface="ＭＳ Ｐゴシック" charset="0"/>
          <a:cs typeface="+mn-cs"/>
        </a:defRPr>
      </a:lvl3pPr>
      <a:lvl4pPr marL="1263650" indent="-295275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charset="2"/>
        <a:buChar char="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4pPr>
      <a:lvl5pPr marL="154622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charset="2"/>
        <a:buChar char="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D6lcIIOeic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Sexagesimal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381000" y="533400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latin typeface="+mj-lt"/>
                <a:ea typeface="+mj-ea"/>
                <a:cs typeface="+mj-cs"/>
              </a:rPr>
              <a:t>2.1.1. Number System</a:t>
            </a:r>
          </a:p>
        </p:txBody>
      </p:sp>
      <p:sp>
        <p:nvSpPr>
          <p:cNvPr id="16386" name="Rectangle 5"/>
          <p:cNvSpPr txBox="1">
            <a:spLocks noChangeArrowheads="1"/>
          </p:cNvSpPr>
          <p:nvPr/>
        </p:nvSpPr>
        <p:spPr bwMode="auto">
          <a:xfrm>
            <a:off x="381000" y="1524000"/>
            <a:ext cx="82296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 dirty="0">
                <a:latin typeface="Calibri" charset="0"/>
              </a:rPr>
              <a:t>Base b</a:t>
            </a:r>
            <a:r>
              <a:rPr lang="ko-KR" altLang="en-US" sz="3200" b="0" dirty="0">
                <a:latin typeface="Calibri" charset="0"/>
              </a:rPr>
              <a:t> </a:t>
            </a:r>
            <a:r>
              <a:rPr lang="en-US" altLang="ko-KR" sz="3200" b="0" dirty="0">
                <a:latin typeface="Calibri" charset="0"/>
              </a:rPr>
              <a:t>=&gt;</a:t>
            </a:r>
            <a:r>
              <a:rPr lang="ko-KR" altLang="en-US" sz="3200" b="0" dirty="0">
                <a:latin typeface="Calibri" charset="0"/>
              </a:rPr>
              <a:t> </a:t>
            </a:r>
            <a:r>
              <a:rPr lang="en-US" altLang="ko-KR" sz="3200" b="0" dirty="0">
                <a:latin typeface="Calibri" charset="0"/>
              </a:rPr>
              <a:t>Decimal (Value)</a:t>
            </a:r>
          </a:p>
          <a:p>
            <a:pPr eaLnBrk="1" hangingPunct="1">
              <a:spcBef>
                <a:spcPct val="20000"/>
              </a:spcBef>
              <a:buFont typeface="Arial" charset="0"/>
              <a:buChar char="•"/>
            </a:pPr>
            <a:endParaRPr lang="en-US" altLang="en-US" sz="3200" b="0" dirty="0">
              <a:latin typeface="Calibri" charset="0"/>
            </a:endParaRPr>
          </a:p>
          <a:p>
            <a:pPr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 dirty="0">
                <a:latin typeface="Calibri" charset="0"/>
              </a:rPr>
              <a:t>Decimal (Value) =&gt; Base b</a:t>
            </a:r>
          </a:p>
          <a:p>
            <a:pPr eaLnBrk="1" hangingPunct="1">
              <a:spcBef>
                <a:spcPct val="20000"/>
              </a:spcBef>
              <a:buFont typeface="Arial" charset="0"/>
              <a:buChar char="•"/>
            </a:pPr>
            <a:endParaRPr lang="en-US" altLang="en-US" sz="3200" b="0" dirty="0">
              <a:latin typeface="Calibri" charset="0"/>
            </a:endParaRPr>
          </a:p>
          <a:p>
            <a:pPr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 dirty="0">
                <a:latin typeface="Calibri" charset="0"/>
              </a:rPr>
              <a:t>Base b arithmetic</a:t>
            </a:r>
          </a:p>
          <a:p>
            <a:pPr eaLnBrk="1" hangingPunct="1">
              <a:spcBef>
                <a:spcPct val="20000"/>
              </a:spcBef>
              <a:buFont typeface="Arial" charset="0"/>
              <a:buChar char="•"/>
            </a:pPr>
            <a:endParaRPr lang="en-US" altLang="en-US" sz="3200" b="0" dirty="0">
              <a:latin typeface="Calibri" charset="0"/>
            </a:endParaRPr>
          </a:p>
          <a:p>
            <a:pPr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 dirty="0">
                <a:latin typeface="Calibri" charset="0"/>
              </a:rPr>
              <a:t>Characters</a:t>
            </a:r>
          </a:p>
        </p:txBody>
      </p:sp>
    </p:spTree>
    <p:extLst>
      <p:ext uri="{BB962C8B-B14F-4D97-AF65-F5344CB8AC3E}">
        <p14:creationId xmlns:p14="http://schemas.microsoft.com/office/powerpoint/2010/main" val="167520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381000" y="533400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latin typeface="+mj-lt"/>
                <a:ea typeface="+mj-ea"/>
                <a:cs typeface="+mj-cs"/>
              </a:rPr>
              <a:t>Base b</a:t>
            </a:r>
          </a:p>
        </p:txBody>
      </p:sp>
      <p:sp>
        <p:nvSpPr>
          <p:cNvPr id="16386" name="Rectangle 5"/>
          <p:cNvSpPr txBox="1">
            <a:spLocks noChangeArrowheads="1"/>
          </p:cNvSpPr>
          <p:nvPr/>
        </p:nvSpPr>
        <p:spPr bwMode="auto">
          <a:xfrm>
            <a:off x="381000" y="1524000"/>
            <a:ext cx="82296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 lvl="1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 dirty="0">
                <a:latin typeface="Calibri" charset="0"/>
              </a:rPr>
              <a:t>Use only digits of 0, 1, 2,…., b-1</a:t>
            </a:r>
          </a:p>
          <a:p>
            <a:pPr lvl="1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 dirty="0">
                <a:latin typeface="Calibri" charset="0"/>
              </a:rPr>
              <a:t>Positional weights</a:t>
            </a: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 dirty="0">
                <a:latin typeface="Calibri" charset="0"/>
              </a:rPr>
              <a:t>X = a</a:t>
            </a:r>
            <a:r>
              <a:rPr lang="en-US" altLang="en-US" b="0" baseline="-25000" dirty="0">
                <a:latin typeface="Calibri" charset="0"/>
              </a:rPr>
              <a:t>n-1 </a:t>
            </a:r>
            <a:r>
              <a:rPr lang="en-US" altLang="en-US" b="0" dirty="0">
                <a:latin typeface="Calibri" charset="0"/>
              </a:rPr>
              <a:t>b</a:t>
            </a:r>
            <a:r>
              <a:rPr lang="en-US" altLang="en-US" b="0" baseline="30000" dirty="0">
                <a:latin typeface="Calibri" charset="0"/>
              </a:rPr>
              <a:t>n-1 </a:t>
            </a:r>
            <a:r>
              <a:rPr lang="en-US" altLang="en-US" b="0" dirty="0">
                <a:latin typeface="Calibri" charset="0"/>
              </a:rPr>
              <a:t>+ a</a:t>
            </a:r>
            <a:r>
              <a:rPr lang="en-US" altLang="en-US" b="0" baseline="-25000" dirty="0">
                <a:latin typeface="Calibri" charset="0"/>
              </a:rPr>
              <a:t>n-2 </a:t>
            </a:r>
            <a:r>
              <a:rPr lang="en-US" altLang="en-US" b="0" dirty="0">
                <a:latin typeface="Calibri" charset="0"/>
              </a:rPr>
              <a:t>b</a:t>
            </a:r>
            <a:r>
              <a:rPr lang="en-US" altLang="en-US" b="0" baseline="30000" dirty="0">
                <a:latin typeface="Calibri" charset="0"/>
              </a:rPr>
              <a:t>n-2 </a:t>
            </a:r>
            <a:r>
              <a:rPr lang="en-US" altLang="en-US" b="0" dirty="0">
                <a:latin typeface="Calibri" charset="0"/>
              </a:rPr>
              <a:t>+  …. + a</a:t>
            </a:r>
            <a:r>
              <a:rPr lang="en-US" altLang="en-US" b="0" baseline="-25000" dirty="0">
                <a:latin typeface="Calibri" charset="0"/>
              </a:rPr>
              <a:t>0 </a:t>
            </a:r>
            <a:r>
              <a:rPr lang="en-US" altLang="en-US" b="0" dirty="0">
                <a:latin typeface="Calibri" charset="0"/>
              </a:rPr>
              <a:t>b</a:t>
            </a:r>
            <a:r>
              <a:rPr lang="en-US" altLang="en-US" b="0" baseline="30000" dirty="0">
                <a:latin typeface="Calibri" charset="0"/>
              </a:rPr>
              <a:t>0 </a:t>
            </a: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 dirty="0">
                <a:latin typeface="Calibri" charset="0"/>
              </a:rPr>
              <a:t>123 = 1x10</a:t>
            </a:r>
            <a:r>
              <a:rPr lang="en-US" altLang="en-US" b="0" baseline="30000" dirty="0">
                <a:latin typeface="Calibri" charset="0"/>
              </a:rPr>
              <a:t>2</a:t>
            </a:r>
            <a:r>
              <a:rPr lang="en-US" altLang="en-US" b="0" dirty="0">
                <a:latin typeface="Calibri" charset="0"/>
              </a:rPr>
              <a:t> + 2x10</a:t>
            </a:r>
            <a:r>
              <a:rPr lang="en-US" altLang="en-US" b="0" baseline="30000" dirty="0">
                <a:latin typeface="Calibri" charset="0"/>
              </a:rPr>
              <a:t>1</a:t>
            </a:r>
            <a:r>
              <a:rPr lang="en-US" altLang="en-US" b="0" dirty="0">
                <a:latin typeface="Calibri" charset="0"/>
              </a:rPr>
              <a:t> + 3x10</a:t>
            </a:r>
            <a:r>
              <a:rPr lang="en-US" altLang="en-US" b="0" baseline="30000" dirty="0">
                <a:latin typeface="Calibri" charset="0"/>
              </a:rPr>
              <a:t>0</a:t>
            </a: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endParaRPr lang="en-US" altLang="en-US" b="0" baseline="30000" dirty="0">
              <a:latin typeface="Calibri" charset="0"/>
            </a:endParaRP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 dirty="0">
                <a:latin typeface="Calibri" charset="0"/>
              </a:rPr>
              <a:t>What are a</a:t>
            </a:r>
            <a:r>
              <a:rPr lang="en-US" altLang="en-US" b="0" baseline="-25000" dirty="0">
                <a:latin typeface="Calibri" charset="0"/>
              </a:rPr>
              <a:t>2</a:t>
            </a:r>
            <a:r>
              <a:rPr lang="en-US" altLang="en-US" b="0" dirty="0">
                <a:latin typeface="Calibri" charset="0"/>
              </a:rPr>
              <a:t>, a</a:t>
            </a:r>
            <a:r>
              <a:rPr lang="en-US" altLang="en-US" b="0" baseline="-25000" dirty="0">
                <a:latin typeface="Calibri" charset="0"/>
              </a:rPr>
              <a:t>1,</a:t>
            </a:r>
            <a:r>
              <a:rPr lang="en-US" altLang="en-US" b="0" dirty="0">
                <a:latin typeface="Calibri" charset="0"/>
              </a:rPr>
              <a:t> and a</a:t>
            </a:r>
            <a:r>
              <a:rPr lang="en-US" altLang="en-US" b="0" baseline="-25000" dirty="0">
                <a:latin typeface="Calibri" charset="0"/>
              </a:rPr>
              <a:t>0 </a:t>
            </a:r>
            <a:r>
              <a:rPr lang="en-US" altLang="en-US" b="0" dirty="0">
                <a:latin typeface="Calibri" charset="0"/>
              </a:rPr>
              <a:t>in</a:t>
            </a:r>
          </a:p>
          <a:p>
            <a:pPr lvl="2" eaLnBrk="1" hangingPunct="1">
              <a:spcBef>
                <a:spcPct val="20000"/>
              </a:spcBef>
            </a:pPr>
            <a:r>
              <a:rPr lang="en-US" altLang="en-US" b="0" dirty="0">
                <a:latin typeface="Calibri" charset="0"/>
              </a:rPr>
              <a:t>	 123 = a</a:t>
            </a:r>
            <a:r>
              <a:rPr lang="en-US" altLang="en-US" b="0" baseline="-25000" dirty="0">
                <a:latin typeface="Calibri" charset="0"/>
              </a:rPr>
              <a:t>2</a:t>
            </a:r>
            <a:r>
              <a:rPr lang="en-US" altLang="en-US" b="0" dirty="0">
                <a:latin typeface="Calibri" charset="0"/>
              </a:rPr>
              <a:t>x8</a:t>
            </a:r>
            <a:r>
              <a:rPr lang="en-US" altLang="en-US" b="0" baseline="30000" dirty="0">
                <a:latin typeface="Calibri" charset="0"/>
              </a:rPr>
              <a:t>2 </a:t>
            </a:r>
            <a:r>
              <a:rPr lang="en-US" altLang="en-US" b="0" dirty="0">
                <a:latin typeface="Calibri" charset="0"/>
              </a:rPr>
              <a:t>+ a</a:t>
            </a:r>
            <a:r>
              <a:rPr lang="en-US" altLang="en-US" b="0" baseline="-25000" dirty="0">
                <a:latin typeface="Calibri" charset="0"/>
              </a:rPr>
              <a:t>1</a:t>
            </a:r>
            <a:r>
              <a:rPr lang="en-US" altLang="en-US" b="0" dirty="0">
                <a:latin typeface="Calibri" charset="0"/>
              </a:rPr>
              <a:t>x8</a:t>
            </a:r>
            <a:r>
              <a:rPr lang="en-US" altLang="en-US" b="0" baseline="30000" dirty="0">
                <a:latin typeface="Calibri" charset="0"/>
              </a:rPr>
              <a:t>1</a:t>
            </a:r>
            <a:r>
              <a:rPr lang="en-US" altLang="en-US" b="0" dirty="0">
                <a:latin typeface="Calibri" charset="0"/>
              </a:rPr>
              <a:t> + a</a:t>
            </a:r>
            <a:r>
              <a:rPr lang="en-US" altLang="en-US" b="0" baseline="-25000" dirty="0">
                <a:latin typeface="Calibri" charset="0"/>
              </a:rPr>
              <a:t>0</a:t>
            </a:r>
            <a:r>
              <a:rPr lang="en-US" altLang="en-US" b="0" dirty="0">
                <a:latin typeface="Calibri" charset="0"/>
              </a:rPr>
              <a:t>x8</a:t>
            </a:r>
            <a:r>
              <a:rPr lang="en-US" altLang="en-US" b="0" baseline="30000" dirty="0">
                <a:latin typeface="Calibri" charset="0"/>
              </a:rPr>
              <a:t>0</a:t>
            </a: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endParaRPr lang="en-US" altLang="en-US" b="0" baseline="30000" dirty="0">
              <a:latin typeface="Calibri" charset="0"/>
            </a:endParaRPr>
          </a:p>
          <a:p>
            <a:pPr lvl="3" eaLnBrk="1" hangingPunct="1">
              <a:spcBef>
                <a:spcPct val="20000"/>
              </a:spcBef>
              <a:buFont typeface="Arial" charset="0"/>
              <a:buChar char="•"/>
            </a:pPr>
            <a:endParaRPr lang="en-US" altLang="en-US" b="0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060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381000" y="533400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latin typeface="+mj-lt"/>
                <a:ea typeface="+mj-ea"/>
                <a:cs typeface="+mj-cs"/>
              </a:rPr>
              <a:t>Number System</a:t>
            </a:r>
          </a:p>
        </p:txBody>
      </p:sp>
      <p:sp>
        <p:nvSpPr>
          <p:cNvPr id="17410" name="Rectangle 5"/>
          <p:cNvSpPr txBox="1">
            <a:spLocks noChangeArrowheads="1"/>
          </p:cNvSpPr>
          <p:nvPr/>
        </p:nvSpPr>
        <p:spPr bwMode="auto">
          <a:xfrm>
            <a:off x="381000" y="1524000"/>
            <a:ext cx="82296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>
                <a:latin typeface="Calibri" charset="0"/>
              </a:rPr>
              <a:t>Fraction</a:t>
            </a: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>
                <a:latin typeface="Calibri" charset="0"/>
              </a:rPr>
              <a:t>X.Y = a</a:t>
            </a:r>
            <a:r>
              <a:rPr lang="en-US" altLang="en-US" b="0" baseline="-25000">
                <a:latin typeface="Calibri" charset="0"/>
              </a:rPr>
              <a:t>n-1 </a:t>
            </a:r>
            <a:r>
              <a:rPr lang="en-US" altLang="en-US" b="0">
                <a:latin typeface="Calibri" charset="0"/>
              </a:rPr>
              <a:t>b</a:t>
            </a:r>
            <a:r>
              <a:rPr lang="en-US" altLang="en-US" b="0" baseline="30000">
                <a:latin typeface="Calibri" charset="0"/>
              </a:rPr>
              <a:t>n-1 </a:t>
            </a:r>
            <a:r>
              <a:rPr lang="en-US" altLang="en-US" b="0">
                <a:latin typeface="Calibri" charset="0"/>
              </a:rPr>
              <a:t>+ a</a:t>
            </a:r>
            <a:r>
              <a:rPr lang="en-US" altLang="en-US" b="0" baseline="-25000">
                <a:latin typeface="Calibri" charset="0"/>
              </a:rPr>
              <a:t>n-2 </a:t>
            </a:r>
            <a:r>
              <a:rPr lang="en-US" altLang="en-US" b="0">
                <a:latin typeface="Calibri" charset="0"/>
              </a:rPr>
              <a:t>b</a:t>
            </a:r>
            <a:r>
              <a:rPr lang="en-US" altLang="en-US" b="0" baseline="30000">
                <a:latin typeface="Calibri" charset="0"/>
              </a:rPr>
              <a:t>n-2 </a:t>
            </a:r>
            <a:r>
              <a:rPr lang="en-US" altLang="en-US" b="0">
                <a:latin typeface="Calibri" charset="0"/>
              </a:rPr>
              <a:t>+  …. + a</a:t>
            </a:r>
            <a:r>
              <a:rPr lang="en-US" altLang="en-US" b="0" baseline="-25000">
                <a:latin typeface="Calibri" charset="0"/>
              </a:rPr>
              <a:t>0 </a:t>
            </a:r>
            <a:r>
              <a:rPr lang="en-US" altLang="en-US" b="0">
                <a:latin typeface="Calibri" charset="0"/>
              </a:rPr>
              <a:t>b</a:t>
            </a:r>
            <a:r>
              <a:rPr lang="en-US" altLang="en-US" b="0" baseline="30000">
                <a:latin typeface="Calibri" charset="0"/>
              </a:rPr>
              <a:t>0 </a:t>
            </a:r>
            <a:r>
              <a:rPr lang="en-US" altLang="en-US" b="0">
                <a:latin typeface="Calibri" charset="0"/>
              </a:rPr>
              <a:t>+ a</a:t>
            </a:r>
            <a:r>
              <a:rPr lang="en-US" altLang="en-US" b="0" baseline="-25000">
                <a:latin typeface="Calibri" charset="0"/>
              </a:rPr>
              <a:t>-1 </a:t>
            </a:r>
            <a:r>
              <a:rPr lang="en-US" altLang="en-US" b="0">
                <a:latin typeface="Calibri" charset="0"/>
              </a:rPr>
              <a:t>b</a:t>
            </a:r>
            <a:r>
              <a:rPr lang="en-US" altLang="en-US" b="0" baseline="30000">
                <a:latin typeface="Calibri" charset="0"/>
              </a:rPr>
              <a:t>-1 </a:t>
            </a:r>
            <a:r>
              <a:rPr lang="en-US" altLang="en-US" b="0">
                <a:latin typeface="Calibri" charset="0"/>
              </a:rPr>
              <a:t>+ a</a:t>
            </a:r>
            <a:r>
              <a:rPr lang="en-US" altLang="en-US" b="0" baseline="-25000">
                <a:latin typeface="Calibri" charset="0"/>
              </a:rPr>
              <a:t>-2 </a:t>
            </a:r>
            <a:r>
              <a:rPr lang="en-US" altLang="en-US" b="0">
                <a:latin typeface="Calibri" charset="0"/>
              </a:rPr>
              <a:t>b</a:t>
            </a:r>
            <a:r>
              <a:rPr lang="en-US" altLang="en-US" b="0" baseline="30000">
                <a:latin typeface="Calibri" charset="0"/>
              </a:rPr>
              <a:t>-2  + …</a:t>
            </a: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endParaRPr lang="en-US" altLang="en-US" b="0" baseline="30000">
              <a:latin typeface="Calibri" charset="0"/>
            </a:endParaRP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>
                <a:latin typeface="Calibri" charset="0"/>
              </a:rPr>
              <a:t>123.45 = a</a:t>
            </a:r>
            <a:r>
              <a:rPr lang="en-US" altLang="en-US" b="0" baseline="-25000">
                <a:latin typeface="Calibri" charset="0"/>
              </a:rPr>
              <a:t>2</a:t>
            </a:r>
            <a:r>
              <a:rPr lang="en-US" altLang="en-US" b="0">
                <a:latin typeface="Calibri" charset="0"/>
              </a:rPr>
              <a:t>x8</a:t>
            </a:r>
            <a:r>
              <a:rPr lang="en-US" altLang="en-US" b="0" baseline="30000">
                <a:latin typeface="Calibri" charset="0"/>
              </a:rPr>
              <a:t>2 </a:t>
            </a:r>
            <a:r>
              <a:rPr lang="en-US" altLang="en-US" b="0">
                <a:latin typeface="Calibri" charset="0"/>
              </a:rPr>
              <a:t>+ a</a:t>
            </a:r>
            <a:r>
              <a:rPr lang="en-US" altLang="en-US" b="0" baseline="-25000">
                <a:latin typeface="Calibri" charset="0"/>
              </a:rPr>
              <a:t>1</a:t>
            </a:r>
            <a:r>
              <a:rPr lang="en-US" altLang="en-US" b="0">
                <a:latin typeface="Calibri" charset="0"/>
              </a:rPr>
              <a:t>x8</a:t>
            </a:r>
            <a:r>
              <a:rPr lang="en-US" altLang="en-US" b="0" baseline="30000">
                <a:latin typeface="Calibri" charset="0"/>
              </a:rPr>
              <a:t>1</a:t>
            </a:r>
            <a:r>
              <a:rPr lang="en-US" altLang="en-US" b="0">
                <a:latin typeface="Calibri" charset="0"/>
              </a:rPr>
              <a:t> + a</a:t>
            </a:r>
            <a:r>
              <a:rPr lang="en-US" altLang="en-US" b="0" baseline="-25000">
                <a:latin typeface="Calibri" charset="0"/>
              </a:rPr>
              <a:t>0</a:t>
            </a:r>
            <a:r>
              <a:rPr lang="en-US" altLang="en-US" b="0">
                <a:latin typeface="Calibri" charset="0"/>
              </a:rPr>
              <a:t>x8</a:t>
            </a:r>
            <a:r>
              <a:rPr lang="en-US" altLang="en-US" b="0" baseline="30000">
                <a:latin typeface="Calibri" charset="0"/>
              </a:rPr>
              <a:t>0 </a:t>
            </a:r>
            <a:r>
              <a:rPr lang="en-US" altLang="en-US" b="0">
                <a:latin typeface="Calibri" charset="0"/>
              </a:rPr>
              <a:t>+ a</a:t>
            </a:r>
            <a:r>
              <a:rPr lang="en-US" altLang="en-US" b="0" baseline="-25000">
                <a:latin typeface="Calibri" charset="0"/>
              </a:rPr>
              <a:t>-1</a:t>
            </a:r>
            <a:r>
              <a:rPr lang="en-US" altLang="en-US" b="0">
                <a:latin typeface="Calibri" charset="0"/>
              </a:rPr>
              <a:t>x8</a:t>
            </a:r>
            <a:r>
              <a:rPr lang="en-US" altLang="en-US" b="0" baseline="30000">
                <a:latin typeface="Calibri" charset="0"/>
              </a:rPr>
              <a:t>-1 </a:t>
            </a:r>
            <a:r>
              <a:rPr lang="en-US" altLang="en-US" b="0">
                <a:latin typeface="Calibri" charset="0"/>
              </a:rPr>
              <a:t>+ a</a:t>
            </a:r>
            <a:r>
              <a:rPr lang="en-US" altLang="en-US" b="0" baseline="-25000">
                <a:latin typeface="Calibri" charset="0"/>
              </a:rPr>
              <a:t>-2</a:t>
            </a:r>
            <a:r>
              <a:rPr lang="en-US" altLang="en-US" b="0">
                <a:latin typeface="Calibri" charset="0"/>
              </a:rPr>
              <a:t>x8</a:t>
            </a:r>
            <a:r>
              <a:rPr lang="en-US" altLang="en-US" b="0" baseline="30000">
                <a:latin typeface="Calibri" charset="0"/>
              </a:rPr>
              <a:t>-2 </a:t>
            </a:r>
            <a:r>
              <a:rPr lang="en-US" altLang="en-US" b="0">
                <a:latin typeface="Calibri" charset="0"/>
              </a:rPr>
              <a:t>+ …</a:t>
            </a: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endParaRPr lang="en-US" altLang="en-US" b="0" baseline="30000">
              <a:latin typeface="Calibri" charset="0"/>
            </a:endParaRP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>
                <a:latin typeface="Calibri" charset="0"/>
              </a:rPr>
              <a:t>Separate whole number &amp; fraction</a:t>
            </a:r>
          </a:p>
          <a:p>
            <a:pPr lvl="2" eaLnBrk="1" hangingPunct="1">
              <a:spcBef>
                <a:spcPct val="20000"/>
              </a:spcBef>
            </a:pPr>
            <a:r>
              <a:rPr lang="en-US" altLang="en-US" b="0">
                <a:latin typeface="Calibri" charset="0"/>
              </a:rPr>
              <a:t>	 123 = a</a:t>
            </a:r>
            <a:r>
              <a:rPr lang="en-US" altLang="en-US" b="0" baseline="-25000">
                <a:latin typeface="Calibri" charset="0"/>
              </a:rPr>
              <a:t>2</a:t>
            </a:r>
            <a:r>
              <a:rPr lang="en-US" altLang="en-US" b="0">
                <a:latin typeface="Calibri" charset="0"/>
              </a:rPr>
              <a:t>x8</a:t>
            </a:r>
            <a:r>
              <a:rPr lang="en-US" altLang="en-US" b="0" baseline="30000">
                <a:latin typeface="Calibri" charset="0"/>
              </a:rPr>
              <a:t>2 </a:t>
            </a:r>
            <a:r>
              <a:rPr lang="en-US" altLang="en-US" b="0">
                <a:latin typeface="Calibri" charset="0"/>
              </a:rPr>
              <a:t>+ a</a:t>
            </a:r>
            <a:r>
              <a:rPr lang="en-US" altLang="en-US" b="0" baseline="-25000">
                <a:latin typeface="Calibri" charset="0"/>
              </a:rPr>
              <a:t>1</a:t>
            </a:r>
            <a:r>
              <a:rPr lang="en-US" altLang="en-US" b="0">
                <a:latin typeface="Calibri" charset="0"/>
              </a:rPr>
              <a:t>x8</a:t>
            </a:r>
            <a:r>
              <a:rPr lang="en-US" altLang="en-US" b="0" baseline="30000">
                <a:latin typeface="Calibri" charset="0"/>
              </a:rPr>
              <a:t>1</a:t>
            </a:r>
            <a:r>
              <a:rPr lang="en-US" altLang="en-US" b="0">
                <a:latin typeface="Calibri" charset="0"/>
              </a:rPr>
              <a:t> + a</a:t>
            </a:r>
            <a:r>
              <a:rPr lang="en-US" altLang="en-US" b="0" baseline="-25000">
                <a:latin typeface="Calibri" charset="0"/>
              </a:rPr>
              <a:t>0</a:t>
            </a:r>
            <a:r>
              <a:rPr lang="en-US" altLang="en-US" b="0">
                <a:latin typeface="Calibri" charset="0"/>
              </a:rPr>
              <a:t>x8</a:t>
            </a:r>
            <a:r>
              <a:rPr lang="en-US" altLang="en-US" b="0" baseline="30000">
                <a:latin typeface="Calibri" charset="0"/>
              </a:rPr>
              <a:t>0</a:t>
            </a:r>
          </a:p>
          <a:p>
            <a:pPr lvl="2" eaLnBrk="1" hangingPunct="1">
              <a:spcBef>
                <a:spcPct val="20000"/>
              </a:spcBef>
            </a:pPr>
            <a:r>
              <a:rPr lang="en-US" altLang="en-US" b="0" baseline="30000">
                <a:latin typeface="Calibri" charset="0"/>
              </a:rPr>
              <a:t>	</a:t>
            </a:r>
            <a:r>
              <a:rPr lang="en-US" altLang="en-US" b="0">
                <a:latin typeface="Calibri" charset="0"/>
              </a:rPr>
              <a:t> 0.45 = a</a:t>
            </a:r>
            <a:r>
              <a:rPr lang="en-US" altLang="en-US" b="0" baseline="-25000">
                <a:latin typeface="Calibri" charset="0"/>
              </a:rPr>
              <a:t>-1</a:t>
            </a:r>
            <a:r>
              <a:rPr lang="en-US" altLang="en-US" b="0">
                <a:latin typeface="Calibri" charset="0"/>
              </a:rPr>
              <a:t>x8</a:t>
            </a:r>
            <a:r>
              <a:rPr lang="en-US" altLang="en-US" b="0" baseline="30000">
                <a:latin typeface="Calibri" charset="0"/>
              </a:rPr>
              <a:t>-1 </a:t>
            </a:r>
            <a:r>
              <a:rPr lang="en-US" altLang="en-US" b="0">
                <a:latin typeface="Calibri" charset="0"/>
              </a:rPr>
              <a:t>+ a</a:t>
            </a:r>
            <a:r>
              <a:rPr lang="en-US" altLang="en-US" b="0" baseline="-25000">
                <a:latin typeface="Calibri" charset="0"/>
              </a:rPr>
              <a:t>-2</a:t>
            </a:r>
            <a:r>
              <a:rPr lang="en-US" altLang="en-US" b="0">
                <a:latin typeface="Calibri" charset="0"/>
              </a:rPr>
              <a:t>x8</a:t>
            </a:r>
            <a:r>
              <a:rPr lang="en-US" altLang="en-US" b="0" baseline="30000">
                <a:latin typeface="Calibri" charset="0"/>
              </a:rPr>
              <a:t>-2 </a:t>
            </a:r>
            <a:r>
              <a:rPr lang="en-US" altLang="en-US" b="0">
                <a:latin typeface="Calibri" charset="0"/>
              </a:rPr>
              <a:t>+ …</a:t>
            </a:r>
            <a:endParaRPr lang="en-US" altLang="en-US" b="0" baseline="30000">
              <a:latin typeface="Calibri" charset="0"/>
            </a:endParaRPr>
          </a:p>
          <a:p>
            <a:pPr lvl="2" eaLnBrk="1" hangingPunct="1">
              <a:spcBef>
                <a:spcPct val="20000"/>
              </a:spcBef>
            </a:pPr>
            <a:endParaRPr lang="en-US" altLang="en-US" b="0" baseline="30000">
              <a:latin typeface="Calibri" charset="0"/>
            </a:endParaRP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endParaRPr lang="en-US" altLang="en-US" b="0" baseline="30000">
              <a:latin typeface="Calibri" charset="0"/>
            </a:endParaRPr>
          </a:p>
          <a:p>
            <a:pPr lvl="3" eaLnBrk="1" hangingPunct="1">
              <a:spcBef>
                <a:spcPct val="20000"/>
              </a:spcBef>
              <a:buFont typeface="Arial" charset="0"/>
              <a:buChar char="•"/>
            </a:pPr>
            <a:endParaRPr lang="en-US" altLang="en-US" b="0">
              <a:latin typeface="Calibri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7"/>
          <p:cNvSpPr txBox="1">
            <a:spLocks noChangeArrowheads="1"/>
          </p:cNvSpPr>
          <p:nvPr/>
        </p:nvSpPr>
        <p:spPr bwMode="auto">
          <a:xfrm>
            <a:off x="427038" y="304800"/>
            <a:ext cx="8716962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440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charset="0"/>
              </a:rPr>
              <a:t>Binary to Decimal</a:t>
            </a:r>
          </a:p>
        </p:txBody>
      </p:sp>
      <p:sp>
        <p:nvSpPr>
          <p:cNvPr id="18434" name="Rectangle 58"/>
          <p:cNvSpPr txBox="1">
            <a:spLocks noChangeArrowheads="1"/>
          </p:cNvSpPr>
          <p:nvPr/>
        </p:nvSpPr>
        <p:spPr bwMode="auto">
          <a:xfrm>
            <a:off x="290513" y="1220788"/>
            <a:ext cx="8307387" cy="15986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hlinkClick r:id="rId2"/>
              </a:rPr>
              <a:t>https://www.youtube.com/watch?v=TD6lcIIOeic</a:t>
            </a:r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Bef>
                <a:spcPct val="20000"/>
              </a:spcBef>
              <a:buFont typeface="Arial" charset="0"/>
              <a:buChar char="•"/>
              <a:defRPr/>
            </a:pPr>
            <a:endParaRPr lang="en-US" sz="2800" b="0" dirty="0">
              <a:latin typeface="Calibri" charset="0"/>
            </a:endParaRPr>
          </a:p>
          <a:p>
            <a:pPr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b="0" dirty="0">
                <a:latin typeface="Calibri" charset="0"/>
              </a:rPr>
              <a:t>Multiply positional weights by digits and add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b="0" dirty="0">
                <a:latin typeface="Calibri" charset="0"/>
                <a:cs typeface="ＭＳ Ｐゴシック" charset="0"/>
              </a:rPr>
              <a:t>   1     1      1     1     0</a:t>
            </a:r>
            <a:endParaRPr lang="en-US" b="0" baseline="-25000" dirty="0">
              <a:latin typeface="Calibri" charset="0"/>
              <a:cs typeface="ＭＳ Ｐゴシック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b="0" dirty="0">
                <a:latin typeface="Calibri" charset="0"/>
                <a:cs typeface="ＭＳ Ｐゴシック" charset="0"/>
              </a:rPr>
              <a:t>  2</a:t>
            </a:r>
            <a:r>
              <a:rPr lang="en-US" b="0" baseline="30000" dirty="0">
                <a:latin typeface="Calibri" charset="0"/>
                <a:cs typeface="ＭＳ Ｐゴシック" charset="0"/>
              </a:rPr>
              <a:t>4</a:t>
            </a:r>
            <a:r>
              <a:rPr lang="en-US" b="0" dirty="0">
                <a:latin typeface="Helvetica" charset="0"/>
                <a:cs typeface="ＭＳ Ｐゴシック" charset="0"/>
              </a:rPr>
              <a:t>   2</a:t>
            </a:r>
            <a:r>
              <a:rPr lang="en-US" b="0" baseline="30000" dirty="0">
                <a:latin typeface="Helvetica" charset="0"/>
                <a:cs typeface="ＭＳ Ｐゴシック" charset="0"/>
              </a:rPr>
              <a:t>3  </a:t>
            </a:r>
            <a:r>
              <a:rPr lang="en-US" b="0" dirty="0">
                <a:latin typeface="Helvetica" charset="0"/>
                <a:cs typeface="ＭＳ Ｐゴシック" charset="0"/>
              </a:rPr>
              <a:t> 2</a:t>
            </a:r>
            <a:r>
              <a:rPr lang="en-US" b="0" baseline="30000" dirty="0">
                <a:latin typeface="Helvetica" charset="0"/>
                <a:cs typeface="ＭＳ Ｐゴシック" charset="0"/>
              </a:rPr>
              <a:t>2   </a:t>
            </a:r>
            <a:r>
              <a:rPr lang="en-US" b="0" dirty="0">
                <a:latin typeface="Helvetica" charset="0"/>
                <a:cs typeface="ＭＳ Ｐゴシック" charset="0"/>
              </a:rPr>
              <a:t> 2</a:t>
            </a:r>
            <a:r>
              <a:rPr lang="en-US" b="0" baseline="30000" dirty="0">
                <a:latin typeface="Helvetica" charset="0"/>
                <a:cs typeface="ＭＳ Ｐゴシック" charset="0"/>
              </a:rPr>
              <a:t>1  </a:t>
            </a:r>
            <a:r>
              <a:rPr lang="en-US" b="0" dirty="0">
                <a:latin typeface="Helvetica" charset="0"/>
                <a:cs typeface="ＭＳ Ｐゴシック" charset="0"/>
              </a:rPr>
              <a:t> 2</a:t>
            </a:r>
            <a:r>
              <a:rPr lang="en-US" b="0" baseline="30000" dirty="0">
                <a:latin typeface="Helvetica" charset="0"/>
                <a:cs typeface="ＭＳ Ｐゴシック" charset="0"/>
              </a:rPr>
              <a:t>0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  <a:defRPr/>
            </a:pPr>
            <a:endParaRPr lang="en-US" b="0" baseline="30000" dirty="0">
              <a:latin typeface="Calibri" charset="0"/>
              <a:cs typeface="ＭＳ Ｐゴシック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  <a:defRPr/>
            </a:pPr>
            <a:endParaRPr lang="en-US" b="0" baseline="30000" dirty="0">
              <a:latin typeface="Calibri" charset="0"/>
              <a:cs typeface="ＭＳ Ｐゴシック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b="0" dirty="0">
                <a:latin typeface="Calibri" charset="0"/>
                <a:cs typeface="ＭＳ Ｐゴシック" charset="0"/>
              </a:rPr>
              <a:t>Resulting decimal number represents the value</a:t>
            </a:r>
          </a:p>
          <a:p>
            <a:pPr>
              <a:spcBef>
                <a:spcPct val="20000"/>
              </a:spcBef>
              <a:buFont typeface="Arial" charset="0"/>
              <a:buChar char="–"/>
              <a:defRPr/>
            </a:pPr>
            <a:endParaRPr lang="en-US" b="0" baseline="30000" dirty="0">
              <a:latin typeface="Calibri" charset="0"/>
            </a:endParaRPr>
          </a:p>
          <a:p>
            <a:pPr>
              <a:spcBef>
                <a:spcPct val="20000"/>
              </a:spcBef>
              <a:buFont typeface="Arial" charset="0"/>
              <a:buChar char="–"/>
              <a:defRPr/>
            </a:pPr>
            <a:endParaRPr lang="en-US" b="0" baseline="-25000" dirty="0">
              <a:latin typeface="Calibri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57"/>
          <p:cNvSpPr txBox="1">
            <a:spLocks noChangeArrowheads="1"/>
          </p:cNvSpPr>
          <p:nvPr/>
        </p:nvSpPr>
        <p:spPr bwMode="auto">
          <a:xfrm>
            <a:off x="404813" y="247650"/>
            <a:ext cx="8716962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4600">
                <a:solidFill>
                  <a:schemeClr val="accent1"/>
                </a:solidFill>
                <a:latin typeface="Calibri" charset="0"/>
              </a:rPr>
              <a:t>Decimal to Binary</a:t>
            </a:r>
          </a:p>
        </p:txBody>
      </p:sp>
      <p:sp>
        <p:nvSpPr>
          <p:cNvPr id="19458" name="Rectangle 58"/>
          <p:cNvSpPr txBox="1">
            <a:spLocks noChangeArrowheads="1"/>
          </p:cNvSpPr>
          <p:nvPr/>
        </p:nvSpPr>
        <p:spPr bwMode="auto">
          <a:xfrm>
            <a:off x="290513" y="1220788"/>
            <a:ext cx="8307387" cy="388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2800" b="0" dirty="0">
                <a:latin typeface="Calibri" charset="0"/>
              </a:rPr>
              <a:t>X = a</a:t>
            </a:r>
            <a:r>
              <a:rPr lang="en-US" altLang="en-US" sz="2800" b="0" baseline="-25000" dirty="0">
                <a:latin typeface="Calibri" charset="0"/>
              </a:rPr>
              <a:t>n-1 </a:t>
            </a:r>
            <a:r>
              <a:rPr lang="en-US" altLang="en-US" sz="2800" b="0" dirty="0">
                <a:latin typeface="Calibri" charset="0"/>
              </a:rPr>
              <a:t>b</a:t>
            </a:r>
            <a:r>
              <a:rPr lang="en-US" altLang="en-US" sz="2800" b="0" baseline="30000" dirty="0">
                <a:latin typeface="Calibri" charset="0"/>
              </a:rPr>
              <a:t>n-1 </a:t>
            </a:r>
            <a:r>
              <a:rPr lang="en-US" altLang="en-US" sz="2800" b="0" dirty="0">
                <a:latin typeface="Calibri" charset="0"/>
              </a:rPr>
              <a:t>+ a</a:t>
            </a:r>
            <a:r>
              <a:rPr lang="en-US" altLang="en-US" sz="2800" b="0" baseline="-25000" dirty="0">
                <a:latin typeface="Calibri" charset="0"/>
              </a:rPr>
              <a:t>n-2 </a:t>
            </a:r>
            <a:r>
              <a:rPr lang="en-US" altLang="en-US" sz="2800" b="0" dirty="0">
                <a:latin typeface="Calibri" charset="0"/>
              </a:rPr>
              <a:t>b</a:t>
            </a:r>
            <a:r>
              <a:rPr lang="en-US" altLang="en-US" sz="2800" b="0" baseline="30000" dirty="0">
                <a:latin typeface="Calibri" charset="0"/>
              </a:rPr>
              <a:t>n-2 </a:t>
            </a:r>
            <a:r>
              <a:rPr lang="en-US" altLang="en-US" sz="2800" b="0" dirty="0">
                <a:latin typeface="Calibri" charset="0"/>
              </a:rPr>
              <a:t>+  …. + a</a:t>
            </a:r>
            <a:r>
              <a:rPr lang="en-US" altLang="en-US" sz="2800" b="0" baseline="-25000" dirty="0">
                <a:latin typeface="Calibri" charset="0"/>
              </a:rPr>
              <a:t>0 </a:t>
            </a:r>
            <a:r>
              <a:rPr lang="en-US" altLang="en-US" sz="2800" b="0" dirty="0">
                <a:latin typeface="Calibri" charset="0"/>
              </a:rPr>
              <a:t>b</a:t>
            </a:r>
            <a:r>
              <a:rPr lang="en-US" altLang="en-US" sz="2800" b="0" baseline="30000" dirty="0">
                <a:latin typeface="Calibri" charset="0"/>
              </a:rPr>
              <a:t>0 </a:t>
            </a:r>
          </a:p>
          <a:p>
            <a:pPr>
              <a:spcBef>
                <a:spcPct val="20000"/>
              </a:spcBef>
              <a:buFont typeface="Arial" charset="0"/>
              <a:buChar char="•"/>
            </a:pPr>
            <a:endParaRPr lang="en-US" altLang="en-US" sz="2800" b="0" dirty="0">
              <a:latin typeface="Calibri" charset="0"/>
            </a:endParaRPr>
          </a:p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2800" b="0" dirty="0">
                <a:latin typeface="Calibri" charset="0"/>
              </a:rPr>
              <a:t>Decimal number D to base-2 number X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 dirty="0">
                <a:latin typeface="Calibri" charset="0"/>
              </a:rPr>
              <a:t>Continue dividing D by 2</a:t>
            </a:r>
            <a:endParaRPr lang="en-US" altLang="en-US" b="0" baseline="-25000" dirty="0">
              <a:latin typeface="Calibri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 dirty="0">
                <a:latin typeface="Calibri" charset="0"/>
              </a:rPr>
              <a:t>Take the last quotient and all remainder</a:t>
            </a:r>
          </a:p>
          <a:p>
            <a:pPr marL="457200" lvl="1" indent="0">
              <a:spcBef>
                <a:spcPct val="20000"/>
              </a:spcBef>
            </a:pPr>
            <a:endParaRPr lang="en-US" altLang="en-US" b="0" dirty="0">
              <a:latin typeface="Calibri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endParaRPr lang="en-US" altLang="en-US" b="0" dirty="0">
              <a:latin typeface="Calibri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sz="2000" b="0" dirty="0">
                <a:latin typeface="Calibri" charset="0"/>
              </a:rPr>
              <a:t>  30 </a:t>
            </a:r>
            <a:r>
              <a:rPr lang="en-US" altLang="en-US" sz="2000" b="0" baseline="-25000" dirty="0">
                <a:latin typeface="Calibri" charset="0"/>
              </a:rPr>
              <a:t>10</a:t>
            </a:r>
            <a:r>
              <a:rPr lang="en-US" altLang="en-US" sz="2000" b="0" dirty="0">
                <a:latin typeface="Calibri" charset="0"/>
              </a:rPr>
              <a:t>  -&gt;  11110 </a:t>
            </a:r>
            <a:r>
              <a:rPr lang="en-US" altLang="en-US" sz="2000" b="0" baseline="-25000" dirty="0">
                <a:latin typeface="Calibri" charset="0"/>
              </a:rPr>
              <a:t>2</a:t>
            </a:r>
          </a:p>
          <a:p>
            <a:pPr>
              <a:spcBef>
                <a:spcPct val="20000"/>
              </a:spcBef>
              <a:buFont typeface="Arial" charset="0"/>
              <a:buChar char="–"/>
            </a:pPr>
            <a:endParaRPr lang="en-US" altLang="en-US" b="0" baseline="-25000" dirty="0">
              <a:latin typeface="Calibri" charset="0"/>
            </a:endParaRPr>
          </a:p>
        </p:txBody>
      </p:sp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5715000" y="2895600"/>
            <a:ext cx="1981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indent="0">
              <a:defRPr/>
            </a:pPr>
            <a:r>
              <a:rPr lang="en-US" sz="1800" dirty="0">
                <a:latin typeface="Helvetica" charset="0"/>
              </a:rPr>
              <a:t>     	30</a:t>
            </a:r>
          </a:p>
          <a:p>
            <a:pPr>
              <a:defRPr/>
            </a:pPr>
            <a:r>
              <a:rPr lang="en-US" sz="1800" dirty="0">
                <a:latin typeface="Helvetica" charset="0"/>
              </a:rPr>
              <a:t>     		15   --  0</a:t>
            </a:r>
          </a:p>
          <a:p>
            <a:pPr>
              <a:defRPr/>
            </a:pPr>
            <a:r>
              <a:rPr lang="en-US" sz="1800" dirty="0">
                <a:latin typeface="Helvetica" charset="0"/>
              </a:rPr>
              <a:t>       	 7   --  1                	 3   --  1</a:t>
            </a:r>
          </a:p>
          <a:p>
            <a:pPr>
              <a:defRPr/>
            </a:pPr>
            <a:r>
              <a:rPr lang="en-US" sz="1800" dirty="0">
                <a:latin typeface="Helvetica" charset="0"/>
              </a:rPr>
              <a:t>               1   -- 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4400">
                <a:latin typeface="Franklin Gothic Book" charset="0"/>
              </a:rPr>
              <a:t>Other Number System ?</a:t>
            </a:r>
          </a:p>
        </p:txBody>
      </p:sp>
      <p:sp>
        <p:nvSpPr>
          <p:cNvPr id="20482" name="Content Placeholder 2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 dirty="0">
                <a:latin typeface="Franklin Gothic Book" charset="0"/>
              </a:rPr>
              <a:t>base 12</a:t>
            </a:r>
          </a:p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 dirty="0">
                <a:latin typeface="Franklin Gothic Book" charset="0"/>
              </a:rPr>
              <a:t>base 16</a:t>
            </a:r>
          </a:p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 dirty="0">
                <a:latin typeface="Franklin Gothic Book" charset="0"/>
              </a:rPr>
              <a:t>base 60 ?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sz="2800" b="0" dirty="0">
                <a:latin typeface="Franklin Gothic Book" charset="0"/>
                <a:hlinkClick r:id="rId2"/>
              </a:rPr>
              <a:t>http://en.wikipedia.org/wiki/Sexagesimal</a:t>
            </a:r>
            <a:endParaRPr lang="en-US" altLang="en-US" sz="2800" b="0" dirty="0">
              <a:latin typeface="Franklin Gothic Book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4600">
                <a:solidFill>
                  <a:schemeClr val="accent1"/>
                </a:solidFill>
                <a:latin typeface="Calibri" charset="0"/>
              </a:rPr>
              <a:t>Bases 2, 8, 16, etc.</a:t>
            </a:r>
          </a:p>
        </p:txBody>
      </p:sp>
      <p:sp>
        <p:nvSpPr>
          <p:cNvPr id="21506" name="Content Placeholder 2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 indent="-349250">
              <a:spcBef>
                <a:spcPts val="2000"/>
              </a:spcBef>
              <a:buClr>
                <a:srgbClr val="6FB7D7"/>
              </a:buClr>
              <a:buSzPct val="110000"/>
              <a:buFont typeface="Wingdings 2" charset="2"/>
              <a:buChar char=""/>
              <a:defRPr sz="2400">
                <a:solidFill>
                  <a:srgbClr val="595959"/>
                </a:solidFill>
                <a:latin typeface="News Gothic MT" charset="0"/>
                <a:ea typeface="ＭＳ Ｐゴシック" charset="-128"/>
              </a:defRPr>
            </a:lvl1pPr>
            <a:lvl2pPr marL="685800" indent="-336550">
              <a:spcBef>
                <a:spcPts val="600"/>
              </a:spcBef>
              <a:buClr>
                <a:srgbClr val="215D77"/>
              </a:buClr>
              <a:buSzPct val="110000"/>
              <a:buFont typeface="Wingdings 2" charset="2"/>
              <a:buChar char=""/>
              <a:defRPr sz="2200">
                <a:solidFill>
                  <a:srgbClr val="595959"/>
                </a:solidFill>
                <a:latin typeface="News Gothic MT" charset="0"/>
                <a:ea typeface="ＭＳ Ｐゴシック" charset="-128"/>
              </a:defRPr>
            </a:lvl2pPr>
            <a:lvl3pPr marL="968375" indent="-282575">
              <a:spcBef>
                <a:spcPts val="600"/>
              </a:spcBef>
              <a:buClr>
                <a:srgbClr val="6FB7D7"/>
              </a:buClr>
              <a:buSzPct val="110000"/>
              <a:buFont typeface="Wingdings 2" charset="2"/>
              <a:buChar char=""/>
              <a:defRPr sz="2000">
                <a:solidFill>
                  <a:srgbClr val="595959"/>
                </a:solidFill>
                <a:latin typeface="News Gothic MT" charset="0"/>
                <a:ea typeface="ＭＳ Ｐゴシック" charset="-128"/>
              </a:defRPr>
            </a:lvl3pPr>
            <a:lvl4pPr marL="1263650" indent="-295275">
              <a:spcBef>
                <a:spcPts val="600"/>
              </a:spcBef>
              <a:buClr>
                <a:srgbClr val="215D77"/>
              </a:buClr>
              <a:buSzPct val="110000"/>
              <a:buFont typeface="Wingdings 2" charset="2"/>
              <a:buChar char=""/>
              <a:defRPr>
                <a:solidFill>
                  <a:srgbClr val="595959"/>
                </a:solidFill>
                <a:latin typeface="News Gothic MT" charset="0"/>
                <a:ea typeface="ＭＳ Ｐゴシック" charset="-128"/>
              </a:defRPr>
            </a:lvl4pPr>
            <a:lvl5pPr marL="2057400" indent="-228600">
              <a:spcBef>
                <a:spcPts val="600"/>
              </a:spcBef>
              <a:buClr>
                <a:srgbClr val="6FB7D7"/>
              </a:buClr>
              <a:buSzPct val="110000"/>
              <a:buFont typeface="Wingdings 2" charset="2"/>
              <a:buChar char=""/>
              <a:defRPr>
                <a:solidFill>
                  <a:srgbClr val="595959"/>
                </a:solidFill>
                <a:latin typeface="News Gothic M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charset="2"/>
              <a:buChar char=""/>
              <a:defRPr>
                <a:solidFill>
                  <a:srgbClr val="595959"/>
                </a:solidFill>
                <a:latin typeface="News Gothic M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charset="2"/>
              <a:buChar char=""/>
              <a:defRPr>
                <a:solidFill>
                  <a:srgbClr val="595959"/>
                </a:solidFill>
                <a:latin typeface="News Gothic M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charset="2"/>
              <a:buChar char=""/>
              <a:defRPr>
                <a:solidFill>
                  <a:srgbClr val="595959"/>
                </a:solidFill>
                <a:latin typeface="News Gothic M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6FB7D7"/>
              </a:buClr>
              <a:buSzPct val="110000"/>
              <a:buFont typeface="Wingdings 2" charset="2"/>
              <a:buChar char=""/>
              <a:defRPr>
                <a:solidFill>
                  <a:srgbClr val="595959"/>
                </a:solidFill>
                <a:latin typeface="News Gothic MT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alibri" charset="0"/>
              </a:rPr>
              <a:t>3 binary bits into a single octal</a:t>
            </a:r>
          </a:p>
          <a:p>
            <a:r>
              <a:rPr lang="en-US" altLang="en-US" b="0">
                <a:latin typeface="Calibri" charset="0"/>
              </a:rPr>
              <a:t>4 binary bits into a single hex</a:t>
            </a:r>
          </a:p>
          <a:p>
            <a:pPr lvl="1"/>
            <a:r>
              <a:rPr lang="en-US" altLang="en-US" sz="2400" b="0">
                <a:latin typeface="Calibri" charset="0"/>
              </a:rPr>
              <a:t>11110 </a:t>
            </a:r>
            <a:r>
              <a:rPr lang="en-US" altLang="en-US" sz="2400" b="0" baseline="-25000">
                <a:latin typeface="Calibri" charset="0"/>
              </a:rPr>
              <a:t>2</a:t>
            </a:r>
          </a:p>
          <a:p>
            <a:pPr lvl="1"/>
            <a:r>
              <a:rPr lang="en-US" altLang="en-US" sz="2400" b="0">
                <a:latin typeface="Calibri" charset="0"/>
              </a:rPr>
              <a:t>36 </a:t>
            </a:r>
            <a:r>
              <a:rPr lang="en-US" altLang="en-US" sz="2400" b="0" baseline="-25000">
                <a:latin typeface="Calibri" charset="0"/>
              </a:rPr>
              <a:t>8</a:t>
            </a:r>
          </a:p>
          <a:p>
            <a:pPr lvl="1"/>
            <a:r>
              <a:rPr lang="en-US" altLang="en-US" sz="2400" b="0">
                <a:latin typeface="Calibri" charset="0"/>
              </a:rPr>
              <a:t>1E </a:t>
            </a:r>
            <a:r>
              <a:rPr lang="en-US" altLang="en-US" sz="2400" b="0" baseline="-25000">
                <a:latin typeface="Calibri" charset="0"/>
              </a:rPr>
              <a:t>X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>
                <a:latin typeface="Calibri" charset="0"/>
              </a:rPr>
              <a:t>Use characters </a:t>
            </a:r>
            <a:r>
              <a:rPr lang="ja-JP" altLang="en-US" b="0">
                <a:latin typeface="Calibri" charset="0"/>
              </a:rPr>
              <a:t>‘</a:t>
            </a:r>
            <a:r>
              <a:rPr lang="en-US" altLang="ja-JP" b="0">
                <a:latin typeface="Calibri" charset="0"/>
              </a:rPr>
              <a:t>0</a:t>
            </a:r>
            <a:r>
              <a:rPr lang="ja-JP" altLang="en-US" b="0">
                <a:latin typeface="Calibri" charset="0"/>
              </a:rPr>
              <a:t>’</a:t>
            </a:r>
            <a:r>
              <a:rPr lang="en-US" altLang="ja-JP" b="0">
                <a:latin typeface="Calibri" charset="0"/>
              </a:rPr>
              <a:t> to </a:t>
            </a:r>
            <a:r>
              <a:rPr lang="ja-JP" altLang="en-US" b="0">
                <a:latin typeface="Calibri" charset="0"/>
              </a:rPr>
              <a:t>‘</a:t>
            </a:r>
            <a:r>
              <a:rPr lang="en-US" altLang="ja-JP" b="0">
                <a:latin typeface="Calibri" charset="0"/>
              </a:rPr>
              <a:t>9</a:t>
            </a:r>
            <a:r>
              <a:rPr lang="ja-JP" altLang="en-US" b="0">
                <a:latin typeface="Calibri" charset="0"/>
              </a:rPr>
              <a:t>’</a:t>
            </a:r>
            <a:r>
              <a:rPr lang="en-US" altLang="ja-JP" b="0">
                <a:latin typeface="Calibri" charset="0"/>
              </a:rPr>
              <a:t> and </a:t>
            </a:r>
            <a:r>
              <a:rPr lang="ja-JP" altLang="en-US" b="0">
                <a:latin typeface="Calibri" charset="0"/>
              </a:rPr>
              <a:t>‘</a:t>
            </a:r>
            <a:r>
              <a:rPr lang="en-US" altLang="ja-JP" b="0">
                <a:latin typeface="Calibri" charset="0"/>
              </a:rPr>
              <a:t>A</a:t>
            </a:r>
            <a:r>
              <a:rPr lang="ja-JP" altLang="en-US" b="0">
                <a:latin typeface="Calibri" charset="0"/>
              </a:rPr>
              <a:t>’</a:t>
            </a:r>
            <a:r>
              <a:rPr lang="en-US" altLang="ja-JP" b="0">
                <a:latin typeface="Calibri" charset="0"/>
              </a:rPr>
              <a:t> to </a:t>
            </a:r>
            <a:r>
              <a:rPr lang="ja-JP" altLang="en-US" b="0">
                <a:latin typeface="Calibri" charset="0"/>
              </a:rPr>
              <a:t>‘</a:t>
            </a:r>
            <a:r>
              <a:rPr lang="en-US" altLang="ja-JP" b="0">
                <a:latin typeface="Calibri" charset="0"/>
              </a:rPr>
              <a:t>F</a:t>
            </a:r>
            <a:r>
              <a:rPr lang="ja-JP" altLang="en-US" b="0">
                <a:latin typeface="Calibri" charset="0"/>
              </a:rPr>
              <a:t>’</a:t>
            </a:r>
            <a:endParaRPr lang="en-US" altLang="ja-JP" b="0">
              <a:latin typeface="Calibri" charset="0"/>
            </a:endParaRP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>
                <a:latin typeface="Calibri" charset="0"/>
              </a:rPr>
              <a:t>Write FA1D37B</a:t>
            </a:r>
            <a:r>
              <a:rPr lang="en-US" altLang="en-US" b="0" baseline="-25000">
                <a:latin typeface="Calibri" charset="0"/>
              </a:rPr>
              <a:t>16</a:t>
            </a:r>
            <a:r>
              <a:rPr lang="en-US" altLang="en-US" b="0">
                <a:latin typeface="Calibri" charset="0"/>
              </a:rPr>
              <a:t> in C as </a:t>
            </a:r>
            <a:r>
              <a:rPr lang="en-US" altLang="en-US" b="0">
                <a:latin typeface="Courier New" charset="0"/>
              </a:rPr>
              <a:t>0xFA1D37B</a:t>
            </a:r>
          </a:p>
          <a:p>
            <a:pPr lvl="3">
              <a:spcBef>
                <a:spcPct val="20000"/>
              </a:spcBef>
              <a:buFont typeface="Arial" charset="0"/>
              <a:buChar char="–"/>
            </a:pPr>
            <a:r>
              <a:rPr lang="en-US" altLang="en-US" sz="2000" b="0">
                <a:latin typeface="Calibri" charset="0"/>
              </a:rPr>
              <a:t>Or   </a:t>
            </a:r>
            <a:r>
              <a:rPr lang="en-US" altLang="en-US" sz="2000" b="0">
                <a:latin typeface="Courier New" charset="0"/>
              </a:rPr>
              <a:t>0xfa1d37b</a:t>
            </a:r>
          </a:p>
          <a:p>
            <a:pPr lvl="1"/>
            <a:endParaRPr lang="en-US" altLang="en-US" baseline="-25000">
              <a:latin typeface="Calibri" charset="0"/>
            </a:endParaRPr>
          </a:p>
        </p:txBody>
      </p:sp>
      <p:grpSp>
        <p:nvGrpSpPr>
          <p:cNvPr id="21507" name="Group 4"/>
          <p:cNvGrpSpPr>
            <a:grpSpLocks/>
          </p:cNvGrpSpPr>
          <p:nvPr/>
        </p:nvGrpSpPr>
        <p:grpSpPr bwMode="auto">
          <a:xfrm>
            <a:off x="6477000" y="1828800"/>
            <a:ext cx="1851025" cy="4262438"/>
            <a:chOff x="4224" y="853"/>
            <a:chExt cx="1166" cy="2685"/>
          </a:xfrm>
        </p:grpSpPr>
        <p:grpSp>
          <p:nvGrpSpPr>
            <p:cNvPr id="21508" name="Group 5"/>
            <p:cNvGrpSpPr>
              <a:grpSpLocks/>
            </p:cNvGrpSpPr>
            <p:nvPr/>
          </p:nvGrpSpPr>
          <p:grpSpPr bwMode="auto">
            <a:xfrm>
              <a:off x="4224" y="1234"/>
              <a:ext cx="1104" cy="2304"/>
              <a:chOff x="4224" y="1234"/>
              <a:chExt cx="1104" cy="2304"/>
            </a:xfrm>
          </p:grpSpPr>
          <p:sp>
            <p:nvSpPr>
              <p:cNvPr id="21512" name="Rectangle 6"/>
              <p:cNvSpPr>
                <a:spLocks noChangeArrowheads="1"/>
              </p:cNvSpPr>
              <p:nvPr/>
            </p:nvSpPr>
            <p:spPr bwMode="auto">
              <a:xfrm>
                <a:off x="4224" y="123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0</a:t>
                </a:r>
              </a:p>
            </p:txBody>
          </p:sp>
          <p:sp>
            <p:nvSpPr>
              <p:cNvPr id="21513" name="Rectangle 7"/>
              <p:cNvSpPr>
                <a:spLocks noChangeArrowheads="1"/>
              </p:cNvSpPr>
              <p:nvPr/>
            </p:nvSpPr>
            <p:spPr bwMode="auto">
              <a:xfrm>
                <a:off x="4512" y="123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0</a:t>
                </a:r>
              </a:p>
            </p:txBody>
          </p:sp>
          <p:sp>
            <p:nvSpPr>
              <p:cNvPr id="21514" name="Rectangle 8"/>
              <p:cNvSpPr>
                <a:spLocks noChangeArrowheads="1"/>
              </p:cNvSpPr>
              <p:nvPr/>
            </p:nvSpPr>
            <p:spPr bwMode="auto">
              <a:xfrm>
                <a:off x="4800" y="1234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0000</a:t>
                </a:r>
              </a:p>
            </p:txBody>
          </p:sp>
          <p:sp>
            <p:nvSpPr>
              <p:cNvPr id="21515" name="Rectangle 9"/>
              <p:cNvSpPr>
                <a:spLocks noChangeArrowheads="1"/>
              </p:cNvSpPr>
              <p:nvPr/>
            </p:nvSpPr>
            <p:spPr bwMode="auto">
              <a:xfrm>
                <a:off x="4224" y="137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21516" name="Rectangle 10"/>
              <p:cNvSpPr>
                <a:spLocks noChangeArrowheads="1"/>
              </p:cNvSpPr>
              <p:nvPr/>
            </p:nvSpPr>
            <p:spPr bwMode="auto">
              <a:xfrm>
                <a:off x="4512" y="137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</a:t>
                </a:r>
              </a:p>
            </p:txBody>
          </p:sp>
          <p:sp>
            <p:nvSpPr>
              <p:cNvPr id="21517" name="Rectangle 11"/>
              <p:cNvSpPr>
                <a:spLocks noChangeArrowheads="1"/>
              </p:cNvSpPr>
              <p:nvPr/>
            </p:nvSpPr>
            <p:spPr bwMode="auto">
              <a:xfrm>
                <a:off x="4800" y="1378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0001</a:t>
                </a:r>
              </a:p>
            </p:txBody>
          </p:sp>
          <p:sp>
            <p:nvSpPr>
              <p:cNvPr id="21518" name="Rectangle 12"/>
              <p:cNvSpPr>
                <a:spLocks noChangeArrowheads="1"/>
              </p:cNvSpPr>
              <p:nvPr/>
            </p:nvSpPr>
            <p:spPr bwMode="auto">
              <a:xfrm>
                <a:off x="4224" y="152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2</a:t>
                </a:r>
              </a:p>
            </p:txBody>
          </p:sp>
          <p:sp>
            <p:nvSpPr>
              <p:cNvPr id="21519" name="Rectangle 13"/>
              <p:cNvSpPr>
                <a:spLocks noChangeArrowheads="1"/>
              </p:cNvSpPr>
              <p:nvPr/>
            </p:nvSpPr>
            <p:spPr bwMode="auto">
              <a:xfrm>
                <a:off x="4512" y="152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2</a:t>
                </a:r>
              </a:p>
            </p:txBody>
          </p:sp>
          <p:sp>
            <p:nvSpPr>
              <p:cNvPr id="21520" name="Rectangle 14"/>
              <p:cNvSpPr>
                <a:spLocks noChangeArrowheads="1"/>
              </p:cNvSpPr>
              <p:nvPr/>
            </p:nvSpPr>
            <p:spPr bwMode="auto">
              <a:xfrm>
                <a:off x="4800" y="1522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0010</a:t>
                </a:r>
              </a:p>
            </p:txBody>
          </p:sp>
          <p:sp>
            <p:nvSpPr>
              <p:cNvPr id="21521" name="Rectangle 15"/>
              <p:cNvSpPr>
                <a:spLocks noChangeArrowheads="1"/>
              </p:cNvSpPr>
              <p:nvPr/>
            </p:nvSpPr>
            <p:spPr bwMode="auto">
              <a:xfrm>
                <a:off x="4224" y="166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3</a:t>
                </a:r>
              </a:p>
            </p:txBody>
          </p:sp>
          <p:sp>
            <p:nvSpPr>
              <p:cNvPr id="21522" name="Rectangle 16"/>
              <p:cNvSpPr>
                <a:spLocks noChangeArrowheads="1"/>
              </p:cNvSpPr>
              <p:nvPr/>
            </p:nvSpPr>
            <p:spPr bwMode="auto">
              <a:xfrm>
                <a:off x="4512" y="166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3</a:t>
                </a:r>
              </a:p>
            </p:txBody>
          </p:sp>
          <p:sp>
            <p:nvSpPr>
              <p:cNvPr id="21523" name="Rectangle 17"/>
              <p:cNvSpPr>
                <a:spLocks noChangeArrowheads="1"/>
              </p:cNvSpPr>
              <p:nvPr/>
            </p:nvSpPr>
            <p:spPr bwMode="auto">
              <a:xfrm>
                <a:off x="4800" y="1666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0011</a:t>
                </a:r>
              </a:p>
            </p:txBody>
          </p:sp>
          <p:sp>
            <p:nvSpPr>
              <p:cNvPr id="21524" name="Rectangle 18"/>
              <p:cNvSpPr>
                <a:spLocks noChangeArrowheads="1"/>
              </p:cNvSpPr>
              <p:nvPr/>
            </p:nvSpPr>
            <p:spPr bwMode="auto">
              <a:xfrm>
                <a:off x="4224" y="181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4</a:t>
                </a:r>
              </a:p>
            </p:txBody>
          </p:sp>
          <p:sp>
            <p:nvSpPr>
              <p:cNvPr id="21525" name="Rectangle 19"/>
              <p:cNvSpPr>
                <a:spLocks noChangeArrowheads="1"/>
              </p:cNvSpPr>
              <p:nvPr/>
            </p:nvSpPr>
            <p:spPr bwMode="auto">
              <a:xfrm>
                <a:off x="4512" y="181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4</a:t>
                </a:r>
              </a:p>
            </p:txBody>
          </p:sp>
          <p:sp>
            <p:nvSpPr>
              <p:cNvPr id="21526" name="Rectangle 20"/>
              <p:cNvSpPr>
                <a:spLocks noChangeArrowheads="1"/>
              </p:cNvSpPr>
              <p:nvPr/>
            </p:nvSpPr>
            <p:spPr bwMode="auto">
              <a:xfrm>
                <a:off x="4800" y="1810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0100</a:t>
                </a:r>
              </a:p>
            </p:txBody>
          </p:sp>
          <p:sp>
            <p:nvSpPr>
              <p:cNvPr id="21527" name="Rectangle 21"/>
              <p:cNvSpPr>
                <a:spLocks noChangeArrowheads="1"/>
              </p:cNvSpPr>
              <p:nvPr/>
            </p:nvSpPr>
            <p:spPr bwMode="auto">
              <a:xfrm>
                <a:off x="4224" y="195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5</a:t>
                </a:r>
              </a:p>
            </p:txBody>
          </p:sp>
          <p:sp>
            <p:nvSpPr>
              <p:cNvPr id="21528" name="Rectangle 22"/>
              <p:cNvSpPr>
                <a:spLocks noChangeArrowheads="1"/>
              </p:cNvSpPr>
              <p:nvPr/>
            </p:nvSpPr>
            <p:spPr bwMode="auto">
              <a:xfrm>
                <a:off x="4512" y="195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5</a:t>
                </a:r>
              </a:p>
            </p:txBody>
          </p:sp>
          <p:sp>
            <p:nvSpPr>
              <p:cNvPr id="21529" name="Rectangle 23"/>
              <p:cNvSpPr>
                <a:spLocks noChangeArrowheads="1"/>
              </p:cNvSpPr>
              <p:nvPr/>
            </p:nvSpPr>
            <p:spPr bwMode="auto">
              <a:xfrm>
                <a:off x="4800" y="1954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0101</a:t>
                </a:r>
              </a:p>
            </p:txBody>
          </p:sp>
          <p:sp>
            <p:nvSpPr>
              <p:cNvPr id="21530" name="Rectangle 24"/>
              <p:cNvSpPr>
                <a:spLocks noChangeArrowheads="1"/>
              </p:cNvSpPr>
              <p:nvPr/>
            </p:nvSpPr>
            <p:spPr bwMode="auto">
              <a:xfrm>
                <a:off x="4224" y="209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6</a:t>
                </a:r>
              </a:p>
            </p:txBody>
          </p:sp>
          <p:sp>
            <p:nvSpPr>
              <p:cNvPr id="21531" name="Rectangle 25"/>
              <p:cNvSpPr>
                <a:spLocks noChangeArrowheads="1"/>
              </p:cNvSpPr>
              <p:nvPr/>
            </p:nvSpPr>
            <p:spPr bwMode="auto">
              <a:xfrm>
                <a:off x="4512" y="209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6</a:t>
                </a:r>
              </a:p>
            </p:txBody>
          </p:sp>
          <p:sp>
            <p:nvSpPr>
              <p:cNvPr id="21532" name="Rectangle 26"/>
              <p:cNvSpPr>
                <a:spLocks noChangeArrowheads="1"/>
              </p:cNvSpPr>
              <p:nvPr/>
            </p:nvSpPr>
            <p:spPr bwMode="auto">
              <a:xfrm>
                <a:off x="4800" y="2098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0110</a:t>
                </a:r>
              </a:p>
            </p:txBody>
          </p:sp>
          <p:sp>
            <p:nvSpPr>
              <p:cNvPr id="21533" name="Rectangle 27"/>
              <p:cNvSpPr>
                <a:spLocks noChangeArrowheads="1"/>
              </p:cNvSpPr>
              <p:nvPr/>
            </p:nvSpPr>
            <p:spPr bwMode="auto">
              <a:xfrm>
                <a:off x="4224" y="224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7</a:t>
                </a:r>
              </a:p>
            </p:txBody>
          </p:sp>
          <p:sp>
            <p:nvSpPr>
              <p:cNvPr id="21534" name="Rectangle 28"/>
              <p:cNvSpPr>
                <a:spLocks noChangeArrowheads="1"/>
              </p:cNvSpPr>
              <p:nvPr/>
            </p:nvSpPr>
            <p:spPr bwMode="auto">
              <a:xfrm>
                <a:off x="4512" y="224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7</a:t>
                </a:r>
              </a:p>
            </p:txBody>
          </p:sp>
          <p:sp>
            <p:nvSpPr>
              <p:cNvPr id="21535" name="Rectangle 29"/>
              <p:cNvSpPr>
                <a:spLocks noChangeArrowheads="1"/>
              </p:cNvSpPr>
              <p:nvPr/>
            </p:nvSpPr>
            <p:spPr bwMode="auto">
              <a:xfrm>
                <a:off x="4800" y="2242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0111</a:t>
                </a:r>
              </a:p>
            </p:txBody>
          </p:sp>
          <p:sp>
            <p:nvSpPr>
              <p:cNvPr id="21536" name="Rectangle 30"/>
              <p:cNvSpPr>
                <a:spLocks noChangeArrowheads="1"/>
              </p:cNvSpPr>
              <p:nvPr/>
            </p:nvSpPr>
            <p:spPr bwMode="auto">
              <a:xfrm>
                <a:off x="4224" y="238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8</a:t>
                </a:r>
              </a:p>
            </p:txBody>
          </p:sp>
          <p:sp>
            <p:nvSpPr>
              <p:cNvPr id="21537" name="Rectangle 31"/>
              <p:cNvSpPr>
                <a:spLocks noChangeArrowheads="1"/>
              </p:cNvSpPr>
              <p:nvPr/>
            </p:nvSpPr>
            <p:spPr bwMode="auto">
              <a:xfrm>
                <a:off x="4512" y="238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8</a:t>
                </a:r>
              </a:p>
            </p:txBody>
          </p:sp>
          <p:sp>
            <p:nvSpPr>
              <p:cNvPr id="21538" name="Rectangle 32"/>
              <p:cNvSpPr>
                <a:spLocks noChangeArrowheads="1"/>
              </p:cNvSpPr>
              <p:nvPr/>
            </p:nvSpPr>
            <p:spPr bwMode="auto">
              <a:xfrm>
                <a:off x="4800" y="2386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1000</a:t>
                </a:r>
              </a:p>
            </p:txBody>
          </p:sp>
          <p:sp>
            <p:nvSpPr>
              <p:cNvPr id="21539" name="Rectangle 33"/>
              <p:cNvSpPr>
                <a:spLocks noChangeArrowheads="1"/>
              </p:cNvSpPr>
              <p:nvPr/>
            </p:nvSpPr>
            <p:spPr bwMode="auto">
              <a:xfrm>
                <a:off x="4224" y="253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9</a:t>
                </a:r>
              </a:p>
            </p:txBody>
          </p:sp>
          <p:sp>
            <p:nvSpPr>
              <p:cNvPr id="21540" name="Rectangle 34"/>
              <p:cNvSpPr>
                <a:spLocks noChangeArrowheads="1"/>
              </p:cNvSpPr>
              <p:nvPr/>
            </p:nvSpPr>
            <p:spPr bwMode="auto">
              <a:xfrm>
                <a:off x="4512" y="253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9</a:t>
                </a:r>
              </a:p>
            </p:txBody>
          </p:sp>
          <p:sp>
            <p:nvSpPr>
              <p:cNvPr id="21541" name="Rectangle 35"/>
              <p:cNvSpPr>
                <a:spLocks noChangeArrowheads="1"/>
              </p:cNvSpPr>
              <p:nvPr/>
            </p:nvSpPr>
            <p:spPr bwMode="auto">
              <a:xfrm>
                <a:off x="4800" y="2530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1001</a:t>
                </a:r>
              </a:p>
            </p:txBody>
          </p:sp>
          <p:sp>
            <p:nvSpPr>
              <p:cNvPr id="21542" name="Rectangle 36"/>
              <p:cNvSpPr>
                <a:spLocks noChangeArrowheads="1"/>
              </p:cNvSpPr>
              <p:nvPr/>
            </p:nvSpPr>
            <p:spPr bwMode="auto">
              <a:xfrm>
                <a:off x="4224" y="267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A</a:t>
                </a:r>
              </a:p>
            </p:txBody>
          </p:sp>
          <p:sp>
            <p:nvSpPr>
              <p:cNvPr id="21543" name="Rectangle 37"/>
              <p:cNvSpPr>
                <a:spLocks noChangeArrowheads="1"/>
              </p:cNvSpPr>
              <p:nvPr/>
            </p:nvSpPr>
            <p:spPr bwMode="auto">
              <a:xfrm>
                <a:off x="4512" y="267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10</a:t>
                </a:r>
              </a:p>
            </p:txBody>
          </p:sp>
          <p:sp>
            <p:nvSpPr>
              <p:cNvPr id="21544" name="Rectangle 38"/>
              <p:cNvSpPr>
                <a:spLocks noChangeArrowheads="1"/>
              </p:cNvSpPr>
              <p:nvPr/>
            </p:nvSpPr>
            <p:spPr bwMode="auto">
              <a:xfrm>
                <a:off x="4800" y="2674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1010</a:t>
                </a:r>
              </a:p>
            </p:txBody>
          </p:sp>
          <p:sp>
            <p:nvSpPr>
              <p:cNvPr id="21545" name="Rectangle 39"/>
              <p:cNvSpPr>
                <a:spLocks noChangeArrowheads="1"/>
              </p:cNvSpPr>
              <p:nvPr/>
            </p:nvSpPr>
            <p:spPr bwMode="auto">
              <a:xfrm>
                <a:off x="4224" y="281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B</a:t>
                </a:r>
              </a:p>
            </p:txBody>
          </p:sp>
          <p:sp>
            <p:nvSpPr>
              <p:cNvPr id="21546" name="Rectangle 40"/>
              <p:cNvSpPr>
                <a:spLocks noChangeArrowheads="1"/>
              </p:cNvSpPr>
              <p:nvPr/>
            </p:nvSpPr>
            <p:spPr bwMode="auto">
              <a:xfrm>
                <a:off x="4512" y="281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11</a:t>
                </a:r>
              </a:p>
            </p:txBody>
          </p:sp>
          <p:sp>
            <p:nvSpPr>
              <p:cNvPr id="21547" name="Rectangle 41"/>
              <p:cNvSpPr>
                <a:spLocks noChangeArrowheads="1"/>
              </p:cNvSpPr>
              <p:nvPr/>
            </p:nvSpPr>
            <p:spPr bwMode="auto">
              <a:xfrm>
                <a:off x="4800" y="2818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1011</a:t>
                </a:r>
              </a:p>
            </p:txBody>
          </p:sp>
          <p:sp>
            <p:nvSpPr>
              <p:cNvPr id="21548" name="Rectangle 42"/>
              <p:cNvSpPr>
                <a:spLocks noChangeArrowheads="1"/>
              </p:cNvSpPr>
              <p:nvPr/>
            </p:nvSpPr>
            <p:spPr bwMode="auto">
              <a:xfrm>
                <a:off x="4224" y="296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C</a:t>
                </a:r>
              </a:p>
            </p:txBody>
          </p:sp>
          <p:sp>
            <p:nvSpPr>
              <p:cNvPr id="21549" name="Rectangle 43"/>
              <p:cNvSpPr>
                <a:spLocks noChangeArrowheads="1"/>
              </p:cNvSpPr>
              <p:nvPr/>
            </p:nvSpPr>
            <p:spPr bwMode="auto">
              <a:xfrm>
                <a:off x="4512" y="296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12</a:t>
                </a:r>
              </a:p>
            </p:txBody>
          </p:sp>
          <p:sp>
            <p:nvSpPr>
              <p:cNvPr id="21550" name="Rectangle 44"/>
              <p:cNvSpPr>
                <a:spLocks noChangeArrowheads="1"/>
              </p:cNvSpPr>
              <p:nvPr/>
            </p:nvSpPr>
            <p:spPr bwMode="auto">
              <a:xfrm>
                <a:off x="4800" y="2962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1100</a:t>
                </a:r>
              </a:p>
            </p:txBody>
          </p:sp>
          <p:sp>
            <p:nvSpPr>
              <p:cNvPr id="21551" name="Rectangle 45"/>
              <p:cNvSpPr>
                <a:spLocks noChangeArrowheads="1"/>
              </p:cNvSpPr>
              <p:nvPr/>
            </p:nvSpPr>
            <p:spPr bwMode="auto">
              <a:xfrm>
                <a:off x="4224" y="310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D</a:t>
                </a:r>
              </a:p>
            </p:txBody>
          </p:sp>
          <p:sp>
            <p:nvSpPr>
              <p:cNvPr id="21552" name="Rectangle 46"/>
              <p:cNvSpPr>
                <a:spLocks noChangeArrowheads="1"/>
              </p:cNvSpPr>
              <p:nvPr/>
            </p:nvSpPr>
            <p:spPr bwMode="auto">
              <a:xfrm>
                <a:off x="4512" y="310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13</a:t>
                </a:r>
              </a:p>
            </p:txBody>
          </p:sp>
          <p:sp>
            <p:nvSpPr>
              <p:cNvPr id="21553" name="Rectangle 47"/>
              <p:cNvSpPr>
                <a:spLocks noChangeArrowheads="1"/>
              </p:cNvSpPr>
              <p:nvPr/>
            </p:nvSpPr>
            <p:spPr bwMode="auto">
              <a:xfrm>
                <a:off x="4800" y="3106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1101</a:t>
                </a:r>
              </a:p>
            </p:txBody>
          </p:sp>
          <p:sp>
            <p:nvSpPr>
              <p:cNvPr id="21554" name="Rectangle 48"/>
              <p:cNvSpPr>
                <a:spLocks noChangeArrowheads="1"/>
              </p:cNvSpPr>
              <p:nvPr/>
            </p:nvSpPr>
            <p:spPr bwMode="auto">
              <a:xfrm>
                <a:off x="4224" y="325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E</a:t>
                </a:r>
              </a:p>
            </p:txBody>
          </p:sp>
          <p:sp>
            <p:nvSpPr>
              <p:cNvPr id="21555" name="Rectangle 49"/>
              <p:cNvSpPr>
                <a:spLocks noChangeArrowheads="1"/>
              </p:cNvSpPr>
              <p:nvPr/>
            </p:nvSpPr>
            <p:spPr bwMode="auto">
              <a:xfrm>
                <a:off x="4512" y="325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14</a:t>
                </a:r>
              </a:p>
            </p:txBody>
          </p:sp>
          <p:sp>
            <p:nvSpPr>
              <p:cNvPr id="21556" name="Rectangle 50"/>
              <p:cNvSpPr>
                <a:spLocks noChangeArrowheads="1"/>
              </p:cNvSpPr>
              <p:nvPr/>
            </p:nvSpPr>
            <p:spPr bwMode="auto">
              <a:xfrm>
                <a:off x="4800" y="3250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1110</a:t>
                </a:r>
              </a:p>
            </p:txBody>
          </p:sp>
          <p:sp>
            <p:nvSpPr>
              <p:cNvPr id="21557" name="Rectangle 51"/>
              <p:cNvSpPr>
                <a:spLocks noChangeArrowheads="1"/>
              </p:cNvSpPr>
              <p:nvPr/>
            </p:nvSpPr>
            <p:spPr bwMode="auto">
              <a:xfrm>
                <a:off x="4224" y="339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F</a:t>
                </a:r>
              </a:p>
            </p:txBody>
          </p:sp>
          <p:sp>
            <p:nvSpPr>
              <p:cNvPr id="21558" name="Rectangle 52"/>
              <p:cNvSpPr>
                <a:spLocks noChangeArrowheads="1"/>
              </p:cNvSpPr>
              <p:nvPr/>
            </p:nvSpPr>
            <p:spPr bwMode="auto">
              <a:xfrm>
                <a:off x="4512" y="3394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15</a:t>
                </a:r>
              </a:p>
            </p:txBody>
          </p:sp>
          <p:sp>
            <p:nvSpPr>
              <p:cNvPr id="21559" name="Rectangle 53"/>
              <p:cNvSpPr>
                <a:spLocks noChangeArrowheads="1"/>
              </p:cNvSpPr>
              <p:nvPr/>
            </p:nvSpPr>
            <p:spPr bwMode="auto">
              <a:xfrm>
                <a:off x="4800" y="3394"/>
                <a:ext cx="528" cy="14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>
                    <a:latin typeface="Courier New" charset="0"/>
                  </a:rPr>
                  <a:t>1111</a:t>
                </a:r>
              </a:p>
            </p:txBody>
          </p:sp>
        </p:grpSp>
        <p:sp>
          <p:nvSpPr>
            <p:cNvPr id="21509" name="Text Box 54"/>
            <p:cNvSpPr txBox="1">
              <a:spLocks noChangeArrowheads="1"/>
            </p:cNvSpPr>
            <p:nvPr/>
          </p:nvSpPr>
          <p:spPr bwMode="auto">
            <a:xfrm rot="-2317468">
              <a:off x="4270" y="943"/>
              <a:ext cx="3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>
                  <a:latin typeface="Helvetica" charset="0"/>
                </a:rPr>
                <a:t>Hex</a:t>
              </a:r>
            </a:p>
          </p:txBody>
        </p:sp>
        <p:sp>
          <p:nvSpPr>
            <p:cNvPr id="21510" name="Text Box 55"/>
            <p:cNvSpPr txBox="1">
              <a:spLocks noChangeArrowheads="1"/>
            </p:cNvSpPr>
            <p:nvPr/>
          </p:nvSpPr>
          <p:spPr bwMode="auto">
            <a:xfrm rot="-2317468">
              <a:off x="4527" y="853"/>
              <a:ext cx="6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>
                  <a:latin typeface="Helvetica" charset="0"/>
                </a:rPr>
                <a:t>Decimal</a:t>
              </a:r>
            </a:p>
          </p:txBody>
        </p:sp>
        <p:sp>
          <p:nvSpPr>
            <p:cNvPr id="21511" name="Text Box 56"/>
            <p:cNvSpPr txBox="1">
              <a:spLocks noChangeArrowheads="1"/>
            </p:cNvSpPr>
            <p:nvPr/>
          </p:nvSpPr>
          <p:spPr bwMode="auto">
            <a:xfrm rot="-2317468">
              <a:off x="4826" y="886"/>
              <a:ext cx="5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>
                  <a:latin typeface="Helvetica" charset="0"/>
                </a:rPr>
                <a:t>Binary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4400">
                <a:latin typeface="Franklin Gothic Book" charset="0"/>
              </a:rPr>
              <a:t>Arithmetic in bases</a:t>
            </a:r>
          </a:p>
        </p:txBody>
      </p:sp>
      <p:sp>
        <p:nvSpPr>
          <p:cNvPr id="22530" name="Content Placeholder 2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>
                <a:latin typeface="Franklin Gothic Book" charset="0"/>
              </a:rPr>
              <a:t>base 10</a:t>
            </a:r>
          </a:p>
          <a:p>
            <a:pPr lvl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>
                <a:latin typeface="Franklin Gothic Book" charset="0"/>
              </a:rPr>
              <a:t>Addition – carry</a:t>
            </a:r>
          </a:p>
          <a:p>
            <a:pPr lvl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>
                <a:latin typeface="Franklin Gothic Book" charset="0"/>
              </a:rPr>
              <a:t>Subtraction -- borrow</a:t>
            </a:r>
          </a:p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>
                <a:latin typeface="Franklin Gothic Book" charset="0"/>
              </a:rPr>
              <a:t>base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4"/>
          <p:cNvSpPr txBox="1">
            <a:spLocks noChangeArrowheads="1"/>
          </p:cNvSpPr>
          <p:nvPr/>
        </p:nvSpPr>
        <p:spPr bwMode="auto">
          <a:xfrm>
            <a:off x="381000" y="533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4000">
                <a:latin typeface="Calibri" charset="0"/>
              </a:rPr>
              <a:t>Digital World</a:t>
            </a:r>
          </a:p>
        </p:txBody>
      </p:sp>
      <p:sp>
        <p:nvSpPr>
          <p:cNvPr id="23554" name="Rectangle 5"/>
          <p:cNvSpPr txBox="1">
            <a:spLocks noChangeArrowheads="1"/>
          </p:cNvSpPr>
          <p:nvPr/>
        </p:nvSpPr>
        <p:spPr bwMode="auto">
          <a:xfrm>
            <a:off x="381000" y="1600200"/>
            <a:ext cx="82296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 lvl="1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3200" b="0">
                <a:latin typeface="Calibri" charset="0"/>
              </a:rPr>
              <a:t>Why not decimal numbers in computers ?</a:t>
            </a: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>
                <a:latin typeface="Calibri" charset="0"/>
              </a:rPr>
              <a:t>Difficult to store</a:t>
            </a:r>
          </a:p>
          <a:p>
            <a:pPr lvl="3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>
                <a:latin typeface="Calibri" charset="0"/>
              </a:rPr>
              <a:t>ENIAC (1</a:t>
            </a:r>
            <a:r>
              <a:rPr lang="en-US" altLang="en-US" b="0" baseline="30000">
                <a:latin typeface="Calibri" charset="0"/>
              </a:rPr>
              <a:t>st</a:t>
            </a:r>
            <a:r>
              <a:rPr lang="en-US" altLang="en-US" b="0">
                <a:latin typeface="Calibri" charset="0"/>
              </a:rPr>
              <a:t> electronic computer) used 10 vacuum tubes</a:t>
            </a: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>
                <a:latin typeface="Calibri" charset="0"/>
              </a:rPr>
              <a:t>Difficult to transmit</a:t>
            </a:r>
          </a:p>
          <a:p>
            <a:pPr lvl="2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>
                <a:latin typeface="Calibri" charset="0"/>
              </a:rPr>
              <a:t>Messy for digital logic functions</a:t>
            </a:r>
          </a:p>
          <a:p>
            <a:pPr lvl="3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>
                <a:latin typeface="Calibri" charset="0"/>
              </a:rPr>
              <a:t>Addition, multiplication, etc.</a:t>
            </a:r>
          </a:p>
          <a:p>
            <a:pPr lvl="3" eaLnBrk="1" hangingPunct="1">
              <a:spcBef>
                <a:spcPct val="20000"/>
              </a:spcBef>
              <a:buFont typeface="Arial" charset="0"/>
              <a:buChar char="•"/>
            </a:pPr>
            <a:endParaRPr lang="en-US" altLang="en-US" b="0">
              <a:latin typeface="Calibri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6"/>
          <p:cNvSpPr txBox="1">
            <a:spLocks noChangeArrowheads="1"/>
          </p:cNvSpPr>
          <p:nvPr/>
        </p:nvSpPr>
        <p:spPr bwMode="auto">
          <a:xfrm>
            <a:off x="404813" y="247650"/>
            <a:ext cx="8716962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4600">
                <a:solidFill>
                  <a:schemeClr val="accent1"/>
                </a:solidFill>
                <a:latin typeface="Calibri" charset="0"/>
              </a:rPr>
              <a:t>Binary Representations</a:t>
            </a:r>
          </a:p>
        </p:txBody>
      </p:sp>
      <p:sp>
        <p:nvSpPr>
          <p:cNvPr id="24578" name="Rectangle 27"/>
          <p:cNvSpPr txBox="1">
            <a:spLocks noChangeArrowheads="1"/>
          </p:cNvSpPr>
          <p:nvPr/>
        </p:nvSpPr>
        <p:spPr bwMode="auto">
          <a:xfrm>
            <a:off x="457200" y="914400"/>
            <a:ext cx="8382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2800" b="0">
                <a:latin typeface="Calibri" charset="0"/>
              </a:rPr>
              <a:t>Shannon’s Information Theory</a:t>
            </a:r>
          </a:p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2800" b="0">
                <a:latin typeface="Calibri" charset="0"/>
              </a:rPr>
              <a:t>Electronic Implementation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Easy to store with bistable elements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endParaRPr lang="en-US" altLang="en-US" b="0">
              <a:latin typeface="Calibri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Reliably transmitted on noisy and inaccurate wires </a:t>
            </a:r>
            <a:endParaRPr lang="en-US" altLang="en-US" sz="3200" b="0">
              <a:latin typeface="Calibri" charset="0"/>
            </a:endParaRPr>
          </a:p>
          <a:p>
            <a:pPr>
              <a:spcBef>
                <a:spcPct val="20000"/>
              </a:spcBef>
              <a:buFont typeface="Arial" charset="0"/>
              <a:buChar char="•"/>
            </a:pPr>
            <a:endParaRPr lang="en-US" altLang="en-US" sz="3200" b="0">
              <a:latin typeface="Calibri" charset="0"/>
            </a:endParaRPr>
          </a:p>
          <a:p>
            <a:pPr>
              <a:spcBef>
                <a:spcPct val="20000"/>
              </a:spcBef>
              <a:buFont typeface="Arial" charset="0"/>
              <a:buChar char="•"/>
            </a:pPr>
            <a:endParaRPr lang="en-US" altLang="en-US" sz="3200" b="0">
              <a:latin typeface="Calibri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endParaRPr lang="en-US" altLang="en-US" sz="2800" b="0">
              <a:latin typeface="Calibri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endParaRPr lang="en-US" altLang="en-US" b="0">
              <a:latin typeface="Calibri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Straightforward implementation of arithmetic functions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endParaRPr lang="en-US" altLang="en-US" b="0">
              <a:latin typeface="Calibri" charset="0"/>
            </a:endParaRPr>
          </a:p>
        </p:txBody>
      </p:sp>
      <p:grpSp>
        <p:nvGrpSpPr>
          <p:cNvPr id="24579" name="Group 4"/>
          <p:cNvGrpSpPr>
            <a:grpSpLocks/>
          </p:cNvGrpSpPr>
          <p:nvPr/>
        </p:nvGrpSpPr>
        <p:grpSpPr bwMode="auto">
          <a:xfrm>
            <a:off x="1981200" y="2743200"/>
            <a:ext cx="6477000" cy="1828800"/>
            <a:chOff x="192" y="2400"/>
            <a:chExt cx="4320" cy="1383"/>
          </a:xfrm>
        </p:grpSpPr>
        <p:sp>
          <p:nvSpPr>
            <p:cNvPr id="24580" name="Rectangle 5"/>
            <p:cNvSpPr>
              <a:spLocks noChangeArrowheads="1"/>
            </p:cNvSpPr>
            <p:nvPr/>
          </p:nvSpPr>
          <p:spPr bwMode="auto">
            <a:xfrm>
              <a:off x="768" y="3408"/>
              <a:ext cx="3744" cy="24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 b="0">
                <a:solidFill>
                  <a:schemeClr val="bg2"/>
                </a:solidFill>
              </a:endParaRPr>
            </a:p>
          </p:txBody>
        </p:sp>
        <p:sp>
          <p:nvSpPr>
            <p:cNvPr id="24581" name="Rectangle 6"/>
            <p:cNvSpPr>
              <a:spLocks noChangeArrowheads="1"/>
            </p:cNvSpPr>
            <p:nvPr/>
          </p:nvSpPr>
          <p:spPr bwMode="auto">
            <a:xfrm>
              <a:off x="768" y="2784"/>
              <a:ext cx="3744" cy="24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 b="0">
                <a:solidFill>
                  <a:schemeClr val="bg2"/>
                </a:solidFill>
              </a:endParaRPr>
            </a:p>
          </p:txBody>
        </p:sp>
        <p:sp>
          <p:nvSpPr>
            <p:cNvPr id="24582" name="Freeform 7"/>
            <p:cNvSpPr>
              <a:spLocks/>
            </p:cNvSpPr>
            <p:nvPr/>
          </p:nvSpPr>
          <p:spPr bwMode="auto">
            <a:xfrm>
              <a:off x="768" y="2884"/>
              <a:ext cx="3732" cy="716"/>
            </a:xfrm>
            <a:custGeom>
              <a:avLst/>
              <a:gdLst>
                <a:gd name="T0" fmla="*/ 0 w 3578"/>
                <a:gd name="T1" fmla="*/ 706 h 716"/>
                <a:gd name="T2" fmla="*/ 431 w 3578"/>
                <a:gd name="T3" fmla="*/ 653 h 716"/>
                <a:gd name="T4" fmla="*/ 809 w 3578"/>
                <a:gd name="T5" fmla="*/ 643 h 716"/>
                <a:gd name="T6" fmla="*/ 1505 w 3578"/>
                <a:gd name="T7" fmla="*/ 685 h 716"/>
                <a:gd name="T8" fmla="*/ 2110 w 3578"/>
                <a:gd name="T9" fmla="*/ 653 h 716"/>
                <a:gd name="T10" fmla="*/ 2463 w 3578"/>
                <a:gd name="T11" fmla="*/ 632 h 716"/>
                <a:gd name="T12" fmla="*/ 2809 w 3578"/>
                <a:gd name="T13" fmla="*/ 664 h 716"/>
                <a:gd name="T14" fmla="*/ 3241 w 3578"/>
                <a:gd name="T15" fmla="*/ 674 h 716"/>
                <a:gd name="T16" fmla="*/ 3504 w 3578"/>
                <a:gd name="T17" fmla="*/ 664 h 716"/>
                <a:gd name="T18" fmla="*/ 3586 w 3578"/>
                <a:gd name="T19" fmla="*/ 653 h 716"/>
                <a:gd name="T20" fmla="*/ 3706 w 3578"/>
                <a:gd name="T21" fmla="*/ 569 h 716"/>
                <a:gd name="T22" fmla="*/ 4025 w 3578"/>
                <a:gd name="T23" fmla="*/ 253 h 716"/>
                <a:gd name="T24" fmla="*/ 4250 w 3578"/>
                <a:gd name="T25" fmla="*/ 116 h 716"/>
                <a:gd name="T26" fmla="*/ 4514 w 3578"/>
                <a:gd name="T27" fmla="*/ 53 h 716"/>
                <a:gd name="T28" fmla="*/ 5031 w 3578"/>
                <a:gd name="T29" fmla="*/ 21 h 716"/>
                <a:gd name="T30" fmla="*/ 5582 w 3578"/>
                <a:gd name="T31" fmla="*/ 32 h 716"/>
                <a:gd name="T32" fmla="*/ 5698 w 3578"/>
                <a:gd name="T33" fmla="*/ 42 h 716"/>
                <a:gd name="T34" fmla="*/ 6193 w 3578"/>
                <a:gd name="T35" fmla="*/ 11 h 716"/>
                <a:gd name="T36" fmla="*/ 6365 w 3578"/>
                <a:gd name="T37" fmla="*/ 42 h 716"/>
                <a:gd name="T38" fmla="*/ 6566 w 3578"/>
                <a:gd name="T39" fmla="*/ 53 h 716"/>
                <a:gd name="T40" fmla="*/ 7032 w 3578"/>
                <a:gd name="T41" fmla="*/ 42 h 716"/>
                <a:gd name="T42" fmla="*/ 7204 w 3578"/>
                <a:gd name="T43" fmla="*/ 64 h 716"/>
                <a:gd name="T44" fmla="*/ 7464 w 3578"/>
                <a:gd name="T45" fmla="*/ 11 h 716"/>
                <a:gd name="T46" fmla="*/ 7610 w 3578"/>
                <a:gd name="T47" fmla="*/ 0 h 716"/>
                <a:gd name="T48" fmla="*/ 8363 w 3578"/>
                <a:gd name="T49" fmla="*/ 411 h 716"/>
                <a:gd name="T50" fmla="*/ 8681 w 3578"/>
                <a:gd name="T51" fmla="*/ 643 h 716"/>
                <a:gd name="T52" fmla="*/ 9200 w 3578"/>
                <a:gd name="T53" fmla="*/ 716 h 716"/>
                <a:gd name="T54" fmla="*/ 9459 w 3578"/>
                <a:gd name="T55" fmla="*/ 706 h 716"/>
                <a:gd name="T56" fmla="*/ 9518 w 3578"/>
                <a:gd name="T57" fmla="*/ 674 h 716"/>
                <a:gd name="T58" fmla="*/ 9838 w 3578"/>
                <a:gd name="T59" fmla="*/ 653 h 71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3578"/>
                <a:gd name="T91" fmla="*/ 0 h 716"/>
                <a:gd name="T92" fmla="*/ 3578 w 3578"/>
                <a:gd name="T93" fmla="*/ 716 h 71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3578" h="716">
                  <a:moveTo>
                    <a:pt x="0" y="706"/>
                  </a:moveTo>
                  <a:cubicBezTo>
                    <a:pt x="54" y="694"/>
                    <a:pt x="101" y="657"/>
                    <a:pt x="157" y="653"/>
                  </a:cubicBezTo>
                  <a:cubicBezTo>
                    <a:pt x="202" y="649"/>
                    <a:pt x="248" y="646"/>
                    <a:pt x="294" y="643"/>
                  </a:cubicBezTo>
                  <a:cubicBezTo>
                    <a:pt x="377" y="658"/>
                    <a:pt x="462" y="670"/>
                    <a:pt x="547" y="685"/>
                  </a:cubicBezTo>
                  <a:cubicBezTo>
                    <a:pt x="628" y="655"/>
                    <a:pt x="660" y="660"/>
                    <a:pt x="768" y="653"/>
                  </a:cubicBezTo>
                  <a:cubicBezTo>
                    <a:pt x="792" y="648"/>
                    <a:pt x="875" y="632"/>
                    <a:pt x="894" y="632"/>
                  </a:cubicBezTo>
                  <a:cubicBezTo>
                    <a:pt x="938" y="632"/>
                    <a:pt x="977" y="659"/>
                    <a:pt x="1021" y="664"/>
                  </a:cubicBezTo>
                  <a:cubicBezTo>
                    <a:pt x="1073" y="669"/>
                    <a:pt x="1125" y="670"/>
                    <a:pt x="1178" y="674"/>
                  </a:cubicBezTo>
                  <a:cubicBezTo>
                    <a:pt x="1209" y="670"/>
                    <a:pt x="1241" y="669"/>
                    <a:pt x="1273" y="664"/>
                  </a:cubicBezTo>
                  <a:cubicBezTo>
                    <a:pt x="1284" y="662"/>
                    <a:pt x="1298" y="661"/>
                    <a:pt x="1305" y="653"/>
                  </a:cubicBezTo>
                  <a:cubicBezTo>
                    <a:pt x="1324" y="628"/>
                    <a:pt x="1329" y="595"/>
                    <a:pt x="1347" y="569"/>
                  </a:cubicBezTo>
                  <a:cubicBezTo>
                    <a:pt x="1416" y="462"/>
                    <a:pt x="1419" y="362"/>
                    <a:pt x="1463" y="253"/>
                  </a:cubicBezTo>
                  <a:cubicBezTo>
                    <a:pt x="1480" y="209"/>
                    <a:pt x="1520" y="153"/>
                    <a:pt x="1547" y="116"/>
                  </a:cubicBezTo>
                  <a:cubicBezTo>
                    <a:pt x="1568" y="86"/>
                    <a:pt x="1605" y="60"/>
                    <a:pt x="1642" y="53"/>
                  </a:cubicBezTo>
                  <a:cubicBezTo>
                    <a:pt x="1704" y="40"/>
                    <a:pt x="1831" y="21"/>
                    <a:pt x="1831" y="21"/>
                  </a:cubicBezTo>
                  <a:cubicBezTo>
                    <a:pt x="1897" y="24"/>
                    <a:pt x="1964" y="26"/>
                    <a:pt x="2031" y="32"/>
                  </a:cubicBezTo>
                  <a:cubicBezTo>
                    <a:pt x="2045" y="33"/>
                    <a:pt x="2058" y="42"/>
                    <a:pt x="2073" y="42"/>
                  </a:cubicBezTo>
                  <a:cubicBezTo>
                    <a:pt x="2130" y="42"/>
                    <a:pt x="2194" y="20"/>
                    <a:pt x="2252" y="11"/>
                  </a:cubicBezTo>
                  <a:cubicBezTo>
                    <a:pt x="2274" y="17"/>
                    <a:pt x="2292" y="35"/>
                    <a:pt x="2315" y="42"/>
                  </a:cubicBezTo>
                  <a:cubicBezTo>
                    <a:pt x="2338" y="49"/>
                    <a:pt x="2364" y="49"/>
                    <a:pt x="2389" y="53"/>
                  </a:cubicBezTo>
                  <a:cubicBezTo>
                    <a:pt x="2450" y="36"/>
                    <a:pt x="2493" y="31"/>
                    <a:pt x="2557" y="42"/>
                  </a:cubicBezTo>
                  <a:cubicBezTo>
                    <a:pt x="2578" y="49"/>
                    <a:pt x="2598" y="71"/>
                    <a:pt x="2620" y="64"/>
                  </a:cubicBezTo>
                  <a:cubicBezTo>
                    <a:pt x="2654" y="52"/>
                    <a:pt x="2679" y="18"/>
                    <a:pt x="2715" y="11"/>
                  </a:cubicBezTo>
                  <a:cubicBezTo>
                    <a:pt x="2732" y="7"/>
                    <a:pt x="2750" y="3"/>
                    <a:pt x="2768" y="0"/>
                  </a:cubicBezTo>
                  <a:cubicBezTo>
                    <a:pt x="2929" y="161"/>
                    <a:pt x="2957" y="167"/>
                    <a:pt x="3041" y="411"/>
                  </a:cubicBezTo>
                  <a:cubicBezTo>
                    <a:pt x="3071" y="498"/>
                    <a:pt x="3069" y="597"/>
                    <a:pt x="3157" y="643"/>
                  </a:cubicBezTo>
                  <a:cubicBezTo>
                    <a:pt x="3289" y="619"/>
                    <a:pt x="3221" y="590"/>
                    <a:pt x="3347" y="716"/>
                  </a:cubicBezTo>
                  <a:cubicBezTo>
                    <a:pt x="3378" y="712"/>
                    <a:pt x="3411" y="716"/>
                    <a:pt x="3441" y="706"/>
                  </a:cubicBezTo>
                  <a:cubicBezTo>
                    <a:pt x="3452" y="701"/>
                    <a:pt x="3452" y="681"/>
                    <a:pt x="3462" y="674"/>
                  </a:cubicBezTo>
                  <a:cubicBezTo>
                    <a:pt x="3489" y="652"/>
                    <a:pt x="3545" y="653"/>
                    <a:pt x="3578" y="65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3" name="Line 8"/>
            <p:cNvSpPr>
              <a:spLocks noChangeShapeType="1"/>
            </p:cNvSpPr>
            <p:nvPr/>
          </p:nvSpPr>
          <p:spPr bwMode="auto">
            <a:xfrm flipH="1">
              <a:off x="624" y="3648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4" name="Line 9"/>
            <p:cNvSpPr>
              <a:spLocks noChangeShapeType="1"/>
            </p:cNvSpPr>
            <p:nvPr/>
          </p:nvSpPr>
          <p:spPr bwMode="auto">
            <a:xfrm flipH="1">
              <a:off x="624" y="2784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5" name="Text Box 10"/>
            <p:cNvSpPr txBox="1">
              <a:spLocks noChangeArrowheads="1"/>
            </p:cNvSpPr>
            <p:nvPr/>
          </p:nvSpPr>
          <p:spPr bwMode="auto">
            <a:xfrm>
              <a:off x="192" y="3552"/>
              <a:ext cx="4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 b="0">
                  <a:latin typeface="Helvetica" charset="0"/>
                </a:rPr>
                <a:t>0.0V</a:t>
              </a:r>
            </a:p>
          </p:txBody>
        </p:sp>
        <p:sp>
          <p:nvSpPr>
            <p:cNvPr id="24586" name="Text Box 11"/>
            <p:cNvSpPr txBox="1">
              <a:spLocks noChangeArrowheads="1"/>
            </p:cNvSpPr>
            <p:nvPr/>
          </p:nvSpPr>
          <p:spPr bwMode="auto">
            <a:xfrm>
              <a:off x="192" y="3312"/>
              <a:ext cx="4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 b="0">
                  <a:latin typeface="Helvetica" charset="0"/>
                </a:rPr>
                <a:t>0.5V</a:t>
              </a:r>
            </a:p>
          </p:txBody>
        </p:sp>
        <p:sp>
          <p:nvSpPr>
            <p:cNvPr id="24587" name="Text Box 12"/>
            <p:cNvSpPr txBox="1">
              <a:spLocks noChangeArrowheads="1"/>
            </p:cNvSpPr>
            <p:nvPr/>
          </p:nvSpPr>
          <p:spPr bwMode="auto">
            <a:xfrm>
              <a:off x="192" y="2928"/>
              <a:ext cx="4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 b="0">
                  <a:latin typeface="Helvetica" charset="0"/>
                </a:rPr>
                <a:t>2.8V</a:t>
              </a:r>
            </a:p>
          </p:txBody>
        </p:sp>
        <p:sp>
          <p:nvSpPr>
            <p:cNvPr id="24588" name="Text Box 13"/>
            <p:cNvSpPr txBox="1">
              <a:spLocks noChangeArrowheads="1"/>
            </p:cNvSpPr>
            <p:nvPr/>
          </p:nvSpPr>
          <p:spPr bwMode="auto">
            <a:xfrm>
              <a:off x="192" y="2688"/>
              <a:ext cx="4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 b="0">
                  <a:latin typeface="Helvetica" charset="0"/>
                </a:rPr>
                <a:t>3.3V</a:t>
              </a:r>
            </a:p>
          </p:txBody>
        </p:sp>
        <p:sp>
          <p:nvSpPr>
            <p:cNvPr id="24589" name="Line 14"/>
            <p:cNvSpPr>
              <a:spLocks noChangeShapeType="1"/>
            </p:cNvSpPr>
            <p:nvPr/>
          </p:nvSpPr>
          <p:spPr bwMode="auto">
            <a:xfrm>
              <a:off x="768" y="2496"/>
              <a:ext cx="1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0" name="Line 15"/>
            <p:cNvSpPr>
              <a:spLocks noChangeShapeType="1"/>
            </p:cNvSpPr>
            <p:nvPr/>
          </p:nvSpPr>
          <p:spPr bwMode="auto">
            <a:xfrm>
              <a:off x="2352" y="2496"/>
              <a:ext cx="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1" name="Line 16"/>
            <p:cNvSpPr>
              <a:spLocks noChangeShapeType="1"/>
            </p:cNvSpPr>
            <p:nvPr/>
          </p:nvSpPr>
          <p:spPr bwMode="auto">
            <a:xfrm>
              <a:off x="3984" y="2496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2" name="Line 17"/>
            <p:cNvSpPr>
              <a:spLocks noChangeShapeType="1"/>
            </p:cNvSpPr>
            <p:nvPr/>
          </p:nvSpPr>
          <p:spPr bwMode="auto">
            <a:xfrm>
              <a:off x="2160" y="2448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3" name="Line 18"/>
            <p:cNvSpPr>
              <a:spLocks noChangeShapeType="1"/>
            </p:cNvSpPr>
            <p:nvPr/>
          </p:nvSpPr>
          <p:spPr bwMode="auto">
            <a:xfrm>
              <a:off x="2352" y="2448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4" name="Line 19"/>
            <p:cNvSpPr>
              <a:spLocks noChangeShapeType="1"/>
            </p:cNvSpPr>
            <p:nvPr/>
          </p:nvSpPr>
          <p:spPr bwMode="auto">
            <a:xfrm>
              <a:off x="3792" y="2448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5" name="Line 20"/>
            <p:cNvSpPr>
              <a:spLocks noChangeShapeType="1"/>
            </p:cNvSpPr>
            <p:nvPr/>
          </p:nvSpPr>
          <p:spPr bwMode="auto">
            <a:xfrm>
              <a:off x="3984" y="2448"/>
              <a:ext cx="0" cy="9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6" name="Text Box 21"/>
            <p:cNvSpPr txBox="1">
              <a:spLocks noChangeArrowheads="1"/>
            </p:cNvSpPr>
            <p:nvPr/>
          </p:nvSpPr>
          <p:spPr bwMode="auto">
            <a:xfrm>
              <a:off x="1296" y="2400"/>
              <a:ext cx="298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 b="0">
                  <a:latin typeface="Helvetica" charset="0"/>
                </a:rPr>
                <a:t>0</a:t>
              </a:r>
            </a:p>
          </p:txBody>
        </p:sp>
        <p:sp>
          <p:nvSpPr>
            <p:cNvPr id="24597" name="Text Box 22"/>
            <p:cNvSpPr txBox="1">
              <a:spLocks noChangeArrowheads="1"/>
            </p:cNvSpPr>
            <p:nvPr/>
          </p:nvSpPr>
          <p:spPr bwMode="auto">
            <a:xfrm>
              <a:off x="2832" y="2400"/>
              <a:ext cx="298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 b="0">
                  <a:latin typeface="Helvetica" charset="0"/>
                </a:rPr>
                <a:t>1</a:t>
              </a:r>
            </a:p>
          </p:txBody>
        </p:sp>
        <p:sp>
          <p:nvSpPr>
            <p:cNvPr id="24598" name="Text Box 23"/>
            <p:cNvSpPr txBox="1">
              <a:spLocks noChangeArrowheads="1"/>
            </p:cNvSpPr>
            <p:nvPr/>
          </p:nvSpPr>
          <p:spPr bwMode="auto">
            <a:xfrm>
              <a:off x="4128" y="2400"/>
              <a:ext cx="192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 b="0">
                  <a:latin typeface="Helvetica" charset="0"/>
                </a:rPr>
                <a:t>0</a:t>
              </a:r>
            </a:p>
          </p:txBody>
        </p:sp>
        <p:sp>
          <p:nvSpPr>
            <p:cNvPr id="24599" name="Line 24"/>
            <p:cNvSpPr>
              <a:spLocks noChangeShapeType="1"/>
            </p:cNvSpPr>
            <p:nvPr/>
          </p:nvSpPr>
          <p:spPr bwMode="auto">
            <a:xfrm flipH="1">
              <a:off x="624" y="3408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0" name="Line 25"/>
            <p:cNvSpPr>
              <a:spLocks noChangeShapeType="1"/>
            </p:cNvSpPr>
            <p:nvPr/>
          </p:nvSpPr>
          <p:spPr bwMode="auto">
            <a:xfrm flipH="1">
              <a:off x="624" y="3024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87"/>
          <p:cNvSpPr txBox="1">
            <a:spLocks noChangeArrowheads="1"/>
          </p:cNvSpPr>
          <p:nvPr/>
        </p:nvSpPr>
        <p:spPr bwMode="auto">
          <a:xfrm>
            <a:off x="427038" y="228600"/>
            <a:ext cx="8716962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4600">
                <a:solidFill>
                  <a:schemeClr val="accent1"/>
                </a:solidFill>
                <a:latin typeface="Calibri" charset="0"/>
              </a:rPr>
              <a:t>2.1.2-2.1.5 Memory Words</a:t>
            </a:r>
          </a:p>
        </p:txBody>
      </p:sp>
      <p:sp>
        <p:nvSpPr>
          <p:cNvPr id="25602" name="Rectangle 88"/>
          <p:cNvSpPr txBox="1">
            <a:spLocks noChangeArrowheads="1"/>
          </p:cNvSpPr>
          <p:nvPr/>
        </p:nvSpPr>
        <p:spPr bwMode="auto">
          <a:xfrm>
            <a:off x="609600" y="1143000"/>
            <a:ext cx="8307388" cy="522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2800" b="0">
                <a:latin typeface="Calibri" charset="0"/>
              </a:rPr>
              <a:t>Numbers</a:t>
            </a:r>
          </a:p>
          <a:p>
            <a:pPr lvl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2800" b="0">
                <a:latin typeface="Calibri" charset="0"/>
              </a:rPr>
              <a:t>All in binaray – can be converted to octal, hex</a:t>
            </a:r>
          </a:p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ja-JP" sz="2800" b="0">
                <a:latin typeface="Calibri" charset="0"/>
              </a:rPr>
              <a:t>Characters</a:t>
            </a:r>
          </a:p>
          <a:p>
            <a:pPr lvl="1">
              <a:spcBef>
                <a:spcPct val="20000"/>
              </a:spcBef>
              <a:buFont typeface="Arial" charset="0"/>
              <a:buChar char="•"/>
            </a:pPr>
            <a:r>
              <a:rPr lang="en-US" altLang="ja-JP" sz="2800" b="0">
                <a:latin typeface="Calibri" charset="0"/>
              </a:rPr>
              <a:t>ASCII – 1-byte/char</a:t>
            </a:r>
          </a:p>
          <a:p>
            <a:pPr lvl="1">
              <a:spcBef>
                <a:spcPct val="20000"/>
              </a:spcBef>
              <a:buFont typeface="Arial" charset="0"/>
              <a:buChar char="•"/>
            </a:pPr>
            <a:r>
              <a:rPr lang="en-US" altLang="ja-JP" sz="2800" b="0">
                <a:latin typeface="Calibri" charset="0"/>
              </a:rPr>
              <a:t>Unicode – 2-byte/char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ja-JP" sz="2000" b="0">
                <a:latin typeface="Calibri" charset="0"/>
              </a:rPr>
              <a:t>Unicode-table.com/en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ja-JP" sz="2000" b="0">
                <a:latin typeface="Calibri" charset="0"/>
              </a:rPr>
              <a:t>http://www.tamasoft.co.jp/en/general-info/unicode.html</a:t>
            </a:r>
          </a:p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ja-JP" sz="2800" b="0">
                <a:latin typeface="Calibri" charset="0"/>
              </a:rPr>
              <a:t>Program codes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87"/>
          <p:cNvSpPr txBox="1">
            <a:spLocks noChangeArrowheads="1"/>
          </p:cNvSpPr>
          <p:nvPr/>
        </p:nvSpPr>
        <p:spPr bwMode="auto">
          <a:xfrm>
            <a:off x="404813" y="247650"/>
            <a:ext cx="8716962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4600">
                <a:solidFill>
                  <a:schemeClr val="accent1"/>
                </a:solidFill>
                <a:latin typeface="Calibri" charset="0"/>
              </a:rPr>
              <a:t>Bytes vs. Words</a:t>
            </a:r>
          </a:p>
        </p:txBody>
      </p:sp>
      <p:sp>
        <p:nvSpPr>
          <p:cNvPr id="26626" name="Rectangle 88"/>
          <p:cNvSpPr txBox="1">
            <a:spLocks noChangeArrowheads="1"/>
          </p:cNvSpPr>
          <p:nvPr/>
        </p:nvSpPr>
        <p:spPr bwMode="auto">
          <a:xfrm>
            <a:off x="304800" y="1066800"/>
            <a:ext cx="8307388" cy="522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2800" b="0">
                <a:latin typeface="Calibri" charset="0"/>
              </a:rPr>
              <a:t>Machine Has </a:t>
            </a:r>
            <a:r>
              <a:rPr lang="ja-JP" altLang="en-US" sz="2800" b="0">
                <a:latin typeface="Calibri" charset="0"/>
              </a:rPr>
              <a:t>“</a:t>
            </a:r>
            <a:r>
              <a:rPr lang="en-US" altLang="ja-JP" sz="2800" b="0">
                <a:latin typeface="Calibri" charset="0"/>
              </a:rPr>
              <a:t>Word Size</a:t>
            </a:r>
            <a:r>
              <a:rPr lang="ja-JP" altLang="en-US" sz="2800" b="0">
                <a:latin typeface="Calibri" charset="0"/>
              </a:rPr>
              <a:t>”</a:t>
            </a:r>
            <a:endParaRPr lang="en-US" altLang="ja-JP" sz="2800" b="0">
              <a:latin typeface="Calibri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Byte – a basic unit of information storage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Word – a unit accessed at one time</a:t>
            </a:r>
          </a:p>
          <a:p>
            <a:pPr lvl="2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Most current machines have 64-bit word (8 bytes)</a:t>
            </a:r>
          </a:p>
          <a:p>
            <a:pPr lvl="2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We limit to 32-bits (4 bytes) machines</a:t>
            </a:r>
          </a:p>
          <a:p>
            <a:pPr lvl="2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Machines support multiple data formats</a:t>
            </a:r>
          </a:p>
          <a:p>
            <a:pPr lvl="3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>
                <a:latin typeface="Calibri" charset="0"/>
              </a:rPr>
              <a:t>Fractions or multiples of word size</a:t>
            </a:r>
          </a:p>
          <a:p>
            <a:pPr lvl="3">
              <a:spcBef>
                <a:spcPct val="20000"/>
              </a:spcBef>
              <a:buFont typeface="Arial" charset="0"/>
              <a:buChar char="•"/>
            </a:pPr>
            <a:r>
              <a:rPr lang="en-US" altLang="en-US" b="0">
                <a:latin typeface="Calibri" charset="0"/>
              </a:rPr>
              <a:t>Always integral number of bytes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8"/>
          <p:cNvSpPr txBox="1">
            <a:spLocks noChangeArrowheads="1"/>
          </p:cNvSpPr>
          <p:nvPr/>
        </p:nvSpPr>
        <p:spPr bwMode="auto">
          <a:xfrm>
            <a:off x="404813" y="247650"/>
            <a:ext cx="8716962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4400">
                <a:latin typeface="Franklin Gothic Book" charset="0"/>
              </a:rPr>
              <a:t>Data Representations</a:t>
            </a:r>
          </a:p>
        </p:txBody>
      </p:sp>
      <p:graphicFrame>
        <p:nvGraphicFramePr>
          <p:cNvPr id="5" name="Group 4"/>
          <p:cNvGraphicFramePr>
            <a:graphicFrameLocks noGrp="1"/>
          </p:cNvGraphicFramePr>
          <p:nvPr/>
        </p:nvGraphicFramePr>
        <p:xfrm>
          <a:off x="1549400" y="1524000"/>
          <a:ext cx="6032500" cy="462280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 Bold" charset="0"/>
                          <a:ea typeface="Arial Narrow Bold" charset="0"/>
                          <a:cs typeface="Arial Narrow Bold" charset="0"/>
                          <a:sym typeface="Arial Narrow Bold" charset="0"/>
                        </a:rPr>
                        <a:t>C Data Type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 Bold" charset="0"/>
                          <a:ea typeface="Arial Narrow Bold" charset="0"/>
                          <a:cs typeface="Arial Narrow Bold" charset="0"/>
                          <a:sym typeface="Arial Narrow Bold" charset="0"/>
                        </a:rPr>
                        <a:t>Typical 32-bit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 Bold" charset="0"/>
                          <a:ea typeface="Arial Narrow Bold" charset="0"/>
                          <a:cs typeface="Arial Narrow Bold" charset="0"/>
                          <a:sym typeface="Arial Narrow Bold" charset="0"/>
                        </a:rPr>
                        <a:t>Intel IA32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 Bold" charset="0"/>
                          <a:ea typeface="Arial Narrow Bold" charset="0"/>
                          <a:cs typeface="Arial Narrow Bold" charset="0"/>
                          <a:sym typeface="Arial Narrow Bold" charset="0"/>
                        </a:rPr>
                        <a:t>x86-64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char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short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int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long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long long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float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double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long double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10/12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10/16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pointer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8"/>
          <p:cNvSpPr txBox="1">
            <a:spLocks noChangeArrowheads="1"/>
          </p:cNvSpPr>
          <p:nvPr/>
        </p:nvSpPr>
        <p:spPr bwMode="auto">
          <a:xfrm>
            <a:off x="271463" y="1447800"/>
            <a:ext cx="1252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latin typeface="Helvetica" charset="0"/>
              </a:rPr>
              <a:t>byte</a:t>
            </a:r>
          </a:p>
        </p:txBody>
      </p:sp>
      <p:grpSp>
        <p:nvGrpSpPr>
          <p:cNvPr id="28674" name="Group 10"/>
          <p:cNvGrpSpPr>
            <a:grpSpLocks/>
          </p:cNvGrpSpPr>
          <p:nvPr/>
        </p:nvGrpSpPr>
        <p:grpSpPr bwMode="auto">
          <a:xfrm>
            <a:off x="1373188" y="1371600"/>
            <a:ext cx="989012" cy="350838"/>
            <a:chOff x="1920" y="912"/>
            <a:chExt cx="1248" cy="288"/>
          </a:xfrm>
        </p:grpSpPr>
        <p:sp>
          <p:nvSpPr>
            <p:cNvPr id="28763" name="Rectangle 7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64" name="Text Box 9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sp>
        <p:nvSpPr>
          <p:cNvPr id="28675" name="Text Box 22"/>
          <p:cNvSpPr txBox="1">
            <a:spLocks noChangeArrowheads="1"/>
          </p:cNvSpPr>
          <p:nvPr/>
        </p:nvSpPr>
        <p:spPr bwMode="auto">
          <a:xfrm>
            <a:off x="271463" y="2133600"/>
            <a:ext cx="1252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latin typeface="Helvetica" charset="0"/>
              </a:rPr>
              <a:t>short</a:t>
            </a:r>
          </a:p>
        </p:txBody>
      </p:sp>
      <p:sp>
        <p:nvSpPr>
          <p:cNvPr id="28676" name="Text Box 23"/>
          <p:cNvSpPr txBox="1">
            <a:spLocks noChangeArrowheads="1"/>
          </p:cNvSpPr>
          <p:nvPr/>
        </p:nvSpPr>
        <p:spPr bwMode="auto">
          <a:xfrm>
            <a:off x="423863" y="2743200"/>
            <a:ext cx="736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latin typeface="Helvetica" charset="0"/>
              </a:rPr>
              <a:t>int</a:t>
            </a:r>
          </a:p>
        </p:txBody>
      </p:sp>
      <p:sp>
        <p:nvSpPr>
          <p:cNvPr id="28677" name="Text Box 45"/>
          <p:cNvSpPr txBox="1">
            <a:spLocks noChangeArrowheads="1"/>
          </p:cNvSpPr>
          <p:nvPr/>
        </p:nvSpPr>
        <p:spPr bwMode="auto">
          <a:xfrm>
            <a:off x="411163" y="4114800"/>
            <a:ext cx="825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latin typeface="Helvetica" charset="0"/>
              </a:rPr>
              <a:t>float</a:t>
            </a:r>
          </a:p>
        </p:txBody>
      </p:sp>
      <p:sp>
        <p:nvSpPr>
          <p:cNvPr id="28678" name="Text Box 58"/>
          <p:cNvSpPr txBox="1">
            <a:spLocks noChangeArrowheads="1"/>
          </p:cNvSpPr>
          <p:nvPr/>
        </p:nvSpPr>
        <p:spPr bwMode="auto">
          <a:xfrm>
            <a:off x="411163" y="3429000"/>
            <a:ext cx="825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>
                <a:latin typeface="Helvetica" charset="0"/>
              </a:rPr>
              <a:t>long</a:t>
            </a:r>
          </a:p>
        </p:txBody>
      </p:sp>
      <p:grpSp>
        <p:nvGrpSpPr>
          <p:cNvPr id="28679" name="Group 71"/>
          <p:cNvGrpSpPr>
            <a:grpSpLocks/>
          </p:cNvGrpSpPr>
          <p:nvPr/>
        </p:nvGrpSpPr>
        <p:grpSpPr bwMode="auto">
          <a:xfrm>
            <a:off x="1373188" y="2057400"/>
            <a:ext cx="989012" cy="350838"/>
            <a:chOff x="1920" y="912"/>
            <a:chExt cx="1248" cy="288"/>
          </a:xfrm>
        </p:grpSpPr>
        <p:sp>
          <p:nvSpPr>
            <p:cNvPr id="28761" name="Rectangle 72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62" name="Text Box 73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80" name="Group 74"/>
          <p:cNvGrpSpPr>
            <a:grpSpLocks/>
          </p:cNvGrpSpPr>
          <p:nvPr/>
        </p:nvGrpSpPr>
        <p:grpSpPr bwMode="auto">
          <a:xfrm>
            <a:off x="2287588" y="2057400"/>
            <a:ext cx="989012" cy="350838"/>
            <a:chOff x="1920" y="912"/>
            <a:chExt cx="1248" cy="288"/>
          </a:xfrm>
        </p:grpSpPr>
        <p:sp>
          <p:nvSpPr>
            <p:cNvPr id="28759" name="Rectangle 75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60" name="Text Box 76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dirty="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81" name="Group 77"/>
          <p:cNvGrpSpPr>
            <a:grpSpLocks/>
          </p:cNvGrpSpPr>
          <p:nvPr/>
        </p:nvGrpSpPr>
        <p:grpSpPr bwMode="auto">
          <a:xfrm>
            <a:off x="1373188" y="2743200"/>
            <a:ext cx="989012" cy="350838"/>
            <a:chOff x="1920" y="912"/>
            <a:chExt cx="1248" cy="288"/>
          </a:xfrm>
        </p:grpSpPr>
        <p:sp>
          <p:nvSpPr>
            <p:cNvPr id="28757" name="Rectangle 78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58" name="Text Box 79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82" name="Group 80"/>
          <p:cNvGrpSpPr>
            <a:grpSpLocks/>
          </p:cNvGrpSpPr>
          <p:nvPr/>
        </p:nvGrpSpPr>
        <p:grpSpPr bwMode="auto">
          <a:xfrm>
            <a:off x="2287588" y="2743200"/>
            <a:ext cx="989012" cy="350838"/>
            <a:chOff x="1920" y="912"/>
            <a:chExt cx="1248" cy="288"/>
          </a:xfrm>
        </p:grpSpPr>
        <p:sp>
          <p:nvSpPr>
            <p:cNvPr id="28755" name="Rectangle 81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56" name="Text Box 82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83" name="Group 83"/>
          <p:cNvGrpSpPr>
            <a:grpSpLocks/>
          </p:cNvGrpSpPr>
          <p:nvPr/>
        </p:nvGrpSpPr>
        <p:grpSpPr bwMode="auto">
          <a:xfrm>
            <a:off x="3201988" y="2743200"/>
            <a:ext cx="989012" cy="350838"/>
            <a:chOff x="1920" y="912"/>
            <a:chExt cx="1248" cy="288"/>
          </a:xfrm>
        </p:grpSpPr>
        <p:sp>
          <p:nvSpPr>
            <p:cNvPr id="28753" name="Rectangle 84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54" name="Text Box 85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84" name="Group 86"/>
          <p:cNvGrpSpPr>
            <a:grpSpLocks/>
          </p:cNvGrpSpPr>
          <p:nvPr/>
        </p:nvGrpSpPr>
        <p:grpSpPr bwMode="auto">
          <a:xfrm>
            <a:off x="4116388" y="2743200"/>
            <a:ext cx="989012" cy="350838"/>
            <a:chOff x="1920" y="912"/>
            <a:chExt cx="1248" cy="288"/>
          </a:xfrm>
        </p:grpSpPr>
        <p:sp>
          <p:nvSpPr>
            <p:cNvPr id="28751" name="Rectangle 87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52" name="Text Box 88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85" name="Group 95"/>
          <p:cNvGrpSpPr>
            <a:grpSpLocks/>
          </p:cNvGrpSpPr>
          <p:nvPr/>
        </p:nvGrpSpPr>
        <p:grpSpPr bwMode="auto">
          <a:xfrm>
            <a:off x="1373188" y="4114800"/>
            <a:ext cx="989012" cy="350838"/>
            <a:chOff x="1920" y="912"/>
            <a:chExt cx="1248" cy="288"/>
          </a:xfrm>
        </p:grpSpPr>
        <p:sp>
          <p:nvSpPr>
            <p:cNvPr id="28749" name="Rectangle 96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50" name="Text Box 97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86" name="Group 98"/>
          <p:cNvGrpSpPr>
            <a:grpSpLocks/>
          </p:cNvGrpSpPr>
          <p:nvPr/>
        </p:nvGrpSpPr>
        <p:grpSpPr bwMode="auto">
          <a:xfrm>
            <a:off x="2287588" y="4114800"/>
            <a:ext cx="989012" cy="350838"/>
            <a:chOff x="1920" y="912"/>
            <a:chExt cx="1248" cy="288"/>
          </a:xfrm>
        </p:grpSpPr>
        <p:sp>
          <p:nvSpPr>
            <p:cNvPr id="28747" name="Rectangle 99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48" name="Text Box 100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87" name="Group 101"/>
          <p:cNvGrpSpPr>
            <a:grpSpLocks/>
          </p:cNvGrpSpPr>
          <p:nvPr/>
        </p:nvGrpSpPr>
        <p:grpSpPr bwMode="auto">
          <a:xfrm>
            <a:off x="3201988" y="4114800"/>
            <a:ext cx="989012" cy="350838"/>
            <a:chOff x="1920" y="912"/>
            <a:chExt cx="1248" cy="288"/>
          </a:xfrm>
        </p:grpSpPr>
        <p:sp>
          <p:nvSpPr>
            <p:cNvPr id="28745" name="Rectangle 102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46" name="Text Box 103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88" name="Group 104"/>
          <p:cNvGrpSpPr>
            <a:grpSpLocks/>
          </p:cNvGrpSpPr>
          <p:nvPr/>
        </p:nvGrpSpPr>
        <p:grpSpPr bwMode="auto">
          <a:xfrm>
            <a:off x="4116388" y="4114800"/>
            <a:ext cx="989012" cy="350838"/>
            <a:chOff x="1920" y="912"/>
            <a:chExt cx="1248" cy="288"/>
          </a:xfrm>
        </p:grpSpPr>
        <p:sp>
          <p:nvSpPr>
            <p:cNvPr id="28743" name="Rectangle 105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44" name="Text Box 106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89" name="Group 107"/>
          <p:cNvGrpSpPr>
            <a:grpSpLocks/>
          </p:cNvGrpSpPr>
          <p:nvPr/>
        </p:nvGrpSpPr>
        <p:grpSpPr bwMode="auto">
          <a:xfrm>
            <a:off x="1373188" y="3429000"/>
            <a:ext cx="989012" cy="350838"/>
            <a:chOff x="1920" y="912"/>
            <a:chExt cx="1248" cy="288"/>
          </a:xfrm>
        </p:grpSpPr>
        <p:sp>
          <p:nvSpPr>
            <p:cNvPr id="28741" name="Rectangle 108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42" name="Text Box 109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90" name="Group 110"/>
          <p:cNvGrpSpPr>
            <a:grpSpLocks/>
          </p:cNvGrpSpPr>
          <p:nvPr/>
        </p:nvGrpSpPr>
        <p:grpSpPr bwMode="auto">
          <a:xfrm>
            <a:off x="2287588" y="3429000"/>
            <a:ext cx="989012" cy="350838"/>
            <a:chOff x="1920" y="912"/>
            <a:chExt cx="1248" cy="288"/>
          </a:xfrm>
        </p:grpSpPr>
        <p:sp>
          <p:nvSpPr>
            <p:cNvPr id="28739" name="Rectangle 111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40" name="Text Box 112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91" name="Group 113"/>
          <p:cNvGrpSpPr>
            <a:grpSpLocks/>
          </p:cNvGrpSpPr>
          <p:nvPr/>
        </p:nvGrpSpPr>
        <p:grpSpPr bwMode="auto">
          <a:xfrm>
            <a:off x="3201988" y="3429000"/>
            <a:ext cx="989012" cy="350838"/>
            <a:chOff x="1920" y="912"/>
            <a:chExt cx="1248" cy="288"/>
          </a:xfrm>
        </p:grpSpPr>
        <p:sp>
          <p:nvSpPr>
            <p:cNvPr id="28737" name="Rectangle 114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38" name="Text Box 115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92" name="Group 116"/>
          <p:cNvGrpSpPr>
            <a:grpSpLocks/>
          </p:cNvGrpSpPr>
          <p:nvPr/>
        </p:nvGrpSpPr>
        <p:grpSpPr bwMode="auto">
          <a:xfrm>
            <a:off x="4116388" y="3429000"/>
            <a:ext cx="989012" cy="350838"/>
            <a:chOff x="1920" y="912"/>
            <a:chExt cx="1248" cy="288"/>
          </a:xfrm>
        </p:grpSpPr>
        <p:sp>
          <p:nvSpPr>
            <p:cNvPr id="28735" name="Rectangle 117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36" name="Text Box 118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93" name="Group 131"/>
          <p:cNvGrpSpPr>
            <a:grpSpLocks/>
          </p:cNvGrpSpPr>
          <p:nvPr/>
        </p:nvGrpSpPr>
        <p:grpSpPr bwMode="auto">
          <a:xfrm>
            <a:off x="5030788" y="3429000"/>
            <a:ext cx="989012" cy="350838"/>
            <a:chOff x="1920" y="912"/>
            <a:chExt cx="1248" cy="288"/>
          </a:xfrm>
        </p:grpSpPr>
        <p:sp>
          <p:nvSpPr>
            <p:cNvPr id="28733" name="Rectangle 132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34" name="Text Box 133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94" name="Group 134"/>
          <p:cNvGrpSpPr>
            <a:grpSpLocks/>
          </p:cNvGrpSpPr>
          <p:nvPr/>
        </p:nvGrpSpPr>
        <p:grpSpPr bwMode="auto">
          <a:xfrm>
            <a:off x="5945188" y="3429000"/>
            <a:ext cx="989012" cy="350838"/>
            <a:chOff x="1920" y="912"/>
            <a:chExt cx="1248" cy="288"/>
          </a:xfrm>
        </p:grpSpPr>
        <p:sp>
          <p:nvSpPr>
            <p:cNvPr id="28731" name="Rectangle 135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32" name="Text Box 136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95" name="Group 137"/>
          <p:cNvGrpSpPr>
            <a:grpSpLocks/>
          </p:cNvGrpSpPr>
          <p:nvPr/>
        </p:nvGrpSpPr>
        <p:grpSpPr bwMode="auto">
          <a:xfrm>
            <a:off x="6859588" y="3429000"/>
            <a:ext cx="989012" cy="350838"/>
            <a:chOff x="1920" y="912"/>
            <a:chExt cx="1248" cy="288"/>
          </a:xfrm>
        </p:grpSpPr>
        <p:sp>
          <p:nvSpPr>
            <p:cNvPr id="28729" name="Rectangle 138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30" name="Text Box 139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96" name="Group 140"/>
          <p:cNvGrpSpPr>
            <a:grpSpLocks/>
          </p:cNvGrpSpPr>
          <p:nvPr/>
        </p:nvGrpSpPr>
        <p:grpSpPr bwMode="auto">
          <a:xfrm>
            <a:off x="7773988" y="3429000"/>
            <a:ext cx="989012" cy="350838"/>
            <a:chOff x="1920" y="912"/>
            <a:chExt cx="1248" cy="288"/>
          </a:xfrm>
        </p:grpSpPr>
        <p:sp>
          <p:nvSpPr>
            <p:cNvPr id="28727" name="Rectangle 141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8" name="Text Box 142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sp>
        <p:nvSpPr>
          <p:cNvPr id="28697" name="Text Box 143"/>
          <p:cNvSpPr txBox="1">
            <a:spLocks noChangeArrowheads="1"/>
          </p:cNvSpPr>
          <p:nvPr/>
        </p:nvSpPr>
        <p:spPr bwMode="auto">
          <a:xfrm>
            <a:off x="417512" y="4800600"/>
            <a:ext cx="1030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>
                <a:latin typeface="Helvetica" charset="0"/>
              </a:rPr>
              <a:t>double</a:t>
            </a:r>
          </a:p>
        </p:txBody>
      </p:sp>
      <p:grpSp>
        <p:nvGrpSpPr>
          <p:cNvPr id="28698" name="Group 144"/>
          <p:cNvGrpSpPr>
            <a:grpSpLocks/>
          </p:cNvGrpSpPr>
          <p:nvPr/>
        </p:nvGrpSpPr>
        <p:grpSpPr bwMode="auto">
          <a:xfrm>
            <a:off x="1373188" y="4800600"/>
            <a:ext cx="989012" cy="350838"/>
            <a:chOff x="1920" y="912"/>
            <a:chExt cx="1248" cy="288"/>
          </a:xfrm>
        </p:grpSpPr>
        <p:sp>
          <p:nvSpPr>
            <p:cNvPr id="28725" name="Rectangle 145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6" name="Text Box 146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699" name="Group 147"/>
          <p:cNvGrpSpPr>
            <a:grpSpLocks/>
          </p:cNvGrpSpPr>
          <p:nvPr/>
        </p:nvGrpSpPr>
        <p:grpSpPr bwMode="auto">
          <a:xfrm>
            <a:off x="2287588" y="4800600"/>
            <a:ext cx="989012" cy="350838"/>
            <a:chOff x="1920" y="912"/>
            <a:chExt cx="1248" cy="288"/>
          </a:xfrm>
        </p:grpSpPr>
        <p:sp>
          <p:nvSpPr>
            <p:cNvPr id="28723" name="Rectangle 148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4" name="Text Box 149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700" name="Group 150"/>
          <p:cNvGrpSpPr>
            <a:grpSpLocks/>
          </p:cNvGrpSpPr>
          <p:nvPr/>
        </p:nvGrpSpPr>
        <p:grpSpPr bwMode="auto">
          <a:xfrm>
            <a:off x="3201988" y="4800600"/>
            <a:ext cx="989012" cy="350838"/>
            <a:chOff x="1920" y="912"/>
            <a:chExt cx="1248" cy="288"/>
          </a:xfrm>
        </p:grpSpPr>
        <p:sp>
          <p:nvSpPr>
            <p:cNvPr id="28721" name="Rectangle 151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2" name="Text Box 152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701" name="Group 153"/>
          <p:cNvGrpSpPr>
            <a:grpSpLocks/>
          </p:cNvGrpSpPr>
          <p:nvPr/>
        </p:nvGrpSpPr>
        <p:grpSpPr bwMode="auto">
          <a:xfrm>
            <a:off x="4116388" y="4800600"/>
            <a:ext cx="989012" cy="350838"/>
            <a:chOff x="1920" y="912"/>
            <a:chExt cx="1248" cy="288"/>
          </a:xfrm>
        </p:grpSpPr>
        <p:sp>
          <p:nvSpPr>
            <p:cNvPr id="28719" name="Rectangle 154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0" name="Text Box 155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702" name="Group 156"/>
          <p:cNvGrpSpPr>
            <a:grpSpLocks/>
          </p:cNvGrpSpPr>
          <p:nvPr/>
        </p:nvGrpSpPr>
        <p:grpSpPr bwMode="auto">
          <a:xfrm>
            <a:off x="5030788" y="4800600"/>
            <a:ext cx="989012" cy="350838"/>
            <a:chOff x="1920" y="912"/>
            <a:chExt cx="1248" cy="288"/>
          </a:xfrm>
        </p:grpSpPr>
        <p:sp>
          <p:nvSpPr>
            <p:cNvPr id="28717" name="Rectangle 157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18" name="Text Box 158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703" name="Group 159"/>
          <p:cNvGrpSpPr>
            <a:grpSpLocks/>
          </p:cNvGrpSpPr>
          <p:nvPr/>
        </p:nvGrpSpPr>
        <p:grpSpPr bwMode="auto">
          <a:xfrm>
            <a:off x="5945188" y="4800600"/>
            <a:ext cx="989012" cy="350838"/>
            <a:chOff x="1920" y="912"/>
            <a:chExt cx="1248" cy="288"/>
          </a:xfrm>
        </p:grpSpPr>
        <p:sp>
          <p:nvSpPr>
            <p:cNvPr id="28715" name="Rectangle 160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16" name="Text Box 161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704" name="Group 162"/>
          <p:cNvGrpSpPr>
            <a:grpSpLocks/>
          </p:cNvGrpSpPr>
          <p:nvPr/>
        </p:nvGrpSpPr>
        <p:grpSpPr bwMode="auto">
          <a:xfrm>
            <a:off x="6859588" y="4800600"/>
            <a:ext cx="989012" cy="350838"/>
            <a:chOff x="1920" y="912"/>
            <a:chExt cx="1248" cy="288"/>
          </a:xfrm>
        </p:grpSpPr>
        <p:sp>
          <p:nvSpPr>
            <p:cNvPr id="28713" name="Rectangle 163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14" name="Text Box 164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grpSp>
        <p:nvGrpSpPr>
          <p:cNvPr id="28705" name="Group 165"/>
          <p:cNvGrpSpPr>
            <a:grpSpLocks/>
          </p:cNvGrpSpPr>
          <p:nvPr/>
        </p:nvGrpSpPr>
        <p:grpSpPr bwMode="auto">
          <a:xfrm>
            <a:off x="7773988" y="4800600"/>
            <a:ext cx="989012" cy="350838"/>
            <a:chOff x="1920" y="912"/>
            <a:chExt cx="1248" cy="288"/>
          </a:xfrm>
        </p:grpSpPr>
        <p:sp>
          <p:nvSpPr>
            <p:cNvPr id="28711" name="Rectangle 166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12" name="Text Box 167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sp>
        <p:nvSpPr>
          <p:cNvPr id="28706" name="Text Box 168"/>
          <p:cNvSpPr txBox="1">
            <a:spLocks noChangeArrowheads="1"/>
          </p:cNvSpPr>
          <p:nvPr/>
        </p:nvSpPr>
        <p:spPr bwMode="auto">
          <a:xfrm>
            <a:off x="406400" y="5486400"/>
            <a:ext cx="965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>
                <a:latin typeface="Helvetica" charset="0"/>
              </a:rPr>
              <a:t>char</a:t>
            </a:r>
          </a:p>
        </p:txBody>
      </p:sp>
      <p:grpSp>
        <p:nvGrpSpPr>
          <p:cNvPr id="28707" name="Group 169"/>
          <p:cNvGrpSpPr>
            <a:grpSpLocks/>
          </p:cNvGrpSpPr>
          <p:nvPr/>
        </p:nvGrpSpPr>
        <p:grpSpPr bwMode="auto">
          <a:xfrm>
            <a:off x="1373188" y="5486400"/>
            <a:ext cx="989012" cy="350838"/>
            <a:chOff x="1920" y="912"/>
            <a:chExt cx="1248" cy="288"/>
          </a:xfrm>
        </p:grpSpPr>
        <p:sp>
          <p:nvSpPr>
            <p:cNvPr id="28709" name="Rectangle 170"/>
            <p:cNvSpPr>
              <a:spLocks noChangeArrowheads="1"/>
            </p:cNvSpPr>
            <p:nvPr/>
          </p:nvSpPr>
          <p:spPr bwMode="auto">
            <a:xfrm>
              <a:off x="1920" y="912"/>
              <a:ext cx="124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10" name="Text Box 171"/>
            <p:cNvSpPr txBox="1">
              <a:spLocks noChangeArrowheads="1"/>
            </p:cNvSpPr>
            <p:nvPr/>
          </p:nvSpPr>
          <p:spPr bwMode="auto">
            <a:xfrm>
              <a:off x="1967" y="912"/>
              <a:ext cx="11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>
                  <a:latin typeface="Helvetica" charset="0"/>
                </a:rPr>
                <a:t>8 bits</a:t>
              </a:r>
            </a:p>
          </p:txBody>
        </p:sp>
      </p:grpSp>
      <p:sp>
        <p:nvSpPr>
          <p:cNvPr id="28708" name="Rectangle 2"/>
          <p:cNvSpPr txBox="1">
            <a:spLocks noChangeArrowheads="1"/>
          </p:cNvSpPr>
          <p:nvPr/>
        </p:nvSpPr>
        <p:spPr bwMode="auto">
          <a:xfrm>
            <a:off x="609600" y="533400"/>
            <a:ext cx="78962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ko-KR" sz="2800">
                <a:solidFill>
                  <a:schemeClr val="tx2"/>
                </a:solidFill>
                <a:latin typeface="Franklin Gothic Medium" charset="0"/>
                <a:ea typeface="굴림" charset="-127"/>
              </a:rPr>
              <a:t>Sizes of Primitive Types</a:t>
            </a:r>
            <a:endParaRPr lang="en-US" altLang="en-US" sz="2800">
              <a:solidFill>
                <a:schemeClr val="tx2"/>
              </a:solidFill>
              <a:latin typeface="Franklin Gothic Medium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050"/>
          <p:cNvSpPr txBox="1">
            <a:spLocks noChangeArrowheads="1"/>
          </p:cNvSpPr>
          <p:nvPr/>
        </p:nvSpPr>
        <p:spPr bwMode="auto">
          <a:xfrm>
            <a:off x="228600" y="323850"/>
            <a:ext cx="89154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4600">
                <a:solidFill>
                  <a:schemeClr val="accent1"/>
                </a:solidFill>
                <a:latin typeface="Calibri" charset="0"/>
              </a:rPr>
              <a:t>Word-Oriented Memory Org.</a:t>
            </a:r>
          </a:p>
        </p:txBody>
      </p:sp>
      <p:sp>
        <p:nvSpPr>
          <p:cNvPr id="29698" name="Rectangle 1026"/>
          <p:cNvSpPr>
            <a:spLocks noChangeArrowheads="1"/>
          </p:cNvSpPr>
          <p:nvPr/>
        </p:nvSpPr>
        <p:spPr bwMode="auto">
          <a:xfrm>
            <a:off x="6737350" y="15240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699" name="Rectangle 1027"/>
          <p:cNvSpPr>
            <a:spLocks noChangeArrowheads="1"/>
          </p:cNvSpPr>
          <p:nvPr/>
        </p:nvSpPr>
        <p:spPr bwMode="auto">
          <a:xfrm>
            <a:off x="6737350" y="18288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00" name="Rectangle 1028"/>
          <p:cNvSpPr>
            <a:spLocks noChangeArrowheads="1"/>
          </p:cNvSpPr>
          <p:nvPr/>
        </p:nvSpPr>
        <p:spPr bwMode="auto">
          <a:xfrm>
            <a:off x="6737350" y="21336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01" name="Rectangle 1029"/>
          <p:cNvSpPr>
            <a:spLocks noChangeArrowheads="1"/>
          </p:cNvSpPr>
          <p:nvPr/>
        </p:nvSpPr>
        <p:spPr bwMode="auto">
          <a:xfrm>
            <a:off x="6737350" y="24384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02" name="Rectangle 1030"/>
          <p:cNvSpPr>
            <a:spLocks noChangeArrowheads="1"/>
          </p:cNvSpPr>
          <p:nvPr/>
        </p:nvSpPr>
        <p:spPr bwMode="auto">
          <a:xfrm>
            <a:off x="6737350" y="27432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03" name="Rectangle 1031"/>
          <p:cNvSpPr>
            <a:spLocks noChangeArrowheads="1"/>
          </p:cNvSpPr>
          <p:nvPr/>
        </p:nvSpPr>
        <p:spPr bwMode="auto">
          <a:xfrm>
            <a:off x="6737350" y="30480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04" name="Rectangle 1032"/>
          <p:cNvSpPr>
            <a:spLocks noChangeArrowheads="1"/>
          </p:cNvSpPr>
          <p:nvPr/>
        </p:nvSpPr>
        <p:spPr bwMode="auto">
          <a:xfrm>
            <a:off x="6737350" y="33528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05" name="Rectangle 1033"/>
          <p:cNvSpPr>
            <a:spLocks noChangeArrowheads="1"/>
          </p:cNvSpPr>
          <p:nvPr/>
        </p:nvSpPr>
        <p:spPr bwMode="auto">
          <a:xfrm>
            <a:off x="6737350" y="36576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06" name="Rectangle 1034"/>
          <p:cNvSpPr>
            <a:spLocks noChangeArrowheads="1"/>
          </p:cNvSpPr>
          <p:nvPr/>
        </p:nvSpPr>
        <p:spPr bwMode="auto">
          <a:xfrm>
            <a:off x="6737350" y="39624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07" name="Rectangle 1035"/>
          <p:cNvSpPr>
            <a:spLocks noChangeArrowheads="1"/>
          </p:cNvSpPr>
          <p:nvPr/>
        </p:nvSpPr>
        <p:spPr bwMode="auto">
          <a:xfrm>
            <a:off x="6737350" y="42672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08" name="Rectangle 1036"/>
          <p:cNvSpPr>
            <a:spLocks noChangeArrowheads="1"/>
          </p:cNvSpPr>
          <p:nvPr/>
        </p:nvSpPr>
        <p:spPr bwMode="auto">
          <a:xfrm>
            <a:off x="6737350" y="45720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09" name="Rectangle 1037"/>
          <p:cNvSpPr>
            <a:spLocks noChangeArrowheads="1"/>
          </p:cNvSpPr>
          <p:nvPr/>
        </p:nvSpPr>
        <p:spPr bwMode="auto">
          <a:xfrm>
            <a:off x="6737350" y="48768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10" name="Rectangle 1038"/>
          <p:cNvSpPr>
            <a:spLocks noChangeArrowheads="1"/>
          </p:cNvSpPr>
          <p:nvPr/>
        </p:nvSpPr>
        <p:spPr bwMode="auto">
          <a:xfrm>
            <a:off x="7499350" y="15240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0000</a:t>
            </a:r>
          </a:p>
        </p:txBody>
      </p:sp>
      <p:sp>
        <p:nvSpPr>
          <p:cNvPr id="29711" name="Rectangle 1039"/>
          <p:cNvSpPr>
            <a:spLocks noChangeArrowheads="1"/>
          </p:cNvSpPr>
          <p:nvPr/>
        </p:nvSpPr>
        <p:spPr bwMode="auto">
          <a:xfrm>
            <a:off x="7499350" y="18288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0001</a:t>
            </a:r>
          </a:p>
        </p:txBody>
      </p:sp>
      <p:sp>
        <p:nvSpPr>
          <p:cNvPr id="29712" name="Rectangle 1040"/>
          <p:cNvSpPr>
            <a:spLocks noChangeArrowheads="1"/>
          </p:cNvSpPr>
          <p:nvPr/>
        </p:nvSpPr>
        <p:spPr bwMode="auto">
          <a:xfrm>
            <a:off x="7499350" y="21336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0002</a:t>
            </a:r>
          </a:p>
        </p:txBody>
      </p:sp>
      <p:sp>
        <p:nvSpPr>
          <p:cNvPr id="29713" name="Rectangle 1041"/>
          <p:cNvSpPr>
            <a:spLocks noChangeArrowheads="1"/>
          </p:cNvSpPr>
          <p:nvPr/>
        </p:nvSpPr>
        <p:spPr bwMode="auto">
          <a:xfrm>
            <a:off x="7499350" y="24384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0003</a:t>
            </a:r>
          </a:p>
        </p:txBody>
      </p:sp>
      <p:sp>
        <p:nvSpPr>
          <p:cNvPr id="29714" name="Rectangle 1042"/>
          <p:cNvSpPr>
            <a:spLocks noChangeArrowheads="1"/>
          </p:cNvSpPr>
          <p:nvPr/>
        </p:nvSpPr>
        <p:spPr bwMode="auto">
          <a:xfrm>
            <a:off x="7499350" y="27432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0004</a:t>
            </a:r>
          </a:p>
        </p:txBody>
      </p:sp>
      <p:sp>
        <p:nvSpPr>
          <p:cNvPr id="29715" name="Rectangle 1043"/>
          <p:cNvSpPr>
            <a:spLocks noChangeArrowheads="1"/>
          </p:cNvSpPr>
          <p:nvPr/>
        </p:nvSpPr>
        <p:spPr bwMode="auto">
          <a:xfrm>
            <a:off x="7499350" y="30480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0005</a:t>
            </a:r>
          </a:p>
        </p:txBody>
      </p:sp>
      <p:sp>
        <p:nvSpPr>
          <p:cNvPr id="29716" name="Rectangle 1044"/>
          <p:cNvSpPr>
            <a:spLocks noChangeArrowheads="1"/>
          </p:cNvSpPr>
          <p:nvPr/>
        </p:nvSpPr>
        <p:spPr bwMode="auto">
          <a:xfrm>
            <a:off x="7499350" y="33528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0006</a:t>
            </a:r>
          </a:p>
        </p:txBody>
      </p:sp>
      <p:sp>
        <p:nvSpPr>
          <p:cNvPr id="29717" name="Rectangle 1045"/>
          <p:cNvSpPr>
            <a:spLocks noChangeArrowheads="1"/>
          </p:cNvSpPr>
          <p:nvPr/>
        </p:nvSpPr>
        <p:spPr bwMode="auto">
          <a:xfrm>
            <a:off x="7499350" y="36576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0007</a:t>
            </a:r>
          </a:p>
        </p:txBody>
      </p:sp>
      <p:sp>
        <p:nvSpPr>
          <p:cNvPr id="29718" name="Rectangle 1046"/>
          <p:cNvSpPr>
            <a:spLocks noChangeArrowheads="1"/>
          </p:cNvSpPr>
          <p:nvPr/>
        </p:nvSpPr>
        <p:spPr bwMode="auto">
          <a:xfrm>
            <a:off x="7499350" y="39624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0008</a:t>
            </a:r>
          </a:p>
        </p:txBody>
      </p:sp>
      <p:sp>
        <p:nvSpPr>
          <p:cNvPr id="29719" name="Rectangle 1047"/>
          <p:cNvSpPr>
            <a:spLocks noChangeArrowheads="1"/>
          </p:cNvSpPr>
          <p:nvPr/>
        </p:nvSpPr>
        <p:spPr bwMode="auto">
          <a:xfrm>
            <a:off x="7499350" y="42672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0009</a:t>
            </a:r>
          </a:p>
        </p:txBody>
      </p:sp>
      <p:sp>
        <p:nvSpPr>
          <p:cNvPr id="29720" name="Rectangle 1048"/>
          <p:cNvSpPr>
            <a:spLocks noChangeArrowheads="1"/>
          </p:cNvSpPr>
          <p:nvPr/>
        </p:nvSpPr>
        <p:spPr bwMode="auto">
          <a:xfrm>
            <a:off x="7499350" y="45720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0010</a:t>
            </a:r>
          </a:p>
        </p:txBody>
      </p:sp>
      <p:sp>
        <p:nvSpPr>
          <p:cNvPr id="29721" name="Rectangle 1049"/>
          <p:cNvSpPr>
            <a:spLocks noChangeArrowheads="1"/>
          </p:cNvSpPr>
          <p:nvPr/>
        </p:nvSpPr>
        <p:spPr bwMode="auto">
          <a:xfrm>
            <a:off x="7499350" y="48768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0011</a:t>
            </a:r>
          </a:p>
        </p:txBody>
      </p:sp>
      <p:grpSp>
        <p:nvGrpSpPr>
          <p:cNvPr id="29722" name="Group 1052"/>
          <p:cNvGrpSpPr>
            <a:grpSpLocks/>
          </p:cNvGrpSpPr>
          <p:nvPr/>
        </p:nvGrpSpPr>
        <p:grpSpPr bwMode="auto">
          <a:xfrm>
            <a:off x="5791200" y="1524000"/>
            <a:ext cx="609600" cy="4876800"/>
            <a:chOff x="4176" y="768"/>
            <a:chExt cx="240" cy="3072"/>
          </a:xfrm>
        </p:grpSpPr>
        <p:sp>
          <p:nvSpPr>
            <p:cNvPr id="29753" name="Rectangle 1053"/>
            <p:cNvSpPr>
              <a:spLocks noChangeArrowheads="1"/>
            </p:cNvSpPr>
            <p:nvPr/>
          </p:nvSpPr>
          <p:spPr bwMode="auto">
            <a:xfrm>
              <a:off x="4176" y="2304"/>
              <a:ext cx="240" cy="153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54" name="Rectangle 1054"/>
            <p:cNvSpPr>
              <a:spLocks noChangeArrowheads="1"/>
            </p:cNvSpPr>
            <p:nvPr/>
          </p:nvSpPr>
          <p:spPr bwMode="auto">
            <a:xfrm>
              <a:off x="4176" y="768"/>
              <a:ext cx="240" cy="153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29723" name="Group 1055"/>
          <p:cNvGrpSpPr>
            <a:grpSpLocks/>
          </p:cNvGrpSpPr>
          <p:nvPr/>
        </p:nvGrpSpPr>
        <p:grpSpPr bwMode="auto">
          <a:xfrm>
            <a:off x="4876800" y="1524000"/>
            <a:ext cx="609600" cy="4876800"/>
            <a:chOff x="3792" y="768"/>
            <a:chExt cx="240" cy="3072"/>
          </a:xfrm>
        </p:grpSpPr>
        <p:sp>
          <p:nvSpPr>
            <p:cNvPr id="29749" name="Rectangle 1056"/>
            <p:cNvSpPr>
              <a:spLocks noChangeArrowheads="1"/>
            </p:cNvSpPr>
            <p:nvPr/>
          </p:nvSpPr>
          <p:spPr bwMode="auto">
            <a:xfrm>
              <a:off x="3792" y="768"/>
              <a:ext cx="240" cy="76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50" name="Rectangle 1057"/>
            <p:cNvSpPr>
              <a:spLocks noChangeArrowheads="1"/>
            </p:cNvSpPr>
            <p:nvPr/>
          </p:nvSpPr>
          <p:spPr bwMode="auto">
            <a:xfrm>
              <a:off x="3792" y="1536"/>
              <a:ext cx="240" cy="76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51" name="Rectangle 1058"/>
            <p:cNvSpPr>
              <a:spLocks noChangeArrowheads="1"/>
            </p:cNvSpPr>
            <p:nvPr/>
          </p:nvSpPr>
          <p:spPr bwMode="auto">
            <a:xfrm>
              <a:off x="3792" y="2304"/>
              <a:ext cx="240" cy="76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52" name="Rectangle 1059"/>
            <p:cNvSpPr>
              <a:spLocks noChangeArrowheads="1"/>
            </p:cNvSpPr>
            <p:nvPr/>
          </p:nvSpPr>
          <p:spPr bwMode="auto">
            <a:xfrm>
              <a:off x="3792" y="3072"/>
              <a:ext cx="240" cy="76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9724" name="Text Box 1060"/>
          <p:cNvSpPr txBox="1">
            <a:spLocks noChangeArrowheads="1"/>
          </p:cNvSpPr>
          <p:nvPr/>
        </p:nvSpPr>
        <p:spPr bwMode="auto">
          <a:xfrm>
            <a:off x="4724400" y="914400"/>
            <a:ext cx="895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800">
                <a:latin typeface="Helvetica" charset="0"/>
              </a:rPr>
              <a:t>32-bit</a:t>
            </a:r>
          </a:p>
          <a:p>
            <a:r>
              <a:rPr lang="en-US" altLang="en-US" sz="1800">
                <a:latin typeface="Helvetica" charset="0"/>
              </a:rPr>
              <a:t>Words</a:t>
            </a:r>
          </a:p>
        </p:txBody>
      </p:sp>
      <p:sp>
        <p:nvSpPr>
          <p:cNvPr id="29725" name="Text Box 1061"/>
          <p:cNvSpPr txBox="1">
            <a:spLocks noChangeArrowheads="1"/>
          </p:cNvSpPr>
          <p:nvPr/>
        </p:nvSpPr>
        <p:spPr bwMode="auto">
          <a:xfrm>
            <a:off x="6629400" y="990600"/>
            <a:ext cx="80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800">
                <a:latin typeface="Helvetica" charset="0"/>
              </a:rPr>
              <a:t>Bytes</a:t>
            </a:r>
          </a:p>
        </p:txBody>
      </p:sp>
      <p:sp>
        <p:nvSpPr>
          <p:cNvPr id="29726" name="Text Box 1062"/>
          <p:cNvSpPr txBox="1">
            <a:spLocks noChangeArrowheads="1"/>
          </p:cNvSpPr>
          <p:nvPr/>
        </p:nvSpPr>
        <p:spPr bwMode="auto">
          <a:xfrm>
            <a:off x="7448550" y="990600"/>
            <a:ext cx="781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800">
                <a:latin typeface="Helvetica" charset="0"/>
              </a:rPr>
              <a:t>Addr.</a:t>
            </a:r>
          </a:p>
        </p:txBody>
      </p:sp>
      <p:sp>
        <p:nvSpPr>
          <p:cNvPr id="29727" name="Rectangle 1063"/>
          <p:cNvSpPr>
            <a:spLocks noChangeArrowheads="1"/>
          </p:cNvSpPr>
          <p:nvPr/>
        </p:nvSpPr>
        <p:spPr bwMode="auto">
          <a:xfrm>
            <a:off x="6737350" y="51816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28" name="Rectangle 1064"/>
          <p:cNvSpPr>
            <a:spLocks noChangeArrowheads="1"/>
          </p:cNvSpPr>
          <p:nvPr/>
        </p:nvSpPr>
        <p:spPr bwMode="auto">
          <a:xfrm>
            <a:off x="7499350" y="51816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0012</a:t>
            </a:r>
          </a:p>
        </p:txBody>
      </p:sp>
      <p:sp>
        <p:nvSpPr>
          <p:cNvPr id="29729" name="Rectangle 1065"/>
          <p:cNvSpPr>
            <a:spLocks noChangeArrowheads="1"/>
          </p:cNvSpPr>
          <p:nvPr/>
        </p:nvSpPr>
        <p:spPr bwMode="auto">
          <a:xfrm>
            <a:off x="6737350" y="54864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30" name="Rectangle 1066"/>
          <p:cNvSpPr>
            <a:spLocks noChangeArrowheads="1"/>
          </p:cNvSpPr>
          <p:nvPr/>
        </p:nvSpPr>
        <p:spPr bwMode="auto">
          <a:xfrm>
            <a:off x="7499350" y="54864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0013</a:t>
            </a:r>
          </a:p>
        </p:txBody>
      </p:sp>
      <p:sp>
        <p:nvSpPr>
          <p:cNvPr id="29731" name="Rectangle 1067"/>
          <p:cNvSpPr>
            <a:spLocks noChangeArrowheads="1"/>
          </p:cNvSpPr>
          <p:nvPr/>
        </p:nvSpPr>
        <p:spPr bwMode="auto">
          <a:xfrm>
            <a:off x="6737350" y="57912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32" name="Rectangle 1068"/>
          <p:cNvSpPr>
            <a:spLocks noChangeArrowheads="1"/>
          </p:cNvSpPr>
          <p:nvPr/>
        </p:nvSpPr>
        <p:spPr bwMode="auto">
          <a:xfrm>
            <a:off x="7499350" y="57912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0014</a:t>
            </a:r>
          </a:p>
        </p:txBody>
      </p:sp>
      <p:sp>
        <p:nvSpPr>
          <p:cNvPr id="29733" name="Rectangle 1069"/>
          <p:cNvSpPr>
            <a:spLocks noChangeArrowheads="1"/>
          </p:cNvSpPr>
          <p:nvPr/>
        </p:nvSpPr>
        <p:spPr bwMode="auto">
          <a:xfrm>
            <a:off x="6737350" y="6096000"/>
            <a:ext cx="6096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9734" name="Rectangle 1070"/>
          <p:cNvSpPr>
            <a:spLocks noChangeArrowheads="1"/>
          </p:cNvSpPr>
          <p:nvPr/>
        </p:nvSpPr>
        <p:spPr bwMode="auto">
          <a:xfrm>
            <a:off x="7499350" y="6096000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b="0">
                <a:latin typeface="Courier New" charset="0"/>
              </a:rPr>
              <a:t>0015</a:t>
            </a:r>
          </a:p>
        </p:txBody>
      </p:sp>
      <p:sp>
        <p:nvSpPr>
          <p:cNvPr id="29735" name="Text Box 1084"/>
          <p:cNvSpPr txBox="1">
            <a:spLocks noChangeArrowheads="1"/>
          </p:cNvSpPr>
          <p:nvPr/>
        </p:nvSpPr>
        <p:spPr bwMode="auto">
          <a:xfrm>
            <a:off x="5638800" y="882650"/>
            <a:ext cx="895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800">
                <a:latin typeface="Helvetica" charset="0"/>
              </a:rPr>
              <a:t>64-bit</a:t>
            </a:r>
          </a:p>
          <a:p>
            <a:r>
              <a:rPr lang="en-US" altLang="en-US" sz="1800">
                <a:latin typeface="Helvetica" charset="0"/>
              </a:rPr>
              <a:t>Words</a:t>
            </a:r>
          </a:p>
        </p:txBody>
      </p:sp>
      <p:sp>
        <p:nvSpPr>
          <p:cNvPr id="29736" name="Rectangle 1085"/>
          <p:cNvSpPr>
            <a:spLocks noChangeArrowheads="1"/>
          </p:cNvSpPr>
          <p:nvPr/>
        </p:nvSpPr>
        <p:spPr bwMode="auto">
          <a:xfrm>
            <a:off x="5791200" y="2362200"/>
            <a:ext cx="609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400"/>
              <a:t>Addr </a:t>
            </a:r>
          </a:p>
          <a:p>
            <a:r>
              <a:rPr lang="en-US" altLang="en-US" sz="1400"/>
              <a:t>=</a:t>
            </a:r>
          </a:p>
          <a:p>
            <a:r>
              <a:rPr lang="en-US" altLang="en-US" sz="1400" b="0">
                <a:latin typeface="Courier New" charset="0"/>
              </a:rPr>
              <a:t>??</a:t>
            </a:r>
            <a:endParaRPr lang="en-US" altLang="en-US" sz="1400"/>
          </a:p>
        </p:txBody>
      </p:sp>
      <p:sp>
        <p:nvSpPr>
          <p:cNvPr id="29737" name="Rectangle 1086"/>
          <p:cNvSpPr>
            <a:spLocks noChangeArrowheads="1"/>
          </p:cNvSpPr>
          <p:nvPr/>
        </p:nvSpPr>
        <p:spPr bwMode="auto">
          <a:xfrm>
            <a:off x="5791200" y="4724400"/>
            <a:ext cx="609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400"/>
              <a:t>Addr </a:t>
            </a:r>
          </a:p>
          <a:p>
            <a:r>
              <a:rPr lang="en-US" altLang="en-US" sz="1400"/>
              <a:t>=</a:t>
            </a:r>
          </a:p>
          <a:p>
            <a:r>
              <a:rPr lang="en-US" altLang="en-US" sz="1400" b="0">
                <a:latin typeface="Courier New" charset="0"/>
              </a:rPr>
              <a:t>??</a:t>
            </a:r>
            <a:endParaRPr lang="en-US" altLang="en-US" sz="1400"/>
          </a:p>
        </p:txBody>
      </p:sp>
      <p:sp>
        <p:nvSpPr>
          <p:cNvPr id="29738" name="Rectangle 1087"/>
          <p:cNvSpPr>
            <a:spLocks noChangeArrowheads="1"/>
          </p:cNvSpPr>
          <p:nvPr/>
        </p:nvSpPr>
        <p:spPr bwMode="auto">
          <a:xfrm>
            <a:off x="4876800" y="1752600"/>
            <a:ext cx="609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400"/>
              <a:t>Addr </a:t>
            </a:r>
          </a:p>
          <a:p>
            <a:r>
              <a:rPr lang="en-US" altLang="en-US" sz="1400"/>
              <a:t>=</a:t>
            </a:r>
          </a:p>
          <a:p>
            <a:r>
              <a:rPr lang="en-US" altLang="en-US" sz="1400" b="0">
                <a:latin typeface="Courier New" charset="0"/>
              </a:rPr>
              <a:t>??</a:t>
            </a:r>
          </a:p>
        </p:txBody>
      </p:sp>
      <p:sp>
        <p:nvSpPr>
          <p:cNvPr id="29739" name="Rectangle 1088"/>
          <p:cNvSpPr>
            <a:spLocks noChangeArrowheads="1"/>
          </p:cNvSpPr>
          <p:nvPr/>
        </p:nvSpPr>
        <p:spPr bwMode="auto">
          <a:xfrm>
            <a:off x="4876800" y="2971800"/>
            <a:ext cx="609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400"/>
              <a:t>Addr </a:t>
            </a:r>
          </a:p>
          <a:p>
            <a:r>
              <a:rPr lang="en-US" altLang="en-US" sz="1400"/>
              <a:t>=</a:t>
            </a:r>
          </a:p>
          <a:p>
            <a:r>
              <a:rPr lang="en-US" altLang="en-US" sz="1400" b="0">
                <a:latin typeface="Courier New" charset="0"/>
              </a:rPr>
              <a:t>??</a:t>
            </a:r>
            <a:endParaRPr lang="en-US" altLang="en-US" sz="1400"/>
          </a:p>
        </p:txBody>
      </p:sp>
      <p:sp>
        <p:nvSpPr>
          <p:cNvPr id="29740" name="Rectangle 1089"/>
          <p:cNvSpPr>
            <a:spLocks noChangeArrowheads="1"/>
          </p:cNvSpPr>
          <p:nvPr/>
        </p:nvSpPr>
        <p:spPr bwMode="auto">
          <a:xfrm>
            <a:off x="4876800" y="4191000"/>
            <a:ext cx="609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400"/>
              <a:t>Addr </a:t>
            </a:r>
          </a:p>
          <a:p>
            <a:r>
              <a:rPr lang="en-US" altLang="en-US" sz="1400"/>
              <a:t>=</a:t>
            </a:r>
          </a:p>
          <a:p>
            <a:r>
              <a:rPr lang="en-US" altLang="en-US" sz="1400" b="0">
                <a:latin typeface="Courier New" charset="0"/>
              </a:rPr>
              <a:t>??</a:t>
            </a:r>
            <a:endParaRPr lang="en-US" altLang="en-US" sz="1400"/>
          </a:p>
        </p:txBody>
      </p:sp>
      <p:sp>
        <p:nvSpPr>
          <p:cNvPr id="29741" name="Rectangle 1090"/>
          <p:cNvSpPr>
            <a:spLocks noChangeArrowheads="1"/>
          </p:cNvSpPr>
          <p:nvPr/>
        </p:nvSpPr>
        <p:spPr bwMode="auto">
          <a:xfrm>
            <a:off x="4876800" y="5410200"/>
            <a:ext cx="609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400"/>
              <a:t>Addr </a:t>
            </a:r>
          </a:p>
          <a:p>
            <a:r>
              <a:rPr lang="en-US" altLang="en-US" sz="1400"/>
              <a:t>=</a:t>
            </a:r>
          </a:p>
          <a:p>
            <a:r>
              <a:rPr lang="en-US" altLang="en-US" sz="1400" b="0">
                <a:latin typeface="Courier New" charset="0"/>
              </a:rPr>
              <a:t>??</a:t>
            </a:r>
            <a:endParaRPr lang="en-US" altLang="en-US" sz="1400"/>
          </a:p>
        </p:txBody>
      </p:sp>
      <p:sp>
        <p:nvSpPr>
          <p:cNvPr id="53" name="Rectangle 1098"/>
          <p:cNvSpPr>
            <a:spLocks noChangeArrowheads="1"/>
          </p:cNvSpPr>
          <p:nvPr/>
        </p:nvSpPr>
        <p:spPr bwMode="auto">
          <a:xfrm>
            <a:off x="4953000" y="2209800"/>
            <a:ext cx="457200" cy="228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400" b="0">
                <a:latin typeface="Courier New" charset="0"/>
              </a:rPr>
              <a:t>0000</a:t>
            </a:r>
          </a:p>
        </p:txBody>
      </p:sp>
      <p:sp>
        <p:nvSpPr>
          <p:cNvPr id="54" name="Rectangle 1099"/>
          <p:cNvSpPr>
            <a:spLocks noChangeArrowheads="1"/>
          </p:cNvSpPr>
          <p:nvPr/>
        </p:nvSpPr>
        <p:spPr bwMode="auto">
          <a:xfrm>
            <a:off x="4953000" y="3429000"/>
            <a:ext cx="457200" cy="228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400" b="0">
                <a:latin typeface="Courier New" charset="0"/>
              </a:rPr>
              <a:t>0004</a:t>
            </a:r>
          </a:p>
        </p:txBody>
      </p:sp>
      <p:sp>
        <p:nvSpPr>
          <p:cNvPr id="55" name="Rectangle 1100"/>
          <p:cNvSpPr>
            <a:spLocks noChangeArrowheads="1"/>
          </p:cNvSpPr>
          <p:nvPr/>
        </p:nvSpPr>
        <p:spPr bwMode="auto">
          <a:xfrm>
            <a:off x="4953000" y="4648200"/>
            <a:ext cx="457200" cy="228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400" b="0">
                <a:latin typeface="Courier New" charset="0"/>
              </a:rPr>
              <a:t>0008</a:t>
            </a:r>
          </a:p>
        </p:txBody>
      </p:sp>
      <p:sp>
        <p:nvSpPr>
          <p:cNvPr id="56" name="Rectangle 1101"/>
          <p:cNvSpPr>
            <a:spLocks noChangeArrowheads="1"/>
          </p:cNvSpPr>
          <p:nvPr/>
        </p:nvSpPr>
        <p:spPr bwMode="auto">
          <a:xfrm>
            <a:off x="4953000" y="5867400"/>
            <a:ext cx="457200" cy="228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400" b="0">
                <a:latin typeface="Courier New" charset="0"/>
              </a:rPr>
              <a:t>0012</a:t>
            </a:r>
          </a:p>
        </p:txBody>
      </p:sp>
      <p:sp>
        <p:nvSpPr>
          <p:cNvPr id="57" name="Rectangle 1102"/>
          <p:cNvSpPr>
            <a:spLocks noChangeArrowheads="1"/>
          </p:cNvSpPr>
          <p:nvPr/>
        </p:nvSpPr>
        <p:spPr bwMode="auto">
          <a:xfrm>
            <a:off x="5867400" y="2819400"/>
            <a:ext cx="457200" cy="228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400" b="0">
                <a:latin typeface="Courier New" charset="0"/>
              </a:rPr>
              <a:t>0000</a:t>
            </a:r>
          </a:p>
        </p:txBody>
      </p:sp>
      <p:sp>
        <p:nvSpPr>
          <p:cNvPr id="58" name="Rectangle 1103"/>
          <p:cNvSpPr>
            <a:spLocks noChangeArrowheads="1"/>
          </p:cNvSpPr>
          <p:nvPr/>
        </p:nvSpPr>
        <p:spPr bwMode="auto">
          <a:xfrm>
            <a:off x="5867400" y="5181600"/>
            <a:ext cx="457200" cy="228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400" b="0">
                <a:latin typeface="Courier New" charset="0"/>
              </a:rPr>
              <a:t>0008</a:t>
            </a:r>
          </a:p>
        </p:txBody>
      </p:sp>
      <p:sp>
        <p:nvSpPr>
          <p:cNvPr id="29748" name="Rectangle 1051"/>
          <p:cNvSpPr txBox="1">
            <a:spLocks noChangeArrowheads="1"/>
          </p:cNvSpPr>
          <p:nvPr/>
        </p:nvSpPr>
        <p:spPr bwMode="auto">
          <a:xfrm>
            <a:off x="304800" y="1371600"/>
            <a:ext cx="4343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2166938" algn="l"/>
                <a:tab pos="3436938" algn="l"/>
                <a:tab pos="3995738" algn="l"/>
              </a:tabLs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tabLst>
                <a:tab pos="2166938" algn="l"/>
                <a:tab pos="3436938" algn="l"/>
                <a:tab pos="3995738" algn="l"/>
              </a:tabLs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tabLst>
                <a:tab pos="2166938" algn="l"/>
                <a:tab pos="3436938" algn="l"/>
                <a:tab pos="3995738" algn="l"/>
              </a:tabLs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tabLst>
                <a:tab pos="2166938" algn="l"/>
                <a:tab pos="3436938" algn="l"/>
                <a:tab pos="3995738" algn="l"/>
              </a:tabLs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tabLst>
                <a:tab pos="2166938" algn="l"/>
                <a:tab pos="3436938" algn="l"/>
                <a:tab pos="3995738" algn="l"/>
              </a:tabLs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166938" algn="l"/>
                <a:tab pos="3436938" algn="l"/>
                <a:tab pos="3995738" algn="l"/>
              </a:tabLs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166938" algn="l"/>
                <a:tab pos="3436938" algn="l"/>
                <a:tab pos="3995738" algn="l"/>
              </a:tabLs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166938" algn="l"/>
                <a:tab pos="3436938" algn="l"/>
                <a:tab pos="3995738" algn="l"/>
              </a:tabLs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166938" algn="l"/>
                <a:tab pos="3436938" algn="l"/>
                <a:tab pos="3995738" algn="l"/>
              </a:tabLs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2800" b="0">
                <a:latin typeface="Calibri" charset="0"/>
              </a:rPr>
              <a:t>Addresses Specify Byte Locations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Address of first byte in word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Addresses of successive words differ by 4 (32-bit) or 8 (64-bit)</a:t>
            </a:r>
            <a:endParaRPr lang="en-US" altLang="en-US" b="0" baseline="-25000">
              <a:latin typeface="Calibri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 autoUpdateAnimBg="0"/>
      <p:bldP spid="54" grpId="0" animBg="1" autoUpdateAnimBg="0"/>
      <p:bldP spid="55" grpId="0" animBg="1" autoUpdateAnimBg="0"/>
      <p:bldP spid="56" grpId="0" animBg="1" autoUpdateAnimBg="0"/>
      <p:bldP spid="57" grpId="0" animBg="1" autoUpdateAnimBg="0"/>
      <p:bldP spid="5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41"/>
          <p:cNvSpPr txBox="1">
            <a:spLocks noChangeArrowheads="1"/>
          </p:cNvSpPr>
          <p:nvPr/>
        </p:nvSpPr>
        <p:spPr bwMode="auto">
          <a:xfrm>
            <a:off x="404813" y="247650"/>
            <a:ext cx="8716962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4600">
                <a:solidFill>
                  <a:schemeClr val="accent1"/>
                </a:solidFill>
                <a:latin typeface="Calibri" charset="0"/>
              </a:rPr>
              <a:t>Byte Ordering</a:t>
            </a:r>
          </a:p>
        </p:txBody>
      </p:sp>
      <p:sp>
        <p:nvSpPr>
          <p:cNvPr id="30722" name="Rectangle 42"/>
          <p:cNvSpPr txBox="1">
            <a:spLocks noChangeArrowheads="1"/>
          </p:cNvSpPr>
          <p:nvPr/>
        </p:nvSpPr>
        <p:spPr bwMode="auto">
          <a:xfrm>
            <a:off x="304800" y="1066800"/>
            <a:ext cx="8307388" cy="403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2800" b="0">
                <a:latin typeface="Calibri" charset="0"/>
              </a:rPr>
              <a:t>How should bytes within multi-byte word be ordered in memory?</a:t>
            </a:r>
          </a:p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2800" b="0">
                <a:latin typeface="Calibri" charset="0"/>
              </a:rPr>
              <a:t>Conventions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Sun</a:t>
            </a:r>
            <a:r>
              <a:rPr lang="ja-JP" altLang="en-US" b="0">
                <a:latin typeface="Calibri" charset="0"/>
              </a:rPr>
              <a:t>’</a:t>
            </a:r>
            <a:r>
              <a:rPr lang="en-US" altLang="ja-JP" b="0">
                <a:latin typeface="Calibri" charset="0"/>
              </a:rPr>
              <a:t>s, Mac</a:t>
            </a:r>
            <a:r>
              <a:rPr lang="ja-JP" altLang="en-US" b="0">
                <a:latin typeface="Calibri" charset="0"/>
              </a:rPr>
              <a:t>’</a:t>
            </a:r>
            <a:r>
              <a:rPr lang="en-US" altLang="ja-JP" b="0">
                <a:latin typeface="Calibri" charset="0"/>
              </a:rPr>
              <a:t>s are </a:t>
            </a:r>
            <a:r>
              <a:rPr lang="ja-JP" altLang="en-US" b="0">
                <a:latin typeface="Calibri" charset="0"/>
              </a:rPr>
              <a:t>“</a:t>
            </a:r>
            <a:r>
              <a:rPr lang="en-US" altLang="ja-JP" b="0">
                <a:latin typeface="Calibri" charset="0"/>
              </a:rPr>
              <a:t>Big Endian</a:t>
            </a:r>
            <a:r>
              <a:rPr lang="ja-JP" altLang="en-US" b="0">
                <a:latin typeface="Calibri" charset="0"/>
              </a:rPr>
              <a:t>”</a:t>
            </a:r>
            <a:r>
              <a:rPr lang="en-US" altLang="ja-JP" b="0">
                <a:latin typeface="Calibri" charset="0"/>
              </a:rPr>
              <a:t> machines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2000" b="0">
                <a:latin typeface="Calibri" charset="0"/>
              </a:rPr>
              <a:t>Least significant byte has highest address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Alphas, PC</a:t>
            </a:r>
            <a:r>
              <a:rPr lang="ja-JP" altLang="en-US" b="0">
                <a:latin typeface="Calibri" charset="0"/>
              </a:rPr>
              <a:t>’</a:t>
            </a:r>
            <a:r>
              <a:rPr lang="en-US" altLang="ja-JP" b="0">
                <a:latin typeface="Calibri" charset="0"/>
              </a:rPr>
              <a:t>s are </a:t>
            </a:r>
            <a:r>
              <a:rPr lang="ja-JP" altLang="en-US" b="0">
                <a:latin typeface="Calibri" charset="0"/>
              </a:rPr>
              <a:t>“</a:t>
            </a:r>
            <a:r>
              <a:rPr lang="en-US" altLang="ja-JP" b="0">
                <a:latin typeface="Calibri" charset="0"/>
              </a:rPr>
              <a:t>Little Endian</a:t>
            </a:r>
            <a:r>
              <a:rPr lang="ja-JP" altLang="en-US" b="0">
                <a:latin typeface="Calibri" charset="0"/>
              </a:rPr>
              <a:t>”</a:t>
            </a:r>
            <a:r>
              <a:rPr lang="en-US" altLang="ja-JP" b="0">
                <a:latin typeface="Calibri" charset="0"/>
              </a:rPr>
              <a:t> machines</a:t>
            </a:r>
          </a:p>
          <a:p>
            <a:pPr lvl="2">
              <a:spcBef>
                <a:spcPct val="20000"/>
              </a:spcBef>
              <a:buFont typeface="Arial" charset="0"/>
              <a:buChar char="–"/>
            </a:pPr>
            <a:r>
              <a:rPr lang="en-US" altLang="en-US" sz="2000" b="0">
                <a:latin typeface="Calibri" charset="0"/>
              </a:rPr>
              <a:t>Least significant byte has lowest address</a:t>
            </a:r>
            <a:endParaRPr lang="en-US" altLang="en-US" b="0">
              <a:latin typeface="Calibri" charset="0"/>
            </a:endParaRP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sz="1800">
                <a:latin typeface="Helvetica" charset="0"/>
              </a:rPr>
              <a:t>Example</a:t>
            </a:r>
          </a:p>
          <a:p>
            <a:pPr lvl="1"/>
            <a:r>
              <a:rPr lang="en-US" altLang="en-US" sz="1800">
                <a:latin typeface="Helvetica" charset="0"/>
              </a:rPr>
              <a:t>		Variable </a:t>
            </a:r>
            <a:r>
              <a:rPr lang="en-US" altLang="en-US" sz="1800">
                <a:latin typeface="Courier New" charset="0"/>
              </a:rPr>
              <a:t>x</a:t>
            </a:r>
            <a:r>
              <a:rPr lang="en-US" altLang="en-US" sz="1800">
                <a:latin typeface="Helvetica" charset="0"/>
              </a:rPr>
              <a:t> has 4-byte representation </a:t>
            </a:r>
            <a:r>
              <a:rPr lang="en-US" altLang="en-US" sz="1800">
                <a:latin typeface="Courier New" charset="0"/>
              </a:rPr>
              <a:t>0x01234567</a:t>
            </a:r>
          </a:p>
          <a:p>
            <a:pPr lvl="1"/>
            <a:r>
              <a:rPr lang="en-US" altLang="en-US" sz="1800">
                <a:latin typeface="Helvetica" charset="0"/>
              </a:rPr>
              <a:t>		Address given by </a:t>
            </a:r>
            <a:r>
              <a:rPr lang="en-US" altLang="en-US" sz="1800">
                <a:latin typeface="Courier New" charset="0"/>
              </a:rPr>
              <a:t>&amp;x</a:t>
            </a:r>
            <a:r>
              <a:rPr lang="en-US" altLang="en-US" sz="1800">
                <a:latin typeface="Helvetica" charset="0"/>
              </a:rPr>
              <a:t> is </a:t>
            </a:r>
            <a:r>
              <a:rPr lang="en-US" altLang="en-US" sz="1800">
                <a:latin typeface="Courier New" charset="0"/>
              </a:rPr>
              <a:t>0x100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endParaRPr lang="en-US" altLang="en-US" b="0">
              <a:latin typeface="Calibri" charset="0"/>
            </a:endParaRPr>
          </a:p>
        </p:txBody>
      </p:sp>
      <p:grpSp>
        <p:nvGrpSpPr>
          <p:cNvPr id="30723" name="Group 49"/>
          <p:cNvGrpSpPr>
            <a:grpSpLocks/>
          </p:cNvGrpSpPr>
          <p:nvPr/>
        </p:nvGrpSpPr>
        <p:grpSpPr bwMode="auto">
          <a:xfrm>
            <a:off x="2362200" y="5105400"/>
            <a:ext cx="5486400" cy="609600"/>
            <a:chOff x="1104" y="2928"/>
            <a:chExt cx="3456" cy="384"/>
          </a:xfrm>
        </p:grpSpPr>
        <p:sp>
          <p:nvSpPr>
            <p:cNvPr id="30747" name="Rectangle 5"/>
            <p:cNvSpPr>
              <a:spLocks noChangeArrowheads="1"/>
            </p:cNvSpPr>
            <p:nvPr/>
          </p:nvSpPr>
          <p:spPr bwMode="auto">
            <a:xfrm>
              <a:off x="3216" y="2928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400">
                  <a:latin typeface="Courier New" charset="0"/>
                </a:rPr>
                <a:t>0x100</a:t>
              </a:r>
            </a:p>
          </p:txBody>
        </p:sp>
        <p:sp>
          <p:nvSpPr>
            <p:cNvPr id="30748" name="Rectangle 6"/>
            <p:cNvSpPr>
              <a:spLocks noChangeArrowheads="1"/>
            </p:cNvSpPr>
            <p:nvPr/>
          </p:nvSpPr>
          <p:spPr bwMode="auto">
            <a:xfrm>
              <a:off x="2784" y="2928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400">
                  <a:latin typeface="Courier New" charset="0"/>
                </a:rPr>
                <a:t>0x101</a:t>
              </a:r>
            </a:p>
          </p:txBody>
        </p:sp>
        <p:sp>
          <p:nvSpPr>
            <p:cNvPr id="30749" name="Rectangle 7"/>
            <p:cNvSpPr>
              <a:spLocks noChangeArrowheads="1"/>
            </p:cNvSpPr>
            <p:nvPr/>
          </p:nvSpPr>
          <p:spPr bwMode="auto">
            <a:xfrm>
              <a:off x="2400" y="2928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400">
                  <a:latin typeface="Courier New" charset="0"/>
                </a:rPr>
                <a:t>0x102</a:t>
              </a:r>
            </a:p>
          </p:txBody>
        </p:sp>
        <p:sp>
          <p:nvSpPr>
            <p:cNvPr id="30750" name="Rectangle 8"/>
            <p:cNvSpPr>
              <a:spLocks noChangeArrowheads="1"/>
            </p:cNvSpPr>
            <p:nvPr/>
          </p:nvSpPr>
          <p:spPr bwMode="auto">
            <a:xfrm>
              <a:off x="1968" y="2928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400">
                  <a:latin typeface="Courier New" charset="0"/>
                </a:rPr>
                <a:t>0x103</a:t>
              </a:r>
            </a:p>
          </p:txBody>
        </p:sp>
        <p:sp>
          <p:nvSpPr>
            <p:cNvPr id="30751" name="Rectangle 9"/>
            <p:cNvSpPr>
              <a:spLocks noChangeArrowheads="1"/>
            </p:cNvSpPr>
            <p:nvPr/>
          </p:nvSpPr>
          <p:spPr bwMode="auto">
            <a:xfrm>
              <a:off x="1104" y="3120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>
                <a:solidFill>
                  <a:schemeClr val="bg1"/>
                </a:solidFill>
                <a:latin typeface="Courier New" charset="0"/>
              </a:endParaRPr>
            </a:p>
          </p:txBody>
        </p:sp>
        <p:sp>
          <p:nvSpPr>
            <p:cNvPr id="30752" name="Rectangle 10"/>
            <p:cNvSpPr>
              <a:spLocks noChangeArrowheads="1"/>
            </p:cNvSpPr>
            <p:nvPr/>
          </p:nvSpPr>
          <p:spPr bwMode="auto">
            <a:xfrm>
              <a:off x="1536" y="3120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>
                <a:solidFill>
                  <a:schemeClr val="bg1"/>
                </a:solidFill>
                <a:latin typeface="Courier New" charset="0"/>
              </a:endParaRPr>
            </a:p>
          </p:txBody>
        </p:sp>
        <p:sp>
          <p:nvSpPr>
            <p:cNvPr id="30753" name="Rectangle 11"/>
            <p:cNvSpPr>
              <a:spLocks noChangeArrowheads="1"/>
            </p:cNvSpPr>
            <p:nvPr/>
          </p:nvSpPr>
          <p:spPr bwMode="auto">
            <a:xfrm>
              <a:off x="1968" y="3120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  <a:latin typeface="Courier New" charset="0"/>
                </a:rPr>
                <a:t>01</a:t>
              </a:r>
            </a:p>
          </p:txBody>
        </p:sp>
        <p:sp>
          <p:nvSpPr>
            <p:cNvPr id="30754" name="Rectangle 12"/>
            <p:cNvSpPr>
              <a:spLocks noChangeArrowheads="1"/>
            </p:cNvSpPr>
            <p:nvPr/>
          </p:nvSpPr>
          <p:spPr bwMode="auto">
            <a:xfrm>
              <a:off x="2400" y="3120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  <a:latin typeface="Courier New" charset="0"/>
                </a:rPr>
                <a:t>23</a:t>
              </a:r>
            </a:p>
          </p:txBody>
        </p:sp>
        <p:sp>
          <p:nvSpPr>
            <p:cNvPr id="30755" name="Rectangle 13"/>
            <p:cNvSpPr>
              <a:spLocks noChangeArrowheads="1"/>
            </p:cNvSpPr>
            <p:nvPr/>
          </p:nvSpPr>
          <p:spPr bwMode="auto">
            <a:xfrm>
              <a:off x="2832" y="3120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  <a:latin typeface="Courier New" charset="0"/>
                </a:rPr>
                <a:t>45</a:t>
              </a:r>
            </a:p>
          </p:txBody>
        </p:sp>
        <p:sp>
          <p:nvSpPr>
            <p:cNvPr id="30756" name="Rectangle 14"/>
            <p:cNvSpPr>
              <a:spLocks noChangeArrowheads="1"/>
            </p:cNvSpPr>
            <p:nvPr/>
          </p:nvSpPr>
          <p:spPr bwMode="auto">
            <a:xfrm>
              <a:off x="3264" y="3120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  <a:latin typeface="Courier New" charset="0"/>
                </a:rPr>
                <a:t>67</a:t>
              </a:r>
            </a:p>
          </p:txBody>
        </p:sp>
        <p:sp>
          <p:nvSpPr>
            <p:cNvPr id="30757" name="Rectangle 15"/>
            <p:cNvSpPr>
              <a:spLocks noChangeArrowheads="1"/>
            </p:cNvSpPr>
            <p:nvPr/>
          </p:nvSpPr>
          <p:spPr bwMode="auto">
            <a:xfrm>
              <a:off x="3696" y="3120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>
                <a:solidFill>
                  <a:schemeClr val="bg1"/>
                </a:solidFill>
                <a:latin typeface="Courier New" charset="0"/>
              </a:endParaRPr>
            </a:p>
          </p:txBody>
        </p:sp>
        <p:sp>
          <p:nvSpPr>
            <p:cNvPr id="30758" name="Rectangle 16"/>
            <p:cNvSpPr>
              <a:spLocks noChangeArrowheads="1"/>
            </p:cNvSpPr>
            <p:nvPr/>
          </p:nvSpPr>
          <p:spPr bwMode="auto">
            <a:xfrm>
              <a:off x="4128" y="3120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>
                <a:solidFill>
                  <a:schemeClr val="bg1"/>
                </a:solidFill>
                <a:latin typeface="Courier New" charset="0"/>
              </a:endParaRPr>
            </a:p>
          </p:txBody>
        </p:sp>
      </p:grpSp>
      <p:grpSp>
        <p:nvGrpSpPr>
          <p:cNvPr id="30724" name="Group 50"/>
          <p:cNvGrpSpPr>
            <a:grpSpLocks/>
          </p:cNvGrpSpPr>
          <p:nvPr/>
        </p:nvGrpSpPr>
        <p:grpSpPr bwMode="auto">
          <a:xfrm>
            <a:off x="2362200" y="5943600"/>
            <a:ext cx="5486400" cy="609600"/>
            <a:chOff x="1104" y="3456"/>
            <a:chExt cx="3456" cy="384"/>
          </a:xfrm>
        </p:grpSpPr>
        <p:sp>
          <p:nvSpPr>
            <p:cNvPr id="30735" name="Rectangle 18"/>
            <p:cNvSpPr>
              <a:spLocks noChangeArrowheads="1"/>
            </p:cNvSpPr>
            <p:nvPr/>
          </p:nvSpPr>
          <p:spPr bwMode="auto">
            <a:xfrm>
              <a:off x="3264" y="3456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400">
                  <a:latin typeface="Courier New" charset="0"/>
                </a:rPr>
                <a:t>0x100</a:t>
              </a:r>
            </a:p>
          </p:txBody>
        </p:sp>
        <p:sp>
          <p:nvSpPr>
            <p:cNvPr id="30736" name="Rectangle 19"/>
            <p:cNvSpPr>
              <a:spLocks noChangeArrowheads="1"/>
            </p:cNvSpPr>
            <p:nvPr/>
          </p:nvSpPr>
          <p:spPr bwMode="auto">
            <a:xfrm>
              <a:off x="2832" y="3456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400">
                  <a:latin typeface="Courier New" charset="0"/>
                </a:rPr>
                <a:t>0x101</a:t>
              </a:r>
            </a:p>
          </p:txBody>
        </p:sp>
        <p:sp>
          <p:nvSpPr>
            <p:cNvPr id="30737" name="Rectangle 20"/>
            <p:cNvSpPr>
              <a:spLocks noChangeArrowheads="1"/>
            </p:cNvSpPr>
            <p:nvPr/>
          </p:nvSpPr>
          <p:spPr bwMode="auto">
            <a:xfrm>
              <a:off x="2400" y="3456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400">
                  <a:latin typeface="Courier New" charset="0"/>
                </a:rPr>
                <a:t>0x102</a:t>
              </a:r>
            </a:p>
          </p:txBody>
        </p:sp>
        <p:sp>
          <p:nvSpPr>
            <p:cNvPr id="30738" name="Rectangle 21"/>
            <p:cNvSpPr>
              <a:spLocks noChangeArrowheads="1"/>
            </p:cNvSpPr>
            <p:nvPr/>
          </p:nvSpPr>
          <p:spPr bwMode="auto">
            <a:xfrm>
              <a:off x="1968" y="3456"/>
              <a:ext cx="43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400">
                  <a:latin typeface="Courier New" charset="0"/>
                </a:rPr>
                <a:t>0x103</a:t>
              </a:r>
            </a:p>
          </p:txBody>
        </p:sp>
        <p:sp>
          <p:nvSpPr>
            <p:cNvPr id="30739" name="Rectangle 22"/>
            <p:cNvSpPr>
              <a:spLocks noChangeArrowheads="1"/>
            </p:cNvSpPr>
            <p:nvPr/>
          </p:nvSpPr>
          <p:spPr bwMode="auto">
            <a:xfrm>
              <a:off x="1104" y="3648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>
                <a:solidFill>
                  <a:schemeClr val="bg1"/>
                </a:solidFill>
                <a:latin typeface="Courier New" charset="0"/>
              </a:endParaRPr>
            </a:p>
          </p:txBody>
        </p:sp>
        <p:sp>
          <p:nvSpPr>
            <p:cNvPr id="30740" name="Rectangle 23"/>
            <p:cNvSpPr>
              <a:spLocks noChangeArrowheads="1"/>
            </p:cNvSpPr>
            <p:nvPr/>
          </p:nvSpPr>
          <p:spPr bwMode="auto">
            <a:xfrm>
              <a:off x="1536" y="3648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>
                <a:solidFill>
                  <a:schemeClr val="bg1"/>
                </a:solidFill>
                <a:latin typeface="Courier New" charset="0"/>
              </a:endParaRPr>
            </a:p>
          </p:txBody>
        </p:sp>
        <p:sp>
          <p:nvSpPr>
            <p:cNvPr id="30741" name="Rectangle 24"/>
            <p:cNvSpPr>
              <a:spLocks noChangeArrowheads="1"/>
            </p:cNvSpPr>
            <p:nvPr/>
          </p:nvSpPr>
          <p:spPr bwMode="auto">
            <a:xfrm>
              <a:off x="1968" y="3648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  <a:latin typeface="Courier New" charset="0"/>
                </a:rPr>
                <a:t>67</a:t>
              </a:r>
            </a:p>
          </p:txBody>
        </p:sp>
        <p:sp>
          <p:nvSpPr>
            <p:cNvPr id="30742" name="Rectangle 25"/>
            <p:cNvSpPr>
              <a:spLocks noChangeArrowheads="1"/>
            </p:cNvSpPr>
            <p:nvPr/>
          </p:nvSpPr>
          <p:spPr bwMode="auto">
            <a:xfrm>
              <a:off x="2400" y="3648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  <a:latin typeface="Courier New" charset="0"/>
                </a:rPr>
                <a:t>45</a:t>
              </a:r>
            </a:p>
          </p:txBody>
        </p:sp>
        <p:sp>
          <p:nvSpPr>
            <p:cNvPr id="30743" name="Rectangle 26"/>
            <p:cNvSpPr>
              <a:spLocks noChangeArrowheads="1"/>
            </p:cNvSpPr>
            <p:nvPr/>
          </p:nvSpPr>
          <p:spPr bwMode="auto">
            <a:xfrm>
              <a:off x="2832" y="3648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  <a:latin typeface="Courier New" charset="0"/>
                </a:rPr>
                <a:t>23</a:t>
              </a:r>
            </a:p>
          </p:txBody>
        </p:sp>
        <p:sp>
          <p:nvSpPr>
            <p:cNvPr id="30744" name="Rectangle 27"/>
            <p:cNvSpPr>
              <a:spLocks noChangeArrowheads="1"/>
            </p:cNvSpPr>
            <p:nvPr/>
          </p:nvSpPr>
          <p:spPr bwMode="auto">
            <a:xfrm>
              <a:off x="3264" y="3648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  <a:latin typeface="Courier New" charset="0"/>
                </a:rPr>
                <a:t>01</a:t>
              </a:r>
            </a:p>
          </p:txBody>
        </p:sp>
        <p:sp>
          <p:nvSpPr>
            <p:cNvPr id="30745" name="Rectangle 28"/>
            <p:cNvSpPr>
              <a:spLocks noChangeArrowheads="1"/>
            </p:cNvSpPr>
            <p:nvPr/>
          </p:nvSpPr>
          <p:spPr bwMode="auto">
            <a:xfrm>
              <a:off x="3696" y="3648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>
                <a:solidFill>
                  <a:schemeClr val="bg1"/>
                </a:solidFill>
                <a:latin typeface="Courier New" charset="0"/>
              </a:endParaRPr>
            </a:p>
          </p:txBody>
        </p:sp>
        <p:sp>
          <p:nvSpPr>
            <p:cNvPr id="30746" name="Rectangle 29"/>
            <p:cNvSpPr>
              <a:spLocks noChangeArrowheads="1"/>
            </p:cNvSpPr>
            <p:nvPr/>
          </p:nvSpPr>
          <p:spPr bwMode="auto">
            <a:xfrm>
              <a:off x="4128" y="3648"/>
              <a:ext cx="432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endParaRPr lang="en-US" altLang="en-US">
                <a:solidFill>
                  <a:schemeClr val="bg1"/>
                </a:solidFill>
                <a:latin typeface="Courier New" charset="0"/>
              </a:endParaRPr>
            </a:p>
          </p:txBody>
        </p:sp>
      </p:grpSp>
      <p:sp>
        <p:nvSpPr>
          <p:cNvPr id="30725" name="Rectangle 30"/>
          <p:cNvSpPr>
            <a:spLocks noChangeArrowheads="1"/>
          </p:cNvSpPr>
          <p:nvPr/>
        </p:nvSpPr>
        <p:spPr bwMode="auto">
          <a:xfrm>
            <a:off x="1066800" y="5181600"/>
            <a:ext cx="17795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2000">
                <a:solidFill>
                  <a:schemeClr val="tx2"/>
                </a:solidFill>
              </a:rPr>
              <a:t>Big Endian</a:t>
            </a:r>
          </a:p>
        </p:txBody>
      </p:sp>
      <p:sp>
        <p:nvSpPr>
          <p:cNvPr id="30726" name="Rectangle 31"/>
          <p:cNvSpPr>
            <a:spLocks noChangeArrowheads="1"/>
          </p:cNvSpPr>
          <p:nvPr/>
        </p:nvSpPr>
        <p:spPr bwMode="auto">
          <a:xfrm>
            <a:off x="1066800" y="5943600"/>
            <a:ext cx="17795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2000">
                <a:solidFill>
                  <a:schemeClr val="tx2"/>
                </a:solidFill>
              </a:rPr>
              <a:t>Little Endian</a:t>
            </a:r>
          </a:p>
        </p:txBody>
      </p:sp>
      <p:sp>
        <p:nvSpPr>
          <p:cNvPr id="32" name="Rectangle 41"/>
          <p:cNvSpPr>
            <a:spLocks noChangeArrowheads="1"/>
          </p:cNvSpPr>
          <p:nvPr/>
        </p:nvSpPr>
        <p:spPr bwMode="auto">
          <a:xfrm>
            <a:off x="5791200" y="5410200"/>
            <a:ext cx="6858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2000">
                <a:latin typeface="Courier New" charset="0"/>
              </a:rPr>
              <a:t>01</a:t>
            </a:r>
          </a:p>
        </p:txBody>
      </p:sp>
      <p:sp>
        <p:nvSpPr>
          <p:cNvPr id="33" name="Rectangle 42"/>
          <p:cNvSpPr>
            <a:spLocks noChangeArrowheads="1"/>
          </p:cNvSpPr>
          <p:nvPr/>
        </p:nvSpPr>
        <p:spPr bwMode="auto">
          <a:xfrm>
            <a:off x="5105400" y="5410200"/>
            <a:ext cx="6858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2000">
                <a:latin typeface="Courier New" charset="0"/>
              </a:rPr>
              <a:t>23</a:t>
            </a:r>
          </a:p>
        </p:txBody>
      </p:sp>
      <p:sp>
        <p:nvSpPr>
          <p:cNvPr id="34" name="Rectangle 43"/>
          <p:cNvSpPr>
            <a:spLocks noChangeArrowheads="1"/>
          </p:cNvSpPr>
          <p:nvPr/>
        </p:nvSpPr>
        <p:spPr bwMode="auto">
          <a:xfrm>
            <a:off x="4419600" y="5410200"/>
            <a:ext cx="6858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2000">
                <a:latin typeface="Courier New" charset="0"/>
              </a:rPr>
              <a:t>45</a:t>
            </a:r>
          </a:p>
        </p:txBody>
      </p:sp>
      <p:sp>
        <p:nvSpPr>
          <p:cNvPr id="35" name="Rectangle 44"/>
          <p:cNvSpPr>
            <a:spLocks noChangeArrowheads="1"/>
          </p:cNvSpPr>
          <p:nvPr/>
        </p:nvSpPr>
        <p:spPr bwMode="auto">
          <a:xfrm>
            <a:off x="3733800" y="5410200"/>
            <a:ext cx="6858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2000">
                <a:latin typeface="Courier New" charset="0"/>
              </a:rPr>
              <a:t>67</a:t>
            </a:r>
          </a:p>
        </p:txBody>
      </p:sp>
      <p:sp>
        <p:nvSpPr>
          <p:cNvPr id="36" name="Rectangle 45"/>
          <p:cNvSpPr>
            <a:spLocks noChangeArrowheads="1"/>
          </p:cNvSpPr>
          <p:nvPr/>
        </p:nvSpPr>
        <p:spPr bwMode="auto">
          <a:xfrm>
            <a:off x="5791200" y="6248400"/>
            <a:ext cx="6858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2000">
                <a:latin typeface="Courier New" charset="0"/>
              </a:rPr>
              <a:t>67</a:t>
            </a:r>
          </a:p>
        </p:txBody>
      </p:sp>
      <p:sp>
        <p:nvSpPr>
          <p:cNvPr id="37" name="Rectangle 46"/>
          <p:cNvSpPr>
            <a:spLocks noChangeArrowheads="1"/>
          </p:cNvSpPr>
          <p:nvPr/>
        </p:nvSpPr>
        <p:spPr bwMode="auto">
          <a:xfrm>
            <a:off x="5105400" y="6248400"/>
            <a:ext cx="6858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2000">
                <a:latin typeface="Courier New" charset="0"/>
              </a:rPr>
              <a:t>45</a:t>
            </a:r>
          </a:p>
        </p:txBody>
      </p:sp>
      <p:sp>
        <p:nvSpPr>
          <p:cNvPr id="38" name="Rectangle 47"/>
          <p:cNvSpPr>
            <a:spLocks noChangeArrowheads="1"/>
          </p:cNvSpPr>
          <p:nvPr/>
        </p:nvSpPr>
        <p:spPr bwMode="auto">
          <a:xfrm>
            <a:off x="4419600" y="6248400"/>
            <a:ext cx="6858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2000">
                <a:latin typeface="Courier New" charset="0"/>
              </a:rPr>
              <a:t>23</a:t>
            </a:r>
          </a:p>
        </p:txBody>
      </p:sp>
      <p:sp>
        <p:nvSpPr>
          <p:cNvPr id="39" name="Rectangle 48"/>
          <p:cNvSpPr>
            <a:spLocks noChangeArrowheads="1"/>
          </p:cNvSpPr>
          <p:nvPr/>
        </p:nvSpPr>
        <p:spPr bwMode="auto">
          <a:xfrm>
            <a:off x="3733800" y="6248400"/>
            <a:ext cx="685800" cy="3048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2"/>
            </a:solidFill>
            <a:miter lim="800000"/>
            <a:headEnd/>
            <a:tailEnd type="none" w="sm" len="sm"/>
          </a:ln>
        </p:spPr>
        <p:txBody>
          <a:bodyPr wrap="none" lIns="45720" rIns="45720"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2000">
                <a:latin typeface="Courier New" charset="0"/>
              </a:rPr>
              <a:t>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 autoUpdateAnimBg="0"/>
      <p:bldP spid="33" grpId="0" animBg="1" autoUpdateAnimBg="0"/>
      <p:bldP spid="34" grpId="0" animBg="1" autoUpdateAnimBg="0"/>
      <p:bldP spid="35" grpId="0" animBg="1" autoUpdateAnimBg="0"/>
      <p:bldP spid="36" grpId="0" animBg="1" autoUpdateAnimBg="0"/>
      <p:bldP spid="37" grpId="0" animBg="1" autoUpdateAnimBg="0"/>
      <p:bldP spid="38" grpId="0" animBg="1" autoUpdateAnimBg="0"/>
      <p:bldP spid="39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52"/>
          <p:cNvSpPr>
            <a:spLocks noChangeArrowheads="1"/>
          </p:cNvSpPr>
          <p:nvPr/>
        </p:nvSpPr>
        <p:spPr bwMode="auto">
          <a:xfrm>
            <a:off x="5715000" y="1524000"/>
            <a:ext cx="34290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>
            <a:lvl1pPr marL="385763" indent="-385763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charset="2"/>
              <a:buNone/>
              <a:defRPr/>
            </a:pPr>
            <a:r>
              <a:rPr lang="en-US" altLang="en-US"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</a:rPr>
              <a:t>char S[6] = "15213";</a:t>
            </a:r>
          </a:p>
        </p:txBody>
      </p:sp>
      <p:sp>
        <p:nvSpPr>
          <p:cNvPr id="31746" name="Rectangle 1072"/>
          <p:cNvSpPr txBox="1">
            <a:spLocks noChangeArrowheads="1"/>
          </p:cNvSpPr>
          <p:nvPr/>
        </p:nvSpPr>
        <p:spPr bwMode="auto">
          <a:xfrm>
            <a:off x="404813" y="247650"/>
            <a:ext cx="8716962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4400">
                <a:latin typeface="Franklin Gothic Book" charset="0"/>
              </a:rPr>
              <a:t>Representing Strings</a:t>
            </a:r>
          </a:p>
        </p:txBody>
      </p:sp>
      <p:sp>
        <p:nvSpPr>
          <p:cNvPr id="31747" name="Rectangle 1073"/>
          <p:cNvSpPr txBox="1">
            <a:spLocks noChangeArrowheads="1"/>
          </p:cNvSpPr>
          <p:nvPr/>
        </p:nvSpPr>
        <p:spPr bwMode="auto">
          <a:xfrm>
            <a:off x="304800" y="990600"/>
            <a:ext cx="8472488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2800" b="0">
                <a:latin typeface="Calibri" charset="0"/>
              </a:rPr>
              <a:t>Strings in C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Represented by array of characters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Each character encoded in ASCII format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2000" b="0">
                <a:latin typeface="Calibri" charset="0"/>
              </a:rPr>
              <a:t>Standard 7-bit encoding of character set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2000" b="0">
                <a:latin typeface="Calibri" charset="0"/>
              </a:rPr>
              <a:t>Other encodings exist, but uncommon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2000" b="0">
                <a:latin typeface="Calibri" charset="0"/>
              </a:rPr>
              <a:t>Character </a:t>
            </a:r>
            <a:r>
              <a:rPr lang="ja-JP" altLang="en-US" sz="2000" b="0">
                <a:latin typeface="Calibri" charset="0"/>
              </a:rPr>
              <a:t>“</a:t>
            </a:r>
            <a:r>
              <a:rPr lang="en-US" altLang="ja-JP" sz="2000" b="0">
                <a:latin typeface="Calibri" charset="0"/>
              </a:rPr>
              <a:t>0</a:t>
            </a:r>
            <a:r>
              <a:rPr lang="ja-JP" altLang="en-US" sz="2000" b="0">
                <a:latin typeface="Calibri" charset="0"/>
              </a:rPr>
              <a:t>”</a:t>
            </a:r>
            <a:r>
              <a:rPr lang="en-US" altLang="ja-JP" sz="2000" b="0">
                <a:latin typeface="Calibri" charset="0"/>
              </a:rPr>
              <a:t> has code </a:t>
            </a:r>
            <a:r>
              <a:rPr lang="en-US" altLang="ja-JP" sz="2000" b="0">
                <a:latin typeface="Courier New" charset="0"/>
              </a:rPr>
              <a:t>0x30</a:t>
            </a:r>
          </a:p>
          <a:p>
            <a:pPr lvl="3">
              <a:spcBef>
                <a:spcPct val="20000"/>
              </a:spcBef>
              <a:buFont typeface="Arial" charset="0"/>
              <a:buChar char="–"/>
            </a:pPr>
            <a:r>
              <a:rPr lang="en-US" altLang="en-US" sz="2000" b="0">
                <a:latin typeface="Calibri" charset="0"/>
              </a:rPr>
              <a:t>Digit </a:t>
            </a:r>
            <a:r>
              <a:rPr lang="en-US" altLang="en-US" sz="2000" b="0" i="1">
                <a:latin typeface="Calibri" charset="0"/>
              </a:rPr>
              <a:t>i</a:t>
            </a:r>
            <a:r>
              <a:rPr lang="en-US" altLang="en-US" sz="2000" b="0">
                <a:latin typeface="Calibri" charset="0"/>
              </a:rPr>
              <a:t>  has code </a:t>
            </a:r>
            <a:r>
              <a:rPr lang="en-US" altLang="en-US" sz="2000" b="0">
                <a:latin typeface="Courier New" charset="0"/>
              </a:rPr>
              <a:t>0x30</a:t>
            </a:r>
            <a:r>
              <a:rPr lang="en-US" altLang="en-US" sz="2000" b="0">
                <a:latin typeface="Calibri" charset="0"/>
              </a:rPr>
              <a:t>+</a:t>
            </a:r>
            <a:r>
              <a:rPr lang="en-US" altLang="en-US" sz="2000" b="0" i="1">
                <a:latin typeface="Calibri" charset="0"/>
              </a:rPr>
              <a:t>i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String should be null-terminated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2000" b="0">
                <a:latin typeface="Calibri" charset="0"/>
              </a:rPr>
              <a:t>Final character = 0</a:t>
            </a:r>
          </a:p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 sz="2800" b="0">
                <a:latin typeface="Calibri" charset="0"/>
              </a:rPr>
              <a:t>Compatibility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Byte ordering not an issue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2000" b="0">
                <a:latin typeface="Calibri" charset="0"/>
              </a:rPr>
              <a:t>Data are single byte quantities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b="0">
                <a:latin typeface="Calibri" charset="0"/>
              </a:rPr>
              <a:t>Text files generally platform independent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2000" b="0">
                <a:latin typeface="Calibri" charset="0"/>
              </a:rPr>
              <a:t>Except for different conventions of line termination character(s)!</a:t>
            </a:r>
          </a:p>
        </p:txBody>
      </p:sp>
      <p:sp>
        <p:nvSpPr>
          <p:cNvPr id="31748" name="Text Box 1040"/>
          <p:cNvSpPr txBox="1">
            <a:spLocks noChangeArrowheads="1"/>
          </p:cNvSpPr>
          <p:nvPr/>
        </p:nvSpPr>
        <p:spPr bwMode="auto">
          <a:xfrm>
            <a:off x="6283325" y="1903413"/>
            <a:ext cx="1685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800">
                <a:latin typeface="Helvetica" charset="0"/>
              </a:rPr>
              <a:t>Linux/Alpha </a:t>
            </a:r>
            <a:r>
              <a:rPr lang="en-US" altLang="en-US" sz="1800">
                <a:latin typeface="Courier New" charset="0"/>
              </a:rPr>
              <a:t>S</a:t>
            </a:r>
            <a:endParaRPr lang="en-US" altLang="en-US" sz="1800">
              <a:latin typeface="Helvetica" charset="0"/>
            </a:endParaRPr>
          </a:p>
        </p:txBody>
      </p:sp>
      <p:sp>
        <p:nvSpPr>
          <p:cNvPr id="31749" name="Text Box 1047"/>
          <p:cNvSpPr txBox="1">
            <a:spLocks noChangeArrowheads="1"/>
          </p:cNvSpPr>
          <p:nvPr/>
        </p:nvSpPr>
        <p:spPr bwMode="auto">
          <a:xfrm>
            <a:off x="7870825" y="1903413"/>
            <a:ext cx="815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800">
                <a:latin typeface="Helvetica" charset="0"/>
              </a:rPr>
              <a:t>Sun </a:t>
            </a:r>
            <a:r>
              <a:rPr lang="en-US" altLang="en-US" sz="1800">
                <a:latin typeface="Courier New" charset="0"/>
              </a:rPr>
              <a:t>S</a:t>
            </a:r>
            <a:endParaRPr lang="en-US" altLang="en-US" sz="1800">
              <a:latin typeface="Helvetica" charset="0"/>
            </a:endParaRPr>
          </a:p>
        </p:txBody>
      </p:sp>
      <p:grpSp>
        <p:nvGrpSpPr>
          <p:cNvPr id="31750" name="Group 1057"/>
          <p:cNvGrpSpPr>
            <a:grpSpLocks/>
          </p:cNvGrpSpPr>
          <p:nvPr/>
        </p:nvGrpSpPr>
        <p:grpSpPr bwMode="auto">
          <a:xfrm>
            <a:off x="8035925" y="2362200"/>
            <a:ext cx="609600" cy="1828800"/>
            <a:chOff x="4896" y="2256"/>
            <a:chExt cx="384" cy="1152"/>
          </a:xfrm>
        </p:grpSpPr>
        <p:sp>
          <p:nvSpPr>
            <p:cNvPr id="31765" name="Rectangle 1043"/>
            <p:cNvSpPr>
              <a:spLocks noChangeArrowheads="1"/>
            </p:cNvSpPr>
            <p:nvPr/>
          </p:nvSpPr>
          <p:spPr bwMode="auto">
            <a:xfrm>
              <a:off x="4896" y="2640"/>
              <a:ext cx="38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2000">
                  <a:latin typeface="Courier New" charset="0"/>
                </a:rPr>
                <a:t>32</a:t>
              </a:r>
            </a:p>
          </p:txBody>
        </p:sp>
        <p:sp>
          <p:nvSpPr>
            <p:cNvPr id="31766" name="Rectangle 1044"/>
            <p:cNvSpPr>
              <a:spLocks noChangeArrowheads="1"/>
            </p:cNvSpPr>
            <p:nvPr/>
          </p:nvSpPr>
          <p:spPr bwMode="auto">
            <a:xfrm>
              <a:off x="4896" y="2832"/>
              <a:ext cx="38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2000">
                  <a:latin typeface="Courier New" charset="0"/>
                </a:rPr>
                <a:t>31</a:t>
              </a:r>
            </a:p>
          </p:txBody>
        </p:sp>
        <p:sp>
          <p:nvSpPr>
            <p:cNvPr id="31767" name="Rectangle 1045"/>
            <p:cNvSpPr>
              <a:spLocks noChangeArrowheads="1"/>
            </p:cNvSpPr>
            <p:nvPr/>
          </p:nvSpPr>
          <p:spPr bwMode="auto">
            <a:xfrm>
              <a:off x="4896" y="2256"/>
              <a:ext cx="38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2000">
                  <a:latin typeface="Courier New" charset="0"/>
                </a:rPr>
                <a:t>31</a:t>
              </a:r>
            </a:p>
          </p:txBody>
        </p:sp>
        <p:sp>
          <p:nvSpPr>
            <p:cNvPr id="31768" name="Rectangle 1046"/>
            <p:cNvSpPr>
              <a:spLocks noChangeArrowheads="1"/>
            </p:cNvSpPr>
            <p:nvPr/>
          </p:nvSpPr>
          <p:spPr bwMode="auto">
            <a:xfrm>
              <a:off x="4896" y="2448"/>
              <a:ext cx="38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2000">
                  <a:latin typeface="Courier New" charset="0"/>
                </a:rPr>
                <a:t>35</a:t>
              </a:r>
            </a:p>
          </p:txBody>
        </p:sp>
        <p:sp>
          <p:nvSpPr>
            <p:cNvPr id="31769" name="Rectangle 1055"/>
            <p:cNvSpPr>
              <a:spLocks noChangeArrowheads="1"/>
            </p:cNvSpPr>
            <p:nvPr/>
          </p:nvSpPr>
          <p:spPr bwMode="auto">
            <a:xfrm>
              <a:off x="4896" y="3024"/>
              <a:ext cx="38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2000">
                  <a:latin typeface="Courier New" charset="0"/>
                </a:rPr>
                <a:t>33</a:t>
              </a:r>
            </a:p>
          </p:txBody>
        </p:sp>
        <p:sp>
          <p:nvSpPr>
            <p:cNvPr id="31770" name="Rectangle 1056"/>
            <p:cNvSpPr>
              <a:spLocks noChangeArrowheads="1"/>
            </p:cNvSpPr>
            <p:nvPr/>
          </p:nvSpPr>
          <p:spPr bwMode="auto">
            <a:xfrm>
              <a:off x="4896" y="3216"/>
              <a:ext cx="38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2000">
                  <a:latin typeface="Courier New" charset="0"/>
                </a:rPr>
                <a:t>00</a:t>
              </a:r>
            </a:p>
          </p:txBody>
        </p:sp>
      </p:grpSp>
      <p:grpSp>
        <p:nvGrpSpPr>
          <p:cNvPr id="31751" name="Group 1058"/>
          <p:cNvGrpSpPr>
            <a:grpSpLocks/>
          </p:cNvGrpSpPr>
          <p:nvPr/>
        </p:nvGrpSpPr>
        <p:grpSpPr bwMode="auto">
          <a:xfrm>
            <a:off x="6511925" y="2362200"/>
            <a:ext cx="609600" cy="1828800"/>
            <a:chOff x="4896" y="2256"/>
            <a:chExt cx="384" cy="1152"/>
          </a:xfrm>
        </p:grpSpPr>
        <p:sp>
          <p:nvSpPr>
            <p:cNvPr id="31759" name="Rectangle 1059"/>
            <p:cNvSpPr>
              <a:spLocks noChangeArrowheads="1"/>
            </p:cNvSpPr>
            <p:nvPr/>
          </p:nvSpPr>
          <p:spPr bwMode="auto">
            <a:xfrm>
              <a:off x="4896" y="2640"/>
              <a:ext cx="38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>
                  <a:latin typeface="Courier New" charset="0"/>
                </a:rPr>
                <a:t>32</a:t>
              </a:r>
            </a:p>
          </p:txBody>
        </p:sp>
        <p:sp>
          <p:nvSpPr>
            <p:cNvPr id="31760" name="Rectangle 1060"/>
            <p:cNvSpPr>
              <a:spLocks noChangeArrowheads="1"/>
            </p:cNvSpPr>
            <p:nvPr/>
          </p:nvSpPr>
          <p:spPr bwMode="auto">
            <a:xfrm>
              <a:off x="4896" y="2832"/>
              <a:ext cx="38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2000">
                  <a:latin typeface="Courier New" charset="0"/>
                </a:rPr>
                <a:t>31</a:t>
              </a:r>
            </a:p>
          </p:txBody>
        </p:sp>
        <p:sp>
          <p:nvSpPr>
            <p:cNvPr id="31761" name="Rectangle 1061"/>
            <p:cNvSpPr>
              <a:spLocks noChangeArrowheads="1"/>
            </p:cNvSpPr>
            <p:nvPr/>
          </p:nvSpPr>
          <p:spPr bwMode="auto">
            <a:xfrm>
              <a:off x="4896" y="2256"/>
              <a:ext cx="38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2000">
                  <a:latin typeface="Courier New" charset="0"/>
                </a:rPr>
                <a:t>31</a:t>
              </a:r>
            </a:p>
          </p:txBody>
        </p:sp>
        <p:sp>
          <p:nvSpPr>
            <p:cNvPr id="31762" name="Rectangle 1062"/>
            <p:cNvSpPr>
              <a:spLocks noChangeArrowheads="1"/>
            </p:cNvSpPr>
            <p:nvPr/>
          </p:nvSpPr>
          <p:spPr bwMode="auto">
            <a:xfrm>
              <a:off x="4896" y="2448"/>
              <a:ext cx="38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2000">
                  <a:latin typeface="Courier New" charset="0"/>
                </a:rPr>
                <a:t>35</a:t>
              </a:r>
            </a:p>
          </p:txBody>
        </p:sp>
        <p:sp>
          <p:nvSpPr>
            <p:cNvPr id="31763" name="Rectangle 1063"/>
            <p:cNvSpPr>
              <a:spLocks noChangeArrowheads="1"/>
            </p:cNvSpPr>
            <p:nvPr/>
          </p:nvSpPr>
          <p:spPr bwMode="auto">
            <a:xfrm>
              <a:off x="4896" y="3024"/>
              <a:ext cx="38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2000">
                  <a:latin typeface="Courier New" charset="0"/>
                </a:rPr>
                <a:t>33</a:t>
              </a:r>
            </a:p>
          </p:txBody>
        </p:sp>
        <p:sp>
          <p:nvSpPr>
            <p:cNvPr id="31764" name="Rectangle 1064"/>
            <p:cNvSpPr>
              <a:spLocks noChangeArrowheads="1"/>
            </p:cNvSpPr>
            <p:nvPr/>
          </p:nvSpPr>
          <p:spPr bwMode="auto">
            <a:xfrm>
              <a:off x="4896" y="3216"/>
              <a:ext cx="384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2000">
                  <a:latin typeface="Courier New" charset="0"/>
                </a:rPr>
                <a:t>00</a:t>
              </a:r>
            </a:p>
          </p:txBody>
        </p:sp>
      </p:grpSp>
      <p:grpSp>
        <p:nvGrpSpPr>
          <p:cNvPr id="21" name="Group 1074"/>
          <p:cNvGrpSpPr>
            <a:grpSpLocks/>
          </p:cNvGrpSpPr>
          <p:nvPr/>
        </p:nvGrpSpPr>
        <p:grpSpPr bwMode="auto">
          <a:xfrm>
            <a:off x="7121525" y="2514600"/>
            <a:ext cx="914400" cy="1524000"/>
            <a:chOff x="4272" y="1584"/>
            <a:chExt cx="576" cy="960"/>
          </a:xfrm>
        </p:grpSpPr>
        <p:sp>
          <p:nvSpPr>
            <p:cNvPr id="31753" name="Line 1048"/>
            <p:cNvSpPr>
              <a:spLocks noChangeShapeType="1"/>
            </p:cNvSpPr>
            <p:nvPr/>
          </p:nvSpPr>
          <p:spPr bwMode="auto">
            <a:xfrm>
              <a:off x="4272" y="1584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4" name="Line 1065"/>
            <p:cNvSpPr>
              <a:spLocks noChangeShapeType="1"/>
            </p:cNvSpPr>
            <p:nvPr/>
          </p:nvSpPr>
          <p:spPr bwMode="auto">
            <a:xfrm>
              <a:off x="4272" y="1776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5" name="Line 1066"/>
            <p:cNvSpPr>
              <a:spLocks noChangeShapeType="1"/>
            </p:cNvSpPr>
            <p:nvPr/>
          </p:nvSpPr>
          <p:spPr bwMode="auto">
            <a:xfrm>
              <a:off x="4272" y="1968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6" name="Line 1067"/>
            <p:cNvSpPr>
              <a:spLocks noChangeShapeType="1"/>
            </p:cNvSpPr>
            <p:nvPr/>
          </p:nvSpPr>
          <p:spPr bwMode="auto">
            <a:xfrm>
              <a:off x="4272" y="2160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7" name="Line 1068"/>
            <p:cNvSpPr>
              <a:spLocks noChangeShapeType="1"/>
            </p:cNvSpPr>
            <p:nvPr/>
          </p:nvSpPr>
          <p:spPr bwMode="auto">
            <a:xfrm>
              <a:off x="4272" y="2352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8" name="Line 1069"/>
            <p:cNvSpPr>
              <a:spLocks noChangeShapeType="1"/>
            </p:cNvSpPr>
            <p:nvPr/>
          </p:nvSpPr>
          <p:spPr bwMode="auto">
            <a:xfrm>
              <a:off x="4272" y="2544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32"/>
          <p:cNvSpPr txBox="1">
            <a:spLocks noChangeArrowheads="1"/>
          </p:cNvSpPr>
          <p:nvPr/>
        </p:nvSpPr>
        <p:spPr bwMode="auto">
          <a:xfrm>
            <a:off x="152400" y="247650"/>
            <a:ext cx="85344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4400">
                <a:latin typeface="Franklin Gothic Book" charset="0"/>
              </a:rPr>
              <a:t>Examining Data Representations</a:t>
            </a:r>
          </a:p>
        </p:txBody>
      </p:sp>
      <p:sp>
        <p:nvSpPr>
          <p:cNvPr id="3" name="Rectangle 7"/>
          <p:cNvSpPr txBox="1">
            <a:spLocks noChangeArrowheads="1"/>
          </p:cNvSpPr>
          <p:nvPr/>
        </p:nvSpPr>
        <p:spPr bwMode="auto">
          <a:xfrm>
            <a:off x="290513" y="1220788"/>
            <a:ext cx="8307387" cy="1217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b="0" dirty="0">
                <a:latin typeface="+mn-lt"/>
                <a:ea typeface="+mn-ea"/>
              </a:rPr>
              <a:t>Code to Print Byte Representation of Data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b="0" dirty="0">
                <a:latin typeface="+mn-lt"/>
                <a:ea typeface="+mn-ea"/>
              </a:rPr>
              <a:t>Casting pointer to </a:t>
            </a:r>
            <a:r>
              <a:rPr lang="en-US" b="0" dirty="0">
                <a:latin typeface="Courier New" pitchFamily="49" charset="0"/>
                <a:ea typeface="+mn-ea"/>
              </a:rPr>
              <a:t>unsigned char *</a:t>
            </a:r>
            <a:r>
              <a:rPr lang="en-US" b="0" dirty="0">
                <a:latin typeface="+mn-lt"/>
                <a:ea typeface="+mn-ea"/>
              </a:rPr>
              <a:t> creates byte array</a:t>
            </a:r>
          </a:p>
        </p:txBody>
      </p:sp>
      <p:sp>
        <p:nvSpPr>
          <p:cNvPr id="32771" name="Text Box 4"/>
          <p:cNvSpPr txBox="1">
            <a:spLocks noChangeArrowheads="1"/>
          </p:cNvSpPr>
          <p:nvPr/>
        </p:nvSpPr>
        <p:spPr bwMode="auto">
          <a:xfrm>
            <a:off x="1600200" y="2743200"/>
            <a:ext cx="5943600" cy="28765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800">
                <a:latin typeface="Courier New" charset="0"/>
              </a:rPr>
              <a:t>typedef unsigned char *pointer;</a:t>
            </a:r>
          </a:p>
          <a:p>
            <a:endParaRPr lang="en-US" altLang="en-US" sz="1800">
              <a:latin typeface="Courier New" charset="0"/>
            </a:endParaRPr>
          </a:p>
          <a:p>
            <a:r>
              <a:rPr lang="en-US" altLang="en-US" sz="1800">
                <a:latin typeface="Courier New" charset="0"/>
              </a:rPr>
              <a:t>void show_bytes(pointer start, int len)</a:t>
            </a:r>
          </a:p>
          <a:p>
            <a:r>
              <a:rPr lang="en-US" altLang="en-US" sz="1800">
                <a:latin typeface="Courier New" charset="0"/>
              </a:rPr>
              <a:t>{</a:t>
            </a:r>
          </a:p>
          <a:p>
            <a:r>
              <a:rPr lang="en-US" altLang="en-US" sz="1800">
                <a:latin typeface="Courier New" charset="0"/>
              </a:rPr>
              <a:t>  int i;</a:t>
            </a:r>
          </a:p>
          <a:p>
            <a:r>
              <a:rPr lang="en-US" altLang="en-US" sz="1800">
                <a:latin typeface="Courier New" charset="0"/>
              </a:rPr>
              <a:t>  for (i = 0; i &lt; len; i++)</a:t>
            </a:r>
          </a:p>
          <a:p>
            <a:r>
              <a:rPr lang="en-US" altLang="en-US" sz="1800">
                <a:latin typeface="Courier New" charset="0"/>
              </a:rPr>
              <a:t>    printf("0x%p\t0x%.2x\n",</a:t>
            </a:r>
          </a:p>
          <a:p>
            <a:r>
              <a:rPr lang="en-US" altLang="en-US" sz="1800">
                <a:latin typeface="Courier New" charset="0"/>
              </a:rPr>
              <a:t>           start+i, start[i]);</a:t>
            </a:r>
          </a:p>
          <a:p>
            <a:r>
              <a:rPr lang="en-US" altLang="en-US" sz="1800">
                <a:latin typeface="Courier New" charset="0"/>
              </a:rPr>
              <a:t>  printf("\n");</a:t>
            </a:r>
          </a:p>
          <a:p>
            <a:r>
              <a:rPr lang="en-US" altLang="en-US" sz="1800">
                <a:latin typeface="Courier New" charset="0"/>
              </a:rPr>
              <a:t>}</a:t>
            </a:r>
          </a:p>
        </p:txBody>
      </p:sp>
      <p:sp>
        <p:nvSpPr>
          <p:cNvPr id="32772" name="Text Box 5"/>
          <p:cNvSpPr txBox="1">
            <a:spLocks noChangeArrowheads="1"/>
          </p:cNvSpPr>
          <p:nvPr/>
        </p:nvSpPr>
        <p:spPr bwMode="auto">
          <a:xfrm>
            <a:off x="5562600" y="5638800"/>
            <a:ext cx="30797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1800" b="0">
                <a:latin typeface="Helvetica" charset="0"/>
              </a:rPr>
              <a:t>printf directives:</a:t>
            </a:r>
            <a:endParaRPr lang="en-US" altLang="en-US" sz="1800" b="0">
              <a:latin typeface="Courier New" charset="0"/>
            </a:endParaRPr>
          </a:p>
          <a:p>
            <a:pPr lvl="1"/>
            <a:r>
              <a:rPr lang="en-US" altLang="en-US" sz="1800" b="0">
                <a:latin typeface="Courier New" charset="0"/>
              </a:rPr>
              <a:t>%p</a:t>
            </a:r>
            <a:r>
              <a:rPr lang="en-US" altLang="en-US" sz="1800" b="0">
                <a:latin typeface="Helvetica" charset="0"/>
              </a:rPr>
              <a:t>:	Print pointer</a:t>
            </a:r>
          </a:p>
          <a:p>
            <a:pPr lvl="1"/>
            <a:r>
              <a:rPr lang="en-US" altLang="en-US" sz="1800" b="0">
                <a:latin typeface="Courier New" charset="0"/>
              </a:rPr>
              <a:t>%x</a:t>
            </a:r>
            <a:r>
              <a:rPr lang="en-US" altLang="en-US" sz="1800" b="0">
                <a:latin typeface="Helvetica" charset="0"/>
              </a:rPr>
              <a:t>:	Print Hexadecimal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031"/>
          <p:cNvSpPr txBox="1">
            <a:spLocks noChangeArrowheads="1"/>
          </p:cNvSpPr>
          <p:nvPr/>
        </p:nvSpPr>
        <p:spPr bwMode="auto">
          <a:xfrm>
            <a:off x="404813" y="247650"/>
            <a:ext cx="8716962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 sz="4400" b="0">
                <a:latin typeface="Courier New" charset="0"/>
              </a:rPr>
              <a:t>show_bytes</a:t>
            </a:r>
            <a:r>
              <a:rPr lang="en-US" altLang="en-US" sz="4400">
                <a:latin typeface="Calibri" charset="0"/>
              </a:rPr>
              <a:t> </a:t>
            </a:r>
            <a:r>
              <a:rPr lang="en-US" altLang="en-US" sz="4400">
                <a:latin typeface="Franklin Gothic Book" charset="0"/>
              </a:rPr>
              <a:t>Execution Example</a:t>
            </a:r>
          </a:p>
        </p:txBody>
      </p:sp>
      <p:sp>
        <p:nvSpPr>
          <p:cNvPr id="33794" name="Text Box 1028"/>
          <p:cNvSpPr txBox="1">
            <a:spLocks noChangeArrowheads="1"/>
          </p:cNvSpPr>
          <p:nvPr/>
        </p:nvSpPr>
        <p:spPr bwMode="auto">
          <a:xfrm>
            <a:off x="1600200" y="1981200"/>
            <a:ext cx="5943600" cy="1106488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en-US" sz="1800">
                <a:latin typeface="Courier New" charset="0"/>
              </a:rPr>
              <a:t>int a = 15213;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en-US" sz="1800">
                <a:latin typeface="Courier New" charset="0"/>
              </a:rPr>
              <a:t>printf("int a = 15213;\n");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en-US" sz="1800">
                <a:latin typeface="Courier New" charset="0"/>
              </a:rPr>
              <a:t>show_bytes((pointer) &amp;a, sizeof(int));</a:t>
            </a:r>
          </a:p>
        </p:txBody>
      </p:sp>
      <p:sp>
        <p:nvSpPr>
          <p:cNvPr id="33795" name="Text Box 1029"/>
          <p:cNvSpPr txBox="1">
            <a:spLocks noChangeArrowheads="1"/>
          </p:cNvSpPr>
          <p:nvPr/>
        </p:nvSpPr>
        <p:spPr bwMode="auto">
          <a:xfrm>
            <a:off x="1524000" y="3584575"/>
            <a:ext cx="2316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r>
              <a:rPr lang="en-US" altLang="en-US">
                <a:latin typeface="Helvetica" charset="0"/>
              </a:rPr>
              <a:t>Result (Linux):</a:t>
            </a:r>
          </a:p>
        </p:txBody>
      </p:sp>
      <p:sp>
        <p:nvSpPr>
          <p:cNvPr id="33796" name="Text Box 1030"/>
          <p:cNvSpPr txBox="1">
            <a:spLocks noChangeArrowheads="1"/>
          </p:cNvSpPr>
          <p:nvPr/>
        </p:nvSpPr>
        <p:spPr bwMode="auto">
          <a:xfrm>
            <a:off x="1676400" y="4191000"/>
            <a:ext cx="3581400" cy="1808163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en-US" sz="1800">
                <a:latin typeface="Courier New" charset="0"/>
              </a:rPr>
              <a:t>int a = 15213;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en-US" sz="1800">
                <a:latin typeface="Courier New" charset="0"/>
              </a:rPr>
              <a:t>0x11ffffcb8	0x6d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en-US" sz="1800">
                <a:latin typeface="Courier New" charset="0"/>
              </a:rPr>
              <a:t>0x11ffffcb9	0x3b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en-US" sz="1800">
                <a:latin typeface="Courier New" charset="0"/>
              </a:rPr>
              <a:t>0x11ffffcba	0x00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en-US" sz="1800">
                <a:latin typeface="Courier New" charset="0"/>
              </a:rPr>
              <a:t>0x11ffffcbb	0x00</a:t>
            </a:r>
          </a:p>
        </p:txBody>
      </p:sp>
      <p:grpSp>
        <p:nvGrpSpPr>
          <p:cNvPr id="33797" name="Group 22"/>
          <p:cNvGrpSpPr>
            <a:grpSpLocks/>
          </p:cNvGrpSpPr>
          <p:nvPr/>
        </p:nvGrpSpPr>
        <p:grpSpPr bwMode="auto">
          <a:xfrm>
            <a:off x="5715000" y="4114800"/>
            <a:ext cx="1685925" cy="1677988"/>
            <a:chOff x="432" y="1775"/>
            <a:chExt cx="1062" cy="1057"/>
          </a:xfrm>
        </p:grpSpPr>
        <p:grpSp>
          <p:nvGrpSpPr>
            <p:cNvPr id="33810" name="Group 13"/>
            <p:cNvGrpSpPr>
              <a:grpSpLocks/>
            </p:cNvGrpSpPr>
            <p:nvPr/>
          </p:nvGrpSpPr>
          <p:grpSpPr bwMode="auto">
            <a:xfrm>
              <a:off x="576" y="2064"/>
              <a:ext cx="384" cy="768"/>
              <a:chOff x="1152" y="2160"/>
              <a:chExt cx="384" cy="768"/>
            </a:xfrm>
          </p:grpSpPr>
          <p:sp>
            <p:nvSpPr>
              <p:cNvPr id="33812" name="Rectangle 4"/>
              <p:cNvSpPr>
                <a:spLocks noChangeArrowheads="1"/>
              </p:cNvSpPr>
              <p:nvPr/>
            </p:nvSpPr>
            <p:spPr bwMode="auto">
              <a:xfrm>
                <a:off x="1152" y="2160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 sz="2000">
                    <a:latin typeface="Courier New" charset="0"/>
                  </a:rPr>
                  <a:t>6D</a:t>
                </a:r>
              </a:p>
            </p:txBody>
          </p:sp>
          <p:sp>
            <p:nvSpPr>
              <p:cNvPr id="33813" name="Rectangle 5"/>
              <p:cNvSpPr>
                <a:spLocks noChangeArrowheads="1"/>
              </p:cNvSpPr>
              <p:nvPr/>
            </p:nvSpPr>
            <p:spPr bwMode="auto">
              <a:xfrm>
                <a:off x="1152" y="2352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 sz="2000">
                    <a:latin typeface="Courier New" charset="0"/>
                  </a:rPr>
                  <a:t>3B</a:t>
                </a:r>
              </a:p>
            </p:txBody>
          </p:sp>
          <p:sp>
            <p:nvSpPr>
              <p:cNvPr id="33814" name="Rectangle 6"/>
              <p:cNvSpPr>
                <a:spLocks noChangeArrowheads="1"/>
              </p:cNvSpPr>
              <p:nvPr/>
            </p:nvSpPr>
            <p:spPr bwMode="auto">
              <a:xfrm>
                <a:off x="1152" y="2544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 sz="2000">
                    <a:latin typeface="Courier New" charset="0"/>
                  </a:rPr>
                  <a:t>00</a:t>
                </a:r>
              </a:p>
            </p:txBody>
          </p:sp>
          <p:sp>
            <p:nvSpPr>
              <p:cNvPr id="33815" name="Rectangle 7"/>
              <p:cNvSpPr>
                <a:spLocks noChangeArrowheads="1"/>
              </p:cNvSpPr>
              <p:nvPr/>
            </p:nvSpPr>
            <p:spPr bwMode="auto">
              <a:xfrm>
                <a:off x="1152" y="2736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 sz="2000">
                    <a:latin typeface="Courier New" charset="0"/>
                  </a:rPr>
                  <a:t>00</a:t>
                </a:r>
              </a:p>
            </p:txBody>
          </p:sp>
        </p:grpSp>
        <p:sp>
          <p:nvSpPr>
            <p:cNvPr id="33811" name="Text Box 14"/>
            <p:cNvSpPr txBox="1">
              <a:spLocks noChangeArrowheads="1"/>
            </p:cNvSpPr>
            <p:nvPr/>
          </p:nvSpPr>
          <p:spPr bwMode="auto">
            <a:xfrm>
              <a:off x="432" y="1775"/>
              <a:ext cx="106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>
                  <a:latin typeface="Helvetica" charset="0"/>
                </a:rPr>
                <a:t>Linux/Alpha </a:t>
              </a:r>
              <a:r>
                <a:rPr lang="en-US" altLang="en-US" sz="1800">
                  <a:latin typeface="Courier New" charset="0"/>
                </a:rPr>
                <a:t>A</a:t>
              </a:r>
              <a:endParaRPr lang="en-US" altLang="en-US" sz="1800">
                <a:latin typeface="Helvetica" charset="0"/>
              </a:endParaRPr>
            </a:p>
          </p:txBody>
        </p:sp>
      </p:grpSp>
      <p:grpSp>
        <p:nvGrpSpPr>
          <p:cNvPr id="33798" name="Group 30"/>
          <p:cNvGrpSpPr>
            <a:grpSpLocks/>
          </p:cNvGrpSpPr>
          <p:nvPr/>
        </p:nvGrpSpPr>
        <p:grpSpPr bwMode="auto">
          <a:xfrm>
            <a:off x="7531100" y="4114800"/>
            <a:ext cx="815975" cy="1677988"/>
            <a:chOff x="1576" y="1775"/>
            <a:chExt cx="514" cy="1057"/>
          </a:xfrm>
        </p:grpSpPr>
        <p:grpSp>
          <p:nvGrpSpPr>
            <p:cNvPr id="33804" name="Group 29"/>
            <p:cNvGrpSpPr>
              <a:grpSpLocks/>
            </p:cNvGrpSpPr>
            <p:nvPr/>
          </p:nvGrpSpPr>
          <p:grpSpPr bwMode="auto">
            <a:xfrm>
              <a:off x="1632" y="2064"/>
              <a:ext cx="384" cy="768"/>
              <a:chOff x="1632" y="2064"/>
              <a:chExt cx="384" cy="768"/>
            </a:xfrm>
          </p:grpSpPr>
          <p:sp>
            <p:nvSpPr>
              <p:cNvPr id="33806" name="Rectangle 16"/>
              <p:cNvSpPr>
                <a:spLocks noChangeArrowheads="1"/>
              </p:cNvSpPr>
              <p:nvPr/>
            </p:nvSpPr>
            <p:spPr bwMode="auto">
              <a:xfrm>
                <a:off x="1632" y="2448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 sz="2000">
                    <a:latin typeface="Courier New" charset="0"/>
                  </a:rPr>
                  <a:t>3B</a:t>
                </a:r>
              </a:p>
            </p:txBody>
          </p:sp>
          <p:sp>
            <p:nvSpPr>
              <p:cNvPr id="33807" name="Rectangle 17"/>
              <p:cNvSpPr>
                <a:spLocks noChangeArrowheads="1"/>
              </p:cNvSpPr>
              <p:nvPr/>
            </p:nvSpPr>
            <p:spPr bwMode="auto">
              <a:xfrm>
                <a:off x="1632" y="2640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 sz="2000">
                    <a:latin typeface="Courier New" charset="0"/>
                  </a:rPr>
                  <a:t>6D</a:t>
                </a:r>
              </a:p>
            </p:txBody>
          </p:sp>
          <p:sp>
            <p:nvSpPr>
              <p:cNvPr id="33808" name="Rectangle 18"/>
              <p:cNvSpPr>
                <a:spLocks noChangeArrowheads="1"/>
              </p:cNvSpPr>
              <p:nvPr/>
            </p:nvSpPr>
            <p:spPr bwMode="auto">
              <a:xfrm>
                <a:off x="1632" y="2064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 sz="2000">
                    <a:latin typeface="Courier New" charset="0"/>
                  </a:rPr>
                  <a:t>00</a:t>
                </a:r>
              </a:p>
            </p:txBody>
          </p:sp>
          <p:sp>
            <p:nvSpPr>
              <p:cNvPr id="33809" name="Rectangle 19"/>
              <p:cNvSpPr>
                <a:spLocks noChangeArrowheads="1"/>
              </p:cNvSpPr>
              <p:nvPr/>
            </p:nvSpPr>
            <p:spPr bwMode="auto">
              <a:xfrm>
                <a:off x="1632" y="2256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r>
                  <a:rPr lang="en-US" altLang="en-US" sz="2000">
                    <a:latin typeface="Courier New" charset="0"/>
                  </a:rPr>
                  <a:t>00</a:t>
                </a:r>
              </a:p>
            </p:txBody>
          </p:sp>
        </p:grpSp>
        <p:sp>
          <p:nvSpPr>
            <p:cNvPr id="33805" name="Text Box 20"/>
            <p:cNvSpPr txBox="1">
              <a:spLocks noChangeArrowheads="1"/>
            </p:cNvSpPr>
            <p:nvPr/>
          </p:nvSpPr>
          <p:spPr bwMode="auto">
            <a:xfrm>
              <a:off x="1576" y="1775"/>
              <a:ext cx="51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r>
                <a:rPr lang="en-US" altLang="en-US" sz="1800">
                  <a:latin typeface="Helvetica" charset="0"/>
                </a:rPr>
                <a:t>Sun </a:t>
              </a:r>
              <a:r>
                <a:rPr lang="en-US" altLang="en-US" sz="1800">
                  <a:latin typeface="Courier New" charset="0"/>
                </a:rPr>
                <a:t>A</a:t>
              </a:r>
              <a:endParaRPr lang="en-US" altLang="en-US" sz="1800">
                <a:latin typeface="Helvetica" charset="0"/>
              </a:endParaRPr>
            </a:p>
          </p:txBody>
        </p:sp>
      </p:grpSp>
      <p:grpSp>
        <p:nvGrpSpPr>
          <p:cNvPr id="20" name="Group 105"/>
          <p:cNvGrpSpPr>
            <a:grpSpLocks/>
          </p:cNvGrpSpPr>
          <p:nvPr/>
        </p:nvGrpSpPr>
        <p:grpSpPr bwMode="auto">
          <a:xfrm>
            <a:off x="6553200" y="4725988"/>
            <a:ext cx="1066800" cy="914400"/>
            <a:chOff x="960" y="1920"/>
            <a:chExt cx="672" cy="576"/>
          </a:xfrm>
        </p:grpSpPr>
        <p:sp>
          <p:nvSpPr>
            <p:cNvPr id="33800" name="Line 23"/>
            <p:cNvSpPr>
              <a:spLocks noChangeShapeType="1"/>
            </p:cNvSpPr>
            <p:nvPr/>
          </p:nvSpPr>
          <p:spPr bwMode="auto">
            <a:xfrm>
              <a:off x="960" y="1920"/>
              <a:ext cx="672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1" name="Line 24"/>
            <p:cNvSpPr>
              <a:spLocks noChangeShapeType="1"/>
            </p:cNvSpPr>
            <p:nvPr/>
          </p:nvSpPr>
          <p:spPr bwMode="auto">
            <a:xfrm>
              <a:off x="960" y="2112"/>
              <a:ext cx="67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2" name="Line 25"/>
            <p:cNvSpPr>
              <a:spLocks noChangeShapeType="1"/>
            </p:cNvSpPr>
            <p:nvPr/>
          </p:nvSpPr>
          <p:spPr bwMode="auto">
            <a:xfrm flipV="1">
              <a:off x="960" y="2112"/>
              <a:ext cx="67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3" name="Line 28"/>
            <p:cNvSpPr>
              <a:spLocks noChangeShapeType="1"/>
            </p:cNvSpPr>
            <p:nvPr/>
          </p:nvSpPr>
          <p:spPr bwMode="auto">
            <a:xfrm flipV="1">
              <a:off x="960" y="1920"/>
              <a:ext cx="672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1063</TotalTime>
  <Words>1027</Words>
  <Application>Microsoft Macintosh PowerPoint</Application>
  <PresentationFormat>On-screen Show (4:3)</PresentationFormat>
  <Paragraphs>390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4" baseType="lpstr">
      <vt:lpstr>굴림</vt:lpstr>
      <vt:lpstr>ＭＳ Ｐゴシック</vt:lpstr>
      <vt:lpstr>Arial</vt:lpstr>
      <vt:lpstr>Arial Narrow</vt:lpstr>
      <vt:lpstr>Arial Narrow Bold</vt:lpstr>
      <vt:lpstr>Calibri</vt:lpstr>
      <vt:lpstr>Courier New</vt:lpstr>
      <vt:lpstr>Franklin Gothic Book</vt:lpstr>
      <vt:lpstr>Franklin Gothic Medium</vt:lpstr>
      <vt:lpstr>Helvetica</vt:lpstr>
      <vt:lpstr>News Gothic MT</vt:lpstr>
      <vt:lpstr>Times</vt:lpstr>
      <vt:lpstr>Wingdings</vt:lpstr>
      <vt:lpstr>Wingdings 2</vt:lpstr>
      <vt:lpstr>Breeze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Georgia Tech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CS1315: Introduction to Media Computation</dc:title>
  <dc:creator>Mark Guzdial</dc:creator>
  <cp:lastModifiedBy>Ryan Balachandran</cp:lastModifiedBy>
  <cp:revision>119</cp:revision>
  <dcterms:created xsi:type="dcterms:W3CDTF">2004-01-20T22:43:44Z</dcterms:created>
  <dcterms:modified xsi:type="dcterms:W3CDTF">2019-10-23T20:06:48Z</dcterms:modified>
</cp:coreProperties>
</file>