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827" r:id="rId2"/>
    <p:sldId id="833" r:id="rId3"/>
    <p:sldId id="877" r:id="rId4"/>
    <p:sldId id="835" r:id="rId5"/>
    <p:sldId id="878" r:id="rId6"/>
    <p:sldId id="839" r:id="rId7"/>
    <p:sldId id="841" r:id="rId8"/>
    <p:sldId id="840" r:id="rId9"/>
    <p:sldId id="842" r:id="rId10"/>
    <p:sldId id="930" r:id="rId11"/>
    <p:sldId id="883" r:id="rId12"/>
    <p:sldId id="931" r:id="rId13"/>
    <p:sldId id="847" r:id="rId14"/>
    <p:sldId id="887" r:id="rId15"/>
    <p:sldId id="849" r:id="rId16"/>
    <p:sldId id="851" r:id="rId17"/>
    <p:sldId id="893" r:id="rId18"/>
    <p:sldId id="894" r:id="rId19"/>
    <p:sldId id="925" r:id="rId20"/>
    <p:sldId id="856" r:id="rId21"/>
    <p:sldId id="929" r:id="rId22"/>
    <p:sldId id="857" r:id="rId23"/>
    <p:sldId id="908" r:id="rId24"/>
    <p:sldId id="909" r:id="rId25"/>
    <p:sldId id="911" r:id="rId26"/>
    <p:sldId id="912" r:id="rId27"/>
    <p:sldId id="914" r:id="rId28"/>
    <p:sldId id="915" r:id="rId29"/>
    <p:sldId id="918" r:id="rId30"/>
    <p:sldId id="919" r:id="rId31"/>
  </p:sldIdLst>
  <p:sldSz cx="9144000" cy="6858000" type="screen4x3"/>
  <p:notesSz cx="7302500" cy="9586913"/>
  <p:custDataLst>
    <p:tags r:id="rId3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-96" charset="0"/>
        <a:ea typeface="ＭＳ Ｐゴシック" pitchFamily="-96" charset="-128"/>
        <a:cs typeface="ＭＳ Ｐゴシック" pitchFamily="-96" charset="-128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-96" charset="0"/>
        <a:ea typeface="ＭＳ Ｐゴシック" pitchFamily="-96" charset="-128"/>
        <a:cs typeface="ＭＳ Ｐゴシック" pitchFamily="-96" charset="-128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-96" charset="0"/>
        <a:ea typeface="ＭＳ Ｐゴシック" pitchFamily="-96" charset="-128"/>
        <a:cs typeface="ＭＳ Ｐゴシック" pitchFamily="-96" charset="-128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-96" charset="0"/>
        <a:ea typeface="ＭＳ Ｐゴシック" pitchFamily="-96" charset="-128"/>
        <a:cs typeface="ＭＳ Ｐゴシック" pitchFamily="-96" charset="-128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-96" charset="0"/>
        <a:ea typeface="ＭＳ Ｐゴシック" pitchFamily="-96" charset="-128"/>
        <a:cs typeface="ＭＳ Ｐゴシック" pitchFamily="-96" charset="-128"/>
      </a:defRPr>
    </a:lvl5pPr>
    <a:lvl6pPr marL="2286000" algn="l" defTabSz="457200" rtl="0" eaLnBrk="1" latinLnBrk="0" hangingPunct="1">
      <a:defRPr sz="2400" b="1" kern="1200">
        <a:solidFill>
          <a:schemeClr val="tx1"/>
        </a:solidFill>
        <a:latin typeface="Arial Narrow" pitchFamily="-96" charset="0"/>
        <a:ea typeface="ＭＳ Ｐゴシック" pitchFamily="-96" charset="-128"/>
        <a:cs typeface="ＭＳ Ｐゴシック" pitchFamily="-96" charset="-128"/>
      </a:defRPr>
    </a:lvl6pPr>
    <a:lvl7pPr marL="2743200" algn="l" defTabSz="457200" rtl="0" eaLnBrk="1" latinLnBrk="0" hangingPunct="1">
      <a:defRPr sz="2400" b="1" kern="1200">
        <a:solidFill>
          <a:schemeClr val="tx1"/>
        </a:solidFill>
        <a:latin typeface="Arial Narrow" pitchFamily="-96" charset="0"/>
        <a:ea typeface="ＭＳ Ｐゴシック" pitchFamily="-96" charset="-128"/>
        <a:cs typeface="ＭＳ Ｐゴシック" pitchFamily="-96" charset="-128"/>
      </a:defRPr>
    </a:lvl7pPr>
    <a:lvl8pPr marL="3200400" algn="l" defTabSz="457200" rtl="0" eaLnBrk="1" latinLnBrk="0" hangingPunct="1">
      <a:defRPr sz="2400" b="1" kern="1200">
        <a:solidFill>
          <a:schemeClr val="tx1"/>
        </a:solidFill>
        <a:latin typeface="Arial Narrow" pitchFamily="-96" charset="0"/>
        <a:ea typeface="ＭＳ Ｐゴシック" pitchFamily="-96" charset="-128"/>
        <a:cs typeface="ＭＳ Ｐゴシック" pitchFamily="-96" charset="-128"/>
      </a:defRPr>
    </a:lvl8pPr>
    <a:lvl9pPr marL="3657600" algn="l" defTabSz="457200" rtl="0" eaLnBrk="1" latinLnBrk="0" hangingPunct="1">
      <a:defRPr sz="2400" b="1" kern="1200">
        <a:solidFill>
          <a:schemeClr val="tx1"/>
        </a:solidFill>
        <a:latin typeface="Arial Narrow" pitchFamily="-96" charset="0"/>
        <a:ea typeface="ＭＳ Ｐゴシック" pitchFamily="-96" charset="-128"/>
        <a:cs typeface="ＭＳ Ｐゴシック" pitchFamily="-96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19">
          <p15:clr>
            <a:srgbClr val="A4A3A4"/>
          </p15:clr>
        </p15:guide>
        <p15:guide id="2" pos="23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6F5BD"/>
    <a:srgbClr val="990000"/>
    <a:srgbClr val="D5F1CF"/>
    <a:srgbClr val="F1C7C7"/>
    <a:srgbClr val="CDF1C5"/>
    <a:srgbClr val="FF9999"/>
    <a:srgbClr val="A8E799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41" autoAdjust="0"/>
    <p:restoredTop sz="50000" autoAdjust="0"/>
  </p:normalViewPr>
  <p:slideViewPr>
    <p:cSldViewPr snapToObjects="1">
      <p:cViewPr varScale="1">
        <p:scale>
          <a:sx n="113" d="100"/>
          <a:sy n="113" d="100"/>
        </p:scale>
        <p:origin x="2000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Objects="1">
      <p:cViewPr varScale="1">
        <p:scale>
          <a:sx n="42" d="100"/>
          <a:sy n="42" d="100"/>
        </p:scale>
        <p:origin x="-1728" y="-120"/>
      </p:cViewPr>
      <p:guideLst>
        <p:guide orient="horz" pos="3019"/>
        <p:guide pos="23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3693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12071915-553D-485B-9739-70522BB429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859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96" charset="-128"/>
        <a:cs typeface="ＭＳ Ｐゴシック" pitchFamily="-96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96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96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96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96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2D5372-C1B4-4827-AFE9-AFE92E264492}" type="slidenum">
              <a:rPr lang="en-US" smtClean="0">
                <a:latin typeface="Times New Roman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1</a:t>
            </a:fld>
            <a:endParaRPr lang="en-US">
              <a:latin typeface="Times New Roman" pitchFamily="-96" charset="0"/>
              <a:ea typeface="ＭＳ Ｐゴシック" pitchFamily="-96" charset="-128"/>
              <a:cs typeface="ＭＳ Ｐゴシック" pitchFamily="-96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107255-7FB1-440B-9751-06EC07147747}" type="slidenum">
              <a:rPr lang="en-US" smtClean="0">
                <a:latin typeface="Times New Roman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5</a:t>
            </a:fld>
            <a:endParaRPr lang="en-US">
              <a:latin typeface="Times New Roman" pitchFamily="-96" charset="0"/>
              <a:ea typeface="ＭＳ Ｐゴシック" pitchFamily="-96" charset="-128"/>
              <a:cs typeface="ＭＳ Ｐゴシック" pitchFamily="-96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latin typeface="Times New Roman" pitchFamily="-96" charset="0"/>
              </a:rPr>
              <a:t>Board:</a:t>
            </a:r>
            <a:r>
              <a:rPr lang="en-US" baseline="0" dirty="0">
                <a:latin typeface="Times New Roman" pitchFamily="-96" charset="0"/>
              </a:rPr>
              <a:t> show 3D example: a[2][3][2] to illustrate the idea of row major as enumerating indices from right to left</a:t>
            </a:r>
            <a:endParaRPr lang="en-US" dirty="0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2D5372-C1B4-4827-AFE9-AFE92E264492}" type="slidenum">
              <a:rPr lang="en-US" smtClean="0">
                <a:latin typeface="Times New Roman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19</a:t>
            </a:fld>
            <a:endParaRPr lang="en-US">
              <a:latin typeface="Times New Roman" pitchFamily="-96" charset="0"/>
              <a:ea typeface="ＭＳ Ｐゴシック" pitchFamily="-96" charset="-128"/>
              <a:cs typeface="ＭＳ Ｐゴシック" pitchFamily="-96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A721E2-1DC1-4E8F-B6C1-4E2A975967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42D0FF-28DA-4C73-BF5F-423BAD45C1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7E37EE-5478-4A3C-9752-18944DF43D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69C6A7-D06C-4975-B69B-6E2D89BA8A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4ABA64-6EE5-4C31-8331-7CC8CEE2D9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DBF591-A7E5-40FB-B180-76ABF36D6F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852D90-7953-4C6D-B4C9-CEC3ABF777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5DE4E-3B4F-4E92-A21D-BBD0DF700A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E6B48-E6B6-4EF7-9E54-55DE399DCC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781EEA-0EE7-455B-84E0-A1D5385EF6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6D7CDF-11A6-4581-B2F6-AFA3C93391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C40C2-5008-4721-AB4B-59993B87C6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903C22-4C3E-4B43-ABAD-83C5D58BF2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650" y="371475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b="0"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897813" y="-26988"/>
            <a:ext cx="1309687" cy="2746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200" dirty="0">
                <a:solidFill>
                  <a:schemeClr val="bg1"/>
                </a:solidFill>
                <a:latin typeface="Times New Roman" pitchFamily="18" charset="0"/>
                <a:ea typeface="+mn-ea"/>
                <a:cs typeface="+mn-cs"/>
              </a:rPr>
              <a:t>Carnegie Mellon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  <p:sldLayoutId id="2147483649" r:id="rId13"/>
  </p:sldLayoutIdLst>
  <p:transition/>
  <p:hf hdr="0" ftr="0" dt="0"/>
  <p:txStyles>
    <p:titleStyle>
      <a:lvl1pPr marL="119063" indent="-119063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ＭＳ Ｐゴシック" pitchFamily="-96" charset="-128"/>
          <a:cs typeface="ＭＳ Ｐゴシック" pitchFamily="-96" charset="-128"/>
        </a:defRPr>
      </a:lvl1pPr>
      <a:lvl2pPr marL="119063" indent="-119063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-96" charset="0"/>
          <a:ea typeface="ＭＳ Ｐゴシック" pitchFamily="-96" charset="-128"/>
          <a:cs typeface="ＭＳ Ｐゴシック" pitchFamily="-96" charset="-128"/>
        </a:defRPr>
      </a:lvl2pPr>
      <a:lvl3pPr marL="119063" indent="-119063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-96" charset="0"/>
          <a:ea typeface="ＭＳ Ｐゴシック" pitchFamily="-96" charset="-128"/>
          <a:cs typeface="ＭＳ Ｐゴシック" pitchFamily="-96" charset="-128"/>
        </a:defRPr>
      </a:lvl3pPr>
      <a:lvl4pPr marL="119063" indent="-119063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-96" charset="0"/>
          <a:ea typeface="ＭＳ Ｐゴシック" pitchFamily="-96" charset="-128"/>
          <a:cs typeface="ＭＳ Ｐゴシック" pitchFamily="-96" charset="-128"/>
        </a:defRPr>
      </a:lvl4pPr>
      <a:lvl5pPr marL="119063" indent="-119063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-96" charset="0"/>
          <a:ea typeface="ＭＳ Ｐゴシック" pitchFamily="-96" charset="-128"/>
          <a:cs typeface="ＭＳ Ｐゴシック" pitchFamily="-96" charset="-128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-96" charset="2"/>
        <a:buChar char="¢"/>
        <a:defRPr sz="2400" b="1">
          <a:solidFill>
            <a:schemeClr val="tx1"/>
          </a:solidFill>
          <a:latin typeface="Calibri" pitchFamily="34" charset="0"/>
          <a:ea typeface="ＭＳ Ｐゴシック" pitchFamily="-96" charset="-128"/>
          <a:cs typeface="ＭＳ Ｐゴシック" pitchFamily="-96" charset="-128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-96" charset="2"/>
        <a:buChar char="§"/>
        <a:defRPr sz="2000">
          <a:solidFill>
            <a:schemeClr val="tx1"/>
          </a:solidFill>
          <a:latin typeface="Calibri" pitchFamily="34" charset="0"/>
          <a:ea typeface="ＭＳ Ｐゴシック" pitchFamily="-96" charset="-128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SzPct val="80000"/>
        <a:buFont typeface="Wingdings" pitchFamily="-96" charset="2"/>
        <a:buChar char="§"/>
        <a:defRPr sz="2000">
          <a:solidFill>
            <a:schemeClr val="tx1"/>
          </a:solidFill>
          <a:latin typeface="Calibri" pitchFamily="34" charset="0"/>
          <a:ea typeface="ＭＳ Ｐゴシック" pitchFamily="-96" charset="-128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  <a:ea typeface="ＭＳ Ｐゴシック" pitchFamily="-96" charset="-128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  <a:ea typeface="ＭＳ Ｐゴシック" pitchFamily="-96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357188" y="457200"/>
            <a:ext cx="7591425" cy="762000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Data Storage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itchFamily="-96" charset="0"/>
              </a:rPr>
              <a:t>Arrays</a:t>
            </a:r>
          </a:p>
          <a:p>
            <a:pPr lvl="1"/>
            <a:r>
              <a:rPr lang="en-US" dirty="0">
                <a:latin typeface="Calibri" pitchFamily="-96" charset="0"/>
              </a:rPr>
              <a:t>One-dimensional</a:t>
            </a:r>
          </a:p>
          <a:p>
            <a:pPr lvl="1"/>
            <a:r>
              <a:rPr lang="en-US" dirty="0">
                <a:latin typeface="Calibri" pitchFamily="-96" charset="0"/>
              </a:rPr>
              <a:t>Multi-dimensional (nested)</a:t>
            </a:r>
          </a:p>
          <a:p>
            <a:pPr lvl="1"/>
            <a:r>
              <a:rPr lang="en-US" dirty="0">
                <a:latin typeface="Calibri" pitchFamily="-96" charset="0"/>
              </a:rPr>
              <a:t>Multi-level</a:t>
            </a:r>
          </a:p>
          <a:p>
            <a:r>
              <a:rPr lang="en-US" dirty="0">
                <a:solidFill>
                  <a:srgbClr val="7F7F7F"/>
                </a:solidFill>
                <a:latin typeface="Calibri" pitchFamily="-96" charset="0"/>
              </a:rPr>
              <a:t>Structures</a:t>
            </a:r>
          </a:p>
          <a:p>
            <a:pPr lvl="1"/>
            <a:r>
              <a:rPr lang="en-US" dirty="0">
                <a:solidFill>
                  <a:srgbClr val="7F7F7F"/>
                </a:solidFill>
                <a:latin typeface="Calibri" pitchFamily="-96" charset="0"/>
              </a:rPr>
              <a:t>Allocation</a:t>
            </a:r>
          </a:p>
          <a:p>
            <a:pPr lvl="1"/>
            <a:r>
              <a:rPr lang="en-US" dirty="0">
                <a:solidFill>
                  <a:srgbClr val="7F7F7F"/>
                </a:solidFill>
                <a:latin typeface="Calibri" pitchFamily="-96" charset="0"/>
              </a:rPr>
              <a:t>Access</a:t>
            </a:r>
          </a:p>
          <a:p>
            <a:pPr lvl="1"/>
            <a:r>
              <a:rPr lang="en-US">
                <a:solidFill>
                  <a:srgbClr val="7F7F7F"/>
                </a:solidFill>
                <a:latin typeface="Calibri" pitchFamily="-96" charset="0"/>
              </a:rPr>
              <a:t>Alignment</a:t>
            </a:r>
            <a:endParaRPr lang="en-US" dirty="0">
              <a:solidFill>
                <a:srgbClr val="7F7F7F"/>
              </a:solidFill>
              <a:latin typeface="Calibri" pitchFamily="-96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5943600" cy="573088"/>
          </a:xfrm>
        </p:spPr>
        <p:txBody>
          <a:bodyPr/>
          <a:lstStyle/>
          <a:p>
            <a:r>
              <a:rPr lang="en-US">
                <a:latin typeface="Calibri" pitchFamily="-96" charset="0"/>
              </a:rPr>
              <a:t>Array Allocation</a:t>
            </a:r>
          </a:p>
        </p:txBody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838200"/>
            <a:ext cx="8307387" cy="1616075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Basic Principle</a:t>
            </a:r>
          </a:p>
          <a:p>
            <a:pPr lvl="1">
              <a:buFont typeface="Wingdings" pitchFamily="-96" charset="2"/>
              <a:buNone/>
            </a:pPr>
            <a:r>
              <a:rPr lang="en-US" i="1" dirty="0">
                <a:latin typeface="Calibri" pitchFamily="-96" charset="0"/>
              </a:rPr>
              <a:t>T</a:t>
            </a:r>
            <a:r>
              <a:rPr lang="en-US" b="1" dirty="0">
                <a:latin typeface="Calibri" pitchFamily="-96" charset="0"/>
              </a:rPr>
              <a:t>  </a:t>
            </a:r>
            <a:r>
              <a:rPr lang="en-US" b="1" dirty="0">
                <a:latin typeface="Courier New" pitchFamily="-96" charset="0"/>
              </a:rPr>
              <a:t>A[</a:t>
            </a:r>
            <a:r>
              <a:rPr lang="en-US" i="1" dirty="0">
                <a:latin typeface="Calibri" pitchFamily="-96" charset="0"/>
              </a:rPr>
              <a:t>L</a:t>
            </a:r>
            <a:r>
              <a:rPr lang="en-US" b="1" dirty="0">
                <a:latin typeface="Courier New" pitchFamily="-96" charset="0"/>
              </a:rPr>
              <a:t>];</a:t>
            </a:r>
            <a:endParaRPr lang="en-US" b="1" dirty="0">
              <a:latin typeface="Calibri" pitchFamily="-96" charset="0"/>
            </a:endParaRPr>
          </a:p>
          <a:p>
            <a:pPr lvl="1"/>
            <a:r>
              <a:rPr lang="en-US" dirty="0">
                <a:latin typeface="Calibri" pitchFamily="-96" charset="0"/>
              </a:rPr>
              <a:t>Array of data type </a:t>
            </a:r>
            <a:r>
              <a:rPr lang="en-US" i="1" dirty="0">
                <a:latin typeface="Calibri" pitchFamily="-96" charset="0"/>
              </a:rPr>
              <a:t>T</a:t>
            </a:r>
            <a:r>
              <a:rPr lang="en-US" dirty="0">
                <a:latin typeface="Calibri" pitchFamily="-96" charset="0"/>
              </a:rPr>
              <a:t> and length </a:t>
            </a:r>
            <a:r>
              <a:rPr lang="en-US" i="1" dirty="0">
                <a:latin typeface="Calibri" pitchFamily="-96" charset="0"/>
              </a:rPr>
              <a:t>L</a:t>
            </a:r>
            <a:endParaRPr lang="en-US" dirty="0">
              <a:latin typeface="Calibri" pitchFamily="-96" charset="0"/>
            </a:endParaRPr>
          </a:p>
          <a:p>
            <a:pPr lvl="1"/>
            <a:r>
              <a:rPr lang="en-US" dirty="0">
                <a:latin typeface="Calibri" pitchFamily="-96" charset="0"/>
              </a:rPr>
              <a:t>Contiguously allocated region of </a:t>
            </a:r>
            <a:r>
              <a:rPr lang="en-US" i="1" dirty="0">
                <a:latin typeface="Calibri" pitchFamily="-96" charset="0"/>
              </a:rPr>
              <a:t>L</a:t>
            </a:r>
            <a:r>
              <a:rPr lang="en-US" dirty="0">
                <a:latin typeface="Calibri" pitchFamily="-96" charset="0"/>
              </a:rPr>
              <a:t> * </a:t>
            </a:r>
            <a:r>
              <a:rPr lang="en-US" b="1" dirty="0" err="1">
                <a:latin typeface="Courier New" pitchFamily="-96" charset="0"/>
              </a:rPr>
              <a:t>sizeof</a:t>
            </a:r>
            <a:r>
              <a:rPr lang="en-US" dirty="0">
                <a:latin typeface="Courier New" pitchFamily="-96" charset="0"/>
              </a:rPr>
              <a:t>(</a:t>
            </a:r>
            <a:r>
              <a:rPr lang="en-US" i="1" dirty="0">
                <a:latin typeface="Calibri" pitchFamily="-96" charset="0"/>
              </a:rPr>
              <a:t>T</a:t>
            </a:r>
            <a:r>
              <a:rPr lang="en-US" dirty="0">
                <a:latin typeface="Courier New" pitchFamily="-96" charset="0"/>
              </a:rPr>
              <a:t>)</a:t>
            </a:r>
            <a:r>
              <a:rPr lang="en-US" dirty="0">
                <a:latin typeface="Calibri" pitchFamily="-96" charset="0"/>
              </a:rPr>
              <a:t> bytes in memory</a:t>
            </a:r>
          </a:p>
        </p:txBody>
      </p:sp>
      <p:sp>
        <p:nvSpPr>
          <p:cNvPr id="301061" name="Text Box 5"/>
          <p:cNvSpPr txBox="1">
            <a:spLocks noChangeArrowheads="1"/>
          </p:cNvSpPr>
          <p:nvPr/>
        </p:nvSpPr>
        <p:spPr bwMode="auto">
          <a:xfrm>
            <a:off x="28575" y="2617788"/>
            <a:ext cx="2135188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600">
                <a:latin typeface="Courier New" pitchFamily="-96" charset="0"/>
              </a:rPr>
              <a:t>char string[12];</a:t>
            </a:r>
          </a:p>
        </p:txBody>
      </p:sp>
      <p:grpSp>
        <p:nvGrpSpPr>
          <p:cNvPr id="99" name="Group 98"/>
          <p:cNvGrpSpPr>
            <a:grpSpLocks/>
          </p:cNvGrpSpPr>
          <p:nvPr/>
        </p:nvGrpSpPr>
        <p:grpSpPr bwMode="auto">
          <a:xfrm>
            <a:off x="2057400" y="2667000"/>
            <a:ext cx="3505200" cy="731838"/>
            <a:chOff x="2514600" y="2667000"/>
            <a:chExt cx="3505200" cy="732254"/>
          </a:xfrm>
        </p:grpSpPr>
        <p:grpSp>
          <p:nvGrpSpPr>
            <p:cNvPr id="56388" name="Group 7"/>
            <p:cNvGrpSpPr>
              <a:grpSpLocks/>
            </p:cNvGrpSpPr>
            <p:nvPr/>
          </p:nvGrpSpPr>
          <p:grpSpPr bwMode="auto">
            <a:xfrm>
              <a:off x="2743200" y="2667000"/>
              <a:ext cx="2743200" cy="228600"/>
              <a:chOff x="1008" y="1776"/>
              <a:chExt cx="1728" cy="144"/>
            </a:xfrm>
          </p:grpSpPr>
          <p:sp>
            <p:nvSpPr>
              <p:cNvPr id="301064" name="Rectangle 8"/>
              <p:cNvSpPr>
                <a:spLocks noChangeArrowheads="1"/>
              </p:cNvSpPr>
              <p:nvPr/>
            </p:nvSpPr>
            <p:spPr bwMode="auto">
              <a:xfrm>
                <a:off x="1008" y="1776"/>
                <a:ext cx="144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65" name="Rectangle 9"/>
              <p:cNvSpPr>
                <a:spLocks noChangeArrowheads="1"/>
              </p:cNvSpPr>
              <p:nvPr/>
            </p:nvSpPr>
            <p:spPr bwMode="auto">
              <a:xfrm>
                <a:off x="1152" y="1776"/>
                <a:ext cx="144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66" name="Rectangle 10"/>
              <p:cNvSpPr>
                <a:spLocks noChangeArrowheads="1"/>
              </p:cNvSpPr>
              <p:nvPr/>
            </p:nvSpPr>
            <p:spPr bwMode="auto">
              <a:xfrm>
                <a:off x="1296" y="1776"/>
                <a:ext cx="144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67" name="Rectangle 11"/>
              <p:cNvSpPr>
                <a:spLocks noChangeArrowheads="1"/>
              </p:cNvSpPr>
              <p:nvPr/>
            </p:nvSpPr>
            <p:spPr bwMode="auto">
              <a:xfrm>
                <a:off x="1440" y="1776"/>
                <a:ext cx="144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68" name="Rectangle 12"/>
              <p:cNvSpPr>
                <a:spLocks noChangeArrowheads="1"/>
              </p:cNvSpPr>
              <p:nvPr/>
            </p:nvSpPr>
            <p:spPr bwMode="auto">
              <a:xfrm>
                <a:off x="1584" y="1776"/>
                <a:ext cx="144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69" name="Rectangle 13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44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70" name="Rectangle 14"/>
              <p:cNvSpPr>
                <a:spLocks noChangeArrowheads="1"/>
              </p:cNvSpPr>
              <p:nvPr/>
            </p:nvSpPr>
            <p:spPr bwMode="auto">
              <a:xfrm>
                <a:off x="1872" y="1776"/>
                <a:ext cx="144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71" name="Rectangle 15"/>
              <p:cNvSpPr>
                <a:spLocks noChangeArrowheads="1"/>
              </p:cNvSpPr>
              <p:nvPr/>
            </p:nvSpPr>
            <p:spPr bwMode="auto">
              <a:xfrm>
                <a:off x="2016" y="1776"/>
                <a:ext cx="144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72" name="Rectangle 16"/>
              <p:cNvSpPr>
                <a:spLocks noChangeArrowheads="1"/>
              </p:cNvSpPr>
              <p:nvPr/>
            </p:nvSpPr>
            <p:spPr bwMode="auto">
              <a:xfrm>
                <a:off x="2160" y="1776"/>
                <a:ext cx="144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73" name="Rectangle 17"/>
              <p:cNvSpPr>
                <a:spLocks noChangeArrowheads="1"/>
              </p:cNvSpPr>
              <p:nvPr/>
            </p:nvSpPr>
            <p:spPr bwMode="auto">
              <a:xfrm>
                <a:off x="2304" y="1776"/>
                <a:ext cx="144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74" name="Rectangle 18"/>
              <p:cNvSpPr>
                <a:spLocks noChangeArrowheads="1"/>
              </p:cNvSpPr>
              <p:nvPr/>
            </p:nvSpPr>
            <p:spPr bwMode="auto">
              <a:xfrm>
                <a:off x="2448" y="1776"/>
                <a:ext cx="144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75" name="Rectangle 19"/>
              <p:cNvSpPr>
                <a:spLocks noChangeArrowheads="1"/>
              </p:cNvSpPr>
              <p:nvPr/>
            </p:nvSpPr>
            <p:spPr bwMode="auto">
              <a:xfrm>
                <a:off x="2592" y="1776"/>
                <a:ext cx="144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56389" name="Text Box 20"/>
            <p:cNvSpPr txBox="1">
              <a:spLocks noChangeArrowheads="1"/>
            </p:cNvSpPr>
            <p:nvPr/>
          </p:nvSpPr>
          <p:spPr bwMode="auto">
            <a:xfrm>
              <a:off x="2514600" y="3062512"/>
              <a:ext cx="396875" cy="33674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</a:t>
              </a:r>
            </a:p>
          </p:txBody>
        </p:sp>
        <p:sp>
          <p:nvSpPr>
            <p:cNvPr id="56390" name="Text Box 21"/>
            <p:cNvSpPr txBox="1">
              <a:spLocks noChangeArrowheads="1"/>
            </p:cNvSpPr>
            <p:nvPr/>
          </p:nvSpPr>
          <p:spPr bwMode="auto">
            <a:xfrm>
              <a:off x="5029200" y="3062512"/>
              <a:ext cx="990600" cy="33674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 </a:t>
              </a:r>
              <a:r>
                <a:rPr lang="en-US" sz="1600" b="0">
                  <a:latin typeface="Calibri" pitchFamily="-96" charset="0"/>
                </a:rPr>
                <a:t>+ 12</a:t>
              </a:r>
              <a:endParaRPr lang="en-US" sz="1600" b="0" i="1">
                <a:latin typeface="Calibri" pitchFamily="-96" charset="0"/>
              </a:endParaRPr>
            </a:p>
          </p:txBody>
        </p:sp>
        <p:sp>
          <p:nvSpPr>
            <p:cNvPr id="56391" name="Line 22"/>
            <p:cNvSpPr>
              <a:spLocks noChangeShapeType="1"/>
            </p:cNvSpPr>
            <p:nvPr/>
          </p:nvSpPr>
          <p:spPr bwMode="auto">
            <a:xfrm flipV="1">
              <a:off x="2743200" y="2895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92" name="Line 23"/>
            <p:cNvSpPr>
              <a:spLocks noChangeShapeType="1"/>
            </p:cNvSpPr>
            <p:nvPr/>
          </p:nvSpPr>
          <p:spPr bwMode="auto">
            <a:xfrm flipV="1">
              <a:off x="5486400" y="2895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01087" name="Text Box 31"/>
          <p:cNvSpPr txBox="1">
            <a:spLocks noChangeArrowheads="1"/>
          </p:cNvSpPr>
          <p:nvPr/>
        </p:nvSpPr>
        <p:spPr bwMode="auto">
          <a:xfrm>
            <a:off x="638175" y="3585642"/>
            <a:ext cx="1525588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600">
                <a:latin typeface="Courier New" pitchFamily="-96" charset="0"/>
              </a:rPr>
              <a:t>int val[5];</a:t>
            </a:r>
          </a:p>
        </p:txBody>
      </p:sp>
      <p:grpSp>
        <p:nvGrpSpPr>
          <p:cNvPr id="98" name="Group 97"/>
          <p:cNvGrpSpPr>
            <a:grpSpLocks/>
          </p:cNvGrpSpPr>
          <p:nvPr/>
        </p:nvGrpSpPr>
        <p:grpSpPr bwMode="auto">
          <a:xfrm>
            <a:off x="2057400" y="3633267"/>
            <a:ext cx="5334000" cy="731837"/>
            <a:chOff x="2514600" y="3429000"/>
            <a:chExt cx="5334000" cy="730672"/>
          </a:xfrm>
        </p:grpSpPr>
        <p:grpSp>
          <p:nvGrpSpPr>
            <p:cNvPr id="56370" name="Group 25"/>
            <p:cNvGrpSpPr>
              <a:grpSpLocks/>
            </p:cNvGrpSpPr>
            <p:nvPr/>
          </p:nvGrpSpPr>
          <p:grpSpPr bwMode="auto">
            <a:xfrm>
              <a:off x="2743200" y="3429000"/>
              <a:ext cx="4572000" cy="228600"/>
              <a:chOff x="1008" y="1968"/>
              <a:chExt cx="2880" cy="144"/>
            </a:xfrm>
          </p:grpSpPr>
          <p:sp>
            <p:nvSpPr>
              <p:cNvPr id="301082" name="Rectangle 26"/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83" name="Rectangle 27"/>
              <p:cNvSpPr>
                <a:spLocks noChangeArrowheads="1"/>
              </p:cNvSpPr>
              <p:nvPr/>
            </p:nvSpPr>
            <p:spPr bwMode="auto">
              <a:xfrm>
                <a:off x="1584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84" name="Rectangle 28"/>
              <p:cNvSpPr>
                <a:spLocks noChangeArrowheads="1"/>
              </p:cNvSpPr>
              <p:nvPr/>
            </p:nvSpPr>
            <p:spPr bwMode="auto">
              <a:xfrm>
                <a:off x="2160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85" name="Rectangle 29"/>
              <p:cNvSpPr>
                <a:spLocks noChangeArrowheads="1"/>
              </p:cNvSpPr>
              <p:nvPr/>
            </p:nvSpPr>
            <p:spPr bwMode="auto">
              <a:xfrm>
                <a:off x="2736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86" name="Rectangle 30"/>
              <p:cNvSpPr>
                <a:spLocks noChangeArrowheads="1"/>
              </p:cNvSpPr>
              <p:nvPr/>
            </p:nvSpPr>
            <p:spPr bwMode="auto">
              <a:xfrm>
                <a:off x="3312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56371" name="Text Box 32"/>
            <p:cNvSpPr txBox="1">
              <a:spLocks noChangeArrowheads="1"/>
            </p:cNvSpPr>
            <p:nvPr/>
          </p:nvSpPr>
          <p:spPr bwMode="auto">
            <a:xfrm>
              <a:off x="2514600" y="3809393"/>
              <a:ext cx="396875" cy="33601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</a:t>
              </a:r>
            </a:p>
          </p:txBody>
        </p:sp>
        <p:sp>
          <p:nvSpPr>
            <p:cNvPr id="56372" name="Text Box 33"/>
            <p:cNvSpPr txBox="1">
              <a:spLocks noChangeArrowheads="1"/>
            </p:cNvSpPr>
            <p:nvPr/>
          </p:nvSpPr>
          <p:spPr bwMode="auto">
            <a:xfrm>
              <a:off x="3182938" y="3823658"/>
              <a:ext cx="990600" cy="33601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 </a:t>
              </a:r>
              <a:r>
                <a:rPr lang="en-US" sz="1600" b="0">
                  <a:latin typeface="Calibri" pitchFamily="-96" charset="0"/>
                </a:rPr>
                <a:t>+ 4</a:t>
              </a:r>
              <a:endParaRPr lang="en-US" sz="1600" b="0" i="1">
                <a:latin typeface="Calibri" pitchFamily="-96" charset="0"/>
              </a:endParaRPr>
            </a:p>
          </p:txBody>
        </p:sp>
        <p:sp>
          <p:nvSpPr>
            <p:cNvPr id="56373" name="Line 34"/>
            <p:cNvSpPr>
              <a:spLocks noChangeShapeType="1"/>
            </p:cNvSpPr>
            <p:nvPr/>
          </p:nvSpPr>
          <p:spPr bwMode="auto">
            <a:xfrm flipV="1">
              <a:off x="2743200" y="3643313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74" name="Line 35"/>
            <p:cNvSpPr>
              <a:spLocks noChangeShapeType="1"/>
            </p:cNvSpPr>
            <p:nvPr/>
          </p:nvSpPr>
          <p:spPr bwMode="auto">
            <a:xfrm flipV="1">
              <a:off x="36576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75" name="Text Box 36"/>
            <p:cNvSpPr txBox="1">
              <a:spLocks noChangeArrowheads="1"/>
            </p:cNvSpPr>
            <p:nvPr/>
          </p:nvSpPr>
          <p:spPr bwMode="auto">
            <a:xfrm>
              <a:off x="4097338" y="3823658"/>
              <a:ext cx="990600" cy="33601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 </a:t>
              </a:r>
              <a:r>
                <a:rPr lang="en-US" sz="1600" b="0">
                  <a:latin typeface="Calibri" pitchFamily="-96" charset="0"/>
                </a:rPr>
                <a:t>+ 8</a:t>
              </a:r>
              <a:endParaRPr lang="en-US" sz="1600" b="0" i="1">
                <a:latin typeface="Calibri" pitchFamily="-96" charset="0"/>
              </a:endParaRPr>
            </a:p>
          </p:txBody>
        </p:sp>
        <p:sp>
          <p:nvSpPr>
            <p:cNvPr id="56376" name="Line 37"/>
            <p:cNvSpPr>
              <a:spLocks noChangeShapeType="1"/>
            </p:cNvSpPr>
            <p:nvPr/>
          </p:nvSpPr>
          <p:spPr bwMode="auto">
            <a:xfrm flipV="1">
              <a:off x="45720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77" name="Text Box 38"/>
            <p:cNvSpPr txBox="1">
              <a:spLocks noChangeArrowheads="1"/>
            </p:cNvSpPr>
            <p:nvPr/>
          </p:nvSpPr>
          <p:spPr bwMode="auto">
            <a:xfrm>
              <a:off x="5029200" y="3823658"/>
              <a:ext cx="990600" cy="33601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 </a:t>
              </a:r>
              <a:r>
                <a:rPr lang="en-US" sz="1600" b="0">
                  <a:latin typeface="Calibri" pitchFamily="-96" charset="0"/>
                </a:rPr>
                <a:t>+ 12</a:t>
              </a:r>
              <a:endParaRPr lang="en-US" sz="1600" b="0" i="1">
                <a:latin typeface="Calibri" pitchFamily="-96" charset="0"/>
              </a:endParaRPr>
            </a:p>
          </p:txBody>
        </p:sp>
        <p:sp>
          <p:nvSpPr>
            <p:cNvPr id="56378" name="Line 39"/>
            <p:cNvSpPr>
              <a:spLocks noChangeShapeType="1"/>
            </p:cNvSpPr>
            <p:nvPr/>
          </p:nvSpPr>
          <p:spPr bwMode="auto">
            <a:xfrm flipV="1">
              <a:off x="54864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79" name="Text Box 40"/>
            <p:cNvSpPr txBox="1">
              <a:spLocks noChangeArrowheads="1"/>
            </p:cNvSpPr>
            <p:nvPr/>
          </p:nvSpPr>
          <p:spPr bwMode="auto">
            <a:xfrm>
              <a:off x="5943600" y="3823658"/>
              <a:ext cx="990600" cy="33601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 </a:t>
              </a:r>
              <a:r>
                <a:rPr lang="en-US" sz="1600" b="0">
                  <a:latin typeface="Calibri" pitchFamily="-96" charset="0"/>
                </a:rPr>
                <a:t>+ 16</a:t>
              </a:r>
              <a:endParaRPr lang="en-US" sz="1600" b="0" i="1">
                <a:latin typeface="Calibri" pitchFamily="-96" charset="0"/>
              </a:endParaRPr>
            </a:p>
          </p:txBody>
        </p:sp>
        <p:sp>
          <p:nvSpPr>
            <p:cNvPr id="56380" name="Line 41"/>
            <p:cNvSpPr>
              <a:spLocks noChangeShapeType="1"/>
            </p:cNvSpPr>
            <p:nvPr/>
          </p:nvSpPr>
          <p:spPr bwMode="auto">
            <a:xfrm flipV="1">
              <a:off x="64008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81" name="Text Box 42"/>
            <p:cNvSpPr txBox="1">
              <a:spLocks noChangeArrowheads="1"/>
            </p:cNvSpPr>
            <p:nvPr/>
          </p:nvSpPr>
          <p:spPr bwMode="auto">
            <a:xfrm>
              <a:off x="6858000" y="3823658"/>
              <a:ext cx="990600" cy="33601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 </a:t>
              </a:r>
              <a:r>
                <a:rPr lang="en-US" sz="1600" b="0">
                  <a:latin typeface="Calibri" pitchFamily="-96" charset="0"/>
                </a:rPr>
                <a:t>+ 20</a:t>
              </a:r>
              <a:endParaRPr lang="en-US" sz="1600" b="0" i="1">
                <a:latin typeface="Calibri" pitchFamily="-96" charset="0"/>
              </a:endParaRPr>
            </a:p>
          </p:txBody>
        </p:sp>
        <p:sp>
          <p:nvSpPr>
            <p:cNvPr id="56382" name="Line 43"/>
            <p:cNvSpPr>
              <a:spLocks noChangeShapeType="1"/>
            </p:cNvSpPr>
            <p:nvPr/>
          </p:nvSpPr>
          <p:spPr bwMode="auto">
            <a:xfrm flipV="1">
              <a:off x="73152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01101" name="Text Box 45"/>
          <p:cNvSpPr txBox="1">
            <a:spLocks noChangeArrowheads="1"/>
          </p:cNvSpPr>
          <p:nvPr/>
        </p:nvSpPr>
        <p:spPr bwMode="auto">
          <a:xfrm>
            <a:off x="515938" y="4581128"/>
            <a:ext cx="1647825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600">
                <a:latin typeface="Courier New" pitchFamily="-96" charset="0"/>
              </a:rPr>
              <a:t>double a[3];</a:t>
            </a:r>
          </a:p>
        </p:txBody>
      </p:sp>
      <p:grpSp>
        <p:nvGrpSpPr>
          <p:cNvPr id="97" name="Group 96"/>
          <p:cNvGrpSpPr>
            <a:grpSpLocks/>
          </p:cNvGrpSpPr>
          <p:nvPr/>
        </p:nvGrpSpPr>
        <p:grpSpPr bwMode="auto">
          <a:xfrm>
            <a:off x="2057400" y="4649391"/>
            <a:ext cx="6399213" cy="747712"/>
            <a:chOff x="2515700" y="4343402"/>
            <a:chExt cx="6399700" cy="747713"/>
          </a:xfrm>
        </p:grpSpPr>
        <p:grpSp>
          <p:nvGrpSpPr>
            <p:cNvPr id="56358" name="Group 47"/>
            <p:cNvGrpSpPr>
              <a:grpSpLocks/>
            </p:cNvGrpSpPr>
            <p:nvPr/>
          </p:nvGrpSpPr>
          <p:grpSpPr bwMode="auto">
            <a:xfrm>
              <a:off x="2748919" y="4343402"/>
              <a:ext cx="5613070" cy="228600"/>
              <a:chOff x="1008" y="2208"/>
              <a:chExt cx="3456" cy="144"/>
            </a:xfrm>
          </p:grpSpPr>
          <p:sp>
            <p:nvSpPr>
              <p:cNvPr id="301104" name="Rectangle 48"/>
              <p:cNvSpPr>
                <a:spLocks noChangeArrowheads="1"/>
              </p:cNvSpPr>
              <p:nvPr/>
            </p:nvSpPr>
            <p:spPr bwMode="auto">
              <a:xfrm>
                <a:off x="1008" y="2208"/>
                <a:ext cx="1152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105" name="Rectangle 49"/>
              <p:cNvSpPr>
                <a:spLocks noChangeArrowheads="1"/>
              </p:cNvSpPr>
              <p:nvPr/>
            </p:nvSpPr>
            <p:spPr bwMode="auto">
              <a:xfrm>
                <a:off x="2160" y="2208"/>
                <a:ext cx="1152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106" name="Rectangle 50"/>
              <p:cNvSpPr>
                <a:spLocks noChangeArrowheads="1"/>
              </p:cNvSpPr>
              <p:nvPr/>
            </p:nvSpPr>
            <p:spPr bwMode="auto">
              <a:xfrm>
                <a:off x="3312" y="2208"/>
                <a:ext cx="1152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56359" name="Line 52"/>
            <p:cNvSpPr>
              <a:spLocks noChangeShapeType="1"/>
            </p:cNvSpPr>
            <p:nvPr/>
          </p:nvSpPr>
          <p:spPr bwMode="auto">
            <a:xfrm flipV="1">
              <a:off x="8383100" y="458461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60" name="Text Box 55"/>
            <p:cNvSpPr txBox="1">
              <a:spLocks noChangeArrowheads="1"/>
            </p:cNvSpPr>
            <p:nvPr/>
          </p:nvSpPr>
          <p:spPr bwMode="auto">
            <a:xfrm>
              <a:off x="7902498" y="4724402"/>
              <a:ext cx="1012902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 i="1">
                  <a:latin typeface="Calibri" pitchFamily="-96" charset="0"/>
                </a:rPr>
                <a:t>x </a:t>
              </a:r>
              <a:r>
                <a:rPr lang="en-US" sz="1800" b="0">
                  <a:latin typeface="Calibri" pitchFamily="-96" charset="0"/>
                </a:rPr>
                <a:t>+ 24</a:t>
              </a:r>
              <a:endParaRPr lang="en-US" sz="1800" b="0" i="1">
                <a:latin typeface="Calibri" pitchFamily="-96" charset="0"/>
              </a:endParaRPr>
            </a:p>
          </p:txBody>
        </p:sp>
        <p:sp>
          <p:nvSpPr>
            <p:cNvPr id="56361" name="Text Box 56"/>
            <p:cNvSpPr txBox="1">
              <a:spLocks noChangeArrowheads="1"/>
            </p:cNvSpPr>
            <p:nvPr/>
          </p:nvSpPr>
          <p:spPr bwMode="auto">
            <a:xfrm>
              <a:off x="2515700" y="4710115"/>
              <a:ext cx="406431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</a:t>
              </a:r>
            </a:p>
          </p:txBody>
        </p:sp>
        <p:sp>
          <p:nvSpPr>
            <p:cNvPr id="56362" name="Line 57"/>
            <p:cNvSpPr>
              <a:spLocks noChangeShapeType="1"/>
            </p:cNvSpPr>
            <p:nvPr/>
          </p:nvSpPr>
          <p:spPr bwMode="auto">
            <a:xfrm flipV="1">
              <a:off x="2749578" y="4570322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63" name="Text Box 58"/>
            <p:cNvSpPr txBox="1">
              <a:spLocks noChangeArrowheads="1"/>
            </p:cNvSpPr>
            <p:nvPr/>
          </p:nvSpPr>
          <p:spPr bwMode="auto">
            <a:xfrm>
              <a:off x="4114434" y="4724402"/>
              <a:ext cx="1014490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 </a:t>
              </a:r>
              <a:r>
                <a:rPr lang="en-US" sz="1600" b="0">
                  <a:latin typeface="Calibri" pitchFamily="-96" charset="0"/>
                </a:rPr>
                <a:t>+ 8</a:t>
              </a:r>
              <a:endParaRPr lang="en-US" sz="1600" b="0" i="1">
                <a:latin typeface="Calibri" pitchFamily="-96" charset="0"/>
              </a:endParaRPr>
            </a:p>
          </p:txBody>
        </p:sp>
        <p:sp>
          <p:nvSpPr>
            <p:cNvPr id="56364" name="Line 59"/>
            <p:cNvSpPr>
              <a:spLocks noChangeShapeType="1"/>
            </p:cNvSpPr>
            <p:nvPr/>
          </p:nvSpPr>
          <p:spPr bwMode="auto">
            <a:xfrm flipV="1">
              <a:off x="4620601" y="458461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65" name="Text Box 60"/>
            <p:cNvSpPr txBox="1">
              <a:spLocks noChangeArrowheads="1"/>
            </p:cNvSpPr>
            <p:nvPr/>
          </p:nvSpPr>
          <p:spPr bwMode="auto">
            <a:xfrm>
              <a:off x="5997353" y="4724402"/>
              <a:ext cx="1012902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 </a:t>
              </a:r>
              <a:r>
                <a:rPr lang="en-US" sz="1600" b="0">
                  <a:latin typeface="Calibri" pitchFamily="-96" charset="0"/>
                </a:rPr>
                <a:t>+ 16</a:t>
              </a:r>
              <a:endParaRPr lang="en-US" sz="1600" b="0" i="1">
                <a:latin typeface="Calibri" pitchFamily="-96" charset="0"/>
              </a:endParaRPr>
            </a:p>
          </p:txBody>
        </p:sp>
        <p:sp>
          <p:nvSpPr>
            <p:cNvPr id="56366" name="Line 61"/>
            <p:cNvSpPr>
              <a:spLocks noChangeShapeType="1"/>
            </p:cNvSpPr>
            <p:nvPr/>
          </p:nvSpPr>
          <p:spPr bwMode="auto">
            <a:xfrm flipV="1">
              <a:off x="6491624" y="458461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01118" name="Text Box 62"/>
          <p:cNvSpPr txBox="1">
            <a:spLocks noChangeArrowheads="1"/>
          </p:cNvSpPr>
          <p:nvPr/>
        </p:nvSpPr>
        <p:spPr bwMode="auto">
          <a:xfrm>
            <a:off x="638175" y="5580488"/>
            <a:ext cx="1525588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600">
                <a:latin typeface="Courier New" pitchFamily="-96" charset="0"/>
              </a:rPr>
              <a:t>char *p[3];</a:t>
            </a:r>
          </a:p>
        </p:txBody>
      </p:sp>
      <p:grpSp>
        <p:nvGrpSpPr>
          <p:cNvPr id="95" name="Group 94"/>
          <p:cNvGrpSpPr>
            <a:grpSpLocks/>
          </p:cNvGrpSpPr>
          <p:nvPr/>
        </p:nvGrpSpPr>
        <p:grpSpPr bwMode="auto">
          <a:xfrm>
            <a:off x="2040592" y="5649490"/>
            <a:ext cx="6248400" cy="731838"/>
            <a:chOff x="2438400" y="6019800"/>
            <a:chExt cx="6248400" cy="732254"/>
          </a:xfrm>
        </p:grpSpPr>
        <p:grpSp>
          <p:nvGrpSpPr>
            <p:cNvPr id="56346" name="Group 92"/>
            <p:cNvGrpSpPr>
              <a:grpSpLocks/>
            </p:cNvGrpSpPr>
            <p:nvPr/>
          </p:nvGrpSpPr>
          <p:grpSpPr bwMode="auto">
            <a:xfrm>
              <a:off x="2667000" y="6019800"/>
              <a:ext cx="5486400" cy="228600"/>
              <a:chOff x="1652" y="4608"/>
              <a:chExt cx="3456" cy="144"/>
            </a:xfrm>
          </p:grpSpPr>
          <p:sp>
            <p:nvSpPr>
              <p:cNvPr id="301134" name="Rectangle 78"/>
              <p:cNvSpPr>
                <a:spLocks noChangeArrowheads="1"/>
              </p:cNvSpPr>
              <p:nvPr/>
            </p:nvSpPr>
            <p:spPr bwMode="auto">
              <a:xfrm>
                <a:off x="1652" y="4608"/>
                <a:ext cx="1152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135" name="Rectangle 79"/>
              <p:cNvSpPr>
                <a:spLocks noChangeArrowheads="1"/>
              </p:cNvSpPr>
              <p:nvPr/>
            </p:nvSpPr>
            <p:spPr bwMode="auto">
              <a:xfrm>
                <a:off x="2804" y="4608"/>
                <a:ext cx="1152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136" name="Rectangle 80"/>
              <p:cNvSpPr>
                <a:spLocks noChangeArrowheads="1"/>
              </p:cNvSpPr>
              <p:nvPr/>
            </p:nvSpPr>
            <p:spPr bwMode="auto">
              <a:xfrm>
                <a:off x="3956" y="4608"/>
                <a:ext cx="1152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56347" name="Text Box 86"/>
            <p:cNvSpPr txBox="1">
              <a:spLocks noChangeArrowheads="1"/>
            </p:cNvSpPr>
            <p:nvPr/>
          </p:nvSpPr>
          <p:spPr bwMode="auto">
            <a:xfrm>
              <a:off x="2438400" y="6386721"/>
              <a:ext cx="396875" cy="33674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</a:t>
              </a:r>
            </a:p>
          </p:txBody>
        </p:sp>
        <p:sp>
          <p:nvSpPr>
            <p:cNvPr id="56348" name="Line 87"/>
            <p:cNvSpPr>
              <a:spLocks noChangeShapeType="1"/>
            </p:cNvSpPr>
            <p:nvPr/>
          </p:nvSpPr>
          <p:spPr bwMode="auto">
            <a:xfrm flipV="1">
              <a:off x="2667000" y="6219825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49" name="Text Box 88"/>
            <p:cNvSpPr txBox="1">
              <a:spLocks noChangeArrowheads="1"/>
            </p:cNvSpPr>
            <p:nvPr/>
          </p:nvSpPr>
          <p:spPr bwMode="auto">
            <a:xfrm>
              <a:off x="4038600" y="6401017"/>
              <a:ext cx="990600" cy="33674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 </a:t>
              </a:r>
              <a:r>
                <a:rPr lang="en-US" sz="1600" b="0">
                  <a:latin typeface="Calibri" pitchFamily="-96" charset="0"/>
                </a:rPr>
                <a:t>+ 8</a:t>
              </a:r>
              <a:endParaRPr lang="en-US" sz="1600" b="0" i="1">
                <a:latin typeface="Calibri" pitchFamily="-96" charset="0"/>
              </a:endParaRPr>
            </a:p>
          </p:txBody>
        </p:sp>
        <p:sp>
          <p:nvSpPr>
            <p:cNvPr id="56350" name="Line 89"/>
            <p:cNvSpPr>
              <a:spLocks noChangeShapeType="1"/>
            </p:cNvSpPr>
            <p:nvPr/>
          </p:nvSpPr>
          <p:spPr bwMode="auto">
            <a:xfrm flipV="1">
              <a:off x="4495800" y="6234113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51" name="Text Box 90"/>
            <p:cNvSpPr txBox="1">
              <a:spLocks noChangeArrowheads="1"/>
            </p:cNvSpPr>
            <p:nvPr/>
          </p:nvSpPr>
          <p:spPr bwMode="auto">
            <a:xfrm>
              <a:off x="5867400" y="6401017"/>
              <a:ext cx="990600" cy="33674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 </a:t>
              </a:r>
              <a:r>
                <a:rPr lang="en-US" sz="1600" b="0">
                  <a:latin typeface="Calibri" pitchFamily="-96" charset="0"/>
                </a:rPr>
                <a:t>+ 16</a:t>
              </a:r>
              <a:endParaRPr lang="en-US" sz="1600" b="0" i="1">
                <a:latin typeface="Calibri" pitchFamily="-96" charset="0"/>
              </a:endParaRPr>
            </a:p>
          </p:txBody>
        </p:sp>
        <p:sp>
          <p:nvSpPr>
            <p:cNvPr id="56352" name="Line 91"/>
            <p:cNvSpPr>
              <a:spLocks noChangeShapeType="1"/>
            </p:cNvSpPr>
            <p:nvPr/>
          </p:nvSpPr>
          <p:spPr bwMode="auto">
            <a:xfrm flipV="1">
              <a:off x="6324600" y="6234113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53" name="Line 102"/>
            <p:cNvSpPr>
              <a:spLocks noChangeShapeType="1"/>
            </p:cNvSpPr>
            <p:nvPr/>
          </p:nvSpPr>
          <p:spPr bwMode="auto">
            <a:xfrm flipV="1">
              <a:off x="8153400" y="62484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54" name="Text Box 105"/>
            <p:cNvSpPr txBox="1">
              <a:spLocks noChangeArrowheads="1"/>
            </p:cNvSpPr>
            <p:nvPr/>
          </p:nvSpPr>
          <p:spPr bwMode="auto">
            <a:xfrm>
              <a:off x="7696200" y="6415312"/>
              <a:ext cx="990600" cy="33674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 </a:t>
              </a:r>
              <a:r>
                <a:rPr lang="en-US" sz="1600" b="0">
                  <a:latin typeface="Calibri" pitchFamily="-96" charset="0"/>
                </a:rPr>
                <a:t>+ 24</a:t>
              </a:r>
              <a:endParaRPr lang="en-US" sz="1600" b="0" i="1">
                <a:latin typeface="Calibri" pitchFamily="-96" charset="0"/>
              </a:endParaRPr>
            </a:p>
          </p:txBody>
        </p: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17513"/>
            <a:ext cx="5562600" cy="573087"/>
          </a:xfrm>
        </p:spPr>
        <p:txBody>
          <a:bodyPr/>
          <a:lstStyle/>
          <a:p>
            <a:r>
              <a:rPr lang="en-US">
                <a:latin typeface="Calibri" pitchFamily="-96" charset="0"/>
              </a:rPr>
              <a:t>Array Access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064500" cy="5715000"/>
          </a:xfrm>
        </p:spPr>
        <p:txBody>
          <a:bodyPr/>
          <a:lstStyle/>
          <a:p>
            <a:pPr marL="223838" indent="-223838" defTabSz="895350">
              <a:tabLst>
                <a:tab pos="1943100" algn="l"/>
                <a:tab pos="3660775" algn="l"/>
              </a:tabLst>
            </a:pPr>
            <a:r>
              <a:rPr lang="en-US" dirty="0">
                <a:latin typeface="Calibri" pitchFamily="-96" charset="0"/>
              </a:rPr>
              <a:t>Basic Principle</a:t>
            </a:r>
          </a:p>
          <a:p>
            <a:pPr marL="560388" lvl="1" indent="-222250" defTabSz="895350">
              <a:buFont typeface="Wingdings" pitchFamily="-96" charset="2"/>
              <a:buNone/>
              <a:tabLst>
                <a:tab pos="1943100" algn="l"/>
                <a:tab pos="3660775" algn="l"/>
              </a:tabLst>
            </a:pPr>
            <a:r>
              <a:rPr lang="en-US" i="1" dirty="0">
                <a:latin typeface="Calibri" pitchFamily="-96" charset="0"/>
              </a:rPr>
              <a:t>T</a:t>
            </a:r>
            <a:r>
              <a:rPr lang="en-US" dirty="0">
                <a:latin typeface="Calibri" pitchFamily="-96" charset="0"/>
              </a:rPr>
              <a:t>  </a:t>
            </a:r>
            <a:r>
              <a:rPr lang="en-US" b="1" dirty="0">
                <a:latin typeface="Courier New" pitchFamily="-96" charset="0"/>
              </a:rPr>
              <a:t>A[</a:t>
            </a:r>
            <a:r>
              <a:rPr lang="en-US" i="1" dirty="0">
                <a:latin typeface="Calibri" pitchFamily="-96" charset="0"/>
              </a:rPr>
              <a:t>L</a:t>
            </a:r>
            <a:r>
              <a:rPr lang="en-US" b="1" dirty="0">
                <a:latin typeface="Courier New" pitchFamily="-96" charset="0"/>
              </a:rPr>
              <a:t>];</a:t>
            </a:r>
            <a:endParaRPr lang="en-US" b="1" dirty="0">
              <a:latin typeface="Calibri" pitchFamily="-96" charset="0"/>
            </a:endParaRPr>
          </a:p>
          <a:p>
            <a:pPr marL="560388" lvl="1" indent="-222250" defTabSz="895350">
              <a:tabLst>
                <a:tab pos="1943100" algn="l"/>
                <a:tab pos="3660775" algn="l"/>
              </a:tabLst>
            </a:pPr>
            <a:r>
              <a:rPr lang="en-US" dirty="0">
                <a:latin typeface="Calibri" pitchFamily="-96" charset="0"/>
              </a:rPr>
              <a:t>Array of data type </a:t>
            </a:r>
            <a:r>
              <a:rPr lang="en-US" i="1" dirty="0">
                <a:latin typeface="Calibri" pitchFamily="-96" charset="0"/>
              </a:rPr>
              <a:t>T</a:t>
            </a:r>
            <a:r>
              <a:rPr lang="en-US" dirty="0">
                <a:latin typeface="Calibri" pitchFamily="-96" charset="0"/>
              </a:rPr>
              <a:t> and length </a:t>
            </a:r>
            <a:r>
              <a:rPr lang="en-US" i="1" dirty="0">
                <a:latin typeface="Calibri" pitchFamily="-96" charset="0"/>
              </a:rPr>
              <a:t>L</a:t>
            </a:r>
            <a:endParaRPr lang="en-US" dirty="0">
              <a:latin typeface="Calibri" pitchFamily="-96" charset="0"/>
            </a:endParaRPr>
          </a:p>
          <a:p>
            <a:pPr marL="560388" lvl="1" indent="-222250" defTabSz="895350">
              <a:tabLst>
                <a:tab pos="1943100" algn="l"/>
                <a:tab pos="3660775" algn="l"/>
              </a:tabLst>
            </a:pPr>
            <a:r>
              <a:rPr lang="en-US" dirty="0">
                <a:latin typeface="Calibri" pitchFamily="-96" charset="0"/>
              </a:rPr>
              <a:t>Identifier </a:t>
            </a:r>
            <a:r>
              <a:rPr lang="en-US" b="1" dirty="0">
                <a:latin typeface="Courier New" pitchFamily="-96" charset="0"/>
              </a:rPr>
              <a:t>A</a:t>
            </a:r>
            <a:r>
              <a:rPr lang="en-US" dirty="0">
                <a:latin typeface="Calibri" pitchFamily="-96" charset="0"/>
              </a:rPr>
              <a:t> can be used as a pointer to array element 0: Type </a:t>
            </a:r>
            <a:r>
              <a:rPr lang="en-US" i="1" dirty="0">
                <a:latin typeface="Calibri" pitchFamily="-96" charset="0"/>
              </a:rPr>
              <a:t>T*</a:t>
            </a:r>
          </a:p>
          <a:p>
            <a:pPr marL="223838" indent="-223838" defTabSz="895350">
              <a:tabLst>
                <a:tab pos="1943100" algn="l"/>
                <a:tab pos="3660775" algn="l"/>
              </a:tabLst>
            </a:pPr>
            <a:endParaRPr lang="en-US" dirty="0">
              <a:latin typeface="Calibri" pitchFamily="-96" charset="0"/>
            </a:endParaRPr>
          </a:p>
          <a:p>
            <a:pPr marL="560388" lvl="1" indent="-222250" defTabSz="895350">
              <a:tabLst>
                <a:tab pos="1943100" algn="l"/>
                <a:tab pos="3660775" algn="l"/>
              </a:tabLst>
            </a:pPr>
            <a:endParaRPr lang="en-US" dirty="0">
              <a:latin typeface="Calibri" pitchFamily="-96" charset="0"/>
            </a:endParaRPr>
          </a:p>
          <a:p>
            <a:pPr marL="223838" indent="-223838" defTabSz="895350">
              <a:buNone/>
              <a:tabLst>
                <a:tab pos="1943100" algn="l"/>
                <a:tab pos="3660775" algn="l"/>
              </a:tabLst>
            </a:pPr>
            <a:endParaRPr lang="en-US" dirty="0">
              <a:latin typeface="Calibri" pitchFamily="-96" charset="0"/>
            </a:endParaRPr>
          </a:p>
          <a:p>
            <a:pPr marL="223838" indent="-223838" defTabSz="895350">
              <a:tabLst>
                <a:tab pos="1943100" algn="l"/>
                <a:tab pos="3660775" algn="l"/>
              </a:tabLst>
            </a:pPr>
            <a:r>
              <a:rPr lang="en-US" dirty="0">
                <a:latin typeface="Calibri" pitchFamily="-96" charset="0"/>
              </a:rPr>
              <a:t>Reference	Type	Value</a:t>
            </a:r>
          </a:p>
          <a:p>
            <a:pPr marL="560388" lvl="1" indent="-222250" defTabSz="895350">
              <a:buFont typeface="Wingdings" pitchFamily="-96" charset="2"/>
              <a:buNone/>
              <a:tabLst>
                <a:tab pos="1943100" algn="l"/>
                <a:tab pos="3660775" algn="l"/>
              </a:tabLst>
            </a:pPr>
            <a:r>
              <a:rPr lang="en-US" sz="1800" b="1" dirty="0" err="1">
                <a:latin typeface="Courier New" pitchFamily="-96" charset="0"/>
              </a:rPr>
              <a:t>val</a:t>
            </a:r>
            <a:r>
              <a:rPr lang="en-US" sz="1800" b="1" dirty="0">
                <a:latin typeface="Courier New" pitchFamily="-96" charset="0"/>
              </a:rPr>
              <a:t>[4]	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	</a:t>
            </a:r>
            <a:r>
              <a:rPr lang="en-US" sz="1800" dirty="0">
                <a:latin typeface="Calibri" pitchFamily="-96" charset="0"/>
              </a:rPr>
              <a:t>3</a:t>
            </a:r>
          </a:p>
          <a:p>
            <a:pPr marL="560388" lvl="1" indent="-222250" defTabSz="895350">
              <a:buFont typeface="Wingdings" pitchFamily="-96" charset="2"/>
              <a:buNone/>
              <a:tabLst>
                <a:tab pos="1943100" algn="l"/>
                <a:tab pos="3660775" algn="l"/>
              </a:tabLst>
            </a:pPr>
            <a:r>
              <a:rPr lang="en-US" sz="1800" b="1" dirty="0" err="1">
                <a:latin typeface="Courier New" pitchFamily="-96" charset="0"/>
              </a:rPr>
              <a:t>val</a:t>
            </a:r>
            <a:r>
              <a:rPr lang="en-US" sz="1800" b="1" dirty="0">
                <a:latin typeface="Courier New" pitchFamily="-96" charset="0"/>
              </a:rPr>
              <a:t>	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 *	</a:t>
            </a:r>
            <a:r>
              <a:rPr lang="en-US" sz="1800" i="1" dirty="0">
                <a:latin typeface="Calibri" pitchFamily="-96" charset="0"/>
              </a:rPr>
              <a:t>x</a:t>
            </a:r>
            <a:endParaRPr lang="en-US" sz="1800" dirty="0">
              <a:latin typeface="Calibri" pitchFamily="-96" charset="0"/>
            </a:endParaRPr>
          </a:p>
          <a:p>
            <a:pPr marL="560388" lvl="1" indent="-222250" defTabSz="895350">
              <a:buFont typeface="Wingdings" pitchFamily="-96" charset="2"/>
              <a:buNone/>
              <a:tabLst>
                <a:tab pos="1943100" algn="l"/>
                <a:tab pos="3660775" algn="l"/>
              </a:tabLst>
            </a:pPr>
            <a:r>
              <a:rPr lang="en-US" sz="1800" b="1" dirty="0">
                <a:latin typeface="Courier New" pitchFamily="-96" charset="0"/>
              </a:rPr>
              <a:t>val+1</a:t>
            </a:r>
            <a:r>
              <a:rPr lang="en-US" sz="1800" b="1" dirty="0">
                <a:latin typeface="Calibri" pitchFamily="-96" charset="0"/>
              </a:rPr>
              <a:t>	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 *	</a:t>
            </a:r>
            <a:r>
              <a:rPr lang="en-US" sz="1800" i="1" dirty="0" err="1">
                <a:latin typeface="Calibri" pitchFamily="-96" charset="0"/>
              </a:rPr>
              <a:t>x</a:t>
            </a:r>
            <a:r>
              <a:rPr lang="en-US" sz="1800" dirty="0">
                <a:latin typeface="Calibri" pitchFamily="-96" charset="0"/>
              </a:rPr>
              <a:t> + 4    </a:t>
            </a:r>
          </a:p>
          <a:p>
            <a:pPr marL="560388" lvl="1" indent="-222250" defTabSz="895350">
              <a:buFont typeface="Wingdings" pitchFamily="-96" charset="2"/>
              <a:buNone/>
              <a:tabLst>
                <a:tab pos="1943100" algn="l"/>
                <a:tab pos="3660775" algn="l"/>
              </a:tabLst>
            </a:pPr>
            <a:r>
              <a:rPr lang="en-US" sz="1800" b="1" dirty="0">
                <a:latin typeface="Courier New" pitchFamily="-96" charset="0"/>
              </a:rPr>
              <a:t>&amp;val[2]</a:t>
            </a:r>
            <a:r>
              <a:rPr lang="en-US" sz="1800" b="1" dirty="0">
                <a:latin typeface="Calibri" pitchFamily="-96" charset="0"/>
              </a:rPr>
              <a:t>	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 *	</a:t>
            </a:r>
            <a:r>
              <a:rPr lang="en-US" sz="1800" i="1" dirty="0">
                <a:latin typeface="Calibri" pitchFamily="-96" charset="0"/>
              </a:rPr>
              <a:t>x</a:t>
            </a:r>
            <a:r>
              <a:rPr lang="en-US" sz="1800" dirty="0">
                <a:latin typeface="Calibri" pitchFamily="-96" charset="0"/>
              </a:rPr>
              <a:t> + 8   </a:t>
            </a:r>
          </a:p>
          <a:p>
            <a:pPr marL="560388" lvl="1" indent="-222250" defTabSz="895350">
              <a:buFont typeface="Wingdings" pitchFamily="-96" charset="2"/>
              <a:buNone/>
              <a:tabLst>
                <a:tab pos="1943100" algn="l"/>
                <a:tab pos="3660775" algn="l"/>
              </a:tabLst>
            </a:pPr>
            <a:r>
              <a:rPr lang="en-US" sz="1800" b="1" dirty="0" err="1">
                <a:latin typeface="Courier New" pitchFamily="-96" charset="0"/>
              </a:rPr>
              <a:t>val</a:t>
            </a:r>
            <a:r>
              <a:rPr lang="en-US" sz="1800" b="1" dirty="0">
                <a:latin typeface="Courier New" pitchFamily="-96" charset="0"/>
              </a:rPr>
              <a:t>[5]</a:t>
            </a:r>
            <a:r>
              <a:rPr lang="en-US" sz="1800" b="1" dirty="0">
                <a:latin typeface="Calibri" pitchFamily="-96" charset="0"/>
              </a:rPr>
              <a:t>	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	</a:t>
            </a:r>
            <a:r>
              <a:rPr lang="en-US" sz="1800" dirty="0">
                <a:latin typeface="Calibri" pitchFamily="-96" charset="0"/>
              </a:rPr>
              <a:t>??</a:t>
            </a:r>
          </a:p>
          <a:p>
            <a:pPr marL="560388" lvl="1" indent="-222250" defTabSz="895350">
              <a:buFont typeface="Wingdings" pitchFamily="-96" charset="2"/>
              <a:buNone/>
              <a:tabLst>
                <a:tab pos="1943100" algn="l"/>
                <a:tab pos="3660775" algn="l"/>
              </a:tabLst>
            </a:pPr>
            <a:r>
              <a:rPr lang="en-US" sz="1800" b="1" dirty="0">
                <a:latin typeface="Courier New" pitchFamily="-96" charset="0"/>
              </a:rPr>
              <a:t>*(val+1)</a:t>
            </a:r>
            <a:r>
              <a:rPr lang="en-US" sz="1800" b="1" dirty="0">
                <a:latin typeface="Calibri" pitchFamily="-96" charset="0"/>
              </a:rPr>
              <a:t>	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	</a:t>
            </a:r>
            <a:r>
              <a:rPr lang="en-US" sz="1800" dirty="0">
                <a:latin typeface="Calibri" pitchFamily="-96" charset="0"/>
              </a:rPr>
              <a:t>5          </a:t>
            </a:r>
          </a:p>
          <a:p>
            <a:pPr marL="560388" lvl="1" indent="-222250" defTabSz="895350">
              <a:buFont typeface="Wingdings" pitchFamily="-96" charset="2"/>
              <a:buNone/>
              <a:tabLst>
                <a:tab pos="1943100" algn="l"/>
                <a:tab pos="3660775" algn="l"/>
              </a:tabLst>
            </a:pPr>
            <a:r>
              <a:rPr lang="en-US" sz="1800" b="1" dirty="0" err="1">
                <a:latin typeface="Courier New" pitchFamily="-96" charset="0"/>
              </a:rPr>
              <a:t>val</a:t>
            </a:r>
            <a:r>
              <a:rPr lang="en-US" sz="1800" b="1" dirty="0">
                <a:latin typeface="Courier New" pitchFamily="-96" charset="0"/>
              </a:rPr>
              <a:t> + </a:t>
            </a:r>
            <a:r>
              <a:rPr lang="en-US" sz="1800" b="1" i="1" dirty="0" err="1">
                <a:latin typeface="Calibri" pitchFamily="-96" charset="0"/>
              </a:rPr>
              <a:t>i</a:t>
            </a:r>
            <a:r>
              <a:rPr lang="en-US" sz="1800" b="1" dirty="0">
                <a:latin typeface="Calibri" pitchFamily="-96" charset="0"/>
              </a:rPr>
              <a:t>	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 *	</a:t>
            </a:r>
            <a:r>
              <a:rPr lang="en-US" sz="1800" i="1" dirty="0">
                <a:latin typeface="Calibri" pitchFamily="-96" charset="0"/>
              </a:rPr>
              <a:t>x </a:t>
            </a:r>
            <a:r>
              <a:rPr lang="en-US" sz="1800" dirty="0">
                <a:latin typeface="Calibri" pitchFamily="-96" charset="0"/>
              </a:rPr>
              <a:t>+ 4</a:t>
            </a:r>
            <a:r>
              <a:rPr lang="en-US" sz="1800" i="1" dirty="0">
                <a:latin typeface="Calibri" pitchFamily="-96" charset="0"/>
              </a:rPr>
              <a:t> </a:t>
            </a:r>
            <a:r>
              <a:rPr lang="en-US" sz="1800" i="1" dirty="0" err="1">
                <a:latin typeface="Calibri" pitchFamily="-96" charset="0"/>
              </a:rPr>
              <a:t>i</a:t>
            </a:r>
            <a:endParaRPr lang="en-US" sz="1800" i="1" dirty="0">
              <a:latin typeface="Calibri" pitchFamily="-96" charset="0"/>
            </a:endParaRPr>
          </a:p>
        </p:txBody>
      </p:sp>
      <p:sp>
        <p:nvSpPr>
          <p:cNvPr id="60419" name="Text Box 31"/>
          <p:cNvSpPr txBox="1">
            <a:spLocks noChangeArrowheads="1"/>
          </p:cNvSpPr>
          <p:nvPr/>
        </p:nvSpPr>
        <p:spPr bwMode="auto">
          <a:xfrm>
            <a:off x="1017588" y="2819400"/>
            <a:ext cx="17018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800">
                <a:latin typeface="Courier New" pitchFamily="-96" charset="0"/>
              </a:rPr>
              <a:t>int val[5];</a:t>
            </a:r>
          </a:p>
        </p:txBody>
      </p:sp>
      <p:grpSp>
        <p:nvGrpSpPr>
          <p:cNvPr id="60420" name="Group 24"/>
          <p:cNvGrpSpPr>
            <a:grpSpLocks/>
          </p:cNvGrpSpPr>
          <p:nvPr/>
        </p:nvGrpSpPr>
        <p:grpSpPr bwMode="auto">
          <a:xfrm>
            <a:off x="2616200" y="2867025"/>
            <a:ext cx="5334000" cy="750888"/>
            <a:chOff x="2514600" y="3429000"/>
            <a:chExt cx="5334000" cy="771141"/>
          </a:xfrm>
        </p:grpSpPr>
        <p:grpSp>
          <p:nvGrpSpPr>
            <p:cNvPr id="60421" name="Group 25"/>
            <p:cNvGrpSpPr>
              <a:grpSpLocks/>
            </p:cNvGrpSpPr>
            <p:nvPr/>
          </p:nvGrpSpPr>
          <p:grpSpPr bwMode="auto">
            <a:xfrm>
              <a:off x="2743200" y="3429000"/>
              <a:ext cx="4572000" cy="228600"/>
              <a:chOff x="1008" y="1968"/>
              <a:chExt cx="2880" cy="144"/>
            </a:xfrm>
          </p:grpSpPr>
          <p:sp>
            <p:nvSpPr>
              <p:cNvPr id="39" name="Rectangle 26"/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40" name="Rectangle 27"/>
              <p:cNvSpPr>
                <a:spLocks noChangeArrowheads="1"/>
              </p:cNvSpPr>
              <p:nvPr/>
            </p:nvSpPr>
            <p:spPr bwMode="auto">
              <a:xfrm>
                <a:off x="1584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41" name="Rectangle 28"/>
              <p:cNvSpPr>
                <a:spLocks noChangeArrowheads="1"/>
              </p:cNvSpPr>
              <p:nvPr/>
            </p:nvSpPr>
            <p:spPr bwMode="auto">
              <a:xfrm>
                <a:off x="2160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42" name="Rectangle 29"/>
              <p:cNvSpPr>
                <a:spLocks noChangeArrowheads="1"/>
              </p:cNvSpPr>
              <p:nvPr/>
            </p:nvSpPr>
            <p:spPr bwMode="auto">
              <a:xfrm>
                <a:off x="2736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43" name="Rectangle 30"/>
              <p:cNvSpPr>
                <a:spLocks noChangeArrowheads="1"/>
              </p:cNvSpPr>
              <p:nvPr/>
            </p:nvSpPr>
            <p:spPr bwMode="auto">
              <a:xfrm>
                <a:off x="3312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3</a:t>
                </a:r>
              </a:p>
            </p:txBody>
          </p:sp>
        </p:grpSp>
        <p:sp>
          <p:nvSpPr>
            <p:cNvPr id="60422" name="Text Box 32"/>
            <p:cNvSpPr txBox="1">
              <a:spLocks noChangeArrowheads="1"/>
            </p:cNvSpPr>
            <p:nvPr/>
          </p:nvSpPr>
          <p:spPr bwMode="auto">
            <a:xfrm>
              <a:off x="2514600" y="3810494"/>
              <a:ext cx="396875" cy="37660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 i="1" dirty="0" err="1">
                  <a:latin typeface="Calibri" pitchFamily="-96" charset="0"/>
                </a:rPr>
                <a:t>x</a:t>
              </a:r>
              <a:endParaRPr lang="en-US" sz="1800" b="0" i="1" dirty="0">
                <a:latin typeface="Calibri" pitchFamily="-96" charset="0"/>
              </a:endParaRPr>
            </a:p>
          </p:txBody>
        </p:sp>
        <p:sp>
          <p:nvSpPr>
            <p:cNvPr id="60423" name="Text Box 33"/>
            <p:cNvSpPr txBox="1">
              <a:spLocks noChangeArrowheads="1"/>
            </p:cNvSpPr>
            <p:nvPr/>
          </p:nvSpPr>
          <p:spPr bwMode="auto">
            <a:xfrm>
              <a:off x="3182938" y="3823537"/>
              <a:ext cx="990600" cy="37660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 i="1" dirty="0" err="1">
                  <a:latin typeface="Calibri" pitchFamily="-96" charset="0"/>
                </a:rPr>
                <a:t>x</a:t>
              </a:r>
              <a:r>
                <a:rPr lang="en-US" sz="1800" b="0" i="1" dirty="0">
                  <a:latin typeface="Calibri" pitchFamily="-96" charset="0"/>
                </a:rPr>
                <a:t> </a:t>
              </a:r>
              <a:r>
                <a:rPr lang="en-US" sz="1800" b="0" dirty="0">
                  <a:latin typeface="Calibri" pitchFamily="-96" charset="0"/>
                </a:rPr>
                <a:t>+ 4</a:t>
              </a:r>
              <a:endParaRPr lang="en-US" sz="1800" b="0" i="1" dirty="0">
                <a:latin typeface="Calibri" pitchFamily="-96" charset="0"/>
              </a:endParaRPr>
            </a:p>
          </p:txBody>
        </p:sp>
        <p:sp>
          <p:nvSpPr>
            <p:cNvPr id="60424" name="Line 34"/>
            <p:cNvSpPr>
              <a:spLocks noChangeShapeType="1"/>
            </p:cNvSpPr>
            <p:nvPr/>
          </p:nvSpPr>
          <p:spPr bwMode="auto">
            <a:xfrm flipV="1">
              <a:off x="2743200" y="3643313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25" name="Line 35"/>
            <p:cNvSpPr>
              <a:spLocks noChangeShapeType="1"/>
            </p:cNvSpPr>
            <p:nvPr/>
          </p:nvSpPr>
          <p:spPr bwMode="auto">
            <a:xfrm flipV="1">
              <a:off x="36576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26" name="Text Box 36"/>
            <p:cNvSpPr txBox="1">
              <a:spLocks noChangeArrowheads="1"/>
            </p:cNvSpPr>
            <p:nvPr/>
          </p:nvSpPr>
          <p:spPr bwMode="auto">
            <a:xfrm>
              <a:off x="4097338" y="3823537"/>
              <a:ext cx="990600" cy="37660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 i="1">
                  <a:latin typeface="Calibri" pitchFamily="-96" charset="0"/>
                </a:rPr>
                <a:t>x </a:t>
              </a:r>
              <a:r>
                <a:rPr lang="en-US" sz="1800" b="0">
                  <a:latin typeface="Calibri" pitchFamily="-96" charset="0"/>
                </a:rPr>
                <a:t>+ 8</a:t>
              </a:r>
              <a:endParaRPr lang="en-US" sz="1800" b="0" i="1">
                <a:latin typeface="Calibri" pitchFamily="-96" charset="0"/>
              </a:endParaRPr>
            </a:p>
          </p:txBody>
        </p:sp>
        <p:sp>
          <p:nvSpPr>
            <p:cNvPr id="60427" name="Line 37"/>
            <p:cNvSpPr>
              <a:spLocks noChangeShapeType="1"/>
            </p:cNvSpPr>
            <p:nvPr/>
          </p:nvSpPr>
          <p:spPr bwMode="auto">
            <a:xfrm flipV="1">
              <a:off x="45720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28" name="Text Box 38"/>
            <p:cNvSpPr txBox="1">
              <a:spLocks noChangeArrowheads="1"/>
            </p:cNvSpPr>
            <p:nvPr/>
          </p:nvSpPr>
          <p:spPr bwMode="auto">
            <a:xfrm>
              <a:off x="5029200" y="3823537"/>
              <a:ext cx="990600" cy="37660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 i="1">
                  <a:latin typeface="Calibri" pitchFamily="-96" charset="0"/>
                </a:rPr>
                <a:t>x </a:t>
              </a:r>
              <a:r>
                <a:rPr lang="en-US" sz="1800" b="0">
                  <a:latin typeface="Calibri" pitchFamily="-96" charset="0"/>
                </a:rPr>
                <a:t>+ 12</a:t>
              </a:r>
              <a:endParaRPr lang="en-US" sz="1800" b="0" i="1">
                <a:latin typeface="Calibri" pitchFamily="-96" charset="0"/>
              </a:endParaRPr>
            </a:p>
          </p:txBody>
        </p:sp>
        <p:sp>
          <p:nvSpPr>
            <p:cNvPr id="60429" name="Line 39"/>
            <p:cNvSpPr>
              <a:spLocks noChangeShapeType="1"/>
            </p:cNvSpPr>
            <p:nvPr/>
          </p:nvSpPr>
          <p:spPr bwMode="auto">
            <a:xfrm flipV="1">
              <a:off x="54864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30" name="Text Box 40"/>
            <p:cNvSpPr txBox="1">
              <a:spLocks noChangeArrowheads="1"/>
            </p:cNvSpPr>
            <p:nvPr/>
          </p:nvSpPr>
          <p:spPr bwMode="auto">
            <a:xfrm>
              <a:off x="5943600" y="3823537"/>
              <a:ext cx="990600" cy="37660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 i="1">
                  <a:latin typeface="Calibri" pitchFamily="-96" charset="0"/>
                </a:rPr>
                <a:t>x </a:t>
              </a:r>
              <a:r>
                <a:rPr lang="en-US" sz="1800" b="0">
                  <a:latin typeface="Calibri" pitchFamily="-96" charset="0"/>
                </a:rPr>
                <a:t>+ 16</a:t>
              </a:r>
              <a:endParaRPr lang="en-US" sz="1800" b="0" i="1">
                <a:latin typeface="Calibri" pitchFamily="-96" charset="0"/>
              </a:endParaRPr>
            </a:p>
          </p:txBody>
        </p:sp>
        <p:sp>
          <p:nvSpPr>
            <p:cNvPr id="60431" name="Line 41"/>
            <p:cNvSpPr>
              <a:spLocks noChangeShapeType="1"/>
            </p:cNvSpPr>
            <p:nvPr/>
          </p:nvSpPr>
          <p:spPr bwMode="auto">
            <a:xfrm flipV="1">
              <a:off x="64008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32" name="Text Box 42"/>
            <p:cNvSpPr txBox="1">
              <a:spLocks noChangeArrowheads="1"/>
            </p:cNvSpPr>
            <p:nvPr/>
          </p:nvSpPr>
          <p:spPr bwMode="auto">
            <a:xfrm>
              <a:off x="6858000" y="3823537"/>
              <a:ext cx="990600" cy="37660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 i="1">
                  <a:latin typeface="Calibri" pitchFamily="-96" charset="0"/>
                </a:rPr>
                <a:t>x </a:t>
              </a:r>
              <a:r>
                <a:rPr lang="en-US" sz="1800" b="0">
                  <a:latin typeface="Calibri" pitchFamily="-96" charset="0"/>
                </a:rPr>
                <a:t>+ 20</a:t>
              </a:r>
              <a:endParaRPr lang="en-US" sz="1800" b="0" i="1">
                <a:latin typeface="Calibri" pitchFamily="-96" charset="0"/>
              </a:endParaRPr>
            </a:p>
          </p:txBody>
        </p:sp>
        <p:sp>
          <p:nvSpPr>
            <p:cNvPr id="60433" name="Line 43"/>
            <p:cNvSpPr>
              <a:spLocks noChangeShapeType="1"/>
            </p:cNvSpPr>
            <p:nvPr/>
          </p:nvSpPr>
          <p:spPr bwMode="auto">
            <a:xfrm flipV="1">
              <a:off x="73152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5473700" cy="573088"/>
          </a:xfrm>
        </p:spPr>
        <p:txBody>
          <a:bodyPr/>
          <a:lstStyle/>
          <a:p>
            <a:r>
              <a:rPr lang="en-US">
                <a:latin typeface="Calibri" pitchFamily="-96" charset="0"/>
              </a:rPr>
              <a:t>Array Example</a:t>
            </a: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5556250"/>
            <a:ext cx="8382000" cy="1377950"/>
          </a:xfrm>
        </p:spPr>
        <p:txBody>
          <a:bodyPr/>
          <a:lstStyle/>
          <a:p>
            <a:r>
              <a:rPr lang="en-US" sz="2000">
                <a:latin typeface="Calibri" pitchFamily="-96" charset="0"/>
              </a:rPr>
              <a:t>Declaration “</a:t>
            </a:r>
            <a:r>
              <a:rPr lang="en-US" sz="2000">
                <a:latin typeface="Courier New" pitchFamily="-96" charset="0"/>
              </a:rPr>
              <a:t>zip_dig cmu</a:t>
            </a:r>
            <a:r>
              <a:rPr lang="en-US" sz="2000">
                <a:latin typeface="Calibri" pitchFamily="-96" charset="0"/>
              </a:rPr>
              <a:t>” equivalent to “</a:t>
            </a:r>
            <a:r>
              <a:rPr lang="en-US" sz="2000">
                <a:latin typeface="Courier New" pitchFamily="-96" charset="0"/>
              </a:rPr>
              <a:t>int cmu[5]</a:t>
            </a:r>
            <a:r>
              <a:rPr lang="en-US" sz="2000">
                <a:latin typeface="Calibri" pitchFamily="-96" charset="0"/>
              </a:rPr>
              <a:t>”</a:t>
            </a:r>
          </a:p>
          <a:p>
            <a:r>
              <a:rPr lang="en-US" sz="2000">
                <a:latin typeface="Calibri" pitchFamily="-96" charset="0"/>
              </a:rPr>
              <a:t>Example arrays were allocated in successive 20 byte blocks</a:t>
            </a:r>
          </a:p>
          <a:p>
            <a:pPr lvl="1"/>
            <a:r>
              <a:rPr lang="en-US">
                <a:latin typeface="Calibri" pitchFamily="-96" charset="0"/>
              </a:rPr>
              <a:t>Not guaranteed to happen in general</a:t>
            </a:r>
          </a:p>
        </p:txBody>
      </p:sp>
      <p:sp>
        <p:nvSpPr>
          <p:cNvPr id="62467" name="Rectangle 4"/>
          <p:cNvSpPr>
            <a:spLocks noChangeArrowheads="1"/>
          </p:cNvSpPr>
          <p:nvPr/>
        </p:nvSpPr>
        <p:spPr bwMode="auto">
          <a:xfrm>
            <a:off x="609600" y="1000108"/>
            <a:ext cx="4924425" cy="1751762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latin typeface="Courier New" pitchFamily="-96" charset="0"/>
              </a:rPr>
              <a:t>#define ZLEN 5</a:t>
            </a:r>
          </a:p>
          <a:p>
            <a:pPr eaLnBrk="0" hangingPunct="0"/>
            <a:r>
              <a:rPr lang="en-US" sz="1800" dirty="0" err="1">
                <a:latin typeface="Courier New" pitchFamily="-96" charset="0"/>
              </a:rPr>
              <a:t>typedef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zip_dig</a:t>
            </a:r>
            <a:r>
              <a:rPr lang="en-US" sz="1800" dirty="0">
                <a:latin typeface="Courier New" pitchFamily="-96" charset="0"/>
              </a:rPr>
              <a:t>[ZLEN];</a:t>
            </a:r>
          </a:p>
          <a:p>
            <a:pPr eaLnBrk="0" hangingPunct="0"/>
            <a:endParaRPr lang="en-US" sz="1800" dirty="0">
              <a:latin typeface="Courier New" pitchFamily="-96" charset="0"/>
            </a:endParaRPr>
          </a:p>
          <a:p>
            <a:pPr eaLnBrk="0" hangingPunct="0"/>
            <a:r>
              <a:rPr lang="en-US" sz="1800" dirty="0" err="1">
                <a:latin typeface="Courier New" pitchFamily="-96" charset="0"/>
              </a:rPr>
              <a:t>zip_dig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cmu</a:t>
            </a:r>
            <a:r>
              <a:rPr lang="en-US" sz="1800" dirty="0">
                <a:latin typeface="Courier New" pitchFamily="-96" charset="0"/>
              </a:rPr>
              <a:t> = { 1, 5, 2, 1, 3 };</a:t>
            </a:r>
          </a:p>
          <a:p>
            <a:pPr eaLnBrk="0" hangingPunct="0"/>
            <a:r>
              <a:rPr lang="en-US" sz="1800" dirty="0" err="1">
                <a:latin typeface="Courier New" pitchFamily="-96" charset="0"/>
              </a:rPr>
              <a:t>zip_dig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mit</a:t>
            </a:r>
            <a:r>
              <a:rPr lang="en-US" sz="1800" dirty="0">
                <a:latin typeface="Courier New" pitchFamily="-96" charset="0"/>
              </a:rPr>
              <a:t> = { 0, 2, 1, 3, 9 };</a:t>
            </a:r>
          </a:p>
          <a:p>
            <a:pPr eaLnBrk="0" hangingPunct="0"/>
            <a:r>
              <a:rPr lang="en-US" sz="1800" dirty="0" err="1">
                <a:latin typeface="Courier New" pitchFamily="-96" charset="0"/>
              </a:rPr>
              <a:t>zip_dig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ucb</a:t>
            </a:r>
            <a:r>
              <a:rPr lang="en-US" sz="1800" dirty="0">
                <a:latin typeface="Courier New" pitchFamily="-96" charset="0"/>
              </a:rPr>
              <a:t> = { 9, 4, 7, 2, 0 };</a:t>
            </a:r>
          </a:p>
        </p:txBody>
      </p:sp>
      <p:sp>
        <p:nvSpPr>
          <p:cNvPr id="69" name="Text Box 31"/>
          <p:cNvSpPr txBox="1">
            <a:spLocks noChangeArrowheads="1"/>
          </p:cNvSpPr>
          <p:nvPr/>
        </p:nvSpPr>
        <p:spPr bwMode="auto">
          <a:xfrm>
            <a:off x="76200" y="2932113"/>
            <a:ext cx="2235200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800">
                <a:latin typeface="Courier New" pitchFamily="-96" charset="0"/>
              </a:rPr>
              <a:t>zip_dig cmu;</a:t>
            </a:r>
          </a:p>
        </p:txBody>
      </p:sp>
      <p:grpSp>
        <p:nvGrpSpPr>
          <p:cNvPr id="70" name="Group 24"/>
          <p:cNvGrpSpPr>
            <a:grpSpLocks/>
          </p:cNvGrpSpPr>
          <p:nvPr/>
        </p:nvGrpSpPr>
        <p:grpSpPr bwMode="auto">
          <a:xfrm>
            <a:off x="2259013" y="2979738"/>
            <a:ext cx="5435600" cy="750887"/>
            <a:chOff x="2412765" y="3429000"/>
            <a:chExt cx="5435835" cy="771209"/>
          </a:xfrm>
        </p:grpSpPr>
        <p:grpSp>
          <p:nvGrpSpPr>
            <p:cNvPr id="62510" name="Group 25"/>
            <p:cNvGrpSpPr>
              <a:grpSpLocks/>
            </p:cNvGrpSpPr>
            <p:nvPr/>
          </p:nvGrpSpPr>
          <p:grpSpPr bwMode="auto">
            <a:xfrm>
              <a:off x="2743200" y="3429000"/>
              <a:ext cx="4572000" cy="228600"/>
              <a:chOff x="1008" y="1968"/>
              <a:chExt cx="2880" cy="144"/>
            </a:xfrm>
          </p:grpSpPr>
          <p:sp>
            <p:nvSpPr>
              <p:cNvPr id="84" name="Rectangle 26"/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85" name="Rectangle 27"/>
              <p:cNvSpPr>
                <a:spLocks noChangeArrowheads="1"/>
              </p:cNvSpPr>
              <p:nvPr/>
            </p:nvSpPr>
            <p:spPr bwMode="auto">
              <a:xfrm>
                <a:off x="1584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86" name="Rectangle 28"/>
              <p:cNvSpPr>
                <a:spLocks noChangeArrowheads="1"/>
              </p:cNvSpPr>
              <p:nvPr/>
            </p:nvSpPr>
            <p:spPr bwMode="auto">
              <a:xfrm>
                <a:off x="2160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87" name="Rectangle 29"/>
              <p:cNvSpPr>
                <a:spLocks noChangeArrowheads="1"/>
              </p:cNvSpPr>
              <p:nvPr/>
            </p:nvSpPr>
            <p:spPr bwMode="auto">
              <a:xfrm>
                <a:off x="2736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88" name="Rectangle 30"/>
              <p:cNvSpPr>
                <a:spLocks noChangeArrowheads="1"/>
              </p:cNvSpPr>
              <p:nvPr/>
            </p:nvSpPr>
            <p:spPr bwMode="auto">
              <a:xfrm>
                <a:off x="3312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3</a:t>
                </a:r>
              </a:p>
            </p:txBody>
          </p:sp>
        </p:grpSp>
        <p:sp>
          <p:nvSpPr>
            <p:cNvPr id="62511" name="Text Box 32"/>
            <p:cNvSpPr txBox="1">
              <a:spLocks noChangeArrowheads="1"/>
            </p:cNvSpPr>
            <p:nvPr/>
          </p:nvSpPr>
          <p:spPr bwMode="auto">
            <a:xfrm>
              <a:off x="2412765" y="3810528"/>
              <a:ext cx="668366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16</a:t>
              </a:r>
            </a:p>
          </p:txBody>
        </p:sp>
        <p:sp>
          <p:nvSpPr>
            <p:cNvPr id="62512" name="Text Box 33"/>
            <p:cNvSpPr txBox="1">
              <a:spLocks noChangeArrowheads="1"/>
            </p:cNvSpPr>
            <p:nvPr/>
          </p:nvSpPr>
          <p:spPr bwMode="auto">
            <a:xfrm>
              <a:off x="3182736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20</a:t>
              </a:r>
            </a:p>
          </p:txBody>
        </p:sp>
        <p:sp>
          <p:nvSpPr>
            <p:cNvPr id="62513" name="Line 34"/>
            <p:cNvSpPr>
              <a:spLocks noChangeShapeType="1"/>
            </p:cNvSpPr>
            <p:nvPr/>
          </p:nvSpPr>
          <p:spPr bwMode="auto">
            <a:xfrm flipV="1">
              <a:off x="2743200" y="3643313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14" name="Line 35"/>
            <p:cNvSpPr>
              <a:spLocks noChangeShapeType="1"/>
            </p:cNvSpPr>
            <p:nvPr/>
          </p:nvSpPr>
          <p:spPr bwMode="auto">
            <a:xfrm flipV="1">
              <a:off x="36576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15" name="Text Box 36"/>
            <p:cNvSpPr txBox="1">
              <a:spLocks noChangeArrowheads="1"/>
            </p:cNvSpPr>
            <p:nvPr/>
          </p:nvSpPr>
          <p:spPr bwMode="auto">
            <a:xfrm>
              <a:off x="4097175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24</a:t>
              </a:r>
            </a:p>
          </p:txBody>
        </p:sp>
        <p:sp>
          <p:nvSpPr>
            <p:cNvPr id="62516" name="Line 37"/>
            <p:cNvSpPr>
              <a:spLocks noChangeShapeType="1"/>
            </p:cNvSpPr>
            <p:nvPr/>
          </p:nvSpPr>
          <p:spPr bwMode="auto">
            <a:xfrm flipV="1">
              <a:off x="45720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17" name="Text Box 38"/>
            <p:cNvSpPr txBox="1">
              <a:spLocks noChangeArrowheads="1"/>
            </p:cNvSpPr>
            <p:nvPr/>
          </p:nvSpPr>
          <p:spPr bwMode="auto">
            <a:xfrm>
              <a:off x="5029078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28</a:t>
              </a:r>
            </a:p>
          </p:txBody>
        </p:sp>
        <p:sp>
          <p:nvSpPr>
            <p:cNvPr id="62518" name="Line 39"/>
            <p:cNvSpPr>
              <a:spLocks noChangeShapeType="1"/>
            </p:cNvSpPr>
            <p:nvPr/>
          </p:nvSpPr>
          <p:spPr bwMode="auto">
            <a:xfrm flipV="1">
              <a:off x="54864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19" name="Text Box 40"/>
            <p:cNvSpPr txBox="1">
              <a:spLocks noChangeArrowheads="1"/>
            </p:cNvSpPr>
            <p:nvPr/>
          </p:nvSpPr>
          <p:spPr bwMode="auto">
            <a:xfrm>
              <a:off x="5943518" y="3823572"/>
              <a:ext cx="990642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32</a:t>
              </a:r>
            </a:p>
          </p:txBody>
        </p:sp>
        <p:sp>
          <p:nvSpPr>
            <p:cNvPr id="62520" name="Line 41"/>
            <p:cNvSpPr>
              <a:spLocks noChangeShapeType="1"/>
            </p:cNvSpPr>
            <p:nvPr/>
          </p:nvSpPr>
          <p:spPr bwMode="auto">
            <a:xfrm flipV="1">
              <a:off x="64008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21" name="Text Box 42"/>
            <p:cNvSpPr txBox="1">
              <a:spLocks noChangeArrowheads="1"/>
            </p:cNvSpPr>
            <p:nvPr/>
          </p:nvSpPr>
          <p:spPr bwMode="auto">
            <a:xfrm>
              <a:off x="6857957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36</a:t>
              </a:r>
            </a:p>
          </p:txBody>
        </p:sp>
        <p:sp>
          <p:nvSpPr>
            <p:cNvPr id="62522" name="Line 43"/>
            <p:cNvSpPr>
              <a:spLocks noChangeShapeType="1"/>
            </p:cNvSpPr>
            <p:nvPr/>
          </p:nvSpPr>
          <p:spPr bwMode="auto">
            <a:xfrm flipV="1">
              <a:off x="73152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9" name="Text Box 31"/>
          <p:cNvSpPr txBox="1">
            <a:spLocks noChangeArrowheads="1"/>
          </p:cNvSpPr>
          <p:nvPr/>
        </p:nvSpPr>
        <p:spPr bwMode="auto">
          <a:xfrm>
            <a:off x="77788" y="3733800"/>
            <a:ext cx="2233612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800">
                <a:latin typeface="Courier New" pitchFamily="-96" charset="0"/>
              </a:rPr>
              <a:t>zip_dig mit;</a:t>
            </a:r>
          </a:p>
        </p:txBody>
      </p:sp>
      <p:grpSp>
        <p:nvGrpSpPr>
          <p:cNvPr id="90" name="Group 24"/>
          <p:cNvGrpSpPr>
            <a:grpSpLocks/>
          </p:cNvGrpSpPr>
          <p:nvPr/>
        </p:nvGrpSpPr>
        <p:grpSpPr bwMode="auto">
          <a:xfrm>
            <a:off x="2260600" y="3781425"/>
            <a:ext cx="5435600" cy="750888"/>
            <a:chOff x="2412765" y="3429000"/>
            <a:chExt cx="5435835" cy="771209"/>
          </a:xfrm>
        </p:grpSpPr>
        <p:grpSp>
          <p:nvGrpSpPr>
            <p:cNvPr id="62492" name="Group 25"/>
            <p:cNvGrpSpPr>
              <a:grpSpLocks/>
            </p:cNvGrpSpPr>
            <p:nvPr/>
          </p:nvGrpSpPr>
          <p:grpSpPr bwMode="auto">
            <a:xfrm>
              <a:off x="2743200" y="3429000"/>
              <a:ext cx="4572000" cy="228600"/>
              <a:chOff x="1008" y="1968"/>
              <a:chExt cx="2880" cy="144"/>
            </a:xfrm>
          </p:grpSpPr>
          <p:sp>
            <p:nvSpPr>
              <p:cNvPr id="104" name="Rectangle 26"/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05" name="Rectangle 27"/>
              <p:cNvSpPr>
                <a:spLocks noChangeArrowheads="1"/>
              </p:cNvSpPr>
              <p:nvPr/>
            </p:nvSpPr>
            <p:spPr bwMode="auto">
              <a:xfrm>
                <a:off x="1584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06" name="Rectangle 28"/>
              <p:cNvSpPr>
                <a:spLocks noChangeArrowheads="1"/>
              </p:cNvSpPr>
              <p:nvPr/>
            </p:nvSpPr>
            <p:spPr bwMode="auto">
              <a:xfrm>
                <a:off x="2160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07" name="Rectangle 29"/>
              <p:cNvSpPr>
                <a:spLocks noChangeArrowheads="1"/>
              </p:cNvSpPr>
              <p:nvPr/>
            </p:nvSpPr>
            <p:spPr bwMode="auto">
              <a:xfrm>
                <a:off x="2736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08" name="Rectangle 30"/>
              <p:cNvSpPr>
                <a:spLocks noChangeArrowheads="1"/>
              </p:cNvSpPr>
              <p:nvPr/>
            </p:nvSpPr>
            <p:spPr bwMode="auto">
              <a:xfrm>
                <a:off x="3312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9</a:t>
                </a:r>
              </a:p>
            </p:txBody>
          </p:sp>
        </p:grpSp>
        <p:sp>
          <p:nvSpPr>
            <p:cNvPr id="62493" name="Text Box 32"/>
            <p:cNvSpPr txBox="1">
              <a:spLocks noChangeArrowheads="1"/>
            </p:cNvSpPr>
            <p:nvPr/>
          </p:nvSpPr>
          <p:spPr bwMode="auto">
            <a:xfrm>
              <a:off x="2412765" y="3810528"/>
              <a:ext cx="668366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36</a:t>
              </a:r>
            </a:p>
          </p:txBody>
        </p:sp>
        <p:sp>
          <p:nvSpPr>
            <p:cNvPr id="62494" name="Text Box 33"/>
            <p:cNvSpPr txBox="1">
              <a:spLocks noChangeArrowheads="1"/>
            </p:cNvSpPr>
            <p:nvPr/>
          </p:nvSpPr>
          <p:spPr bwMode="auto">
            <a:xfrm>
              <a:off x="3182736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40</a:t>
              </a:r>
            </a:p>
          </p:txBody>
        </p:sp>
        <p:sp>
          <p:nvSpPr>
            <p:cNvPr id="62495" name="Line 34"/>
            <p:cNvSpPr>
              <a:spLocks noChangeShapeType="1"/>
            </p:cNvSpPr>
            <p:nvPr/>
          </p:nvSpPr>
          <p:spPr bwMode="auto">
            <a:xfrm flipV="1">
              <a:off x="2743200" y="3643313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96" name="Line 35"/>
            <p:cNvSpPr>
              <a:spLocks noChangeShapeType="1"/>
            </p:cNvSpPr>
            <p:nvPr/>
          </p:nvSpPr>
          <p:spPr bwMode="auto">
            <a:xfrm flipV="1">
              <a:off x="36576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97" name="Text Box 36"/>
            <p:cNvSpPr txBox="1">
              <a:spLocks noChangeArrowheads="1"/>
            </p:cNvSpPr>
            <p:nvPr/>
          </p:nvSpPr>
          <p:spPr bwMode="auto">
            <a:xfrm>
              <a:off x="4097175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44</a:t>
              </a:r>
            </a:p>
          </p:txBody>
        </p:sp>
        <p:sp>
          <p:nvSpPr>
            <p:cNvPr id="62498" name="Line 37"/>
            <p:cNvSpPr>
              <a:spLocks noChangeShapeType="1"/>
            </p:cNvSpPr>
            <p:nvPr/>
          </p:nvSpPr>
          <p:spPr bwMode="auto">
            <a:xfrm flipV="1">
              <a:off x="45720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99" name="Text Box 38"/>
            <p:cNvSpPr txBox="1">
              <a:spLocks noChangeArrowheads="1"/>
            </p:cNvSpPr>
            <p:nvPr/>
          </p:nvSpPr>
          <p:spPr bwMode="auto">
            <a:xfrm>
              <a:off x="5029078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48</a:t>
              </a:r>
            </a:p>
          </p:txBody>
        </p:sp>
        <p:sp>
          <p:nvSpPr>
            <p:cNvPr id="62500" name="Line 39"/>
            <p:cNvSpPr>
              <a:spLocks noChangeShapeType="1"/>
            </p:cNvSpPr>
            <p:nvPr/>
          </p:nvSpPr>
          <p:spPr bwMode="auto">
            <a:xfrm flipV="1">
              <a:off x="54864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01" name="Text Box 40"/>
            <p:cNvSpPr txBox="1">
              <a:spLocks noChangeArrowheads="1"/>
            </p:cNvSpPr>
            <p:nvPr/>
          </p:nvSpPr>
          <p:spPr bwMode="auto">
            <a:xfrm>
              <a:off x="5943518" y="3823572"/>
              <a:ext cx="990642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52</a:t>
              </a:r>
            </a:p>
          </p:txBody>
        </p:sp>
        <p:sp>
          <p:nvSpPr>
            <p:cNvPr id="62502" name="Line 41"/>
            <p:cNvSpPr>
              <a:spLocks noChangeShapeType="1"/>
            </p:cNvSpPr>
            <p:nvPr/>
          </p:nvSpPr>
          <p:spPr bwMode="auto">
            <a:xfrm flipV="1">
              <a:off x="64008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03" name="Text Box 42"/>
            <p:cNvSpPr txBox="1">
              <a:spLocks noChangeArrowheads="1"/>
            </p:cNvSpPr>
            <p:nvPr/>
          </p:nvSpPr>
          <p:spPr bwMode="auto">
            <a:xfrm>
              <a:off x="6857957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56</a:t>
              </a:r>
            </a:p>
          </p:txBody>
        </p:sp>
        <p:sp>
          <p:nvSpPr>
            <p:cNvPr id="62504" name="Line 43"/>
            <p:cNvSpPr>
              <a:spLocks noChangeShapeType="1"/>
            </p:cNvSpPr>
            <p:nvPr/>
          </p:nvSpPr>
          <p:spPr bwMode="auto">
            <a:xfrm flipV="1">
              <a:off x="73152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9" name="Text Box 31"/>
          <p:cNvSpPr txBox="1">
            <a:spLocks noChangeArrowheads="1"/>
          </p:cNvSpPr>
          <p:nvPr/>
        </p:nvSpPr>
        <p:spPr bwMode="auto">
          <a:xfrm>
            <a:off x="76200" y="4572000"/>
            <a:ext cx="22352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800" dirty="0" err="1">
                <a:latin typeface="Courier New" pitchFamily="-96" charset="0"/>
              </a:rPr>
              <a:t>zip_dig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ucb</a:t>
            </a:r>
            <a:r>
              <a:rPr lang="en-US" sz="1800" dirty="0">
                <a:latin typeface="Courier New" pitchFamily="-96" charset="0"/>
              </a:rPr>
              <a:t>;</a:t>
            </a:r>
          </a:p>
        </p:txBody>
      </p:sp>
      <p:grpSp>
        <p:nvGrpSpPr>
          <p:cNvPr id="110" name="Group 24"/>
          <p:cNvGrpSpPr>
            <a:grpSpLocks/>
          </p:cNvGrpSpPr>
          <p:nvPr/>
        </p:nvGrpSpPr>
        <p:grpSpPr bwMode="auto">
          <a:xfrm>
            <a:off x="2259013" y="4619625"/>
            <a:ext cx="5435600" cy="750888"/>
            <a:chOff x="2412765" y="3429000"/>
            <a:chExt cx="5435835" cy="771209"/>
          </a:xfrm>
        </p:grpSpPr>
        <p:grpSp>
          <p:nvGrpSpPr>
            <p:cNvPr id="62474" name="Group 25"/>
            <p:cNvGrpSpPr>
              <a:grpSpLocks/>
            </p:cNvGrpSpPr>
            <p:nvPr/>
          </p:nvGrpSpPr>
          <p:grpSpPr bwMode="auto">
            <a:xfrm>
              <a:off x="2743200" y="3429000"/>
              <a:ext cx="4572000" cy="228600"/>
              <a:chOff x="1008" y="1968"/>
              <a:chExt cx="2880" cy="144"/>
            </a:xfrm>
          </p:grpSpPr>
          <p:sp>
            <p:nvSpPr>
              <p:cNvPr id="124" name="Rectangle 26"/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9</a:t>
                </a:r>
              </a:p>
            </p:txBody>
          </p:sp>
          <p:sp>
            <p:nvSpPr>
              <p:cNvPr id="125" name="Rectangle 27"/>
              <p:cNvSpPr>
                <a:spLocks noChangeArrowheads="1"/>
              </p:cNvSpPr>
              <p:nvPr/>
            </p:nvSpPr>
            <p:spPr bwMode="auto">
              <a:xfrm>
                <a:off x="1584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126" name="Rectangle 28"/>
              <p:cNvSpPr>
                <a:spLocks noChangeArrowheads="1"/>
              </p:cNvSpPr>
              <p:nvPr/>
            </p:nvSpPr>
            <p:spPr bwMode="auto">
              <a:xfrm>
                <a:off x="2160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127" name="Rectangle 29"/>
              <p:cNvSpPr>
                <a:spLocks noChangeArrowheads="1"/>
              </p:cNvSpPr>
              <p:nvPr/>
            </p:nvSpPr>
            <p:spPr bwMode="auto">
              <a:xfrm>
                <a:off x="2736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28" name="Rectangle 30"/>
              <p:cNvSpPr>
                <a:spLocks noChangeArrowheads="1"/>
              </p:cNvSpPr>
              <p:nvPr/>
            </p:nvSpPr>
            <p:spPr bwMode="auto">
              <a:xfrm>
                <a:off x="3312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0</a:t>
                </a:r>
              </a:p>
            </p:txBody>
          </p:sp>
        </p:grpSp>
        <p:sp>
          <p:nvSpPr>
            <p:cNvPr id="62475" name="Text Box 32"/>
            <p:cNvSpPr txBox="1">
              <a:spLocks noChangeArrowheads="1"/>
            </p:cNvSpPr>
            <p:nvPr/>
          </p:nvSpPr>
          <p:spPr bwMode="auto">
            <a:xfrm>
              <a:off x="2412765" y="3810528"/>
              <a:ext cx="668366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56</a:t>
              </a:r>
            </a:p>
          </p:txBody>
        </p:sp>
        <p:sp>
          <p:nvSpPr>
            <p:cNvPr id="62476" name="Text Box 33"/>
            <p:cNvSpPr txBox="1">
              <a:spLocks noChangeArrowheads="1"/>
            </p:cNvSpPr>
            <p:nvPr/>
          </p:nvSpPr>
          <p:spPr bwMode="auto">
            <a:xfrm>
              <a:off x="3182736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60</a:t>
              </a:r>
            </a:p>
          </p:txBody>
        </p:sp>
        <p:sp>
          <p:nvSpPr>
            <p:cNvPr id="62477" name="Line 34"/>
            <p:cNvSpPr>
              <a:spLocks noChangeShapeType="1"/>
            </p:cNvSpPr>
            <p:nvPr/>
          </p:nvSpPr>
          <p:spPr bwMode="auto">
            <a:xfrm flipV="1">
              <a:off x="2743200" y="3643313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78" name="Line 35"/>
            <p:cNvSpPr>
              <a:spLocks noChangeShapeType="1"/>
            </p:cNvSpPr>
            <p:nvPr/>
          </p:nvSpPr>
          <p:spPr bwMode="auto">
            <a:xfrm flipV="1">
              <a:off x="36576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79" name="Text Box 36"/>
            <p:cNvSpPr txBox="1">
              <a:spLocks noChangeArrowheads="1"/>
            </p:cNvSpPr>
            <p:nvPr/>
          </p:nvSpPr>
          <p:spPr bwMode="auto">
            <a:xfrm>
              <a:off x="4097175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64</a:t>
              </a:r>
            </a:p>
          </p:txBody>
        </p:sp>
        <p:sp>
          <p:nvSpPr>
            <p:cNvPr id="62480" name="Line 37"/>
            <p:cNvSpPr>
              <a:spLocks noChangeShapeType="1"/>
            </p:cNvSpPr>
            <p:nvPr/>
          </p:nvSpPr>
          <p:spPr bwMode="auto">
            <a:xfrm flipV="1">
              <a:off x="45720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81" name="Text Box 38"/>
            <p:cNvSpPr txBox="1">
              <a:spLocks noChangeArrowheads="1"/>
            </p:cNvSpPr>
            <p:nvPr/>
          </p:nvSpPr>
          <p:spPr bwMode="auto">
            <a:xfrm>
              <a:off x="5029078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68</a:t>
              </a:r>
            </a:p>
          </p:txBody>
        </p:sp>
        <p:sp>
          <p:nvSpPr>
            <p:cNvPr id="62482" name="Line 39"/>
            <p:cNvSpPr>
              <a:spLocks noChangeShapeType="1"/>
            </p:cNvSpPr>
            <p:nvPr/>
          </p:nvSpPr>
          <p:spPr bwMode="auto">
            <a:xfrm flipV="1">
              <a:off x="54864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83" name="Text Box 40"/>
            <p:cNvSpPr txBox="1">
              <a:spLocks noChangeArrowheads="1"/>
            </p:cNvSpPr>
            <p:nvPr/>
          </p:nvSpPr>
          <p:spPr bwMode="auto">
            <a:xfrm>
              <a:off x="5943518" y="3823572"/>
              <a:ext cx="990642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72</a:t>
              </a:r>
            </a:p>
          </p:txBody>
        </p:sp>
        <p:sp>
          <p:nvSpPr>
            <p:cNvPr id="62484" name="Line 41"/>
            <p:cNvSpPr>
              <a:spLocks noChangeShapeType="1"/>
            </p:cNvSpPr>
            <p:nvPr/>
          </p:nvSpPr>
          <p:spPr bwMode="auto">
            <a:xfrm flipV="1">
              <a:off x="64008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85" name="Text Box 42"/>
            <p:cNvSpPr txBox="1">
              <a:spLocks noChangeArrowheads="1"/>
            </p:cNvSpPr>
            <p:nvPr/>
          </p:nvSpPr>
          <p:spPr bwMode="auto">
            <a:xfrm>
              <a:off x="6857957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76</a:t>
              </a:r>
            </a:p>
          </p:txBody>
        </p:sp>
        <p:sp>
          <p:nvSpPr>
            <p:cNvPr id="62486" name="Line 43"/>
            <p:cNvSpPr>
              <a:spLocks noChangeShapeType="1"/>
            </p:cNvSpPr>
            <p:nvPr/>
          </p:nvSpPr>
          <p:spPr bwMode="auto">
            <a:xfrm flipV="1">
              <a:off x="73152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pitchFamily="-96" charset="0"/>
              </a:rPr>
              <a:t>Array Accessing Example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38800" y="3810000"/>
            <a:ext cx="3429000" cy="2981325"/>
          </a:xfrm>
        </p:spPr>
        <p:txBody>
          <a:bodyPr/>
          <a:lstStyle/>
          <a:p>
            <a:pPr marL="401638" indent="-246063"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-96" charset="2"/>
              <a:buChar char="n"/>
            </a:pPr>
            <a:r>
              <a:rPr lang="en-US" sz="2000" dirty="0">
                <a:latin typeface="Calibri" pitchFamily="-96" charset="0"/>
              </a:rPr>
              <a:t>Register </a:t>
            </a:r>
            <a:r>
              <a:rPr lang="en-US" sz="2000" dirty="0">
                <a:latin typeface="Courier New" pitchFamily="-96" charset="0"/>
              </a:rPr>
              <a:t>%</a:t>
            </a:r>
            <a:r>
              <a:rPr lang="en-US" sz="2000" dirty="0" err="1">
                <a:latin typeface="Courier New" pitchFamily="-96" charset="0"/>
              </a:rPr>
              <a:t>rdi</a:t>
            </a:r>
            <a:r>
              <a:rPr lang="en-US" sz="2000" dirty="0">
                <a:latin typeface="Calibri" pitchFamily="-96" charset="0"/>
              </a:rPr>
              <a:t> contains starting address of array</a:t>
            </a:r>
          </a:p>
          <a:p>
            <a:pPr marL="401638" indent="-246063"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-96" charset="2"/>
              <a:buChar char="n"/>
            </a:pPr>
            <a:r>
              <a:rPr lang="en-US" sz="2000" dirty="0">
                <a:latin typeface="Calibri" pitchFamily="-96" charset="0"/>
              </a:rPr>
              <a:t>Register </a:t>
            </a:r>
            <a:r>
              <a:rPr lang="en-US" sz="2000" dirty="0">
                <a:latin typeface="Courier New" pitchFamily="-96" charset="0"/>
              </a:rPr>
              <a:t>%</a:t>
            </a:r>
            <a:r>
              <a:rPr lang="en-US" sz="2000" dirty="0" err="1">
                <a:latin typeface="Courier New" pitchFamily="-96" charset="0"/>
              </a:rPr>
              <a:t>rsi</a:t>
            </a:r>
            <a:r>
              <a:rPr lang="en-US" sz="2000" dirty="0">
                <a:latin typeface="Calibri" pitchFamily="-96" charset="0"/>
              </a:rPr>
              <a:t> contains </a:t>
            </a:r>
            <a:br>
              <a:rPr lang="en-US" sz="2000" dirty="0">
                <a:latin typeface="Calibri" pitchFamily="-96" charset="0"/>
              </a:rPr>
            </a:br>
            <a:r>
              <a:rPr lang="en-US" sz="2000" dirty="0">
                <a:latin typeface="Calibri" pitchFamily="-96" charset="0"/>
              </a:rPr>
              <a:t>array index</a:t>
            </a:r>
          </a:p>
          <a:p>
            <a:pPr marL="401638" indent="-246063"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-96" charset="2"/>
              <a:buChar char="n"/>
            </a:pPr>
            <a:r>
              <a:rPr lang="en-US" sz="2000" dirty="0">
                <a:latin typeface="Calibri" pitchFamily="-96" charset="0"/>
              </a:rPr>
              <a:t>Desired digit at </a:t>
            </a:r>
            <a:br>
              <a:rPr lang="en-US" sz="2000" dirty="0">
                <a:latin typeface="Calibri" pitchFamily="-96" charset="0"/>
              </a:rPr>
            </a:br>
            <a:r>
              <a:rPr lang="en-US" sz="2000" dirty="0">
                <a:latin typeface="Courier New" pitchFamily="-96" charset="0"/>
              </a:rPr>
              <a:t>%</a:t>
            </a:r>
            <a:r>
              <a:rPr lang="en-US" sz="2000" dirty="0" err="1">
                <a:latin typeface="Courier New" pitchFamily="-96" charset="0"/>
              </a:rPr>
              <a:t>rdi</a:t>
            </a:r>
            <a:r>
              <a:rPr lang="en-US" sz="2000" dirty="0">
                <a:latin typeface="Courier New" pitchFamily="-96" charset="0"/>
              </a:rPr>
              <a:t> + 4*%</a:t>
            </a:r>
            <a:r>
              <a:rPr lang="en-US" sz="2000" dirty="0" err="1">
                <a:latin typeface="Courier New" pitchFamily="-96" charset="0"/>
              </a:rPr>
              <a:t>rsi</a:t>
            </a:r>
            <a:endParaRPr lang="en-US" sz="2000" dirty="0">
              <a:latin typeface="Calibri" pitchFamily="-96" charset="0"/>
            </a:endParaRPr>
          </a:p>
          <a:p>
            <a:pPr marL="401638" indent="-246063"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-96" charset="2"/>
              <a:buChar char="n"/>
            </a:pPr>
            <a:r>
              <a:rPr lang="en-US" sz="2000" dirty="0">
                <a:latin typeface="Calibri" pitchFamily="-96" charset="0"/>
              </a:rPr>
              <a:t>Use memory reference </a:t>
            </a:r>
            <a:r>
              <a:rPr lang="en-US" sz="2000" dirty="0">
                <a:latin typeface="Courier New" pitchFamily="-96" charset="0"/>
              </a:rPr>
              <a:t>(%rdi,%rsi,4)</a:t>
            </a:r>
            <a:endParaRPr lang="en-US" sz="2000" dirty="0">
              <a:latin typeface="Calibri" pitchFamily="-96" charset="0"/>
            </a:endParaRPr>
          </a:p>
        </p:txBody>
      </p:sp>
      <p:sp>
        <p:nvSpPr>
          <p:cNvPr id="64515" name="Rectangle 4"/>
          <p:cNvSpPr>
            <a:spLocks noChangeArrowheads="1"/>
          </p:cNvSpPr>
          <p:nvPr/>
        </p:nvSpPr>
        <p:spPr bwMode="auto">
          <a:xfrm>
            <a:off x="527050" y="2792413"/>
            <a:ext cx="3684910" cy="14747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get_digit</a:t>
            </a:r>
            <a:endParaRPr lang="en-US" sz="1800" dirty="0">
              <a:latin typeface="Courier New" pitchFamily="-96" charset="0"/>
            </a:endParaRP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(</a:t>
            </a:r>
            <a:r>
              <a:rPr lang="en-US" sz="1800" dirty="0" err="1">
                <a:latin typeface="Courier New" pitchFamily="-96" charset="0"/>
              </a:rPr>
              <a:t>zip_dig</a:t>
            </a:r>
            <a:r>
              <a:rPr lang="en-US" sz="1800" dirty="0">
                <a:latin typeface="Courier New" pitchFamily="-96" charset="0"/>
              </a:rPr>
              <a:t> z, </a:t>
            </a:r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digit)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return z[digit];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sp>
        <p:nvSpPr>
          <p:cNvPr id="64516" name="Rectangle 5"/>
          <p:cNvSpPr>
            <a:spLocks noChangeArrowheads="1"/>
          </p:cNvSpPr>
          <p:nvPr/>
        </p:nvSpPr>
        <p:spPr bwMode="auto">
          <a:xfrm>
            <a:off x="304800" y="4876800"/>
            <a:ext cx="5334000" cy="9207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>
              <a:tabLst>
                <a:tab pos="342900" algn="l"/>
                <a:tab pos="2628900" algn="l"/>
              </a:tabLst>
            </a:pPr>
            <a:r>
              <a:rPr lang="en-US" sz="1800" dirty="0">
                <a:latin typeface="Courier New" pitchFamily="-96" charset="0"/>
              </a:rPr>
              <a:t>  # %</a:t>
            </a:r>
            <a:r>
              <a:rPr lang="en-US" sz="1800" dirty="0" err="1">
                <a:latin typeface="Courier New" pitchFamily="-96" charset="0"/>
              </a:rPr>
              <a:t>rdi</a:t>
            </a:r>
            <a:r>
              <a:rPr lang="en-US" sz="1800" dirty="0">
                <a:latin typeface="Courier New" pitchFamily="-96" charset="0"/>
              </a:rPr>
              <a:t> = z</a:t>
            </a:r>
          </a:p>
          <a:p>
            <a:pPr eaLnBrk="0" hangingPunct="0">
              <a:tabLst>
                <a:tab pos="342900" algn="l"/>
                <a:tab pos="2628900" algn="l"/>
              </a:tabLst>
            </a:pPr>
            <a:r>
              <a:rPr lang="en-US" sz="1800" dirty="0">
                <a:latin typeface="Courier New" pitchFamily="-96" charset="0"/>
              </a:rPr>
              <a:t>  # %</a:t>
            </a:r>
            <a:r>
              <a:rPr lang="en-US" sz="1800" dirty="0" err="1">
                <a:latin typeface="Courier New" pitchFamily="-96" charset="0"/>
              </a:rPr>
              <a:t>rsi</a:t>
            </a:r>
            <a:r>
              <a:rPr lang="en-US" sz="1800" dirty="0">
                <a:latin typeface="Courier New" pitchFamily="-96" charset="0"/>
              </a:rPr>
              <a:t> = digit</a:t>
            </a:r>
            <a:endParaRPr lang="cs-CZ" sz="1800" dirty="0">
              <a:latin typeface="Courier New" pitchFamily="-96" charset="0"/>
            </a:endParaRPr>
          </a:p>
          <a:p>
            <a:pPr eaLnBrk="0" hangingPunct="0">
              <a:tabLst>
                <a:tab pos="342900" algn="l"/>
                <a:tab pos="2628900" algn="l"/>
              </a:tabLst>
            </a:pPr>
            <a:r>
              <a:rPr lang="cs-CZ" sz="1800" dirty="0" err="1">
                <a:latin typeface="Courier New" pitchFamily="-96" charset="0"/>
              </a:rPr>
              <a:t>movl</a:t>
            </a:r>
            <a:r>
              <a:rPr lang="cs-CZ" sz="1800" dirty="0">
                <a:latin typeface="Courier New" pitchFamily="-96" charset="0"/>
              </a:rPr>
              <a:t> (%rdi,%rsi,4), %</a:t>
            </a:r>
            <a:r>
              <a:rPr lang="cs-CZ" sz="1800" dirty="0" err="1">
                <a:latin typeface="Courier New" pitchFamily="-96" charset="0"/>
              </a:rPr>
              <a:t>eax</a:t>
            </a:r>
            <a:r>
              <a:rPr lang="en-US" sz="1800" dirty="0">
                <a:latin typeface="Courier New" pitchFamily="-96" charset="0"/>
              </a:rPr>
              <a:t>  # z[digit]</a:t>
            </a:r>
          </a:p>
        </p:txBody>
      </p:sp>
      <p:sp>
        <p:nvSpPr>
          <p:cNvPr id="64517" name="TextBox 6"/>
          <p:cNvSpPr txBox="1">
            <a:spLocks noChangeArrowheads="1"/>
          </p:cNvSpPr>
          <p:nvPr/>
        </p:nvSpPr>
        <p:spPr bwMode="auto">
          <a:xfrm>
            <a:off x="420688" y="4392613"/>
            <a:ext cx="758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>
                <a:latin typeface="Calibri" pitchFamily="-96" charset="0"/>
              </a:rPr>
              <a:t>IA32</a:t>
            </a:r>
          </a:p>
        </p:txBody>
      </p:sp>
      <p:sp>
        <p:nvSpPr>
          <p:cNvPr id="64518" name="Text Box 31"/>
          <p:cNvSpPr txBox="1">
            <a:spLocks noChangeArrowheads="1"/>
          </p:cNvSpPr>
          <p:nvPr/>
        </p:nvSpPr>
        <p:spPr bwMode="auto">
          <a:xfrm>
            <a:off x="304800" y="1408113"/>
            <a:ext cx="1930400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800">
                <a:latin typeface="Courier New" pitchFamily="-96" charset="0"/>
              </a:rPr>
              <a:t>zip_dig cmu;</a:t>
            </a:r>
          </a:p>
        </p:txBody>
      </p:sp>
      <p:grpSp>
        <p:nvGrpSpPr>
          <p:cNvPr id="64519" name="Group 24"/>
          <p:cNvGrpSpPr>
            <a:grpSpLocks/>
          </p:cNvGrpSpPr>
          <p:nvPr/>
        </p:nvGrpSpPr>
        <p:grpSpPr bwMode="auto">
          <a:xfrm>
            <a:off x="2184400" y="1455738"/>
            <a:ext cx="5435600" cy="750887"/>
            <a:chOff x="2412765" y="3429000"/>
            <a:chExt cx="5435835" cy="771209"/>
          </a:xfrm>
        </p:grpSpPr>
        <p:grpSp>
          <p:nvGrpSpPr>
            <p:cNvPr id="64520" name="Group 25"/>
            <p:cNvGrpSpPr>
              <a:grpSpLocks/>
            </p:cNvGrpSpPr>
            <p:nvPr/>
          </p:nvGrpSpPr>
          <p:grpSpPr bwMode="auto">
            <a:xfrm>
              <a:off x="2743200" y="3429000"/>
              <a:ext cx="4572000" cy="228600"/>
              <a:chOff x="1008" y="1968"/>
              <a:chExt cx="2880" cy="144"/>
            </a:xfrm>
          </p:grpSpPr>
          <p:sp>
            <p:nvSpPr>
              <p:cNvPr id="23" name="Rectangle 26"/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4" name="Rectangle 27"/>
              <p:cNvSpPr>
                <a:spLocks noChangeArrowheads="1"/>
              </p:cNvSpPr>
              <p:nvPr/>
            </p:nvSpPr>
            <p:spPr bwMode="auto">
              <a:xfrm>
                <a:off x="1584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25" name="Rectangle 28"/>
              <p:cNvSpPr>
                <a:spLocks noChangeArrowheads="1"/>
              </p:cNvSpPr>
              <p:nvPr/>
            </p:nvSpPr>
            <p:spPr bwMode="auto">
              <a:xfrm>
                <a:off x="2160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6" name="Rectangle 29"/>
              <p:cNvSpPr>
                <a:spLocks noChangeArrowheads="1"/>
              </p:cNvSpPr>
              <p:nvPr/>
            </p:nvSpPr>
            <p:spPr bwMode="auto">
              <a:xfrm>
                <a:off x="2736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7" name="Rectangle 30"/>
              <p:cNvSpPr>
                <a:spLocks noChangeArrowheads="1"/>
              </p:cNvSpPr>
              <p:nvPr/>
            </p:nvSpPr>
            <p:spPr bwMode="auto">
              <a:xfrm>
                <a:off x="3312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3</a:t>
                </a:r>
              </a:p>
            </p:txBody>
          </p:sp>
        </p:grpSp>
        <p:sp>
          <p:nvSpPr>
            <p:cNvPr id="64521" name="Text Box 32"/>
            <p:cNvSpPr txBox="1">
              <a:spLocks noChangeArrowheads="1"/>
            </p:cNvSpPr>
            <p:nvPr/>
          </p:nvSpPr>
          <p:spPr bwMode="auto">
            <a:xfrm>
              <a:off x="2412765" y="3810528"/>
              <a:ext cx="668366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16</a:t>
              </a:r>
            </a:p>
          </p:txBody>
        </p:sp>
        <p:sp>
          <p:nvSpPr>
            <p:cNvPr id="64522" name="Text Box 33"/>
            <p:cNvSpPr txBox="1">
              <a:spLocks noChangeArrowheads="1"/>
            </p:cNvSpPr>
            <p:nvPr/>
          </p:nvSpPr>
          <p:spPr bwMode="auto">
            <a:xfrm>
              <a:off x="3182736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20</a:t>
              </a:r>
            </a:p>
          </p:txBody>
        </p:sp>
        <p:sp>
          <p:nvSpPr>
            <p:cNvPr id="64523" name="Line 34"/>
            <p:cNvSpPr>
              <a:spLocks noChangeShapeType="1"/>
            </p:cNvSpPr>
            <p:nvPr/>
          </p:nvSpPr>
          <p:spPr bwMode="auto">
            <a:xfrm flipV="1">
              <a:off x="2743200" y="3643313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24" name="Line 35"/>
            <p:cNvSpPr>
              <a:spLocks noChangeShapeType="1"/>
            </p:cNvSpPr>
            <p:nvPr/>
          </p:nvSpPr>
          <p:spPr bwMode="auto">
            <a:xfrm flipV="1">
              <a:off x="36576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25" name="Text Box 36"/>
            <p:cNvSpPr txBox="1">
              <a:spLocks noChangeArrowheads="1"/>
            </p:cNvSpPr>
            <p:nvPr/>
          </p:nvSpPr>
          <p:spPr bwMode="auto">
            <a:xfrm>
              <a:off x="4097175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24</a:t>
              </a:r>
            </a:p>
          </p:txBody>
        </p:sp>
        <p:sp>
          <p:nvSpPr>
            <p:cNvPr id="64526" name="Line 37"/>
            <p:cNvSpPr>
              <a:spLocks noChangeShapeType="1"/>
            </p:cNvSpPr>
            <p:nvPr/>
          </p:nvSpPr>
          <p:spPr bwMode="auto">
            <a:xfrm flipV="1">
              <a:off x="45720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27" name="Text Box 38"/>
            <p:cNvSpPr txBox="1">
              <a:spLocks noChangeArrowheads="1"/>
            </p:cNvSpPr>
            <p:nvPr/>
          </p:nvSpPr>
          <p:spPr bwMode="auto">
            <a:xfrm>
              <a:off x="5029078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28</a:t>
              </a:r>
            </a:p>
          </p:txBody>
        </p:sp>
        <p:sp>
          <p:nvSpPr>
            <p:cNvPr id="64528" name="Line 39"/>
            <p:cNvSpPr>
              <a:spLocks noChangeShapeType="1"/>
            </p:cNvSpPr>
            <p:nvPr/>
          </p:nvSpPr>
          <p:spPr bwMode="auto">
            <a:xfrm flipV="1">
              <a:off x="54864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29" name="Text Box 40"/>
            <p:cNvSpPr txBox="1">
              <a:spLocks noChangeArrowheads="1"/>
            </p:cNvSpPr>
            <p:nvPr/>
          </p:nvSpPr>
          <p:spPr bwMode="auto">
            <a:xfrm>
              <a:off x="5943518" y="3823572"/>
              <a:ext cx="990642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32</a:t>
              </a:r>
            </a:p>
          </p:txBody>
        </p:sp>
        <p:sp>
          <p:nvSpPr>
            <p:cNvPr id="64530" name="Line 41"/>
            <p:cNvSpPr>
              <a:spLocks noChangeShapeType="1"/>
            </p:cNvSpPr>
            <p:nvPr/>
          </p:nvSpPr>
          <p:spPr bwMode="auto">
            <a:xfrm flipV="1">
              <a:off x="64008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31" name="Text Box 42"/>
            <p:cNvSpPr txBox="1">
              <a:spLocks noChangeArrowheads="1"/>
            </p:cNvSpPr>
            <p:nvPr/>
          </p:nvSpPr>
          <p:spPr bwMode="auto">
            <a:xfrm>
              <a:off x="6857957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36</a:t>
              </a:r>
            </a:p>
          </p:txBody>
        </p:sp>
        <p:sp>
          <p:nvSpPr>
            <p:cNvPr id="64532" name="Line 43"/>
            <p:cNvSpPr>
              <a:spLocks noChangeShapeType="1"/>
            </p:cNvSpPr>
            <p:nvPr/>
          </p:nvSpPr>
          <p:spPr bwMode="auto">
            <a:xfrm flipV="1">
              <a:off x="73152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ChangeArrowheads="1"/>
          </p:cNvSpPr>
          <p:nvPr/>
        </p:nvSpPr>
        <p:spPr bwMode="auto">
          <a:xfrm>
            <a:off x="928662" y="3500438"/>
            <a:ext cx="7099722" cy="285975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#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rdi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= z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movl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 $0, %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eax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       #   i = 0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jmp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  .L3               # 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goto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middle</a:t>
            </a:r>
            <a:endParaRPr lang="cs-CZ" sz="1800" dirty="0">
              <a:latin typeface="Courier New" pitchFamily="49" charset="0"/>
              <a:ea typeface="+mn-ea"/>
              <a:cs typeface="+mn-cs"/>
            </a:endParaRP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.L4:                        #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loop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: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dirty="0">
                <a:solidFill>
                  <a:srgbClr val="FF0000"/>
                </a:solidFill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dirty="0" err="1">
                <a:solidFill>
                  <a:srgbClr val="FF0000"/>
                </a:solidFill>
                <a:latin typeface="Courier New" pitchFamily="49" charset="0"/>
                <a:ea typeface="+mn-ea"/>
                <a:cs typeface="+mn-cs"/>
              </a:rPr>
              <a:t>addl</a:t>
            </a:r>
            <a:r>
              <a:rPr lang="cs-CZ" sz="1800" dirty="0">
                <a:solidFill>
                  <a:srgbClr val="FF0000"/>
                </a:solidFill>
                <a:latin typeface="Courier New" pitchFamily="49" charset="0"/>
                <a:ea typeface="+mn-ea"/>
                <a:cs typeface="+mn-cs"/>
              </a:rPr>
              <a:t>    $1, (%rdi,%rax,4) #   z[i]++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addq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 $1, %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rax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       #   i++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.L3:                        #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middle</a:t>
            </a:r>
            <a:endParaRPr lang="cs-CZ" sz="1800" dirty="0">
              <a:latin typeface="Courier New" pitchFamily="49" charset="0"/>
              <a:ea typeface="+mn-ea"/>
              <a:cs typeface="+mn-cs"/>
            </a:endParaRP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cmpq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 $4, %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rax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       #   i:4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jbe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  .L4               # 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if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&lt;=,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goto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loop</a:t>
            </a:r>
            <a:endParaRPr lang="cs-CZ" sz="1800" dirty="0">
              <a:latin typeface="Courier New" pitchFamily="49" charset="0"/>
              <a:ea typeface="+mn-ea"/>
              <a:cs typeface="+mn-cs"/>
            </a:endParaRP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rep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; ret</a:t>
            </a:r>
          </a:p>
        </p:txBody>
      </p:sp>
      <p:sp>
        <p:nvSpPr>
          <p:cNvPr id="72706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417513"/>
            <a:ext cx="8382000" cy="573087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Array Loop Example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476500" y="1357298"/>
            <a:ext cx="4038600" cy="14747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latin typeface="Courier New" pitchFamily="-96" charset="0"/>
              </a:rPr>
              <a:t>void </a:t>
            </a:r>
            <a:r>
              <a:rPr lang="en-US" sz="1800" dirty="0" err="1">
                <a:latin typeface="Courier New" pitchFamily="-96" charset="0"/>
              </a:rPr>
              <a:t>zincr</a:t>
            </a:r>
            <a:r>
              <a:rPr lang="en-US" sz="1800" dirty="0">
                <a:latin typeface="Courier New" pitchFamily="-96" charset="0"/>
              </a:rPr>
              <a:t>(</a:t>
            </a:r>
            <a:r>
              <a:rPr lang="en-US" sz="1800" dirty="0" err="1">
                <a:latin typeface="Courier New" pitchFamily="-96" charset="0"/>
              </a:rPr>
              <a:t>zip_dig</a:t>
            </a:r>
            <a:r>
              <a:rPr lang="en-US" sz="1800" dirty="0">
                <a:latin typeface="Courier New" pitchFamily="-96" charset="0"/>
              </a:rPr>
              <a:t> z) 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for (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 = 0; 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 &lt; ZLEN; 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++)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z[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]++;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3713"/>
            <a:ext cx="8077200" cy="573087"/>
          </a:xfrm>
        </p:spPr>
        <p:txBody>
          <a:bodyPr/>
          <a:lstStyle/>
          <a:p>
            <a:r>
              <a:rPr lang="en-US">
                <a:latin typeface="Calibri" pitchFamily="-96" charset="0"/>
              </a:rPr>
              <a:t>Multidimensional (Nested) Arrays</a:t>
            </a:r>
          </a:p>
        </p:txBody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35063"/>
            <a:ext cx="4433888" cy="3360737"/>
          </a:xfrm>
        </p:spPr>
        <p:txBody>
          <a:bodyPr/>
          <a:lstStyle/>
          <a:p>
            <a:r>
              <a:rPr lang="en-US">
                <a:latin typeface="Calibri" pitchFamily="-96" charset="0"/>
              </a:rPr>
              <a:t>Declaration</a:t>
            </a:r>
          </a:p>
          <a:p>
            <a:pPr lvl="1">
              <a:buFont typeface="Wingdings" pitchFamily="-96" charset="2"/>
              <a:buNone/>
            </a:pPr>
            <a:r>
              <a:rPr lang="en-US" i="1">
                <a:latin typeface="Calibri" pitchFamily="-96" charset="0"/>
              </a:rPr>
              <a:t>T</a:t>
            </a:r>
            <a:r>
              <a:rPr lang="en-US">
                <a:latin typeface="Calibri" pitchFamily="-96" charset="0"/>
              </a:rPr>
              <a:t>   </a:t>
            </a:r>
            <a:r>
              <a:rPr lang="en-US" b="1">
                <a:latin typeface="Courier New" pitchFamily="-96" charset="0"/>
              </a:rPr>
              <a:t>A</a:t>
            </a:r>
            <a:r>
              <a:rPr lang="en-US">
                <a:latin typeface="Courier New" pitchFamily="-96" charset="0"/>
              </a:rPr>
              <a:t>[</a:t>
            </a:r>
            <a:r>
              <a:rPr lang="en-US" i="1">
                <a:latin typeface="Calibri" pitchFamily="-96" charset="0"/>
              </a:rPr>
              <a:t>R</a:t>
            </a:r>
            <a:r>
              <a:rPr lang="en-US">
                <a:latin typeface="Courier New" pitchFamily="-96" charset="0"/>
              </a:rPr>
              <a:t>][</a:t>
            </a:r>
            <a:r>
              <a:rPr lang="en-US" i="1">
                <a:latin typeface="Calibri" pitchFamily="-96" charset="0"/>
              </a:rPr>
              <a:t>C</a:t>
            </a:r>
            <a:r>
              <a:rPr lang="en-US">
                <a:latin typeface="Courier New" pitchFamily="-96" charset="0"/>
              </a:rPr>
              <a:t>];</a:t>
            </a:r>
            <a:endParaRPr lang="en-US">
              <a:latin typeface="Calibri" pitchFamily="-96" charset="0"/>
            </a:endParaRPr>
          </a:p>
          <a:p>
            <a:pPr lvl="1"/>
            <a:r>
              <a:rPr lang="en-US">
                <a:latin typeface="Calibri" pitchFamily="-96" charset="0"/>
              </a:rPr>
              <a:t>2D array of data type </a:t>
            </a:r>
            <a:r>
              <a:rPr lang="en-US" i="1">
                <a:latin typeface="Calibri" pitchFamily="-96" charset="0"/>
              </a:rPr>
              <a:t>T</a:t>
            </a:r>
            <a:endParaRPr lang="en-US">
              <a:latin typeface="Calibri" pitchFamily="-96" charset="0"/>
            </a:endParaRPr>
          </a:p>
          <a:p>
            <a:pPr lvl="1"/>
            <a:r>
              <a:rPr lang="en-US" i="1">
                <a:latin typeface="Calibri" pitchFamily="-96" charset="0"/>
              </a:rPr>
              <a:t>R</a:t>
            </a:r>
            <a:r>
              <a:rPr lang="en-US">
                <a:latin typeface="Calibri" pitchFamily="-96" charset="0"/>
              </a:rPr>
              <a:t> rows, </a:t>
            </a:r>
            <a:r>
              <a:rPr lang="en-US" i="1">
                <a:latin typeface="Calibri" pitchFamily="-96" charset="0"/>
              </a:rPr>
              <a:t>C</a:t>
            </a:r>
            <a:r>
              <a:rPr lang="en-US">
                <a:latin typeface="Calibri" pitchFamily="-96" charset="0"/>
              </a:rPr>
              <a:t> columns</a:t>
            </a:r>
          </a:p>
          <a:p>
            <a:pPr lvl="1"/>
            <a:r>
              <a:rPr lang="en-US">
                <a:latin typeface="Calibri" pitchFamily="-96" charset="0"/>
              </a:rPr>
              <a:t>Type </a:t>
            </a:r>
            <a:r>
              <a:rPr lang="en-US" i="1">
                <a:latin typeface="Calibri" pitchFamily="-96" charset="0"/>
              </a:rPr>
              <a:t>T</a:t>
            </a:r>
            <a:r>
              <a:rPr lang="en-US">
                <a:latin typeface="Calibri" pitchFamily="-96" charset="0"/>
              </a:rPr>
              <a:t> element requires </a:t>
            </a:r>
            <a:r>
              <a:rPr lang="en-US" i="1">
                <a:latin typeface="Calibri" pitchFamily="-96" charset="0"/>
              </a:rPr>
              <a:t>K</a:t>
            </a:r>
            <a:r>
              <a:rPr lang="en-US">
                <a:latin typeface="Calibri" pitchFamily="-96" charset="0"/>
              </a:rPr>
              <a:t> bytes</a:t>
            </a:r>
          </a:p>
          <a:p>
            <a:r>
              <a:rPr lang="en-US">
                <a:latin typeface="Calibri" pitchFamily="-96" charset="0"/>
              </a:rPr>
              <a:t>Array Size</a:t>
            </a:r>
          </a:p>
          <a:p>
            <a:pPr lvl="1"/>
            <a:r>
              <a:rPr lang="en-US" i="1">
                <a:latin typeface="Calibri" pitchFamily="-96" charset="0"/>
              </a:rPr>
              <a:t>R</a:t>
            </a:r>
            <a:r>
              <a:rPr lang="en-US">
                <a:latin typeface="Calibri" pitchFamily="-96" charset="0"/>
              </a:rPr>
              <a:t> * </a:t>
            </a:r>
            <a:r>
              <a:rPr lang="en-US" i="1">
                <a:latin typeface="Calibri" pitchFamily="-96" charset="0"/>
              </a:rPr>
              <a:t>C </a:t>
            </a:r>
            <a:r>
              <a:rPr lang="en-US">
                <a:latin typeface="Calibri" pitchFamily="-96" charset="0"/>
              </a:rPr>
              <a:t>* </a:t>
            </a:r>
            <a:r>
              <a:rPr lang="en-US" i="1">
                <a:latin typeface="Calibri" pitchFamily="-96" charset="0"/>
              </a:rPr>
              <a:t>K </a:t>
            </a:r>
            <a:r>
              <a:rPr lang="en-US">
                <a:latin typeface="Calibri" pitchFamily="-96" charset="0"/>
              </a:rPr>
              <a:t>bytes</a:t>
            </a:r>
          </a:p>
          <a:p>
            <a:r>
              <a:rPr lang="en-US">
                <a:latin typeface="Calibri" pitchFamily="-96" charset="0"/>
              </a:rPr>
              <a:t>Arrangement</a:t>
            </a:r>
          </a:p>
          <a:p>
            <a:pPr lvl="1"/>
            <a:r>
              <a:rPr lang="en-US">
                <a:latin typeface="Calibri" pitchFamily="-96" charset="0"/>
              </a:rPr>
              <a:t>Row-Major Ordering</a:t>
            </a:r>
          </a:p>
        </p:txBody>
      </p:sp>
      <p:grpSp>
        <p:nvGrpSpPr>
          <p:cNvPr id="78851" name="Group 4"/>
          <p:cNvGrpSpPr>
            <a:grpSpLocks/>
          </p:cNvGrpSpPr>
          <p:nvPr/>
        </p:nvGrpSpPr>
        <p:grpSpPr bwMode="auto">
          <a:xfrm>
            <a:off x="4876800" y="1143000"/>
            <a:ext cx="4038600" cy="2209800"/>
            <a:chOff x="2208" y="2688"/>
            <a:chExt cx="2544" cy="1392"/>
          </a:xfrm>
        </p:grpSpPr>
        <p:sp>
          <p:nvSpPr>
            <p:cNvPr id="78871" name="Rectangle 5"/>
            <p:cNvSpPr>
              <a:spLocks noChangeArrowheads="1"/>
            </p:cNvSpPr>
            <p:nvPr/>
          </p:nvSpPr>
          <p:spPr bwMode="auto">
            <a:xfrm>
              <a:off x="2304" y="2784"/>
              <a:ext cx="768" cy="288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A[0][0]</a:t>
              </a:r>
            </a:p>
          </p:txBody>
        </p:sp>
        <p:sp>
          <p:nvSpPr>
            <p:cNvPr id="78872" name="Rectangle 6"/>
            <p:cNvSpPr>
              <a:spLocks noChangeArrowheads="1"/>
            </p:cNvSpPr>
            <p:nvPr/>
          </p:nvSpPr>
          <p:spPr bwMode="auto">
            <a:xfrm>
              <a:off x="3936" y="2784"/>
              <a:ext cx="768" cy="288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r" eaLnBrk="0" hangingPunct="0"/>
              <a:r>
                <a:rPr lang="en-US" sz="1800">
                  <a:latin typeface="Courier New" pitchFamily="-96" charset="0"/>
                </a:rPr>
                <a:t>A[0][C-1]</a:t>
              </a:r>
            </a:p>
          </p:txBody>
        </p:sp>
        <p:sp>
          <p:nvSpPr>
            <p:cNvPr id="78873" name="Rectangle 7"/>
            <p:cNvSpPr>
              <a:spLocks noChangeArrowheads="1"/>
            </p:cNvSpPr>
            <p:nvPr/>
          </p:nvSpPr>
          <p:spPr bwMode="auto">
            <a:xfrm>
              <a:off x="2304" y="3744"/>
              <a:ext cx="768" cy="288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A[R-1][0]</a:t>
              </a:r>
            </a:p>
          </p:txBody>
        </p:sp>
        <p:sp>
          <p:nvSpPr>
            <p:cNvPr id="78874" name="Rectangle 8"/>
            <p:cNvSpPr>
              <a:spLocks noChangeArrowheads="1"/>
            </p:cNvSpPr>
            <p:nvPr/>
          </p:nvSpPr>
          <p:spPr bwMode="auto">
            <a:xfrm>
              <a:off x="3120" y="2784"/>
              <a:ext cx="576" cy="288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• • •</a:t>
              </a:r>
            </a:p>
          </p:txBody>
        </p:sp>
        <p:sp>
          <p:nvSpPr>
            <p:cNvPr id="78875" name="Rectangle 9"/>
            <p:cNvSpPr>
              <a:spLocks noChangeArrowheads="1"/>
            </p:cNvSpPr>
            <p:nvPr/>
          </p:nvSpPr>
          <p:spPr bwMode="auto">
            <a:xfrm>
              <a:off x="3168" y="3744"/>
              <a:ext cx="576" cy="288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• • •</a:t>
              </a:r>
            </a:p>
          </p:txBody>
        </p:sp>
        <p:sp>
          <p:nvSpPr>
            <p:cNvPr id="78876" name="Rectangle 10"/>
            <p:cNvSpPr>
              <a:spLocks noChangeArrowheads="1"/>
            </p:cNvSpPr>
            <p:nvPr/>
          </p:nvSpPr>
          <p:spPr bwMode="auto">
            <a:xfrm>
              <a:off x="3936" y="3744"/>
              <a:ext cx="768" cy="288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r" eaLnBrk="0" hangingPunct="0"/>
              <a:r>
                <a:rPr lang="en-US" sz="1800">
                  <a:latin typeface="Courier New" pitchFamily="-96" charset="0"/>
                </a:rPr>
                <a:t>A[R-1][C-1]</a:t>
              </a:r>
            </a:p>
          </p:txBody>
        </p:sp>
        <p:sp>
          <p:nvSpPr>
            <p:cNvPr id="78877" name="Rectangle 11"/>
            <p:cNvSpPr>
              <a:spLocks noChangeArrowheads="1"/>
            </p:cNvSpPr>
            <p:nvPr/>
          </p:nvSpPr>
          <p:spPr bwMode="auto">
            <a:xfrm>
              <a:off x="2592" y="3168"/>
              <a:ext cx="288" cy="480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•</a:t>
              </a:r>
            </a:p>
            <a:p>
              <a:pPr eaLnBrk="0" hangingPunct="0"/>
              <a:r>
                <a:rPr lang="en-US" sz="1800">
                  <a:latin typeface="Courier New" pitchFamily="-96" charset="0"/>
                </a:rPr>
                <a:t>•</a:t>
              </a:r>
            </a:p>
            <a:p>
              <a:pPr eaLnBrk="0" hangingPunct="0"/>
              <a:r>
                <a:rPr lang="en-US" sz="1800">
                  <a:latin typeface="Courier New" pitchFamily="-96" charset="0"/>
                </a:rPr>
                <a:t>•</a:t>
              </a:r>
            </a:p>
          </p:txBody>
        </p:sp>
        <p:sp>
          <p:nvSpPr>
            <p:cNvPr id="78878" name="Rectangle 12"/>
            <p:cNvSpPr>
              <a:spLocks noChangeArrowheads="1"/>
            </p:cNvSpPr>
            <p:nvPr/>
          </p:nvSpPr>
          <p:spPr bwMode="auto">
            <a:xfrm>
              <a:off x="4080" y="3168"/>
              <a:ext cx="288" cy="480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•</a:t>
              </a:r>
            </a:p>
            <a:p>
              <a:pPr eaLnBrk="0" hangingPunct="0"/>
              <a:r>
                <a:rPr lang="en-US" sz="1800">
                  <a:latin typeface="Courier New" pitchFamily="-96" charset="0"/>
                </a:rPr>
                <a:t>•</a:t>
              </a:r>
            </a:p>
            <a:p>
              <a:pPr eaLnBrk="0" hangingPunct="0"/>
              <a:r>
                <a:rPr lang="en-US" sz="1800">
                  <a:latin typeface="Courier New" pitchFamily="-96" charset="0"/>
                </a:rPr>
                <a:t>•</a:t>
              </a:r>
            </a:p>
          </p:txBody>
        </p:sp>
        <p:sp>
          <p:nvSpPr>
            <p:cNvPr id="78879" name="Freeform 13"/>
            <p:cNvSpPr>
              <a:spLocks/>
            </p:cNvSpPr>
            <p:nvPr/>
          </p:nvSpPr>
          <p:spPr bwMode="auto">
            <a:xfrm>
              <a:off x="2208" y="2688"/>
              <a:ext cx="96" cy="1392"/>
            </a:xfrm>
            <a:custGeom>
              <a:avLst/>
              <a:gdLst>
                <a:gd name="T0" fmla="*/ 96 w 96"/>
                <a:gd name="T1" fmla="*/ 0 h 1392"/>
                <a:gd name="T2" fmla="*/ 0 w 96"/>
                <a:gd name="T3" fmla="*/ 0 h 1392"/>
                <a:gd name="T4" fmla="*/ 0 w 96"/>
                <a:gd name="T5" fmla="*/ 1392 h 1392"/>
                <a:gd name="T6" fmla="*/ 96 w 96"/>
                <a:gd name="T7" fmla="*/ 1392 h 13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1392"/>
                <a:gd name="T14" fmla="*/ 96 w 96"/>
                <a:gd name="T15" fmla="*/ 1392 h 13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1392">
                  <a:moveTo>
                    <a:pt x="96" y="0"/>
                  </a:moveTo>
                  <a:lnTo>
                    <a:pt x="0" y="0"/>
                  </a:lnTo>
                  <a:lnTo>
                    <a:pt x="0" y="1392"/>
                  </a:lnTo>
                  <a:lnTo>
                    <a:pt x="96" y="1392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endParaRPr lang="en-US" sz="1800">
                <a:latin typeface="Calibri" pitchFamily="-96" charset="0"/>
              </a:endParaRPr>
            </a:p>
          </p:txBody>
        </p:sp>
        <p:sp>
          <p:nvSpPr>
            <p:cNvPr id="78880" name="Freeform 14"/>
            <p:cNvSpPr>
              <a:spLocks/>
            </p:cNvSpPr>
            <p:nvPr/>
          </p:nvSpPr>
          <p:spPr bwMode="auto">
            <a:xfrm flipH="1">
              <a:off x="4656" y="2688"/>
              <a:ext cx="96" cy="1392"/>
            </a:xfrm>
            <a:custGeom>
              <a:avLst/>
              <a:gdLst>
                <a:gd name="T0" fmla="*/ 96 w 96"/>
                <a:gd name="T1" fmla="*/ 0 h 1392"/>
                <a:gd name="T2" fmla="*/ 0 w 96"/>
                <a:gd name="T3" fmla="*/ 0 h 1392"/>
                <a:gd name="T4" fmla="*/ 0 w 96"/>
                <a:gd name="T5" fmla="*/ 1392 h 1392"/>
                <a:gd name="T6" fmla="*/ 96 w 96"/>
                <a:gd name="T7" fmla="*/ 1392 h 13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1392"/>
                <a:gd name="T14" fmla="*/ 96 w 96"/>
                <a:gd name="T15" fmla="*/ 1392 h 13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1392">
                  <a:moveTo>
                    <a:pt x="96" y="0"/>
                  </a:moveTo>
                  <a:lnTo>
                    <a:pt x="0" y="0"/>
                  </a:lnTo>
                  <a:lnTo>
                    <a:pt x="0" y="1392"/>
                  </a:lnTo>
                  <a:lnTo>
                    <a:pt x="96" y="1392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endParaRPr lang="en-US" sz="1800">
                <a:latin typeface="Calibri" pitchFamily="-96" charset="0"/>
              </a:endParaRPr>
            </a:p>
          </p:txBody>
        </p:sp>
      </p:grpSp>
      <p:sp>
        <p:nvSpPr>
          <p:cNvPr id="309263" name="Text Box 15"/>
          <p:cNvSpPr txBox="1">
            <a:spLocks noChangeArrowheads="1"/>
          </p:cNvSpPr>
          <p:nvPr/>
        </p:nvSpPr>
        <p:spPr bwMode="auto">
          <a:xfrm>
            <a:off x="323850" y="4857750"/>
            <a:ext cx="20129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2000">
                <a:latin typeface="Courier New" pitchFamily="-96" charset="0"/>
              </a:rPr>
              <a:t>int A[R][C];</a:t>
            </a:r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457200" y="5257800"/>
            <a:ext cx="8229600" cy="990600"/>
            <a:chOff x="336" y="3408"/>
            <a:chExt cx="5184" cy="624"/>
          </a:xfrm>
        </p:grpSpPr>
        <p:grpSp>
          <p:nvGrpSpPr>
            <p:cNvPr id="78858" name="Group 17"/>
            <p:cNvGrpSpPr>
              <a:grpSpLocks/>
            </p:cNvGrpSpPr>
            <p:nvPr/>
          </p:nvGrpSpPr>
          <p:grpSpPr bwMode="auto">
            <a:xfrm>
              <a:off x="336" y="3408"/>
              <a:ext cx="1344" cy="624"/>
              <a:chOff x="1488" y="3504"/>
              <a:chExt cx="1344" cy="624"/>
            </a:xfrm>
          </p:grpSpPr>
          <p:sp>
            <p:nvSpPr>
              <p:cNvPr id="78868" name="Rectangle 20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1344" cy="624"/>
              </a:xfrm>
              <a:prstGeom prst="rect">
                <a:avLst/>
              </a:prstGeom>
              <a:solidFill>
                <a:srgbClr val="F1C7C7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 b="0">
                    <a:latin typeface="Courier New" pitchFamily="-96" charset="0"/>
                  </a:rPr>
                  <a:t>• • •</a:t>
                </a:r>
              </a:p>
            </p:txBody>
          </p:sp>
          <p:sp>
            <p:nvSpPr>
              <p:cNvPr id="78869" name="Rectangle 18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384" cy="624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[0]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[0]</a:t>
                </a:r>
              </a:p>
            </p:txBody>
          </p:sp>
          <p:sp>
            <p:nvSpPr>
              <p:cNvPr id="78870" name="Rectangle 19"/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84" cy="624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[0]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[C-1]</a:t>
                </a:r>
              </a:p>
            </p:txBody>
          </p:sp>
        </p:grpSp>
        <p:grpSp>
          <p:nvGrpSpPr>
            <p:cNvPr id="78859" name="Group 21"/>
            <p:cNvGrpSpPr>
              <a:grpSpLocks/>
            </p:cNvGrpSpPr>
            <p:nvPr/>
          </p:nvGrpSpPr>
          <p:grpSpPr bwMode="auto">
            <a:xfrm>
              <a:off x="1680" y="3408"/>
              <a:ext cx="1344" cy="624"/>
              <a:chOff x="1488" y="3504"/>
              <a:chExt cx="1344" cy="624"/>
            </a:xfrm>
          </p:grpSpPr>
          <p:sp>
            <p:nvSpPr>
              <p:cNvPr id="78865" name="Rectangle 24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1344" cy="624"/>
              </a:xfrm>
              <a:prstGeom prst="rect">
                <a:avLst/>
              </a:prstGeom>
              <a:solidFill>
                <a:srgbClr val="F6F5BD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 b="0">
                    <a:latin typeface="Courier New" pitchFamily="-96" charset="0"/>
                  </a:rPr>
                  <a:t>• • •</a:t>
                </a:r>
              </a:p>
            </p:txBody>
          </p:sp>
          <p:sp>
            <p:nvSpPr>
              <p:cNvPr id="78866" name="Rectangle 22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384" cy="624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[1]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[0]</a:t>
                </a:r>
              </a:p>
            </p:txBody>
          </p:sp>
          <p:sp>
            <p:nvSpPr>
              <p:cNvPr id="78867" name="Rectangle 23"/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84" cy="624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[1]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[C-1]</a:t>
                </a:r>
              </a:p>
            </p:txBody>
          </p:sp>
        </p:grpSp>
        <p:grpSp>
          <p:nvGrpSpPr>
            <p:cNvPr id="78860" name="Group 25"/>
            <p:cNvGrpSpPr>
              <a:grpSpLocks/>
            </p:cNvGrpSpPr>
            <p:nvPr/>
          </p:nvGrpSpPr>
          <p:grpSpPr bwMode="auto">
            <a:xfrm>
              <a:off x="4176" y="3408"/>
              <a:ext cx="1344" cy="624"/>
              <a:chOff x="1488" y="3504"/>
              <a:chExt cx="1344" cy="624"/>
            </a:xfrm>
          </p:grpSpPr>
          <p:sp>
            <p:nvSpPr>
              <p:cNvPr id="78862" name="Rectangle 28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1344" cy="624"/>
              </a:xfrm>
              <a:prstGeom prst="rect">
                <a:avLst/>
              </a:prstGeom>
              <a:solidFill>
                <a:srgbClr val="D5F1C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 b="0">
                    <a:latin typeface="Courier New" pitchFamily="-96" charset="0"/>
                  </a:rPr>
                  <a:t>• • •</a:t>
                </a:r>
              </a:p>
            </p:txBody>
          </p:sp>
          <p:sp>
            <p:nvSpPr>
              <p:cNvPr id="78863" name="Rectangle 26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384" cy="624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[R-1]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[0]</a:t>
                </a:r>
              </a:p>
            </p:txBody>
          </p:sp>
          <p:sp>
            <p:nvSpPr>
              <p:cNvPr id="78864" name="Rectangle 27"/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84" cy="624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[R-1]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[C-1]</a:t>
                </a:r>
              </a:p>
            </p:txBody>
          </p:sp>
        </p:grpSp>
        <p:sp>
          <p:nvSpPr>
            <p:cNvPr id="78861" name="Rectangle 29"/>
            <p:cNvSpPr>
              <a:spLocks noChangeArrowheads="1"/>
            </p:cNvSpPr>
            <p:nvPr/>
          </p:nvSpPr>
          <p:spPr bwMode="auto">
            <a:xfrm>
              <a:off x="3024" y="3408"/>
              <a:ext cx="1152" cy="62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0">
                  <a:latin typeface="Courier New" pitchFamily="-96" charset="0"/>
                </a:rPr>
                <a:t>•  •  •</a:t>
              </a:r>
            </a:p>
          </p:txBody>
        </p:sp>
      </p:grpSp>
      <p:sp>
        <p:nvSpPr>
          <p:cNvPr id="309278" name="Line 30"/>
          <p:cNvSpPr>
            <a:spLocks noChangeShapeType="1"/>
          </p:cNvSpPr>
          <p:nvPr/>
        </p:nvSpPr>
        <p:spPr bwMode="auto">
          <a:xfrm>
            <a:off x="457200" y="63246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9279" name="Line 31"/>
          <p:cNvSpPr>
            <a:spLocks noChangeShapeType="1"/>
          </p:cNvSpPr>
          <p:nvPr/>
        </p:nvSpPr>
        <p:spPr bwMode="auto">
          <a:xfrm>
            <a:off x="8686800" y="63246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9280" name="Line 32"/>
          <p:cNvSpPr>
            <a:spLocks noChangeShapeType="1"/>
          </p:cNvSpPr>
          <p:nvPr/>
        </p:nvSpPr>
        <p:spPr bwMode="auto">
          <a:xfrm>
            <a:off x="457200" y="6477000"/>
            <a:ext cx="822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9281" name="Rectangle 33"/>
          <p:cNvSpPr>
            <a:spLocks noChangeArrowheads="1"/>
          </p:cNvSpPr>
          <p:nvPr/>
        </p:nvSpPr>
        <p:spPr bwMode="auto">
          <a:xfrm>
            <a:off x="3505200" y="6324600"/>
            <a:ext cx="1447800" cy="381000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0" hangingPunct="0"/>
            <a:r>
              <a:rPr lang="en-US" sz="1800">
                <a:latin typeface="Courier New" pitchFamily="-96" charset="0"/>
              </a:rPr>
              <a:t>4*R*C</a:t>
            </a:r>
            <a:r>
              <a:rPr lang="en-US" sz="1800" b="0">
                <a:latin typeface="Calibri" pitchFamily="-96" charset="0"/>
              </a:rPr>
              <a:t>  Bytes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457200"/>
            <a:ext cx="6375400" cy="573088"/>
          </a:xfrm>
        </p:spPr>
        <p:txBody>
          <a:bodyPr/>
          <a:lstStyle/>
          <a:p>
            <a:r>
              <a:rPr lang="en-US">
                <a:latin typeface="Calibri" pitchFamily="-96" charset="0"/>
              </a:rPr>
              <a:t>Nested Array Example</a:t>
            </a:r>
          </a:p>
        </p:txBody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953000"/>
            <a:ext cx="8001000" cy="1905000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“</a:t>
            </a:r>
            <a:r>
              <a:rPr lang="en-US" dirty="0" err="1">
                <a:latin typeface="Courier New" pitchFamily="-96" charset="0"/>
              </a:rPr>
              <a:t>zip_dig</a:t>
            </a:r>
            <a:r>
              <a:rPr lang="en-US" dirty="0">
                <a:latin typeface="Courier New" pitchFamily="-96" charset="0"/>
              </a:rPr>
              <a:t> </a:t>
            </a:r>
            <a:r>
              <a:rPr lang="en-US" dirty="0" err="1">
                <a:latin typeface="Courier New" pitchFamily="-96" charset="0"/>
              </a:rPr>
              <a:t>pgh</a:t>
            </a:r>
            <a:r>
              <a:rPr lang="en-US" dirty="0">
                <a:latin typeface="Courier New" pitchFamily="-96" charset="0"/>
              </a:rPr>
              <a:t>[4]</a:t>
            </a:r>
            <a:r>
              <a:rPr lang="en-US" dirty="0">
                <a:latin typeface="Calibri" pitchFamily="-96" charset="0"/>
              </a:rPr>
              <a:t>” equivalent to “</a:t>
            </a:r>
            <a:r>
              <a:rPr lang="en-US" dirty="0" err="1">
                <a:latin typeface="Courier New" pitchFamily="-96" charset="0"/>
              </a:rPr>
              <a:t>int</a:t>
            </a:r>
            <a:r>
              <a:rPr lang="en-US" dirty="0">
                <a:latin typeface="Courier New" pitchFamily="-96" charset="0"/>
              </a:rPr>
              <a:t> </a:t>
            </a:r>
            <a:r>
              <a:rPr lang="en-US" dirty="0" err="1">
                <a:latin typeface="Courier New" pitchFamily="-96" charset="0"/>
              </a:rPr>
              <a:t>pgh</a:t>
            </a:r>
            <a:r>
              <a:rPr lang="en-US" dirty="0">
                <a:latin typeface="Courier New" pitchFamily="-96" charset="0"/>
              </a:rPr>
              <a:t>[4][5]</a:t>
            </a:r>
            <a:r>
              <a:rPr lang="en-US" dirty="0">
                <a:latin typeface="Calibri" pitchFamily="-96" charset="0"/>
              </a:rPr>
              <a:t>”</a:t>
            </a:r>
          </a:p>
          <a:p>
            <a:pPr lvl="1"/>
            <a:r>
              <a:rPr lang="en-US" dirty="0">
                <a:latin typeface="Calibri" pitchFamily="-96" charset="0"/>
              </a:rPr>
              <a:t>Variable </a:t>
            </a:r>
            <a:r>
              <a:rPr lang="en-US" b="1" dirty="0" err="1">
                <a:latin typeface="Courier New" pitchFamily="-96" charset="0"/>
              </a:rPr>
              <a:t>pgh</a:t>
            </a:r>
            <a:r>
              <a:rPr lang="en-US" dirty="0">
                <a:latin typeface="Calibri" pitchFamily="-96" charset="0"/>
              </a:rPr>
              <a:t>: array of 4 elements, allocated contiguously</a:t>
            </a:r>
          </a:p>
          <a:p>
            <a:pPr lvl="1"/>
            <a:r>
              <a:rPr lang="en-US" dirty="0">
                <a:latin typeface="Calibri" pitchFamily="-96" charset="0"/>
              </a:rPr>
              <a:t>Each element is an array of 5 </a:t>
            </a:r>
            <a:r>
              <a:rPr lang="en-US" b="1" dirty="0" err="1">
                <a:latin typeface="Courier New" pitchFamily="-96" charset="0"/>
              </a:rPr>
              <a:t>int</a:t>
            </a:r>
            <a:r>
              <a:rPr lang="en-US" dirty="0" err="1">
                <a:latin typeface="Calibri" pitchFamily="-96" charset="0"/>
              </a:rPr>
              <a:t>’s</a:t>
            </a:r>
            <a:r>
              <a:rPr lang="en-US" dirty="0">
                <a:latin typeface="Calibri" pitchFamily="-96" charset="0"/>
              </a:rPr>
              <a:t>, allocated contiguously</a:t>
            </a:r>
          </a:p>
          <a:p>
            <a:r>
              <a:rPr lang="en-US" dirty="0">
                <a:latin typeface="Calibri" pitchFamily="-96" charset="0"/>
              </a:rPr>
              <a:t>“Row-Major” ordering of all elements in memory</a:t>
            </a:r>
          </a:p>
        </p:txBody>
      </p:sp>
      <p:sp>
        <p:nvSpPr>
          <p:cNvPr id="76803" name="Rectangle 4"/>
          <p:cNvSpPr>
            <a:spLocks noChangeArrowheads="1"/>
          </p:cNvSpPr>
          <p:nvPr/>
        </p:nvSpPr>
        <p:spPr bwMode="auto">
          <a:xfrm>
            <a:off x="533400" y="1298575"/>
            <a:ext cx="4924425" cy="17494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latin typeface="Courier New" pitchFamily="-96" charset="0"/>
              </a:rPr>
              <a:t>#define PCOUNT 4</a:t>
            </a:r>
          </a:p>
          <a:p>
            <a:pPr eaLnBrk="0" hangingPunct="0"/>
            <a:r>
              <a:rPr lang="en-US" sz="1800" dirty="0" err="1">
                <a:latin typeface="Courier New" pitchFamily="-96" charset="0"/>
              </a:rPr>
              <a:t>zip_dig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pgh</a:t>
            </a:r>
            <a:r>
              <a:rPr lang="en-US" sz="1800" dirty="0">
                <a:latin typeface="Courier New" pitchFamily="-96" charset="0"/>
              </a:rPr>
              <a:t>[PCOUNT] = 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{{1, 5, 2, 0, 6},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{1, 5, 2, 1, 3 },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{1, 5, 2, 1, 7 },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{1, 5, 2, 2, 1 }};</a:t>
            </a:r>
          </a:p>
        </p:txBody>
      </p:sp>
      <p:sp>
        <p:nvSpPr>
          <p:cNvPr id="76804" name="Text Box 6"/>
          <p:cNvSpPr txBox="1">
            <a:spLocks noChangeArrowheads="1"/>
          </p:cNvSpPr>
          <p:nvPr/>
        </p:nvSpPr>
        <p:spPr bwMode="auto">
          <a:xfrm>
            <a:off x="455613" y="3519488"/>
            <a:ext cx="1144587" cy="6413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800">
                <a:latin typeface="Courier New" pitchFamily="-96" charset="0"/>
              </a:rPr>
              <a:t>zip_dig</a:t>
            </a:r>
          </a:p>
          <a:p>
            <a:pPr algn="r" eaLnBrk="0" hangingPunct="0"/>
            <a:r>
              <a:rPr lang="en-US" sz="1800">
                <a:latin typeface="Courier New" pitchFamily="-96" charset="0"/>
              </a:rPr>
              <a:t>pgh[4];</a:t>
            </a:r>
          </a:p>
        </p:txBody>
      </p:sp>
      <p:sp>
        <p:nvSpPr>
          <p:cNvPr id="308232" name="Line 8"/>
          <p:cNvSpPr>
            <a:spLocks noChangeShapeType="1"/>
          </p:cNvSpPr>
          <p:nvPr/>
        </p:nvSpPr>
        <p:spPr bwMode="auto">
          <a:xfrm flipV="1">
            <a:off x="1905000" y="4205288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233" name="Text Box 9"/>
          <p:cNvSpPr txBox="1">
            <a:spLocks noChangeArrowheads="1"/>
          </p:cNvSpPr>
          <p:nvPr/>
        </p:nvSpPr>
        <p:spPr bwMode="auto">
          <a:xfrm>
            <a:off x="1676400" y="4357688"/>
            <a:ext cx="458788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>
                <a:latin typeface="Courier New" pitchFamily="-96" charset="0"/>
              </a:rPr>
              <a:t>76</a:t>
            </a:r>
          </a:p>
        </p:txBody>
      </p:sp>
      <p:sp>
        <p:nvSpPr>
          <p:cNvPr id="308234" name="Line 10"/>
          <p:cNvSpPr>
            <a:spLocks noChangeShapeType="1"/>
          </p:cNvSpPr>
          <p:nvPr/>
        </p:nvSpPr>
        <p:spPr bwMode="auto">
          <a:xfrm flipV="1">
            <a:off x="3429000" y="4205288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235" name="Text Box 11"/>
          <p:cNvSpPr txBox="1">
            <a:spLocks noChangeArrowheads="1"/>
          </p:cNvSpPr>
          <p:nvPr/>
        </p:nvSpPr>
        <p:spPr bwMode="auto">
          <a:xfrm>
            <a:off x="3200400" y="4357688"/>
            <a:ext cx="458788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>
                <a:latin typeface="Courier New" pitchFamily="-96" charset="0"/>
              </a:rPr>
              <a:t>96</a:t>
            </a:r>
          </a:p>
        </p:txBody>
      </p:sp>
      <p:sp>
        <p:nvSpPr>
          <p:cNvPr id="308236" name="Line 12"/>
          <p:cNvSpPr>
            <a:spLocks noChangeShapeType="1"/>
          </p:cNvSpPr>
          <p:nvPr/>
        </p:nvSpPr>
        <p:spPr bwMode="auto">
          <a:xfrm flipV="1">
            <a:off x="4953000" y="4205288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237" name="Text Box 13"/>
          <p:cNvSpPr txBox="1">
            <a:spLocks noChangeArrowheads="1"/>
          </p:cNvSpPr>
          <p:nvPr/>
        </p:nvSpPr>
        <p:spPr bwMode="auto">
          <a:xfrm>
            <a:off x="4656138" y="4357688"/>
            <a:ext cx="595312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>
                <a:latin typeface="Courier New" pitchFamily="-96" charset="0"/>
              </a:rPr>
              <a:t>116</a:t>
            </a:r>
          </a:p>
        </p:txBody>
      </p:sp>
      <p:sp>
        <p:nvSpPr>
          <p:cNvPr id="308238" name="Line 14"/>
          <p:cNvSpPr>
            <a:spLocks noChangeShapeType="1"/>
          </p:cNvSpPr>
          <p:nvPr/>
        </p:nvSpPr>
        <p:spPr bwMode="auto">
          <a:xfrm flipV="1">
            <a:off x="6477000" y="4205288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239" name="Text Box 15"/>
          <p:cNvSpPr txBox="1">
            <a:spLocks noChangeArrowheads="1"/>
          </p:cNvSpPr>
          <p:nvPr/>
        </p:nvSpPr>
        <p:spPr bwMode="auto">
          <a:xfrm>
            <a:off x="6180138" y="4357688"/>
            <a:ext cx="595312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>
                <a:latin typeface="Courier New" pitchFamily="-96" charset="0"/>
              </a:rPr>
              <a:t>136</a:t>
            </a:r>
          </a:p>
        </p:txBody>
      </p:sp>
      <p:sp>
        <p:nvSpPr>
          <p:cNvPr id="308240" name="Line 16"/>
          <p:cNvSpPr>
            <a:spLocks noChangeShapeType="1"/>
          </p:cNvSpPr>
          <p:nvPr/>
        </p:nvSpPr>
        <p:spPr bwMode="auto">
          <a:xfrm flipV="1">
            <a:off x="8001000" y="4205288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241" name="Text Box 17"/>
          <p:cNvSpPr txBox="1">
            <a:spLocks noChangeArrowheads="1"/>
          </p:cNvSpPr>
          <p:nvPr/>
        </p:nvSpPr>
        <p:spPr bwMode="auto">
          <a:xfrm>
            <a:off x="7704138" y="4357688"/>
            <a:ext cx="595312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>
                <a:latin typeface="Courier New" pitchFamily="-96" charset="0"/>
              </a:rPr>
              <a:t>156</a:t>
            </a:r>
          </a:p>
        </p:txBody>
      </p: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1905000" y="3443288"/>
            <a:ext cx="1524000" cy="762000"/>
            <a:chOff x="816" y="2640"/>
            <a:chExt cx="960" cy="480"/>
          </a:xfrm>
        </p:grpSpPr>
        <p:sp>
          <p:nvSpPr>
            <p:cNvPr id="76838" name="Rectangle 20"/>
            <p:cNvSpPr>
              <a:spLocks noChangeArrowheads="1"/>
            </p:cNvSpPr>
            <p:nvPr/>
          </p:nvSpPr>
          <p:spPr bwMode="auto">
            <a:xfrm>
              <a:off x="816" y="2640"/>
              <a:ext cx="192" cy="48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1</a:t>
              </a:r>
            </a:p>
          </p:txBody>
        </p:sp>
        <p:sp>
          <p:nvSpPr>
            <p:cNvPr id="76839" name="Rectangle 21"/>
            <p:cNvSpPr>
              <a:spLocks noChangeArrowheads="1"/>
            </p:cNvSpPr>
            <p:nvPr/>
          </p:nvSpPr>
          <p:spPr bwMode="auto">
            <a:xfrm>
              <a:off x="1008" y="2640"/>
              <a:ext cx="192" cy="48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5</a:t>
              </a:r>
            </a:p>
          </p:txBody>
        </p:sp>
        <p:sp>
          <p:nvSpPr>
            <p:cNvPr id="76840" name="Rectangle 22"/>
            <p:cNvSpPr>
              <a:spLocks noChangeArrowheads="1"/>
            </p:cNvSpPr>
            <p:nvPr/>
          </p:nvSpPr>
          <p:spPr bwMode="auto">
            <a:xfrm>
              <a:off x="1200" y="2640"/>
              <a:ext cx="192" cy="48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2</a:t>
              </a:r>
            </a:p>
          </p:txBody>
        </p:sp>
        <p:sp>
          <p:nvSpPr>
            <p:cNvPr id="76841" name="Rectangle 23"/>
            <p:cNvSpPr>
              <a:spLocks noChangeArrowheads="1"/>
            </p:cNvSpPr>
            <p:nvPr/>
          </p:nvSpPr>
          <p:spPr bwMode="auto">
            <a:xfrm>
              <a:off x="1392" y="2640"/>
              <a:ext cx="192" cy="48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0</a:t>
              </a:r>
            </a:p>
          </p:txBody>
        </p:sp>
        <p:sp>
          <p:nvSpPr>
            <p:cNvPr id="76842" name="Rectangle 24"/>
            <p:cNvSpPr>
              <a:spLocks noChangeArrowheads="1"/>
            </p:cNvSpPr>
            <p:nvPr/>
          </p:nvSpPr>
          <p:spPr bwMode="auto">
            <a:xfrm>
              <a:off x="1584" y="2640"/>
              <a:ext cx="192" cy="48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6</a:t>
              </a:r>
            </a:p>
          </p:txBody>
        </p: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3429000" y="3443288"/>
            <a:ext cx="1524000" cy="762000"/>
            <a:chOff x="816" y="2640"/>
            <a:chExt cx="960" cy="480"/>
          </a:xfrm>
        </p:grpSpPr>
        <p:sp>
          <p:nvSpPr>
            <p:cNvPr id="76833" name="Rectangle 26"/>
            <p:cNvSpPr>
              <a:spLocks noChangeArrowheads="1"/>
            </p:cNvSpPr>
            <p:nvPr/>
          </p:nvSpPr>
          <p:spPr bwMode="auto">
            <a:xfrm>
              <a:off x="816" y="2640"/>
              <a:ext cx="192" cy="48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1</a:t>
              </a:r>
            </a:p>
          </p:txBody>
        </p:sp>
        <p:sp>
          <p:nvSpPr>
            <p:cNvPr id="76834" name="Rectangle 27"/>
            <p:cNvSpPr>
              <a:spLocks noChangeArrowheads="1"/>
            </p:cNvSpPr>
            <p:nvPr/>
          </p:nvSpPr>
          <p:spPr bwMode="auto">
            <a:xfrm>
              <a:off x="1008" y="2640"/>
              <a:ext cx="192" cy="48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5</a:t>
              </a:r>
            </a:p>
          </p:txBody>
        </p:sp>
        <p:sp>
          <p:nvSpPr>
            <p:cNvPr id="76835" name="Rectangle 28"/>
            <p:cNvSpPr>
              <a:spLocks noChangeArrowheads="1"/>
            </p:cNvSpPr>
            <p:nvPr/>
          </p:nvSpPr>
          <p:spPr bwMode="auto">
            <a:xfrm>
              <a:off x="1200" y="2640"/>
              <a:ext cx="192" cy="48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2</a:t>
              </a:r>
            </a:p>
          </p:txBody>
        </p:sp>
        <p:sp>
          <p:nvSpPr>
            <p:cNvPr id="76836" name="Rectangle 29"/>
            <p:cNvSpPr>
              <a:spLocks noChangeArrowheads="1"/>
            </p:cNvSpPr>
            <p:nvPr/>
          </p:nvSpPr>
          <p:spPr bwMode="auto">
            <a:xfrm>
              <a:off x="1392" y="2640"/>
              <a:ext cx="192" cy="48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1</a:t>
              </a:r>
            </a:p>
          </p:txBody>
        </p:sp>
        <p:sp>
          <p:nvSpPr>
            <p:cNvPr id="76837" name="Rectangle 30"/>
            <p:cNvSpPr>
              <a:spLocks noChangeArrowheads="1"/>
            </p:cNvSpPr>
            <p:nvPr/>
          </p:nvSpPr>
          <p:spPr bwMode="auto">
            <a:xfrm>
              <a:off x="1584" y="2640"/>
              <a:ext cx="192" cy="48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3</a:t>
              </a:r>
            </a:p>
          </p:txBody>
        </p:sp>
      </p:grpSp>
      <p:grpSp>
        <p:nvGrpSpPr>
          <p:cNvPr id="7" name="Group 31"/>
          <p:cNvGrpSpPr>
            <a:grpSpLocks/>
          </p:cNvGrpSpPr>
          <p:nvPr/>
        </p:nvGrpSpPr>
        <p:grpSpPr bwMode="auto">
          <a:xfrm>
            <a:off x="4953000" y="3443288"/>
            <a:ext cx="1524000" cy="762000"/>
            <a:chOff x="816" y="2640"/>
            <a:chExt cx="960" cy="480"/>
          </a:xfrm>
        </p:grpSpPr>
        <p:sp>
          <p:nvSpPr>
            <p:cNvPr id="308256" name="Rectangle 32"/>
            <p:cNvSpPr>
              <a:spLocks noChangeArrowheads="1"/>
            </p:cNvSpPr>
            <p:nvPr/>
          </p:nvSpPr>
          <p:spPr bwMode="auto">
            <a:xfrm>
              <a:off x="816" y="2640"/>
              <a:ext cx="192" cy="4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sz="1800">
                  <a:latin typeface="Courier New" pitchFamily="49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8257" name="Rectangle 33"/>
            <p:cNvSpPr>
              <a:spLocks noChangeArrowheads="1"/>
            </p:cNvSpPr>
            <p:nvPr/>
          </p:nvSpPr>
          <p:spPr bwMode="auto">
            <a:xfrm>
              <a:off x="1008" y="2640"/>
              <a:ext cx="192" cy="4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sz="1800">
                  <a:latin typeface="Courier New" pitchFamily="49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8258" name="Rectangle 34"/>
            <p:cNvSpPr>
              <a:spLocks noChangeArrowheads="1"/>
            </p:cNvSpPr>
            <p:nvPr/>
          </p:nvSpPr>
          <p:spPr bwMode="auto">
            <a:xfrm>
              <a:off x="1200" y="2640"/>
              <a:ext cx="192" cy="4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sz="1800">
                  <a:latin typeface="Courier New" pitchFamily="49" charset="0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8259" name="Rectangle 35"/>
            <p:cNvSpPr>
              <a:spLocks noChangeArrowheads="1"/>
            </p:cNvSpPr>
            <p:nvPr/>
          </p:nvSpPr>
          <p:spPr bwMode="auto">
            <a:xfrm>
              <a:off x="1392" y="2640"/>
              <a:ext cx="192" cy="4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sz="1800">
                  <a:latin typeface="Courier New" pitchFamily="49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8260" name="Rectangle 36"/>
            <p:cNvSpPr>
              <a:spLocks noChangeArrowheads="1"/>
            </p:cNvSpPr>
            <p:nvPr/>
          </p:nvSpPr>
          <p:spPr bwMode="auto">
            <a:xfrm>
              <a:off x="1584" y="2640"/>
              <a:ext cx="192" cy="4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sz="1800">
                  <a:latin typeface="Courier New" pitchFamily="49" charset="0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8" name="Group 37"/>
          <p:cNvGrpSpPr>
            <a:grpSpLocks/>
          </p:cNvGrpSpPr>
          <p:nvPr/>
        </p:nvGrpSpPr>
        <p:grpSpPr bwMode="auto">
          <a:xfrm>
            <a:off x="6477000" y="3438525"/>
            <a:ext cx="1524000" cy="766763"/>
            <a:chOff x="816" y="2637"/>
            <a:chExt cx="960" cy="483"/>
          </a:xfrm>
        </p:grpSpPr>
        <p:sp>
          <p:nvSpPr>
            <p:cNvPr id="76823" name="Rectangle 38"/>
            <p:cNvSpPr>
              <a:spLocks noChangeArrowheads="1"/>
            </p:cNvSpPr>
            <p:nvPr/>
          </p:nvSpPr>
          <p:spPr bwMode="auto">
            <a:xfrm>
              <a:off x="816" y="2640"/>
              <a:ext cx="192" cy="48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1</a:t>
              </a:r>
            </a:p>
          </p:txBody>
        </p:sp>
        <p:sp>
          <p:nvSpPr>
            <p:cNvPr id="76824" name="Rectangle 39"/>
            <p:cNvSpPr>
              <a:spLocks noChangeArrowheads="1"/>
            </p:cNvSpPr>
            <p:nvPr/>
          </p:nvSpPr>
          <p:spPr bwMode="auto">
            <a:xfrm>
              <a:off x="1008" y="2640"/>
              <a:ext cx="192" cy="48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5</a:t>
              </a:r>
            </a:p>
          </p:txBody>
        </p:sp>
        <p:sp>
          <p:nvSpPr>
            <p:cNvPr id="76825" name="Rectangle 40"/>
            <p:cNvSpPr>
              <a:spLocks noChangeArrowheads="1"/>
            </p:cNvSpPr>
            <p:nvPr/>
          </p:nvSpPr>
          <p:spPr bwMode="auto">
            <a:xfrm>
              <a:off x="1200" y="2640"/>
              <a:ext cx="192" cy="48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2</a:t>
              </a:r>
            </a:p>
          </p:txBody>
        </p:sp>
        <p:sp>
          <p:nvSpPr>
            <p:cNvPr id="76826" name="Rectangle 41"/>
            <p:cNvSpPr>
              <a:spLocks noChangeArrowheads="1"/>
            </p:cNvSpPr>
            <p:nvPr/>
          </p:nvSpPr>
          <p:spPr bwMode="auto">
            <a:xfrm>
              <a:off x="1392" y="2637"/>
              <a:ext cx="192" cy="48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2</a:t>
              </a:r>
            </a:p>
          </p:txBody>
        </p:sp>
        <p:sp>
          <p:nvSpPr>
            <p:cNvPr id="76827" name="Rectangle 42"/>
            <p:cNvSpPr>
              <a:spLocks noChangeArrowheads="1"/>
            </p:cNvSpPr>
            <p:nvPr/>
          </p:nvSpPr>
          <p:spPr bwMode="auto">
            <a:xfrm>
              <a:off x="1584" y="2640"/>
              <a:ext cx="192" cy="48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1</a:t>
              </a:r>
            </a:p>
          </p:txBody>
        </p:sp>
      </p:grpSp>
      <p:sp>
        <p:nvSpPr>
          <p:cNvPr id="308267" name="Rectangle 43"/>
          <p:cNvSpPr>
            <a:spLocks noChangeArrowheads="1"/>
          </p:cNvSpPr>
          <p:nvPr/>
        </p:nvSpPr>
        <p:spPr bwMode="auto">
          <a:xfrm>
            <a:off x="1905000" y="3443288"/>
            <a:ext cx="1524000" cy="762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0" hangingPunct="0"/>
            <a:endParaRPr lang="en-US" sz="1800">
              <a:latin typeface="Calibri" pitchFamily="-96" charset="0"/>
            </a:endParaRPr>
          </a:p>
        </p:txBody>
      </p:sp>
      <p:sp>
        <p:nvSpPr>
          <p:cNvPr id="308268" name="Rectangle 44"/>
          <p:cNvSpPr>
            <a:spLocks noChangeArrowheads="1"/>
          </p:cNvSpPr>
          <p:nvPr/>
        </p:nvSpPr>
        <p:spPr bwMode="auto">
          <a:xfrm>
            <a:off x="3429000" y="3443288"/>
            <a:ext cx="1524000" cy="762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0" hangingPunct="0"/>
            <a:endParaRPr lang="en-US" sz="1800">
              <a:latin typeface="Calibri" pitchFamily="-96" charset="0"/>
            </a:endParaRPr>
          </a:p>
        </p:txBody>
      </p:sp>
      <p:sp>
        <p:nvSpPr>
          <p:cNvPr id="308269" name="Rectangle 45"/>
          <p:cNvSpPr>
            <a:spLocks noChangeArrowheads="1"/>
          </p:cNvSpPr>
          <p:nvPr/>
        </p:nvSpPr>
        <p:spPr bwMode="auto">
          <a:xfrm>
            <a:off x="4953000" y="3443288"/>
            <a:ext cx="1524000" cy="762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0" hangingPunct="0"/>
            <a:endParaRPr lang="en-US" sz="1800">
              <a:latin typeface="Calibri" pitchFamily="-96" charset="0"/>
            </a:endParaRPr>
          </a:p>
        </p:txBody>
      </p:sp>
      <p:sp>
        <p:nvSpPr>
          <p:cNvPr id="308270" name="Rectangle 46"/>
          <p:cNvSpPr>
            <a:spLocks noChangeArrowheads="1"/>
          </p:cNvSpPr>
          <p:nvPr/>
        </p:nvSpPr>
        <p:spPr bwMode="auto">
          <a:xfrm>
            <a:off x="6477000" y="3443288"/>
            <a:ext cx="1524000" cy="762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0" hangingPunct="0"/>
            <a:endParaRPr lang="en-US" sz="1800">
              <a:latin typeface="Calibri" pitchFamily="-96" charset="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ChangeArrowheads="1"/>
          </p:cNvSpPr>
          <p:nvPr/>
        </p:nvSpPr>
        <p:spPr bwMode="auto">
          <a:xfrm>
            <a:off x="5791200" y="4506913"/>
            <a:ext cx="990600" cy="990600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0" hangingPunct="0"/>
            <a:r>
              <a:rPr lang="en-US" b="0">
                <a:latin typeface="Calibri" pitchFamily="-96" charset="0"/>
              </a:rPr>
              <a:t>•  •  •</a:t>
            </a:r>
          </a:p>
        </p:txBody>
      </p:sp>
      <p:sp>
        <p:nvSpPr>
          <p:cNvPr id="80898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569913"/>
            <a:ext cx="6934200" cy="573087"/>
          </a:xfrm>
        </p:spPr>
        <p:txBody>
          <a:bodyPr/>
          <a:lstStyle/>
          <a:p>
            <a:r>
              <a:rPr lang="en-US">
                <a:latin typeface="Calibri" pitchFamily="-96" charset="0"/>
              </a:rPr>
              <a:t>Nested Array Row Access</a:t>
            </a:r>
          </a:p>
        </p:txBody>
      </p:sp>
      <p:sp>
        <p:nvSpPr>
          <p:cNvPr id="31027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42913" y="1292225"/>
            <a:ext cx="5957887" cy="1450975"/>
          </a:xfrm>
        </p:spPr>
        <p:txBody>
          <a:bodyPr/>
          <a:lstStyle/>
          <a:p>
            <a:r>
              <a:rPr lang="en-US">
                <a:latin typeface="Calibri" pitchFamily="-96" charset="0"/>
              </a:rPr>
              <a:t>Row Vectors</a:t>
            </a:r>
          </a:p>
          <a:p>
            <a:pPr lvl="1"/>
            <a:r>
              <a:rPr lang="en-US">
                <a:latin typeface="Calibri" pitchFamily="-96" charset="0"/>
              </a:rPr>
              <a:t> </a:t>
            </a:r>
            <a:r>
              <a:rPr lang="en-US" b="1">
                <a:latin typeface="Courier New" pitchFamily="-96" charset="0"/>
              </a:rPr>
              <a:t>A[i]</a:t>
            </a:r>
            <a:r>
              <a:rPr lang="en-US">
                <a:latin typeface="Calibri" pitchFamily="-96" charset="0"/>
              </a:rPr>
              <a:t> is array of </a:t>
            </a:r>
            <a:r>
              <a:rPr lang="en-US" i="1">
                <a:latin typeface="Calibri" pitchFamily="-96" charset="0"/>
              </a:rPr>
              <a:t>C</a:t>
            </a:r>
            <a:r>
              <a:rPr lang="en-US">
                <a:latin typeface="Calibri" pitchFamily="-96" charset="0"/>
              </a:rPr>
              <a:t> elements</a:t>
            </a:r>
          </a:p>
          <a:p>
            <a:pPr lvl="1"/>
            <a:r>
              <a:rPr lang="en-US">
                <a:latin typeface="Calibri" pitchFamily="-96" charset="0"/>
              </a:rPr>
              <a:t>Each element of type </a:t>
            </a:r>
            <a:r>
              <a:rPr lang="en-US" i="1">
                <a:latin typeface="Calibri" pitchFamily="-96" charset="0"/>
              </a:rPr>
              <a:t>T </a:t>
            </a:r>
            <a:r>
              <a:rPr lang="en-US">
                <a:latin typeface="Calibri" pitchFamily="-96" charset="0"/>
              </a:rPr>
              <a:t>requires </a:t>
            </a:r>
            <a:r>
              <a:rPr lang="en-US" i="1">
                <a:latin typeface="Calibri" pitchFamily="-96" charset="0"/>
              </a:rPr>
              <a:t>K </a:t>
            </a:r>
            <a:r>
              <a:rPr lang="en-US">
                <a:latin typeface="Calibri" pitchFamily="-96" charset="0"/>
              </a:rPr>
              <a:t>bytes</a:t>
            </a:r>
          </a:p>
          <a:p>
            <a:pPr lvl="1"/>
            <a:r>
              <a:rPr lang="en-US">
                <a:latin typeface="Calibri" pitchFamily="-96" charset="0"/>
              </a:rPr>
              <a:t>Starting address </a:t>
            </a:r>
            <a:r>
              <a:rPr lang="en-US" b="1">
                <a:latin typeface="Courier New" pitchFamily="-96" charset="0"/>
              </a:rPr>
              <a:t>A +</a:t>
            </a:r>
            <a:r>
              <a:rPr lang="en-US">
                <a:latin typeface="Courier New" pitchFamily="-96" charset="0"/>
              </a:rPr>
              <a:t> </a:t>
            </a:r>
            <a:r>
              <a:rPr lang="en-US">
                <a:latin typeface="Calibri" pitchFamily="-96" charset="0"/>
              </a:rPr>
              <a:t> </a:t>
            </a:r>
            <a:r>
              <a:rPr lang="en-US" i="1">
                <a:latin typeface="Calibri" pitchFamily="-96" charset="0"/>
              </a:rPr>
              <a:t>i</a:t>
            </a:r>
            <a:r>
              <a:rPr lang="en-US">
                <a:latin typeface="Calibri" pitchFamily="-96" charset="0"/>
              </a:rPr>
              <a:t> * (</a:t>
            </a:r>
            <a:r>
              <a:rPr lang="en-US" i="1">
                <a:latin typeface="Calibri" pitchFamily="-96" charset="0"/>
              </a:rPr>
              <a:t>C </a:t>
            </a:r>
            <a:r>
              <a:rPr lang="en-US">
                <a:latin typeface="Calibri" pitchFamily="-96" charset="0"/>
              </a:rPr>
              <a:t>* </a:t>
            </a:r>
            <a:r>
              <a:rPr lang="en-US" i="1">
                <a:latin typeface="Calibri" pitchFamily="-96" charset="0"/>
              </a:rPr>
              <a:t>K</a:t>
            </a:r>
            <a:r>
              <a:rPr lang="en-US">
                <a:latin typeface="Calibri" pitchFamily="-96" charset="0"/>
              </a:rPr>
              <a:t>)</a:t>
            </a:r>
          </a:p>
        </p:txBody>
      </p:sp>
      <p:grpSp>
        <p:nvGrpSpPr>
          <p:cNvPr id="80900" name="Group 5"/>
          <p:cNvGrpSpPr>
            <a:grpSpLocks/>
          </p:cNvGrpSpPr>
          <p:nvPr/>
        </p:nvGrpSpPr>
        <p:grpSpPr bwMode="auto">
          <a:xfrm>
            <a:off x="3657600" y="3973513"/>
            <a:ext cx="2133600" cy="1524000"/>
            <a:chOff x="1680" y="2064"/>
            <a:chExt cx="1344" cy="960"/>
          </a:xfrm>
        </p:grpSpPr>
        <p:grpSp>
          <p:nvGrpSpPr>
            <p:cNvPr id="80927" name="Group 6"/>
            <p:cNvGrpSpPr>
              <a:grpSpLocks/>
            </p:cNvGrpSpPr>
            <p:nvPr/>
          </p:nvGrpSpPr>
          <p:grpSpPr bwMode="auto">
            <a:xfrm>
              <a:off x="1680" y="2400"/>
              <a:ext cx="1344" cy="624"/>
              <a:chOff x="1488" y="3504"/>
              <a:chExt cx="1344" cy="624"/>
            </a:xfrm>
          </p:grpSpPr>
          <p:sp>
            <p:nvSpPr>
              <p:cNvPr id="310281" name="Rectangle 9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1344" cy="6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600" b="0" dirty="0">
                    <a:latin typeface="Calibri" pitchFamily="34" charset="0"/>
                    <a:ea typeface="+mn-ea"/>
                    <a:cs typeface="+mn-cs"/>
                  </a:rPr>
                  <a:t>• • •</a:t>
                </a:r>
              </a:p>
            </p:txBody>
          </p:sp>
          <p:sp>
            <p:nvSpPr>
              <p:cNvPr id="310279" name="Rectangle 7"/>
              <p:cNvSpPr>
                <a:spLocks noChangeArrowheads="1"/>
              </p:cNvSpPr>
              <p:nvPr/>
            </p:nvSpPr>
            <p:spPr bwMode="auto">
              <a:xfrm>
                <a:off x="1497" y="3504"/>
                <a:ext cx="384" cy="6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600" dirty="0">
                    <a:latin typeface="Courier New" pitchFamily="49" charset="0"/>
                    <a:ea typeface="+mn-ea"/>
                    <a:cs typeface="+mn-cs"/>
                  </a:rPr>
                  <a:t>A</a:t>
                </a:r>
              </a:p>
              <a:p>
                <a:pPr algn="ctr" eaLnBrk="0" hangingPunct="0">
                  <a:defRPr/>
                </a:pPr>
                <a:r>
                  <a:rPr lang="en-US" sz="1600" dirty="0">
                    <a:latin typeface="Courier New" pitchFamily="49" charset="0"/>
                    <a:ea typeface="+mn-ea"/>
                    <a:cs typeface="+mn-cs"/>
                  </a:rPr>
                  <a:t>[</a:t>
                </a:r>
                <a:r>
                  <a:rPr lang="en-US" sz="1600" dirty="0" err="1">
                    <a:latin typeface="Courier New" pitchFamily="49" charset="0"/>
                    <a:ea typeface="+mn-ea"/>
                    <a:cs typeface="+mn-cs"/>
                  </a:rPr>
                  <a:t>i</a:t>
                </a:r>
                <a:r>
                  <a:rPr lang="en-US" sz="1600" dirty="0">
                    <a:latin typeface="Courier New" pitchFamily="49" charset="0"/>
                    <a:ea typeface="+mn-ea"/>
                    <a:cs typeface="+mn-cs"/>
                  </a:rPr>
                  <a:t>]</a:t>
                </a:r>
              </a:p>
              <a:p>
                <a:pPr algn="ctr" eaLnBrk="0" hangingPunct="0">
                  <a:defRPr/>
                </a:pPr>
                <a:r>
                  <a:rPr lang="en-US" sz="1600" dirty="0">
                    <a:latin typeface="Courier New" pitchFamily="49" charset="0"/>
                    <a:ea typeface="+mn-ea"/>
                    <a:cs typeface="+mn-cs"/>
                  </a:rPr>
                  <a:t>[0]</a:t>
                </a:r>
              </a:p>
            </p:txBody>
          </p:sp>
          <p:sp>
            <p:nvSpPr>
              <p:cNvPr id="310280" name="Rectangle 8"/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84" cy="6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600" dirty="0">
                    <a:latin typeface="Courier New" pitchFamily="49" charset="0"/>
                    <a:ea typeface="+mn-ea"/>
                    <a:cs typeface="+mn-cs"/>
                  </a:rPr>
                  <a:t>A</a:t>
                </a:r>
              </a:p>
              <a:p>
                <a:pPr algn="ctr" eaLnBrk="0" hangingPunct="0">
                  <a:defRPr/>
                </a:pPr>
                <a:r>
                  <a:rPr lang="en-US" sz="1600" dirty="0">
                    <a:latin typeface="Courier New" pitchFamily="49" charset="0"/>
                    <a:ea typeface="+mn-ea"/>
                    <a:cs typeface="+mn-cs"/>
                  </a:rPr>
                  <a:t>[</a:t>
                </a:r>
                <a:r>
                  <a:rPr lang="en-US" sz="1600" dirty="0" err="1">
                    <a:latin typeface="Courier New" pitchFamily="49" charset="0"/>
                    <a:ea typeface="+mn-ea"/>
                    <a:cs typeface="+mn-cs"/>
                  </a:rPr>
                  <a:t>i</a:t>
                </a:r>
                <a:r>
                  <a:rPr lang="en-US" sz="1600" dirty="0">
                    <a:latin typeface="Courier New" pitchFamily="49" charset="0"/>
                    <a:ea typeface="+mn-ea"/>
                    <a:cs typeface="+mn-cs"/>
                  </a:rPr>
                  <a:t>]</a:t>
                </a:r>
              </a:p>
              <a:p>
                <a:pPr algn="ctr" eaLnBrk="0" hangingPunct="0">
                  <a:defRPr/>
                </a:pPr>
                <a:r>
                  <a:rPr lang="en-US" sz="1600" dirty="0">
                    <a:latin typeface="Courier New" pitchFamily="49" charset="0"/>
                    <a:ea typeface="+mn-ea"/>
                    <a:cs typeface="+mn-cs"/>
                  </a:rPr>
                  <a:t>[C-1]</a:t>
                </a:r>
              </a:p>
            </p:txBody>
          </p:sp>
        </p:grpSp>
        <p:sp>
          <p:nvSpPr>
            <p:cNvPr id="80928" name="Line 10"/>
            <p:cNvSpPr>
              <a:spLocks noChangeShapeType="1"/>
            </p:cNvSpPr>
            <p:nvPr/>
          </p:nvSpPr>
          <p:spPr bwMode="auto">
            <a:xfrm>
              <a:off x="1680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29" name="Line 11"/>
            <p:cNvSpPr>
              <a:spLocks noChangeShapeType="1"/>
            </p:cNvSpPr>
            <p:nvPr/>
          </p:nvSpPr>
          <p:spPr bwMode="auto">
            <a:xfrm>
              <a:off x="1680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30" name="Line 12"/>
            <p:cNvSpPr>
              <a:spLocks noChangeShapeType="1"/>
            </p:cNvSpPr>
            <p:nvPr/>
          </p:nvSpPr>
          <p:spPr bwMode="auto">
            <a:xfrm>
              <a:off x="3024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31" name="Line 13"/>
            <p:cNvSpPr>
              <a:spLocks noChangeShapeType="1"/>
            </p:cNvSpPr>
            <p:nvPr/>
          </p:nvSpPr>
          <p:spPr bwMode="auto">
            <a:xfrm>
              <a:off x="1680" y="2208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32" name="Rectangle 14"/>
            <p:cNvSpPr>
              <a:spLocks noChangeArrowheads="1"/>
            </p:cNvSpPr>
            <p:nvPr/>
          </p:nvSpPr>
          <p:spPr bwMode="auto">
            <a:xfrm>
              <a:off x="2112" y="2064"/>
              <a:ext cx="528" cy="240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600">
                  <a:latin typeface="Courier New" pitchFamily="-96" charset="0"/>
                </a:rPr>
                <a:t>A[i]</a:t>
              </a:r>
              <a:endParaRPr lang="en-US" sz="1600" b="0">
                <a:latin typeface="Calibri" pitchFamily="-96" charset="0"/>
              </a:endParaRPr>
            </a:p>
          </p:txBody>
        </p:sp>
      </p:grpSp>
      <p:grpSp>
        <p:nvGrpSpPr>
          <p:cNvPr id="80901" name="Group 15"/>
          <p:cNvGrpSpPr>
            <a:grpSpLocks/>
          </p:cNvGrpSpPr>
          <p:nvPr/>
        </p:nvGrpSpPr>
        <p:grpSpPr bwMode="auto">
          <a:xfrm>
            <a:off x="6705600" y="3973513"/>
            <a:ext cx="2133600" cy="1524000"/>
            <a:chOff x="4176" y="2064"/>
            <a:chExt cx="1344" cy="960"/>
          </a:xfrm>
        </p:grpSpPr>
        <p:grpSp>
          <p:nvGrpSpPr>
            <p:cNvPr id="80919" name="Group 16"/>
            <p:cNvGrpSpPr>
              <a:grpSpLocks/>
            </p:cNvGrpSpPr>
            <p:nvPr/>
          </p:nvGrpSpPr>
          <p:grpSpPr bwMode="auto">
            <a:xfrm>
              <a:off x="4176" y="2400"/>
              <a:ext cx="1344" cy="624"/>
              <a:chOff x="1488" y="3504"/>
              <a:chExt cx="1344" cy="624"/>
            </a:xfrm>
          </p:grpSpPr>
          <p:sp>
            <p:nvSpPr>
              <p:cNvPr id="80924" name="Rectangle 19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1344" cy="624"/>
              </a:xfrm>
              <a:prstGeom prst="rect">
                <a:avLst/>
              </a:prstGeom>
              <a:solidFill>
                <a:srgbClr val="D5F1C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 b="0">
                    <a:latin typeface="Calibri" pitchFamily="-96" charset="0"/>
                  </a:rPr>
                  <a:t>• • •</a:t>
                </a:r>
              </a:p>
            </p:txBody>
          </p:sp>
          <p:sp>
            <p:nvSpPr>
              <p:cNvPr id="80925" name="Rectangle 17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384" cy="624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[R-1]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[0]</a:t>
                </a:r>
              </a:p>
            </p:txBody>
          </p:sp>
          <p:sp>
            <p:nvSpPr>
              <p:cNvPr id="80926" name="Rectangle 18"/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84" cy="624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[R-1]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[C-1]</a:t>
                </a:r>
              </a:p>
            </p:txBody>
          </p:sp>
        </p:grpSp>
        <p:sp>
          <p:nvSpPr>
            <p:cNvPr id="80920" name="Line 20"/>
            <p:cNvSpPr>
              <a:spLocks noChangeShapeType="1"/>
            </p:cNvSpPr>
            <p:nvPr/>
          </p:nvSpPr>
          <p:spPr bwMode="auto">
            <a:xfrm>
              <a:off x="4176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21" name="Line 21"/>
            <p:cNvSpPr>
              <a:spLocks noChangeShapeType="1"/>
            </p:cNvSpPr>
            <p:nvPr/>
          </p:nvSpPr>
          <p:spPr bwMode="auto">
            <a:xfrm>
              <a:off x="5520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22" name="Line 22"/>
            <p:cNvSpPr>
              <a:spLocks noChangeShapeType="1"/>
            </p:cNvSpPr>
            <p:nvPr/>
          </p:nvSpPr>
          <p:spPr bwMode="auto">
            <a:xfrm>
              <a:off x="4176" y="2208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23" name="Rectangle 23"/>
            <p:cNvSpPr>
              <a:spLocks noChangeArrowheads="1"/>
            </p:cNvSpPr>
            <p:nvPr/>
          </p:nvSpPr>
          <p:spPr bwMode="auto">
            <a:xfrm>
              <a:off x="4608" y="2064"/>
              <a:ext cx="528" cy="240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600">
                  <a:latin typeface="Courier New" pitchFamily="-96" charset="0"/>
                </a:rPr>
                <a:t>A[R-1]</a:t>
              </a:r>
              <a:endParaRPr lang="en-US" sz="1600" b="0">
                <a:latin typeface="Calibri" pitchFamily="-96" charset="0"/>
              </a:endParaRPr>
            </a:p>
          </p:txBody>
        </p:sp>
      </p:grpSp>
      <p:sp>
        <p:nvSpPr>
          <p:cNvPr id="80902" name="Rectangle 24"/>
          <p:cNvSpPr>
            <a:spLocks noChangeArrowheads="1"/>
          </p:cNvSpPr>
          <p:nvPr/>
        </p:nvSpPr>
        <p:spPr bwMode="auto">
          <a:xfrm>
            <a:off x="2667000" y="4506913"/>
            <a:ext cx="990600" cy="990600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0" hangingPunct="0"/>
            <a:r>
              <a:rPr lang="en-US" b="0">
                <a:latin typeface="Calibri" pitchFamily="-96" charset="0"/>
              </a:rPr>
              <a:t>•  •  •</a:t>
            </a:r>
          </a:p>
        </p:txBody>
      </p:sp>
      <p:sp>
        <p:nvSpPr>
          <p:cNvPr id="80903" name="Text Box 25"/>
          <p:cNvSpPr txBox="1">
            <a:spLocks noChangeArrowheads="1"/>
          </p:cNvSpPr>
          <p:nvPr/>
        </p:nvSpPr>
        <p:spPr bwMode="auto">
          <a:xfrm>
            <a:off x="338138" y="5718175"/>
            <a:ext cx="396875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1800">
                <a:latin typeface="Courier New" pitchFamily="-96" charset="0"/>
              </a:rPr>
              <a:t>A</a:t>
            </a:r>
          </a:p>
        </p:txBody>
      </p:sp>
      <p:sp>
        <p:nvSpPr>
          <p:cNvPr id="80904" name="Line 26"/>
          <p:cNvSpPr>
            <a:spLocks noChangeShapeType="1"/>
          </p:cNvSpPr>
          <p:nvPr/>
        </p:nvSpPr>
        <p:spPr bwMode="auto">
          <a:xfrm flipV="1">
            <a:off x="533400" y="5497513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0905" name="Line 27"/>
          <p:cNvSpPr>
            <a:spLocks noChangeShapeType="1"/>
          </p:cNvSpPr>
          <p:nvPr/>
        </p:nvSpPr>
        <p:spPr bwMode="auto">
          <a:xfrm flipV="1">
            <a:off x="3657600" y="5497513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80906" name="Group 28"/>
          <p:cNvGrpSpPr>
            <a:grpSpLocks/>
          </p:cNvGrpSpPr>
          <p:nvPr/>
        </p:nvGrpSpPr>
        <p:grpSpPr bwMode="auto">
          <a:xfrm>
            <a:off x="533400" y="3973513"/>
            <a:ext cx="2133600" cy="1524000"/>
            <a:chOff x="336" y="2064"/>
            <a:chExt cx="1344" cy="960"/>
          </a:xfrm>
        </p:grpSpPr>
        <p:grpSp>
          <p:nvGrpSpPr>
            <p:cNvPr id="80911" name="Group 29"/>
            <p:cNvGrpSpPr>
              <a:grpSpLocks/>
            </p:cNvGrpSpPr>
            <p:nvPr/>
          </p:nvGrpSpPr>
          <p:grpSpPr bwMode="auto">
            <a:xfrm>
              <a:off x="336" y="2400"/>
              <a:ext cx="1344" cy="624"/>
              <a:chOff x="1488" y="3504"/>
              <a:chExt cx="1344" cy="624"/>
            </a:xfrm>
          </p:grpSpPr>
          <p:sp>
            <p:nvSpPr>
              <p:cNvPr id="80916" name="Rectangle 32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1344" cy="624"/>
              </a:xfrm>
              <a:prstGeom prst="rect">
                <a:avLst/>
              </a:prstGeom>
              <a:solidFill>
                <a:srgbClr val="F1C7C7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 b="0">
                    <a:latin typeface="Calibri" pitchFamily="-96" charset="0"/>
                  </a:rPr>
                  <a:t>• • •</a:t>
                </a:r>
              </a:p>
            </p:txBody>
          </p:sp>
          <p:sp>
            <p:nvSpPr>
              <p:cNvPr id="80917" name="Rectangle 30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384" cy="624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[0]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[0]</a:t>
                </a:r>
              </a:p>
            </p:txBody>
          </p:sp>
          <p:sp>
            <p:nvSpPr>
              <p:cNvPr id="80918" name="Rectangle 31"/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84" cy="624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[0]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[C-1]</a:t>
                </a:r>
              </a:p>
            </p:txBody>
          </p:sp>
        </p:grpSp>
        <p:sp>
          <p:nvSpPr>
            <p:cNvPr id="80912" name="Line 33"/>
            <p:cNvSpPr>
              <a:spLocks noChangeShapeType="1"/>
            </p:cNvSpPr>
            <p:nvPr/>
          </p:nvSpPr>
          <p:spPr bwMode="auto">
            <a:xfrm>
              <a:off x="336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13" name="Line 34"/>
            <p:cNvSpPr>
              <a:spLocks noChangeShapeType="1"/>
            </p:cNvSpPr>
            <p:nvPr/>
          </p:nvSpPr>
          <p:spPr bwMode="auto">
            <a:xfrm>
              <a:off x="336" y="2208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14" name="Rectangle 35"/>
            <p:cNvSpPr>
              <a:spLocks noChangeArrowheads="1"/>
            </p:cNvSpPr>
            <p:nvPr/>
          </p:nvSpPr>
          <p:spPr bwMode="auto">
            <a:xfrm>
              <a:off x="768" y="2064"/>
              <a:ext cx="528" cy="240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600">
                  <a:latin typeface="Courier New" pitchFamily="-96" charset="0"/>
                </a:rPr>
                <a:t>A[0]</a:t>
              </a:r>
              <a:endParaRPr lang="en-US" sz="1600" b="0">
                <a:latin typeface="Calibri" pitchFamily="-96" charset="0"/>
              </a:endParaRPr>
            </a:p>
          </p:txBody>
        </p:sp>
        <p:sp>
          <p:nvSpPr>
            <p:cNvPr id="80915" name="Line 36"/>
            <p:cNvSpPr>
              <a:spLocks noChangeShapeType="1"/>
            </p:cNvSpPr>
            <p:nvPr/>
          </p:nvSpPr>
          <p:spPr bwMode="auto">
            <a:xfrm>
              <a:off x="1680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10310" name="Text Box 38"/>
          <p:cNvSpPr txBox="1">
            <a:spLocks noChangeArrowheads="1"/>
          </p:cNvSpPr>
          <p:nvPr/>
        </p:nvSpPr>
        <p:spPr bwMode="auto">
          <a:xfrm>
            <a:off x="3595688" y="5715000"/>
            <a:ext cx="181451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 err="1">
                <a:latin typeface="Courier New" pitchFamily="-96" charset="0"/>
              </a:rPr>
              <a:t>A+(i</a:t>
            </a:r>
            <a:r>
              <a:rPr lang="en-US" sz="1800" dirty="0">
                <a:latin typeface="Courier New" pitchFamily="-96" charset="0"/>
              </a:rPr>
              <a:t>*C*4)</a:t>
            </a:r>
          </a:p>
        </p:txBody>
      </p:sp>
      <p:sp>
        <p:nvSpPr>
          <p:cNvPr id="310311" name="Text Box 39"/>
          <p:cNvSpPr txBox="1">
            <a:spLocks noChangeArrowheads="1"/>
          </p:cNvSpPr>
          <p:nvPr/>
        </p:nvSpPr>
        <p:spPr bwMode="auto">
          <a:xfrm>
            <a:off x="6553200" y="5715000"/>
            <a:ext cx="2286000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latin typeface="Courier New" pitchFamily="-96" charset="0"/>
              </a:rPr>
              <a:t>A+((R-1)*C*4)</a:t>
            </a:r>
          </a:p>
        </p:txBody>
      </p:sp>
      <p:sp>
        <p:nvSpPr>
          <p:cNvPr id="80909" name="Line 40"/>
          <p:cNvSpPr>
            <a:spLocks noChangeShapeType="1"/>
          </p:cNvSpPr>
          <p:nvPr/>
        </p:nvSpPr>
        <p:spPr bwMode="auto">
          <a:xfrm flipV="1">
            <a:off x="6705600" y="5497513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0910" name="Text Box 15"/>
          <p:cNvSpPr txBox="1">
            <a:spLocks noChangeArrowheads="1"/>
          </p:cNvSpPr>
          <p:nvPr/>
        </p:nvSpPr>
        <p:spPr bwMode="auto">
          <a:xfrm>
            <a:off x="425450" y="3429000"/>
            <a:ext cx="20129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2000">
                <a:latin typeface="Courier New" pitchFamily="-96" charset="0"/>
              </a:rPr>
              <a:t>int A[R][C];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>
          <a:xfrm>
            <a:off x="490538" y="493713"/>
            <a:ext cx="7645400" cy="573087"/>
          </a:xfrm>
        </p:spPr>
        <p:txBody>
          <a:bodyPr/>
          <a:lstStyle/>
          <a:p>
            <a:r>
              <a:rPr lang="en-US">
                <a:latin typeface="Calibri" pitchFamily="-96" charset="0"/>
              </a:rPr>
              <a:t>Nested Array Row Access Code</a:t>
            </a:r>
          </a:p>
        </p:txBody>
      </p:sp>
      <p:sp>
        <p:nvSpPr>
          <p:cNvPr id="849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0700" y="4267200"/>
            <a:ext cx="7404100" cy="2438400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Row Vector</a:t>
            </a:r>
          </a:p>
          <a:p>
            <a:pPr lvl="1"/>
            <a:r>
              <a:rPr lang="en-US" dirty="0">
                <a:latin typeface="Calibri" pitchFamily="-96" charset="0"/>
              </a:rPr>
              <a:t> </a:t>
            </a:r>
            <a:r>
              <a:rPr lang="en-US" b="1" dirty="0" err="1">
                <a:latin typeface="Courier New" pitchFamily="-96" charset="0"/>
              </a:rPr>
              <a:t>pgh</a:t>
            </a:r>
            <a:r>
              <a:rPr lang="en-US" b="1" dirty="0">
                <a:latin typeface="Courier New" pitchFamily="-96" charset="0"/>
              </a:rPr>
              <a:t>[index]</a:t>
            </a:r>
            <a:r>
              <a:rPr lang="en-US" b="1" dirty="0">
                <a:latin typeface="Calibri" pitchFamily="-96" charset="0"/>
              </a:rPr>
              <a:t> </a:t>
            </a:r>
            <a:r>
              <a:rPr lang="en-US" dirty="0">
                <a:latin typeface="Calibri" pitchFamily="-96" charset="0"/>
              </a:rPr>
              <a:t>is array of 5 </a:t>
            </a:r>
            <a:r>
              <a:rPr lang="en-US" b="1" dirty="0" err="1">
                <a:latin typeface="Courier New" pitchFamily="-96" charset="0"/>
              </a:rPr>
              <a:t>int</a:t>
            </a:r>
            <a:r>
              <a:rPr lang="en-US" dirty="0" err="1">
                <a:latin typeface="Calibri" pitchFamily="-96" charset="0"/>
              </a:rPr>
              <a:t>’s</a:t>
            </a:r>
            <a:endParaRPr lang="en-US" dirty="0">
              <a:latin typeface="Calibri" pitchFamily="-96" charset="0"/>
            </a:endParaRPr>
          </a:p>
          <a:p>
            <a:pPr lvl="1"/>
            <a:r>
              <a:rPr lang="en-US" dirty="0">
                <a:latin typeface="Calibri" pitchFamily="-96" charset="0"/>
              </a:rPr>
              <a:t>Starting address </a:t>
            </a:r>
            <a:r>
              <a:rPr lang="en-US" b="1" dirty="0">
                <a:latin typeface="Courier New" pitchFamily="-96" charset="0"/>
              </a:rPr>
              <a:t>pgh+20*index</a:t>
            </a:r>
          </a:p>
          <a:p>
            <a:r>
              <a:rPr lang="en-US" dirty="0">
                <a:latin typeface="Calibri" pitchFamily="-96" charset="0"/>
              </a:rPr>
              <a:t>Machine Code</a:t>
            </a:r>
          </a:p>
          <a:p>
            <a:pPr lvl="1"/>
            <a:r>
              <a:rPr lang="en-US" dirty="0">
                <a:latin typeface="Calibri" pitchFamily="-96" charset="0"/>
              </a:rPr>
              <a:t>Computes and returns address</a:t>
            </a:r>
          </a:p>
          <a:p>
            <a:pPr lvl="1"/>
            <a:r>
              <a:rPr lang="en-US" dirty="0">
                <a:latin typeface="Calibri" pitchFamily="-96" charset="0"/>
              </a:rPr>
              <a:t>Compute as </a:t>
            </a:r>
            <a:r>
              <a:rPr lang="en-US" b="1" dirty="0" err="1">
                <a:latin typeface="Courier New" pitchFamily="-96" charset="0"/>
              </a:rPr>
              <a:t>pgh</a:t>
            </a:r>
            <a:r>
              <a:rPr lang="en-US" b="1" dirty="0">
                <a:latin typeface="Courier New" pitchFamily="-96" charset="0"/>
              </a:rPr>
              <a:t> + 4*(index+4*index)</a:t>
            </a:r>
          </a:p>
          <a:p>
            <a:endParaRPr lang="en-US" b="0" i="1" dirty="0">
              <a:latin typeface="Calibri" pitchFamily="-96" charset="0"/>
            </a:endParaRPr>
          </a:p>
          <a:p>
            <a:endParaRPr lang="en-US" dirty="0">
              <a:latin typeface="Calibri" pitchFamily="-96" charset="0"/>
            </a:endParaRPr>
          </a:p>
        </p:txBody>
      </p:sp>
      <p:sp>
        <p:nvSpPr>
          <p:cNvPr id="84995" name="Rectangle 4"/>
          <p:cNvSpPr>
            <a:spLocks noChangeArrowheads="1"/>
          </p:cNvSpPr>
          <p:nvPr/>
        </p:nvSpPr>
        <p:spPr bwMode="auto">
          <a:xfrm>
            <a:off x="4503738" y="1988840"/>
            <a:ext cx="4114800" cy="119776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*</a:t>
            </a:r>
            <a:r>
              <a:rPr lang="en-US" sz="1800" dirty="0" err="1">
                <a:latin typeface="Courier New" pitchFamily="-96" charset="0"/>
              </a:rPr>
              <a:t>get_pgh_zip</a:t>
            </a:r>
            <a:r>
              <a:rPr lang="en-US" sz="1800" dirty="0">
                <a:latin typeface="Courier New" pitchFamily="-96" charset="0"/>
              </a:rPr>
              <a:t>(</a:t>
            </a:r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index)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return </a:t>
            </a:r>
            <a:r>
              <a:rPr lang="en-US" sz="1800" dirty="0" err="1">
                <a:latin typeface="Courier New" pitchFamily="-96" charset="0"/>
              </a:rPr>
              <a:t>pgh</a:t>
            </a:r>
            <a:r>
              <a:rPr lang="en-US" sz="1800" dirty="0">
                <a:latin typeface="Courier New" pitchFamily="-96" charset="0"/>
              </a:rPr>
              <a:t>[index];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sp>
        <p:nvSpPr>
          <p:cNvPr id="311301" name="Rectangle 5"/>
          <p:cNvSpPr>
            <a:spLocks noChangeArrowheads="1"/>
          </p:cNvSpPr>
          <p:nvPr/>
        </p:nvSpPr>
        <p:spPr bwMode="auto">
          <a:xfrm>
            <a:off x="495300" y="3204779"/>
            <a:ext cx="6781800" cy="92551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342900" algn="l"/>
                <a:tab pos="26289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#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rdi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= index</a:t>
            </a:r>
          </a:p>
          <a:p>
            <a:pPr eaLnBrk="0" hangingPunct="0">
              <a:tabLst>
                <a:tab pos="342900" algn="l"/>
                <a:tab pos="26289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leaq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(%rdi,%rdi,4),%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rax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# 5 * index</a:t>
            </a:r>
          </a:p>
          <a:p>
            <a:pPr eaLnBrk="0" hangingPunct="0">
              <a:tabLst>
                <a:tab pos="342900" algn="l"/>
                <a:tab pos="26289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leaq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pgh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(,%rax,4),%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rax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#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pgh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+ (20 * index)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66700" y="1124341"/>
            <a:ext cx="6324600" cy="1288495"/>
            <a:chOff x="1066800" y="2671762"/>
            <a:chExt cx="6324600" cy="1288495"/>
          </a:xfrm>
        </p:grpSpPr>
        <p:sp>
          <p:nvSpPr>
            <p:cNvPr id="8" name="Line 8"/>
            <p:cNvSpPr>
              <a:spLocks noChangeShapeType="1"/>
            </p:cNvSpPr>
            <p:nvPr/>
          </p:nvSpPr>
          <p:spPr bwMode="auto">
            <a:xfrm flipV="1">
              <a:off x="1295400" y="3438525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066800" y="3590925"/>
              <a:ext cx="600232" cy="369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1800" dirty="0" err="1">
                  <a:latin typeface="Courier New" pitchFamily="-96" charset="0"/>
                </a:rPr>
                <a:t>pgh</a:t>
              </a:r>
              <a:endParaRPr lang="en-US" sz="1800" dirty="0">
                <a:latin typeface="Courier New" pitchFamily="-96" charset="0"/>
              </a:endParaRPr>
            </a:p>
          </p:txBody>
        </p:sp>
        <p:grpSp>
          <p:nvGrpSpPr>
            <p:cNvPr id="18" name="Group 19"/>
            <p:cNvGrpSpPr>
              <a:grpSpLocks/>
            </p:cNvGrpSpPr>
            <p:nvPr/>
          </p:nvGrpSpPr>
          <p:grpSpPr bwMode="auto">
            <a:xfrm>
              <a:off x="1295400" y="2676525"/>
              <a:ext cx="1524000" cy="762000"/>
              <a:chOff x="816" y="2640"/>
              <a:chExt cx="960" cy="480"/>
            </a:xfrm>
          </p:grpSpPr>
          <p:sp>
            <p:nvSpPr>
              <p:cNvPr id="19" name="Rectangle 20"/>
              <p:cNvSpPr>
                <a:spLocks noChangeArrowheads="1"/>
              </p:cNvSpPr>
              <p:nvPr/>
            </p:nvSpPr>
            <p:spPr bwMode="auto">
              <a:xfrm>
                <a:off x="816" y="2640"/>
                <a:ext cx="192" cy="480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1</a:t>
                </a:r>
              </a:p>
            </p:txBody>
          </p:sp>
          <p:sp>
            <p:nvSpPr>
              <p:cNvPr id="20" name="Rectangle 21"/>
              <p:cNvSpPr>
                <a:spLocks noChangeArrowheads="1"/>
              </p:cNvSpPr>
              <p:nvPr/>
            </p:nvSpPr>
            <p:spPr bwMode="auto">
              <a:xfrm>
                <a:off x="1008" y="2640"/>
                <a:ext cx="192" cy="480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5</a:t>
                </a:r>
              </a:p>
            </p:txBody>
          </p:sp>
          <p:sp>
            <p:nvSpPr>
              <p:cNvPr id="21" name="Rectangle 22"/>
              <p:cNvSpPr>
                <a:spLocks noChangeArrowheads="1"/>
              </p:cNvSpPr>
              <p:nvPr/>
            </p:nvSpPr>
            <p:spPr bwMode="auto">
              <a:xfrm>
                <a:off x="1200" y="2640"/>
                <a:ext cx="192" cy="480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2</a:t>
                </a:r>
              </a:p>
            </p:txBody>
          </p:sp>
          <p:sp>
            <p:nvSpPr>
              <p:cNvPr id="22" name="Rectangle 23"/>
              <p:cNvSpPr>
                <a:spLocks noChangeArrowheads="1"/>
              </p:cNvSpPr>
              <p:nvPr/>
            </p:nvSpPr>
            <p:spPr bwMode="auto">
              <a:xfrm>
                <a:off x="1392" y="2640"/>
                <a:ext cx="192" cy="480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0</a:t>
                </a:r>
              </a:p>
            </p:txBody>
          </p:sp>
          <p:sp>
            <p:nvSpPr>
              <p:cNvPr id="23" name="Rectangle 24"/>
              <p:cNvSpPr>
                <a:spLocks noChangeArrowheads="1"/>
              </p:cNvSpPr>
              <p:nvPr/>
            </p:nvSpPr>
            <p:spPr bwMode="auto">
              <a:xfrm>
                <a:off x="1584" y="2640"/>
                <a:ext cx="192" cy="480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6</a:t>
                </a:r>
              </a:p>
            </p:txBody>
          </p:sp>
        </p:grpSp>
        <p:grpSp>
          <p:nvGrpSpPr>
            <p:cNvPr id="24" name="Group 25"/>
            <p:cNvGrpSpPr>
              <a:grpSpLocks/>
            </p:cNvGrpSpPr>
            <p:nvPr/>
          </p:nvGrpSpPr>
          <p:grpSpPr bwMode="auto">
            <a:xfrm>
              <a:off x="2819400" y="2676525"/>
              <a:ext cx="1524000" cy="762000"/>
              <a:chOff x="816" y="2640"/>
              <a:chExt cx="960" cy="480"/>
            </a:xfrm>
          </p:grpSpPr>
          <p:sp>
            <p:nvSpPr>
              <p:cNvPr id="25" name="Rectangle 26"/>
              <p:cNvSpPr>
                <a:spLocks noChangeArrowheads="1"/>
              </p:cNvSpPr>
              <p:nvPr/>
            </p:nvSpPr>
            <p:spPr bwMode="auto">
              <a:xfrm>
                <a:off x="816" y="2640"/>
                <a:ext cx="192" cy="48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1</a:t>
                </a:r>
              </a:p>
            </p:txBody>
          </p:sp>
          <p:sp>
            <p:nvSpPr>
              <p:cNvPr id="26" name="Rectangle 27"/>
              <p:cNvSpPr>
                <a:spLocks noChangeArrowheads="1"/>
              </p:cNvSpPr>
              <p:nvPr/>
            </p:nvSpPr>
            <p:spPr bwMode="auto">
              <a:xfrm>
                <a:off x="1008" y="2640"/>
                <a:ext cx="192" cy="48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5</a:t>
                </a:r>
              </a:p>
            </p:txBody>
          </p:sp>
          <p:sp>
            <p:nvSpPr>
              <p:cNvPr id="27" name="Rectangle 28"/>
              <p:cNvSpPr>
                <a:spLocks noChangeArrowheads="1"/>
              </p:cNvSpPr>
              <p:nvPr/>
            </p:nvSpPr>
            <p:spPr bwMode="auto">
              <a:xfrm>
                <a:off x="1200" y="2640"/>
                <a:ext cx="192" cy="48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2</a:t>
                </a:r>
              </a:p>
            </p:txBody>
          </p:sp>
          <p:sp>
            <p:nvSpPr>
              <p:cNvPr id="28" name="Rectangle 29"/>
              <p:cNvSpPr>
                <a:spLocks noChangeArrowheads="1"/>
              </p:cNvSpPr>
              <p:nvPr/>
            </p:nvSpPr>
            <p:spPr bwMode="auto">
              <a:xfrm>
                <a:off x="1392" y="2640"/>
                <a:ext cx="192" cy="48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1</a:t>
                </a:r>
              </a:p>
            </p:txBody>
          </p:sp>
          <p:sp>
            <p:nvSpPr>
              <p:cNvPr id="29" name="Rectangle 30"/>
              <p:cNvSpPr>
                <a:spLocks noChangeArrowheads="1"/>
              </p:cNvSpPr>
              <p:nvPr/>
            </p:nvSpPr>
            <p:spPr bwMode="auto">
              <a:xfrm>
                <a:off x="1584" y="2640"/>
                <a:ext cx="192" cy="48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3</a:t>
                </a:r>
              </a:p>
            </p:txBody>
          </p:sp>
        </p:grpSp>
        <p:grpSp>
          <p:nvGrpSpPr>
            <p:cNvPr id="30" name="Group 31"/>
            <p:cNvGrpSpPr>
              <a:grpSpLocks/>
            </p:cNvGrpSpPr>
            <p:nvPr/>
          </p:nvGrpSpPr>
          <p:grpSpPr bwMode="auto">
            <a:xfrm>
              <a:off x="4343400" y="2676525"/>
              <a:ext cx="1524000" cy="762000"/>
              <a:chOff x="816" y="2640"/>
              <a:chExt cx="960" cy="480"/>
            </a:xfrm>
          </p:grpSpPr>
          <p:sp>
            <p:nvSpPr>
              <p:cNvPr id="31" name="Rectangle 32"/>
              <p:cNvSpPr>
                <a:spLocks noChangeArrowheads="1"/>
              </p:cNvSpPr>
              <p:nvPr/>
            </p:nvSpPr>
            <p:spPr bwMode="auto">
              <a:xfrm>
                <a:off x="816" y="2640"/>
                <a:ext cx="192" cy="48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r>
                  <a:rPr lang="en-US" sz="1800">
                    <a:latin typeface="Courier New" pitchFamily="49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2" name="Rectangle 33"/>
              <p:cNvSpPr>
                <a:spLocks noChangeArrowheads="1"/>
              </p:cNvSpPr>
              <p:nvPr/>
            </p:nvSpPr>
            <p:spPr bwMode="auto">
              <a:xfrm>
                <a:off x="1008" y="2640"/>
                <a:ext cx="192" cy="48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r>
                  <a:rPr lang="en-US" sz="1800">
                    <a:latin typeface="Courier New" pitchFamily="49" charset="0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33" name="Rectangle 34"/>
              <p:cNvSpPr>
                <a:spLocks noChangeArrowheads="1"/>
              </p:cNvSpPr>
              <p:nvPr/>
            </p:nvSpPr>
            <p:spPr bwMode="auto">
              <a:xfrm>
                <a:off x="1200" y="2640"/>
                <a:ext cx="192" cy="48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r>
                  <a:rPr lang="en-US" sz="1800">
                    <a:latin typeface="Courier New" pitchFamily="49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4" name="Rectangle 35"/>
              <p:cNvSpPr>
                <a:spLocks noChangeArrowheads="1"/>
              </p:cNvSpPr>
              <p:nvPr/>
            </p:nvSpPr>
            <p:spPr bwMode="auto">
              <a:xfrm>
                <a:off x="1392" y="2640"/>
                <a:ext cx="192" cy="48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r>
                  <a:rPr lang="en-US" sz="1800">
                    <a:latin typeface="Courier New" pitchFamily="49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5" name="Rectangle 36"/>
              <p:cNvSpPr>
                <a:spLocks noChangeArrowheads="1"/>
              </p:cNvSpPr>
              <p:nvPr/>
            </p:nvSpPr>
            <p:spPr bwMode="auto">
              <a:xfrm>
                <a:off x="1584" y="2640"/>
                <a:ext cx="192" cy="48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r>
                  <a:rPr lang="en-US" sz="1800">
                    <a:latin typeface="Courier New" pitchFamily="49" charset="0"/>
                    <a:ea typeface="+mn-ea"/>
                    <a:cs typeface="+mn-cs"/>
                  </a:rPr>
                  <a:t>7</a:t>
                </a:r>
              </a:p>
            </p:txBody>
          </p:sp>
        </p:grpSp>
        <p:grpSp>
          <p:nvGrpSpPr>
            <p:cNvPr id="36" name="Group 37"/>
            <p:cNvGrpSpPr>
              <a:grpSpLocks/>
            </p:cNvGrpSpPr>
            <p:nvPr/>
          </p:nvGrpSpPr>
          <p:grpSpPr bwMode="auto">
            <a:xfrm>
              <a:off x="5867400" y="2671762"/>
              <a:ext cx="1524000" cy="766763"/>
              <a:chOff x="816" y="2637"/>
              <a:chExt cx="960" cy="483"/>
            </a:xfrm>
          </p:grpSpPr>
          <p:sp>
            <p:nvSpPr>
              <p:cNvPr id="37" name="Rectangle 38"/>
              <p:cNvSpPr>
                <a:spLocks noChangeArrowheads="1"/>
              </p:cNvSpPr>
              <p:nvPr/>
            </p:nvSpPr>
            <p:spPr bwMode="auto">
              <a:xfrm>
                <a:off x="816" y="2640"/>
                <a:ext cx="192" cy="480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1</a:t>
                </a:r>
              </a:p>
            </p:txBody>
          </p:sp>
          <p:sp>
            <p:nvSpPr>
              <p:cNvPr id="38" name="Rectangle 39"/>
              <p:cNvSpPr>
                <a:spLocks noChangeArrowheads="1"/>
              </p:cNvSpPr>
              <p:nvPr/>
            </p:nvSpPr>
            <p:spPr bwMode="auto">
              <a:xfrm>
                <a:off x="1008" y="2640"/>
                <a:ext cx="192" cy="480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5</a:t>
                </a:r>
              </a:p>
            </p:txBody>
          </p:sp>
          <p:sp>
            <p:nvSpPr>
              <p:cNvPr id="39" name="Rectangle 40"/>
              <p:cNvSpPr>
                <a:spLocks noChangeArrowheads="1"/>
              </p:cNvSpPr>
              <p:nvPr/>
            </p:nvSpPr>
            <p:spPr bwMode="auto">
              <a:xfrm>
                <a:off x="1200" y="2640"/>
                <a:ext cx="192" cy="480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2</a:t>
                </a:r>
              </a:p>
            </p:txBody>
          </p:sp>
          <p:sp>
            <p:nvSpPr>
              <p:cNvPr id="40" name="Rectangle 41"/>
              <p:cNvSpPr>
                <a:spLocks noChangeArrowheads="1"/>
              </p:cNvSpPr>
              <p:nvPr/>
            </p:nvSpPr>
            <p:spPr bwMode="auto">
              <a:xfrm>
                <a:off x="1392" y="2637"/>
                <a:ext cx="192" cy="480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2</a:t>
                </a:r>
              </a:p>
            </p:txBody>
          </p:sp>
          <p:sp>
            <p:nvSpPr>
              <p:cNvPr id="41" name="Rectangle 42"/>
              <p:cNvSpPr>
                <a:spLocks noChangeArrowheads="1"/>
              </p:cNvSpPr>
              <p:nvPr/>
            </p:nvSpPr>
            <p:spPr bwMode="auto">
              <a:xfrm>
                <a:off x="1584" y="2640"/>
                <a:ext cx="192" cy="480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1</a:t>
                </a:r>
              </a:p>
            </p:txBody>
          </p:sp>
        </p:grpSp>
        <p:sp>
          <p:nvSpPr>
            <p:cNvPr id="42" name="Rectangle 43"/>
            <p:cNvSpPr>
              <a:spLocks noChangeArrowheads="1"/>
            </p:cNvSpPr>
            <p:nvPr/>
          </p:nvSpPr>
          <p:spPr bwMode="auto">
            <a:xfrm>
              <a:off x="1295400" y="2676525"/>
              <a:ext cx="1524000" cy="762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endParaRPr lang="en-US" sz="1800">
                <a:latin typeface="Calibri" pitchFamily="-96" charset="0"/>
              </a:endParaRPr>
            </a:p>
          </p:txBody>
        </p:sp>
        <p:sp>
          <p:nvSpPr>
            <p:cNvPr id="43" name="Rectangle 44"/>
            <p:cNvSpPr>
              <a:spLocks noChangeArrowheads="1"/>
            </p:cNvSpPr>
            <p:nvPr/>
          </p:nvSpPr>
          <p:spPr bwMode="auto">
            <a:xfrm>
              <a:off x="2819400" y="2676525"/>
              <a:ext cx="1524000" cy="762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endParaRPr lang="en-US" sz="1800">
                <a:latin typeface="Calibri" pitchFamily="-96" charset="0"/>
              </a:endParaRPr>
            </a:p>
          </p:txBody>
        </p:sp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4343400" y="2676525"/>
              <a:ext cx="1524000" cy="762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endParaRPr lang="en-US" sz="1800">
                <a:latin typeface="Calibri" pitchFamily="-96" charset="0"/>
              </a:endParaRPr>
            </a:p>
          </p:txBody>
        </p:sp>
        <p:sp>
          <p:nvSpPr>
            <p:cNvPr id="45" name="Rectangle 46"/>
            <p:cNvSpPr>
              <a:spLocks noChangeArrowheads="1"/>
            </p:cNvSpPr>
            <p:nvPr/>
          </p:nvSpPr>
          <p:spPr bwMode="auto">
            <a:xfrm>
              <a:off x="5867400" y="2676525"/>
              <a:ext cx="1524000" cy="762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endParaRPr lang="en-US" sz="1800">
                <a:latin typeface="Calibri" pitchFamily="-9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060175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/>
          <p:cNvSpPr>
            <a:spLocks noChangeArrowheads="1"/>
          </p:cNvSpPr>
          <p:nvPr/>
        </p:nvSpPr>
        <p:spPr bwMode="auto">
          <a:xfrm>
            <a:off x="5791200" y="4506913"/>
            <a:ext cx="990600" cy="990600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0" hangingPunct="0"/>
            <a:r>
              <a:rPr lang="en-US" b="0">
                <a:latin typeface="Calibri" pitchFamily="-96" charset="0"/>
              </a:rPr>
              <a:t>•  •  •</a:t>
            </a:r>
          </a:p>
        </p:txBody>
      </p:sp>
      <p:sp>
        <p:nvSpPr>
          <p:cNvPr id="87042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569913"/>
            <a:ext cx="6934200" cy="573087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Nested Array Element Access</a:t>
            </a:r>
          </a:p>
        </p:txBody>
      </p:sp>
      <p:sp>
        <p:nvSpPr>
          <p:cNvPr id="31027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42913" y="1292225"/>
            <a:ext cx="7786687" cy="1450975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Array Elements </a:t>
            </a:r>
            <a:endParaRPr lang="en-US" dirty="0">
              <a:latin typeface="Courier New" pitchFamily="-96" charset="0"/>
            </a:endParaRPr>
          </a:p>
          <a:p>
            <a:pPr lvl="1"/>
            <a:r>
              <a:rPr lang="en-US" dirty="0">
                <a:latin typeface="Calibri" pitchFamily="-96" charset="0"/>
              </a:rPr>
              <a:t> </a:t>
            </a:r>
            <a:r>
              <a:rPr lang="en-US" b="1" dirty="0">
                <a:latin typeface="Courier New" pitchFamily="-96" charset="0"/>
              </a:rPr>
              <a:t>A[</a:t>
            </a:r>
            <a:r>
              <a:rPr lang="en-US" b="1" dirty="0" err="1">
                <a:latin typeface="Courier New" pitchFamily="-96" charset="0"/>
              </a:rPr>
              <a:t>i</a:t>
            </a:r>
            <a:r>
              <a:rPr lang="en-US" b="1" dirty="0">
                <a:latin typeface="Courier New" pitchFamily="-96" charset="0"/>
              </a:rPr>
              <a:t>][j]</a:t>
            </a:r>
            <a:r>
              <a:rPr lang="en-US" b="1" dirty="0">
                <a:latin typeface="Calibri" pitchFamily="-96" charset="0"/>
              </a:rPr>
              <a:t> </a:t>
            </a:r>
            <a:r>
              <a:rPr lang="en-US" dirty="0">
                <a:latin typeface="Calibri" pitchFamily="-96" charset="0"/>
              </a:rPr>
              <a:t>is element of type </a:t>
            </a:r>
            <a:r>
              <a:rPr lang="en-US" i="1" dirty="0">
                <a:latin typeface="Calibri" pitchFamily="-96" charset="0"/>
              </a:rPr>
              <a:t>T, </a:t>
            </a:r>
            <a:r>
              <a:rPr lang="en-US" dirty="0">
                <a:latin typeface="Calibri" pitchFamily="-96" charset="0"/>
              </a:rPr>
              <a:t>which requires </a:t>
            </a:r>
            <a:r>
              <a:rPr lang="en-US" i="1" dirty="0">
                <a:latin typeface="Calibri" pitchFamily="-96" charset="0"/>
              </a:rPr>
              <a:t>K</a:t>
            </a:r>
            <a:r>
              <a:rPr lang="en-US" dirty="0">
                <a:latin typeface="Calibri" pitchFamily="-96" charset="0"/>
              </a:rPr>
              <a:t> bytes</a:t>
            </a:r>
            <a:endParaRPr lang="en-US" dirty="0">
              <a:latin typeface="Courier New" pitchFamily="-96" charset="0"/>
            </a:endParaRPr>
          </a:p>
          <a:p>
            <a:pPr lvl="1"/>
            <a:r>
              <a:rPr lang="en-US" dirty="0">
                <a:latin typeface="Calibri" pitchFamily="-96" charset="0"/>
              </a:rPr>
              <a:t>Address  </a:t>
            </a:r>
            <a:r>
              <a:rPr lang="en-US" b="1" dirty="0">
                <a:latin typeface="Courier New" pitchFamily="-96" charset="0"/>
              </a:rPr>
              <a:t>A +</a:t>
            </a:r>
            <a:r>
              <a:rPr lang="en-US" dirty="0">
                <a:latin typeface="Courier New" pitchFamily="-96" charset="0"/>
              </a:rPr>
              <a:t> </a:t>
            </a:r>
            <a:r>
              <a:rPr lang="en-US" i="1" dirty="0" err="1">
                <a:latin typeface="Calibri" pitchFamily="-96" charset="0"/>
              </a:rPr>
              <a:t>i</a:t>
            </a:r>
            <a:r>
              <a:rPr lang="en-US" i="1" dirty="0">
                <a:latin typeface="Calibri" pitchFamily="-96" charset="0"/>
              </a:rPr>
              <a:t> </a:t>
            </a:r>
            <a:r>
              <a:rPr lang="en-US" dirty="0">
                <a:latin typeface="Calibri" pitchFamily="-96" charset="0"/>
              </a:rPr>
              <a:t>* (</a:t>
            </a:r>
            <a:r>
              <a:rPr lang="en-US" i="1" dirty="0">
                <a:latin typeface="Calibri" pitchFamily="-96" charset="0"/>
              </a:rPr>
              <a:t>C </a:t>
            </a:r>
            <a:r>
              <a:rPr lang="en-US" dirty="0">
                <a:latin typeface="Calibri" pitchFamily="-96" charset="0"/>
              </a:rPr>
              <a:t>* </a:t>
            </a:r>
            <a:r>
              <a:rPr lang="en-US" i="1" dirty="0">
                <a:latin typeface="Calibri" pitchFamily="-96" charset="0"/>
              </a:rPr>
              <a:t>K</a:t>
            </a:r>
            <a:r>
              <a:rPr lang="en-US" dirty="0">
                <a:latin typeface="Calibri" pitchFamily="-96" charset="0"/>
              </a:rPr>
              <a:t>)</a:t>
            </a:r>
            <a:r>
              <a:rPr lang="en-US" i="1" dirty="0">
                <a:latin typeface="Calibri" pitchFamily="-96" charset="0"/>
              </a:rPr>
              <a:t> </a:t>
            </a:r>
            <a:r>
              <a:rPr lang="en-US" dirty="0">
                <a:latin typeface="Calibri" pitchFamily="-96" charset="0"/>
              </a:rPr>
              <a:t>+  </a:t>
            </a:r>
            <a:r>
              <a:rPr lang="en-US" i="1" dirty="0">
                <a:latin typeface="Calibri" pitchFamily="-96" charset="0"/>
              </a:rPr>
              <a:t>j</a:t>
            </a:r>
            <a:r>
              <a:rPr lang="en-US" dirty="0">
                <a:latin typeface="Calibri" pitchFamily="-96" charset="0"/>
              </a:rPr>
              <a:t> * </a:t>
            </a:r>
            <a:r>
              <a:rPr lang="en-US" i="1" dirty="0">
                <a:latin typeface="Calibri" pitchFamily="-96" charset="0"/>
              </a:rPr>
              <a:t>K = </a:t>
            </a:r>
            <a:r>
              <a:rPr lang="pl-PL" i="1" dirty="0">
                <a:latin typeface="Calibri" pitchFamily="-96" charset="0"/>
              </a:rPr>
              <a:t>A + </a:t>
            </a:r>
            <a:r>
              <a:rPr lang="pl-PL" dirty="0">
                <a:latin typeface="Calibri" pitchFamily="-96" charset="0"/>
              </a:rPr>
              <a:t>(</a:t>
            </a:r>
            <a:r>
              <a:rPr lang="pl-PL" i="1" dirty="0">
                <a:latin typeface="Calibri" pitchFamily="-96" charset="0"/>
              </a:rPr>
              <a:t>i * C +  j</a:t>
            </a:r>
            <a:r>
              <a:rPr lang="en-US" dirty="0">
                <a:latin typeface="Calibri" pitchFamily="-96" charset="0"/>
              </a:rPr>
              <a:t>)</a:t>
            </a:r>
            <a:r>
              <a:rPr lang="pl-PL" i="1" dirty="0">
                <a:latin typeface="Calibri" pitchFamily="-96" charset="0"/>
              </a:rPr>
              <a:t>* K</a:t>
            </a:r>
            <a:endParaRPr lang="en-US" i="1" dirty="0">
              <a:latin typeface="Calibri" pitchFamily="-96" charset="0"/>
            </a:endParaRPr>
          </a:p>
        </p:txBody>
      </p:sp>
      <p:grpSp>
        <p:nvGrpSpPr>
          <p:cNvPr id="87044" name="Group 5"/>
          <p:cNvGrpSpPr>
            <a:grpSpLocks/>
          </p:cNvGrpSpPr>
          <p:nvPr/>
        </p:nvGrpSpPr>
        <p:grpSpPr bwMode="auto">
          <a:xfrm>
            <a:off x="3657600" y="3973513"/>
            <a:ext cx="2133600" cy="1524000"/>
            <a:chOff x="1680" y="2064"/>
            <a:chExt cx="1344" cy="960"/>
          </a:xfrm>
        </p:grpSpPr>
        <p:grpSp>
          <p:nvGrpSpPr>
            <p:cNvPr id="87073" name="Group 6"/>
            <p:cNvGrpSpPr>
              <a:grpSpLocks/>
            </p:cNvGrpSpPr>
            <p:nvPr/>
          </p:nvGrpSpPr>
          <p:grpSpPr bwMode="auto">
            <a:xfrm>
              <a:off x="1680" y="2400"/>
              <a:ext cx="1344" cy="624"/>
              <a:chOff x="1488" y="3504"/>
              <a:chExt cx="1344" cy="624"/>
            </a:xfrm>
          </p:grpSpPr>
          <p:sp>
            <p:nvSpPr>
              <p:cNvPr id="310281" name="Rectangle 9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1344" cy="6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r>
                  <a:rPr lang="en-US" sz="1600" b="0" dirty="0">
                    <a:latin typeface="Calibri" pitchFamily="34" charset="0"/>
                    <a:ea typeface="+mn-ea"/>
                    <a:cs typeface="+mn-cs"/>
                  </a:rPr>
                  <a:t> • • •                      • • •</a:t>
                </a:r>
              </a:p>
            </p:txBody>
          </p:sp>
          <p:sp>
            <p:nvSpPr>
              <p:cNvPr id="310279" name="Rectangle 7"/>
              <p:cNvSpPr>
                <a:spLocks noChangeArrowheads="1"/>
              </p:cNvSpPr>
              <p:nvPr/>
            </p:nvSpPr>
            <p:spPr bwMode="auto">
              <a:xfrm>
                <a:off x="1920" y="3504"/>
                <a:ext cx="384" cy="6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600" dirty="0">
                    <a:latin typeface="Courier New" pitchFamily="49" charset="0"/>
                    <a:ea typeface="+mn-ea"/>
                    <a:cs typeface="+mn-cs"/>
                  </a:rPr>
                  <a:t>A</a:t>
                </a:r>
              </a:p>
              <a:p>
                <a:pPr algn="ctr" eaLnBrk="0" hangingPunct="0">
                  <a:defRPr/>
                </a:pPr>
                <a:r>
                  <a:rPr lang="en-US" sz="1600" dirty="0">
                    <a:latin typeface="Courier New" pitchFamily="49" charset="0"/>
                    <a:ea typeface="+mn-ea"/>
                    <a:cs typeface="+mn-cs"/>
                  </a:rPr>
                  <a:t>[</a:t>
                </a:r>
                <a:r>
                  <a:rPr lang="en-US" sz="1600" dirty="0" err="1">
                    <a:latin typeface="Courier New" pitchFamily="49" charset="0"/>
                    <a:ea typeface="+mn-ea"/>
                    <a:cs typeface="+mn-cs"/>
                  </a:rPr>
                  <a:t>i</a:t>
                </a:r>
                <a:r>
                  <a:rPr lang="en-US" sz="1600" dirty="0">
                    <a:latin typeface="Courier New" pitchFamily="49" charset="0"/>
                    <a:ea typeface="+mn-ea"/>
                    <a:cs typeface="+mn-cs"/>
                  </a:rPr>
                  <a:t>]</a:t>
                </a:r>
              </a:p>
              <a:p>
                <a:pPr algn="ctr" eaLnBrk="0" hangingPunct="0">
                  <a:defRPr/>
                </a:pPr>
                <a:r>
                  <a:rPr lang="en-US" sz="1600" dirty="0">
                    <a:latin typeface="Courier New" pitchFamily="49" charset="0"/>
                    <a:ea typeface="+mn-ea"/>
                    <a:cs typeface="+mn-cs"/>
                  </a:rPr>
                  <a:t>[j]</a:t>
                </a:r>
              </a:p>
            </p:txBody>
          </p:sp>
        </p:grpSp>
        <p:sp>
          <p:nvSpPr>
            <p:cNvPr id="87074" name="Line 10"/>
            <p:cNvSpPr>
              <a:spLocks noChangeShapeType="1"/>
            </p:cNvSpPr>
            <p:nvPr/>
          </p:nvSpPr>
          <p:spPr bwMode="auto">
            <a:xfrm>
              <a:off x="1680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075" name="Line 11"/>
            <p:cNvSpPr>
              <a:spLocks noChangeShapeType="1"/>
            </p:cNvSpPr>
            <p:nvPr/>
          </p:nvSpPr>
          <p:spPr bwMode="auto">
            <a:xfrm>
              <a:off x="1680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076" name="Line 12"/>
            <p:cNvSpPr>
              <a:spLocks noChangeShapeType="1"/>
            </p:cNvSpPr>
            <p:nvPr/>
          </p:nvSpPr>
          <p:spPr bwMode="auto">
            <a:xfrm>
              <a:off x="3024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077" name="Line 13"/>
            <p:cNvSpPr>
              <a:spLocks noChangeShapeType="1"/>
            </p:cNvSpPr>
            <p:nvPr/>
          </p:nvSpPr>
          <p:spPr bwMode="auto">
            <a:xfrm>
              <a:off x="1680" y="2208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078" name="Rectangle 14"/>
            <p:cNvSpPr>
              <a:spLocks noChangeArrowheads="1"/>
            </p:cNvSpPr>
            <p:nvPr/>
          </p:nvSpPr>
          <p:spPr bwMode="auto">
            <a:xfrm>
              <a:off x="2112" y="2064"/>
              <a:ext cx="528" cy="240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600">
                  <a:latin typeface="Courier New" pitchFamily="-96" charset="0"/>
                </a:rPr>
                <a:t>A[i]</a:t>
              </a:r>
              <a:endParaRPr lang="en-US" sz="1600" b="0">
                <a:latin typeface="Calibri" pitchFamily="-96" charset="0"/>
              </a:endParaRPr>
            </a:p>
          </p:txBody>
        </p:sp>
      </p:grpSp>
      <p:grpSp>
        <p:nvGrpSpPr>
          <p:cNvPr id="87045" name="Group 15"/>
          <p:cNvGrpSpPr>
            <a:grpSpLocks/>
          </p:cNvGrpSpPr>
          <p:nvPr/>
        </p:nvGrpSpPr>
        <p:grpSpPr bwMode="auto">
          <a:xfrm>
            <a:off x="6705600" y="3973513"/>
            <a:ext cx="2133600" cy="1524000"/>
            <a:chOff x="4176" y="2064"/>
            <a:chExt cx="1344" cy="960"/>
          </a:xfrm>
        </p:grpSpPr>
        <p:grpSp>
          <p:nvGrpSpPr>
            <p:cNvPr id="87065" name="Group 16"/>
            <p:cNvGrpSpPr>
              <a:grpSpLocks/>
            </p:cNvGrpSpPr>
            <p:nvPr/>
          </p:nvGrpSpPr>
          <p:grpSpPr bwMode="auto">
            <a:xfrm>
              <a:off x="4176" y="2400"/>
              <a:ext cx="1344" cy="624"/>
              <a:chOff x="1488" y="3504"/>
              <a:chExt cx="1344" cy="624"/>
            </a:xfrm>
          </p:grpSpPr>
          <p:sp>
            <p:nvSpPr>
              <p:cNvPr id="87070" name="Rectangle 19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1344" cy="624"/>
              </a:xfrm>
              <a:prstGeom prst="rect">
                <a:avLst/>
              </a:prstGeom>
              <a:solidFill>
                <a:srgbClr val="D5F1C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 b="0">
                    <a:latin typeface="Calibri" pitchFamily="-96" charset="0"/>
                  </a:rPr>
                  <a:t>• • •</a:t>
                </a:r>
              </a:p>
            </p:txBody>
          </p:sp>
          <p:sp>
            <p:nvSpPr>
              <p:cNvPr id="87071" name="Rectangle 17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384" cy="624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[R-1]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[0]</a:t>
                </a:r>
              </a:p>
            </p:txBody>
          </p:sp>
          <p:sp>
            <p:nvSpPr>
              <p:cNvPr id="87072" name="Rectangle 18"/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84" cy="624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[R-1]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[C-1]</a:t>
                </a:r>
              </a:p>
            </p:txBody>
          </p:sp>
        </p:grpSp>
        <p:sp>
          <p:nvSpPr>
            <p:cNvPr id="87066" name="Line 20"/>
            <p:cNvSpPr>
              <a:spLocks noChangeShapeType="1"/>
            </p:cNvSpPr>
            <p:nvPr/>
          </p:nvSpPr>
          <p:spPr bwMode="auto">
            <a:xfrm>
              <a:off x="4176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067" name="Line 21"/>
            <p:cNvSpPr>
              <a:spLocks noChangeShapeType="1"/>
            </p:cNvSpPr>
            <p:nvPr/>
          </p:nvSpPr>
          <p:spPr bwMode="auto">
            <a:xfrm>
              <a:off x="5520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068" name="Line 22"/>
            <p:cNvSpPr>
              <a:spLocks noChangeShapeType="1"/>
            </p:cNvSpPr>
            <p:nvPr/>
          </p:nvSpPr>
          <p:spPr bwMode="auto">
            <a:xfrm>
              <a:off x="4176" y="2208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069" name="Rectangle 23"/>
            <p:cNvSpPr>
              <a:spLocks noChangeArrowheads="1"/>
            </p:cNvSpPr>
            <p:nvPr/>
          </p:nvSpPr>
          <p:spPr bwMode="auto">
            <a:xfrm>
              <a:off x="4608" y="2064"/>
              <a:ext cx="528" cy="240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600">
                  <a:latin typeface="Courier New" pitchFamily="-96" charset="0"/>
                </a:rPr>
                <a:t>A[R-1]</a:t>
              </a:r>
              <a:endParaRPr lang="en-US" sz="1600" b="0">
                <a:latin typeface="Calibri" pitchFamily="-96" charset="0"/>
              </a:endParaRPr>
            </a:p>
          </p:txBody>
        </p:sp>
      </p:grpSp>
      <p:sp>
        <p:nvSpPr>
          <p:cNvPr id="87046" name="Rectangle 24"/>
          <p:cNvSpPr>
            <a:spLocks noChangeArrowheads="1"/>
          </p:cNvSpPr>
          <p:nvPr/>
        </p:nvSpPr>
        <p:spPr bwMode="auto">
          <a:xfrm>
            <a:off x="2667000" y="4506913"/>
            <a:ext cx="990600" cy="990600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0" hangingPunct="0"/>
            <a:r>
              <a:rPr lang="en-US" b="0">
                <a:latin typeface="Calibri" pitchFamily="-96" charset="0"/>
              </a:rPr>
              <a:t>•  •  •</a:t>
            </a:r>
          </a:p>
        </p:txBody>
      </p:sp>
      <p:sp>
        <p:nvSpPr>
          <p:cNvPr id="87047" name="Text Box 25"/>
          <p:cNvSpPr txBox="1">
            <a:spLocks noChangeArrowheads="1"/>
          </p:cNvSpPr>
          <p:nvPr/>
        </p:nvSpPr>
        <p:spPr bwMode="auto">
          <a:xfrm>
            <a:off x="331788" y="5724525"/>
            <a:ext cx="396875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1800">
                <a:latin typeface="Courier New" pitchFamily="-96" charset="0"/>
              </a:rPr>
              <a:t>A</a:t>
            </a:r>
          </a:p>
        </p:txBody>
      </p:sp>
      <p:sp>
        <p:nvSpPr>
          <p:cNvPr id="87048" name="Line 26"/>
          <p:cNvSpPr>
            <a:spLocks noChangeShapeType="1"/>
          </p:cNvSpPr>
          <p:nvPr/>
        </p:nvSpPr>
        <p:spPr bwMode="auto">
          <a:xfrm flipV="1">
            <a:off x="533400" y="5497513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7049" name="Line 27"/>
          <p:cNvSpPr>
            <a:spLocks noChangeShapeType="1"/>
          </p:cNvSpPr>
          <p:nvPr/>
        </p:nvSpPr>
        <p:spPr bwMode="auto">
          <a:xfrm flipV="1">
            <a:off x="3657600" y="5497513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87050" name="Group 28"/>
          <p:cNvGrpSpPr>
            <a:grpSpLocks/>
          </p:cNvGrpSpPr>
          <p:nvPr/>
        </p:nvGrpSpPr>
        <p:grpSpPr bwMode="auto">
          <a:xfrm>
            <a:off x="533400" y="3973513"/>
            <a:ext cx="2133600" cy="1524000"/>
            <a:chOff x="336" y="2064"/>
            <a:chExt cx="1344" cy="960"/>
          </a:xfrm>
        </p:grpSpPr>
        <p:grpSp>
          <p:nvGrpSpPr>
            <p:cNvPr id="87057" name="Group 29"/>
            <p:cNvGrpSpPr>
              <a:grpSpLocks/>
            </p:cNvGrpSpPr>
            <p:nvPr/>
          </p:nvGrpSpPr>
          <p:grpSpPr bwMode="auto">
            <a:xfrm>
              <a:off x="336" y="2400"/>
              <a:ext cx="1344" cy="624"/>
              <a:chOff x="1488" y="3504"/>
              <a:chExt cx="1344" cy="624"/>
            </a:xfrm>
          </p:grpSpPr>
          <p:sp>
            <p:nvSpPr>
              <p:cNvPr id="87062" name="Rectangle 32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1344" cy="624"/>
              </a:xfrm>
              <a:prstGeom prst="rect">
                <a:avLst/>
              </a:prstGeom>
              <a:solidFill>
                <a:srgbClr val="F1C7C7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 b="0">
                    <a:latin typeface="Calibri" pitchFamily="-96" charset="0"/>
                  </a:rPr>
                  <a:t>• • •</a:t>
                </a:r>
              </a:p>
            </p:txBody>
          </p:sp>
          <p:sp>
            <p:nvSpPr>
              <p:cNvPr id="87063" name="Rectangle 30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384" cy="624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[0]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[0]</a:t>
                </a:r>
              </a:p>
            </p:txBody>
          </p:sp>
          <p:sp>
            <p:nvSpPr>
              <p:cNvPr id="87064" name="Rectangle 31"/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84" cy="624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[0]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[C-1]</a:t>
                </a:r>
              </a:p>
            </p:txBody>
          </p:sp>
        </p:grpSp>
        <p:sp>
          <p:nvSpPr>
            <p:cNvPr id="87058" name="Line 33"/>
            <p:cNvSpPr>
              <a:spLocks noChangeShapeType="1"/>
            </p:cNvSpPr>
            <p:nvPr/>
          </p:nvSpPr>
          <p:spPr bwMode="auto">
            <a:xfrm>
              <a:off x="336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059" name="Line 34"/>
            <p:cNvSpPr>
              <a:spLocks noChangeShapeType="1"/>
            </p:cNvSpPr>
            <p:nvPr/>
          </p:nvSpPr>
          <p:spPr bwMode="auto">
            <a:xfrm>
              <a:off x="336" y="2208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060" name="Rectangle 35"/>
            <p:cNvSpPr>
              <a:spLocks noChangeArrowheads="1"/>
            </p:cNvSpPr>
            <p:nvPr/>
          </p:nvSpPr>
          <p:spPr bwMode="auto">
            <a:xfrm>
              <a:off x="768" y="2064"/>
              <a:ext cx="528" cy="240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600">
                  <a:latin typeface="Courier New" pitchFamily="-96" charset="0"/>
                </a:rPr>
                <a:t>A[0]</a:t>
              </a:r>
              <a:endParaRPr lang="en-US" sz="1600" b="0">
                <a:latin typeface="Calibri" pitchFamily="-96" charset="0"/>
              </a:endParaRPr>
            </a:p>
          </p:txBody>
        </p:sp>
        <p:sp>
          <p:nvSpPr>
            <p:cNvPr id="87061" name="Line 36"/>
            <p:cNvSpPr>
              <a:spLocks noChangeShapeType="1"/>
            </p:cNvSpPr>
            <p:nvPr/>
          </p:nvSpPr>
          <p:spPr bwMode="auto">
            <a:xfrm>
              <a:off x="1680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7051" name="Text Box 38"/>
          <p:cNvSpPr txBox="1">
            <a:spLocks noChangeArrowheads="1"/>
          </p:cNvSpPr>
          <p:nvPr/>
        </p:nvSpPr>
        <p:spPr bwMode="auto">
          <a:xfrm>
            <a:off x="2944813" y="5724525"/>
            <a:ext cx="14478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1800" dirty="0" err="1">
                <a:latin typeface="Courier New" pitchFamily="-96" charset="0"/>
              </a:rPr>
              <a:t>A+(i</a:t>
            </a:r>
            <a:r>
              <a:rPr lang="en-US" sz="1800" dirty="0">
                <a:latin typeface="Courier New" pitchFamily="-96" charset="0"/>
              </a:rPr>
              <a:t>*C*4)</a:t>
            </a:r>
          </a:p>
        </p:txBody>
      </p:sp>
      <p:sp>
        <p:nvSpPr>
          <p:cNvPr id="87052" name="Text Box 39"/>
          <p:cNvSpPr txBox="1">
            <a:spLocks noChangeArrowheads="1"/>
          </p:cNvSpPr>
          <p:nvPr/>
        </p:nvSpPr>
        <p:spPr bwMode="auto">
          <a:xfrm>
            <a:off x="6324600" y="5724525"/>
            <a:ext cx="2057400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1800" dirty="0">
                <a:latin typeface="Courier New" pitchFamily="-96" charset="0"/>
              </a:rPr>
              <a:t>A+((R-1)*C*4)</a:t>
            </a:r>
          </a:p>
        </p:txBody>
      </p:sp>
      <p:sp>
        <p:nvSpPr>
          <p:cNvPr id="87053" name="Line 40"/>
          <p:cNvSpPr>
            <a:spLocks noChangeShapeType="1"/>
          </p:cNvSpPr>
          <p:nvPr/>
        </p:nvSpPr>
        <p:spPr bwMode="auto">
          <a:xfrm flipV="1">
            <a:off x="6705600" y="5497513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7054" name="Text Box 15"/>
          <p:cNvSpPr txBox="1">
            <a:spLocks noChangeArrowheads="1"/>
          </p:cNvSpPr>
          <p:nvPr/>
        </p:nvSpPr>
        <p:spPr bwMode="auto">
          <a:xfrm>
            <a:off x="425450" y="3429000"/>
            <a:ext cx="20129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2000">
                <a:latin typeface="Courier New" pitchFamily="-96" charset="0"/>
              </a:rPr>
              <a:t>int A[R][C];</a:t>
            </a:r>
          </a:p>
        </p:txBody>
      </p:sp>
      <p:sp>
        <p:nvSpPr>
          <p:cNvPr id="87055" name="Line 27"/>
          <p:cNvSpPr>
            <a:spLocks noChangeShapeType="1"/>
          </p:cNvSpPr>
          <p:nvPr/>
        </p:nvSpPr>
        <p:spPr bwMode="auto">
          <a:xfrm flipV="1">
            <a:off x="4648200" y="5497513"/>
            <a:ext cx="0" cy="674687"/>
          </a:xfrm>
          <a:prstGeom prst="line">
            <a:avLst/>
          </a:prstGeom>
          <a:noFill/>
          <a:ln w="57150">
            <a:solidFill>
              <a:srgbClr val="990000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Text Box 38"/>
          <p:cNvSpPr txBox="1">
            <a:spLocks noChangeArrowheads="1"/>
          </p:cNvSpPr>
          <p:nvPr/>
        </p:nvSpPr>
        <p:spPr bwMode="auto">
          <a:xfrm>
            <a:off x="3370263" y="6259513"/>
            <a:ext cx="295433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dirty="0" err="1">
                <a:solidFill>
                  <a:srgbClr val="990000"/>
                </a:solidFill>
                <a:latin typeface="Courier New" pitchFamily="-96" charset="0"/>
              </a:rPr>
              <a:t>A+(i</a:t>
            </a:r>
            <a:r>
              <a:rPr lang="en-US" dirty="0">
                <a:solidFill>
                  <a:srgbClr val="990000"/>
                </a:solidFill>
                <a:latin typeface="Courier New" pitchFamily="-96" charset="0"/>
              </a:rPr>
              <a:t>*C*4)+(j*4)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493713"/>
            <a:ext cx="8280400" cy="573087"/>
          </a:xfrm>
        </p:spPr>
        <p:txBody>
          <a:bodyPr/>
          <a:lstStyle/>
          <a:p>
            <a:r>
              <a:rPr lang="en-US">
                <a:latin typeface="Calibri" pitchFamily="-96" charset="0"/>
              </a:rPr>
              <a:t>Nested Array Element Access Code</a:t>
            </a:r>
          </a:p>
        </p:txBody>
      </p:sp>
      <p:sp>
        <p:nvSpPr>
          <p:cNvPr id="313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653136"/>
            <a:ext cx="8320088" cy="1749896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Array Elements </a:t>
            </a:r>
            <a:endParaRPr lang="en-US" dirty="0">
              <a:latin typeface="Courier New" pitchFamily="-96" charset="0"/>
            </a:endParaRPr>
          </a:p>
          <a:p>
            <a:pPr lvl="1"/>
            <a:r>
              <a:rPr lang="en-US" b="1" dirty="0">
                <a:latin typeface="Calibri" pitchFamily="-96" charset="0"/>
              </a:rPr>
              <a:t> </a:t>
            </a:r>
            <a:r>
              <a:rPr lang="en-US" b="1" dirty="0" err="1">
                <a:latin typeface="Courier New" pitchFamily="-96" charset="0"/>
              </a:rPr>
              <a:t>pgh</a:t>
            </a:r>
            <a:r>
              <a:rPr lang="en-US" b="1" dirty="0">
                <a:latin typeface="Courier New" pitchFamily="-96" charset="0"/>
              </a:rPr>
              <a:t>[index][dig]</a:t>
            </a:r>
            <a:r>
              <a:rPr lang="en-US" b="1" dirty="0">
                <a:latin typeface="Calibri" pitchFamily="-96" charset="0"/>
              </a:rPr>
              <a:t> </a:t>
            </a:r>
            <a:r>
              <a:rPr lang="en-US" dirty="0">
                <a:latin typeface="Calibri" pitchFamily="-96" charset="0"/>
              </a:rPr>
              <a:t>is</a:t>
            </a:r>
            <a:r>
              <a:rPr lang="en-US" b="1" dirty="0">
                <a:latin typeface="Calibri" pitchFamily="-96" charset="0"/>
              </a:rPr>
              <a:t> </a:t>
            </a:r>
            <a:r>
              <a:rPr lang="en-US" b="1" dirty="0" err="1">
                <a:latin typeface="Courier New" pitchFamily="-96" charset="0"/>
              </a:rPr>
              <a:t>int</a:t>
            </a:r>
            <a:endParaRPr lang="en-US" b="1" dirty="0">
              <a:latin typeface="Courier New" pitchFamily="-96" charset="0"/>
            </a:endParaRPr>
          </a:p>
          <a:p>
            <a:pPr lvl="1"/>
            <a:r>
              <a:rPr lang="en-US" dirty="0">
                <a:latin typeface="Calibri" pitchFamily="-96" charset="0"/>
              </a:rPr>
              <a:t>Address: </a:t>
            </a:r>
            <a:r>
              <a:rPr lang="en-US" b="1" dirty="0" err="1">
                <a:latin typeface="Courier New" pitchFamily="-96" charset="0"/>
              </a:rPr>
              <a:t>pgh</a:t>
            </a:r>
            <a:r>
              <a:rPr lang="en-US" b="1" dirty="0">
                <a:latin typeface="Courier New" pitchFamily="-96" charset="0"/>
              </a:rPr>
              <a:t> + 20*index + 4*dig</a:t>
            </a:r>
          </a:p>
          <a:p>
            <a:pPr lvl="2"/>
            <a:r>
              <a:rPr lang="en-US" dirty="0"/>
              <a:t>=   </a:t>
            </a:r>
            <a:r>
              <a:rPr lang="en-US" b="1" dirty="0" err="1">
                <a:latin typeface="Courier New" pitchFamily="-96" charset="0"/>
              </a:rPr>
              <a:t>pgh</a:t>
            </a:r>
            <a:r>
              <a:rPr lang="en-US" b="1" dirty="0">
                <a:latin typeface="Courier New" pitchFamily="-96" charset="0"/>
              </a:rPr>
              <a:t> + 4*(5*index + dig)</a:t>
            </a:r>
          </a:p>
        </p:txBody>
      </p:sp>
      <p:sp>
        <p:nvSpPr>
          <p:cNvPr id="89091" name="Rectangle 4"/>
          <p:cNvSpPr>
            <a:spLocks noChangeArrowheads="1"/>
          </p:cNvSpPr>
          <p:nvPr/>
        </p:nvSpPr>
        <p:spPr bwMode="auto">
          <a:xfrm>
            <a:off x="3419872" y="2115453"/>
            <a:ext cx="3733800" cy="147478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get_pgh_digit</a:t>
            </a:r>
            <a:endParaRPr lang="en-US" sz="1800" dirty="0">
              <a:latin typeface="Courier New" pitchFamily="-96" charset="0"/>
            </a:endParaRP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(</a:t>
            </a:r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index, </a:t>
            </a:r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dig)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return </a:t>
            </a:r>
            <a:r>
              <a:rPr lang="en-US" sz="1800" dirty="0" err="1">
                <a:latin typeface="Courier New" pitchFamily="-96" charset="0"/>
              </a:rPr>
              <a:t>pgh</a:t>
            </a:r>
            <a:r>
              <a:rPr lang="en-US" sz="1800" dirty="0">
                <a:latin typeface="Courier New" pitchFamily="-96" charset="0"/>
              </a:rPr>
              <a:t>[index][dig];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sp>
        <p:nvSpPr>
          <p:cNvPr id="313349" name="Rectangle 5"/>
          <p:cNvSpPr>
            <a:spLocks noChangeArrowheads="1"/>
          </p:cNvSpPr>
          <p:nvPr/>
        </p:nvSpPr>
        <p:spPr bwMode="auto">
          <a:xfrm>
            <a:off x="474140" y="3680778"/>
            <a:ext cx="8001000" cy="92076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114300" algn="l"/>
                <a:tab pos="968375" algn="l"/>
                <a:tab pos="40005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leaq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(%rdi,%rdi,4),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rax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# 5*index</a:t>
            </a:r>
          </a:p>
          <a:p>
            <a:pPr eaLnBrk="0" hangingPunct="0">
              <a:tabLst>
                <a:tab pos="114300" algn="l"/>
                <a:tab pos="968375" algn="l"/>
                <a:tab pos="40005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addl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rax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rsi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# 5*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index+dig</a:t>
            </a:r>
            <a:endParaRPr lang="en-US" sz="1800" dirty="0">
              <a:latin typeface="Courier New" pitchFamily="49" charset="0"/>
              <a:ea typeface="+mn-ea"/>
              <a:cs typeface="+mn-cs"/>
            </a:endParaRPr>
          </a:p>
          <a:p>
            <a:pPr eaLnBrk="0" hangingPunct="0">
              <a:tabLst>
                <a:tab pos="114300" algn="l"/>
                <a:tab pos="968375" algn="l"/>
                <a:tab pos="40005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movl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pgh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(,%rsi,4),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eax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# M[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pgh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+ 4*(5*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index+dig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)]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66700" y="1124341"/>
            <a:ext cx="6324600" cy="1288495"/>
            <a:chOff x="1066800" y="2671762"/>
            <a:chExt cx="6324600" cy="1288495"/>
          </a:xfrm>
        </p:grpSpPr>
        <p:sp>
          <p:nvSpPr>
            <p:cNvPr id="8" name="Line 8"/>
            <p:cNvSpPr>
              <a:spLocks noChangeShapeType="1"/>
            </p:cNvSpPr>
            <p:nvPr/>
          </p:nvSpPr>
          <p:spPr bwMode="auto">
            <a:xfrm flipV="1">
              <a:off x="1295400" y="3438525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066800" y="3590925"/>
              <a:ext cx="600232" cy="369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1800" dirty="0" err="1">
                  <a:latin typeface="Courier New" pitchFamily="-96" charset="0"/>
                </a:rPr>
                <a:t>pgh</a:t>
              </a:r>
              <a:endParaRPr lang="en-US" sz="1800" dirty="0">
                <a:latin typeface="Courier New" pitchFamily="-96" charset="0"/>
              </a:endParaRPr>
            </a:p>
          </p:txBody>
        </p:sp>
        <p:grpSp>
          <p:nvGrpSpPr>
            <p:cNvPr id="10" name="Group 19"/>
            <p:cNvGrpSpPr>
              <a:grpSpLocks/>
            </p:cNvGrpSpPr>
            <p:nvPr/>
          </p:nvGrpSpPr>
          <p:grpSpPr bwMode="auto">
            <a:xfrm>
              <a:off x="1295400" y="2676525"/>
              <a:ext cx="1524000" cy="762000"/>
              <a:chOff x="816" y="2640"/>
              <a:chExt cx="960" cy="480"/>
            </a:xfrm>
          </p:grpSpPr>
          <p:sp>
            <p:nvSpPr>
              <p:cNvPr id="33" name="Rectangle 20"/>
              <p:cNvSpPr>
                <a:spLocks noChangeArrowheads="1"/>
              </p:cNvSpPr>
              <p:nvPr/>
            </p:nvSpPr>
            <p:spPr bwMode="auto">
              <a:xfrm>
                <a:off x="816" y="2640"/>
                <a:ext cx="192" cy="480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1</a:t>
                </a:r>
              </a:p>
            </p:txBody>
          </p:sp>
          <p:sp>
            <p:nvSpPr>
              <p:cNvPr id="34" name="Rectangle 21"/>
              <p:cNvSpPr>
                <a:spLocks noChangeArrowheads="1"/>
              </p:cNvSpPr>
              <p:nvPr/>
            </p:nvSpPr>
            <p:spPr bwMode="auto">
              <a:xfrm>
                <a:off x="1008" y="2640"/>
                <a:ext cx="192" cy="480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5</a:t>
                </a:r>
              </a:p>
            </p:txBody>
          </p:sp>
          <p:sp>
            <p:nvSpPr>
              <p:cNvPr id="35" name="Rectangle 22"/>
              <p:cNvSpPr>
                <a:spLocks noChangeArrowheads="1"/>
              </p:cNvSpPr>
              <p:nvPr/>
            </p:nvSpPr>
            <p:spPr bwMode="auto">
              <a:xfrm>
                <a:off x="1200" y="2640"/>
                <a:ext cx="192" cy="480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2</a:t>
                </a:r>
              </a:p>
            </p:txBody>
          </p:sp>
          <p:sp>
            <p:nvSpPr>
              <p:cNvPr id="36" name="Rectangle 23"/>
              <p:cNvSpPr>
                <a:spLocks noChangeArrowheads="1"/>
              </p:cNvSpPr>
              <p:nvPr/>
            </p:nvSpPr>
            <p:spPr bwMode="auto">
              <a:xfrm>
                <a:off x="1392" y="2640"/>
                <a:ext cx="192" cy="480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0</a:t>
                </a:r>
              </a:p>
            </p:txBody>
          </p:sp>
          <p:sp>
            <p:nvSpPr>
              <p:cNvPr id="37" name="Rectangle 24"/>
              <p:cNvSpPr>
                <a:spLocks noChangeArrowheads="1"/>
              </p:cNvSpPr>
              <p:nvPr/>
            </p:nvSpPr>
            <p:spPr bwMode="auto">
              <a:xfrm>
                <a:off x="1584" y="2640"/>
                <a:ext cx="192" cy="480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6</a:t>
                </a:r>
              </a:p>
            </p:txBody>
          </p:sp>
        </p:grpSp>
        <p:grpSp>
          <p:nvGrpSpPr>
            <p:cNvPr id="11" name="Group 25"/>
            <p:cNvGrpSpPr>
              <a:grpSpLocks/>
            </p:cNvGrpSpPr>
            <p:nvPr/>
          </p:nvGrpSpPr>
          <p:grpSpPr bwMode="auto">
            <a:xfrm>
              <a:off x="2819400" y="2676525"/>
              <a:ext cx="1524000" cy="762000"/>
              <a:chOff x="816" y="2640"/>
              <a:chExt cx="960" cy="480"/>
            </a:xfrm>
          </p:grpSpPr>
          <p:sp>
            <p:nvSpPr>
              <p:cNvPr id="28" name="Rectangle 26"/>
              <p:cNvSpPr>
                <a:spLocks noChangeArrowheads="1"/>
              </p:cNvSpPr>
              <p:nvPr/>
            </p:nvSpPr>
            <p:spPr bwMode="auto">
              <a:xfrm>
                <a:off x="816" y="2640"/>
                <a:ext cx="192" cy="48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1</a:t>
                </a:r>
              </a:p>
            </p:txBody>
          </p:sp>
          <p:sp>
            <p:nvSpPr>
              <p:cNvPr id="29" name="Rectangle 27"/>
              <p:cNvSpPr>
                <a:spLocks noChangeArrowheads="1"/>
              </p:cNvSpPr>
              <p:nvPr/>
            </p:nvSpPr>
            <p:spPr bwMode="auto">
              <a:xfrm>
                <a:off x="1008" y="2640"/>
                <a:ext cx="192" cy="48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5</a:t>
                </a:r>
              </a:p>
            </p:txBody>
          </p:sp>
          <p:sp>
            <p:nvSpPr>
              <p:cNvPr id="30" name="Rectangle 28"/>
              <p:cNvSpPr>
                <a:spLocks noChangeArrowheads="1"/>
              </p:cNvSpPr>
              <p:nvPr/>
            </p:nvSpPr>
            <p:spPr bwMode="auto">
              <a:xfrm>
                <a:off x="1200" y="2640"/>
                <a:ext cx="192" cy="48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2</a:t>
                </a:r>
              </a:p>
            </p:txBody>
          </p:sp>
          <p:sp>
            <p:nvSpPr>
              <p:cNvPr id="31" name="Rectangle 29"/>
              <p:cNvSpPr>
                <a:spLocks noChangeArrowheads="1"/>
              </p:cNvSpPr>
              <p:nvPr/>
            </p:nvSpPr>
            <p:spPr bwMode="auto">
              <a:xfrm>
                <a:off x="1392" y="2640"/>
                <a:ext cx="192" cy="48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1</a:t>
                </a:r>
              </a:p>
            </p:txBody>
          </p:sp>
          <p:sp>
            <p:nvSpPr>
              <p:cNvPr id="32" name="Rectangle 30"/>
              <p:cNvSpPr>
                <a:spLocks noChangeArrowheads="1"/>
              </p:cNvSpPr>
              <p:nvPr/>
            </p:nvSpPr>
            <p:spPr bwMode="auto">
              <a:xfrm>
                <a:off x="1584" y="2640"/>
                <a:ext cx="192" cy="48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3</a:t>
                </a:r>
              </a:p>
            </p:txBody>
          </p:sp>
        </p:grpSp>
        <p:grpSp>
          <p:nvGrpSpPr>
            <p:cNvPr id="12" name="Group 31"/>
            <p:cNvGrpSpPr>
              <a:grpSpLocks/>
            </p:cNvGrpSpPr>
            <p:nvPr/>
          </p:nvGrpSpPr>
          <p:grpSpPr bwMode="auto">
            <a:xfrm>
              <a:off x="4343400" y="2676525"/>
              <a:ext cx="1524000" cy="762000"/>
              <a:chOff x="816" y="2640"/>
              <a:chExt cx="960" cy="480"/>
            </a:xfrm>
          </p:grpSpPr>
          <p:sp>
            <p:nvSpPr>
              <p:cNvPr id="23" name="Rectangle 32"/>
              <p:cNvSpPr>
                <a:spLocks noChangeArrowheads="1"/>
              </p:cNvSpPr>
              <p:nvPr/>
            </p:nvSpPr>
            <p:spPr bwMode="auto">
              <a:xfrm>
                <a:off x="816" y="2640"/>
                <a:ext cx="192" cy="48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r>
                  <a:rPr lang="en-US" sz="1800">
                    <a:latin typeface="Courier New" pitchFamily="49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4" name="Rectangle 33"/>
              <p:cNvSpPr>
                <a:spLocks noChangeArrowheads="1"/>
              </p:cNvSpPr>
              <p:nvPr/>
            </p:nvSpPr>
            <p:spPr bwMode="auto">
              <a:xfrm>
                <a:off x="1008" y="2640"/>
                <a:ext cx="192" cy="48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r>
                  <a:rPr lang="en-US" sz="1800">
                    <a:latin typeface="Courier New" pitchFamily="49" charset="0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25" name="Rectangle 34"/>
              <p:cNvSpPr>
                <a:spLocks noChangeArrowheads="1"/>
              </p:cNvSpPr>
              <p:nvPr/>
            </p:nvSpPr>
            <p:spPr bwMode="auto">
              <a:xfrm>
                <a:off x="1200" y="2640"/>
                <a:ext cx="192" cy="48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r>
                  <a:rPr lang="en-US" sz="1800">
                    <a:latin typeface="Courier New" pitchFamily="49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6" name="Rectangle 35"/>
              <p:cNvSpPr>
                <a:spLocks noChangeArrowheads="1"/>
              </p:cNvSpPr>
              <p:nvPr/>
            </p:nvSpPr>
            <p:spPr bwMode="auto">
              <a:xfrm>
                <a:off x="1392" y="2640"/>
                <a:ext cx="192" cy="48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r>
                  <a:rPr lang="en-US" sz="1800">
                    <a:latin typeface="Courier New" pitchFamily="49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7" name="Rectangle 36"/>
              <p:cNvSpPr>
                <a:spLocks noChangeArrowheads="1"/>
              </p:cNvSpPr>
              <p:nvPr/>
            </p:nvSpPr>
            <p:spPr bwMode="auto">
              <a:xfrm>
                <a:off x="1584" y="2640"/>
                <a:ext cx="192" cy="48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r>
                  <a:rPr lang="en-US" sz="1800">
                    <a:latin typeface="Courier New" pitchFamily="49" charset="0"/>
                    <a:ea typeface="+mn-ea"/>
                    <a:cs typeface="+mn-cs"/>
                  </a:rPr>
                  <a:t>7</a:t>
                </a:r>
              </a:p>
            </p:txBody>
          </p:sp>
        </p:grpSp>
        <p:grpSp>
          <p:nvGrpSpPr>
            <p:cNvPr id="13" name="Group 37"/>
            <p:cNvGrpSpPr>
              <a:grpSpLocks/>
            </p:cNvGrpSpPr>
            <p:nvPr/>
          </p:nvGrpSpPr>
          <p:grpSpPr bwMode="auto">
            <a:xfrm>
              <a:off x="5867400" y="2671762"/>
              <a:ext cx="1524000" cy="766763"/>
              <a:chOff x="816" y="2637"/>
              <a:chExt cx="960" cy="483"/>
            </a:xfrm>
          </p:grpSpPr>
          <p:sp>
            <p:nvSpPr>
              <p:cNvPr id="18" name="Rectangle 38"/>
              <p:cNvSpPr>
                <a:spLocks noChangeArrowheads="1"/>
              </p:cNvSpPr>
              <p:nvPr/>
            </p:nvSpPr>
            <p:spPr bwMode="auto">
              <a:xfrm>
                <a:off x="816" y="2640"/>
                <a:ext cx="192" cy="480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1</a:t>
                </a:r>
              </a:p>
            </p:txBody>
          </p:sp>
          <p:sp>
            <p:nvSpPr>
              <p:cNvPr id="19" name="Rectangle 39"/>
              <p:cNvSpPr>
                <a:spLocks noChangeArrowheads="1"/>
              </p:cNvSpPr>
              <p:nvPr/>
            </p:nvSpPr>
            <p:spPr bwMode="auto">
              <a:xfrm>
                <a:off x="1008" y="2640"/>
                <a:ext cx="192" cy="480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5</a:t>
                </a:r>
              </a:p>
            </p:txBody>
          </p:sp>
          <p:sp>
            <p:nvSpPr>
              <p:cNvPr id="20" name="Rectangle 40"/>
              <p:cNvSpPr>
                <a:spLocks noChangeArrowheads="1"/>
              </p:cNvSpPr>
              <p:nvPr/>
            </p:nvSpPr>
            <p:spPr bwMode="auto">
              <a:xfrm>
                <a:off x="1200" y="2640"/>
                <a:ext cx="192" cy="480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2</a:t>
                </a:r>
              </a:p>
            </p:txBody>
          </p:sp>
          <p:sp>
            <p:nvSpPr>
              <p:cNvPr id="21" name="Rectangle 41"/>
              <p:cNvSpPr>
                <a:spLocks noChangeArrowheads="1"/>
              </p:cNvSpPr>
              <p:nvPr/>
            </p:nvSpPr>
            <p:spPr bwMode="auto">
              <a:xfrm>
                <a:off x="1392" y="2637"/>
                <a:ext cx="192" cy="480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2</a:t>
                </a:r>
              </a:p>
            </p:txBody>
          </p:sp>
          <p:sp>
            <p:nvSpPr>
              <p:cNvPr id="22" name="Rectangle 42"/>
              <p:cNvSpPr>
                <a:spLocks noChangeArrowheads="1"/>
              </p:cNvSpPr>
              <p:nvPr/>
            </p:nvSpPr>
            <p:spPr bwMode="auto">
              <a:xfrm>
                <a:off x="1584" y="2640"/>
                <a:ext cx="192" cy="480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1</a:t>
                </a:r>
              </a:p>
            </p:txBody>
          </p:sp>
        </p:grpSp>
        <p:sp>
          <p:nvSpPr>
            <p:cNvPr id="14" name="Rectangle 43"/>
            <p:cNvSpPr>
              <a:spLocks noChangeArrowheads="1"/>
            </p:cNvSpPr>
            <p:nvPr/>
          </p:nvSpPr>
          <p:spPr bwMode="auto">
            <a:xfrm>
              <a:off x="1295400" y="2676525"/>
              <a:ext cx="1524000" cy="762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endParaRPr lang="en-US" sz="1800">
                <a:latin typeface="Calibri" pitchFamily="-96" charset="0"/>
              </a:endParaRPr>
            </a:p>
          </p:txBody>
        </p:sp>
        <p:sp>
          <p:nvSpPr>
            <p:cNvPr id="15" name="Rectangle 44"/>
            <p:cNvSpPr>
              <a:spLocks noChangeArrowheads="1"/>
            </p:cNvSpPr>
            <p:nvPr/>
          </p:nvSpPr>
          <p:spPr bwMode="auto">
            <a:xfrm>
              <a:off x="2819400" y="2676525"/>
              <a:ext cx="1524000" cy="762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endParaRPr lang="en-US" sz="1800">
                <a:latin typeface="Calibri" pitchFamily="-96" charset="0"/>
              </a:endParaRPr>
            </a:p>
          </p:txBody>
        </p:sp>
        <p:sp>
          <p:nvSpPr>
            <p:cNvPr id="16" name="Rectangle 45"/>
            <p:cNvSpPr>
              <a:spLocks noChangeArrowheads="1"/>
            </p:cNvSpPr>
            <p:nvPr/>
          </p:nvSpPr>
          <p:spPr bwMode="auto">
            <a:xfrm>
              <a:off x="4343400" y="2676525"/>
              <a:ext cx="1524000" cy="762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endParaRPr lang="en-US" sz="1800">
                <a:latin typeface="Calibri" pitchFamily="-96" charset="0"/>
              </a:endParaRPr>
            </a:p>
          </p:txBody>
        </p:sp>
        <p:sp>
          <p:nvSpPr>
            <p:cNvPr id="17" name="Rectangle 46"/>
            <p:cNvSpPr>
              <a:spLocks noChangeArrowheads="1"/>
            </p:cNvSpPr>
            <p:nvPr/>
          </p:nvSpPr>
          <p:spPr bwMode="auto">
            <a:xfrm>
              <a:off x="5867400" y="2676525"/>
              <a:ext cx="1524000" cy="762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endParaRPr lang="en-US" sz="1800">
                <a:latin typeface="Calibri" pitchFamily="-9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910050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7112000" cy="573088"/>
          </a:xfrm>
        </p:spPr>
        <p:txBody>
          <a:bodyPr/>
          <a:lstStyle/>
          <a:p>
            <a:r>
              <a:rPr lang="en-US">
                <a:latin typeface="Calibri" pitchFamily="-96" charset="0"/>
              </a:rPr>
              <a:t>Multi-Level Array Example</a:t>
            </a:r>
          </a:p>
        </p:txBody>
      </p:sp>
      <p:sp>
        <p:nvSpPr>
          <p:cNvPr id="315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38800" y="1265238"/>
            <a:ext cx="3505200" cy="2286000"/>
          </a:xfrm>
        </p:spPr>
        <p:txBody>
          <a:bodyPr/>
          <a:lstStyle/>
          <a:p>
            <a:r>
              <a:rPr lang="en-US" sz="2000" dirty="0">
                <a:latin typeface="Calibri" pitchFamily="-96" charset="0"/>
              </a:rPr>
              <a:t>Variable </a:t>
            </a:r>
            <a:r>
              <a:rPr lang="en-US" sz="2000" dirty="0" err="1">
                <a:latin typeface="Courier New" pitchFamily="-96" charset="0"/>
              </a:rPr>
              <a:t>univ</a:t>
            </a:r>
            <a:r>
              <a:rPr lang="en-US" sz="2000" dirty="0">
                <a:latin typeface="Calibri" pitchFamily="-96" charset="0"/>
              </a:rPr>
              <a:t> denotes array of 3 elements</a:t>
            </a:r>
          </a:p>
          <a:p>
            <a:r>
              <a:rPr lang="en-US" sz="2000" dirty="0">
                <a:latin typeface="Calibri" pitchFamily="-96" charset="0"/>
              </a:rPr>
              <a:t>Each element is a pointer</a:t>
            </a:r>
          </a:p>
          <a:p>
            <a:pPr lvl="1"/>
            <a:r>
              <a:rPr lang="en-US" dirty="0">
                <a:latin typeface="Calibri" pitchFamily="-96" charset="0"/>
              </a:rPr>
              <a:t>8 bytes</a:t>
            </a:r>
          </a:p>
          <a:p>
            <a:r>
              <a:rPr lang="en-US" sz="2000" dirty="0">
                <a:latin typeface="Calibri" pitchFamily="-96" charset="0"/>
              </a:rPr>
              <a:t>Each pointer points to array of </a:t>
            </a:r>
            <a:r>
              <a:rPr lang="en-US" sz="2000" dirty="0" err="1">
                <a:latin typeface="Courier New" pitchFamily="-96" charset="0"/>
              </a:rPr>
              <a:t>int</a:t>
            </a:r>
            <a:r>
              <a:rPr lang="en-US" sz="2000" dirty="0" err="1">
                <a:latin typeface="Calibri" pitchFamily="-96" charset="0"/>
              </a:rPr>
              <a:t>’s</a:t>
            </a:r>
            <a:r>
              <a:rPr lang="en-US" sz="2000" dirty="0">
                <a:latin typeface="Calibri" pitchFamily="-96" charset="0"/>
              </a:rPr>
              <a:t> </a:t>
            </a:r>
          </a:p>
        </p:txBody>
      </p:sp>
      <p:sp>
        <p:nvSpPr>
          <p:cNvPr id="95235" name="Rectangle 4"/>
          <p:cNvSpPr>
            <a:spLocks noChangeArrowheads="1"/>
          </p:cNvSpPr>
          <p:nvPr/>
        </p:nvSpPr>
        <p:spPr bwMode="auto">
          <a:xfrm>
            <a:off x="228600" y="1371600"/>
            <a:ext cx="5257800" cy="92551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>
                <a:latin typeface="Courier New" pitchFamily="-96" charset="0"/>
              </a:rPr>
              <a:t>zip_dig cmu = { 1, 5, 2, 1, 3 };</a:t>
            </a:r>
          </a:p>
          <a:p>
            <a:pPr eaLnBrk="0" hangingPunct="0"/>
            <a:r>
              <a:rPr lang="en-US" sz="1800">
                <a:latin typeface="Courier New" pitchFamily="-96" charset="0"/>
              </a:rPr>
              <a:t>zip_dig mit = { 0, 2, 1, 3, 9 };</a:t>
            </a:r>
          </a:p>
          <a:p>
            <a:pPr eaLnBrk="0" hangingPunct="0"/>
            <a:r>
              <a:rPr lang="en-US" sz="1800">
                <a:latin typeface="Courier New" pitchFamily="-96" charset="0"/>
              </a:rPr>
              <a:t>zip_dig ucb = { 9, 4, 7, 2, 0 };</a:t>
            </a:r>
          </a:p>
        </p:txBody>
      </p:sp>
      <p:sp>
        <p:nvSpPr>
          <p:cNvPr id="95236" name="Rectangle 5"/>
          <p:cNvSpPr>
            <a:spLocks noChangeArrowheads="1"/>
          </p:cNvSpPr>
          <p:nvPr/>
        </p:nvSpPr>
        <p:spPr bwMode="auto">
          <a:xfrm>
            <a:off x="228600" y="2438400"/>
            <a:ext cx="5257800" cy="65087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>
                <a:latin typeface="Courier New" pitchFamily="-96" charset="0"/>
              </a:rPr>
              <a:t>#define UCOUNT 3</a:t>
            </a:r>
          </a:p>
          <a:p>
            <a:pPr eaLnBrk="0" hangingPunct="0"/>
            <a:r>
              <a:rPr lang="en-US" sz="1800">
                <a:latin typeface="Courier New" pitchFamily="-96" charset="0"/>
              </a:rPr>
              <a:t>int *univ[UCOUNT] = {mit, cmu, ucb};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74650" y="3733800"/>
            <a:ext cx="8616950" cy="2663825"/>
            <a:chOff x="374650" y="3733800"/>
            <a:chExt cx="8616950" cy="2663825"/>
          </a:xfrm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374650" y="4191000"/>
              <a:ext cx="1987549" cy="1530350"/>
              <a:chOff x="188" y="2112"/>
              <a:chExt cx="1252" cy="964"/>
            </a:xfrm>
          </p:grpSpPr>
          <p:sp>
            <p:nvSpPr>
              <p:cNvPr id="95301" name="Rectangle 8"/>
              <p:cNvSpPr>
                <a:spLocks noChangeArrowheads="1"/>
              </p:cNvSpPr>
              <p:nvPr/>
            </p:nvSpPr>
            <p:spPr bwMode="auto">
              <a:xfrm>
                <a:off x="864" y="2352"/>
                <a:ext cx="576" cy="240"/>
              </a:xfrm>
              <a:prstGeom prst="rect">
                <a:avLst/>
              </a:prstGeom>
              <a:solidFill>
                <a:srgbClr val="F1C7C7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36</a:t>
                </a:r>
              </a:p>
            </p:txBody>
          </p:sp>
          <p:sp>
            <p:nvSpPr>
              <p:cNvPr id="95302" name="Line 9"/>
              <p:cNvSpPr>
                <a:spLocks noChangeShapeType="1"/>
              </p:cNvSpPr>
              <p:nvPr/>
            </p:nvSpPr>
            <p:spPr bwMode="auto">
              <a:xfrm flipV="1">
                <a:off x="576" y="2485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303" name="Text Box 10"/>
              <p:cNvSpPr txBox="1">
                <a:spLocks noChangeArrowheads="1"/>
              </p:cNvSpPr>
              <p:nvPr/>
            </p:nvSpPr>
            <p:spPr bwMode="auto">
              <a:xfrm>
                <a:off x="201" y="2363"/>
                <a:ext cx="375" cy="23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r" eaLnBrk="0" hangingPunct="0"/>
                <a:r>
                  <a:rPr lang="en-US" sz="1800">
                    <a:latin typeface="Courier New" pitchFamily="-96" charset="0"/>
                  </a:rPr>
                  <a:t>160</a:t>
                </a:r>
              </a:p>
            </p:txBody>
          </p:sp>
          <p:sp>
            <p:nvSpPr>
              <p:cNvPr id="95304" name="Rectangle 11"/>
              <p:cNvSpPr>
                <a:spLocks noChangeArrowheads="1"/>
              </p:cNvSpPr>
              <p:nvPr/>
            </p:nvSpPr>
            <p:spPr bwMode="auto">
              <a:xfrm>
                <a:off x="864" y="2592"/>
                <a:ext cx="576" cy="240"/>
              </a:xfrm>
              <a:prstGeom prst="rect">
                <a:avLst/>
              </a:prstGeom>
              <a:solidFill>
                <a:srgbClr val="F1C7C7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16</a:t>
                </a:r>
              </a:p>
            </p:txBody>
          </p:sp>
          <p:sp>
            <p:nvSpPr>
              <p:cNvPr id="95305" name="Rectangle 12"/>
              <p:cNvSpPr>
                <a:spLocks noChangeArrowheads="1"/>
              </p:cNvSpPr>
              <p:nvPr/>
            </p:nvSpPr>
            <p:spPr bwMode="auto">
              <a:xfrm>
                <a:off x="864" y="2832"/>
                <a:ext cx="576" cy="240"/>
              </a:xfrm>
              <a:prstGeom prst="rect">
                <a:avLst/>
              </a:prstGeom>
              <a:solidFill>
                <a:srgbClr val="F1C7C7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56</a:t>
                </a:r>
              </a:p>
            </p:txBody>
          </p:sp>
          <p:sp>
            <p:nvSpPr>
              <p:cNvPr id="95306" name="Line 13"/>
              <p:cNvSpPr>
                <a:spLocks noChangeShapeType="1"/>
              </p:cNvSpPr>
              <p:nvPr/>
            </p:nvSpPr>
            <p:spPr bwMode="auto">
              <a:xfrm flipV="1">
                <a:off x="576" y="2725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307" name="Line 14"/>
              <p:cNvSpPr>
                <a:spLocks noChangeShapeType="1"/>
              </p:cNvSpPr>
              <p:nvPr/>
            </p:nvSpPr>
            <p:spPr bwMode="auto">
              <a:xfrm flipV="1">
                <a:off x="576" y="2965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308" name="Text Box 15"/>
              <p:cNvSpPr txBox="1">
                <a:spLocks noChangeArrowheads="1"/>
              </p:cNvSpPr>
              <p:nvPr/>
            </p:nvSpPr>
            <p:spPr bwMode="auto">
              <a:xfrm>
                <a:off x="191" y="2612"/>
                <a:ext cx="375" cy="23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r" eaLnBrk="0" hangingPunct="0"/>
                <a:r>
                  <a:rPr lang="en-US" sz="1800" dirty="0">
                    <a:latin typeface="Courier New" pitchFamily="-96" charset="0"/>
                  </a:rPr>
                  <a:t>168</a:t>
                </a:r>
              </a:p>
            </p:txBody>
          </p:sp>
          <p:sp>
            <p:nvSpPr>
              <p:cNvPr id="95309" name="Text Box 16"/>
              <p:cNvSpPr txBox="1">
                <a:spLocks noChangeArrowheads="1"/>
              </p:cNvSpPr>
              <p:nvPr/>
            </p:nvSpPr>
            <p:spPr bwMode="auto">
              <a:xfrm>
                <a:off x="188" y="2843"/>
                <a:ext cx="378" cy="23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r" eaLnBrk="0" hangingPunct="0"/>
                <a:r>
                  <a:rPr lang="en-US" sz="1800" dirty="0">
                    <a:latin typeface="Courier New" pitchFamily="-96" charset="0"/>
                  </a:rPr>
                  <a:t>176</a:t>
                </a:r>
              </a:p>
            </p:txBody>
          </p:sp>
          <p:sp>
            <p:nvSpPr>
              <p:cNvPr id="95310" name="Text Box 17"/>
              <p:cNvSpPr txBox="1">
                <a:spLocks noChangeArrowheads="1"/>
              </p:cNvSpPr>
              <p:nvPr/>
            </p:nvSpPr>
            <p:spPr bwMode="auto">
              <a:xfrm>
                <a:off x="864" y="2112"/>
                <a:ext cx="462" cy="23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r" eaLnBrk="0" hangingPunct="0"/>
                <a:r>
                  <a:rPr lang="en-US" sz="1800">
                    <a:latin typeface="Courier New" pitchFamily="-96" charset="0"/>
                  </a:rPr>
                  <a:t>univ</a:t>
                </a:r>
              </a:p>
            </p:txBody>
          </p:sp>
          <p:sp>
            <p:nvSpPr>
              <p:cNvPr id="95311" name="Oval 18"/>
              <p:cNvSpPr>
                <a:spLocks noChangeArrowheads="1"/>
              </p:cNvSpPr>
              <p:nvPr/>
            </p:nvSpPr>
            <p:spPr bwMode="auto">
              <a:xfrm>
                <a:off x="1200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endParaRPr lang="en-US" sz="1800">
                  <a:latin typeface="Calibri" pitchFamily="-96" charset="0"/>
                </a:endParaRPr>
              </a:p>
            </p:txBody>
          </p:sp>
          <p:sp>
            <p:nvSpPr>
              <p:cNvPr id="95312" name="Oval 19"/>
              <p:cNvSpPr>
                <a:spLocks noChangeArrowheads="1"/>
              </p:cNvSpPr>
              <p:nvPr/>
            </p:nvSpPr>
            <p:spPr bwMode="auto">
              <a:xfrm>
                <a:off x="1200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endParaRPr lang="en-US" sz="1800">
                  <a:latin typeface="Calibri" pitchFamily="-96" charset="0"/>
                </a:endParaRPr>
              </a:p>
            </p:txBody>
          </p:sp>
          <p:sp>
            <p:nvSpPr>
              <p:cNvPr id="95313" name="Oval 20"/>
              <p:cNvSpPr>
                <a:spLocks noChangeArrowheads="1"/>
              </p:cNvSpPr>
              <p:nvPr/>
            </p:nvSpPr>
            <p:spPr bwMode="auto">
              <a:xfrm>
                <a:off x="1200" y="29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endParaRPr lang="en-US" sz="1800">
                  <a:latin typeface="Calibri" pitchFamily="-96" charset="0"/>
                </a:endParaRPr>
              </a:p>
            </p:txBody>
          </p:sp>
        </p:grpSp>
        <p:sp>
          <p:nvSpPr>
            <p:cNvPr id="315413" name="Text Box 21"/>
            <p:cNvSpPr txBox="1">
              <a:spLocks noChangeArrowheads="1"/>
            </p:cNvSpPr>
            <p:nvPr/>
          </p:nvSpPr>
          <p:spPr bwMode="auto">
            <a:xfrm>
              <a:off x="3122613" y="3733800"/>
              <a:ext cx="595312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800">
                  <a:latin typeface="Courier New" pitchFamily="-96" charset="0"/>
                </a:rPr>
                <a:t>cmu</a:t>
              </a:r>
            </a:p>
          </p:txBody>
        </p:sp>
        <p:sp>
          <p:nvSpPr>
            <p:cNvPr id="315433" name="Text Box 41"/>
            <p:cNvSpPr txBox="1">
              <a:spLocks noChangeArrowheads="1"/>
            </p:cNvSpPr>
            <p:nvPr/>
          </p:nvSpPr>
          <p:spPr bwMode="auto">
            <a:xfrm>
              <a:off x="3198813" y="4572000"/>
              <a:ext cx="595312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800">
                  <a:latin typeface="Courier New" pitchFamily="-96" charset="0"/>
                </a:rPr>
                <a:t>mit</a:t>
              </a:r>
            </a:p>
          </p:txBody>
        </p:sp>
        <p:sp>
          <p:nvSpPr>
            <p:cNvPr id="315453" name="Text Box 61"/>
            <p:cNvSpPr txBox="1">
              <a:spLocks noChangeArrowheads="1"/>
            </p:cNvSpPr>
            <p:nvPr/>
          </p:nvSpPr>
          <p:spPr bwMode="auto">
            <a:xfrm>
              <a:off x="3122613" y="5272088"/>
              <a:ext cx="595312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800">
                  <a:latin typeface="Courier New" pitchFamily="-96" charset="0"/>
                </a:rPr>
                <a:t>ucb</a:t>
              </a:r>
            </a:p>
          </p:txBody>
        </p:sp>
        <p:grpSp>
          <p:nvGrpSpPr>
            <p:cNvPr id="84" name="Group 24"/>
            <p:cNvGrpSpPr>
              <a:grpSpLocks/>
            </p:cNvGrpSpPr>
            <p:nvPr/>
          </p:nvGrpSpPr>
          <p:grpSpPr bwMode="auto">
            <a:xfrm>
              <a:off x="3554413" y="4006850"/>
              <a:ext cx="5435600" cy="750888"/>
              <a:chOff x="2412765" y="3429000"/>
              <a:chExt cx="5435835" cy="771209"/>
            </a:xfrm>
          </p:grpSpPr>
          <p:grpSp>
            <p:nvGrpSpPr>
              <p:cNvPr id="95283" name="Group 25"/>
              <p:cNvGrpSpPr>
                <a:grpSpLocks/>
              </p:cNvGrpSpPr>
              <p:nvPr/>
            </p:nvGrpSpPr>
            <p:grpSpPr bwMode="auto">
              <a:xfrm>
                <a:off x="2743200" y="3429000"/>
                <a:ext cx="4572000" cy="228600"/>
                <a:chOff x="1008" y="1968"/>
                <a:chExt cx="2880" cy="144"/>
              </a:xfrm>
            </p:grpSpPr>
            <p:sp>
              <p:nvSpPr>
                <p:cNvPr id="98" name="Rectangle 26"/>
                <p:cNvSpPr>
                  <a:spLocks noChangeArrowheads="1"/>
                </p:cNvSpPr>
                <p:nvPr/>
              </p:nvSpPr>
              <p:spPr bwMode="auto">
                <a:xfrm>
                  <a:off x="1008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99" name="Rectangle 27"/>
                <p:cNvSpPr>
                  <a:spLocks noChangeArrowheads="1"/>
                </p:cNvSpPr>
                <p:nvPr/>
              </p:nvSpPr>
              <p:spPr bwMode="auto">
                <a:xfrm>
                  <a:off x="1584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5</a:t>
                  </a:r>
                </a:p>
              </p:txBody>
            </p:sp>
            <p:sp>
              <p:nvSpPr>
                <p:cNvPr id="100" name="Rectangle 28"/>
                <p:cNvSpPr>
                  <a:spLocks noChangeArrowheads="1"/>
                </p:cNvSpPr>
                <p:nvPr/>
              </p:nvSpPr>
              <p:spPr bwMode="auto">
                <a:xfrm>
                  <a:off x="2160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101" name="Rectangle 29"/>
                <p:cNvSpPr>
                  <a:spLocks noChangeArrowheads="1"/>
                </p:cNvSpPr>
                <p:nvPr/>
              </p:nvSpPr>
              <p:spPr bwMode="auto">
                <a:xfrm>
                  <a:off x="2736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02" name="Rectangle 30"/>
                <p:cNvSpPr>
                  <a:spLocks noChangeArrowheads="1"/>
                </p:cNvSpPr>
                <p:nvPr/>
              </p:nvSpPr>
              <p:spPr bwMode="auto">
                <a:xfrm>
                  <a:off x="3312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3</a:t>
                  </a:r>
                </a:p>
              </p:txBody>
            </p:sp>
          </p:grpSp>
          <p:sp>
            <p:nvSpPr>
              <p:cNvPr id="95284" name="Text Box 32"/>
              <p:cNvSpPr txBox="1">
                <a:spLocks noChangeArrowheads="1"/>
              </p:cNvSpPr>
              <p:nvPr/>
            </p:nvSpPr>
            <p:spPr bwMode="auto">
              <a:xfrm>
                <a:off x="2412765" y="3810528"/>
                <a:ext cx="668366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16</a:t>
                </a:r>
              </a:p>
            </p:txBody>
          </p:sp>
          <p:sp>
            <p:nvSpPr>
              <p:cNvPr id="95285" name="Text Box 33"/>
              <p:cNvSpPr txBox="1">
                <a:spLocks noChangeArrowheads="1"/>
              </p:cNvSpPr>
              <p:nvPr/>
            </p:nvSpPr>
            <p:spPr bwMode="auto">
              <a:xfrm>
                <a:off x="3182736" y="3823572"/>
                <a:ext cx="990643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20</a:t>
                </a:r>
              </a:p>
            </p:txBody>
          </p:sp>
          <p:sp>
            <p:nvSpPr>
              <p:cNvPr id="95286" name="Line 34"/>
              <p:cNvSpPr>
                <a:spLocks noChangeShapeType="1"/>
              </p:cNvSpPr>
              <p:nvPr/>
            </p:nvSpPr>
            <p:spPr bwMode="auto">
              <a:xfrm flipV="1">
                <a:off x="2743200" y="3643313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87" name="Line 35"/>
              <p:cNvSpPr>
                <a:spLocks noChangeShapeType="1"/>
              </p:cNvSpPr>
              <p:nvPr/>
            </p:nvSpPr>
            <p:spPr bwMode="auto">
              <a:xfrm flipV="1">
                <a:off x="36576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88" name="Text Box 36"/>
              <p:cNvSpPr txBox="1">
                <a:spLocks noChangeArrowheads="1"/>
              </p:cNvSpPr>
              <p:nvPr/>
            </p:nvSpPr>
            <p:spPr bwMode="auto">
              <a:xfrm>
                <a:off x="4097175" y="3823572"/>
                <a:ext cx="990643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24</a:t>
                </a:r>
              </a:p>
            </p:txBody>
          </p:sp>
          <p:sp>
            <p:nvSpPr>
              <p:cNvPr id="95289" name="Line 37"/>
              <p:cNvSpPr>
                <a:spLocks noChangeShapeType="1"/>
              </p:cNvSpPr>
              <p:nvPr/>
            </p:nvSpPr>
            <p:spPr bwMode="auto">
              <a:xfrm flipV="1">
                <a:off x="45720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90" name="Text Box 38"/>
              <p:cNvSpPr txBox="1">
                <a:spLocks noChangeArrowheads="1"/>
              </p:cNvSpPr>
              <p:nvPr/>
            </p:nvSpPr>
            <p:spPr bwMode="auto">
              <a:xfrm>
                <a:off x="5029078" y="3823572"/>
                <a:ext cx="990643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28</a:t>
                </a:r>
              </a:p>
            </p:txBody>
          </p:sp>
          <p:sp>
            <p:nvSpPr>
              <p:cNvPr id="95291" name="Line 39"/>
              <p:cNvSpPr>
                <a:spLocks noChangeShapeType="1"/>
              </p:cNvSpPr>
              <p:nvPr/>
            </p:nvSpPr>
            <p:spPr bwMode="auto">
              <a:xfrm flipV="1">
                <a:off x="54864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92" name="Text Box 40"/>
              <p:cNvSpPr txBox="1">
                <a:spLocks noChangeArrowheads="1"/>
              </p:cNvSpPr>
              <p:nvPr/>
            </p:nvSpPr>
            <p:spPr bwMode="auto">
              <a:xfrm>
                <a:off x="5943518" y="3823572"/>
                <a:ext cx="990642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32</a:t>
                </a:r>
              </a:p>
            </p:txBody>
          </p:sp>
          <p:sp>
            <p:nvSpPr>
              <p:cNvPr id="95293" name="Line 41"/>
              <p:cNvSpPr>
                <a:spLocks noChangeShapeType="1"/>
              </p:cNvSpPr>
              <p:nvPr/>
            </p:nvSpPr>
            <p:spPr bwMode="auto">
              <a:xfrm flipV="1">
                <a:off x="64008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94" name="Text Box 42"/>
              <p:cNvSpPr txBox="1">
                <a:spLocks noChangeArrowheads="1"/>
              </p:cNvSpPr>
              <p:nvPr/>
            </p:nvSpPr>
            <p:spPr bwMode="auto">
              <a:xfrm>
                <a:off x="6857957" y="3823572"/>
                <a:ext cx="990643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36</a:t>
                </a:r>
              </a:p>
            </p:txBody>
          </p:sp>
          <p:sp>
            <p:nvSpPr>
              <p:cNvPr id="95295" name="Line 43"/>
              <p:cNvSpPr>
                <a:spLocks noChangeShapeType="1"/>
              </p:cNvSpPr>
              <p:nvPr/>
            </p:nvSpPr>
            <p:spPr bwMode="auto">
              <a:xfrm flipV="1">
                <a:off x="73152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3" name="Group 24"/>
            <p:cNvGrpSpPr>
              <a:grpSpLocks/>
            </p:cNvGrpSpPr>
            <p:nvPr/>
          </p:nvGrpSpPr>
          <p:grpSpPr bwMode="auto">
            <a:xfrm>
              <a:off x="3556000" y="4808538"/>
              <a:ext cx="5435600" cy="750887"/>
              <a:chOff x="2412765" y="3429000"/>
              <a:chExt cx="5435835" cy="771209"/>
            </a:xfrm>
          </p:grpSpPr>
          <p:grpSp>
            <p:nvGrpSpPr>
              <p:cNvPr id="95265" name="Group 25"/>
              <p:cNvGrpSpPr>
                <a:grpSpLocks/>
              </p:cNvGrpSpPr>
              <p:nvPr/>
            </p:nvGrpSpPr>
            <p:grpSpPr bwMode="auto">
              <a:xfrm>
                <a:off x="2743200" y="3429000"/>
                <a:ext cx="4572000" cy="228600"/>
                <a:chOff x="1008" y="1968"/>
                <a:chExt cx="2880" cy="144"/>
              </a:xfrm>
            </p:grpSpPr>
            <p:sp>
              <p:nvSpPr>
                <p:cNvPr id="117" name="Rectangle 26"/>
                <p:cNvSpPr>
                  <a:spLocks noChangeArrowheads="1"/>
                </p:cNvSpPr>
                <p:nvPr/>
              </p:nvSpPr>
              <p:spPr bwMode="auto">
                <a:xfrm>
                  <a:off x="1008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0</a:t>
                  </a:r>
                </a:p>
              </p:txBody>
            </p:sp>
            <p:sp>
              <p:nvSpPr>
                <p:cNvPr id="118" name="Rectangle 27"/>
                <p:cNvSpPr>
                  <a:spLocks noChangeArrowheads="1"/>
                </p:cNvSpPr>
                <p:nvPr/>
              </p:nvSpPr>
              <p:spPr bwMode="auto">
                <a:xfrm>
                  <a:off x="1584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119" name="Rectangle 28"/>
                <p:cNvSpPr>
                  <a:spLocks noChangeArrowheads="1"/>
                </p:cNvSpPr>
                <p:nvPr/>
              </p:nvSpPr>
              <p:spPr bwMode="auto">
                <a:xfrm>
                  <a:off x="2160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20" name="Rectangle 29"/>
                <p:cNvSpPr>
                  <a:spLocks noChangeArrowheads="1"/>
                </p:cNvSpPr>
                <p:nvPr/>
              </p:nvSpPr>
              <p:spPr bwMode="auto">
                <a:xfrm>
                  <a:off x="2736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21" name="Rectangle 30"/>
                <p:cNvSpPr>
                  <a:spLocks noChangeArrowheads="1"/>
                </p:cNvSpPr>
                <p:nvPr/>
              </p:nvSpPr>
              <p:spPr bwMode="auto">
                <a:xfrm>
                  <a:off x="3312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9</a:t>
                  </a:r>
                </a:p>
              </p:txBody>
            </p:sp>
          </p:grpSp>
          <p:sp>
            <p:nvSpPr>
              <p:cNvPr id="95266" name="Text Box 32"/>
              <p:cNvSpPr txBox="1">
                <a:spLocks noChangeArrowheads="1"/>
              </p:cNvSpPr>
              <p:nvPr/>
            </p:nvSpPr>
            <p:spPr bwMode="auto">
              <a:xfrm>
                <a:off x="2412765" y="3810528"/>
                <a:ext cx="668366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36</a:t>
                </a:r>
              </a:p>
            </p:txBody>
          </p:sp>
          <p:sp>
            <p:nvSpPr>
              <p:cNvPr id="95267" name="Text Box 33"/>
              <p:cNvSpPr txBox="1">
                <a:spLocks noChangeArrowheads="1"/>
              </p:cNvSpPr>
              <p:nvPr/>
            </p:nvSpPr>
            <p:spPr bwMode="auto">
              <a:xfrm>
                <a:off x="3182736" y="3823572"/>
                <a:ext cx="990643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40</a:t>
                </a:r>
              </a:p>
            </p:txBody>
          </p:sp>
          <p:sp>
            <p:nvSpPr>
              <p:cNvPr id="95268" name="Line 34"/>
              <p:cNvSpPr>
                <a:spLocks noChangeShapeType="1"/>
              </p:cNvSpPr>
              <p:nvPr/>
            </p:nvSpPr>
            <p:spPr bwMode="auto">
              <a:xfrm flipV="1">
                <a:off x="2743200" y="3643313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69" name="Line 35"/>
              <p:cNvSpPr>
                <a:spLocks noChangeShapeType="1"/>
              </p:cNvSpPr>
              <p:nvPr/>
            </p:nvSpPr>
            <p:spPr bwMode="auto">
              <a:xfrm flipV="1">
                <a:off x="36576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70" name="Text Box 36"/>
              <p:cNvSpPr txBox="1">
                <a:spLocks noChangeArrowheads="1"/>
              </p:cNvSpPr>
              <p:nvPr/>
            </p:nvSpPr>
            <p:spPr bwMode="auto">
              <a:xfrm>
                <a:off x="4097175" y="3823572"/>
                <a:ext cx="990643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44</a:t>
                </a:r>
              </a:p>
            </p:txBody>
          </p:sp>
          <p:sp>
            <p:nvSpPr>
              <p:cNvPr id="95271" name="Line 37"/>
              <p:cNvSpPr>
                <a:spLocks noChangeShapeType="1"/>
              </p:cNvSpPr>
              <p:nvPr/>
            </p:nvSpPr>
            <p:spPr bwMode="auto">
              <a:xfrm flipV="1">
                <a:off x="45720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72" name="Text Box 38"/>
              <p:cNvSpPr txBox="1">
                <a:spLocks noChangeArrowheads="1"/>
              </p:cNvSpPr>
              <p:nvPr/>
            </p:nvSpPr>
            <p:spPr bwMode="auto">
              <a:xfrm>
                <a:off x="5029078" y="3823572"/>
                <a:ext cx="990643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48</a:t>
                </a:r>
              </a:p>
            </p:txBody>
          </p:sp>
          <p:sp>
            <p:nvSpPr>
              <p:cNvPr id="95273" name="Line 39"/>
              <p:cNvSpPr>
                <a:spLocks noChangeShapeType="1"/>
              </p:cNvSpPr>
              <p:nvPr/>
            </p:nvSpPr>
            <p:spPr bwMode="auto">
              <a:xfrm flipV="1">
                <a:off x="54864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74" name="Text Box 40"/>
              <p:cNvSpPr txBox="1">
                <a:spLocks noChangeArrowheads="1"/>
              </p:cNvSpPr>
              <p:nvPr/>
            </p:nvSpPr>
            <p:spPr bwMode="auto">
              <a:xfrm>
                <a:off x="5943518" y="3823572"/>
                <a:ext cx="990642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52</a:t>
                </a:r>
              </a:p>
            </p:txBody>
          </p:sp>
          <p:sp>
            <p:nvSpPr>
              <p:cNvPr id="95275" name="Line 41"/>
              <p:cNvSpPr>
                <a:spLocks noChangeShapeType="1"/>
              </p:cNvSpPr>
              <p:nvPr/>
            </p:nvSpPr>
            <p:spPr bwMode="auto">
              <a:xfrm flipV="1">
                <a:off x="64008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76" name="Text Box 42"/>
              <p:cNvSpPr txBox="1">
                <a:spLocks noChangeArrowheads="1"/>
              </p:cNvSpPr>
              <p:nvPr/>
            </p:nvSpPr>
            <p:spPr bwMode="auto">
              <a:xfrm>
                <a:off x="6857957" y="3823572"/>
                <a:ext cx="990643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56</a:t>
                </a:r>
              </a:p>
            </p:txBody>
          </p:sp>
          <p:sp>
            <p:nvSpPr>
              <p:cNvPr id="95277" name="Line 43"/>
              <p:cNvSpPr>
                <a:spLocks noChangeShapeType="1"/>
              </p:cNvSpPr>
              <p:nvPr/>
            </p:nvSpPr>
            <p:spPr bwMode="auto">
              <a:xfrm flipV="1">
                <a:off x="73152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22" name="Group 24"/>
            <p:cNvGrpSpPr>
              <a:grpSpLocks/>
            </p:cNvGrpSpPr>
            <p:nvPr/>
          </p:nvGrpSpPr>
          <p:grpSpPr bwMode="auto">
            <a:xfrm>
              <a:off x="3554413" y="5646738"/>
              <a:ext cx="5435600" cy="750887"/>
              <a:chOff x="2412765" y="3429000"/>
              <a:chExt cx="5435835" cy="771209"/>
            </a:xfrm>
          </p:grpSpPr>
          <p:grpSp>
            <p:nvGrpSpPr>
              <p:cNvPr id="95247" name="Group 25"/>
              <p:cNvGrpSpPr>
                <a:grpSpLocks/>
              </p:cNvGrpSpPr>
              <p:nvPr/>
            </p:nvGrpSpPr>
            <p:grpSpPr bwMode="auto">
              <a:xfrm>
                <a:off x="2743200" y="3429000"/>
                <a:ext cx="4572000" cy="228600"/>
                <a:chOff x="1008" y="1968"/>
                <a:chExt cx="2880" cy="144"/>
              </a:xfrm>
            </p:grpSpPr>
            <p:sp>
              <p:nvSpPr>
                <p:cNvPr id="136" name="Rectangle 26"/>
                <p:cNvSpPr>
                  <a:spLocks noChangeArrowheads="1"/>
                </p:cNvSpPr>
                <p:nvPr/>
              </p:nvSpPr>
              <p:spPr bwMode="auto">
                <a:xfrm>
                  <a:off x="1008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9</a:t>
                  </a:r>
                </a:p>
              </p:txBody>
            </p:sp>
            <p:sp>
              <p:nvSpPr>
                <p:cNvPr id="137" name="Rectangle 27"/>
                <p:cNvSpPr>
                  <a:spLocks noChangeArrowheads="1"/>
                </p:cNvSpPr>
                <p:nvPr/>
              </p:nvSpPr>
              <p:spPr bwMode="auto">
                <a:xfrm>
                  <a:off x="1584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4</a:t>
                  </a:r>
                </a:p>
              </p:txBody>
            </p:sp>
            <p:sp>
              <p:nvSpPr>
                <p:cNvPr id="138" name="Rectangle 28"/>
                <p:cNvSpPr>
                  <a:spLocks noChangeArrowheads="1"/>
                </p:cNvSpPr>
                <p:nvPr/>
              </p:nvSpPr>
              <p:spPr bwMode="auto">
                <a:xfrm>
                  <a:off x="2160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7</a:t>
                  </a:r>
                </a:p>
              </p:txBody>
            </p:sp>
            <p:sp>
              <p:nvSpPr>
                <p:cNvPr id="139" name="Rectangle 29"/>
                <p:cNvSpPr>
                  <a:spLocks noChangeArrowheads="1"/>
                </p:cNvSpPr>
                <p:nvPr/>
              </p:nvSpPr>
              <p:spPr bwMode="auto">
                <a:xfrm>
                  <a:off x="2736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140" name="Rectangle 30"/>
                <p:cNvSpPr>
                  <a:spLocks noChangeArrowheads="1"/>
                </p:cNvSpPr>
                <p:nvPr/>
              </p:nvSpPr>
              <p:spPr bwMode="auto">
                <a:xfrm>
                  <a:off x="3312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0</a:t>
                  </a:r>
                </a:p>
              </p:txBody>
            </p:sp>
          </p:grpSp>
          <p:sp>
            <p:nvSpPr>
              <p:cNvPr id="95248" name="Text Box 32"/>
              <p:cNvSpPr txBox="1">
                <a:spLocks noChangeArrowheads="1"/>
              </p:cNvSpPr>
              <p:nvPr/>
            </p:nvSpPr>
            <p:spPr bwMode="auto">
              <a:xfrm>
                <a:off x="2412765" y="3810528"/>
                <a:ext cx="668366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56</a:t>
                </a:r>
              </a:p>
            </p:txBody>
          </p:sp>
          <p:sp>
            <p:nvSpPr>
              <p:cNvPr id="95249" name="Text Box 33"/>
              <p:cNvSpPr txBox="1">
                <a:spLocks noChangeArrowheads="1"/>
              </p:cNvSpPr>
              <p:nvPr/>
            </p:nvSpPr>
            <p:spPr bwMode="auto">
              <a:xfrm>
                <a:off x="3182736" y="3823572"/>
                <a:ext cx="990643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60</a:t>
                </a:r>
              </a:p>
            </p:txBody>
          </p:sp>
          <p:sp>
            <p:nvSpPr>
              <p:cNvPr id="95250" name="Line 34"/>
              <p:cNvSpPr>
                <a:spLocks noChangeShapeType="1"/>
              </p:cNvSpPr>
              <p:nvPr/>
            </p:nvSpPr>
            <p:spPr bwMode="auto">
              <a:xfrm flipV="1">
                <a:off x="2743200" y="3643313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51" name="Line 35"/>
              <p:cNvSpPr>
                <a:spLocks noChangeShapeType="1"/>
              </p:cNvSpPr>
              <p:nvPr/>
            </p:nvSpPr>
            <p:spPr bwMode="auto">
              <a:xfrm flipV="1">
                <a:off x="36576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52" name="Text Box 36"/>
              <p:cNvSpPr txBox="1">
                <a:spLocks noChangeArrowheads="1"/>
              </p:cNvSpPr>
              <p:nvPr/>
            </p:nvSpPr>
            <p:spPr bwMode="auto">
              <a:xfrm>
                <a:off x="4097175" y="3823572"/>
                <a:ext cx="990643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64</a:t>
                </a:r>
              </a:p>
            </p:txBody>
          </p:sp>
          <p:sp>
            <p:nvSpPr>
              <p:cNvPr id="95253" name="Line 37"/>
              <p:cNvSpPr>
                <a:spLocks noChangeShapeType="1"/>
              </p:cNvSpPr>
              <p:nvPr/>
            </p:nvSpPr>
            <p:spPr bwMode="auto">
              <a:xfrm flipV="1">
                <a:off x="45720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54" name="Text Box 38"/>
              <p:cNvSpPr txBox="1">
                <a:spLocks noChangeArrowheads="1"/>
              </p:cNvSpPr>
              <p:nvPr/>
            </p:nvSpPr>
            <p:spPr bwMode="auto">
              <a:xfrm>
                <a:off x="5029078" y="3823572"/>
                <a:ext cx="990643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68</a:t>
                </a:r>
              </a:p>
            </p:txBody>
          </p:sp>
          <p:sp>
            <p:nvSpPr>
              <p:cNvPr id="95255" name="Line 39"/>
              <p:cNvSpPr>
                <a:spLocks noChangeShapeType="1"/>
              </p:cNvSpPr>
              <p:nvPr/>
            </p:nvSpPr>
            <p:spPr bwMode="auto">
              <a:xfrm flipV="1">
                <a:off x="54864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56" name="Text Box 40"/>
              <p:cNvSpPr txBox="1">
                <a:spLocks noChangeArrowheads="1"/>
              </p:cNvSpPr>
              <p:nvPr/>
            </p:nvSpPr>
            <p:spPr bwMode="auto">
              <a:xfrm>
                <a:off x="5943518" y="3823572"/>
                <a:ext cx="990642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72</a:t>
                </a:r>
              </a:p>
            </p:txBody>
          </p:sp>
          <p:sp>
            <p:nvSpPr>
              <p:cNvPr id="95257" name="Line 41"/>
              <p:cNvSpPr>
                <a:spLocks noChangeShapeType="1"/>
              </p:cNvSpPr>
              <p:nvPr/>
            </p:nvSpPr>
            <p:spPr bwMode="auto">
              <a:xfrm flipV="1">
                <a:off x="64008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58" name="Text Box 42"/>
              <p:cNvSpPr txBox="1">
                <a:spLocks noChangeArrowheads="1"/>
              </p:cNvSpPr>
              <p:nvPr/>
            </p:nvSpPr>
            <p:spPr bwMode="auto">
              <a:xfrm>
                <a:off x="6857957" y="3823572"/>
                <a:ext cx="990643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76</a:t>
                </a:r>
              </a:p>
            </p:txBody>
          </p:sp>
          <p:sp>
            <p:nvSpPr>
              <p:cNvPr id="95259" name="Line 43"/>
              <p:cNvSpPr>
                <a:spLocks noChangeShapeType="1"/>
              </p:cNvSpPr>
              <p:nvPr/>
            </p:nvSpPr>
            <p:spPr bwMode="auto">
              <a:xfrm flipV="1">
                <a:off x="73152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42" name="Freeform 141"/>
            <p:cNvSpPr>
              <a:spLocks noChangeArrowheads="1"/>
            </p:cNvSpPr>
            <p:nvPr/>
          </p:nvSpPr>
          <p:spPr bwMode="auto">
            <a:xfrm>
              <a:off x="2052638" y="4159250"/>
              <a:ext cx="1693862" cy="1022350"/>
            </a:xfrm>
            <a:custGeom>
              <a:avLst/>
              <a:gdLst>
                <a:gd name="T0" fmla="*/ 0 w 1694329"/>
                <a:gd name="T1" fmla="*/ 1021976 h 1021976"/>
                <a:gd name="T2" fmla="*/ 654423 w 1694329"/>
                <a:gd name="T3" fmla="*/ 340658 h 1021976"/>
                <a:gd name="T4" fmla="*/ 1694329 w 1694329"/>
                <a:gd name="T5" fmla="*/ 0 h 1021976"/>
                <a:gd name="T6" fmla="*/ 0 60000 65536"/>
                <a:gd name="T7" fmla="*/ 0 60000 65536"/>
                <a:gd name="T8" fmla="*/ 0 60000 65536"/>
                <a:gd name="T9" fmla="*/ 0 w 1694329"/>
                <a:gd name="T10" fmla="*/ 0 h 1021976"/>
                <a:gd name="T11" fmla="*/ 1694329 w 1694329"/>
                <a:gd name="T12" fmla="*/ 1021976 h 10219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94329" h="1021976">
                  <a:moveTo>
                    <a:pt x="0" y="1021976"/>
                  </a:moveTo>
                  <a:cubicBezTo>
                    <a:pt x="186017" y="766481"/>
                    <a:pt x="372035" y="510987"/>
                    <a:pt x="654423" y="340658"/>
                  </a:cubicBezTo>
                  <a:cubicBezTo>
                    <a:pt x="936811" y="170329"/>
                    <a:pt x="1315570" y="85164"/>
                    <a:pt x="1694329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43" name="Freeform 142"/>
            <p:cNvSpPr>
              <a:spLocks noChangeArrowheads="1"/>
            </p:cNvSpPr>
            <p:nvPr/>
          </p:nvSpPr>
          <p:spPr bwMode="auto">
            <a:xfrm>
              <a:off x="2070100" y="4787900"/>
              <a:ext cx="1703388" cy="330200"/>
            </a:xfrm>
            <a:custGeom>
              <a:avLst/>
              <a:gdLst>
                <a:gd name="T0" fmla="*/ 0 w 1703294"/>
                <a:gd name="T1" fmla="*/ 0 h 331694"/>
                <a:gd name="T2" fmla="*/ 905435 w 1703294"/>
                <a:gd name="T3" fmla="*/ 304800 h 331694"/>
                <a:gd name="T4" fmla="*/ 1703294 w 1703294"/>
                <a:gd name="T5" fmla="*/ 161365 h 331694"/>
                <a:gd name="T6" fmla="*/ 0 60000 65536"/>
                <a:gd name="T7" fmla="*/ 0 60000 65536"/>
                <a:gd name="T8" fmla="*/ 0 60000 65536"/>
                <a:gd name="T9" fmla="*/ 0 w 1703294"/>
                <a:gd name="T10" fmla="*/ 0 h 331694"/>
                <a:gd name="T11" fmla="*/ 1703294 w 1703294"/>
                <a:gd name="T12" fmla="*/ 331694 h 3316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03294" h="331694">
                  <a:moveTo>
                    <a:pt x="0" y="0"/>
                  </a:moveTo>
                  <a:cubicBezTo>
                    <a:pt x="310776" y="138953"/>
                    <a:pt x="621553" y="277906"/>
                    <a:pt x="905435" y="304800"/>
                  </a:cubicBezTo>
                  <a:cubicBezTo>
                    <a:pt x="1189317" y="331694"/>
                    <a:pt x="1446305" y="246529"/>
                    <a:pt x="1703294" y="161365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44" name="Freeform 143"/>
            <p:cNvSpPr>
              <a:spLocks noChangeArrowheads="1"/>
            </p:cNvSpPr>
            <p:nvPr/>
          </p:nvSpPr>
          <p:spPr bwMode="auto">
            <a:xfrm>
              <a:off x="2052638" y="5557838"/>
              <a:ext cx="1739900" cy="385762"/>
            </a:xfrm>
            <a:custGeom>
              <a:avLst/>
              <a:gdLst>
                <a:gd name="T0" fmla="*/ 0 w 1739153"/>
                <a:gd name="T1" fmla="*/ 0 h 385482"/>
                <a:gd name="T2" fmla="*/ 699247 w 1739153"/>
                <a:gd name="T3" fmla="*/ 349623 h 385482"/>
                <a:gd name="T4" fmla="*/ 1739153 w 1739153"/>
                <a:gd name="T5" fmla="*/ 215153 h 385482"/>
                <a:gd name="T6" fmla="*/ 0 60000 65536"/>
                <a:gd name="T7" fmla="*/ 0 60000 65536"/>
                <a:gd name="T8" fmla="*/ 0 60000 65536"/>
                <a:gd name="T9" fmla="*/ 0 w 1739153"/>
                <a:gd name="T10" fmla="*/ 0 h 385482"/>
                <a:gd name="T11" fmla="*/ 1739153 w 1739153"/>
                <a:gd name="T12" fmla="*/ 385482 h 3854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9153" h="385482">
                  <a:moveTo>
                    <a:pt x="0" y="0"/>
                  </a:moveTo>
                  <a:cubicBezTo>
                    <a:pt x="204694" y="156882"/>
                    <a:pt x="409388" y="313764"/>
                    <a:pt x="699247" y="349623"/>
                  </a:cubicBezTo>
                  <a:cubicBezTo>
                    <a:pt x="989106" y="385482"/>
                    <a:pt x="1364129" y="300317"/>
                    <a:pt x="1739153" y="215153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 eaLnBrk="0" hangingPunct="0"/>
              <a:endParaRPr lang="en-US"/>
            </a:p>
          </p:txBody>
        </p:sp>
      </p:grp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/>
          <p:cNvSpPr>
            <a:spLocks noGrp="1" noChangeArrowheads="1"/>
          </p:cNvSpPr>
          <p:nvPr>
            <p:ph type="title"/>
          </p:nvPr>
        </p:nvSpPr>
        <p:spPr>
          <a:xfrm>
            <a:off x="461963" y="493713"/>
            <a:ext cx="7767637" cy="573087"/>
          </a:xfrm>
        </p:spPr>
        <p:txBody>
          <a:bodyPr/>
          <a:lstStyle/>
          <a:p>
            <a:r>
              <a:rPr lang="en-US">
                <a:latin typeface="Calibri" pitchFamily="-96" charset="0"/>
              </a:rPr>
              <a:t>Element Access in Multi-Level Array</a:t>
            </a:r>
          </a:p>
        </p:txBody>
      </p:sp>
      <p:sp>
        <p:nvSpPr>
          <p:cNvPr id="993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2913" y="4648200"/>
            <a:ext cx="8472487" cy="2122488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Computation</a:t>
            </a:r>
          </a:p>
          <a:p>
            <a:pPr lvl="1"/>
            <a:r>
              <a:rPr lang="en-US" dirty="0">
                <a:latin typeface="Calibri" pitchFamily="-96" charset="0"/>
              </a:rPr>
              <a:t>Element access </a:t>
            </a:r>
            <a:r>
              <a:rPr lang="en-US" b="1" dirty="0" err="1">
                <a:latin typeface="Courier New" pitchFamily="-96" charset="0"/>
              </a:rPr>
              <a:t>Mem</a:t>
            </a:r>
            <a:r>
              <a:rPr lang="en-US" b="1" dirty="0">
                <a:latin typeface="Courier New" pitchFamily="-96" charset="0"/>
              </a:rPr>
              <a:t>[</a:t>
            </a:r>
            <a:r>
              <a:rPr lang="en-US" b="1" dirty="0" err="1">
                <a:latin typeface="Courier New" pitchFamily="-96" charset="0"/>
              </a:rPr>
              <a:t>Mem</a:t>
            </a:r>
            <a:r>
              <a:rPr lang="en-US" b="1" dirty="0">
                <a:latin typeface="Courier New" pitchFamily="-96" charset="0"/>
              </a:rPr>
              <a:t>[univ+8*index]+4*digit]</a:t>
            </a:r>
          </a:p>
          <a:p>
            <a:pPr lvl="1"/>
            <a:r>
              <a:rPr lang="en-US" dirty="0">
                <a:latin typeface="Calibri" pitchFamily="-96" charset="0"/>
              </a:rPr>
              <a:t>Must do two memory reads</a:t>
            </a:r>
          </a:p>
          <a:p>
            <a:pPr lvl="2"/>
            <a:r>
              <a:rPr lang="en-US" dirty="0">
                <a:latin typeface="Calibri" pitchFamily="-96" charset="0"/>
              </a:rPr>
              <a:t>First get pointer to row array</a:t>
            </a:r>
          </a:p>
          <a:p>
            <a:pPr lvl="2"/>
            <a:r>
              <a:rPr lang="en-US" dirty="0">
                <a:latin typeface="Calibri" pitchFamily="-96" charset="0"/>
              </a:rPr>
              <a:t>Then access element within array</a:t>
            </a:r>
          </a:p>
        </p:txBody>
      </p:sp>
      <p:sp>
        <p:nvSpPr>
          <p:cNvPr id="316420" name="Rectangle 4"/>
          <p:cNvSpPr>
            <a:spLocks noChangeArrowheads="1"/>
          </p:cNvSpPr>
          <p:nvPr/>
        </p:nvSpPr>
        <p:spPr bwMode="auto">
          <a:xfrm>
            <a:off x="533400" y="3021013"/>
            <a:ext cx="8382000" cy="11977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salq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$2,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rsi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        # 4*digit</a:t>
            </a:r>
          </a:p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addq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univ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(,%rdi,8),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rsi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# p =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univ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[index] + 4*digit</a:t>
            </a:r>
          </a:p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movl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(%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rsi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),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eax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    # return *p</a:t>
            </a:r>
          </a:p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ret	</a:t>
            </a:r>
          </a:p>
        </p:txBody>
      </p:sp>
      <p:sp>
        <p:nvSpPr>
          <p:cNvPr id="99332" name="Rectangle 5"/>
          <p:cNvSpPr>
            <a:spLocks noChangeArrowheads="1"/>
          </p:cNvSpPr>
          <p:nvPr/>
        </p:nvSpPr>
        <p:spPr bwMode="auto">
          <a:xfrm>
            <a:off x="442913" y="1196752"/>
            <a:ext cx="4398640" cy="14747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get_univ_digit</a:t>
            </a:r>
            <a:endParaRPr lang="en-US" sz="1800" dirty="0">
              <a:latin typeface="Courier New" pitchFamily="-96" charset="0"/>
            </a:endParaRP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(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index, 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digit)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return </a:t>
            </a:r>
            <a:r>
              <a:rPr lang="en-US" sz="1800" dirty="0" err="1">
                <a:latin typeface="Courier New" pitchFamily="-96" charset="0"/>
              </a:rPr>
              <a:t>univ</a:t>
            </a:r>
            <a:r>
              <a:rPr lang="en-US" sz="1800" dirty="0">
                <a:latin typeface="Courier New" pitchFamily="-96" charset="0"/>
              </a:rPr>
              <a:t>[index][digit];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1195599"/>
            <a:ext cx="3996721" cy="132511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/>
          <p:cNvSpPr>
            <a:spLocks noGrp="1" noChangeArrowheads="1"/>
          </p:cNvSpPr>
          <p:nvPr>
            <p:ph type="title"/>
          </p:nvPr>
        </p:nvSpPr>
        <p:spPr>
          <a:xfrm>
            <a:off x="409575" y="457200"/>
            <a:ext cx="7591425" cy="762000"/>
          </a:xfrm>
        </p:spPr>
        <p:txBody>
          <a:bodyPr/>
          <a:lstStyle/>
          <a:p>
            <a:r>
              <a:rPr lang="en-US">
                <a:latin typeface="Calibri" pitchFamily="-96" charset="0"/>
              </a:rPr>
              <a:t>Array Element Accesses</a:t>
            </a:r>
          </a:p>
        </p:txBody>
      </p:sp>
      <p:sp>
        <p:nvSpPr>
          <p:cNvPr id="101378" name="Rectangle 4"/>
          <p:cNvSpPr>
            <a:spLocks noChangeArrowheads="1"/>
          </p:cNvSpPr>
          <p:nvPr/>
        </p:nvSpPr>
        <p:spPr bwMode="auto">
          <a:xfrm>
            <a:off x="251520" y="1725613"/>
            <a:ext cx="4307780" cy="14747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get_pgh_digit</a:t>
            </a:r>
            <a:endParaRPr lang="en-US" sz="1800" dirty="0">
              <a:latin typeface="Courier New" pitchFamily="-96" charset="0"/>
            </a:endParaRP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(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index, 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digit)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return </a:t>
            </a:r>
            <a:r>
              <a:rPr lang="en-US" sz="1800" dirty="0" err="1">
                <a:latin typeface="Courier New" pitchFamily="-96" charset="0"/>
              </a:rPr>
              <a:t>pgh</a:t>
            </a:r>
            <a:r>
              <a:rPr lang="en-US" sz="1800" dirty="0">
                <a:latin typeface="Courier New" pitchFamily="-96" charset="0"/>
              </a:rPr>
              <a:t>[index][digit];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sp>
        <p:nvSpPr>
          <p:cNvPr id="101379" name="Rectangle 8"/>
          <p:cNvSpPr>
            <a:spLocks noChangeArrowheads="1"/>
          </p:cNvSpPr>
          <p:nvPr/>
        </p:nvSpPr>
        <p:spPr bwMode="auto">
          <a:xfrm>
            <a:off x="4648200" y="1725613"/>
            <a:ext cx="4388296" cy="14747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get_univ_digit</a:t>
            </a:r>
            <a:endParaRPr lang="en-US" sz="1800" dirty="0">
              <a:latin typeface="Courier New" pitchFamily="-96" charset="0"/>
            </a:endParaRP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(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index, 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digit)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return </a:t>
            </a:r>
            <a:r>
              <a:rPr lang="en-US" sz="1800" dirty="0" err="1">
                <a:latin typeface="Courier New" pitchFamily="-96" charset="0"/>
              </a:rPr>
              <a:t>univ</a:t>
            </a:r>
            <a:r>
              <a:rPr lang="en-US" sz="1800" dirty="0">
                <a:latin typeface="Courier New" pitchFamily="-96" charset="0"/>
              </a:rPr>
              <a:t>[index][digit];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sp>
        <p:nvSpPr>
          <p:cNvPr id="101380" name="TextBox 11"/>
          <p:cNvSpPr txBox="1">
            <a:spLocks noChangeArrowheads="1"/>
          </p:cNvSpPr>
          <p:nvPr/>
        </p:nvSpPr>
        <p:spPr bwMode="auto">
          <a:xfrm>
            <a:off x="368300" y="1382713"/>
            <a:ext cx="14065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>
                <a:latin typeface="Calibri" pitchFamily="-96" charset="0"/>
              </a:rPr>
              <a:t>Nested array</a:t>
            </a:r>
          </a:p>
        </p:txBody>
      </p:sp>
      <p:sp>
        <p:nvSpPr>
          <p:cNvPr id="101381" name="TextBox 12"/>
          <p:cNvSpPr txBox="1">
            <a:spLocks noChangeArrowheads="1"/>
          </p:cNvSpPr>
          <p:nvPr/>
        </p:nvSpPr>
        <p:spPr bwMode="auto">
          <a:xfrm>
            <a:off x="4559300" y="1371600"/>
            <a:ext cx="1765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>
                <a:latin typeface="Calibri" pitchFamily="-96" charset="0"/>
              </a:rPr>
              <a:t>Multi-level array</a:t>
            </a:r>
          </a:p>
        </p:txBody>
      </p:sp>
      <p:pic>
        <p:nvPicPr>
          <p:cNvPr id="101382" name="Picture 2" descr="C:\Documents and Settings\pueschel\My Documents\teaching\18-243-CMUspring09\08-05Feb09\multi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3657600"/>
            <a:ext cx="3505200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1384" name="TextBox 15"/>
          <p:cNvSpPr txBox="1">
            <a:spLocks noChangeArrowheads="1"/>
          </p:cNvSpPr>
          <p:nvPr/>
        </p:nvSpPr>
        <p:spPr bwMode="auto">
          <a:xfrm>
            <a:off x="248904" y="4961720"/>
            <a:ext cx="87162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b="0" dirty="0">
                <a:latin typeface="Calibri" pitchFamily="-96" charset="0"/>
              </a:rPr>
              <a:t>Accesses looks similar in C, but address computations very different: </a:t>
            </a:r>
          </a:p>
        </p:txBody>
      </p:sp>
      <p:sp>
        <p:nvSpPr>
          <p:cNvPr id="101385" name="Rectangle 16"/>
          <p:cNvSpPr>
            <a:spLocks noChangeArrowheads="1"/>
          </p:cNvSpPr>
          <p:nvPr/>
        </p:nvSpPr>
        <p:spPr bwMode="auto">
          <a:xfrm>
            <a:off x="262036" y="5802313"/>
            <a:ext cx="403249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buFont typeface="Wingdings" pitchFamily="-96" charset="2"/>
              <a:buNone/>
            </a:pPr>
            <a:r>
              <a:rPr lang="en-US" sz="2000" dirty="0" err="1">
                <a:latin typeface="Courier New" pitchFamily="-96" charset="0"/>
              </a:rPr>
              <a:t>Mem</a:t>
            </a:r>
            <a:r>
              <a:rPr lang="en-US" sz="2000" dirty="0">
                <a:latin typeface="Courier New" pitchFamily="-96" charset="0"/>
              </a:rPr>
              <a:t>[pgh+20*index+4*digit]</a:t>
            </a:r>
          </a:p>
        </p:txBody>
      </p:sp>
      <p:sp>
        <p:nvSpPr>
          <p:cNvPr id="101386" name="Rectangle 17"/>
          <p:cNvSpPr>
            <a:spLocks noChangeArrowheads="1"/>
          </p:cNvSpPr>
          <p:nvPr/>
        </p:nvSpPr>
        <p:spPr bwMode="auto">
          <a:xfrm>
            <a:off x="4376793" y="5791200"/>
            <a:ext cx="480206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buFont typeface="Wingdings" pitchFamily="-96" charset="2"/>
              <a:buNone/>
            </a:pPr>
            <a:r>
              <a:rPr lang="en-US" sz="2000" dirty="0" err="1">
                <a:latin typeface="Courier New" pitchFamily="-96" charset="0"/>
              </a:rPr>
              <a:t>Mem</a:t>
            </a:r>
            <a:r>
              <a:rPr lang="en-US" sz="2000" dirty="0">
                <a:latin typeface="Courier New" pitchFamily="-96" charset="0"/>
              </a:rPr>
              <a:t>[</a:t>
            </a:r>
            <a:r>
              <a:rPr lang="en-US" sz="2000" dirty="0" err="1">
                <a:latin typeface="Courier New" pitchFamily="-96" charset="0"/>
              </a:rPr>
              <a:t>Mem</a:t>
            </a:r>
            <a:r>
              <a:rPr lang="en-US" sz="2000" dirty="0">
                <a:latin typeface="Courier New" pitchFamily="-96" charset="0"/>
              </a:rPr>
              <a:t>[univ+8*index]+4*digit]</a:t>
            </a:r>
            <a:endParaRPr 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558" y="3429000"/>
            <a:ext cx="3973140" cy="122880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/>
          <p:cNvSpPr>
            <a:spLocks noGrp="1" noChangeArrowheads="1"/>
          </p:cNvSpPr>
          <p:nvPr>
            <p:ph type="title"/>
          </p:nvPr>
        </p:nvSpPr>
        <p:spPr>
          <a:xfrm>
            <a:off x="261622" y="277320"/>
            <a:ext cx="3428504" cy="1127618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N X N Matrix Code</a:t>
            </a:r>
          </a:p>
        </p:txBody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04938"/>
            <a:ext cx="3481382" cy="5224462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Fixed dimensions</a:t>
            </a:r>
          </a:p>
          <a:p>
            <a:pPr lvl="1"/>
            <a:r>
              <a:rPr lang="en-US" dirty="0">
                <a:latin typeface="Calibri" pitchFamily="-96" charset="0"/>
              </a:rPr>
              <a:t>Know value of N at compile time</a:t>
            </a:r>
          </a:p>
          <a:p>
            <a:endParaRPr lang="en-US" dirty="0">
              <a:latin typeface="Calibri" pitchFamily="-96" charset="0"/>
            </a:endParaRPr>
          </a:p>
          <a:p>
            <a:r>
              <a:rPr lang="en-US" dirty="0">
                <a:latin typeface="Calibri" pitchFamily="-96" charset="0"/>
              </a:rPr>
              <a:t>Variable dimensions, explicit indexing</a:t>
            </a:r>
          </a:p>
          <a:p>
            <a:pPr lvl="1"/>
            <a:r>
              <a:rPr lang="en-US" dirty="0">
                <a:latin typeface="Calibri" pitchFamily="-96" charset="0"/>
              </a:rPr>
              <a:t>Traditional way to implement dynamic arrays</a:t>
            </a:r>
          </a:p>
          <a:p>
            <a:endParaRPr lang="en-US" dirty="0">
              <a:latin typeface="Calibri" pitchFamily="-96" charset="0"/>
            </a:endParaRPr>
          </a:p>
          <a:p>
            <a:r>
              <a:rPr lang="en-US" dirty="0">
                <a:latin typeface="Calibri" pitchFamily="-96" charset="0"/>
              </a:rPr>
              <a:t>Variable dimensions, implicit indexing</a:t>
            </a:r>
          </a:p>
          <a:p>
            <a:pPr lvl="1"/>
            <a:r>
              <a:rPr lang="en-US" dirty="0">
                <a:latin typeface="Calibri" pitchFamily="-96" charset="0"/>
              </a:rPr>
              <a:t>Now supported by </a:t>
            </a:r>
            <a:r>
              <a:rPr lang="en-US" dirty="0" err="1">
                <a:latin typeface="Calibri" pitchFamily="-96" charset="0"/>
              </a:rPr>
              <a:t>gcc</a:t>
            </a:r>
            <a:endParaRPr lang="en-US" dirty="0">
              <a:latin typeface="Calibri" pitchFamily="-96" charset="0"/>
            </a:endParaRPr>
          </a:p>
        </p:txBody>
      </p:sp>
      <p:sp>
        <p:nvSpPr>
          <p:cNvPr id="107523" name="Rectangle 4"/>
          <p:cNvSpPr>
            <a:spLocks noChangeArrowheads="1"/>
          </p:cNvSpPr>
          <p:nvPr/>
        </p:nvSpPr>
        <p:spPr bwMode="auto">
          <a:xfrm>
            <a:off x="3707904" y="500042"/>
            <a:ext cx="5302779" cy="23057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solidFill>
                  <a:srgbClr val="C00000"/>
                </a:solidFill>
                <a:latin typeface="Courier New" pitchFamily="-96" charset="0"/>
              </a:rPr>
              <a:t>#define N 16</a:t>
            </a:r>
          </a:p>
          <a:p>
            <a:pPr eaLnBrk="0" hangingPunct="0"/>
            <a:r>
              <a:rPr lang="en-US" sz="1800" dirty="0" err="1">
                <a:solidFill>
                  <a:srgbClr val="C00000"/>
                </a:solidFill>
                <a:latin typeface="Courier New" pitchFamily="-96" charset="0"/>
              </a:rPr>
              <a:t>typedef</a:t>
            </a:r>
            <a:r>
              <a:rPr lang="en-US" sz="1800" dirty="0">
                <a:solidFill>
                  <a:srgbClr val="C00000"/>
                </a:solidFill>
                <a:latin typeface="Courier New" pitchFamily="-96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Courier New" pitchFamily="-96" charset="0"/>
              </a:rPr>
              <a:t>int</a:t>
            </a:r>
            <a:r>
              <a:rPr lang="en-US" sz="1800" dirty="0">
                <a:solidFill>
                  <a:srgbClr val="C00000"/>
                </a:solidFill>
                <a:latin typeface="Courier New" pitchFamily="-96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Courier New" pitchFamily="-96" charset="0"/>
              </a:rPr>
              <a:t>fix_matrix</a:t>
            </a:r>
            <a:r>
              <a:rPr lang="en-US" sz="1800" dirty="0">
                <a:solidFill>
                  <a:srgbClr val="C00000"/>
                </a:solidFill>
                <a:latin typeface="Courier New" pitchFamily="-96" charset="0"/>
              </a:rPr>
              <a:t>[N][N];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/* Get element a[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][j] */</a:t>
            </a:r>
          </a:p>
          <a:p>
            <a:pPr eaLnBrk="0" hangingPunct="0"/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fix_ele</a:t>
            </a:r>
            <a:r>
              <a:rPr lang="en-US" sz="1800" dirty="0">
                <a:latin typeface="Courier New" pitchFamily="-96" charset="0"/>
              </a:rPr>
              <a:t>(</a:t>
            </a:r>
            <a:r>
              <a:rPr lang="en-US" sz="1800" dirty="0" err="1">
                <a:solidFill>
                  <a:srgbClr val="7030A0"/>
                </a:solidFill>
                <a:latin typeface="Courier New" pitchFamily="-96" charset="0"/>
              </a:rPr>
              <a:t>fix_matrix</a:t>
            </a:r>
            <a:r>
              <a:rPr lang="en-US" sz="1800" dirty="0">
                <a:solidFill>
                  <a:srgbClr val="7030A0"/>
                </a:solidFill>
                <a:latin typeface="Courier New" pitchFamily="-96" charset="0"/>
              </a:rPr>
              <a:t> a</a:t>
            </a:r>
            <a:r>
              <a:rPr lang="en-US" sz="1800" dirty="0">
                <a:latin typeface="Courier New" pitchFamily="-96" charset="0"/>
              </a:rPr>
              <a:t>, 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        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, 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j)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return a[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][j];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sp>
        <p:nvSpPr>
          <p:cNvPr id="107524" name="Rectangle 5"/>
          <p:cNvSpPr>
            <a:spLocks noChangeArrowheads="1"/>
          </p:cNvSpPr>
          <p:nvPr/>
        </p:nvSpPr>
        <p:spPr bwMode="auto">
          <a:xfrm>
            <a:off x="3707904" y="2857496"/>
            <a:ext cx="5302779" cy="2028761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pt-BR" sz="1800" dirty="0">
                <a:solidFill>
                  <a:srgbClr val="C00000"/>
                </a:solidFill>
                <a:latin typeface="Courier New" pitchFamily="-96" charset="0"/>
              </a:rPr>
              <a:t>#define IDX(n, i, j) ((i)*(n)+(j))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/* Get element a[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][j] */</a:t>
            </a:r>
          </a:p>
          <a:p>
            <a:pPr eaLnBrk="0" hangingPunct="0"/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vec_ele</a:t>
            </a:r>
            <a:r>
              <a:rPr lang="en-US" sz="1800" dirty="0">
                <a:latin typeface="Courier New" pitchFamily="-96" charset="0"/>
              </a:rPr>
              <a:t>(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n, </a:t>
            </a:r>
            <a:r>
              <a:rPr lang="en-US" sz="1800" dirty="0" err="1">
                <a:solidFill>
                  <a:srgbClr val="7030A0"/>
                </a:solidFill>
                <a:latin typeface="Courier New" pitchFamily="-96" charset="0"/>
              </a:rPr>
              <a:t>int</a:t>
            </a:r>
            <a:r>
              <a:rPr lang="en-US" sz="1800" dirty="0">
                <a:solidFill>
                  <a:srgbClr val="7030A0"/>
                </a:solidFill>
                <a:latin typeface="Courier New" pitchFamily="-96" charset="0"/>
              </a:rPr>
              <a:t> *a</a:t>
            </a:r>
            <a:r>
              <a:rPr lang="en-US" sz="1800" dirty="0">
                <a:latin typeface="Courier New" pitchFamily="-96" charset="0"/>
              </a:rPr>
              <a:t>,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        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, 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j)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return a[IDX(</a:t>
            </a:r>
            <a:r>
              <a:rPr lang="en-US" sz="1800" dirty="0" err="1">
                <a:latin typeface="Courier New" pitchFamily="-96" charset="0"/>
              </a:rPr>
              <a:t>n,i,j</a:t>
            </a:r>
            <a:r>
              <a:rPr lang="en-US" sz="1800" dirty="0">
                <a:latin typeface="Courier New" pitchFamily="-96" charset="0"/>
              </a:rPr>
              <a:t>)];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3707282" y="5000636"/>
            <a:ext cx="5312926" cy="14747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pt-BR" sz="1800" dirty="0">
                <a:latin typeface="Courier New" pitchFamily="-96" charset="0"/>
              </a:rPr>
              <a:t>/* Get element a[i][j] */</a:t>
            </a:r>
          </a:p>
          <a:p>
            <a:pPr eaLnBrk="0" hangingPunct="0"/>
            <a:r>
              <a:rPr lang="pt-BR" sz="1800" dirty="0" err="1">
                <a:latin typeface="Courier New" pitchFamily="-96" charset="0"/>
              </a:rPr>
              <a:t>int</a:t>
            </a:r>
            <a:r>
              <a:rPr lang="pt-BR" sz="1800" dirty="0">
                <a:latin typeface="Courier New" pitchFamily="-96" charset="0"/>
              </a:rPr>
              <a:t> </a:t>
            </a:r>
            <a:r>
              <a:rPr lang="pt-BR" sz="1800" dirty="0" err="1">
                <a:latin typeface="Courier New" pitchFamily="-96" charset="0"/>
              </a:rPr>
              <a:t>var_ele</a:t>
            </a:r>
            <a:r>
              <a:rPr lang="pt-BR" sz="1800" dirty="0">
                <a:latin typeface="Courier New" pitchFamily="-96" charset="0"/>
              </a:rPr>
              <a:t>(</a:t>
            </a:r>
            <a:r>
              <a:rPr lang="pt-BR" sz="1800" dirty="0" err="1">
                <a:latin typeface="Courier New" pitchFamily="-96" charset="0"/>
              </a:rPr>
              <a:t>size_t</a:t>
            </a:r>
            <a:r>
              <a:rPr lang="pt-BR" sz="1800" dirty="0">
                <a:latin typeface="Courier New" pitchFamily="-96" charset="0"/>
              </a:rPr>
              <a:t> n, </a:t>
            </a:r>
            <a:r>
              <a:rPr lang="pt-BR" sz="1800" dirty="0">
                <a:solidFill>
                  <a:srgbClr val="7030A0"/>
                </a:solidFill>
                <a:latin typeface="Courier New" pitchFamily="-96" charset="0"/>
              </a:rPr>
              <a:t>int a[n][n]</a:t>
            </a:r>
            <a:r>
              <a:rPr lang="pt-BR" sz="1800" dirty="0">
                <a:latin typeface="Courier New" pitchFamily="-96" charset="0"/>
              </a:rPr>
              <a:t>,</a:t>
            </a:r>
          </a:p>
          <a:p>
            <a:pPr eaLnBrk="0" hangingPunct="0"/>
            <a:r>
              <a:rPr lang="pt-BR" sz="1800" dirty="0">
                <a:latin typeface="Courier New" pitchFamily="-96" charset="0"/>
              </a:rPr>
              <a:t>            </a:t>
            </a:r>
            <a:r>
              <a:rPr lang="pt-BR" sz="1800" dirty="0" err="1">
                <a:latin typeface="Courier New" pitchFamily="-96" charset="0"/>
              </a:rPr>
              <a:t>size_t</a:t>
            </a:r>
            <a:r>
              <a:rPr lang="pt-BR" sz="1800" dirty="0">
                <a:latin typeface="Courier New" pitchFamily="-96" charset="0"/>
              </a:rPr>
              <a:t> i, </a:t>
            </a:r>
            <a:r>
              <a:rPr lang="pt-BR" sz="1800" dirty="0" err="1">
                <a:latin typeface="Courier New" pitchFamily="-96" charset="0"/>
              </a:rPr>
              <a:t>size_t</a:t>
            </a:r>
            <a:r>
              <a:rPr lang="pt-BR" sz="1800" dirty="0">
                <a:latin typeface="Courier New" pitchFamily="-96" charset="0"/>
              </a:rPr>
              <a:t> j) {</a:t>
            </a:r>
          </a:p>
          <a:p>
            <a:pPr eaLnBrk="0" hangingPunct="0"/>
            <a:r>
              <a:rPr lang="pt-BR" sz="1800" dirty="0">
                <a:latin typeface="Courier New" pitchFamily="-96" charset="0"/>
              </a:rPr>
              <a:t>  return a[i][j];</a:t>
            </a:r>
          </a:p>
          <a:p>
            <a:pPr eaLnBrk="0" hangingPunct="0"/>
            <a:r>
              <a:rPr lang="pt-BR" sz="1800" dirty="0">
                <a:latin typeface="Courier New" pitchFamily="-96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itchFamily="-96" charset="0"/>
              </a:rPr>
              <a:t>16 X 16 Matrix Access</a:t>
            </a:r>
          </a:p>
        </p:txBody>
      </p:sp>
      <p:sp>
        <p:nvSpPr>
          <p:cNvPr id="107523" name="Rectangle 4"/>
          <p:cNvSpPr>
            <a:spLocks noChangeArrowheads="1"/>
          </p:cNvSpPr>
          <p:nvPr/>
        </p:nvSpPr>
        <p:spPr bwMode="auto">
          <a:xfrm>
            <a:off x="1000100" y="2955770"/>
            <a:ext cx="6786611" cy="119776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latin typeface="Courier New" pitchFamily="-96" charset="0"/>
              </a:rPr>
              <a:t>/* Get element a[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][j] */</a:t>
            </a:r>
          </a:p>
          <a:p>
            <a:pPr eaLnBrk="0" hangingPunct="0"/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fix_ele</a:t>
            </a:r>
            <a:r>
              <a:rPr lang="en-US" sz="1800" dirty="0">
                <a:latin typeface="Courier New" pitchFamily="-96" charset="0"/>
              </a:rPr>
              <a:t>(</a:t>
            </a:r>
            <a:r>
              <a:rPr lang="en-US" sz="1800" dirty="0" err="1">
                <a:solidFill>
                  <a:srgbClr val="7030A0"/>
                </a:solidFill>
                <a:latin typeface="Courier New" pitchFamily="-96" charset="0"/>
              </a:rPr>
              <a:t>fix_matrix</a:t>
            </a:r>
            <a:r>
              <a:rPr lang="en-US" sz="1800" dirty="0">
                <a:solidFill>
                  <a:srgbClr val="7030A0"/>
                </a:solidFill>
                <a:latin typeface="Courier New" pitchFamily="-96" charset="0"/>
              </a:rPr>
              <a:t> a</a:t>
            </a:r>
            <a:r>
              <a:rPr lang="en-US" sz="1800" dirty="0">
                <a:latin typeface="Courier New" pitchFamily="-96" charset="0"/>
              </a:rPr>
              <a:t>, 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, 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j) 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return a[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][j];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000100" y="4249006"/>
            <a:ext cx="7239000" cy="14747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# a in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rdi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,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in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rsi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, j in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rdx</a:t>
            </a:r>
            <a:endParaRPr lang="en-US" sz="1800" dirty="0">
              <a:latin typeface="Courier New" pitchFamily="49" charset="0"/>
              <a:ea typeface="+mn-ea"/>
              <a:cs typeface="+mn-cs"/>
            </a:endParaRPr>
          </a:p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salq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$6,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rsi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         # 64*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i</a:t>
            </a:r>
            <a:endParaRPr lang="en-US" sz="1800" dirty="0">
              <a:latin typeface="Courier New" pitchFamily="49" charset="0"/>
              <a:ea typeface="+mn-ea"/>
              <a:cs typeface="+mn-cs"/>
            </a:endParaRPr>
          </a:p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addq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rsi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rdi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       # a + 64*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i</a:t>
            </a:r>
            <a:endParaRPr lang="en-US" sz="1800" dirty="0">
              <a:latin typeface="Courier New" pitchFamily="49" charset="0"/>
              <a:ea typeface="+mn-ea"/>
              <a:cs typeface="+mn-cs"/>
            </a:endParaRPr>
          </a:p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movl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(%rdi,%rdx,4),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eax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# M[a + 64*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+ 4*j]</a:t>
            </a:r>
          </a:p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ret</a:t>
            </a:r>
          </a:p>
        </p:txBody>
      </p:sp>
      <p:sp>
        <p:nvSpPr>
          <p:cNvPr id="9" name="Rectangle 4"/>
          <p:cNvSpPr txBox="1">
            <a:spLocks noChangeArrowheads="1"/>
          </p:cNvSpPr>
          <p:nvPr/>
        </p:nvSpPr>
        <p:spPr>
          <a:xfrm>
            <a:off x="442913" y="1292225"/>
            <a:ext cx="7786687" cy="1450975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-96" charset="2"/>
              <a:buChar char="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  <a:cs typeface="ＭＳ Ｐゴシック" pitchFamily="-96" charset="-128"/>
              </a:rPr>
              <a:t>Array Elements 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-96" charset="0"/>
              <a:ea typeface="ＭＳ Ｐゴシック" pitchFamily="-96" charset="-128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-96" charset="2"/>
              <a:buChar char="§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Address 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-96" charset="0"/>
                <a:ea typeface="ＭＳ Ｐゴシック" pitchFamily="-96" charset="-128"/>
              </a:rPr>
              <a:t>A +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-96" charset="0"/>
                <a:ea typeface="ＭＳ Ｐゴシック" pitchFamily="-96" charset="-128"/>
              </a:rPr>
              <a:t> </a:t>
            </a:r>
            <a:r>
              <a:rPr kumimoji="0" lang="en-US" sz="20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i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* (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C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* 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K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)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+  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j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 * 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K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-96" charset="2"/>
              <a:buChar char="§"/>
              <a:tabLst/>
              <a:defRPr/>
            </a:pPr>
            <a:r>
              <a:rPr lang="en-US" sz="2000" b="0" kern="0" dirty="0">
                <a:latin typeface="Calibri" pitchFamily="-96" charset="0"/>
              </a:rPr>
              <a:t>C = 16, K = 4</a:t>
            </a:r>
            <a:endParaRPr kumimoji="0" lang="en-US" sz="2000" b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-96" charset="0"/>
              <a:ea typeface="ＭＳ Ｐゴシック" pitchFamily="-96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1216" y="3238945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itchFamily="-96" charset="0"/>
              </a:rPr>
              <a:t>n X n Matrix Access</a:t>
            </a: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827584" y="2746325"/>
            <a:ext cx="7603208" cy="14747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pt-BR" sz="1800" dirty="0">
                <a:latin typeface="Courier New" pitchFamily="-96" charset="0"/>
              </a:rPr>
              <a:t>/* Get element a[i][j] */</a:t>
            </a:r>
          </a:p>
          <a:p>
            <a:pPr eaLnBrk="0" hangingPunct="0"/>
            <a:r>
              <a:rPr lang="pt-BR" sz="1800" dirty="0">
                <a:latin typeface="Courier New" pitchFamily="-96" charset="0"/>
              </a:rPr>
              <a:t>int </a:t>
            </a:r>
            <a:r>
              <a:rPr lang="pt-BR" sz="1800" dirty="0" err="1">
                <a:latin typeface="Courier New" pitchFamily="-96" charset="0"/>
              </a:rPr>
              <a:t>var_ele</a:t>
            </a:r>
            <a:r>
              <a:rPr lang="pt-BR" sz="1800" dirty="0">
                <a:latin typeface="Courier New" pitchFamily="-96" charset="0"/>
              </a:rPr>
              <a:t>(</a:t>
            </a:r>
            <a:r>
              <a:rPr lang="pt-BR" sz="1800" dirty="0" err="1">
                <a:latin typeface="Courier New" pitchFamily="-96" charset="0"/>
              </a:rPr>
              <a:t>size_t</a:t>
            </a:r>
            <a:r>
              <a:rPr lang="pt-BR" sz="1800" dirty="0">
                <a:latin typeface="Courier New" pitchFamily="-96" charset="0"/>
              </a:rPr>
              <a:t> n, </a:t>
            </a:r>
            <a:r>
              <a:rPr lang="pt-BR" sz="1800" dirty="0">
                <a:solidFill>
                  <a:srgbClr val="7030A0"/>
                </a:solidFill>
                <a:latin typeface="Courier New" pitchFamily="-96" charset="0"/>
              </a:rPr>
              <a:t>int a[n][n]</a:t>
            </a:r>
            <a:r>
              <a:rPr lang="pt-BR" sz="1800" dirty="0">
                <a:latin typeface="Courier New" pitchFamily="-96" charset="0"/>
              </a:rPr>
              <a:t>, </a:t>
            </a:r>
            <a:r>
              <a:rPr lang="pt-BR" sz="1800" dirty="0" err="1">
                <a:latin typeface="Courier New" pitchFamily="-96" charset="0"/>
              </a:rPr>
              <a:t>size_t</a:t>
            </a:r>
            <a:r>
              <a:rPr lang="pt-BR" sz="1800" dirty="0">
                <a:latin typeface="Courier New" pitchFamily="-96" charset="0"/>
              </a:rPr>
              <a:t> i, </a:t>
            </a:r>
            <a:r>
              <a:rPr lang="pt-BR" sz="1800" dirty="0" err="1">
                <a:latin typeface="Courier New" pitchFamily="-96" charset="0"/>
              </a:rPr>
              <a:t>size_t</a:t>
            </a:r>
            <a:r>
              <a:rPr lang="pt-BR" sz="1800" dirty="0">
                <a:latin typeface="Courier New" pitchFamily="-96" charset="0"/>
              </a:rPr>
              <a:t> j) {</a:t>
            </a:r>
          </a:p>
          <a:p>
            <a:pPr eaLnBrk="0" hangingPunct="0"/>
            <a:r>
              <a:rPr lang="pt-BR" sz="1800" dirty="0">
                <a:latin typeface="Courier New" pitchFamily="-96" charset="0"/>
              </a:rPr>
              <a:t>  return a[i][j];</a:t>
            </a:r>
          </a:p>
          <a:p>
            <a:pPr eaLnBrk="0" hangingPunct="0"/>
            <a:r>
              <a:rPr lang="pt-BR" sz="1800" dirty="0">
                <a:latin typeface="Courier New" pitchFamily="-96" charset="0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857224" y="4365104"/>
            <a:ext cx="7239000" cy="14747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# n in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rdi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, a in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rsi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,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in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rdx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, j in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rcx</a:t>
            </a:r>
            <a:endParaRPr lang="en-US" sz="1800" dirty="0">
              <a:latin typeface="Courier New" pitchFamily="49" charset="0"/>
              <a:ea typeface="+mn-ea"/>
              <a:cs typeface="+mn-cs"/>
            </a:endParaRPr>
          </a:p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en-US" sz="1800" dirty="0" err="1">
                <a:solidFill>
                  <a:srgbClr val="FF0000"/>
                </a:solidFill>
                <a:latin typeface="Courier New" pitchFamily="49" charset="0"/>
                <a:ea typeface="+mn-ea"/>
                <a:cs typeface="+mn-cs"/>
              </a:rPr>
              <a:t>imulq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rdx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rdi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       # n*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i</a:t>
            </a:r>
            <a:endParaRPr lang="en-US" sz="1800" dirty="0">
              <a:latin typeface="Courier New" pitchFamily="49" charset="0"/>
              <a:ea typeface="+mn-ea"/>
              <a:cs typeface="+mn-cs"/>
            </a:endParaRPr>
          </a:p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leaq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(%rsi,%rdi,4),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rax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# a + 4*n*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i</a:t>
            </a:r>
            <a:endParaRPr lang="en-US" sz="1800" dirty="0">
              <a:latin typeface="Courier New" pitchFamily="49" charset="0"/>
              <a:ea typeface="+mn-ea"/>
              <a:cs typeface="+mn-cs"/>
            </a:endParaRPr>
          </a:p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movl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(%rax,%rcx,4),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eax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# a + 4*n*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+ 4*j</a:t>
            </a:r>
          </a:p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ret</a:t>
            </a: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>
          <a:xfrm>
            <a:off x="442913" y="1185937"/>
            <a:ext cx="7786687" cy="1450975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-96" charset="2"/>
              <a:buChar char="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  <a:cs typeface="ＭＳ Ｐゴシック" pitchFamily="-96" charset="-128"/>
              </a:rPr>
              <a:t>Array Elements 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-96" charset="0"/>
              <a:ea typeface="ＭＳ Ｐゴシック" pitchFamily="-96" charset="-128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-96" charset="2"/>
              <a:buChar char="§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Address 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-96" charset="0"/>
                <a:ea typeface="ＭＳ Ｐゴシック" pitchFamily="-96" charset="-128"/>
              </a:rPr>
              <a:t>A +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-96" charset="0"/>
                <a:ea typeface="ＭＳ Ｐゴシック" pitchFamily="-96" charset="-128"/>
              </a:rPr>
              <a:t> </a:t>
            </a:r>
            <a:r>
              <a:rPr kumimoji="0" lang="en-US" sz="20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i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* (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C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* 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K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)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+  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j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 * 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K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-96" charset="2"/>
              <a:buChar char="§"/>
              <a:tabLst/>
              <a:defRPr/>
            </a:pPr>
            <a:r>
              <a:rPr lang="en-US" sz="2000" b="0" kern="0" dirty="0">
                <a:latin typeface="Calibri" pitchFamily="-96" charset="0"/>
              </a:rPr>
              <a:t>C = n, K = 4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-96" charset="2"/>
              <a:buChar char="§"/>
              <a:tabLst/>
              <a:defRPr/>
            </a:pPr>
            <a: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Must perform</a:t>
            </a:r>
            <a:r>
              <a:rPr kumimoji="0" lang="en-US" sz="2000" b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 integer multiplication</a:t>
            </a:r>
            <a:endParaRPr kumimoji="0" lang="en-US" sz="2000" b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-96" charset="0"/>
              <a:ea typeface="ＭＳ Ｐゴシック" pitchFamily="-96" charset="-128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357188" y="457200"/>
            <a:ext cx="7591425" cy="762000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Data Storage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itchFamily="-96" charset="0"/>
              </a:rPr>
              <a:t>Arrays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itchFamily="-96" charset="0"/>
              </a:rPr>
              <a:t>One-dimensional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itchFamily="-96" charset="0"/>
              </a:rPr>
              <a:t>Multi-dimensional (nested)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itchFamily="-96" charset="0"/>
              </a:rPr>
              <a:t>Multi-level</a:t>
            </a:r>
          </a:p>
          <a:p>
            <a:r>
              <a:rPr lang="en-US" dirty="0">
                <a:solidFill>
                  <a:srgbClr val="000000"/>
                </a:solidFill>
                <a:latin typeface="Calibri" pitchFamily="-96" charset="0"/>
              </a:rPr>
              <a:t>Structures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alibri" pitchFamily="-96" charset="0"/>
              </a:rPr>
              <a:t>Allocation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alibri" pitchFamily="-96" charset="0"/>
              </a:rPr>
              <a:t>Access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alibri" pitchFamily="-96" charset="0"/>
              </a:rPr>
              <a:t>Alignment</a:t>
            </a:r>
          </a:p>
        </p:txBody>
      </p:sp>
    </p:spTree>
    <p:extLst>
      <p:ext uri="{BB962C8B-B14F-4D97-AF65-F5344CB8AC3E}">
        <p14:creationId xmlns:p14="http://schemas.microsoft.com/office/powerpoint/2010/main" val="38805853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Rectangle 5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305800" cy="573088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Structure Representation</a:t>
            </a:r>
          </a:p>
        </p:txBody>
      </p:sp>
      <p:sp>
        <p:nvSpPr>
          <p:cNvPr id="32359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90512" y="3170238"/>
            <a:ext cx="7737871" cy="2863850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Structure represented as block of memory</a:t>
            </a:r>
          </a:p>
          <a:p>
            <a:pPr lvl="1"/>
            <a:r>
              <a:rPr lang="en-US" b="1" dirty="0">
                <a:latin typeface="Calibri" pitchFamily="-96" charset="0"/>
                <a:cs typeface="Courier New"/>
              </a:rPr>
              <a:t>Big enough to hold all of the fields</a:t>
            </a:r>
          </a:p>
          <a:p>
            <a:r>
              <a:rPr lang="en-US" dirty="0">
                <a:latin typeface="Calibri" pitchFamily="-96" charset="0"/>
                <a:cs typeface="Courier New"/>
              </a:rPr>
              <a:t>Fields ordered according to declaration</a:t>
            </a:r>
          </a:p>
          <a:p>
            <a:pPr lvl="1"/>
            <a:r>
              <a:rPr lang="en-US" b="1" dirty="0">
                <a:latin typeface="Calibri" pitchFamily="-96" charset="0"/>
                <a:cs typeface="Courier New"/>
              </a:rPr>
              <a:t>Even if another ordering could yield a more compact representation</a:t>
            </a:r>
          </a:p>
          <a:p>
            <a:r>
              <a:rPr lang="en-US" dirty="0">
                <a:latin typeface="Calibri" pitchFamily="-96" charset="0"/>
                <a:cs typeface="Courier New"/>
              </a:rPr>
              <a:t>Compiler determines overall size + positions of fields</a:t>
            </a:r>
          </a:p>
          <a:p>
            <a:pPr lvl="1"/>
            <a:r>
              <a:rPr lang="en-US" b="1" dirty="0">
                <a:latin typeface="Calibri" pitchFamily="-96" charset="0"/>
                <a:cs typeface="Courier New"/>
              </a:rPr>
              <a:t>Machine-level program has no understanding of the structures in the source code </a:t>
            </a:r>
            <a:endParaRPr lang="en-US" b="1" dirty="0">
              <a:latin typeface="Courier New"/>
              <a:cs typeface="Courier New"/>
            </a:endParaRP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4427984" y="1826627"/>
            <a:ext cx="1739478" cy="431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eaLnBrk="0" hangingPunct="0">
              <a:defRPr/>
            </a:pPr>
            <a:r>
              <a:rPr lang="en-US" sz="2000">
                <a:latin typeface="Courier New" pitchFamily="49" charset="0"/>
                <a:ea typeface="+mn-ea"/>
                <a:cs typeface="+mn-cs"/>
              </a:rPr>
              <a:t>a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4283968" y="1024921"/>
            <a:ext cx="3979019" cy="1611991"/>
            <a:chOff x="4283968" y="1024921"/>
            <a:chExt cx="3979019" cy="1611991"/>
          </a:xfrm>
        </p:grpSpPr>
        <p:sp>
          <p:nvSpPr>
            <p:cNvPr id="30" name="Line 16"/>
            <p:cNvSpPr>
              <a:spLocks noChangeShapeType="1"/>
            </p:cNvSpPr>
            <p:nvPr/>
          </p:nvSpPr>
          <p:spPr bwMode="auto">
            <a:xfrm>
              <a:off x="4436368" y="1405921"/>
              <a:ext cx="0" cy="38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17"/>
            <p:cNvSpPr>
              <a:spLocks noChangeArrowheads="1"/>
            </p:cNvSpPr>
            <p:nvPr/>
          </p:nvSpPr>
          <p:spPr bwMode="auto">
            <a:xfrm>
              <a:off x="4283968" y="1024921"/>
              <a:ext cx="366713" cy="4572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>
                  <a:latin typeface="Courier New" pitchFamily="-96" charset="0"/>
                </a:rPr>
                <a:t>r</a:t>
              </a:r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6161106" y="1826627"/>
              <a:ext cx="876300" cy="431800"/>
            </a:xfrm>
            <a:prstGeom prst="rect">
              <a:avLst/>
            </a:prstGeom>
            <a:solidFill>
              <a:srgbClr val="F1C7C7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 err="1">
                  <a:latin typeface="Courier New" pitchFamily="-96" charset="0"/>
                </a:rPr>
                <a:t>i</a:t>
              </a:r>
              <a:endParaRPr lang="en-US" sz="2000" dirty="0">
                <a:latin typeface="Courier New" pitchFamily="-96" charset="0"/>
              </a:endParaRPr>
            </a:p>
          </p:txBody>
        </p:sp>
        <p:sp>
          <p:nvSpPr>
            <p:cNvPr id="23" name="Rectangle 12"/>
            <p:cNvSpPr>
              <a:spLocks noChangeArrowheads="1"/>
            </p:cNvSpPr>
            <p:nvPr/>
          </p:nvSpPr>
          <p:spPr bwMode="auto">
            <a:xfrm>
              <a:off x="7037406" y="1826627"/>
              <a:ext cx="869944" cy="431800"/>
            </a:xfrm>
            <a:prstGeom prst="rect">
              <a:avLst/>
            </a:prstGeom>
            <a:solidFill>
              <a:srgbClr val="D5F1C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>
                  <a:latin typeface="Courier New" pitchFamily="-96" charset="0"/>
                </a:rPr>
                <a:t>next</a:t>
              </a:r>
            </a:p>
          </p:txBody>
        </p:sp>
        <p:sp>
          <p:nvSpPr>
            <p:cNvPr id="24" name="Rectangle 13"/>
            <p:cNvSpPr>
              <a:spLocks noChangeArrowheads="1"/>
            </p:cNvSpPr>
            <p:nvPr/>
          </p:nvSpPr>
          <p:spPr bwMode="auto">
            <a:xfrm>
              <a:off x="4355976" y="2242552"/>
              <a:ext cx="333375" cy="3937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2000" dirty="0">
                  <a:latin typeface="Courier New" pitchFamily="-96" charset="0"/>
                </a:rPr>
                <a:t>0</a:t>
              </a:r>
            </a:p>
          </p:txBody>
        </p:sp>
        <p:sp>
          <p:nvSpPr>
            <p:cNvPr id="25" name="Rectangle 14"/>
            <p:cNvSpPr>
              <a:spLocks noChangeArrowheads="1"/>
            </p:cNvSpPr>
            <p:nvPr/>
          </p:nvSpPr>
          <p:spPr bwMode="auto">
            <a:xfrm>
              <a:off x="5886488" y="2239367"/>
              <a:ext cx="490568" cy="39754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2000" dirty="0">
                  <a:latin typeface="Courier New" pitchFamily="-96" charset="0"/>
                </a:rPr>
                <a:t>16</a:t>
              </a:r>
            </a:p>
          </p:txBody>
        </p:sp>
        <p:sp>
          <p:nvSpPr>
            <p:cNvPr id="26" name="Rectangle 15"/>
            <p:cNvSpPr>
              <a:spLocks noChangeArrowheads="1"/>
            </p:cNvSpPr>
            <p:nvPr/>
          </p:nvSpPr>
          <p:spPr bwMode="auto">
            <a:xfrm>
              <a:off x="6794518" y="2225089"/>
              <a:ext cx="490568" cy="39754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2000" dirty="0">
                  <a:latin typeface="Courier New" pitchFamily="-96" charset="0"/>
                </a:rPr>
                <a:t>24</a:t>
              </a:r>
            </a:p>
          </p:txBody>
        </p:sp>
        <p:sp>
          <p:nvSpPr>
            <p:cNvPr id="27" name="Rectangle 16"/>
            <p:cNvSpPr>
              <a:spLocks noChangeArrowheads="1"/>
            </p:cNvSpPr>
            <p:nvPr/>
          </p:nvSpPr>
          <p:spPr bwMode="auto">
            <a:xfrm>
              <a:off x="7772419" y="2225089"/>
              <a:ext cx="490568" cy="39754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2000" dirty="0">
                  <a:latin typeface="Courier New" pitchFamily="-96" charset="0"/>
                </a:rPr>
                <a:t>32</a:t>
              </a:r>
            </a:p>
          </p:txBody>
        </p:sp>
      </p:grpSp>
      <p:sp>
        <p:nvSpPr>
          <p:cNvPr id="32" name="Rectangle 2"/>
          <p:cNvSpPr>
            <a:spLocks noChangeArrowheads="1"/>
          </p:cNvSpPr>
          <p:nvPr/>
        </p:nvSpPr>
        <p:spPr bwMode="auto">
          <a:xfrm>
            <a:off x="555625" y="1297012"/>
            <a:ext cx="3296295" cy="14747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 err="1">
                <a:latin typeface="Courier New" pitchFamily="-96" charset="0"/>
              </a:rPr>
              <a:t>struct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rec</a:t>
            </a:r>
            <a:r>
              <a:rPr lang="en-US" sz="1800" dirty="0">
                <a:latin typeface="Courier New" pitchFamily="-96" charset="0"/>
              </a:rPr>
              <a:t> 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</a:t>
            </a:r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a[4];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</a:t>
            </a:r>
            <a:r>
              <a:rPr lang="en-US" sz="1800" dirty="0" err="1">
                <a:latin typeface="Courier New" pitchFamily="-96" charset="0"/>
              </a:rPr>
              <a:t>struct</a:t>
            </a:r>
            <a:r>
              <a:rPr lang="en-US" sz="1800" dirty="0">
                <a:latin typeface="Courier New" pitchFamily="-96" charset="0"/>
              </a:rPr>
              <a:t> rec *next;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};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7" name="Rectangle 3"/>
          <p:cNvSpPr>
            <a:spLocks noChangeArrowheads="1"/>
          </p:cNvSpPr>
          <p:nvPr/>
        </p:nvSpPr>
        <p:spPr bwMode="auto">
          <a:xfrm>
            <a:off x="4062482" y="4929198"/>
            <a:ext cx="5089525" cy="92076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114300" algn="l"/>
                <a:tab pos="1033463" algn="l"/>
                <a:tab pos="32639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# r in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rdi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,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idx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in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rsi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</a:t>
            </a:r>
          </a:p>
          <a:p>
            <a:pPr eaLnBrk="0" hangingPunct="0">
              <a:tabLst>
                <a:tab pos="114300" algn="l"/>
                <a:tab pos="1033463" algn="l"/>
                <a:tab pos="32639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leaq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(%rdi,%rsi,4),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rax</a:t>
            </a:r>
            <a:endParaRPr lang="en-US" sz="1800" dirty="0">
              <a:latin typeface="Courier New" pitchFamily="49" charset="0"/>
              <a:ea typeface="+mn-ea"/>
              <a:cs typeface="+mn-cs"/>
            </a:endParaRPr>
          </a:p>
          <a:p>
            <a:pPr eaLnBrk="0" hangingPunct="0">
              <a:tabLst>
                <a:tab pos="114300" algn="l"/>
                <a:tab pos="1033463" algn="l"/>
                <a:tab pos="32639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ret</a:t>
            </a:r>
          </a:p>
        </p:txBody>
      </p:sp>
      <p:sp>
        <p:nvSpPr>
          <p:cNvPr id="323588" name="Rectangle 4"/>
          <p:cNvSpPr>
            <a:spLocks noChangeArrowheads="1"/>
          </p:cNvSpPr>
          <p:nvPr/>
        </p:nvSpPr>
        <p:spPr bwMode="auto">
          <a:xfrm>
            <a:off x="4062482" y="3170238"/>
            <a:ext cx="4325942" cy="14747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*</a:t>
            </a:r>
            <a:r>
              <a:rPr lang="en-US" sz="1800" dirty="0" err="1">
                <a:latin typeface="Courier New" pitchFamily="-96" charset="0"/>
              </a:rPr>
              <a:t>get_ap</a:t>
            </a:r>
            <a:endParaRPr lang="en-US" sz="1800" dirty="0">
              <a:latin typeface="Courier New" pitchFamily="-96" charset="0"/>
            </a:endParaRP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(</a:t>
            </a:r>
            <a:r>
              <a:rPr lang="en-US" sz="1800" dirty="0" err="1">
                <a:latin typeface="Courier New" pitchFamily="-96" charset="0"/>
              </a:rPr>
              <a:t>struct</a:t>
            </a:r>
            <a:r>
              <a:rPr lang="en-US" sz="1800" dirty="0">
                <a:latin typeface="Courier New" pitchFamily="-96" charset="0"/>
              </a:rPr>
              <a:t> rec *r, 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idx</a:t>
            </a:r>
            <a:r>
              <a:rPr lang="en-US" sz="1800" dirty="0">
                <a:latin typeface="Courier New" pitchFamily="-96" charset="0"/>
              </a:rPr>
              <a:t>)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return &amp;r-&gt;a[</a:t>
            </a:r>
            <a:r>
              <a:rPr lang="en-US" sz="1800" dirty="0" err="1">
                <a:latin typeface="Courier New" pitchFamily="-96" charset="0"/>
              </a:rPr>
              <a:t>idx</a:t>
            </a:r>
            <a:r>
              <a:rPr lang="en-US" sz="1800" dirty="0">
                <a:latin typeface="Courier New" pitchFamily="-96" charset="0"/>
              </a:rPr>
              <a:t>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sp>
        <p:nvSpPr>
          <p:cNvPr id="119811" name="Rectangle 5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305800" cy="573088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Generating Pointer to Structure Member</a:t>
            </a:r>
          </a:p>
        </p:txBody>
      </p:sp>
      <p:sp>
        <p:nvSpPr>
          <p:cNvPr id="32359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90513" y="3170238"/>
            <a:ext cx="3924300" cy="2863850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Generating Pointer to Array Element</a:t>
            </a:r>
          </a:p>
          <a:p>
            <a:pPr lvl="1"/>
            <a:r>
              <a:rPr lang="en-US" dirty="0">
                <a:latin typeface="Calibri" pitchFamily="-96" charset="0"/>
              </a:rPr>
              <a:t>Offset of each structure member determined at compile time</a:t>
            </a:r>
          </a:p>
          <a:p>
            <a:pPr lvl="1"/>
            <a:r>
              <a:rPr lang="en-US" dirty="0">
                <a:latin typeface="Calibri" pitchFamily="-96" charset="0"/>
              </a:rPr>
              <a:t>Compute as </a:t>
            </a:r>
            <a:r>
              <a:rPr lang="en-US" b="1" dirty="0">
                <a:latin typeface="Courier New"/>
                <a:cs typeface="Courier New"/>
              </a:rPr>
              <a:t>r + 4*</a:t>
            </a:r>
            <a:r>
              <a:rPr lang="en-US" b="1" dirty="0" err="1">
                <a:latin typeface="Courier New"/>
                <a:cs typeface="Courier New"/>
              </a:rPr>
              <a:t>idx</a:t>
            </a:r>
            <a:endParaRPr lang="en-US" b="1" dirty="0">
              <a:latin typeface="Courier New"/>
              <a:cs typeface="Courier New"/>
            </a:endParaRPr>
          </a:p>
        </p:txBody>
      </p:sp>
      <p:sp>
        <p:nvSpPr>
          <p:cNvPr id="28" name="Line 14"/>
          <p:cNvSpPr>
            <a:spLocks noChangeShapeType="1"/>
          </p:cNvSpPr>
          <p:nvPr/>
        </p:nvSpPr>
        <p:spPr bwMode="auto">
          <a:xfrm>
            <a:off x="5322905" y="1405921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5170505" y="1024921"/>
            <a:ext cx="147753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dirty="0">
                <a:latin typeface="Courier New" pitchFamily="-96" charset="0"/>
              </a:rPr>
              <a:t>r+4*</a:t>
            </a:r>
            <a:r>
              <a:rPr lang="en-US" dirty="0" err="1">
                <a:latin typeface="Courier New" pitchFamily="-96" charset="0"/>
              </a:rPr>
              <a:t>idx</a:t>
            </a:r>
            <a:endParaRPr lang="en-US" dirty="0">
              <a:latin typeface="Courier New" pitchFamily="-96" charset="0"/>
            </a:endParaRP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4427984" y="1826627"/>
            <a:ext cx="1739478" cy="431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eaLnBrk="0" hangingPunct="0">
              <a:defRPr/>
            </a:pPr>
            <a:r>
              <a:rPr lang="en-US" sz="2000">
                <a:latin typeface="Courier New" pitchFamily="49" charset="0"/>
                <a:ea typeface="+mn-ea"/>
                <a:cs typeface="+mn-cs"/>
              </a:rPr>
              <a:t>a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4283968" y="1024921"/>
            <a:ext cx="3979019" cy="1611991"/>
            <a:chOff x="4283968" y="1024921"/>
            <a:chExt cx="3979019" cy="1611991"/>
          </a:xfrm>
        </p:grpSpPr>
        <p:sp>
          <p:nvSpPr>
            <p:cNvPr id="30" name="Line 16"/>
            <p:cNvSpPr>
              <a:spLocks noChangeShapeType="1"/>
            </p:cNvSpPr>
            <p:nvPr/>
          </p:nvSpPr>
          <p:spPr bwMode="auto">
            <a:xfrm>
              <a:off x="4436368" y="1405921"/>
              <a:ext cx="0" cy="38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17"/>
            <p:cNvSpPr>
              <a:spLocks noChangeArrowheads="1"/>
            </p:cNvSpPr>
            <p:nvPr/>
          </p:nvSpPr>
          <p:spPr bwMode="auto">
            <a:xfrm>
              <a:off x="4283968" y="1024921"/>
              <a:ext cx="366713" cy="4572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>
                  <a:latin typeface="Courier New" pitchFamily="-96" charset="0"/>
                </a:rPr>
                <a:t>r</a:t>
              </a:r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6161106" y="1826627"/>
              <a:ext cx="876300" cy="431800"/>
            </a:xfrm>
            <a:prstGeom prst="rect">
              <a:avLst/>
            </a:prstGeom>
            <a:solidFill>
              <a:srgbClr val="F1C7C7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 err="1">
                  <a:latin typeface="Courier New" pitchFamily="-96" charset="0"/>
                </a:rPr>
                <a:t>i</a:t>
              </a:r>
              <a:endParaRPr lang="en-US" sz="2000" dirty="0">
                <a:latin typeface="Courier New" pitchFamily="-96" charset="0"/>
              </a:endParaRPr>
            </a:p>
          </p:txBody>
        </p:sp>
        <p:sp>
          <p:nvSpPr>
            <p:cNvPr id="23" name="Rectangle 12"/>
            <p:cNvSpPr>
              <a:spLocks noChangeArrowheads="1"/>
            </p:cNvSpPr>
            <p:nvPr/>
          </p:nvSpPr>
          <p:spPr bwMode="auto">
            <a:xfrm>
              <a:off x="7037406" y="1826627"/>
              <a:ext cx="869944" cy="431800"/>
            </a:xfrm>
            <a:prstGeom prst="rect">
              <a:avLst/>
            </a:prstGeom>
            <a:solidFill>
              <a:srgbClr val="D5F1C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>
                  <a:latin typeface="Courier New" pitchFamily="-96" charset="0"/>
                </a:rPr>
                <a:t>next</a:t>
              </a:r>
            </a:p>
          </p:txBody>
        </p:sp>
        <p:sp>
          <p:nvSpPr>
            <p:cNvPr id="24" name="Rectangle 13"/>
            <p:cNvSpPr>
              <a:spLocks noChangeArrowheads="1"/>
            </p:cNvSpPr>
            <p:nvPr/>
          </p:nvSpPr>
          <p:spPr bwMode="auto">
            <a:xfrm>
              <a:off x="4355976" y="2242552"/>
              <a:ext cx="333375" cy="3937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2000" dirty="0">
                  <a:latin typeface="Courier New" pitchFamily="-96" charset="0"/>
                </a:rPr>
                <a:t>0</a:t>
              </a:r>
            </a:p>
          </p:txBody>
        </p:sp>
        <p:sp>
          <p:nvSpPr>
            <p:cNvPr id="25" name="Rectangle 14"/>
            <p:cNvSpPr>
              <a:spLocks noChangeArrowheads="1"/>
            </p:cNvSpPr>
            <p:nvPr/>
          </p:nvSpPr>
          <p:spPr bwMode="auto">
            <a:xfrm>
              <a:off x="5886488" y="2239367"/>
              <a:ext cx="490568" cy="39754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2000" dirty="0">
                  <a:latin typeface="Courier New" pitchFamily="-96" charset="0"/>
                </a:rPr>
                <a:t>16</a:t>
              </a:r>
            </a:p>
          </p:txBody>
        </p:sp>
        <p:sp>
          <p:nvSpPr>
            <p:cNvPr id="26" name="Rectangle 15"/>
            <p:cNvSpPr>
              <a:spLocks noChangeArrowheads="1"/>
            </p:cNvSpPr>
            <p:nvPr/>
          </p:nvSpPr>
          <p:spPr bwMode="auto">
            <a:xfrm>
              <a:off x="6794518" y="2225089"/>
              <a:ext cx="490568" cy="39754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2000" dirty="0">
                  <a:latin typeface="Courier New" pitchFamily="-96" charset="0"/>
                </a:rPr>
                <a:t>24</a:t>
              </a:r>
            </a:p>
          </p:txBody>
        </p:sp>
        <p:sp>
          <p:nvSpPr>
            <p:cNvPr id="27" name="Rectangle 16"/>
            <p:cNvSpPr>
              <a:spLocks noChangeArrowheads="1"/>
            </p:cNvSpPr>
            <p:nvPr/>
          </p:nvSpPr>
          <p:spPr bwMode="auto">
            <a:xfrm>
              <a:off x="7772419" y="2225089"/>
              <a:ext cx="490568" cy="39754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2000" dirty="0">
                  <a:latin typeface="Courier New" pitchFamily="-96" charset="0"/>
                </a:rPr>
                <a:t>32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555625" y="1297012"/>
            <a:ext cx="3296295" cy="14747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 err="1">
                <a:latin typeface="Courier New" pitchFamily="-96" charset="0"/>
              </a:rPr>
              <a:t>struct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rec</a:t>
            </a:r>
            <a:r>
              <a:rPr lang="en-US" sz="1800" dirty="0">
                <a:latin typeface="Courier New" pitchFamily="-96" charset="0"/>
              </a:rPr>
              <a:t> 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</a:t>
            </a:r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a[4];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</a:t>
            </a:r>
            <a:r>
              <a:rPr lang="en-US" sz="1800" dirty="0" err="1">
                <a:latin typeface="Courier New" pitchFamily="-96" charset="0"/>
              </a:rPr>
              <a:t>struct</a:t>
            </a:r>
            <a:r>
              <a:rPr lang="en-US" sz="1800" dirty="0">
                <a:latin typeface="Courier New" pitchFamily="-96" charset="0"/>
              </a:rPr>
              <a:t> rec *next;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837443604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1" name="Rectangle 3"/>
          <p:cNvSpPr>
            <a:spLocks noChangeArrowheads="1"/>
          </p:cNvSpPr>
          <p:nvPr/>
        </p:nvSpPr>
        <p:spPr bwMode="auto">
          <a:xfrm>
            <a:off x="1019196" y="4898710"/>
            <a:ext cx="7159604" cy="17517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114300" algn="l"/>
                <a:tab pos="1255713" algn="l"/>
                <a:tab pos="3944938" algn="l"/>
              </a:tabLst>
              <a:defRPr/>
            </a:pPr>
            <a:r>
              <a:rPr lang="cs-CZ" sz="1800" dirty="0">
                <a:latin typeface="Courier New" pitchFamily="49" charset="0"/>
              </a:rPr>
              <a:t>.L11:                         # </a:t>
            </a:r>
            <a:r>
              <a:rPr lang="cs-CZ" sz="1800" dirty="0" err="1">
                <a:latin typeface="Courier New" pitchFamily="49" charset="0"/>
              </a:rPr>
              <a:t>loop</a:t>
            </a:r>
            <a:r>
              <a:rPr lang="cs-CZ" sz="1800" dirty="0">
                <a:latin typeface="Courier New" pitchFamily="49" charset="0"/>
              </a:rPr>
              <a:t>:</a:t>
            </a:r>
          </a:p>
          <a:p>
            <a:pPr eaLnBrk="0" hangingPunct="0">
              <a:tabLst>
                <a:tab pos="114300" algn="l"/>
                <a:tab pos="1255713" algn="l"/>
                <a:tab pos="3944938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movslq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16(%rdi), %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rax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   #   i = M[r+16]	  </a:t>
            </a:r>
          </a:p>
          <a:p>
            <a:pPr eaLnBrk="0" hangingPunct="0">
              <a:tabLst>
                <a:tab pos="114300" algn="l"/>
                <a:tab pos="1255713" algn="l"/>
                <a:tab pos="3944938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movl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 %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esi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, (%rdi,%rax,4) #   M[r+4*i] = val</a:t>
            </a:r>
          </a:p>
          <a:p>
            <a:pPr eaLnBrk="0" hangingPunct="0">
              <a:tabLst>
                <a:tab pos="114300" algn="l"/>
                <a:tab pos="1255713" algn="l"/>
                <a:tab pos="3944938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movq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 24(%rdi), %rdi      # 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r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= M[r+24]</a:t>
            </a:r>
          </a:p>
          <a:p>
            <a:pPr eaLnBrk="0" hangingPunct="0">
              <a:tabLst>
                <a:tab pos="114300" algn="l"/>
                <a:tab pos="1255713" algn="l"/>
                <a:tab pos="3944938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testq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%rdi, %rdi          #   Test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r</a:t>
            </a:r>
            <a:endParaRPr lang="cs-CZ" sz="1800" dirty="0">
              <a:latin typeface="Courier New" pitchFamily="49" charset="0"/>
              <a:ea typeface="+mn-ea"/>
              <a:cs typeface="+mn-cs"/>
            </a:endParaRPr>
          </a:p>
          <a:p>
            <a:pPr eaLnBrk="0" hangingPunct="0">
              <a:tabLst>
                <a:tab pos="114300" algn="l"/>
                <a:tab pos="1255713" algn="l"/>
                <a:tab pos="3944938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jne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  .L11                # 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if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!=0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goto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loop</a:t>
            </a:r>
            <a:endParaRPr lang="cs-CZ" sz="1800" dirty="0"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324612" name="Rectangle 4"/>
          <p:cNvSpPr>
            <a:spLocks noChangeArrowheads="1"/>
          </p:cNvSpPr>
          <p:nvPr/>
        </p:nvSpPr>
        <p:spPr bwMode="auto">
          <a:xfrm>
            <a:off x="142844" y="2057400"/>
            <a:ext cx="3971924" cy="258275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nn-NO" sz="1800" dirty="0">
                <a:latin typeface="Courier New" pitchFamily="-96" charset="0"/>
              </a:rPr>
              <a:t>void set_val</a:t>
            </a:r>
          </a:p>
          <a:p>
            <a:pPr eaLnBrk="0" hangingPunct="0"/>
            <a:r>
              <a:rPr lang="nn-NO" sz="1800" dirty="0">
                <a:latin typeface="Courier New" pitchFamily="-96" charset="0"/>
              </a:rPr>
              <a:t>  (struct rec *r, int val)</a:t>
            </a:r>
          </a:p>
          <a:p>
            <a:pPr eaLnBrk="0" hangingPunct="0"/>
            <a:r>
              <a:rPr lang="nn-NO" sz="1800" dirty="0">
                <a:latin typeface="Courier New" pitchFamily="-96" charset="0"/>
              </a:rPr>
              <a:t>{</a:t>
            </a:r>
          </a:p>
          <a:p>
            <a:pPr eaLnBrk="0" hangingPunct="0"/>
            <a:r>
              <a:rPr lang="nn-NO" sz="1800" dirty="0">
                <a:latin typeface="Courier New" pitchFamily="-96" charset="0"/>
              </a:rPr>
              <a:t>  while (r) {</a:t>
            </a:r>
          </a:p>
          <a:p>
            <a:pPr eaLnBrk="0" hangingPunct="0"/>
            <a:r>
              <a:rPr lang="nn-NO" sz="1800" dirty="0">
                <a:latin typeface="Courier New" pitchFamily="-96" charset="0"/>
              </a:rPr>
              <a:t>    int i = r-&gt;i;</a:t>
            </a:r>
          </a:p>
          <a:p>
            <a:pPr eaLnBrk="0" hangingPunct="0"/>
            <a:r>
              <a:rPr lang="nn-NO" sz="1800" dirty="0">
                <a:latin typeface="Courier New" pitchFamily="-96" charset="0"/>
              </a:rPr>
              <a:t>    r-&gt;a[i] = val;</a:t>
            </a:r>
          </a:p>
          <a:p>
            <a:pPr eaLnBrk="0" hangingPunct="0"/>
            <a:r>
              <a:rPr lang="nn-NO" sz="1800" dirty="0">
                <a:latin typeface="Courier New" pitchFamily="-96" charset="0"/>
              </a:rPr>
              <a:t>    r = r-&gt;</a:t>
            </a:r>
            <a:r>
              <a:rPr lang="nn-NO" sz="1800" dirty="0" err="1">
                <a:latin typeface="Courier New" pitchFamily="-96" charset="0"/>
              </a:rPr>
              <a:t>next</a:t>
            </a:r>
            <a:r>
              <a:rPr lang="nn-NO" sz="1800" dirty="0">
                <a:latin typeface="Courier New" pitchFamily="-96" charset="0"/>
              </a:rPr>
              <a:t>;</a:t>
            </a:r>
          </a:p>
          <a:p>
            <a:pPr eaLnBrk="0" hangingPunct="0"/>
            <a:r>
              <a:rPr lang="nn-NO" sz="1800" dirty="0">
                <a:latin typeface="Courier New" pitchFamily="-96" charset="0"/>
              </a:rPr>
              <a:t>  }</a:t>
            </a:r>
          </a:p>
          <a:p>
            <a:pPr eaLnBrk="0" hangingPunct="0"/>
            <a:r>
              <a:rPr lang="nn-NO" sz="1800" dirty="0">
                <a:latin typeface="Courier New" pitchFamily="-96" charset="0"/>
              </a:rPr>
              <a:t>}</a:t>
            </a:r>
          </a:p>
        </p:txBody>
      </p:sp>
      <p:sp>
        <p:nvSpPr>
          <p:cNvPr id="121860" name="Rectangle 5"/>
          <p:cNvSpPr>
            <a:spLocks noGrp="1" noChangeArrowheads="1"/>
          </p:cNvSpPr>
          <p:nvPr>
            <p:ph type="title"/>
          </p:nvPr>
        </p:nvSpPr>
        <p:spPr>
          <a:xfrm>
            <a:off x="381000" y="569913"/>
            <a:ext cx="7226300" cy="573087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Following Linked List</a:t>
            </a:r>
          </a:p>
        </p:txBody>
      </p:sp>
      <p:sp>
        <p:nvSpPr>
          <p:cNvPr id="12186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3044825" cy="709602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C Code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645765"/>
              </p:ext>
            </p:extLst>
          </p:nvPr>
        </p:nvGraphicFramePr>
        <p:xfrm>
          <a:off x="4292600" y="3699508"/>
          <a:ext cx="2895600" cy="1112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%</a:t>
                      </a:r>
                      <a:r>
                        <a:rPr lang="en-US" b="1" dirty="0" err="1">
                          <a:latin typeface="Courier New" pitchFamily="49" charset="0"/>
                          <a:cs typeface="Courier New" pitchFamily="49" charset="0"/>
                        </a:rPr>
                        <a:t>rdi</a:t>
                      </a:r>
                      <a:endParaRPr lang="en-US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%</a:t>
                      </a:r>
                      <a:r>
                        <a:rPr lang="en-US" b="1" dirty="0" err="1">
                          <a:latin typeface="Courier New" pitchFamily="49" charset="0"/>
                          <a:cs typeface="Courier New" pitchFamily="49" charset="0"/>
                        </a:rPr>
                        <a:t>rsi</a:t>
                      </a:r>
                      <a:endParaRPr lang="en-US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Courier New" pitchFamily="49" charset="0"/>
                          <a:cs typeface="Courier New" pitchFamily="49" charset="0"/>
                        </a:rPr>
                        <a:t>val</a:t>
                      </a:r>
                      <a:endParaRPr lang="en-US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5116087" y="332656"/>
            <a:ext cx="3296295" cy="14747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 err="1">
                <a:latin typeface="Courier New" pitchFamily="-96" charset="0"/>
              </a:rPr>
              <a:t>struct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rec</a:t>
            </a:r>
            <a:r>
              <a:rPr lang="en-US" sz="1800" dirty="0">
                <a:latin typeface="Courier New" pitchFamily="-96" charset="0"/>
              </a:rPr>
              <a:t> 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</a:t>
            </a:r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a[4];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</a:t>
            </a:r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</a:t>
            </a:r>
            <a:r>
              <a:rPr lang="en-US" sz="1800" dirty="0" err="1">
                <a:latin typeface="Courier New" pitchFamily="-96" charset="0"/>
              </a:rPr>
              <a:t>struct</a:t>
            </a:r>
            <a:r>
              <a:rPr lang="en-US" sz="1800" dirty="0">
                <a:latin typeface="Courier New" pitchFamily="-96" charset="0"/>
              </a:rPr>
              <a:t> rec *next;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};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450943" y="1506560"/>
            <a:ext cx="4223157" cy="1992331"/>
            <a:chOff x="4450943" y="1049360"/>
            <a:chExt cx="4223157" cy="1992331"/>
          </a:xfrm>
        </p:grpSpPr>
        <p:sp>
          <p:nvSpPr>
            <p:cNvPr id="48" name="Line 17"/>
            <p:cNvSpPr>
              <a:spLocks noChangeShapeType="1"/>
            </p:cNvSpPr>
            <p:nvPr/>
          </p:nvSpPr>
          <p:spPr bwMode="auto">
            <a:xfrm flipV="1">
              <a:off x="5454489" y="2279691"/>
              <a:ext cx="0" cy="38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18"/>
            <p:cNvSpPr>
              <a:spLocks noChangeArrowheads="1"/>
            </p:cNvSpPr>
            <p:nvPr/>
          </p:nvSpPr>
          <p:spPr bwMode="auto">
            <a:xfrm>
              <a:off x="4616289" y="2660691"/>
              <a:ext cx="1524000" cy="3810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7" tIns="44450" rIns="90487" bIns="44450">
              <a:prstTxWarp prst="textNoShape">
                <a:avLst/>
              </a:prstTxWarp>
            </a:bodyPr>
            <a:lstStyle/>
            <a:p>
              <a:pPr marL="223838" indent="-223838" defTabSz="895350" eaLnBrk="0" hangingPunct="0">
                <a:spcBef>
                  <a:spcPct val="30000"/>
                </a:spcBef>
              </a:pPr>
              <a:r>
                <a:rPr lang="en-US">
                  <a:solidFill>
                    <a:schemeClr val="tx2"/>
                  </a:solidFill>
                  <a:latin typeface="Calibri" pitchFamily="-96" charset="0"/>
                </a:rPr>
                <a:t>Element </a:t>
              </a:r>
              <a:r>
                <a:rPr lang="en-US">
                  <a:latin typeface="Courier New" pitchFamily="-96" charset="0"/>
                </a:rPr>
                <a:t>i</a:t>
              </a:r>
              <a:endParaRPr lang="en-US">
                <a:solidFill>
                  <a:schemeClr val="tx2"/>
                </a:solidFill>
                <a:latin typeface="Calibri" pitchFamily="-96" charset="0"/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4450943" y="1049360"/>
              <a:ext cx="3979019" cy="1611991"/>
              <a:chOff x="4563315" y="1484784"/>
              <a:chExt cx="3979019" cy="1611991"/>
            </a:xfrm>
          </p:grpSpPr>
          <p:grpSp>
            <p:nvGrpSpPr>
              <p:cNvPr id="19" name="Group 18"/>
              <p:cNvGrpSpPr/>
              <p:nvPr/>
            </p:nvGrpSpPr>
            <p:grpSpPr>
              <a:xfrm>
                <a:off x="4563315" y="1484784"/>
                <a:ext cx="3979019" cy="1611991"/>
                <a:chOff x="4283968" y="1024921"/>
                <a:chExt cx="3979019" cy="1611991"/>
              </a:xfrm>
            </p:grpSpPr>
            <p:sp>
              <p:nvSpPr>
                <p:cNvPr id="20" name="Line 16"/>
                <p:cNvSpPr>
                  <a:spLocks noChangeShapeType="1"/>
                </p:cNvSpPr>
                <p:nvPr/>
              </p:nvSpPr>
              <p:spPr bwMode="auto">
                <a:xfrm>
                  <a:off x="4436368" y="1405921"/>
                  <a:ext cx="0" cy="38100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" name="Rectangle 17"/>
                <p:cNvSpPr>
                  <a:spLocks noChangeArrowheads="1"/>
                </p:cNvSpPr>
                <p:nvPr/>
              </p:nvSpPr>
              <p:spPr bwMode="auto">
                <a:xfrm>
                  <a:off x="4283968" y="1024921"/>
                  <a:ext cx="366713" cy="457200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eaLnBrk="0" hangingPunct="0"/>
                  <a:r>
                    <a:rPr lang="en-US">
                      <a:latin typeface="Courier New" pitchFamily="-96" charset="0"/>
                    </a:rPr>
                    <a:t>r</a:t>
                  </a:r>
                </a:p>
              </p:txBody>
            </p:sp>
            <p:sp>
              <p:nvSpPr>
                <p:cNvPr id="22" name="Rectangle 10"/>
                <p:cNvSpPr>
                  <a:spLocks noChangeArrowheads="1"/>
                </p:cNvSpPr>
                <p:nvPr/>
              </p:nvSpPr>
              <p:spPr bwMode="auto">
                <a:xfrm>
                  <a:off x="6161106" y="1826627"/>
                  <a:ext cx="876300" cy="431800"/>
                </a:xfrm>
                <a:prstGeom prst="rect">
                  <a:avLst/>
                </a:prstGeom>
                <a:solidFill>
                  <a:srgbClr val="F1C7C7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2000" dirty="0" err="1">
                      <a:latin typeface="Courier New" pitchFamily="-96" charset="0"/>
                    </a:rPr>
                    <a:t>i</a:t>
                  </a:r>
                  <a:endParaRPr lang="en-US" sz="2000" dirty="0">
                    <a:latin typeface="Courier New" pitchFamily="-96" charset="0"/>
                  </a:endParaRPr>
                </a:p>
              </p:txBody>
            </p:sp>
            <p:sp>
              <p:nvSpPr>
                <p:cNvPr id="23" name="Rectangle 12"/>
                <p:cNvSpPr>
                  <a:spLocks noChangeArrowheads="1"/>
                </p:cNvSpPr>
                <p:nvPr/>
              </p:nvSpPr>
              <p:spPr bwMode="auto">
                <a:xfrm>
                  <a:off x="7037406" y="1826627"/>
                  <a:ext cx="869944" cy="431800"/>
                </a:xfrm>
                <a:prstGeom prst="rect">
                  <a:avLst/>
                </a:prstGeom>
                <a:solidFill>
                  <a:srgbClr val="D5F1CF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2000" dirty="0">
                      <a:latin typeface="Courier New" pitchFamily="-96" charset="0"/>
                    </a:rPr>
                    <a:t>next</a:t>
                  </a:r>
                </a:p>
              </p:txBody>
            </p:sp>
            <p:sp>
              <p:nvSpPr>
                <p:cNvPr id="24" name="Rectangle 13"/>
                <p:cNvSpPr>
                  <a:spLocks noChangeArrowheads="1"/>
                </p:cNvSpPr>
                <p:nvPr/>
              </p:nvSpPr>
              <p:spPr bwMode="auto">
                <a:xfrm>
                  <a:off x="4355976" y="2242552"/>
                  <a:ext cx="333375" cy="393700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487" tIns="44450" rIns="90487" bIns="44450">
                  <a:prstTxWarp prst="textNoShape">
                    <a:avLst/>
                  </a:prstTxWarp>
                  <a:spAutoFit/>
                </a:bodyPr>
                <a:lstStyle/>
                <a:p>
                  <a:pPr eaLnBrk="0" hangingPunct="0"/>
                  <a:r>
                    <a:rPr lang="en-US" sz="2000" dirty="0">
                      <a:latin typeface="Courier New" pitchFamily="-96" charset="0"/>
                    </a:rPr>
                    <a:t>0</a:t>
                  </a:r>
                </a:p>
              </p:txBody>
            </p:sp>
            <p:sp>
              <p:nvSpPr>
                <p:cNvPr id="25" name="Rectangle 14"/>
                <p:cNvSpPr>
                  <a:spLocks noChangeArrowheads="1"/>
                </p:cNvSpPr>
                <p:nvPr/>
              </p:nvSpPr>
              <p:spPr bwMode="auto">
                <a:xfrm>
                  <a:off x="5886488" y="2239367"/>
                  <a:ext cx="490568" cy="397545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487" tIns="44450" rIns="90487" bIns="44450">
                  <a:prstTxWarp prst="textNoShape">
                    <a:avLst/>
                  </a:prstTxWarp>
                  <a:spAutoFit/>
                </a:bodyPr>
                <a:lstStyle/>
                <a:p>
                  <a:pPr eaLnBrk="0" hangingPunct="0"/>
                  <a:r>
                    <a:rPr lang="en-US" sz="2000" dirty="0">
                      <a:latin typeface="Courier New" pitchFamily="-96" charset="0"/>
                    </a:rPr>
                    <a:t>16</a:t>
                  </a:r>
                </a:p>
              </p:txBody>
            </p:sp>
            <p:sp>
              <p:nvSpPr>
                <p:cNvPr id="26" name="Rectangle 15"/>
                <p:cNvSpPr>
                  <a:spLocks noChangeArrowheads="1"/>
                </p:cNvSpPr>
                <p:nvPr/>
              </p:nvSpPr>
              <p:spPr bwMode="auto">
                <a:xfrm>
                  <a:off x="6794518" y="2225089"/>
                  <a:ext cx="490568" cy="397545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487" tIns="44450" rIns="90487" bIns="44450">
                  <a:prstTxWarp prst="textNoShape">
                    <a:avLst/>
                  </a:prstTxWarp>
                  <a:spAutoFit/>
                </a:bodyPr>
                <a:lstStyle/>
                <a:p>
                  <a:pPr eaLnBrk="0" hangingPunct="0"/>
                  <a:r>
                    <a:rPr lang="en-US" sz="2000" dirty="0">
                      <a:latin typeface="Courier New" pitchFamily="-96" charset="0"/>
                    </a:rPr>
                    <a:t>24</a:t>
                  </a:r>
                </a:p>
              </p:txBody>
            </p:sp>
            <p:sp>
              <p:nvSpPr>
                <p:cNvPr id="27" name="Rectangle 16"/>
                <p:cNvSpPr>
                  <a:spLocks noChangeArrowheads="1"/>
                </p:cNvSpPr>
                <p:nvPr/>
              </p:nvSpPr>
              <p:spPr bwMode="auto">
                <a:xfrm>
                  <a:off x="7772419" y="2225089"/>
                  <a:ext cx="490568" cy="397545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487" tIns="44450" rIns="90487" bIns="44450">
                  <a:prstTxWarp prst="textNoShape">
                    <a:avLst/>
                  </a:prstTxWarp>
                  <a:spAutoFit/>
                </a:bodyPr>
                <a:lstStyle/>
                <a:p>
                  <a:pPr eaLnBrk="0" hangingPunct="0"/>
                  <a:r>
                    <a:rPr lang="en-US" sz="2000" dirty="0">
                      <a:latin typeface="Courier New" pitchFamily="-96" charset="0"/>
                    </a:rPr>
                    <a:t>32</a:t>
                  </a:r>
                </a:p>
              </p:txBody>
            </p:sp>
          </p:grpSp>
          <p:sp>
            <p:nvSpPr>
              <p:cNvPr id="33" name="Rectangle 11"/>
              <p:cNvSpPr>
                <a:spLocks noChangeArrowheads="1"/>
              </p:cNvSpPr>
              <p:nvPr/>
            </p:nvSpPr>
            <p:spPr bwMode="auto">
              <a:xfrm>
                <a:off x="4700975" y="2286490"/>
                <a:ext cx="1739478" cy="4318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7" tIns="44450" rIns="90487" bIns="44450" anchor="ctr"/>
              <a:lstStyle/>
              <a:p>
                <a:pPr eaLnBrk="0" hangingPunct="0">
                  <a:defRPr/>
                </a:pPr>
                <a:r>
                  <a:rPr lang="en-US" sz="2000">
                    <a:latin typeface="Courier New" pitchFamily="49" charset="0"/>
                    <a:ea typeface="+mn-ea"/>
                    <a:cs typeface="+mn-cs"/>
                  </a:rPr>
                  <a:t>a</a:t>
                </a:r>
              </a:p>
            </p:txBody>
          </p:sp>
        </p:grpSp>
        <p:sp>
          <p:nvSpPr>
            <p:cNvPr id="47" name="Freeform 16"/>
            <p:cNvSpPr>
              <a:spLocks/>
            </p:cNvSpPr>
            <p:nvPr/>
          </p:nvSpPr>
          <p:spPr bwMode="auto">
            <a:xfrm flipH="1">
              <a:off x="7683500" y="1506560"/>
              <a:ext cx="990600" cy="457200"/>
            </a:xfrm>
            <a:custGeom>
              <a:avLst/>
              <a:gdLst>
                <a:gd name="T0" fmla="*/ 624 w 624"/>
                <a:gd name="T1" fmla="*/ 288 h 288"/>
                <a:gd name="T2" fmla="*/ 576 w 624"/>
                <a:gd name="T3" fmla="*/ 0 h 288"/>
                <a:gd name="T4" fmla="*/ 96 w 624"/>
                <a:gd name="T5" fmla="*/ 0 h 288"/>
                <a:gd name="T6" fmla="*/ 0 w 624"/>
                <a:gd name="T7" fmla="*/ 144 h 2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288"/>
                <a:gd name="T14" fmla="*/ 624 w 624"/>
                <a:gd name="T15" fmla="*/ 288 h 2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288">
                  <a:moveTo>
                    <a:pt x="624" y="288"/>
                  </a:moveTo>
                  <a:lnTo>
                    <a:pt x="576" y="0"/>
                  </a:lnTo>
                  <a:lnTo>
                    <a:pt x="96" y="0"/>
                  </a:lnTo>
                  <a:lnTo>
                    <a:pt x="0" y="144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endParaRPr lang="en-US">
                <a:latin typeface="Calibri" pitchFamily="-96" charset="0"/>
              </a:endParaRPr>
            </a:p>
          </p:txBody>
        </p:sp>
      </p:grp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Structures &amp; Alignment</a:t>
            </a:r>
          </a:p>
        </p:txBody>
      </p:sp>
      <p:sp>
        <p:nvSpPr>
          <p:cNvPr id="22532" name="Rectangle 4"/>
          <p:cNvSpPr>
            <a:spLocks noGrp="1" noChangeArrowheads="1"/>
          </p:cNvSpPr>
          <p:nvPr>
            <p:ph idx="1"/>
          </p:nvPr>
        </p:nvSpPr>
        <p:spPr>
          <a:xfrm>
            <a:off x="396875" y="1197679"/>
            <a:ext cx="7896225" cy="3602922"/>
          </a:xfrm>
          <a:ln/>
        </p:spPr>
        <p:txBody>
          <a:bodyPr/>
          <a:lstStyle/>
          <a:p>
            <a:r>
              <a:rPr lang="en-US" dirty="0"/>
              <a:t>Unaligned Data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Aligned Data</a:t>
            </a:r>
          </a:p>
          <a:p>
            <a:pPr marL="552450" lvl="1"/>
            <a:r>
              <a:rPr lang="en-US" dirty="0"/>
              <a:t>Primitive data type requires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K</a:t>
            </a:r>
            <a:r>
              <a:rPr lang="en-US" dirty="0"/>
              <a:t> bytes</a:t>
            </a:r>
          </a:p>
          <a:p>
            <a:pPr marL="552450" lvl="1"/>
            <a:r>
              <a:rPr lang="en-US" dirty="0"/>
              <a:t>Address must be multiple of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K</a:t>
            </a:r>
            <a:endParaRPr lang="en-US" dirty="0"/>
          </a:p>
        </p:txBody>
      </p:sp>
      <p:sp>
        <p:nvSpPr>
          <p:cNvPr id="6" name="Rectangle 7"/>
          <p:cNvSpPr>
            <a:spLocks/>
          </p:cNvSpPr>
          <p:nvPr/>
        </p:nvSpPr>
        <p:spPr bwMode="auto">
          <a:xfrm>
            <a:off x="633413" y="4572000"/>
            <a:ext cx="317500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</a:t>
            </a:r>
          </a:p>
        </p:txBody>
      </p:sp>
      <p:sp>
        <p:nvSpPr>
          <p:cNvPr id="7" name="Rectangle 8"/>
          <p:cNvSpPr>
            <a:spLocks/>
          </p:cNvSpPr>
          <p:nvPr/>
        </p:nvSpPr>
        <p:spPr bwMode="auto">
          <a:xfrm>
            <a:off x="1903413" y="4572000"/>
            <a:ext cx="127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i[0]</a:t>
            </a:r>
          </a:p>
        </p:txBody>
      </p:sp>
      <p:sp>
        <p:nvSpPr>
          <p:cNvPr id="8" name="Rectangle 9"/>
          <p:cNvSpPr>
            <a:spLocks/>
          </p:cNvSpPr>
          <p:nvPr/>
        </p:nvSpPr>
        <p:spPr bwMode="auto">
          <a:xfrm>
            <a:off x="3173413" y="4572000"/>
            <a:ext cx="127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i[1]</a:t>
            </a:r>
          </a:p>
        </p:txBody>
      </p:sp>
      <p:sp>
        <p:nvSpPr>
          <p:cNvPr id="9" name="Rectangle 10"/>
          <p:cNvSpPr>
            <a:spLocks/>
          </p:cNvSpPr>
          <p:nvPr/>
        </p:nvSpPr>
        <p:spPr bwMode="auto">
          <a:xfrm>
            <a:off x="5713413" y="4572000"/>
            <a:ext cx="25400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</a:t>
            </a:r>
          </a:p>
        </p:txBody>
      </p:sp>
      <p:sp>
        <p:nvSpPr>
          <p:cNvPr id="10" name="Rectangle 11"/>
          <p:cNvSpPr>
            <a:spLocks/>
          </p:cNvSpPr>
          <p:nvPr/>
        </p:nvSpPr>
        <p:spPr bwMode="auto">
          <a:xfrm>
            <a:off x="950913" y="4572000"/>
            <a:ext cx="952500" cy="381000"/>
          </a:xfrm>
          <a:prstGeom prst="rect">
            <a:avLst/>
          </a:prstGeom>
          <a:solidFill>
            <a:srgbClr val="B2B2B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3 bytes</a:t>
            </a:r>
          </a:p>
        </p:txBody>
      </p:sp>
      <p:sp>
        <p:nvSpPr>
          <p:cNvPr id="11" name="Rectangle 12"/>
          <p:cNvSpPr>
            <a:spLocks/>
          </p:cNvSpPr>
          <p:nvPr/>
        </p:nvSpPr>
        <p:spPr bwMode="auto">
          <a:xfrm>
            <a:off x="4443413" y="4572000"/>
            <a:ext cx="1270000" cy="381000"/>
          </a:xfrm>
          <a:prstGeom prst="rect">
            <a:avLst/>
          </a:prstGeom>
          <a:solidFill>
            <a:srgbClr val="B2B2B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1600">
                <a:solidFill>
                  <a:srgbClr val="FFFFFF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4 bytes</a:t>
            </a:r>
          </a:p>
        </p:txBody>
      </p:sp>
      <p:sp>
        <p:nvSpPr>
          <p:cNvPr id="12" name="Rectangle 13"/>
          <p:cNvSpPr>
            <a:spLocks/>
          </p:cNvSpPr>
          <p:nvPr/>
        </p:nvSpPr>
        <p:spPr bwMode="auto">
          <a:xfrm>
            <a:off x="381000" y="4965700"/>
            <a:ext cx="49051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p+0</a:t>
            </a:r>
          </a:p>
        </p:txBody>
      </p:sp>
      <p:sp>
        <p:nvSpPr>
          <p:cNvPr id="13" name="Rectangle 14"/>
          <p:cNvSpPr>
            <a:spLocks/>
          </p:cNvSpPr>
          <p:nvPr/>
        </p:nvSpPr>
        <p:spPr bwMode="auto">
          <a:xfrm>
            <a:off x="1652588" y="4965700"/>
            <a:ext cx="49051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p+4</a:t>
            </a:r>
          </a:p>
        </p:txBody>
      </p:sp>
      <p:sp>
        <p:nvSpPr>
          <p:cNvPr id="14" name="Rectangle 15"/>
          <p:cNvSpPr>
            <a:spLocks/>
          </p:cNvSpPr>
          <p:nvPr/>
        </p:nvSpPr>
        <p:spPr bwMode="auto">
          <a:xfrm>
            <a:off x="2908300" y="4965700"/>
            <a:ext cx="49051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p+8</a:t>
            </a:r>
          </a:p>
        </p:txBody>
      </p:sp>
      <p:sp>
        <p:nvSpPr>
          <p:cNvPr id="15" name="Rectangle 16"/>
          <p:cNvSpPr>
            <a:spLocks/>
          </p:cNvSpPr>
          <p:nvPr/>
        </p:nvSpPr>
        <p:spPr bwMode="auto">
          <a:xfrm>
            <a:off x="5387975" y="4965700"/>
            <a:ext cx="628377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p+16</a:t>
            </a:r>
          </a:p>
        </p:txBody>
      </p:sp>
      <p:sp>
        <p:nvSpPr>
          <p:cNvPr id="16" name="Rectangle 17"/>
          <p:cNvSpPr>
            <a:spLocks/>
          </p:cNvSpPr>
          <p:nvPr/>
        </p:nvSpPr>
        <p:spPr bwMode="auto">
          <a:xfrm>
            <a:off x="7934325" y="4965700"/>
            <a:ext cx="628377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p+24</a:t>
            </a:r>
          </a:p>
        </p:txBody>
      </p:sp>
      <p:sp>
        <p:nvSpPr>
          <p:cNvPr id="17" name="Line 18"/>
          <p:cNvSpPr>
            <a:spLocks noChangeShapeType="1"/>
          </p:cNvSpPr>
          <p:nvPr/>
        </p:nvSpPr>
        <p:spPr bwMode="auto">
          <a:xfrm rot="10800000" flipH="1">
            <a:off x="1903413" y="5314950"/>
            <a:ext cx="0" cy="3810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8" name="Rectangle 19"/>
          <p:cNvSpPr>
            <a:spLocks/>
          </p:cNvSpPr>
          <p:nvPr/>
        </p:nvSpPr>
        <p:spPr bwMode="auto">
          <a:xfrm>
            <a:off x="1382713" y="5648325"/>
            <a:ext cx="2070100" cy="355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>
              <a:spcBef>
                <a:spcPts val="638"/>
              </a:spcBef>
            </a:pPr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Multiple of 4</a:t>
            </a:r>
          </a:p>
        </p:txBody>
      </p:sp>
      <p:sp>
        <p:nvSpPr>
          <p:cNvPr id="19" name="Rectangle 20"/>
          <p:cNvSpPr>
            <a:spLocks/>
          </p:cNvSpPr>
          <p:nvPr/>
        </p:nvSpPr>
        <p:spPr bwMode="auto">
          <a:xfrm>
            <a:off x="4799013" y="5648325"/>
            <a:ext cx="1905000" cy="355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>
              <a:spcBef>
                <a:spcPts val="638"/>
              </a:spcBef>
            </a:pPr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Multiple of 8</a:t>
            </a:r>
          </a:p>
        </p:txBody>
      </p:sp>
      <p:sp>
        <p:nvSpPr>
          <p:cNvPr id="20" name="Line 21"/>
          <p:cNvSpPr>
            <a:spLocks noChangeShapeType="1"/>
          </p:cNvSpPr>
          <p:nvPr/>
        </p:nvSpPr>
        <p:spPr bwMode="auto">
          <a:xfrm rot="10800000" flipH="1">
            <a:off x="5713413" y="5314950"/>
            <a:ext cx="0" cy="3810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" name="Rectangle 22"/>
          <p:cNvSpPr>
            <a:spLocks/>
          </p:cNvSpPr>
          <p:nvPr/>
        </p:nvSpPr>
        <p:spPr bwMode="auto">
          <a:xfrm>
            <a:off x="404813" y="6159500"/>
            <a:ext cx="1536700" cy="355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>
              <a:spcBef>
                <a:spcPts val="638"/>
              </a:spcBef>
            </a:pPr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Multiple of 8</a:t>
            </a:r>
          </a:p>
        </p:txBody>
      </p:sp>
      <p:sp>
        <p:nvSpPr>
          <p:cNvPr id="22" name="Line 23"/>
          <p:cNvSpPr>
            <a:spLocks noChangeShapeType="1"/>
          </p:cNvSpPr>
          <p:nvPr/>
        </p:nvSpPr>
        <p:spPr bwMode="auto">
          <a:xfrm rot="10800000" flipH="1">
            <a:off x="633413" y="5314950"/>
            <a:ext cx="0" cy="8382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" name="Rectangle 24"/>
          <p:cNvSpPr>
            <a:spLocks/>
          </p:cNvSpPr>
          <p:nvPr/>
        </p:nvSpPr>
        <p:spPr bwMode="auto">
          <a:xfrm>
            <a:off x="6945313" y="6159500"/>
            <a:ext cx="1536700" cy="355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>
              <a:spcBef>
                <a:spcPts val="638"/>
              </a:spcBef>
            </a:pPr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Multiple of 8</a:t>
            </a:r>
          </a:p>
        </p:txBody>
      </p:sp>
      <p:sp>
        <p:nvSpPr>
          <p:cNvPr id="24" name="Line 25"/>
          <p:cNvSpPr>
            <a:spLocks noChangeShapeType="1"/>
          </p:cNvSpPr>
          <p:nvPr/>
        </p:nvSpPr>
        <p:spPr bwMode="auto">
          <a:xfrm rot="10800000" flipH="1">
            <a:off x="8253413" y="5314950"/>
            <a:ext cx="0" cy="8382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" name="Rectangle 7"/>
          <p:cNvSpPr>
            <a:spLocks/>
          </p:cNvSpPr>
          <p:nvPr/>
        </p:nvSpPr>
        <p:spPr bwMode="auto">
          <a:xfrm>
            <a:off x="633413" y="1752600"/>
            <a:ext cx="317500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</a:t>
            </a:r>
          </a:p>
        </p:txBody>
      </p:sp>
      <p:sp>
        <p:nvSpPr>
          <p:cNvPr id="26" name="Rectangle 8"/>
          <p:cNvSpPr>
            <a:spLocks/>
          </p:cNvSpPr>
          <p:nvPr/>
        </p:nvSpPr>
        <p:spPr bwMode="auto">
          <a:xfrm>
            <a:off x="936625" y="1752600"/>
            <a:ext cx="127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i[0]</a:t>
            </a:r>
          </a:p>
        </p:txBody>
      </p:sp>
      <p:sp>
        <p:nvSpPr>
          <p:cNvPr id="27" name="Rectangle 9"/>
          <p:cNvSpPr>
            <a:spLocks/>
          </p:cNvSpPr>
          <p:nvPr/>
        </p:nvSpPr>
        <p:spPr bwMode="auto">
          <a:xfrm>
            <a:off x="2206625" y="1752600"/>
            <a:ext cx="127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[1]</a:t>
            </a:r>
          </a:p>
        </p:txBody>
      </p:sp>
      <p:sp>
        <p:nvSpPr>
          <p:cNvPr id="28" name="Rectangle 10"/>
          <p:cNvSpPr>
            <a:spLocks/>
          </p:cNvSpPr>
          <p:nvPr/>
        </p:nvSpPr>
        <p:spPr bwMode="auto">
          <a:xfrm>
            <a:off x="3449638" y="1752600"/>
            <a:ext cx="25400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</a:t>
            </a:r>
          </a:p>
        </p:txBody>
      </p:sp>
      <p:sp>
        <p:nvSpPr>
          <p:cNvPr id="31" name="Rectangle 13"/>
          <p:cNvSpPr>
            <a:spLocks/>
          </p:cNvSpPr>
          <p:nvPr/>
        </p:nvSpPr>
        <p:spPr bwMode="auto">
          <a:xfrm>
            <a:off x="533400" y="2146300"/>
            <a:ext cx="214802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</a:t>
            </a:r>
          </a:p>
        </p:txBody>
      </p:sp>
      <p:sp>
        <p:nvSpPr>
          <p:cNvPr id="32" name="Rectangle 14"/>
          <p:cNvSpPr>
            <a:spLocks/>
          </p:cNvSpPr>
          <p:nvPr/>
        </p:nvSpPr>
        <p:spPr bwMode="auto">
          <a:xfrm>
            <a:off x="838200" y="2146300"/>
            <a:ext cx="49051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p+1</a:t>
            </a:r>
          </a:p>
        </p:txBody>
      </p:sp>
      <p:sp>
        <p:nvSpPr>
          <p:cNvPr id="33" name="Rectangle 15"/>
          <p:cNvSpPr>
            <a:spLocks/>
          </p:cNvSpPr>
          <p:nvPr/>
        </p:nvSpPr>
        <p:spPr bwMode="auto">
          <a:xfrm>
            <a:off x="1941512" y="2146300"/>
            <a:ext cx="49051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p+5</a:t>
            </a:r>
          </a:p>
        </p:txBody>
      </p:sp>
      <p:sp>
        <p:nvSpPr>
          <p:cNvPr id="34" name="Rectangle 16"/>
          <p:cNvSpPr>
            <a:spLocks/>
          </p:cNvSpPr>
          <p:nvPr/>
        </p:nvSpPr>
        <p:spPr bwMode="auto">
          <a:xfrm>
            <a:off x="3124200" y="2146300"/>
            <a:ext cx="49051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p+9</a:t>
            </a:r>
          </a:p>
        </p:txBody>
      </p:sp>
      <p:sp>
        <p:nvSpPr>
          <p:cNvPr id="35" name="Rectangle 17"/>
          <p:cNvSpPr>
            <a:spLocks/>
          </p:cNvSpPr>
          <p:nvPr/>
        </p:nvSpPr>
        <p:spPr bwMode="auto">
          <a:xfrm>
            <a:off x="5670550" y="2146300"/>
            <a:ext cx="628377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p+17</a:t>
            </a:r>
          </a:p>
        </p:txBody>
      </p:sp>
      <p:sp>
        <p:nvSpPr>
          <p:cNvPr id="44" name="Rectangle 3"/>
          <p:cNvSpPr>
            <a:spLocks/>
          </p:cNvSpPr>
          <p:nvPr/>
        </p:nvSpPr>
        <p:spPr bwMode="auto">
          <a:xfrm>
            <a:off x="6642100" y="1355724"/>
            <a:ext cx="2222500" cy="1539875"/>
          </a:xfrm>
          <a:prstGeom prst="rect">
            <a:avLst/>
          </a:prstGeom>
          <a:solidFill>
            <a:srgbClr val="FFFEB2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struct S1 {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char c;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int i[2];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double v;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*p;</a:t>
            </a:r>
          </a:p>
        </p:txBody>
      </p:sp>
    </p:spTree>
    <p:extLst>
      <p:ext uri="{BB962C8B-B14F-4D97-AF65-F5344CB8AC3E}">
        <p14:creationId xmlns:p14="http://schemas.microsoft.com/office/powerpoint/2010/main" val="3003296182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Alignment Principles</a:t>
            </a:r>
          </a:p>
        </p:txBody>
      </p:sp>
      <p:sp>
        <p:nvSpPr>
          <p:cNvPr id="22532" name="Rectangle 4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/>
          <a:lstStyle/>
          <a:p>
            <a:r>
              <a:rPr lang="en-US" dirty="0"/>
              <a:t>Aligned Data</a:t>
            </a:r>
          </a:p>
          <a:p>
            <a:pPr marL="552450" lvl="1"/>
            <a:r>
              <a:rPr lang="en-US" dirty="0"/>
              <a:t>Primitive data type requires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K</a:t>
            </a:r>
            <a:r>
              <a:rPr lang="en-US" dirty="0"/>
              <a:t> bytes</a:t>
            </a:r>
          </a:p>
          <a:p>
            <a:pPr marL="552450" lvl="1"/>
            <a:r>
              <a:rPr lang="en-US" dirty="0"/>
              <a:t>Address must be multiple of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K</a:t>
            </a:r>
            <a:endParaRPr lang="en-US" dirty="0"/>
          </a:p>
          <a:p>
            <a:pPr marL="552450" lvl="1"/>
            <a:r>
              <a:rPr lang="en-US" dirty="0"/>
              <a:t>Required on some machines; advised on x86-64</a:t>
            </a:r>
          </a:p>
          <a:p>
            <a:r>
              <a:rPr lang="en-US" dirty="0"/>
              <a:t>Motivation for Aligning Data</a:t>
            </a:r>
          </a:p>
          <a:p>
            <a:pPr marL="552450" lvl="1"/>
            <a:r>
              <a:rPr lang="en-US" dirty="0"/>
              <a:t>Memory accessed by (aligned) chunks of 4 or 8 bytes (system dependent)</a:t>
            </a:r>
          </a:p>
          <a:p>
            <a:pPr marL="838200" lvl="2"/>
            <a:r>
              <a:rPr lang="en-US" dirty="0"/>
              <a:t>Inefficient to load or store datum that spans quad word boundaries</a:t>
            </a:r>
          </a:p>
          <a:p>
            <a:pPr marL="838200" lvl="2"/>
            <a:r>
              <a:rPr lang="en-US" dirty="0"/>
              <a:t>Virtual memory trickier when datum spans 2 pages</a:t>
            </a:r>
          </a:p>
          <a:p>
            <a:r>
              <a:rPr lang="en-US" dirty="0"/>
              <a:t>Compiler</a:t>
            </a:r>
          </a:p>
          <a:p>
            <a:pPr marL="552450" lvl="1"/>
            <a:r>
              <a:rPr lang="en-US" dirty="0"/>
              <a:t>Inserts gaps in structure to ensure correct alignment of fields</a:t>
            </a:r>
          </a:p>
        </p:txBody>
      </p:sp>
    </p:spTree>
    <p:extLst>
      <p:ext uri="{BB962C8B-B14F-4D97-AF65-F5344CB8AC3E}">
        <p14:creationId xmlns:p14="http://schemas.microsoft.com/office/powerpoint/2010/main" val="3413684367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Specific Cases of Alignment (x86-64)</a:t>
            </a:r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96875" y="1219200"/>
            <a:ext cx="7896225" cy="4972050"/>
          </a:xfrm>
          <a:ln/>
        </p:spPr>
        <p:txBody>
          <a:bodyPr/>
          <a:lstStyle/>
          <a:p>
            <a:r>
              <a:rPr lang="en-US" dirty="0"/>
              <a:t>1 byte: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char</a:t>
            </a:r>
            <a:r>
              <a:rPr lang="en-US" dirty="0"/>
              <a:t>, …</a:t>
            </a:r>
          </a:p>
          <a:p>
            <a:pPr marL="552450" lvl="1"/>
            <a:r>
              <a:rPr lang="en-US" dirty="0"/>
              <a:t>no restrictions on address</a:t>
            </a:r>
          </a:p>
          <a:p>
            <a:r>
              <a:rPr lang="en-US" dirty="0"/>
              <a:t>2 bytes: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short</a:t>
            </a:r>
            <a:r>
              <a:rPr lang="en-US" dirty="0"/>
              <a:t>, …</a:t>
            </a:r>
          </a:p>
          <a:p>
            <a:pPr marL="552450" lvl="1"/>
            <a:r>
              <a:rPr lang="en-US" dirty="0"/>
              <a:t>lowest 1 bit of address must be 0</a:t>
            </a:r>
            <a:r>
              <a:rPr lang="en-US" baseline="-6000" dirty="0"/>
              <a:t>2</a:t>
            </a:r>
            <a:endParaRPr lang="en-US" dirty="0"/>
          </a:p>
          <a:p>
            <a:r>
              <a:rPr lang="en-US" dirty="0"/>
              <a:t>4 bytes: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dirty="0"/>
              <a:t>,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float</a:t>
            </a:r>
            <a:r>
              <a:rPr lang="en-US" dirty="0"/>
              <a:t>, …</a:t>
            </a:r>
          </a:p>
          <a:p>
            <a:pPr marL="552450" lvl="1"/>
            <a:r>
              <a:rPr lang="en-US" dirty="0"/>
              <a:t>lowest 2 bits of address must be 00</a:t>
            </a:r>
            <a:r>
              <a:rPr lang="en-US" baseline="-6000" dirty="0"/>
              <a:t>2</a:t>
            </a:r>
            <a:endParaRPr lang="en-US" dirty="0"/>
          </a:p>
          <a:p>
            <a:r>
              <a:rPr lang="en-US" dirty="0"/>
              <a:t>8 bytes: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double</a:t>
            </a:r>
            <a:r>
              <a:rPr lang="en-US" dirty="0"/>
              <a:t>, </a:t>
            </a:r>
            <a:r>
              <a:rPr lang="en-US" dirty="0">
                <a:latin typeface="Courier New"/>
                <a:cs typeface="Courier New"/>
              </a:rPr>
              <a:t>long,</a:t>
            </a:r>
            <a:r>
              <a:rPr lang="en-US" dirty="0"/>
              <a:t>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char *</a:t>
            </a:r>
            <a:r>
              <a:rPr lang="en-US" dirty="0"/>
              <a:t>, …</a:t>
            </a:r>
          </a:p>
          <a:p>
            <a:pPr marL="552450" lvl="1"/>
            <a:r>
              <a:rPr lang="en-US" dirty="0"/>
              <a:t>lowest 3 bits of address must be 000</a:t>
            </a:r>
            <a:r>
              <a:rPr lang="en-US" baseline="-6000" dirty="0"/>
              <a:t>2</a:t>
            </a:r>
            <a:endParaRPr lang="en-US" dirty="0"/>
          </a:p>
          <a:p>
            <a:r>
              <a:rPr lang="en-US" dirty="0"/>
              <a:t>16 bytes: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long double</a:t>
            </a:r>
            <a:r>
              <a:rPr lang="en-US" b="0" dirty="0">
                <a:latin typeface="Calibri"/>
                <a:cs typeface="Calibri"/>
                <a:sym typeface="Courier New Bold" charset="0"/>
              </a:rPr>
              <a:t> (GCC on Linux)</a:t>
            </a:r>
            <a:endParaRPr lang="en-US" dirty="0">
              <a:latin typeface="Courier New Bold" charset="0"/>
              <a:cs typeface="Courier New Bold" charset="0"/>
              <a:sym typeface="Courier New Bold" charset="0"/>
            </a:endParaRPr>
          </a:p>
          <a:p>
            <a:pPr lvl="1"/>
            <a:r>
              <a:rPr lang="en-US" dirty="0"/>
              <a:t>lowest 4 bits of address must be 0000</a:t>
            </a:r>
            <a:r>
              <a:rPr lang="en-US" baseline="-6000" dirty="0"/>
              <a:t>2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63854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/>
          </p:cNvSpPr>
          <p:nvPr/>
        </p:nvSpPr>
        <p:spPr bwMode="auto">
          <a:xfrm>
            <a:off x="6642100" y="1355724"/>
            <a:ext cx="2222500" cy="1539875"/>
          </a:xfrm>
          <a:prstGeom prst="rect">
            <a:avLst/>
          </a:prstGeom>
          <a:solidFill>
            <a:srgbClr val="FFFEB2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struct S1 {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char c;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int i[2];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double v;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*p;</a:t>
            </a:r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Satisfying Alignment with Structures</a:t>
            </a:r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81000" y="1130300"/>
            <a:ext cx="8382000" cy="3187700"/>
          </a:xfrm>
          <a:ln/>
        </p:spPr>
        <p:txBody>
          <a:bodyPr/>
          <a:lstStyle/>
          <a:p>
            <a:r>
              <a:rPr lang="en-US" dirty="0"/>
              <a:t>Within structure:</a:t>
            </a:r>
          </a:p>
          <a:p>
            <a:pPr marL="552450" lvl="1"/>
            <a:r>
              <a:rPr lang="en-US" dirty="0"/>
              <a:t>Must satisfy each element’s alignment requirement</a:t>
            </a:r>
          </a:p>
          <a:p>
            <a:r>
              <a:rPr lang="en-US" dirty="0"/>
              <a:t>Overall structure placement</a:t>
            </a:r>
          </a:p>
          <a:p>
            <a:pPr marL="552450" lvl="1"/>
            <a:r>
              <a:rPr lang="en-US" dirty="0"/>
              <a:t>Each structure has alignment requirement </a:t>
            </a: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K</a:t>
            </a:r>
            <a:endParaRPr lang="en-US" dirty="0"/>
          </a:p>
          <a:p>
            <a:pPr marL="838200" lvl="2"/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K</a:t>
            </a:r>
            <a:r>
              <a:rPr lang="en-US" dirty="0"/>
              <a:t> = Largest alignment of any element</a:t>
            </a:r>
          </a:p>
          <a:p>
            <a:pPr marL="552450" lvl="1"/>
            <a:r>
              <a:rPr lang="en-US" dirty="0"/>
              <a:t>Initial address &amp; structure length must be multiples of </a:t>
            </a: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K</a:t>
            </a:r>
            <a:endParaRPr lang="en-US" dirty="0"/>
          </a:p>
          <a:p>
            <a:r>
              <a:rPr lang="en-US" dirty="0"/>
              <a:t>Example:</a:t>
            </a:r>
          </a:p>
          <a:p>
            <a:pPr marL="552450" lvl="1"/>
            <a:r>
              <a:rPr lang="en-US" dirty="0"/>
              <a:t>K = 8, due to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double</a:t>
            </a:r>
            <a:r>
              <a:rPr lang="en-US" dirty="0"/>
              <a:t> element</a:t>
            </a:r>
          </a:p>
        </p:txBody>
      </p:sp>
      <p:sp>
        <p:nvSpPr>
          <p:cNvPr id="25607" name="Rectangle 7"/>
          <p:cNvSpPr>
            <a:spLocks/>
          </p:cNvSpPr>
          <p:nvPr/>
        </p:nvSpPr>
        <p:spPr bwMode="auto">
          <a:xfrm>
            <a:off x="633413" y="4572000"/>
            <a:ext cx="317500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</a:t>
            </a:r>
          </a:p>
        </p:txBody>
      </p:sp>
      <p:sp>
        <p:nvSpPr>
          <p:cNvPr id="25608" name="Rectangle 8"/>
          <p:cNvSpPr>
            <a:spLocks/>
          </p:cNvSpPr>
          <p:nvPr/>
        </p:nvSpPr>
        <p:spPr bwMode="auto">
          <a:xfrm>
            <a:off x="1903413" y="4572000"/>
            <a:ext cx="127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i[0]</a:t>
            </a:r>
          </a:p>
        </p:txBody>
      </p:sp>
      <p:sp>
        <p:nvSpPr>
          <p:cNvPr id="25609" name="Rectangle 9"/>
          <p:cNvSpPr>
            <a:spLocks/>
          </p:cNvSpPr>
          <p:nvPr/>
        </p:nvSpPr>
        <p:spPr bwMode="auto">
          <a:xfrm>
            <a:off x="3173413" y="4572000"/>
            <a:ext cx="127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i[1]</a:t>
            </a:r>
          </a:p>
        </p:txBody>
      </p:sp>
      <p:sp>
        <p:nvSpPr>
          <p:cNvPr id="25610" name="Rectangle 10"/>
          <p:cNvSpPr>
            <a:spLocks/>
          </p:cNvSpPr>
          <p:nvPr/>
        </p:nvSpPr>
        <p:spPr bwMode="auto">
          <a:xfrm>
            <a:off x="5713413" y="4572000"/>
            <a:ext cx="25400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</a:t>
            </a:r>
          </a:p>
        </p:txBody>
      </p:sp>
      <p:sp>
        <p:nvSpPr>
          <p:cNvPr id="25611" name="Rectangle 11"/>
          <p:cNvSpPr>
            <a:spLocks/>
          </p:cNvSpPr>
          <p:nvPr/>
        </p:nvSpPr>
        <p:spPr bwMode="auto">
          <a:xfrm>
            <a:off x="950913" y="4572000"/>
            <a:ext cx="952500" cy="381000"/>
          </a:xfrm>
          <a:prstGeom prst="rect">
            <a:avLst/>
          </a:prstGeom>
          <a:solidFill>
            <a:srgbClr val="B2B2B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1600">
                <a:solidFill>
                  <a:srgbClr val="FFFFFF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3 bytes</a:t>
            </a:r>
          </a:p>
        </p:txBody>
      </p:sp>
      <p:sp>
        <p:nvSpPr>
          <p:cNvPr id="25612" name="Rectangle 12"/>
          <p:cNvSpPr>
            <a:spLocks/>
          </p:cNvSpPr>
          <p:nvPr/>
        </p:nvSpPr>
        <p:spPr bwMode="auto">
          <a:xfrm>
            <a:off x="4443413" y="4572000"/>
            <a:ext cx="1270000" cy="381000"/>
          </a:xfrm>
          <a:prstGeom prst="rect">
            <a:avLst/>
          </a:prstGeom>
          <a:solidFill>
            <a:srgbClr val="B2B2B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1600">
                <a:solidFill>
                  <a:srgbClr val="FFFFFF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4 bytes</a:t>
            </a:r>
          </a:p>
        </p:txBody>
      </p:sp>
      <p:sp>
        <p:nvSpPr>
          <p:cNvPr id="25613" name="Rectangle 13"/>
          <p:cNvSpPr>
            <a:spLocks/>
          </p:cNvSpPr>
          <p:nvPr/>
        </p:nvSpPr>
        <p:spPr bwMode="auto">
          <a:xfrm>
            <a:off x="381000" y="4965700"/>
            <a:ext cx="49051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p+0</a:t>
            </a:r>
          </a:p>
        </p:txBody>
      </p:sp>
      <p:sp>
        <p:nvSpPr>
          <p:cNvPr id="25614" name="Rectangle 14"/>
          <p:cNvSpPr>
            <a:spLocks/>
          </p:cNvSpPr>
          <p:nvPr/>
        </p:nvSpPr>
        <p:spPr bwMode="auto">
          <a:xfrm>
            <a:off x="1652588" y="4965700"/>
            <a:ext cx="49051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p+4</a:t>
            </a:r>
          </a:p>
        </p:txBody>
      </p:sp>
      <p:sp>
        <p:nvSpPr>
          <p:cNvPr id="25615" name="Rectangle 15"/>
          <p:cNvSpPr>
            <a:spLocks/>
          </p:cNvSpPr>
          <p:nvPr/>
        </p:nvSpPr>
        <p:spPr bwMode="auto">
          <a:xfrm>
            <a:off x="2908300" y="4965700"/>
            <a:ext cx="49051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p+8</a:t>
            </a:r>
          </a:p>
        </p:txBody>
      </p:sp>
      <p:sp>
        <p:nvSpPr>
          <p:cNvPr id="25616" name="Rectangle 16"/>
          <p:cNvSpPr>
            <a:spLocks/>
          </p:cNvSpPr>
          <p:nvPr/>
        </p:nvSpPr>
        <p:spPr bwMode="auto">
          <a:xfrm>
            <a:off x="5387975" y="4965700"/>
            <a:ext cx="628377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p+16</a:t>
            </a:r>
          </a:p>
        </p:txBody>
      </p:sp>
      <p:sp>
        <p:nvSpPr>
          <p:cNvPr id="25617" name="Rectangle 17"/>
          <p:cNvSpPr>
            <a:spLocks/>
          </p:cNvSpPr>
          <p:nvPr/>
        </p:nvSpPr>
        <p:spPr bwMode="auto">
          <a:xfrm>
            <a:off x="7934325" y="4965700"/>
            <a:ext cx="628377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p+24</a:t>
            </a:r>
          </a:p>
        </p:txBody>
      </p:sp>
      <p:sp>
        <p:nvSpPr>
          <p:cNvPr id="25618" name="Line 18"/>
          <p:cNvSpPr>
            <a:spLocks noChangeShapeType="1"/>
          </p:cNvSpPr>
          <p:nvPr/>
        </p:nvSpPr>
        <p:spPr bwMode="auto">
          <a:xfrm rot="10800000" flipH="1">
            <a:off x="1903413" y="5314950"/>
            <a:ext cx="0" cy="3810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619" name="Rectangle 19"/>
          <p:cNvSpPr>
            <a:spLocks/>
          </p:cNvSpPr>
          <p:nvPr/>
        </p:nvSpPr>
        <p:spPr bwMode="auto">
          <a:xfrm>
            <a:off x="1382713" y="5648325"/>
            <a:ext cx="2070100" cy="355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>
              <a:spcBef>
                <a:spcPts val="638"/>
              </a:spcBef>
            </a:pPr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Multiple of 4</a:t>
            </a:r>
          </a:p>
        </p:txBody>
      </p:sp>
      <p:sp>
        <p:nvSpPr>
          <p:cNvPr id="25620" name="Rectangle 20"/>
          <p:cNvSpPr>
            <a:spLocks/>
          </p:cNvSpPr>
          <p:nvPr/>
        </p:nvSpPr>
        <p:spPr bwMode="auto">
          <a:xfrm>
            <a:off x="4799013" y="5648325"/>
            <a:ext cx="1905000" cy="355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>
              <a:spcBef>
                <a:spcPts val="638"/>
              </a:spcBef>
            </a:pPr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Multiple of 8</a:t>
            </a:r>
          </a:p>
        </p:txBody>
      </p:sp>
      <p:sp>
        <p:nvSpPr>
          <p:cNvPr id="25621" name="Line 21"/>
          <p:cNvSpPr>
            <a:spLocks noChangeShapeType="1"/>
          </p:cNvSpPr>
          <p:nvPr/>
        </p:nvSpPr>
        <p:spPr bwMode="auto">
          <a:xfrm rot="10800000" flipH="1">
            <a:off x="5713413" y="5314950"/>
            <a:ext cx="0" cy="3810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622" name="Rectangle 22"/>
          <p:cNvSpPr>
            <a:spLocks/>
          </p:cNvSpPr>
          <p:nvPr/>
        </p:nvSpPr>
        <p:spPr bwMode="auto">
          <a:xfrm>
            <a:off x="404813" y="6159500"/>
            <a:ext cx="1536700" cy="355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>
              <a:spcBef>
                <a:spcPts val="638"/>
              </a:spcBef>
            </a:pPr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Multiple of 8</a:t>
            </a:r>
          </a:p>
        </p:txBody>
      </p:sp>
      <p:sp>
        <p:nvSpPr>
          <p:cNvPr id="25623" name="Line 23"/>
          <p:cNvSpPr>
            <a:spLocks noChangeShapeType="1"/>
          </p:cNvSpPr>
          <p:nvPr/>
        </p:nvSpPr>
        <p:spPr bwMode="auto">
          <a:xfrm rot="10800000" flipH="1">
            <a:off x="633413" y="5314950"/>
            <a:ext cx="0" cy="8382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624" name="Rectangle 24"/>
          <p:cNvSpPr>
            <a:spLocks/>
          </p:cNvSpPr>
          <p:nvPr/>
        </p:nvSpPr>
        <p:spPr bwMode="auto">
          <a:xfrm>
            <a:off x="6945313" y="6159500"/>
            <a:ext cx="1536700" cy="355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>
              <a:spcBef>
                <a:spcPts val="638"/>
              </a:spcBef>
            </a:pPr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Multiple of 8</a:t>
            </a:r>
          </a:p>
        </p:txBody>
      </p:sp>
      <p:sp>
        <p:nvSpPr>
          <p:cNvPr id="25625" name="Line 25"/>
          <p:cNvSpPr>
            <a:spLocks noChangeShapeType="1"/>
          </p:cNvSpPr>
          <p:nvPr/>
        </p:nvSpPr>
        <p:spPr bwMode="auto">
          <a:xfrm rot="10800000" flipH="1">
            <a:off x="8253413" y="5314950"/>
            <a:ext cx="0" cy="8382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17212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8359945" cy="762000"/>
          </a:xfrm>
          <a:ln/>
        </p:spPr>
        <p:txBody>
          <a:bodyPr/>
          <a:lstStyle/>
          <a:p>
            <a:pPr marL="119063" indent="-119063"/>
            <a:r>
              <a:rPr lang="en-US" dirty="0"/>
              <a:t>Meeting Overall Alignment Requirement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dirty="0"/>
          </a:p>
          <a:p>
            <a:r>
              <a:rPr lang="en-US" dirty="0"/>
              <a:t>For largest alignment requirement K</a:t>
            </a:r>
          </a:p>
          <a:p>
            <a:r>
              <a:rPr lang="en-US" dirty="0"/>
              <a:t>Overall structure must be multiple of K</a:t>
            </a:r>
          </a:p>
        </p:txBody>
      </p:sp>
      <p:sp>
        <p:nvSpPr>
          <p:cNvPr id="27654" name="Rectangle 6"/>
          <p:cNvSpPr>
            <a:spLocks/>
          </p:cNvSpPr>
          <p:nvPr/>
        </p:nvSpPr>
        <p:spPr bwMode="auto">
          <a:xfrm>
            <a:off x="6069012" y="1905000"/>
            <a:ext cx="2224088" cy="1524000"/>
          </a:xfrm>
          <a:prstGeom prst="rect">
            <a:avLst/>
          </a:prstGeom>
          <a:solidFill>
            <a:srgbClr val="FFFEB2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struct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S2 {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double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i[2];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char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*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</p:txBody>
      </p:sp>
      <p:graphicFrame>
        <p:nvGraphicFramePr>
          <p:cNvPr id="13" name="Group 7"/>
          <p:cNvGraphicFramePr>
            <a:graphicFrameLocks noGrp="1"/>
          </p:cNvGraphicFramePr>
          <p:nvPr/>
        </p:nvGraphicFramePr>
        <p:xfrm>
          <a:off x="381000" y="4495800"/>
          <a:ext cx="8335963" cy="762000"/>
        </p:xfrm>
        <a:graphic>
          <a:graphicData uri="http://schemas.openxmlformats.org/drawingml/2006/table">
            <a:tbl>
              <a:tblPr/>
              <a:tblGrid>
                <a:gridCol w="32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v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D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i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[0]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i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[1]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c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 Bold Italic" charset="0"/>
                          <a:ea typeface="Calibri Bold Italic" charset="0"/>
                          <a:cs typeface="Calibri Bold Italic" charset="0"/>
                          <a:sym typeface="Calibri Bold Italic" charset="0"/>
                        </a:rPr>
                        <a:t>7 bytes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p+0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p+8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p+16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p+24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" name="Straight Arrow Connector 2"/>
          <p:cNvCxnSpPr/>
          <p:nvPr/>
        </p:nvCxnSpPr>
        <p:spPr bwMode="auto">
          <a:xfrm flipV="1">
            <a:off x="7467600" y="5257800"/>
            <a:ext cx="685800" cy="68580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5840437" y="5943600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 dirty="0">
                <a:latin typeface="Calibri" pitchFamily="34" charset="0"/>
              </a:rPr>
              <a:t>Multiple of K=8</a:t>
            </a:r>
          </a:p>
        </p:txBody>
      </p:sp>
    </p:spTree>
    <p:extLst>
      <p:ext uri="{BB962C8B-B14F-4D97-AF65-F5344CB8AC3E}">
        <p14:creationId xmlns:p14="http://schemas.microsoft.com/office/powerpoint/2010/main" val="1469510984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Freeform 1"/>
          <p:cNvSpPr>
            <a:spLocks/>
          </p:cNvSpPr>
          <p:nvPr/>
        </p:nvSpPr>
        <p:spPr bwMode="auto">
          <a:xfrm>
            <a:off x="711200" y="3708400"/>
            <a:ext cx="7670800" cy="2032000"/>
          </a:xfrm>
          <a:custGeom>
            <a:avLst/>
            <a:gdLst/>
            <a:ahLst/>
            <a:cxnLst>
              <a:cxn ang="0">
                <a:pos x="7617" y="0"/>
              </a:cxn>
              <a:cxn ang="0">
                <a:pos x="0" y="21465"/>
              </a:cxn>
              <a:cxn ang="0">
                <a:pos x="21600" y="21600"/>
              </a:cxn>
              <a:cxn ang="0">
                <a:pos x="13017" y="0"/>
              </a:cxn>
              <a:cxn ang="0">
                <a:pos x="7617" y="0"/>
              </a:cxn>
              <a:cxn ang="0">
                <a:pos x="7617" y="0"/>
              </a:cxn>
            </a:cxnLst>
            <a:rect l="0" t="0" r="r" b="b"/>
            <a:pathLst>
              <a:path w="21600" h="21600">
                <a:moveTo>
                  <a:pt x="7617" y="0"/>
                </a:moveTo>
                <a:lnTo>
                  <a:pt x="0" y="21465"/>
                </a:lnTo>
                <a:lnTo>
                  <a:pt x="21600" y="21600"/>
                </a:lnTo>
                <a:lnTo>
                  <a:pt x="13017" y="0"/>
                </a:lnTo>
                <a:lnTo>
                  <a:pt x="7617" y="0"/>
                </a:lnTo>
                <a:close/>
                <a:moveTo>
                  <a:pt x="7617" y="0"/>
                </a:moveTo>
              </a:path>
            </a:pathLst>
          </a:custGeom>
          <a:solidFill>
            <a:srgbClr val="E6E6E6"/>
          </a:solidFill>
          <a:ln w="381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Arrays of Structures</a:t>
            </a:r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4508500" cy="977900"/>
          </a:xfrm>
          <a:ln/>
        </p:spPr>
        <p:txBody>
          <a:bodyPr/>
          <a:lstStyle/>
          <a:p>
            <a:r>
              <a:rPr lang="en-US" dirty="0"/>
              <a:t>Overall structure length multiple of K</a:t>
            </a:r>
          </a:p>
          <a:p>
            <a:r>
              <a:rPr lang="en-US" dirty="0"/>
              <a:t>Satisfy alignment requirement </a:t>
            </a:r>
            <a:br>
              <a:rPr lang="en-US" dirty="0"/>
            </a:br>
            <a:r>
              <a:rPr lang="en-US" dirty="0"/>
              <a:t>for every element</a:t>
            </a:r>
          </a:p>
        </p:txBody>
      </p:sp>
      <p:sp>
        <p:nvSpPr>
          <p:cNvPr id="28678" name="Rectangle 6"/>
          <p:cNvSpPr>
            <a:spLocks/>
          </p:cNvSpPr>
          <p:nvPr/>
        </p:nvSpPr>
        <p:spPr bwMode="auto">
          <a:xfrm>
            <a:off x="6642100" y="1213553"/>
            <a:ext cx="2222500" cy="1529647"/>
          </a:xfrm>
          <a:prstGeom prst="rect">
            <a:avLst/>
          </a:prstGeom>
          <a:solidFill>
            <a:srgbClr val="FFFEB2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struct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S2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double v;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[2];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char c;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a[10];</a:t>
            </a:r>
          </a:p>
        </p:txBody>
      </p:sp>
      <p:graphicFrame>
        <p:nvGraphicFramePr>
          <p:cNvPr id="28679" name="Group 7"/>
          <p:cNvGraphicFramePr>
            <a:graphicFrameLocks noGrp="1"/>
          </p:cNvGraphicFramePr>
          <p:nvPr/>
        </p:nvGraphicFramePr>
        <p:xfrm>
          <a:off x="381000" y="5715000"/>
          <a:ext cx="8335963" cy="762000"/>
        </p:xfrm>
        <a:graphic>
          <a:graphicData uri="http://schemas.openxmlformats.org/drawingml/2006/table">
            <a:tbl>
              <a:tblPr/>
              <a:tblGrid>
                <a:gridCol w="32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v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D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i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[0]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i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[1]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c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 Bold Italic" charset="0"/>
                          <a:ea typeface="Calibri Bold Italic" charset="0"/>
                          <a:cs typeface="Calibri Bold Italic" charset="0"/>
                          <a:sym typeface="Calibri Bold Italic" charset="0"/>
                        </a:rPr>
                        <a:t>7 bytes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a+24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a+32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a+40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a+48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791" name="Group 119"/>
          <p:cNvGraphicFramePr>
            <a:graphicFrameLocks noGrp="1"/>
          </p:cNvGraphicFramePr>
          <p:nvPr/>
        </p:nvGraphicFramePr>
        <p:xfrm>
          <a:off x="1181100" y="3314700"/>
          <a:ext cx="8240168" cy="762000"/>
        </p:xfrm>
        <a:graphic>
          <a:graphicData uri="http://schemas.openxmlformats.org/drawingml/2006/table">
            <a:tbl>
              <a:tblPr/>
              <a:tblGrid>
                <a:gridCol w="32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97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2805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a[0]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a[1]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a[2]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• • •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  <a:cs typeface="Courier New Bold" charset="0"/>
                          <a:sym typeface="Courier New Bold" charset="0"/>
                        </a:rPr>
                        <a:t>a+0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  <a:cs typeface="Courier New Bold" charset="0"/>
                          <a:sym typeface="Courier New Bold" charset="0"/>
                        </a:rPr>
                        <a:t>a+24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  <a:cs typeface="Courier New Bold" charset="0"/>
                          <a:sym typeface="Courier New Bold" charset="0"/>
                        </a:rPr>
                        <a:t>a+48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  <a:cs typeface="Courier New Bold" charset="0"/>
                          <a:sym typeface="Courier New Bold" charset="0"/>
                        </a:rPr>
                        <a:t>a+72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77900" y="508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464855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Freeform 1"/>
          <p:cNvSpPr>
            <a:spLocks/>
          </p:cNvSpPr>
          <p:nvPr/>
        </p:nvSpPr>
        <p:spPr bwMode="auto">
          <a:xfrm>
            <a:off x="3111500" y="3860800"/>
            <a:ext cx="4445000" cy="812800"/>
          </a:xfrm>
          <a:custGeom>
            <a:avLst/>
            <a:gdLst/>
            <a:ahLst/>
            <a:cxnLst>
              <a:cxn ang="0">
                <a:pos x="6171" y="338"/>
              </a:cxn>
              <a:cxn ang="0">
                <a:pos x="0" y="21600"/>
              </a:cxn>
              <a:cxn ang="0">
                <a:pos x="21600" y="21600"/>
              </a:cxn>
              <a:cxn ang="0">
                <a:pos x="15552" y="0"/>
              </a:cxn>
              <a:cxn ang="0">
                <a:pos x="6171" y="338"/>
              </a:cxn>
              <a:cxn ang="0">
                <a:pos x="6171" y="338"/>
              </a:cxn>
            </a:cxnLst>
            <a:rect l="0" t="0" r="r" b="b"/>
            <a:pathLst>
              <a:path w="21600" h="21600">
                <a:moveTo>
                  <a:pt x="6171" y="338"/>
                </a:moveTo>
                <a:lnTo>
                  <a:pt x="0" y="21600"/>
                </a:lnTo>
                <a:lnTo>
                  <a:pt x="21600" y="21600"/>
                </a:lnTo>
                <a:lnTo>
                  <a:pt x="15552" y="0"/>
                </a:lnTo>
                <a:lnTo>
                  <a:pt x="6171" y="338"/>
                </a:lnTo>
                <a:close/>
                <a:moveTo>
                  <a:pt x="6171" y="338"/>
                </a:moveTo>
              </a:path>
            </a:pathLst>
          </a:custGeom>
          <a:solidFill>
            <a:srgbClr val="E6E6E6"/>
          </a:solidFill>
          <a:ln w="381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Accessing Array Elements</a:t>
            </a:r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8382000" cy="2070100"/>
          </a:xfrm>
          <a:ln/>
        </p:spPr>
        <p:txBody>
          <a:bodyPr/>
          <a:lstStyle/>
          <a:p>
            <a:r>
              <a:rPr lang="en-US" dirty="0"/>
              <a:t>Compute array offset 12*</a:t>
            </a:r>
            <a:r>
              <a:rPr lang="en-US" dirty="0" err="1"/>
              <a:t>idx</a:t>
            </a:r>
            <a:endParaRPr lang="en-US" dirty="0"/>
          </a:p>
          <a:p>
            <a:pPr marL="552450" lvl="1"/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sizeof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(S3)</a:t>
            </a:r>
            <a:r>
              <a:rPr lang="en-US" dirty="0"/>
              <a:t>, including alignment spacers</a:t>
            </a:r>
          </a:p>
          <a:p>
            <a:r>
              <a:rPr lang="en-US" dirty="0"/>
              <a:t>Element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j</a:t>
            </a:r>
            <a:r>
              <a:rPr lang="en-US" dirty="0"/>
              <a:t> is at offset 8 within structure</a:t>
            </a:r>
          </a:p>
          <a:p>
            <a:r>
              <a:rPr lang="en-US" dirty="0"/>
              <a:t>Assembler gives offset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a+8</a:t>
            </a:r>
            <a:endParaRPr lang="en-US" dirty="0"/>
          </a:p>
          <a:p>
            <a:pPr marL="552450" lvl="1"/>
            <a:r>
              <a:rPr lang="en-US" dirty="0"/>
              <a:t>Resolved during linking</a:t>
            </a:r>
          </a:p>
        </p:txBody>
      </p:sp>
      <p:sp>
        <p:nvSpPr>
          <p:cNvPr id="29702" name="Rectangle 6"/>
          <p:cNvSpPr>
            <a:spLocks/>
          </p:cNvSpPr>
          <p:nvPr/>
        </p:nvSpPr>
        <p:spPr bwMode="auto">
          <a:xfrm>
            <a:off x="6396038" y="609600"/>
            <a:ext cx="2222500" cy="1524000"/>
          </a:xfrm>
          <a:prstGeom prst="rect">
            <a:avLst/>
          </a:prstGeom>
          <a:solidFill>
            <a:srgbClr val="FFFEB2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struct S3 {</a:t>
            </a:r>
            <a:endParaRPr lang="en-US" sz="18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short i;</a:t>
            </a:r>
            <a:endParaRPr lang="en-US" sz="18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float v;</a:t>
            </a:r>
            <a:endParaRPr lang="en-US" sz="18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short j;</a:t>
            </a:r>
            <a:endParaRPr lang="en-US" sz="18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a[10];</a:t>
            </a:r>
          </a:p>
        </p:txBody>
      </p:sp>
      <p:sp>
        <p:nvSpPr>
          <p:cNvPr id="29703" name="Rectangle 7"/>
          <p:cNvSpPr>
            <a:spLocks/>
          </p:cNvSpPr>
          <p:nvPr/>
        </p:nvSpPr>
        <p:spPr bwMode="auto">
          <a:xfrm>
            <a:off x="457200" y="5410200"/>
            <a:ext cx="3289300" cy="1117600"/>
          </a:xfrm>
          <a:prstGeom prst="rect">
            <a:avLst/>
          </a:prstGeom>
          <a:solidFill>
            <a:srgbClr val="FFFEB2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short get_j(int idx)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a[idx].j;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9704" name="Rectangle 8"/>
          <p:cNvSpPr>
            <a:spLocks/>
          </p:cNvSpPr>
          <p:nvPr/>
        </p:nvSpPr>
        <p:spPr bwMode="auto">
          <a:xfrm>
            <a:off x="3886200" y="5537200"/>
            <a:ext cx="4660900" cy="863600"/>
          </a:xfrm>
          <a:prstGeom prst="rect">
            <a:avLst/>
          </a:prstGeom>
          <a:solidFill>
            <a:srgbClr val="9CE0F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114300" algn="l"/>
                <a:tab pos="114300" algn="l"/>
                <a:tab pos="114300" algn="l"/>
              </a:tabLst>
            </a:pPr>
            <a:r>
              <a:rPr lang="en-US" sz="1800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# %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idx</a:t>
            </a:r>
            <a:endParaRPr lang="en-US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>
              <a:tabLst>
                <a:tab pos="114300" algn="l"/>
                <a:tab pos="114300" algn="l"/>
                <a:tab pos="114300" algn="l"/>
              </a:tabLst>
            </a:pPr>
            <a:r>
              <a:rPr lang="en-US" sz="1800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(%rdi,%rdi,2),%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rax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# 3*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idx</a:t>
            </a:r>
            <a:endParaRPr lang="en-US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>
              <a:tabLst>
                <a:tab pos="114300" algn="l"/>
                <a:tab pos="114300" algn="l"/>
                <a:tab pos="114300" algn="l"/>
              </a:tabLst>
            </a:pPr>
            <a:r>
              <a:rPr lang="en-US" sz="1800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movzwl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a+8(,%rax,4),%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eax</a:t>
            </a:r>
            <a:endParaRPr lang="en-US" sz="1800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</p:txBody>
      </p:sp>
      <p:graphicFrame>
        <p:nvGraphicFramePr>
          <p:cNvPr id="29705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54956"/>
              </p:ext>
            </p:extLst>
          </p:nvPr>
        </p:nvGraphicFramePr>
        <p:xfrm>
          <a:off x="241300" y="3479800"/>
          <a:ext cx="8329613" cy="762000"/>
        </p:xfrm>
        <a:graphic>
          <a:graphicData uri="http://schemas.openxmlformats.org/drawingml/2006/table">
            <a:tbl>
              <a:tblPr/>
              <a:tblGrid>
                <a:gridCol w="32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97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976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a[0]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• • •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a[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idx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]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 • •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 •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a+0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a+12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a+12*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idx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798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889802"/>
              </p:ext>
            </p:extLst>
          </p:nvPr>
        </p:nvGraphicFramePr>
        <p:xfrm>
          <a:off x="1370013" y="4648200"/>
          <a:ext cx="6429375" cy="596900"/>
        </p:xfrm>
        <a:graphic>
          <a:graphicData uri="http://schemas.openxmlformats.org/drawingml/2006/table">
            <a:tbl>
              <a:tblPr/>
              <a:tblGrid>
                <a:gridCol w="24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1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13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37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37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136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13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i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 Bold Italic" charset="0"/>
                          <a:ea typeface="Calibri Bold Italic" charset="0"/>
                          <a:cs typeface="Calibri Bold Italic" charset="0"/>
                          <a:sym typeface="Calibri Bold Italic" charset="0"/>
                        </a:rPr>
                        <a:t>2 bytes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v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D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j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 Bold Italic" charset="0"/>
                          <a:ea typeface="Calibri Bold Italic" charset="0"/>
                          <a:cs typeface="Calibri Bold Italic" charset="0"/>
                          <a:sym typeface="Calibri Bold Italic" charset="0"/>
                        </a:rPr>
                        <a:t>2 bytes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4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a+12*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idx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a+12*idx+8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1832954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Saving Space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Put large data types first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Effect (K=4)</a:t>
            </a:r>
          </a:p>
        </p:txBody>
      </p:sp>
      <p:sp>
        <p:nvSpPr>
          <p:cNvPr id="27653" name="Rectangle 5"/>
          <p:cNvSpPr>
            <a:spLocks/>
          </p:cNvSpPr>
          <p:nvPr/>
        </p:nvSpPr>
        <p:spPr bwMode="auto">
          <a:xfrm>
            <a:off x="1549400" y="2019300"/>
            <a:ext cx="2222500" cy="1562100"/>
          </a:xfrm>
          <a:prstGeom prst="rect">
            <a:avLst/>
          </a:prstGeom>
          <a:solidFill>
            <a:srgbClr val="FFFEB2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struct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S4 {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char c;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char d;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*p;</a:t>
            </a:r>
          </a:p>
        </p:txBody>
      </p:sp>
      <p:sp>
        <p:nvSpPr>
          <p:cNvPr id="27654" name="Rectangle 6"/>
          <p:cNvSpPr>
            <a:spLocks/>
          </p:cNvSpPr>
          <p:nvPr/>
        </p:nvSpPr>
        <p:spPr bwMode="auto">
          <a:xfrm>
            <a:off x="5353050" y="2017712"/>
            <a:ext cx="2224088" cy="1563688"/>
          </a:xfrm>
          <a:prstGeom prst="rect">
            <a:avLst/>
          </a:prstGeom>
          <a:solidFill>
            <a:srgbClr val="FFFEB2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struct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S5 {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char c;</a:t>
            </a:r>
          </a:p>
          <a:p>
            <a:pPr algn="l"/>
            <a:r>
              <a:rPr lang="en-US" sz="1800" b="1" dirty="0"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 char d;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*p;</a:t>
            </a:r>
          </a:p>
        </p:txBody>
      </p:sp>
      <p:sp>
        <p:nvSpPr>
          <p:cNvPr id="27655" name="AutoShape 7"/>
          <p:cNvSpPr>
            <a:spLocks/>
          </p:cNvSpPr>
          <p:nvPr/>
        </p:nvSpPr>
        <p:spPr bwMode="auto">
          <a:xfrm>
            <a:off x="4140200" y="2298700"/>
            <a:ext cx="914400" cy="68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21D10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" name="Rectangle 7"/>
          <p:cNvSpPr>
            <a:spLocks/>
          </p:cNvSpPr>
          <p:nvPr/>
        </p:nvSpPr>
        <p:spPr bwMode="auto">
          <a:xfrm>
            <a:off x="633413" y="4572000"/>
            <a:ext cx="317500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</a:t>
            </a:r>
          </a:p>
        </p:txBody>
      </p:sp>
      <p:sp>
        <p:nvSpPr>
          <p:cNvPr id="13" name="Rectangle 8"/>
          <p:cNvSpPr>
            <a:spLocks/>
          </p:cNvSpPr>
          <p:nvPr/>
        </p:nvSpPr>
        <p:spPr bwMode="auto">
          <a:xfrm>
            <a:off x="1903413" y="4572000"/>
            <a:ext cx="127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endParaRPr lang="en-US" sz="20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15" name="Rectangle 11"/>
          <p:cNvSpPr>
            <a:spLocks/>
          </p:cNvSpPr>
          <p:nvPr/>
        </p:nvSpPr>
        <p:spPr bwMode="auto">
          <a:xfrm>
            <a:off x="950913" y="4572000"/>
            <a:ext cx="952500" cy="381000"/>
          </a:xfrm>
          <a:prstGeom prst="rect">
            <a:avLst/>
          </a:prstGeom>
          <a:solidFill>
            <a:srgbClr val="B2B2B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3 bytes</a:t>
            </a:r>
          </a:p>
        </p:txBody>
      </p:sp>
      <p:sp>
        <p:nvSpPr>
          <p:cNvPr id="16" name="Rectangle 7"/>
          <p:cNvSpPr>
            <a:spLocks/>
          </p:cNvSpPr>
          <p:nvPr/>
        </p:nvSpPr>
        <p:spPr bwMode="auto">
          <a:xfrm>
            <a:off x="3149600" y="4572000"/>
            <a:ext cx="317500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</a:t>
            </a:r>
          </a:p>
        </p:txBody>
      </p:sp>
      <p:sp>
        <p:nvSpPr>
          <p:cNvPr id="17" name="Rectangle 11"/>
          <p:cNvSpPr>
            <a:spLocks/>
          </p:cNvSpPr>
          <p:nvPr/>
        </p:nvSpPr>
        <p:spPr bwMode="auto">
          <a:xfrm>
            <a:off x="3467100" y="4572000"/>
            <a:ext cx="952500" cy="381000"/>
          </a:xfrm>
          <a:prstGeom prst="rect">
            <a:avLst/>
          </a:prstGeom>
          <a:solidFill>
            <a:srgbClr val="B2B2B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3 bytes</a:t>
            </a:r>
          </a:p>
        </p:txBody>
      </p:sp>
      <p:sp>
        <p:nvSpPr>
          <p:cNvPr id="18" name="Rectangle 7"/>
          <p:cNvSpPr>
            <a:spLocks/>
          </p:cNvSpPr>
          <p:nvPr/>
        </p:nvSpPr>
        <p:spPr bwMode="auto">
          <a:xfrm>
            <a:off x="1892300" y="5257800"/>
            <a:ext cx="317500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</a:t>
            </a:r>
          </a:p>
        </p:txBody>
      </p:sp>
      <p:sp>
        <p:nvSpPr>
          <p:cNvPr id="19" name="Rectangle 8"/>
          <p:cNvSpPr>
            <a:spLocks/>
          </p:cNvSpPr>
          <p:nvPr/>
        </p:nvSpPr>
        <p:spPr bwMode="auto">
          <a:xfrm>
            <a:off x="635000" y="5257800"/>
            <a:ext cx="127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endParaRPr lang="en-US" sz="20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1" name="Rectangle 7"/>
          <p:cNvSpPr>
            <a:spLocks/>
          </p:cNvSpPr>
          <p:nvPr/>
        </p:nvSpPr>
        <p:spPr bwMode="auto">
          <a:xfrm>
            <a:off x="2159000" y="5257800"/>
            <a:ext cx="317500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</a:t>
            </a:r>
          </a:p>
        </p:txBody>
      </p:sp>
      <p:sp>
        <p:nvSpPr>
          <p:cNvPr id="22" name="Rectangle 11"/>
          <p:cNvSpPr>
            <a:spLocks/>
          </p:cNvSpPr>
          <p:nvPr/>
        </p:nvSpPr>
        <p:spPr bwMode="auto">
          <a:xfrm>
            <a:off x="2476500" y="5257800"/>
            <a:ext cx="696913" cy="381000"/>
          </a:xfrm>
          <a:prstGeom prst="rect">
            <a:avLst/>
          </a:prstGeom>
          <a:solidFill>
            <a:srgbClr val="B2B2B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2 bytes</a:t>
            </a:r>
          </a:p>
        </p:txBody>
      </p:sp>
    </p:spTree>
    <p:extLst>
      <p:ext uri="{BB962C8B-B14F-4D97-AF65-F5344CB8AC3E}">
        <p14:creationId xmlns:p14="http://schemas.microsoft.com/office/powerpoint/2010/main" val="2314109731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85000"/>
          </a:schemeClr>
        </a:solidFill>
        <a:ln w="25400" cap="flat" cmpd="sng" algn="ctr">
          <a:noFill/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rtlCol="0" anchor="ctr" anchorCtr="1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 smtClean="0">
            <a:latin typeface="Calibri" pitchFamily="34" charset="0"/>
          </a:defRPr>
        </a:defPPr>
      </a:lstStyle>
    </a:spDef>
    <a:lnDef>
      <a:spPr bwMode="auto">
        <a:noFill/>
        <a:ln w="2540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20194</TotalTime>
  <Words>3105</Words>
  <Application>Microsoft Macintosh PowerPoint</Application>
  <PresentationFormat>On-screen Show (4:3)</PresentationFormat>
  <Paragraphs>797</Paragraphs>
  <Slides>30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6" baseType="lpstr">
      <vt:lpstr>ＭＳ Ｐゴシック</vt:lpstr>
      <vt:lpstr>ヒラギノ角ゴ ProN W6</vt:lpstr>
      <vt:lpstr>Arial</vt:lpstr>
      <vt:lpstr>Arial Narrow</vt:lpstr>
      <vt:lpstr>Calibri</vt:lpstr>
      <vt:lpstr>Calibri Bold</vt:lpstr>
      <vt:lpstr>Calibri Bold Italic</vt:lpstr>
      <vt:lpstr>Courier</vt:lpstr>
      <vt:lpstr>Courier New</vt:lpstr>
      <vt:lpstr>Courier New Bold</vt:lpstr>
      <vt:lpstr>Lucida Grande</vt:lpstr>
      <vt:lpstr>Monaco</vt:lpstr>
      <vt:lpstr>Times New Roman</vt:lpstr>
      <vt:lpstr>Wingdings</vt:lpstr>
      <vt:lpstr>Wingdings 2</vt:lpstr>
      <vt:lpstr>template2007</vt:lpstr>
      <vt:lpstr>Data Storage</vt:lpstr>
      <vt:lpstr>Array Allocation</vt:lpstr>
      <vt:lpstr>Array Access</vt:lpstr>
      <vt:lpstr>Array Example</vt:lpstr>
      <vt:lpstr>Array Accessing Example</vt:lpstr>
      <vt:lpstr>Array Loop Example</vt:lpstr>
      <vt:lpstr>Multidimensional (Nested) Arrays</vt:lpstr>
      <vt:lpstr>Nested Array Example</vt:lpstr>
      <vt:lpstr>Nested Array Row Access</vt:lpstr>
      <vt:lpstr>Nested Array Row Access Code</vt:lpstr>
      <vt:lpstr>Nested Array Element Access</vt:lpstr>
      <vt:lpstr>Nested Array Element Access Code</vt:lpstr>
      <vt:lpstr>Multi-Level Array Example</vt:lpstr>
      <vt:lpstr>Element Access in Multi-Level Array</vt:lpstr>
      <vt:lpstr>Array Element Accesses</vt:lpstr>
      <vt:lpstr>N X N Matrix Code</vt:lpstr>
      <vt:lpstr>16 X 16 Matrix Access</vt:lpstr>
      <vt:lpstr>n X n Matrix Access</vt:lpstr>
      <vt:lpstr>Data Storage</vt:lpstr>
      <vt:lpstr>Structure Representation</vt:lpstr>
      <vt:lpstr>Generating Pointer to Structure Member</vt:lpstr>
      <vt:lpstr>Following Linked List</vt:lpstr>
      <vt:lpstr>Structures &amp; Alignment</vt:lpstr>
      <vt:lpstr>Alignment Principles</vt:lpstr>
      <vt:lpstr>Specific Cases of Alignment (x86-64)</vt:lpstr>
      <vt:lpstr>Satisfying Alignment with Structures</vt:lpstr>
      <vt:lpstr>Meeting Overall Alignment Requirement</vt:lpstr>
      <vt:lpstr>Arrays of Structures</vt:lpstr>
      <vt:lpstr>Accessing Array Elements</vt:lpstr>
      <vt:lpstr>Saving Space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Ryan Balachandran</cp:lastModifiedBy>
  <cp:revision>746</cp:revision>
  <cp:lastPrinted>2014-09-18T08:14:12Z</cp:lastPrinted>
  <dcterms:created xsi:type="dcterms:W3CDTF">2012-09-20T14:26:38Z</dcterms:created>
  <dcterms:modified xsi:type="dcterms:W3CDTF">2019-11-08T19:32:24Z</dcterms:modified>
</cp:coreProperties>
</file>