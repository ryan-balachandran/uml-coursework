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645" r:id="rId2"/>
    <p:sldId id="580" r:id="rId3"/>
    <p:sldId id="581" r:id="rId4"/>
    <p:sldId id="582" r:id="rId5"/>
    <p:sldId id="662" r:id="rId6"/>
    <p:sldId id="584" r:id="rId7"/>
    <p:sldId id="585" r:id="rId8"/>
    <p:sldId id="632" r:id="rId9"/>
    <p:sldId id="661" r:id="rId10"/>
    <p:sldId id="590" r:id="rId11"/>
    <p:sldId id="598" r:id="rId12"/>
    <p:sldId id="651" r:id="rId13"/>
    <p:sldId id="639" r:id="rId14"/>
    <p:sldId id="649" r:id="rId15"/>
    <p:sldId id="597" r:id="rId16"/>
    <p:sldId id="680" r:id="rId17"/>
    <p:sldId id="599" r:id="rId18"/>
    <p:sldId id="601" r:id="rId19"/>
    <p:sldId id="602" r:id="rId20"/>
    <p:sldId id="663" r:id="rId21"/>
    <p:sldId id="664" r:id="rId22"/>
    <p:sldId id="665" r:id="rId23"/>
    <p:sldId id="666" r:id="rId24"/>
    <p:sldId id="667" r:id="rId25"/>
    <p:sldId id="668" r:id="rId26"/>
    <p:sldId id="669" r:id="rId27"/>
  </p:sldIdLst>
  <p:sldSz cx="9144000" cy="6858000" type="screen4x3"/>
  <p:notesSz cx="7302500" cy="9586913"/>
  <p:custDataLst>
    <p:tags r:id="rId30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4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clrMru>
    <a:srgbClr val="EFBFBF"/>
    <a:srgbClr val="F6F5BD"/>
    <a:srgbClr val="CC6600"/>
    <a:srgbClr val="FF9999"/>
    <a:srgbClr val="A8E799"/>
    <a:srgbClr val="FFFF99"/>
    <a:srgbClr val="CDF1C5"/>
    <a:srgbClr val="F1C7C7"/>
    <a:srgbClr val="C5FEB8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9" autoAdjust="0"/>
    <p:restoredTop sz="94660"/>
  </p:normalViewPr>
  <p:slideViewPr>
    <p:cSldViewPr snapToObjects="1">
      <p:cViewPr varScale="1">
        <p:scale>
          <a:sx n="113" d="100"/>
          <a:sy n="113" d="100"/>
        </p:scale>
        <p:origin x="1600" y="168"/>
      </p:cViewPr>
      <p:guideLst>
        <p:guide orient="horz" pos="254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8878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428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420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18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058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879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996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738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170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8B12C5-B8B1-41C6-B29F-6FC9FEB127AE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14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6270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5522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3985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4154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069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028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5957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361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554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9880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0174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888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6713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4841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194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6835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0xf000 + 0x8 =</a:t>
            </a:r>
            <a:r>
              <a:rPr lang="en-US" baseline="0" dirty="0"/>
              <a:t> 0xf008</a:t>
            </a:r>
          </a:p>
          <a:p>
            <a:r>
              <a:rPr lang="en-US" baseline="0" dirty="0"/>
              <a:t>0xf000 + 0x0100 = 0xf100</a:t>
            </a:r>
          </a:p>
          <a:p>
            <a:r>
              <a:rPr lang="en-US" baseline="0" dirty="0"/>
              <a:t>0xf000 + 4*0x0100 = 0xf400</a:t>
            </a:r>
          </a:p>
          <a:p>
            <a:r>
              <a:rPr lang="en-US" baseline="0" dirty="0"/>
              <a:t>2*0xf000 + 0x80 = 0x1d080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65B0C-B35D-4608-94F8-324A6C7A47D2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695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="0">
              <a:latin typeface="Times New Roman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897813" y="-26988"/>
            <a:ext cx="1309687" cy="2778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Times New Roman" pitchFamily="18" charset="0"/>
              </a:rPr>
              <a:t>Carnegie Mellon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9035143" y="672495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8830843" y="6601841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  <p:sldLayoutId id="2147483650" r:id="rId12"/>
    <p:sldLayoutId id="2147483649" r:id="rId13"/>
  </p:sldLayoutIdLst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Programming I: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History of Intel processors and architectures</a:t>
            </a:r>
          </a:p>
          <a:p>
            <a:r>
              <a:rPr lang="en-US">
                <a:solidFill>
                  <a:schemeClr val="bg1">
                    <a:lumMod val="50000"/>
                  </a:schemeClr>
                </a:solidFill>
              </a:rPr>
              <a:t>Assembly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Basics: Registers, operands, move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Arithmetic &amp; logical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/>
        </p:spPr>
        <p:txBody>
          <a:bodyPr/>
          <a:lstStyle/>
          <a:p>
            <a:r>
              <a:rPr lang="en-US" dirty="0"/>
              <a:t>Intel x86 Processors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62075"/>
            <a:ext cx="7896225" cy="4972050"/>
          </a:xfrm>
          <a:noFill/>
          <a:ln/>
        </p:spPr>
        <p:txBody>
          <a:bodyPr lIns="90487" tIns="44450" rIns="90487" bIns="44450"/>
          <a:lstStyle/>
          <a:p>
            <a:r>
              <a:rPr lang="en-US" dirty="0"/>
              <a:t>Dominate laptop/desktop/server market</a:t>
            </a:r>
          </a:p>
          <a:p>
            <a:endParaRPr lang="en-US" dirty="0"/>
          </a:p>
          <a:p>
            <a:r>
              <a:rPr lang="en-US" dirty="0"/>
              <a:t>Evolutionary design</a:t>
            </a:r>
          </a:p>
          <a:p>
            <a:pPr lvl="1"/>
            <a:r>
              <a:rPr lang="en-US" dirty="0"/>
              <a:t>Backwards compatible up until 8086, introduced in 1978</a:t>
            </a:r>
          </a:p>
          <a:p>
            <a:pPr lvl="1"/>
            <a:r>
              <a:rPr lang="en-US" dirty="0"/>
              <a:t>Added more features as time goes on</a:t>
            </a:r>
          </a:p>
          <a:p>
            <a:endParaRPr lang="en-US" dirty="0"/>
          </a:p>
          <a:p>
            <a:r>
              <a:rPr lang="en-US" dirty="0"/>
              <a:t>Complex instruction set computer (CISC)</a:t>
            </a:r>
          </a:p>
          <a:p>
            <a:pPr lvl="1"/>
            <a:r>
              <a:rPr lang="en-US" dirty="0"/>
              <a:t>Many different instructions with many different formats</a:t>
            </a:r>
          </a:p>
          <a:p>
            <a:pPr lvl="2"/>
            <a:r>
              <a:rPr lang="en-US" dirty="0"/>
              <a:t>But, only small subset encountered with Linux programs</a:t>
            </a:r>
          </a:p>
          <a:p>
            <a:pPr lvl="1"/>
            <a:r>
              <a:rPr lang="en-US" dirty="0"/>
              <a:t>Hard to match performance of Reduced Instruction Set Computers (RISC)</a:t>
            </a:r>
          </a:p>
          <a:p>
            <a:pPr lvl="1"/>
            <a:r>
              <a:rPr lang="en-US" dirty="0"/>
              <a:t>But, Intel has done just that!</a:t>
            </a:r>
          </a:p>
          <a:p>
            <a:pPr lvl="2"/>
            <a:r>
              <a:rPr lang="en-US" dirty="0"/>
              <a:t>In terms of speed.  Less so for low power.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69912"/>
            <a:ext cx="8229600" cy="573088"/>
          </a:xfrm>
        </p:spPr>
        <p:txBody>
          <a:bodyPr/>
          <a:lstStyle/>
          <a:p>
            <a:r>
              <a:rPr lang="en-US" dirty="0"/>
              <a:t>Intel x86 Evolution: Milestones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7924800" cy="5105400"/>
          </a:xfrm>
        </p:spPr>
        <p:txBody>
          <a:bodyPr/>
          <a:lstStyle/>
          <a:p>
            <a:pPr marL="223838" indent="-223838" defTabSz="895350">
              <a:buNone/>
              <a:tabLst>
                <a:tab pos="2055813" algn="l"/>
                <a:tab pos="3884613" algn="l"/>
                <a:tab pos="5946775" algn="l"/>
              </a:tabLst>
            </a:pPr>
            <a:r>
              <a:rPr lang="en-US" i="1" dirty="0">
                <a:solidFill>
                  <a:srgbClr val="C00000"/>
                </a:solidFill>
              </a:rPr>
              <a:t>	Name	Date	Transistors	MHz</a:t>
            </a:r>
          </a:p>
          <a:p>
            <a:pPr marL="223838" indent="-223838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8086	1978	29K	5-10</a:t>
            </a:r>
          </a:p>
          <a:p>
            <a:pPr marL="560388" lvl="1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First 16-bit Intel processor.  Basis for IBM PC &amp; DOS</a:t>
            </a:r>
          </a:p>
          <a:p>
            <a:pPr marL="560388" lvl="1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1MB address space</a:t>
            </a:r>
          </a:p>
          <a:p>
            <a:pPr marL="223838" indent="-223838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386	1985	275K	16-33	</a:t>
            </a:r>
          </a:p>
          <a:p>
            <a:pPr marL="560388" lvl="1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First 32 bit Intel processor , referred to as IA32</a:t>
            </a:r>
          </a:p>
          <a:p>
            <a:pPr marL="560388" lvl="1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Added “flat addressing”, capable of running Unix</a:t>
            </a:r>
          </a:p>
          <a:p>
            <a:pPr marL="160338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Pentium 4E	2004	125M	2800-3800</a:t>
            </a:r>
          </a:p>
          <a:p>
            <a:pPr marL="560388" lvl="1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First 64-bit Intel x86 processor, referred to as x86-64</a:t>
            </a:r>
          </a:p>
          <a:p>
            <a:pPr marL="160338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Core 2	2006	291M	1060-3500</a:t>
            </a:r>
          </a:p>
          <a:p>
            <a:pPr marL="560388" lvl="1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First multi-core Intel processor</a:t>
            </a:r>
          </a:p>
          <a:p>
            <a:pPr marL="160338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Core i7	2008	731M	1700-3900</a:t>
            </a:r>
          </a:p>
          <a:p>
            <a:pPr marL="560388" lvl="1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/>
              <a:t>Four cores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573088"/>
          </a:xfrm>
        </p:spPr>
        <p:txBody>
          <a:bodyPr/>
          <a:lstStyle/>
          <a:p>
            <a:r>
              <a:rPr lang="en-US" dirty="0"/>
              <a:t>Intel x86 Processors, cont.</a:t>
            </a:r>
          </a:p>
        </p:txBody>
      </p:sp>
      <p:sp>
        <p:nvSpPr>
          <p:cNvPr id="14438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04800" y="877888"/>
            <a:ext cx="7896225" cy="4972050"/>
          </a:xfrm>
        </p:spPr>
        <p:txBody>
          <a:bodyPr/>
          <a:lstStyle/>
          <a:p>
            <a:pPr marL="223838" indent="-223838" defTabSz="895350">
              <a:tabLst>
                <a:tab pos="2349500" algn="l"/>
              </a:tabLst>
            </a:pPr>
            <a:r>
              <a:rPr lang="en-US" dirty="0"/>
              <a:t>Machine Evolution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386	1985	0.3M	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Pentium	1993	3.1M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Pentium/MMX	1997	4.5M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 err="1"/>
              <a:t>PentiumPro</a:t>
            </a:r>
            <a:r>
              <a:rPr lang="en-US" dirty="0"/>
              <a:t>	1995	6.5M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Pentium III	1999	8.2M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Pentium 4	2001	42M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Core 2 Duo	2006	291M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Core i7	2008	731M</a:t>
            </a:r>
          </a:p>
          <a:p>
            <a:pPr marL="223838" indent="-223838" defTabSz="895350">
              <a:tabLst>
                <a:tab pos="2349500" algn="l"/>
              </a:tabLst>
            </a:pPr>
            <a:r>
              <a:rPr lang="en-US" dirty="0"/>
              <a:t>Added Features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Instructions to support multimedia operations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Instructions to enable more efficient conditional operations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Transition from 32 bits to 64 bits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More cores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1295400"/>
            <a:ext cx="42481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573088"/>
          </a:xfrm>
        </p:spPr>
        <p:txBody>
          <a:bodyPr/>
          <a:lstStyle/>
          <a:p>
            <a:r>
              <a:rPr lang="en-US" dirty="0"/>
              <a:t>2015 State of the Art</a:t>
            </a:r>
          </a:p>
        </p:txBody>
      </p:sp>
      <p:sp>
        <p:nvSpPr>
          <p:cNvPr id="14438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04800" y="877888"/>
            <a:ext cx="7896225" cy="4972050"/>
          </a:xfrm>
        </p:spPr>
        <p:txBody>
          <a:bodyPr/>
          <a:lstStyle/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Core i7 </a:t>
            </a:r>
            <a:r>
              <a:rPr lang="en-US" dirty="0" err="1"/>
              <a:t>Broadwell</a:t>
            </a:r>
            <a:r>
              <a:rPr lang="en-US" dirty="0"/>
              <a:t> 2015</a:t>
            </a:r>
          </a:p>
          <a:p>
            <a:pPr marL="223838" indent="-223838" defTabSz="895350">
              <a:tabLst>
                <a:tab pos="2349500" algn="l"/>
              </a:tabLst>
            </a:pPr>
            <a:endParaRPr lang="en-US" dirty="0"/>
          </a:p>
          <a:p>
            <a:pPr marL="223838" indent="-223838" defTabSz="895350">
              <a:tabLst>
                <a:tab pos="2349500" algn="l"/>
              </a:tabLst>
            </a:pPr>
            <a:r>
              <a:rPr lang="en-US" dirty="0"/>
              <a:t>Desktop Model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4 cores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Integrated graphics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3.3-3.8 GHz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65W</a:t>
            </a:r>
          </a:p>
          <a:p>
            <a:pPr marL="623888" lvl="1" indent="-223838" defTabSz="895350">
              <a:tabLst>
                <a:tab pos="2349500" algn="l"/>
              </a:tabLst>
            </a:pPr>
            <a:endParaRPr lang="en-US" dirty="0"/>
          </a:p>
          <a:p>
            <a:pPr marL="223838" indent="-223838" defTabSz="895350">
              <a:tabLst>
                <a:tab pos="2349500" algn="l"/>
              </a:tabLst>
            </a:pPr>
            <a:r>
              <a:rPr lang="en-US" dirty="0"/>
              <a:t>Server Model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8 cores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Integrated I/O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2-2.6 GHz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45W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536" y="1447799"/>
            <a:ext cx="5032853" cy="438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237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x86 Clones: Advanced Micro Devices (AMD)</a:t>
            </a:r>
          </a:p>
        </p:txBody>
      </p:sp>
      <p:sp>
        <p:nvSpPr>
          <p:cNvPr id="269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60338" indent="-222250" defTabSz="895350">
              <a:tabLst>
                <a:tab pos="2349500" algn="l"/>
              </a:tabLst>
            </a:pPr>
            <a:r>
              <a:rPr lang="en-US" dirty="0"/>
              <a:t>Historically</a:t>
            </a:r>
          </a:p>
          <a:p>
            <a:pPr marL="439738" lvl="1" indent="-165100" defTabSz="895350">
              <a:tabLst>
                <a:tab pos="2349500" algn="l"/>
              </a:tabLst>
            </a:pPr>
            <a:r>
              <a:rPr lang="en-US" dirty="0"/>
              <a:t>AMD has followed just behind Intel</a:t>
            </a:r>
          </a:p>
          <a:p>
            <a:pPr marL="439738" lvl="1" indent="-165100" defTabSz="895350">
              <a:tabLst>
                <a:tab pos="2349500" algn="l"/>
              </a:tabLst>
            </a:pPr>
            <a:r>
              <a:rPr lang="en-US" dirty="0"/>
              <a:t>A little bit slower, a lot cheaper</a:t>
            </a:r>
          </a:p>
          <a:p>
            <a:pPr marL="160338" indent="-222250" defTabSz="895350">
              <a:tabLst>
                <a:tab pos="2349500" algn="l"/>
              </a:tabLst>
            </a:pPr>
            <a:r>
              <a:rPr lang="en-US" dirty="0"/>
              <a:t>Then</a:t>
            </a:r>
          </a:p>
          <a:p>
            <a:pPr marL="439738" lvl="1" indent="-165100" defTabSz="895350">
              <a:tabLst>
                <a:tab pos="2349500" algn="l"/>
              </a:tabLst>
            </a:pPr>
            <a:r>
              <a:rPr lang="en-US" dirty="0"/>
              <a:t>Recruited top circuit designers from Digital Equipment Corp. and other downward trending companies</a:t>
            </a:r>
          </a:p>
          <a:p>
            <a:pPr marL="439738" lvl="1" indent="-165100" defTabSz="895350">
              <a:tabLst>
                <a:tab pos="2349500" algn="l"/>
              </a:tabLst>
            </a:pPr>
            <a:r>
              <a:rPr lang="en-US" dirty="0"/>
              <a:t>Built </a:t>
            </a:r>
            <a:r>
              <a:rPr lang="en-US" dirty="0" err="1"/>
              <a:t>Opteron</a:t>
            </a:r>
            <a:r>
              <a:rPr lang="en-US" dirty="0"/>
              <a:t>: tough competitor to Pentium 4</a:t>
            </a:r>
          </a:p>
          <a:p>
            <a:pPr marL="439738" lvl="1" indent="-165100" defTabSz="895350">
              <a:tabLst>
                <a:tab pos="2349500" algn="l"/>
              </a:tabLst>
            </a:pPr>
            <a:r>
              <a:rPr lang="en-US" dirty="0"/>
              <a:t>Developed x86-64, their own extension to 64 bits</a:t>
            </a:r>
          </a:p>
          <a:p>
            <a:pPr marL="39688" indent="-165100" defTabSz="895350">
              <a:tabLst>
                <a:tab pos="2349500" algn="l"/>
              </a:tabLst>
            </a:pPr>
            <a:r>
              <a:rPr lang="en-US" dirty="0"/>
              <a:t> Recent Years</a:t>
            </a:r>
          </a:p>
          <a:p>
            <a:pPr marL="439738" lvl="1" indent="-165100" defTabSz="895350">
              <a:tabLst>
                <a:tab pos="2349500" algn="l"/>
              </a:tabLst>
            </a:pPr>
            <a:r>
              <a:rPr lang="en-US" dirty="0"/>
              <a:t>Intel got its act together</a:t>
            </a:r>
          </a:p>
          <a:p>
            <a:pPr marL="839788" lvl="2" indent="-165100" defTabSz="895350">
              <a:tabLst>
                <a:tab pos="2349500" algn="l"/>
              </a:tabLst>
            </a:pPr>
            <a:r>
              <a:rPr lang="en-US" dirty="0"/>
              <a:t>Leads the world in semiconductor technology</a:t>
            </a:r>
          </a:p>
          <a:p>
            <a:pPr marL="439738" lvl="1" indent="-165100" defTabSz="895350">
              <a:tabLst>
                <a:tab pos="2349500" algn="l"/>
              </a:tabLst>
            </a:pPr>
            <a:r>
              <a:rPr lang="en-US" dirty="0"/>
              <a:t>AMD has fallen behind</a:t>
            </a:r>
          </a:p>
          <a:p>
            <a:pPr marL="839788" lvl="2" indent="-165100" defTabSz="895350">
              <a:tabLst>
                <a:tab pos="2349500" algn="l"/>
              </a:tabLst>
            </a:pPr>
            <a:r>
              <a:rPr lang="en-US" dirty="0"/>
              <a:t>Relies on external semiconductor manufacturer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Intel’s 64-Bit History</a:t>
            </a:r>
          </a:p>
        </p:txBody>
      </p:sp>
      <p:sp>
        <p:nvSpPr>
          <p:cNvPr id="271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200150"/>
            <a:ext cx="7896225" cy="4972050"/>
          </a:xfrm>
        </p:spPr>
        <p:txBody>
          <a:bodyPr/>
          <a:lstStyle/>
          <a:p>
            <a:r>
              <a:rPr lang="en-US" dirty="0"/>
              <a:t>2001: Intel Attempts Radical Shift from IA32 to IA64</a:t>
            </a:r>
          </a:p>
          <a:p>
            <a:pPr lvl="1"/>
            <a:r>
              <a:rPr lang="en-US" dirty="0"/>
              <a:t>Totally different architecture (Itanium)</a:t>
            </a:r>
          </a:p>
          <a:p>
            <a:pPr lvl="1"/>
            <a:r>
              <a:rPr lang="en-US" dirty="0"/>
              <a:t>Executes IA32 code only as legacy</a:t>
            </a:r>
          </a:p>
          <a:p>
            <a:pPr lvl="1"/>
            <a:r>
              <a:rPr lang="en-US" dirty="0"/>
              <a:t>Performance disappointing</a:t>
            </a:r>
          </a:p>
          <a:p>
            <a:r>
              <a:rPr lang="en-US" dirty="0"/>
              <a:t>2003: AMD Steps in with Evolutionary Solution</a:t>
            </a:r>
          </a:p>
          <a:p>
            <a:pPr lvl="1"/>
            <a:r>
              <a:rPr lang="en-US" dirty="0"/>
              <a:t>x86-64 (now called “AMD64”)</a:t>
            </a:r>
          </a:p>
          <a:p>
            <a:r>
              <a:rPr lang="en-US" dirty="0"/>
              <a:t>Intel Felt Obligated to Focus on IA64</a:t>
            </a:r>
          </a:p>
          <a:p>
            <a:pPr lvl="1"/>
            <a:r>
              <a:rPr lang="en-US" dirty="0"/>
              <a:t>Hard to admit mistake or that AMD is better</a:t>
            </a:r>
          </a:p>
          <a:p>
            <a:r>
              <a:rPr lang="en-US" dirty="0"/>
              <a:t>2004: Intel Announces EM64T extension to IA32</a:t>
            </a:r>
          </a:p>
          <a:p>
            <a:pPr lvl="1"/>
            <a:r>
              <a:rPr lang="en-US" dirty="0"/>
              <a:t>Extended Memory 64-bit Technology</a:t>
            </a:r>
          </a:p>
          <a:p>
            <a:pPr lvl="1"/>
            <a:r>
              <a:rPr lang="en-US" dirty="0"/>
              <a:t>Almost identical to x86-64!</a:t>
            </a:r>
          </a:p>
          <a:p>
            <a:r>
              <a:rPr lang="en-US" dirty="0"/>
              <a:t>All but low-end x86 processors support x86-64</a:t>
            </a:r>
          </a:p>
          <a:p>
            <a:pPr lvl="1"/>
            <a:r>
              <a:rPr lang="en-US" dirty="0"/>
              <a:t>But, lots of code still runs in 32-bit mode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7591425" cy="762000"/>
          </a:xfrm>
        </p:spPr>
        <p:txBody>
          <a:bodyPr/>
          <a:lstStyle/>
          <a:p>
            <a:pPr eaLnBrk="1" hangingPunct="1"/>
            <a:r>
              <a:rPr lang="en-US" dirty="0"/>
              <a:t>Definitions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C00000"/>
                </a:solidFill>
              </a:rPr>
              <a:t>Architecture:</a:t>
            </a:r>
            <a:r>
              <a:rPr lang="en-US" dirty="0"/>
              <a:t> (also ISA: instruction set architecture) The parts of a processor design that one needs to understand or write assembly/machine code. </a:t>
            </a:r>
          </a:p>
          <a:p>
            <a:pPr lvl="1"/>
            <a:r>
              <a:rPr lang="en-US" dirty="0"/>
              <a:t>Examples: 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instruction set specification, registers.</a:t>
            </a:r>
          </a:p>
          <a:p>
            <a:r>
              <a:rPr lang="en-US" dirty="0" err="1">
                <a:solidFill>
                  <a:srgbClr val="C00000"/>
                </a:solidFill>
              </a:rPr>
              <a:t>Microarchitecture</a:t>
            </a:r>
            <a:r>
              <a:rPr lang="en-US" dirty="0">
                <a:solidFill>
                  <a:srgbClr val="C00000"/>
                </a:solidFill>
              </a:rPr>
              <a:t>:</a:t>
            </a:r>
            <a:r>
              <a:rPr lang="en-US" dirty="0"/>
              <a:t> Implementation of the architecture.</a:t>
            </a:r>
          </a:p>
          <a:p>
            <a:pPr lvl="1"/>
            <a:r>
              <a:rPr lang="en-US" dirty="0"/>
              <a:t>Examples: cache sizes and core frequency.</a:t>
            </a:r>
          </a:p>
          <a:p>
            <a:r>
              <a:rPr lang="en-US" dirty="0"/>
              <a:t>Code Forms: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Machine Code</a:t>
            </a:r>
            <a:r>
              <a:rPr lang="en-US" dirty="0"/>
              <a:t>: The byte-level programs that a processor executes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Assembly Code</a:t>
            </a:r>
            <a:r>
              <a:rPr lang="en-US" dirty="0"/>
              <a:t>: A text representation of machine code</a:t>
            </a:r>
          </a:p>
          <a:p>
            <a:pPr eaLnBrk="1" hangingPunct="1">
              <a:buNone/>
            </a:pPr>
            <a:endParaRPr lang="en-US" dirty="0"/>
          </a:p>
          <a:p>
            <a:pPr eaLnBrk="1" hangingPunct="1"/>
            <a:r>
              <a:rPr lang="en-US" dirty="0"/>
              <a:t>Example ISAs: </a:t>
            </a:r>
          </a:p>
          <a:p>
            <a:pPr lvl="1"/>
            <a:r>
              <a:rPr lang="en-US" dirty="0"/>
              <a:t>Intel: x86, IA32, Itanium, x86-64</a:t>
            </a:r>
          </a:p>
          <a:p>
            <a:pPr lvl="1"/>
            <a:r>
              <a:rPr lang="en-US" dirty="0"/>
              <a:t>ARM: Used in almost all mobile phones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2" name="Rectangle 6"/>
          <p:cNvSpPr>
            <a:spLocks noChangeArrowheads="1"/>
          </p:cNvSpPr>
          <p:nvPr/>
        </p:nvSpPr>
        <p:spPr bwMode="auto">
          <a:xfrm>
            <a:off x="1066800" y="1066800"/>
            <a:ext cx="3200400" cy="2209800"/>
          </a:xfrm>
          <a:prstGeom prst="rect">
            <a:avLst/>
          </a:prstGeom>
          <a:solidFill>
            <a:srgbClr val="EFBFB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CPU</a:t>
            </a:r>
          </a:p>
        </p:txBody>
      </p:sp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7226300" cy="573088"/>
          </a:xfrm>
        </p:spPr>
        <p:txBody>
          <a:bodyPr/>
          <a:lstStyle/>
          <a:p>
            <a:r>
              <a:rPr lang="en-US" dirty="0"/>
              <a:t>Assembly/Machine Code View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19113" y="3352800"/>
            <a:ext cx="4852987" cy="3092450"/>
          </a:xfrm>
        </p:spPr>
        <p:txBody>
          <a:bodyPr/>
          <a:lstStyle/>
          <a:p>
            <a:pPr marL="227013" indent="-227013" defTabSz="895350">
              <a:buNone/>
              <a:tabLst>
                <a:tab pos="1371600" algn="l"/>
                <a:tab pos="4572000" algn="l"/>
              </a:tabLst>
            </a:pPr>
            <a:r>
              <a:rPr lang="en-US" sz="2400" dirty="0"/>
              <a:t>Programmer-Visible State</a:t>
            </a:r>
          </a:p>
          <a:p>
            <a:pPr marL="560388" lvl="1" indent="-222250" defTabSz="895350">
              <a:tabLst>
                <a:tab pos="1371600" algn="l"/>
                <a:tab pos="4572000" algn="l"/>
              </a:tabLst>
            </a:pPr>
            <a:r>
              <a:rPr lang="en-US" sz="2000" b="1" dirty="0"/>
              <a:t>PC: Program counter</a:t>
            </a:r>
          </a:p>
          <a:p>
            <a:pPr marL="839788" lvl="2" indent="-165100" defTabSz="895350">
              <a:tabLst>
                <a:tab pos="1371600" algn="l"/>
                <a:tab pos="4572000" algn="l"/>
              </a:tabLst>
            </a:pPr>
            <a:r>
              <a:rPr lang="en-US" sz="1800" dirty="0"/>
              <a:t>Address of next instruction</a:t>
            </a:r>
          </a:p>
          <a:p>
            <a:pPr marL="839788" lvl="2" indent="-165100" defTabSz="895350">
              <a:tabLst>
                <a:tab pos="1371600" algn="l"/>
                <a:tab pos="4572000" algn="l"/>
              </a:tabLst>
            </a:pPr>
            <a:r>
              <a:rPr lang="en-US" sz="1800" dirty="0"/>
              <a:t>Called “RIP” (x86-64)</a:t>
            </a:r>
          </a:p>
          <a:p>
            <a:pPr marL="560388" lvl="1" indent="-222250" defTabSz="895350">
              <a:tabLst>
                <a:tab pos="1371600" algn="l"/>
                <a:tab pos="4572000" algn="l"/>
              </a:tabLst>
            </a:pPr>
            <a:r>
              <a:rPr lang="en-US" sz="2000" b="1" dirty="0"/>
              <a:t>Register file</a:t>
            </a:r>
          </a:p>
          <a:p>
            <a:pPr marL="839788" lvl="2" indent="-165100" defTabSz="895350">
              <a:tabLst>
                <a:tab pos="1371600" algn="l"/>
                <a:tab pos="4572000" algn="l"/>
              </a:tabLst>
            </a:pPr>
            <a:r>
              <a:rPr lang="en-US" sz="1800" dirty="0"/>
              <a:t>Heavily used program data</a:t>
            </a:r>
          </a:p>
          <a:p>
            <a:pPr marL="560388" lvl="1" indent="-222250" defTabSz="895350">
              <a:tabLst>
                <a:tab pos="1371600" algn="l"/>
                <a:tab pos="4572000" algn="l"/>
              </a:tabLst>
            </a:pPr>
            <a:r>
              <a:rPr lang="en-US" sz="2000" b="1" dirty="0"/>
              <a:t>Condition codes</a:t>
            </a:r>
          </a:p>
          <a:p>
            <a:pPr marL="839788" lvl="2" indent="-165100" defTabSz="895350">
              <a:tabLst>
                <a:tab pos="1371600" algn="l"/>
                <a:tab pos="4572000" algn="l"/>
              </a:tabLst>
            </a:pPr>
            <a:r>
              <a:rPr lang="en-US" sz="1800" dirty="0"/>
              <a:t>Store status information about most recent arithmetic or logical operation</a:t>
            </a:r>
          </a:p>
          <a:p>
            <a:pPr marL="839788" lvl="2" indent="-165100" defTabSz="895350">
              <a:tabLst>
                <a:tab pos="1371600" algn="l"/>
                <a:tab pos="4572000" algn="l"/>
              </a:tabLst>
            </a:pPr>
            <a:r>
              <a:rPr lang="en-US" sz="1800" dirty="0"/>
              <a:t>Used for conditional branching</a:t>
            </a:r>
          </a:p>
        </p:txBody>
      </p:sp>
      <p:sp>
        <p:nvSpPr>
          <p:cNvPr id="147460" name="Rectangle 4"/>
          <p:cNvSpPr>
            <a:spLocks noChangeArrowheads="1"/>
          </p:cNvSpPr>
          <p:nvPr/>
        </p:nvSpPr>
        <p:spPr bwMode="auto">
          <a:xfrm>
            <a:off x="1409700" y="1981200"/>
            <a:ext cx="533400" cy="45720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PC</a:t>
            </a:r>
          </a:p>
        </p:txBody>
      </p:sp>
      <p:sp>
        <p:nvSpPr>
          <p:cNvPr id="147461" name="Rectangle 5"/>
          <p:cNvSpPr>
            <a:spLocks noChangeArrowheads="1"/>
          </p:cNvSpPr>
          <p:nvPr/>
        </p:nvSpPr>
        <p:spPr bwMode="auto">
          <a:xfrm>
            <a:off x="2362200" y="1371600"/>
            <a:ext cx="1676400" cy="76200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Registers</a:t>
            </a:r>
          </a:p>
        </p:txBody>
      </p:sp>
      <p:sp>
        <p:nvSpPr>
          <p:cNvPr id="147463" name="Rectangle 7"/>
          <p:cNvSpPr>
            <a:spLocks noChangeArrowheads="1"/>
          </p:cNvSpPr>
          <p:nvPr/>
        </p:nvSpPr>
        <p:spPr bwMode="auto">
          <a:xfrm>
            <a:off x="6019800" y="1066800"/>
            <a:ext cx="1752600" cy="2209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Ctr="1"/>
          <a:lstStyle/>
          <a:p>
            <a:pPr algn="ctr"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Memory</a:t>
            </a:r>
          </a:p>
        </p:txBody>
      </p:sp>
      <p:sp>
        <p:nvSpPr>
          <p:cNvPr id="147464" name="Text Box 8"/>
          <p:cNvSpPr txBox="1">
            <a:spLocks noChangeArrowheads="1"/>
          </p:cNvSpPr>
          <p:nvPr/>
        </p:nvSpPr>
        <p:spPr bwMode="auto">
          <a:xfrm>
            <a:off x="6324600" y="1730102"/>
            <a:ext cx="1143000" cy="101309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Code</a:t>
            </a:r>
          </a:p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Data</a:t>
            </a:r>
          </a:p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Stack</a:t>
            </a:r>
          </a:p>
        </p:txBody>
      </p:sp>
      <p:sp>
        <p:nvSpPr>
          <p:cNvPr id="147465" name="Line 9"/>
          <p:cNvSpPr>
            <a:spLocks noChangeShapeType="1"/>
          </p:cNvSpPr>
          <p:nvPr/>
        </p:nvSpPr>
        <p:spPr bwMode="auto">
          <a:xfrm>
            <a:off x="4267200" y="1701800"/>
            <a:ext cx="175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7466" name="Line 10"/>
          <p:cNvSpPr>
            <a:spLocks noChangeShapeType="1"/>
          </p:cNvSpPr>
          <p:nvPr/>
        </p:nvSpPr>
        <p:spPr bwMode="auto">
          <a:xfrm>
            <a:off x="4267200" y="2235200"/>
            <a:ext cx="175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7467" name="Line 11"/>
          <p:cNvSpPr>
            <a:spLocks noChangeShapeType="1"/>
          </p:cNvSpPr>
          <p:nvPr/>
        </p:nvSpPr>
        <p:spPr bwMode="auto">
          <a:xfrm>
            <a:off x="4267200" y="2768600"/>
            <a:ext cx="175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lg"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7468" name="Text Box 12"/>
          <p:cNvSpPr txBox="1">
            <a:spLocks noChangeArrowheads="1"/>
          </p:cNvSpPr>
          <p:nvPr/>
        </p:nvSpPr>
        <p:spPr bwMode="auto">
          <a:xfrm>
            <a:off x="4267200" y="1295400"/>
            <a:ext cx="175260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Addresses</a:t>
            </a:r>
          </a:p>
        </p:txBody>
      </p:sp>
      <p:sp>
        <p:nvSpPr>
          <p:cNvPr id="147469" name="Text Box 13"/>
          <p:cNvSpPr txBox="1">
            <a:spLocks noChangeArrowheads="1"/>
          </p:cNvSpPr>
          <p:nvPr/>
        </p:nvSpPr>
        <p:spPr bwMode="auto">
          <a:xfrm>
            <a:off x="4267200" y="1854200"/>
            <a:ext cx="175260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Data</a:t>
            </a:r>
          </a:p>
        </p:txBody>
      </p:sp>
      <p:sp>
        <p:nvSpPr>
          <p:cNvPr id="147470" name="Text Box 14"/>
          <p:cNvSpPr txBox="1">
            <a:spLocks noChangeArrowheads="1"/>
          </p:cNvSpPr>
          <p:nvPr/>
        </p:nvSpPr>
        <p:spPr bwMode="auto">
          <a:xfrm>
            <a:off x="4267200" y="2387600"/>
            <a:ext cx="167640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Instructions</a:t>
            </a:r>
          </a:p>
        </p:txBody>
      </p:sp>
      <p:sp>
        <p:nvSpPr>
          <p:cNvPr id="147472" name="Rectangle 16"/>
          <p:cNvSpPr>
            <a:spLocks noChangeArrowheads="1"/>
          </p:cNvSpPr>
          <p:nvPr/>
        </p:nvSpPr>
        <p:spPr bwMode="auto">
          <a:xfrm>
            <a:off x="2667000" y="2286000"/>
            <a:ext cx="1066800" cy="68580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>
                <a:latin typeface="Calibri" pitchFamily="34" charset="0"/>
              </a:rPr>
              <a:t>Condition</a:t>
            </a:r>
          </a:p>
          <a:p>
            <a:pPr algn="ctr"/>
            <a:r>
              <a:rPr lang="en-US" sz="1800" dirty="0">
                <a:latin typeface="Calibri" pitchFamily="34" charset="0"/>
              </a:rPr>
              <a:t>Codes</a:t>
            </a:r>
          </a:p>
        </p:txBody>
      </p:sp>
      <p:sp>
        <p:nvSpPr>
          <p:cNvPr id="147473" name="Rectangle 17"/>
          <p:cNvSpPr>
            <a:spLocks noGrp="1" noChangeArrowheads="1"/>
          </p:cNvSpPr>
          <p:nvPr>
            <p:ph type="body" sz="half" idx="2"/>
          </p:nvPr>
        </p:nvSpPr>
        <p:spPr>
          <a:xfrm>
            <a:off x="5372100" y="3702050"/>
            <a:ext cx="3619500" cy="1568450"/>
          </a:xfrm>
        </p:spPr>
        <p:txBody>
          <a:bodyPr/>
          <a:lstStyle/>
          <a:p>
            <a:pPr marL="292100" lvl="1" indent="-177800"/>
            <a:r>
              <a:rPr lang="en-US" sz="2000" b="1" dirty="0"/>
              <a:t>Memory</a:t>
            </a:r>
          </a:p>
          <a:p>
            <a:pPr marL="571500" lvl="2" indent="-165100"/>
            <a:r>
              <a:rPr lang="en-US" sz="1800" dirty="0"/>
              <a:t>Byte addressable array</a:t>
            </a:r>
          </a:p>
          <a:p>
            <a:pPr marL="571500" lvl="2" indent="-165100"/>
            <a:r>
              <a:rPr lang="en-US" sz="1800" dirty="0"/>
              <a:t>Code and user data</a:t>
            </a:r>
          </a:p>
          <a:p>
            <a:pPr marL="571500" lvl="2" indent="-165100"/>
            <a:r>
              <a:rPr lang="en-US" sz="1800" dirty="0"/>
              <a:t>Stack to support procedures</a:t>
            </a:r>
          </a:p>
          <a:p>
            <a:pPr marL="0" indent="0"/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93712"/>
            <a:ext cx="8382000" cy="573088"/>
          </a:xfrm>
        </p:spPr>
        <p:txBody>
          <a:bodyPr/>
          <a:lstStyle/>
          <a:p>
            <a:r>
              <a:rPr lang="en-US" dirty="0"/>
              <a:t>Assembly Characteristics: Data Types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50950"/>
            <a:ext cx="8548687" cy="5530850"/>
          </a:xfrm>
        </p:spPr>
        <p:txBody>
          <a:bodyPr/>
          <a:lstStyle/>
          <a:p>
            <a:r>
              <a:rPr lang="en-US" dirty="0"/>
              <a:t>“Integer” data of 1, 2, 4, or 8 bytes</a:t>
            </a:r>
          </a:p>
          <a:p>
            <a:pPr lvl="1"/>
            <a:r>
              <a:rPr lang="en-US" dirty="0"/>
              <a:t>Data values</a:t>
            </a:r>
          </a:p>
          <a:p>
            <a:pPr lvl="1"/>
            <a:r>
              <a:rPr lang="en-US" dirty="0"/>
              <a:t>Addresses (</a:t>
            </a:r>
            <a:r>
              <a:rPr lang="en-US" dirty="0" err="1"/>
              <a:t>untyped</a:t>
            </a:r>
            <a:r>
              <a:rPr lang="en-US" dirty="0"/>
              <a:t> pointers)</a:t>
            </a:r>
          </a:p>
          <a:p>
            <a:endParaRPr lang="en-US" dirty="0"/>
          </a:p>
          <a:p>
            <a:r>
              <a:rPr lang="en-US" dirty="0"/>
              <a:t>Floating point data of 4, 8, or 10 bytes</a:t>
            </a:r>
          </a:p>
          <a:p>
            <a:endParaRPr lang="en-US" dirty="0"/>
          </a:p>
          <a:p>
            <a:r>
              <a:rPr lang="en-US" dirty="0"/>
              <a:t>Code: Byte sequences encoding series of instructions</a:t>
            </a:r>
          </a:p>
          <a:p>
            <a:endParaRPr lang="en-US" dirty="0"/>
          </a:p>
          <a:p>
            <a:r>
              <a:rPr lang="en-US" dirty="0"/>
              <a:t>No aggregate types such as arrays or structures</a:t>
            </a:r>
          </a:p>
          <a:p>
            <a:pPr lvl="1"/>
            <a:r>
              <a:rPr lang="en-US" dirty="0"/>
              <a:t>Just contiguously allocated bytes in memory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69912"/>
            <a:ext cx="7035800" cy="573088"/>
          </a:xfrm>
        </p:spPr>
        <p:txBody>
          <a:bodyPr/>
          <a:lstStyle/>
          <a:p>
            <a:r>
              <a:rPr lang="en-US" dirty="0"/>
              <a:t>Data Formats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3838" indent="-223838" defTabSz="895350">
              <a:tabLst>
                <a:tab pos="2349500" algn="l"/>
                <a:tab pos="4114800" algn="l"/>
              </a:tabLst>
            </a:pPr>
            <a:r>
              <a:rPr lang="en-US" dirty="0"/>
              <a:t>Word </a:t>
            </a:r>
            <a:r>
              <a:rPr lang="mr-IN" dirty="0"/>
              <a:t>–</a:t>
            </a:r>
            <a:r>
              <a:rPr lang="en-US" dirty="0"/>
              <a:t> refers to a 16-bit data type</a:t>
            </a:r>
          </a:p>
          <a:p>
            <a:pPr marL="623888" lvl="1" indent="-223838" defTabSz="895350">
              <a:tabLst>
                <a:tab pos="2349500" algn="l"/>
                <a:tab pos="4114800" algn="l"/>
              </a:tabLst>
            </a:pPr>
            <a:r>
              <a:rPr lang="en-US" dirty="0"/>
              <a:t>32-bit: double word</a:t>
            </a:r>
          </a:p>
          <a:p>
            <a:pPr marL="623888" lvl="1" indent="-223838" defTabSz="895350">
              <a:tabLst>
                <a:tab pos="2349500" algn="l"/>
                <a:tab pos="4114800" algn="l"/>
              </a:tabLst>
            </a:pPr>
            <a:r>
              <a:rPr lang="en-US" dirty="0"/>
              <a:t>64-bit: quad word</a:t>
            </a:r>
          </a:p>
          <a:p>
            <a:pPr marL="223838" indent="-223838" defTabSz="895350">
              <a:tabLst>
                <a:tab pos="2349500" algn="l"/>
                <a:tab pos="4114800" algn="l"/>
              </a:tabLst>
            </a:pPr>
            <a:r>
              <a:rPr lang="en-US" dirty="0"/>
              <a:t>In x86-64</a:t>
            </a:r>
          </a:p>
          <a:p>
            <a:pPr marL="3086100" lvl="7" indent="0" defTabSz="895350">
              <a:buNone/>
              <a:tabLst>
                <a:tab pos="2349500" algn="l"/>
                <a:tab pos="4114800" algn="l"/>
              </a:tabLst>
            </a:pPr>
            <a:r>
              <a:rPr lang="en-US" dirty="0"/>
              <a:t>       code Suffix	size (byte)</a:t>
            </a:r>
          </a:p>
          <a:p>
            <a:pPr marL="623888" lvl="1" indent="-223838" defTabSz="895350">
              <a:tabLst>
                <a:tab pos="2349500" algn="l"/>
                <a:tab pos="4114800" algn="l"/>
              </a:tabLst>
            </a:pPr>
            <a:r>
              <a:rPr lang="en-US" dirty="0"/>
              <a:t>char	byte	b		1</a:t>
            </a:r>
          </a:p>
          <a:p>
            <a:pPr marL="623888" lvl="1" indent="-223838" defTabSz="895350">
              <a:tabLst>
                <a:tab pos="2349500" algn="l"/>
                <a:tab pos="4114800" algn="l"/>
              </a:tabLst>
            </a:pPr>
            <a:r>
              <a:rPr lang="en-US" dirty="0"/>
              <a:t>short	word	w		2</a:t>
            </a:r>
          </a:p>
          <a:p>
            <a:pPr marL="623888" lvl="1" indent="-223838" defTabSz="895350">
              <a:tabLst>
                <a:tab pos="2349500" algn="l"/>
                <a:tab pos="4114800" algn="l"/>
              </a:tabLst>
            </a:pPr>
            <a:r>
              <a:rPr lang="en-US" dirty="0" err="1"/>
              <a:t>int</a:t>
            </a:r>
            <a:r>
              <a:rPr lang="en-US" dirty="0"/>
              <a:t>	double	l		4</a:t>
            </a:r>
          </a:p>
          <a:p>
            <a:pPr marL="623888" lvl="1" indent="-223838" defTabSz="895350">
              <a:tabLst>
                <a:tab pos="2349500" algn="l"/>
                <a:tab pos="4114800" algn="l"/>
              </a:tabLst>
            </a:pPr>
            <a:r>
              <a:rPr lang="en-US" dirty="0"/>
              <a:t>long	quad	q		8</a:t>
            </a:r>
          </a:p>
          <a:p>
            <a:pPr marL="623888" lvl="1" indent="-223838" defTabSz="895350">
              <a:tabLst>
                <a:tab pos="2349500" algn="l"/>
                <a:tab pos="4114800" algn="l"/>
              </a:tabLst>
            </a:pPr>
            <a:r>
              <a:rPr lang="en-US" dirty="0"/>
              <a:t>char *	quad	q		8</a:t>
            </a:r>
          </a:p>
          <a:p>
            <a:pPr marL="623888" lvl="1" indent="-223838" defTabSz="895350">
              <a:tabLst>
                <a:tab pos="2349500" algn="l"/>
                <a:tab pos="4114800" algn="l"/>
              </a:tabLst>
            </a:pPr>
            <a:r>
              <a:rPr lang="en-US" dirty="0"/>
              <a:t>float	single prec.	s		4</a:t>
            </a:r>
          </a:p>
          <a:p>
            <a:pPr marL="623888" lvl="1" indent="-223838" defTabSz="895350">
              <a:tabLst>
                <a:tab pos="2349500" algn="l"/>
                <a:tab pos="4114800" algn="l"/>
              </a:tabLst>
            </a:pPr>
            <a:r>
              <a:rPr lang="en-US" dirty="0"/>
              <a:t>double	double prec.	l		8</a:t>
            </a:r>
          </a:p>
        </p:txBody>
      </p:sp>
    </p:spTree>
    <p:extLst>
      <p:ext uri="{BB962C8B-B14F-4D97-AF65-F5344CB8AC3E}">
        <p14:creationId xmlns:p14="http://schemas.microsoft.com/office/powerpoint/2010/main" val="724850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/>
          </p:cNvSpPr>
          <p:nvPr/>
        </p:nvSpPr>
        <p:spPr bwMode="auto">
          <a:xfrm>
            <a:off x="762000" y="4800600"/>
            <a:ext cx="3556000" cy="533400"/>
          </a:xfrm>
          <a:prstGeom prst="rect">
            <a:avLst/>
          </a:prstGeom>
          <a:solidFill>
            <a:srgbClr val="EFBFB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x86-64 Integer Registers</a:t>
            </a:r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18682" y="6019800"/>
            <a:ext cx="7329487" cy="838200"/>
          </a:xfrm>
          <a:ln/>
        </p:spPr>
        <p:txBody>
          <a:bodyPr/>
          <a:lstStyle/>
          <a:p>
            <a:pPr lvl="1"/>
            <a:r>
              <a:rPr lang="en-US" dirty="0"/>
              <a:t>Can reference low-order 4 bytes (also low-order 1 &amp; 2 bytes)</a:t>
            </a:r>
          </a:p>
        </p:txBody>
      </p:sp>
      <p:sp>
        <p:nvSpPr>
          <p:cNvPr id="27654" name="Rectangle 6"/>
          <p:cNvSpPr>
            <a:spLocks/>
          </p:cNvSpPr>
          <p:nvPr/>
        </p:nvSpPr>
        <p:spPr bwMode="auto">
          <a:xfrm>
            <a:off x="2552700" y="11811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%eax</a:t>
            </a:r>
          </a:p>
        </p:txBody>
      </p:sp>
      <p:sp>
        <p:nvSpPr>
          <p:cNvPr id="27655" name="Rectangle 7"/>
          <p:cNvSpPr>
            <a:spLocks/>
          </p:cNvSpPr>
          <p:nvPr/>
        </p:nvSpPr>
        <p:spPr bwMode="auto">
          <a:xfrm>
            <a:off x="2552700" y="17907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%ebx</a:t>
            </a:r>
          </a:p>
        </p:txBody>
      </p:sp>
      <p:sp>
        <p:nvSpPr>
          <p:cNvPr id="27656" name="Rectangle 8"/>
          <p:cNvSpPr>
            <a:spLocks/>
          </p:cNvSpPr>
          <p:nvPr/>
        </p:nvSpPr>
        <p:spPr bwMode="auto">
          <a:xfrm>
            <a:off x="2552700" y="24003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%ecx</a:t>
            </a:r>
          </a:p>
        </p:txBody>
      </p:sp>
      <p:sp>
        <p:nvSpPr>
          <p:cNvPr id="27657" name="Rectangle 9"/>
          <p:cNvSpPr>
            <a:spLocks/>
          </p:cNvSpPr>
          <p:nvPr/>
        </p:nvSpPr>
        <p:spPr bwMode="auto">
          <a:xfrm>
            <a:off x="2552700" y="30099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%edx</a:t>
            </a:r>
          </a:p>
        </p:txBody>
      </p:sp>
      <p:sp>
        <p:nvSpPr>
          <p:cNvPr id="27658" name="Rectangle 10"/>
          <p:cNvSpPr>
            <a:spLocks/>
          </p:cNvSpPr>
          <p:nvPr/>
        </p:nvSpPr>
        <p:spPr bwMode="auto">
          <a:xfrm>
            <a:off x="2552700" y="36195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%esi</a:t>
            </a:r>
          </a:p>
        </p:txBody>
      </p:sp>
      <p:sp>
        <p:nvSpPr>
          <p:cNvPr id="27659" name="Rectangle 11"/>
          <p:cNvSpPr>
            <a:spLocks/>
          </p:cNvSpPr>
          <p:nvPr/>
        </p:nvSpPr>
        <p:spPr bwMode="auto">
          <a:xfrm>
            <a:off x="2552700" y="42291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%edi</a:t>
            </a:r>
          </a:p>
        </p:txBody>
      </p:sp>
      <p:sp>
        <p:nvSpPr>
          <p:cNvPr id="27660" name="Rectangle 12"/>
          <p:cNvSpPr>
            <a:spLocks/>
          </p:cNvSpPr>
          <p:nvPr/>
        </p:nvSpPr>
        <p:spPr bwMode="auto">
          <a:xfrm>
            <a:off x="2552700" y="4838700"/>
            <a:ext cx="1752600" cy="444500"/>
          </a:xfrm>
          <a:prstGeom prst="rect">
            <a:avLst/>
          </a:prstGeom>
          <a:solidFill>
            <a:srgbClr val="FF9999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%esp</a:t>
            </a:r>
          </a:p>
        </p:txBody>
      </p:sp>
      <p:sp>
        <p:nvSpPr>
          <p:cNvPr id="27661" name="Rectangle 13"/>
          <p:cNvSpPr>
            <a:spLocks/>
          </p:cNvSpPr>
          <p:nvPr/>
        </p:nvSpPr>
        <p:spPr bwMode="auto">
          <a:xfrm>
            <a:off x="2552700" y="54356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%ebp</a:t>
            </a:r>
          </a:p>
        </p:txBody>
      </p:sp>
      <p:sp>
        <p:nvSpPr>
          <p:cNvPr id="27662" name="Rectangle 14"/>
          <p:cNvSpPr>
            <a:spLocks/>
          </p:cNvSpPr>
          <p:nvPr/>
        </p:nvSpPr>
        <p:spPr bwMode="auto">
          <a:xfrm>
            <a:off x="6515100" y="11811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%r8d</a:t>
            </a:r>
          </a:p>
        </p:txBody>
      </p:sp>
      <p:sp>
        <p:nvSpPr>
          <p:cNvPr id="27663" name="Rectangle 15"/>
          <p:cNvSpPr>
            <a:spLocks/>
          </p:cNvSpPr>
          <p:nvPr/>
        </p:nvSpPr>
        <p:spPr bwMode="auto">
          <a:xfrm>
            <a:off x="6515100" y="17907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%r9d</a:t>
            </a:r>
          </a:p>
        </p:txBody>
      </p:sp>
      <p:sp>
        <p:nvSpPr>
          <p:cNvPr id="27664" name="Rectangle 16"/>
          <p:cNvSpPr>
            <a:spLocks/>
          </p:cNvSpPr>
          <p:nvPr/>
        </p:nvSpPr>
        <p:spPr bwMode="auto">
          <a:xfrm>
            <a:off x="6515100" y="24003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%r10d</a:t>
            </a:r>
          </a:p>
        </p:txBody>
      </p:sp>
      <p:sp>
        <p:nvSpPr>
          <p:cNvPr id="27665" name="Rectangle 17"/>
          <p:cNvSpPr>
            <a:spLocks/>
          </p:cNvSpPr>
          <p:nvPr/>
        </p:nvSpPr>
        <p:spPr bwMode="auto">
          <a:xfrm>
            <a:off x="6515100" y="30099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%r11d</a:t>
            </a:r>
          </a:p>
        </p:txBody>
      </p:sp>
      <p:sp>
        <p:nvSpPr>
          <p:cNvPr id="27666" name="Rectangle 18"/>
          <p:cNvSpPr>
            <a:spLocks/>
          </p:cNvSpPr>
          <p:nvPr/>
        </p:nvSpPr>
        <p:spPr bwMode="auto">
          <a:xfrm>
            <a:off x="6515100" y="36195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%r12d</a:t>
            </a:r>
          </a:p>
        </p:txBody>
      </p:sp>
      <p:sp>
        <p:nvSpPr>
          <p:cNvPr id="27667" name="Rectangle 19"/>
          <p:cNvSpPr>
            <a:spLocks/>
          </p:cNvSpPr>
          <p:nvPr/>
        </p:nvSpPr>
        <p:spPr bwMode="auto">
          <a:xfrm>
            <a:off x="6515100" y="42291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%r13d</a:t>
            </a:r>
          </a:p>
        </p:txBody>
      </p:sp>
      <p:sp>
        <p:nvSpPr>
          <p:cNvPr id="27668" name="Rectangle 20"/>
          <p:cNvSpPr>
            <a:spLocks/>
          </p:cNvSpPr>
          <p:nvPr/>
        </p:nvSpPr>
        <p:spPr bwMode="auto">
          <a:xfrm>
            <a:off x="6515100" y="48387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%r14d</a:t>
            </a:r>
          </a:p>
        </p:txBody>
      </p:sp>
      <p:sp>
        <p:nvSpPr>
          <p:cNvPr id="27669" name="Rectangle 21"/>
          <p:cNvSpPr>
            <a:spLocks/>
          </p:cNvSpPr>
          <p:nvPr/>
        </p:nvSpPr>
        <p:spPr bwMode="auto">
          <a:xfrm>
            <a:off x="6515100" y="54483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%r15d</a:t>
            </a:r>
          </a:p>
        </p:txBody>
      </p:sp>
      <p:sp>
        <p:nvSpPr>
          <p:cNvPr id="27670" name="Rectangle 22"/>
          <p:cNvSpPr>
            <a:spLocks/>
          </p:cNvSpPr>
          <p:nvPr/>
        </p:nvSpPr>
        <p:spPr bwMode="auto">
          <a:xfrm>
            <a:off x="4724400" y="1143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%r8</a:t>
            </a:r>
          </a:p>
        </p:txBody>
      </p:sp>
      <p:sp>
        <p:nvSpPr>
          <p:cNvPr id="27671" name="Rectangle 23"/>
          <p:cNvSpPr>
            <a:spLocks/>
          </p:cNvSpPr>
          <p:nvPr/>
        </p:nvSpPr>
        <p:spPr bwMode="auto">
          <a:xfrm>
            <a:off x="4724400" y="17526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%r9</a:t>
            </a:r>
          </a:p>
        </p:txBody>
      </p:sp>
      <p:sp>
        <p:nvSpPr>
          <p:cNvPr id="27672" name="Rectangle 24"/>
          <p:cNvSpPr>
            <a:spLocks/>
          </p:cNvSpPr>
          <p:nvPr/>
        </p:nvSpPr>
        <p:spPr bwMode="auto">
          <a:xfrm>
            <a:off x="4724400" y="2362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%r10</a:t>
            </a:r>
          </a:p>
        </p:txBody>
      </p:sp>
      <p:sp>
        <p:nvSpPr>
          <p:cNvPr id="27673" name="Rectangle 25"/>
          <p:cNvSpPr>
            <a:spLocks/>
          </p:cNvSpPr>
          <p:nvPr/>
        </p:nvSpPr>
        <p:spPr bwMode="auto">
          <a:xfrm>
            <a:off x="4724400" y="29718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%r11</a:t>
            </a:r>
          </a:p>
        </p:txBody>
      </p:sp>
      <p:sp>
        <p:nvSpPr>
          <p:cNvPr id="27674" name="Rectangle 26"/>
          <p:cNvSpPr>
            <a:spLocks/>
          </p:cNvSpPr>
          <p:nvPr/>
        </p:nvSpPr>
        <p:spPr bwMode="auto">
          <a:xfrm>
            <a:off x="4724400" y="35814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%r12</a:t>
            </a:r>
          </a:p>
        </p:txBody>
      </p:sp>
      <p:sp>
        <p:nvSpPr>
          <p:cNvPr id="27675" name="Rectangle 27"/>
          <p:cNvSpPr>
            <a:spLocks/>
          </p:cNvSpPr>
          <p:nvPr/>
        </p:nvSpPr>
        <p:spPr bwMode="auto">
          <a:xfrm>
            <a:off x="4724400" y="4191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%r13</a:t>
            </a:r>
          </a:p>
        </p:txBody>
      </p:sp>
      <p:sp>
        <p:nvSpPr>
          <p:cNvPr id="27676" name="Rectangle 28"/>
          <p:cNvSpPr>
            <a:spLocks/>
          </p:cNvSpPr>
          <p:nvPr/>
        </p:nvSpPr>
        <p:spPr bwMode="auto">
          <a:xfrm>
            <a:off x="4724400" y="48006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%r14</a:t>
            </a:r>
          </a:p>
        </p:txBody>
      </p:sp>
      <p:sp>
        <p:nvSpPr>
          <p:cNvPr id="27677" name="Rectangle 29"/>
          <p:cNvSpPr>
            <a:spLocks/>
          </p:cNvSpPr>
          <p:nvPr/>
        </p:nvSpPr>
        <p:spPr bwMode="auto">
          <a:xfrm>
            <a:off x="4724400" y="5410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%r15</a:t>
            </a:r>
          </a:p>
        </p:txBody>
      </p:sp>
      <p:sp>
        <p:nvSpPr>
          <p:cNvPr id="27678" name="Rectangle 30"/>
          <p:cNvSpPr>
            <a:spLocks/>
          </p:cNvSpPr>
          <p:nvPr/>
        </p:nvSpPr>
        <p:spPr bwMode="auto">
          <a:xfrm>
            <a:off x="762000" y="1143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rax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79" name="Rectangle 31"/>
          <p:cNvSpPr>
            <a:spLocks/>
          </p:cNvSpPr>
          <p:nvPr/>
        </p:nvSpPr>
        <p:spPr bwMode="auto">
          <a:xfrm>
            <a:off x="762000" y="17526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rbx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80" name="Rectangle 32"/>
          <p:cNvSpPr>
            <a:spLocks/>
          </p:cNvSpPr>
          <p:nvPr/>
        </p:nvSpPr>
        <p:spPr bwMode="auto">
          <a:xfrm>
            <a:off x="762000" y="2362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%rcx</a:t>
            </a:r>
          </a:p>
        </p:txBody>
      </p:sp>
      <p:sp>
        <p:nvSpPr>
          <p:cNvPr id="27681" name="Rectangle 33"/>
          <p:cNvSpPr>
            <a:spLocks/>
          </p:cNvSpPr>
          <p:nvPr/>
        </p:nvSpPr>
        <p:spPr bwMode="auto">
          <a:xfrm>
            <a:off x="762000" y="29718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%rdx</a:t>
            </a:r>
          </a:p>
        </p:txBody>
      </p:sp>
      <p:sp>
        <p:nvSpPr>
          <p:cNvPr id="27682" name="Rectangle 34"/>
          <p:cNvSpPr>
            <a:spLocks/>
          </p:cNvSpPr>
          <p:nvPr/>
        </p:nvSpPr>
        <p:spPr bwMode="auto">
          <a:xfrm>
            <a:off x="762000" y="35814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%rsi</a:t>
            </a:r>
          </a:p>
        </p:txBody>
      </p:sp>
      <p:sp>
        <p:nvSpPr>
          <p:cNvPr id="27683" name="Rectangle 35"/>
          <p:cNvSpPr>
            <a:spLocks/>
          </p:cNvSpPr>
          <p:nvPr/>
        </p:nvSpPr>
        <p:spPr bwMode="auto">
          <a:xfrm>
            <a:off x="762000" y="4191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%rdi</a:t>
            </a:r>
          </a:p>
        </p:txBody>
      </p:sp>
      <p:sp>
        <p:nvSpPr>
          <p:cNvPr id="27684" name="Rectangle 36"/>
          <p:cNvSpPr>
            <a:spLocks/>
          </p:cNvSpPr>
          <p:nvPr/>
        </p:nvSpPr>
        <p:spPr bwMode="auto">
          <a:xfrm>
            <a:off x="762000" y="5410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%rbp</a:t>
            </a:r>
          </a:p>
        </p:txBody>
      </p:sp>
    </p:spTree>
    <p:extLst>
      <p:ext uri="{BB962C8B-B14F-4D97-AF65-F5344CB8AC3E}">
        <p14:creationId xmlns:p14="http://schemas.microsoft.com/office/powerpoint/2010/main" val="291041789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History: IA32 Registers</a:t>
            </a:r>
          </a:p>
        </p:txBody>
      </p: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1295400" y="1333501"/>
            <a:ext cx="5715000" cy="4533902"/>
            <a:chOff x="3984" y="1008"/>
            <a:chExt cx="1584" cy="2256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3984" y="1008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eax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3984" y="1296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ecx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984" y="1584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edx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3984" y="1872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itchFamily="49" charset="0"/>
                </a:rPr>
                <a:t>%ebx</a:t>
              </a: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3984" y="2160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itchFamily="49" charset="0"/>
                </a:rPr>
                <a:t>%esi</a:t>
              </a: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3984" y="2448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itchFamily="49" charset="0"/>
                </a:rPr>
                <a:t>%edi</a:t>
              </a: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3984" y="2736"/>
              <a:ext cx="1584" cy="24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itchFamily="49" charset="0"/>
                </a:rPr>
                <a:t>%esp</a:t>
              </a: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3984" y="3024"/>
              <a:ext cx="1584" cy="24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itchFamily="49" charset="0"/>
                </a:rPr>
                <a:t>%ebp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184326" y="1404970"/>
            <a:ext cx="2819400" cy="343694"/>
            <a:chOff x="4495800" y="1404970"/>
            <a:chExt cx="2819400" cy="343694"/>
          </a:xfrm>
        </p:grpSpPr>
        <p:sp>
          <p:nvSpPr>
            <p:cNvPr id="13" name="Rectangle 12"/>
            <p:cNvSpPr/>
            <p:nvPr/>
          </p:nvSpPr>
          <p:spPr bwMode="auto">
            <a:xfrm>
              <a:off x="4495800" y="1404970"/>
              <a:ext cx="2819400" cy="3429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cxnSp>
          <p:nvCxnSpPr>
            <p:cNvPr id="19" name="Straight Connector 18"/>
            <p:cNvCxnSpPr>
              <a:stCxn id="13" idx="0"/>
              <a:endCxn id="13" idx="2"/>
            </p:cNvCxnSpPr>
            <p:nvPr/>
          </p:nvCxnSpPr>
          <p:spPr bwMode="auto">
            <a:xfrm rot="16200000" flipH="1">
              <a:off x="5734050" y="1576420"/>
              <a:ext cx="3429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3" name="Group 22"/>
          <p:cNvGrpSpPr/>
          <p:nvPr/>
        </p:nvGrpSpPr>
        <p:grpSpPr>
          <a:xfrm>
            <a:off x="4184326" y="1989024"/>
            <a:ext cx="2819400" cy="343694"/>
            <a:chOff x="4495800" y="1404970"/>
            <a:chExt cx="2819400" cy="343694"/>
          </a:xfrm>
        </p:grpSpPr>
        <p:sp>
          <p:nvSpPr>
            <p:cNvPr id="24" name="Rectangle 23"/>
            <p:cNvSpPr/>
            <p:nvPr/>
          </p:nvSpPr>
          <p:spPr bwMode="auto">
            <a:xfrm>
              <a:off x="4495800" y="1404970"/>
              <a:ext cx="2819400" cy="3429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cxnSp>
          <p:nvCxnSpPr>
            <p:cNvPr id="25" name="Straight Connector 24"/>
            <p:cNvCxnSpPr>
              <a:stCxn id="24" idx="0"/>
              <a:endCxn id="24" idx="2"/>
            </p:cNvCxnSpPr>
            <p:nvPr/>
          </p:nvCxnSpPr>
          <p:spPr bwMode="auto">
            <a:xfrm rot="16200000" flipH="1">
              <a:off x="5734050" y="1576420"/>
              <a:ext cx="3429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6" name="Group 25"/>
          <p:cNvGrpSpPr/>
          <p:nvPr/>
        </p:nvGrpSpPr>
        <p:grpSpPr>
          <a:xfrm>
            <a:off x="4184326" y="2558580"/>
            <a:ext cx="2819400" cy="343694"/>
            <a:chOff x="4495800" y="1404970"/>
            <a:chExt cx="2819400" cy="343694"/>
          </a:xfrm>
        </p:grpSpPr>
        <p:sp>
          <p:nvSpPr>
            <p:cNvPr id="27" name="Rectangle 26"/>
            <p:cNvSpPr/>
            <p:nvPr/>
          </p:nvSpPr>
          <p:spPr bwMode="auto">
            <a:xfrm>
              <a:off x="4495800" y="1404970"/>
              <a:ext cx="2819400" cy="3429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cxnSp>
          <p:nvCxnSpPr>
            <p:cNvPr id="28" name="Straight Connector 27"/>
            <p:cNvCxnSpPr>
              <a:stCxn id="27" idx="0"/>
              <a:endCxn id="27" idx="2"/>
            </p:cNvCxnSpPr>
            <p:nvPr/>
          </p:nvCxnSpPr>
          <p:spPr bwMode="auto">
            <a:xfrm rot="16200000" flipH="1">
              <a:off x="5734050" y="1576420"/>
              <a:ext cx="3429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9" name="Group 28"/>
          <p:cNvGrpSpPr/>
          <p:nvPr/>
        </p:nvGrpSpPr>
        <p:grpSpPr>
          <a:xfrm>
            <a:off x="4184326" y="3141484"/>
            <a:ext cx="2819400" cy="343694"/>
            <a:chOff x="4495800" y="1404970"/>
            <a:chExt cx="2819400" cy="343694"/>
          </a:xfrm>
        </p:grpSpPr>
        <p:sp>
          <p:nvSpPr>
            <p:cNvPr id="30" name="Rectangle 29"/>
            <p:cNvSpPr/>
            <p:nvPr/>
          </p:nvSpPr>
          <p:spPr bwMode="auto">
            <a:xfrm>
              <a:off x="4495800" y="1404970"/>
              <a:ext cx="2819400" cy="3429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cxnSp>
          <p:nvCxnSpPr>
            <p:cNvPr id="31" name="Straight Connector 30"/>
            <p:cNvCxnSpPr>
              <a:stCxn id="30" idx="0"/>
              <a:endCxn id="30" idx="2"/>
            </p:cNvCxnSpPr>
            <p:nvPr/>
          </p:nvCxnSpPr>
          <p:spPr bwMode="auto">
            <a:xfrm rot="16200000" flipH="1">
              <a:off x="5734050" y="1576420"/>
              <a:ext cx="3429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Rectangle 32"/>
          <p:cNvSpPr/>
          <p:nvPr/>
        </p:nvSpPr>
        <p:spPr bwMode="auto">
          <a:xfrm>
            <a:off x="4184326" y="3717666"/>
            <a:ext cx="2819400" cy="3429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4184326" y="4301720"/>
            <a:ext cx="2819400" cy="3429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4184326" y="4871276"/>
            <a:ext cx="2819400" cy="342900"/>
          </a:xfrm>
          <a:prstGeom prst="rect">
            <a:avLst/>
          </a:prstGeom>
          <a:solidFill>
            <a:srgbClr val="FF99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4184326" y="5454180"/>
            <a:ext cx="2819400" cy="342900"/>
          </a:xfrm>
          <a:prstGeom prst="rect">
            <a:avLst/>
          </a:prstGeom>
          <a:solidFill>
            <a:srgbClr val="FF99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3581400" y="139162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%ax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81400" y="197543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cx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581400" y="254129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dx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581400" y="313178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bx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581400" y="370801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si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581400" y="428722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di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581400" y="4857690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%sp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81400" y="5443570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bp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572000" y="139162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%ah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0" y="197543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ch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572000" y="254129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%dh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313178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bh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943600" y="139162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43600" y="197543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cl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943600" y="254129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%dl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0" y="313178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bl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3" name="AutoShape 7"/>
          <p:cNvSpPr>
            <a:spLocks/>
          </p:cNvSpPr>
          <p:nvPr/>
        </p:nvSpPr>
        <p:spPr bwMode="auto">
          <a:xfrm rot="5400000">
            <a:off x="5451983" y="4671257"/>
            <a:ext cx="279400" cy="2824085"/>
          </a:xfrm>
          <a:prstGeom prst="righ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267200" y="6172200"/>
            <a:ext cx="2660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16-bit virtual registers</a:t>
            </a:r>
          </a:p>
          <a:p>
            <a:pPr algn="ctr"/>
            <a:r>
              <a:rPr lang="en-US" sz="1800" dirty="0">
                <a:latin typeface="Calibri" pitchFamily="34" charset="0"/>
              </a:rPr>
              <a:t>(backwards compatibility)</a:t>
            </a:r>
          </a:p>
        </p:txBody>
      </p:sp>
      <p:sp>
        <p:nvSpPr>
          <p:cNvPr id="75" name="AutoShape 7"/>
          <p:cNvSpPr>
            <a:spLocks/>
          </p:cNvSpPr>
          <p:nvPr/>
        </p:nvSpPr>
        <p:spPr bwMode="auto">
          <a:xfrm rot="10800000">
            <a:off x="914400" y="1333500"/>
            <a:ext cx="279400" cy="3376310"/>
          </a:xfrm>
          <a:prstGeom prst="righ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 rot="16200000">
            <a:off x="-221736" y="2812536"/>
            <a:ext cx="1727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general purpose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55159" y="1391622"/>
            <a:ext cx="12586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accumulate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555159" y="1975438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counter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555159" y="2541296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data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55159" y="3131786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base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55159" y="3626836"/>
            <a:ext cx="9364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source </a:t>
            </a:r>
          </a:p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index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555159" y="4204648"/>
            <a:ext cx="1366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destination</a:t>
            </a:r>
          </a:p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index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555159" y="4701317"/>
            <a:ext cx="11496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Courier New" pitchFamily="49" charset="0"/>
                <a:cs typeface="Courier New" pitchFamily="49" charset="0"/>
              </a:rPr>
              <a:t>stack </a:t>
            </a:r>
          </a:p>
          <a:p>
            <a:r>
              <a:rPr lang="en-US" sz="1800" i="1" dirty="0">
                <a:latin typeface="Courier New" pitchFamily="49" charset="0"/>
                <a:cs typeface="Courier New" pitchFamily="49" charset="0"/>
              </a:rPr>
              <a:t>pointer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55159" y="5313528"/>
            <a:ext cx="11496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Courier New" pitchFamily="49" charset="0"/>
                <a:cs typeface="Courier New" pitchFamily="49" charset="0"/>
              </a:rPr>
              <a:t>base</a:t>
            </a:r>
          </a:p>
          <a:p>
            <a:r>
              <a:rPr lang="en-US" sz="1800" i="1" dirty="0">
                <a:latin typeface="Courier New" pitchFamily="49" charset="0"/>
                <a:cs typeface="Courier New" pitchFamily="49" charset="0"/>
              </a:rPr>
              <a:t>pointer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93942" y="649069"/>
            <a:ext cx="18500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Origin</a:t>
            </a:r>
          </a:p>
          <a:p>
            <a:pPr algn="ctr"/>
            <a:r>
              <a:rPr lang="en-US" sz="1800" dirty="0">
                <a:latin typeface="Calibri" pitchFamily="34" charset="0"/>
              </a:rPr>
              <a:t>(mostly obsolete)</a:t>
            </a:r>
          </a:p>
        </p:txBody>
      </p:sp>
    </p:spTree>
    <p:extLst>
      <p:ext uri="{BB962C8B-B14F-4D97-AF65-F5344CB8AC3E}">
        <p14:creationId xmlns:p14="http://schemas.microsoft.com/office/powerpoint/2010/main" val="353295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6" grpId="0" animBg="1"/>
      <p:bldP spid="39" grpId="0" animBg="1"/>
      <p:bldP spid="42" grpId="0" animBg="1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9" grpId="0"/>
      <p:bldP spid="70" grpId="0"/>
      <p:bldP spid="71" grpId="0"/>
      <p:bldP spid="72" grpId="0"/>
      <p:bldP spid="73" grpId="0" animBg="1"/>
      <p:bldP spid="74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457200"/>
            <a:ext cx="5537200" cy="573088"/>
          </a:xfrm>
        </p:spPr>
        <p:txBody>
          <a:bodyPr/>
          <a:lstStyle/>
          <a:p>
            <a:r>
              <a:rPr lang="en-US" dirty="0"/>
              <a:t>Moving Data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100138"/>
            <a:ext cx="8396287" cy="5224462"/>
          </a:xfrm>
        </p:spPr>
        <p:txBody>
          <a:bodyPr/>
          <a:lstStyle/>
          <a:p>
            <a:r>
              <a:rPr lang="en-US" dirty="0"/>
              <a:t>Moving Data</a:t>
            </a:r>
          </a:p>
          <a:p>
            <a:pPr lvl="1">
              <a:buFont typeface="Wingdings" pitchFamily="2" charset="2"/>
              <a:buNone/>
            </a:pPr>
            <a:r>
              <a:rPr lang="en-US" b="1" dirty="0" err="1">
                <a:latin typeface="Courier New" pitchFamily="49" charset="0"/>
              </a:rPr>
              <a:t>movq</a:t>
            </a:r>
            <a:r>
              <a:rPr lang="en-US" b="1" dirty="0"/>
              <a:t> </a:t>
            </a:r>
            <a:r>
              <a:rPr lang="en-US" b="1" i="1" dirty="0"/>
              <a:t>Source</a:t>
            </a:r>
            <a:r>
              <a:rPr lang="en-US" b="1" dirty="0"/>
              <a:t>, </a:t>
            </a:r>
            <a:r>
              <a:rPr lang="en-US" b="1" i="1" dirty="0" err="1"/>
              <a:t>Dest</a:t>
            </a:r>
            <a:r>
              <a:rPr lang="en-US" b="1" dirty="0"/>
              <a:t>: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en-US" dirty="0"/>
              <a:t>Operand Types</a:t>
            </a:r>
          </a:p>
          <a:p>
            <a:pPr lvl="1"/>
            <a:r>
              <a:rPr lang="en-US" b="1" i="1" dirty="0">
                <a:solidFill>
                  <a:srgbClr val="C00000"/>
                </a:solidFill>
              </a:rPr>
              <a:t>Immediate:</a:t>
            </a:r>
            <a:r>
              <a:rPr lang="en-US" dirty="0"/>
              <a:t> Constant integer data</a:t>
            </a:r>
          </a:p>
          <a:p>
            <a:pPr lvl="2"/>
            <a:r>
              <a:rPr lang="en-US" dirty="0"/>
              <a:t>Example: </a:t>
            </a:r>
            <a:r>
              <a:rPr lang="en-US" b="1" dirty="0">
                <a:latin typeface="Courier New" pitchFamily="49" charset="0"/>
              </a:rPr>
              <a:t>$0x400</a:t>
            </a:r>
            <a:r>
              <a:rPr lang="en-US" b="1" dirty="0"/>
              <a:t>, </a:t>
            </a:r>
            <a:r>
              <a:rPr lang="en-US" b="1" dirty="0">
                <a:latin typeface="Courier New" pitchFamily="49" charset="0"/>
              </a:rPr>
              <a:t>$-533</a:t>
            </a:r>
            <a:endParaRPr lang="en-US" dirty="0"/>
          </a:p>
          <a:p>
            <a:pPr lvl="2"/>
            <a:r>
              <a:rPr lang="en-US" dirty="0"/>
              <a:t>Like C constant, but prefixed with </a:t>
            </a:r>
            <a:r>
              <a:rPr lang="en-US" b="1" dirty="0">
                <a:latin typeface="Courier New" pitchFamily="49" charset="0"/>
              </a:rPr>
              <a:t>‘$’</a:t>
            </a:r>
          </a:p>
          <a:p>
            <a:pPr lvl="2"/>
            <a:r>
              <a:rPr lang="en-US" dirty="0"/>
              <a:t>Encoded with 1, 2, or 4 bytes</a:t>
            </a:r>
          </a:p>
          <a:p>
            <a:pPr lvl="1"/>
            <a:r>
              <a:rPr lang="en-US" b="1" i="1" dirty="0">
                <a:solidFill>
                  <a:srgbClr val="C00000"/>
                </a:solidFill>
              </a:rPr>
              <a:t>Register: </a:t>
            </a:r>
            <a:r>
              <a:rPr lang="en-US" dirty="0"/>
              <a:t>One of 16 integer registers</a:t>
            </a:r>
          </a:p>
          <a:p>
            <a:pPr lvl="2"/>
            <a:r>
              <a:rPr lang="en-US" dirty="0"/>
              <a:t>Example: </a:t>
            </a:r>
            <a:r>
              <a:rPr lang="en-US" b="1" dirty="0">
                <a:latin typeface="Courier New" pitchFamily="49" charset="0"/>
              </a:rPr>
              <a:t>%</a:t>
            </a:r>
            <a:r>
              <a:rPr lang="en-US" b="1" dirty="0" err="1">
                <a:latin typeface="Courier New" pitchFamily="49" charset="0"/>
              </a:rPr>
              <a:t>rax</a:t>
            </a:r>
            <a:r>
              <a:rPr lang="en-US" b="1" dirty="0">
                <a:latin typeface="Courier New" pitchFamily="49" charset="0"/>
              </a:rPr>
              <a:t>, %r13</a:t>
            </a:r>
          </a:p>
          <a:p>
            <a:pPr lvl="2"/>
            <a:r>
              <a:rPr lang="en-US" dirty="0"/>
              <a:t>But </a:t>
            </a:r>
            <a:r>
              <a:rPr lang="en-US" b="1" dirty="0">
                <a:latin typeface="Courier New" pitchFamily="49" charset="0"/>
              </a:rPr>
              <a:t>%</a:t>
            </a:r>
            <a:r>
              <a:rPr lang="en-US" b="1" dirty="0" err="1">
                <a:latin typeface="Courier New" pitchFamily="49" charset="0"/>
              </a:rPr>
              <a:t>rsp</a:t>
            </a:r>
            <a:r>
              <a:rPr lang="en-US" b="1" dirty="0">
                <a:latin typeface="Courier New" pitchFamily="49" charset="0"/>
              </a:rPr>
              <a:t> </a:t>
            </a:r>
            <a:r>
              <a:rPr lang="en-US" dirty="0"/>
              <a:t>reserved for special use</a:t>
            </a:r>
          </a:p>
          <a:p>
            <a:pPr lvl="2"/>
            <a:r>
              <a:rPr lang="en-US" dirty="0"/>
              <a:t>Others have special uses for particular instructions</a:t>
            </a:r>
          </a:p>
          <a:p>
            <a:pPr lvl="1"/>
            <a:r>
              <a:rPr lang="en-US" b="1" i="1" dirty="0">
                <a:solidFill>
                  <a:srgbClr val="C00000"/>
                </a:solidFill>
              </a:rPr>
              <a:t>Memory:</a:t>
            </a:r>
            <a:r>
              <a:rPr lang="en-US" dirty="0"/>
              <a:t> 8 consecutive bytes of memory at address given by register</a:t>
            </a:r>
          </a:p>
          <a:p>
            <a:pPr lvl="2"/>
            <a:r>
              <a:rPr lang="en-US" dirty="0"/>
              <a:t>Simplest example: </a:t>
            </a:r>
            <a:r>
              <a:rPr lang="en-US" b="1" dirty="0">
                <a:latin typeface="Courier New" pitchFamily="49" charset="0"/>
              </a:rPr>
              <a:t>(%</a:t>
            </a:r>
            <a:r>
              <a:rPr lang="en-US" b="1" dirty="0" err="1">
                <a:latin typeface="Courier New" pitchFamily="49" charset="0"/>
              </a:rPr>
              <a:t>rax</a:t>
            </a:r>
            <a:r>
              <a:rPr lang="en-US" b="1" dirty="0">
                <a:latin typeface="Courier New" pitchFamily="49" charset="0"/>
              </a:rPr>
              <a:t>)</a:t>
            </a:r>
          </a:p>
          <a:p>
            <a:pPr lvl="2"/>
            <a:r>
              <a:rPr lang="en-US" dirty="0"/>
              <a:t>Various other “address modes”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167416" y="609600"/>
            <a:ext cx="2519384" cy="4267200"/>
            <a:chOff x="6167416" y="609600"/>
            <a:chExt cx="2519384" cy="4267200"/>
          </a:xfrm>
        </p:grpSpPr>
        <p:sp>
          <p:nvSpPr>
            <p:cNvPr id="156676" name="Rectangle 4"/>
            <p:cNvSpPr>
              <a:spLocks noChangeArrowheads="1"/>
            </p:cNvSpPr>
            <p:nvPr/>
          </p:nvSpPr>
          <p:spPr bwMode="auto">
            <a:xfrm>
              <a:off x="6172200" y="6096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rax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56677" name="Rectangle 5"/>
            <p:cNvSpPr>
              <a:spLocks noChangeArrowheads="1"/>
            </p:cNvSpPr>
            <p:nvPr/>
          </p:nvSpPr>
          <p:spPr bwMode="auto">
            <a:xfrm>
              <a:off x="6172200" y="10668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rcx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56678" name="Rectangle 6"/>
            <p:cNvSpPr>
              <a:spLocks noChangeArrowheads="1"/>
            </p:cNvSpPr>
            <p:nvPr/>
          </p:nvSpPr>
          <p:spPr bwMode="auto">
            <a:xfrm>
              <a:off x="6172200" y="15240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rdx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56679" name="Rectangle 7"/>
            <p:cNvSpPr>
              <a:spLocks noChangeArrowheads="1"/>
            </p:cNvSpPr>
            <p:nvPr/>
          </p:nvSpPr>
          <p:spPr bwMode="auto">
            <a:xfrm>
              <a:off x="6172200" y="19812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rbx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56680" name="Rectangle 8"/>
            <p:cNvSpPr>
              <a:spLocks noChangeArrowheads="1"/>
            </p:cNvSpPr>
            <p:nvPr/>
          </p:nvSpPr>
          <p:spPr bwMode="auto">
            <a:xfrm>
              <a:off x="6172200" y="24384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rsi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56681" name="Rectangle 9"/>
            <p:cNvSpPr>
              <a:spLocks noChangeArrowheads="1"/>
            </p:cNvSpPr>
            <p:nvPr/>
          </p:nvSpPr>
          <p:spPr bwMode="auto">
            <a:xfrm>
              <a:off x="6172200" y="28956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rdi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56682" name="Rectangle 10"/>
            <p:cNvSpPr>
              <a:spLocks noChangeArrowheads="1"/>
            </p:cNvSpPr>
            <p:nvPr/>
          </p:nvSpPr>
          <p:spPr bwMode="auto">
            <a:xfrm>
              <a:off x="6172200" y="3352800"/>
              <a:ext cx="2514600" cy="38100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rsp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56683" name="Rectangle 11"/>
            <p:cNvSpPr>
              <a:spLocks noChangeArrowheads="1"/>
            </p:cNvSpPr>
            <p:nvPr/>
          </p:nvSpPr>
          <p:spPr bwMode="auto">
            <a:xfrm>
              <a:off x="6172200" y="38100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rbp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6167416" y="44958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rN</a:t>
              </a:r>
              <a:endParaRPr lang="en-US" dirty="0">
                <a:latin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2998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7165975" cy="573088"/>
          </a:xfrm>
        </p:spPr>
        <p:txBody>
          <a:bodyPr/>
          <a:lstStyle/>
          <a:p>
            <a:r>
              <a:rPr lang="en-US">
                <a:latin typeface="Courier New" pitchFamily="49" charset="0"/>
              </a:rPr>
              <a:t>movq</a:t>
            </a:r>
            <a:r>
              <a:rPr lang="en-US"/>
              <a:t> Operand Combinations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943600"/>
            <a:ext cx="8140700" cy="533400"/>
          </a:xfrm>
          <a:noFill/>
        </p:spPr>
        <p:txBody>
          <a:bodyPr lIns="0" tIns="0" rIns="0" bIns="0"/>
          <a:lstStyle/>
          <a:p>
            <a:pPr marL="0" indent="0" algn="ctr">
              <a:buNone/>
            </a:pPr>
            <a:r>
              <a:rPr lang="en-US" i="1">
                <a:solidFill>
                  <a:srgbClr val="C00000"/>
                </a:solidFill>
              </a:rPr>
              <a:t>Cannot do memory-memory transfer with a single instruction</a:t>
            </a:r>
          </a:p>
        </p:txBody>
      </p:sp>
      <p:sp>
        <p:nvSpPr>
          <p:cNvPr id="157700" name="Text Box 4"/>
          <p:cNvSpPr txBox="1">
            <a:spLocks noChangeArrowheads="1"/>
          </p:cNvSpPr>
          <p:nvPr/>
        </p:nvSpPr>
        <p:spPr bwMode="auto">
          <a:xfrm>
            <a:off x="228600" y="3771900"/>
            <a:ext cx="936274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 err="1">
                <a:latin typeface="Courier New" pitchFamily="49" charset="0"/>
              </a:rPr>
              <a:t>movq</a:t>
            </a:r>
            <a:endParaRPr lang="en-US" sz="2400" dirty="0">
              <a:latin typeface="Courier New" pitchFamily="49" charset="0"/>
            </a:endParaRPr>
          </a:p>
        </p:txBody>
      </p:sp>
      <p:sp>
        <p:nvSpPr>
          <p:cNvPr id="157701" name="Text Box 5"/>
          <p:cNvSpPr txBox="1">
            <a:spLocks noChangeArrowheads="1"/>
          </p:cNvSpPr>
          <p:nvPr/>
        </p:nvSpPr>
        <p:spPr bwMode="auto">
          <a:xfrm>
            <a:off x="1600200" y="2705100"/>
            <a:ext cx="760144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Imm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2" name="Text Box 6"/>
          <p:cNvSpPr txBox="1">
            <a:spLocks noChangeArrowheads="1"/>
          </p:cNvSpPr>
          <p:nvPr/>
        </p:nvSpPr>
        <p:spPr bwMode="auto">
          <a:xfrm>
            <a:off x="1600200" y="3771900"/>
            <a:ext cx="66588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Reg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3" name="Text Box 7"/>
          <p:cNvSpPr txBox="1">
            <a:spLocks noChangeArrowheads="1"/>
          </p:cNvSpPr>
          <p:nvPr/>
        </p:nvSpPr>
        <p:spPr bwMode="auto">
          <a:xfrm>
            <a:off x="1600200" y="4914900"/>
            <a:ext cx="876300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Mem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4" name="Text Box 8"/>
          <p:cNvSpPr txBox="1">
            <a:spLocks noChangeArrowheads="1"/>
          </p:cNvSpPr>
          <p:nvPr/>
        </p:nvSpPr>
        <p:spPr bwMode="auto">
          <a:xfrm>
            <a:off x="2819400" y="2476500"/>
            <a:ext cx="66588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Reg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5" name="Text Box 9"/>
          <p:cNvSpPr txBox="1">
            <a:spLocks noChangeArrowheads="1"/>
          </p:cNvSpPr>
          <p:nvPr/>
        </p:nvSpPr>
        <p:spPr bwMode="auto">
          <a:xfrm>
            <a:off x="2819400" y="2933700"/>
            <a:ext cx="876300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Mem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6" name="Text Box 10"/>
          <p:cNvSpPr txBox="1">
            <a:spLocks noChangeArrowheads="1"/>
          </p:cNvSpPr>
          <p:nvPr/>
        </p:nvSpPr>
        <p:spPr bwMode="auto">
          <a:xfrm>
            <a:off x="2819400" y="3619500"/>
            <a:ext cx="66588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Reg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7" name="Text Box 11"/>
          <p:cNvSpPr txBox="1">
            <a:spLocks noChangeArrowheads="1"/>
          </p:cNvSpPr>
          <p:nvPr/>
        </p:nvSpPr>
        <p:spPr bwMode="auto">
          <a:xfrm>
            <a:off x="2819400" y="4065588"/>
            <a:ext cx="876300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Mem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8" name="Text Box 12"/>
          <p:cNvSpPr txBox="1">
            <a:spLocks noChangeArrowheads="1"/>
          </p:cNvSpPr>
          <p:nvPr/>
        </p:nvSpPr>
        <p:spPr bwMode="auto">
          <a:xfrm>
            <a:off x="2819400" y="4914900"/>
            <a:ext cx="66588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Reg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9" name="Text Box 13"/>
          <p:cNvSpPr txBox="1">
            <a:spLocks noChangeArrowheads="1"/>
          </p:cNvSpPr>
          <p:nvPr/>
        </p:nvSpPr>
        <p:spPr bwMode="auto">
          <a:xfrm>
            <a:off x="1447800" y="1752600"/>
            <a:ext cx="1049133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Source</a:t>
            </a:r>
          </a:p>
        </p:txBody>
      </p:sp>
      <p:sp>
        <p:nvSpPr>
          <p:cNvPr id="157710" name="Text Box 14"/>
          <p:cNvSpPr txBox="1">
            <a:spLocks noChangeArrowheads="1"/>
          </p:cNvSpPr>
          <p:nvPr/>
        </p:nvSpPr>
        <p:spPr bwMode="auto">
          <a:xfrm>
            <a:off x="2819400" y="1752600"/>
            <a:ext cx="76149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 err="1">
                <a:latin typeface="Calibri" pitchFamily="34" charset="0"/>
              </a:rPr>
              <a:t>Dest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157716" name="AutoShape 20"/>
          <p:cNvSpPr>
            <a:spLocks/>
          </p:cNvSpPr>
          <p:nvPr/>
        </p:nvSpPr>
        <p:spPr bwMode="auto">
          <a:xfrm>
            <a:off x="1295400" y="2628900"/>
            <a:ext cx="304800" cy="2743200"/>
          </a:xfrm>
          <a:prstGeom prst="leftBrace">
            <a:avLst>
              <a:gd name="adj1" fmla="val 7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57717" name="AutoShape 21"/>
          <p:cNvSpPr>
            <a:spLocks/>
          </p:cNvSpPr>
          <p:nvPr/>
        </p:nvSpPr>
        <p:spPr bwMode="auto">
          <a:xfrm>
            <a:off x="2514600" y="2552700"/>
            <a:ext cx="304800" cy="762000"/>
          </a:xfrm>
          <a:prstGeom prst="leftBrace">
            <a:avLst>
              <a:gd name="adj1" fmla="val 20833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57718" name="AutoShape 22"/>
          <p:cNvSpPr>
            <a:spLocks/>
          </p:cNvSpPr>
          <p:nvPr/>
        </p:nvSpPr>
        <p:spPr bwMode="auto">
          <a:xfrm>
            <a:off x="2514600" y="3695700"/>
            <a:ext cx="304800" cy="762000"/>
          </a:xfrm>
          <a:prstGeom prst="leftBrace">
            <a:avLst>
              <a:gd name="adj1" fmla="val 20833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57719" name="Text Box 23"/>
          <p:cNvSpPr txBox="1">
            <a:spLocks noChangeArrowheads="1"/>
          </p:cNvSpPr>
          <p:nvPr/>
        </p:nvSpPr>
        <p:spPr bwMode="auto">
          <a:xfrm>
            <a:off x="6858000" y="1752600"/>
            <a:ext cx="130676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C Analog</a:t>
            </a:r>
          </a:p>
        </p:txBody>
      </p:sp>
      <p:sp>
        <p:nvSpPr>
          <p:cNvPr id="157711" name="Text Box 15"/>
          <p:cNvSpPr txBox="1">
            <a:spLocks noChangeArrowheads="1"/>
          </p:cNvSpPr>
          <p:nvPr/>
        </p:nvSpPr>
        <p:spPr bwMode="auto">
          <a:xfrm>
            <a:off x="3733800" y="2506663"/>
            <a:ext cx="2339453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 err="1">
                <a:latin typeface="Courier New" pitchFamily="49" charset="0"/>
              </a:rPr>
              <a:t>movq</a:t>
            </a:r>
            <a:r>
              <a:rPr lang="en-US" sz="2000" dirty="0">
                <a:latin typeface="Courier New" pitchFamily="49" charset="0"/>
              </a:rPr>
              <a:t> $0x4,%rax</a:t>
            </a:r>
          </a:p>
        </p:txBody>
      </p:sp>
      <p:sp>
        <p:nvSpPr>
          <p:cNvPr id="157720" name="Text Box 24"/>
          <p:cNvSpPr txBox="1">
            <a:spLocks noChangeArrowheads="1"/>
          </p:cNvSpPr>
          <p:nvPr/>
        </p:nvSpPr>
        <p:spPr bwMode="auto">
          <a:xfrm>
            <a:off x="6673850" y="2506663"/>
            <a:ext cx="186055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>
                <a:latin typeface="Courier New" pitchFamily="49" charset="0"/>
              </a:rPr>
              <a:t>temp = 0x4;</a:t>
            </a:r>
          </a:p>
        </p:txBody>
      </p:sp>
      <p:sp>
        <p:nvSpPr>
          <p:cNvPr id="157712" name="Text Box 16"/>
          <p:cNvSpPr txBox="1">
            <a:spLocks noChangeArrowheads="1"/>
          </p:cNvSpPr>
          <p:nvPr/>
        </p:nvSpPr>
        <p:spPr bwMode="auto">
          <a:xfrm>
            <a:off x="3733800" y="2963863"/>
            <a:ext cx="2801193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 err="1">
                <a:latin typeface="Courier New" pitchFamily="49" charset="0"/>
              </a:rPr>
              <a:t>movq</a:t>
            </a:r>
            <a:r>
              <a:rPr lang="en-US" sz="2000" dirty="0">
                <a:latin typeface="Courier New" pitchFamily="49" charset="0"/>
              </a:rPr>
              <a:t> $-147,(%</a:t>
            </a:r>
            <a:r>
              <a:rPr lang="en-US" sz="2000" dirty="0" err="1">
                <a:latin typeface="Courier New" pitchFamily="49" charset="0"/>
              </a:rPr>
              <a:t>rax</a:t>
            </a:r>
            <a:r>
              <a:rPr lang="en-US" sz="2000" dirty="0">
                <a:latin typeface="Courier New" pitchFamily="49" charset="0"/>
              </a:rPr>
              <a:t>)</a:t>
            </a:r>
          </a:p>
        </p:txBody>
      </p:sp>
      <p:sp>
        <p:nvSpPr>
          <p:cNvPr id="157721" name="Text Box 25"/>
          <p:cNvSpPr txBox="1">
            <a:spLocks noChangeArrowheads="1"/>
          </p:cNvSpPr>
          <p:nvPr/>
        </p:nvSpPr>
        <p:spPr bwMode="auto">
          <a:xfrm>
            <a:off x="6673850" y="2963863"/>
            <a:ext cx="170815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>
                <a:latin typeface="Courier New" pitchFamily="49" charset="0"/>
              </a:rPr>
              <a:t>*p = -147;</a:t>
            </a:r>
          </a:p>
        </p:txBody>
      </p:sp>
      <p:sp>
        <p:nvSpPr>
          <p:cNvPr id="157713" name="Text Box 17"/>
          <p:cNvSpPr txBox="1">
            <a:spLocks noChangeArrowheads="1"/>
          </p:cNvSpPr>
          <p:nvPr/>
        </p:nvSpPr>
        <p:spPr bwMode="auto">
          <a:xfrm>
            <a:off x="3733800" y="3649663"/>
            <a:ext cx="2339453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 err="1">
                <a:latin typeface="Courier New" pitchFamily="49" charset="0"/>
              </a:rPr>
              <a:t>movq</a:t>
            </a:r>
            <a:r>
              <a:rPr lang="en-US" sz="2000" dirty="0">
                <a:latin typeface="Courier New" pitchFamily="49" charset="0"/>
              </a:rPr>
              <a:t> %</a:t>
            </a:r>
            <a:r>
              <a:rPr lang="en-US" sz="2000" dirty="0" err="1">
                <a:latin typeface="Courier New" pitchFamily="49" charset="0"/>
              </a:rPr>
              <a:t>rax</a:t>
            </a:r>
            <a:r>
              <a:rPr lang="en-US" sz="2000" dirty="0">
                <a:latin typeface="Courier New" pitchFamily="49" charset="0"/>
              </a:rPr>
              <a:t>,%</a:t>
            </a:r>
            <a:r>
              <a:rPr lang="en-US" sz="2000" dirty="0" err="1">
                <a:latin typeface="Courier New" pitchFamily="49" charset="0"/>
              </a:rPr>
              <a:t>rdx</a:t>
            </a:r>
            <a:endParaRPr lang="en-US" sz="2000" dirty="0">
              <a:latin typeface="Courier New" pitchFamily="49" charset="0"/>
            </a:endParaRPr>
          </a:p>
        </p:txBody>
      </p:sp>
      <p:sp>
        <p:nvSpPr>
          <p:cNvPr id="157722" name="Text Box 26"/>
          <p:cNvSpPr txBox="1">
            <a:spLocks noChangeArrowheads="1"/>
          </p:cNvSpPr>
          <p:nvPr/>
        </p:nvSpPr>
        <p:spPr bwMode="auto">
          <a:xfrm>
            <a:off x="6673850" y="3649663"/>
            <a:ext cx="231775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>
                <a:latin typeface="Courier New" pitchFamily="49" charset="0"/>
              </a:rPr>
              <a:t>temp2 = temp1;</a:t>
            </a:r>
          </a:p>
        </p:txBody>
      </p:sp>
      <p:sp>
        <p:nvSpPr>
          <p:cNvPr id="157714" name="Text Box 18"/>
          <p:cNvSpPr txBox="1">
            <a:spLocks noChangeArrowheads="1"/>
          </p:cNvSpPr>
          <p:nvPr/>
        </p:nvSpPr>
        <p:spPr bwMode="auto">
          <a:xfrm>
            <a:off x="3733800" y="4095750"/>
            <a:ext cx="2647279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 err="1">
                <a:latin typeface="Courier New" pitchFamily="49" charset="0"/>
              </a:rPr>
              <a:t>movq</a:t>
            </a:r>
            <a:r>
              <a:rPr lang="en-US" sz="2000" dirty="0">
                <a:latin typeface="Courier New" pitchFamily="49" charset="0"/>
              </a:rPr>
              <a:t> %</a:t>
            </a:r>
            <a:r>
              <a:rPr lang="en-US" sz="2000" dirty="0" err="1">
                <a:latin typeface="Courier New" pitchFamily="49" charset="0"/>
              </a:rPr>
              <a:t>rax</a:t>
            </a:r>
            <a:r>
              <a:rPr lang="en-US" sz="2000" dirty="0">
                <a:latin typeface="Courier New" pitchFamily="49" charset="0"/>
              </a:rPr>
              <a:t>,(%</a:t>
            </a:r>
            <a:r>
              <a:rPr lang="en-US" sz="2000" dirty="0" err="1">
                <a:latin typeface="Courier New" pitchFamily="49" charset="0"/>
              </a:rPr>
              <a:t>rdx</a:t>
            </a:r>
            <a:r>
              <a:rPr lang="en-US" sz="2000" dirty="0">
                <a:latin typeface="Courier New" pitchFamily="49" charset="0"/>
              </a:rPr>
              <a:t>)</a:t>
            </a:r>
          </a:p>
        </p:txBody>
      </p:sp>
      <p:sp>
        <p:nvSpPr>
          <p:cNvPr id="157723" name="Text Box 27"/>
          <p:cNvSpPr txBox="1">
            <a:spLocks noChangeArrowheads="1"/>
          </p:cNvSpPr>
          <p:nvPr/>
        </p:nvSpPr>
        <p:spPr bwMode="auto">
          <a:xfrm>
            <a:off x="6673850" y="4095750"/>
            <a:ext cx="170815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>
                <a:latin typeface="Courier New" pitchFamily="49" charset="0"/>
              </a:rPr>
              <a:t>*p = temp;</a:t>
            </a:r>
          </a:p>
        </p:txBody>
      </p:sp>
      <p:sp>
        <p:nvSpPr>
          <p:cNvPr id="157715" name="Text Box 19"/>
          <p:cNvSpPr txBox="1">
            <a:spLocks noChangeArrowheads="1"/>
          </p:cNvSpPr>
          <p:nvPr/>
        </p:nvSpPr>
        <p:spPr bwMode="auto">
          <a:xfrm>
            <a:off x="3733800" y="4945063"/>
            <a:ext cx="2647279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 err="1">
                <a:latin typeface="Courier New" pitchFamily="49" charset="0"/>
              </a:rPr>
              <a:t>movq</a:t>
            </a:r>
            <a:r>
              <a:rPr lang="en-US" sz="2000" dirty="0">
                <a:latin typeface="Courier New" pitchFamily="49" charset="0"/>
              </a:rPr>
              <a:t> (%</a:t>
            </a:r>
            <a:r>
              <a:rPr lang="en-US" sz="2000" dirty="0" err="1">
                <a:latin typeface="Courier New" pitchFamily="49" charset="0"/>
              </a:rPr>
              <a:t>rax</a:t>
            </a:r>
            <a:r>
              <a:rPr lang="en-US" sz="2000" dirty="0">
                <a:latin typeface="Courier New" pitchFamily="49" charset="0"/>
              </a:rPr>
              <a:t>),%</a:t>
            </a:r>
            <a:r>
              <a:rPr lang="en-US" sz="2000" dirty="0" err="1">
                <a:latin typeface="Courier New" pitchFamily="49" charset="0"/>
              </a:rPr>
              <a:t>rdx</a:t>
            </a:r>
            <a:endParaRPr lang="en-US" sz="2000" dirty="0">
              <a:latin typeface="Courier New" pitchFamily="49" charset="0"/>
            </a:endParaRPr>
          </a:p>
        </p:txBody>
      </p:sp>
      <p:sp>
        <p:nvSpPr>
          <p:cNvPr id="157724" name="Text Box 28"/>
          <p:cNvSpPr txBox="1">
            <a:spLocks noChangeArrowheads="1"/>
          </p:cNvSpPr>
          <p:nvPr/>
        </p:nvSpPr>
        <p:spPr bwMode="auto">
          <a:xfrm>
            <a:off x="6673850" y="4945063"/>
            <a:ext cx="170815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>
                <a:latin typeface="Courier New" pitchFamily="49" charset="0"/>
              </a:rPr>
              <a:t>temp = *p;</a:t>
            </a:r>
          </a:p>
        </p:txBody>
      </p:sp>
      <p:sp>
        <p:nvSpPr>
          <p:cNvPr id="157725" name="Text Box 29"/>
          <p:cNvSpPr txBox="1">
            <a:spLocks noChangeArrowheads="1"/>
          </p:cNvSpPr>
          <p:nvPr/>
        </p:nvSpPr>
        <p:spPr bwMode="auto">
          <a:xfrm>
            <a:off x="4572000" y="1752600"/>
            <a:ext cx="1220399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 err="1">
                <a:latin typeface="Calibri" pitchFamily="34" charset="0"/>
              </a:rPr>
              <a:t>Src,Dest</a:t>
            </a:r>
            <a:endParaRPr lang="en-US" sz="24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446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11" grpId="0"/>
      <p:bldP spid="157720" grpId="0"/>
      <p:bldP spid="157712" grpId="0"/>
      <p:bldP spid="157721" grpId="0"/>
      <p:bldP spid="157713" grpId="0"/>
      <p:bldP spid="157722" grpId="0"/>
      <p:bldP spid="157714" grpId="0"/>
      <p:bldP spid="157723" grpId="0"/>
      <p:bldP spid="157715" grpId="0"/>
      <p:bldP spid="1577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69912"/>
            <a:ext cx="7035800" cy="573088"/>
          </a:xfrm>
        </p:spPr>
        <p:txBody>
          <a:bodyPr/>
          <a:lstStyle/>
          <a:p>
            <a:r>
              <a:rPr lang="en-US" dirty="0"/>
              <a:t>Simple Memory Addressing Modes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3838" indent="-223838" defTabSz="895350">
              <a:tabLst>
                <a:tab pos="2349500" algn="l"/>
                <a:tab pos="4114800" algn="l"/>
              </a:tabLst>
            </a:pPr>
            <a:r>
              <a:rPr lang="en-US" dirty="0"/>
              <a:t>Normal	(R)	</a:t>
            </a:r>
            <a:r>
              <a:rPr lang="en-US" dirty="0" err="1"/>
              <a:t>Mem[Reg[R</a:t>
            </a:r>
            <a:r>
              <a:rPr lang="en-US" dirty="0"/>
              <a:t>]]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Register R specifies memory address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Aha! Pointer dereferencing in C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 err="1">
                <a:latin typeface="Courier New" pitchFamily="49" charset="0"/>
              </a:rPr>
              <a:t>movq</a:t>
            </a:r>
            <a:r>
              <a:rPr lang="en-US" sz="2400" b="1" dirty="0">
                <a:latin typeface="Courier New" pitchFamily="49" charset="0"/>
              </a:rPr>
              <a:t> (%</a:t>
            </a:r>
            <a:r>
              <a:rPr lang="en-US" sz="2400" b="1" dirty="0" err="1">
                <a:latin typeface="Courier New" pitchFamily="49" charset="0"/>
              </a:rPr>
              <a:t>rcx</a:t>
            </a:r>
            <a:r>
              <a:rPr lang="en-US" sz="2400" b="1" dirty="0">
                <a:latin typeface="Courier New" pitchFamily="49" charset="0"/>
              </a:rPr>
              <a:t>),%</a:t>
            </a:r>
            <a:r>
              <a:rPr lang="en-US" sz="2400" b="1" dirty="0" err="1">
                <a:latin typeface="Courier New" pitchFamily="49" charset="0"/>
              </a:rPr>
              <a:t>rax</a:t>
            </a:r>
            <a:endParaRPr lang="en-US" sz="2400" b="1" dirty="0">
              <a:latin typeface="Courier New" pitchFamily="49" charset="0"/>
            </a:endParaRP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endParaRPr lang="en-US" sz="2400" dirty="0"/>
          </a:p>
          <a:p>
            <a:pPr marL="223838" indent="-223838" defTabSz="895350">
              <a:tabLst>
                <a:tab pos="2349500" algn="l"/>
                <a:tab pos="4114800" algn="l"/>
              </a:tabLst>
            </a:pPr>
            <a:r>
              <a:rPr lang="en-US" dirty="0"/>
              <a:t>Displacement	D(R)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[R]+D]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Register R specifies start of memory region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Constant displacement D specifies offset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 err="1">
                <a:latin typeface="Courier New" pitchFamily="49" charset="0"/>
              </a:rPr>
              <a:t>movq</a:t>
            </a:r>
            <a:r>
              <a:rPr lang="en-US" sz="2400" b="1" dirty="0">
                <a:latin typeface="Courier New" pitchFamily="49" charset="0"/>
              </a:rPr>
              <a:t> 8(%</a:t>
            </a:r>
            <a:r>
              <a:rPr lang="en-US" sz="2400" b="1" dirty="0" err="1">
                <a:latin typeface="Courier New" pitchFamily="49" charset="0"/>
              </a:rPr>
              <a:t>rbp</a:t>
            </a:r>
            <a:r>
              <a:rPr lang="en-US" sz="2400" b="1" dirty="0">
                <a:latin typeface="Courier New" pitchFamily="49" charset="0"/>
              </a:rPr>
              <a:t>),%</a:t>
            </a:r>
            <a:r>
              <a:rPr lang="en-US" sz="2400" b="1" dirty="0" err="1">
                <a:latin typeface="Courier New" pitchFamily="49" charset="0"/>
              </a:rPr>
              <a:t>rdx</a:t>
            </a:r>
            <a:endParaRPr lang="en-US" sz="2400" b="1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006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7658100" cy="573088"/>
          </a:xfrm>
        </p:spPr>
        <p:txBody>
          <a:bodyPr/>
          <a:lstStyle/>
          <a:p>
            <a:r>
              <a:rPr lang="en-US" dirty="0"/>
              <a:t>Example of Simple Addressing Modes</a:t>
            </a:r>
          </a:p>
        </p:txBody>
      </p:sp>
      <p:sp>
        <p:nvSpPr>
          <p:cNvPr id="159747" name="Rectangle 3"/>
          <p:cNvSpPr>
            <a:spLocks noChangeArrowheads="1"/>
          </p:cNvSpPr>
          <p:nvPr/>
        </p:nvSpPr>
        <p:spPr bwMode="auto">
          <a:xfrm>
            <a:off x="152400" y="1600200"/>
            <a:ext cx="3962400" cy="230576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void swap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(long *</a:t>
            </a:r>
            <a:r>
              <a:rPr lang="en-US" sz="1800" dirty="0" err="1">
                <a:latin typeface="Courier New" pitchFamily="49" charset="0"/>
              </a:rPr>
              <a:t>xp</a:t>
            </a:r>
            <a:r>
              <a:rPr lang="en-US" sz="1800" dirty="0">
                <a:latin typeface="Courier New" pitchFamily="49" charset="0"/>
              </a:rPr>
              <a:t>, long *</a:t>
            </a:r>
            <a:r>
              <a:rPr lang="en-US" sz="1800" dirty="0" err="1">
                <a:latin typeface="Courier New" pitchFamily="49" charset="0"/>
              </a:rPr>
              <a:t>yp</a:t>
            </a:r>
            <a:r>
              <a:rPr lang="en-US" sz="1800" dirty="0">
                <a:latin typeface="Courier New" pitchFamily="49" charset="0"/>
              </a:rPr>
              <a:t>) 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{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long t0 = *</a:t>
            </a:r>
            <a:r>
              <a:rPr lang="en-US" sz="1800" dirty="0" err="1">
                <a:latin typeface="Courier New" pitchFamily="49" charset="0"/>
              </a:rPr>
              <a:t>xp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long t1 = *</a:t>
            </a:r>
            <a:r>
              <a:rPr lang="en-US" sz="1800" dirty="0" err="1">
                <a:latin typeface="Courier New" pitchFamily="49" charset="0"/>
              </a:rPr>
              <a:t>yp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*</a:t>
            </a:r>
            <a:r>
              <a:rPr lang="en-US" sz="1800" dirty="0" err="1">
                <a:latin typeface="Courier New" pitchFamily="49" charset="0"/>
              </a:rPr>
              <a:t>xp</a:t>
            </a:r>
            <a:r>
              <a:rPr lang="en-US" sz="1800" dirty="0">
                <a:latin typeface="Courier New" pitchFamily="49" charset="0"/>
              </a:rPr>
              <a:t> = t1;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*</a:t>
            </a:r>
            <a:r>
              <a:rPr lang="en-US" sz="1800" dirty="0" err="1">
                <a:latin typeface="Courier New" pitchFamily="49" charset="0"/>
              </a:rPr>
              <a:t>yp</a:t>
            </a:r>
            <a:r>
              <a:rPr lang="en-US" sz="1800" dirty="0">
                <a:latin typeface="Courier New" pitchFamily="49" charset="0"/>
              </a:rPr>
              <a:t> = t0;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4495800" y="2154198"/>
            <a:ext cx="41910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swap: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movq    (%rdi), %rax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(%rsi), %rdx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%rdx, (%rdi)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%rax, (%rsi)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2030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4331822" y="1780988"/>
            <a:ext cx="1752600" cy="1752600"/>
            <a:chOff x="9111129" y="1790700"/>
            <a:chExt cx="1752600" cy="1752600"/>
          </a:xfrm>
        </p:grpSpPr>
        <p:sp>
          <p:nvSpPr>
            <p:cNvPr id="56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57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58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rax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0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itchFamily="49" charset="0"/>
              </a:endParaRPr>
            </a:p>
          </p:txBody>
        </p:sp>
        <p:sp>
          <p:nvSpPr>
            <p:cNvPr id="61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itchFamily="49" charset="0"/>
              </a:endParaRPr>
            </a:p>
          </p:txBody>
        </p:sp>
        <p:sp>
          <p:nvSpPr>
            <p:cNvPr id="62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itchFamily="49" charset="0"/>
              </a:endParaRPr>
            </a:p>
          </p:txBody>
        </p:sp>
        <p:sp>
          <p:nvSpPr>
            <p:cNvPr id="63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itchFamily="49" charset="0"/>
              </a:endParaRPr>
            </a:p>
          </p:txBody>
        </p:sp>
      </p:grp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/>
                <a:cs typeface="Courier New"/>
              </a:rPr>
              <a:t>Swap</a:t>
            </a:r>
            <a:r>
              <a:rPr lang="en-US" dirty="0"/>
              <a:t>()</a:t>
            </a:r>
          </a:p>
        </p:txBody>
      </p:sp>
      <p:sp>
        <p:nvSpPr>
          <p:cNvPr id="160771" name="Rectangle 3"/>
          <p:cNvSpPr>
            <a:spLocks noChangeArrowheads="1"/>
          </p:cNvSpPr>
          <p:nvPr/>
        </p:nvSpPr>
        <p:spPr bwMode="auto">
          <a:xfrm>
            <a:off x="304800" y="1295400"/>
            <a:ext cx="3962400" cy="230576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void swap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(long *</a:t>
            </a:r>
            <a:r>
              <a:rPr lang="en-US" sz="1800" dirty="0" err="1">
                <a:latin typeface="Courier New" pitchFamily="49" charset="0"/>
              </a:rPr>
              <a:t>xp</a:t>
            </a:r>
            <a:r>
              <a:rPr lang="en-US" sz="1800" dirty="0">
                <a:latin typeface="Courier New" pitchFamily="49" charset="0"/>
              </a:rPr>
              <a:t>, long *</a:t>
            </a:r>
            <a:r>
              <a:rPr lang="en-US" sz="1800" dirty="0" err="1">
                <a:latin typeface="Courier New" pitchFamily="49" charset="0"/>
              </a:rPr>
              <a:t>yp</a:t>
            </a:r>
            <a:r>
              <a:rPr lang="en-US" sz="1800" dirty="0">
                <a:latin typeface="Courier New" pitchFamily="49" charset="0"/>
              </a:rPr>
              <a:t>) 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{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long t0 = *</a:t>
            </a:r>
            <a:r>
              <a:rPr lang="en-US" sz="1800" dirty="0" err="1">
                <a:latin typeface="Courier New" pitchFamily="49" charset="0"/>
              </a:rPr>
              <a:t>xp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long t1 = *</a:t>
            </a:r>
            <a:r>
              <a:rPr lang="en-US" sz="1800" dirty="0" err="1">
                <a:latin typeface="Courier New" pitchFamily="49" charset="0"/>
              </a:rPr>
              <a:t>yp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*</a:t>
            </a:r>
            <a:r>
              <a:rPr lang="en-US" sz="1800" dirty="0" err="1">
                <a:latin typeface="Courier New" pitchFamily="49" charset="0"/>
              </a:rPr>
              <a:t>xp</a:t>
            </a:r>
            <a:r>
              <a:rPr lang="en-US" sz="1800" dirty="0">
                <a:latin typeface="Courier New" pitchFamily="49" charset="0"/>
              </a:rPr>
              <a:t> = t1;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*</a:t>
            </a:r>
            <a:r>
              <a:rPr lang="en-US" sz="1800" dirty="0" err="1">
                <a:latin typeface="Courier New" pitchFamily="49" charset="0"/>
              </a:rPr>
              <a:t>yp</a:t>
            </a:r>
            <a:r>
              <a:rPr lang="en-US" sz="1800" dirty="0">
                <a:latin typeface="Courier New" pitchFamily="49" charset="0"/>
              </a:rPr>
              <a:t> = t0;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160773" name="Text Box 5"/>
          <p:cNvSpPr txBox="1">
            <a:spLocks noChangeArrowheads="1"/>
          </p:cNvSpPr>
          <p:nvPr/>
        </p:nvSpPr>
        <p:spPr bwMode="auto">
          <a:xfrm>
            <a:off x="7090370" y="833735"/>
            <a:ext cx="127961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</a:p>
        </p:txBody>
      </p:sp>
      <p:sp>
        <p:nvSpPr>
          <p:cNvPr id="160774" name="Text Box 6"/>
          <p:cNvSpPr txBox="1">
            <a:spLocks noChangeArrowheads="1"/>
          </p:cNvSpPr>
          <p:nvPr/>
        </p:nvSpPr>
        <p:spPr bwMode="auto">
          <a:xfrm>
            <a:off x="533400" y="4114800"/>
            <a:ext cx="2438400" cy="1676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latin typeface="Calibri" pitchFamily="34" charset="0"/>
              </a:rPr>
              <a:t>Register	Value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rdi</a:t>
            </a:r>
            <a:r>
              <a:rPr lang="en-US" sz="1800" dirty="0">
                <a:latin typeface="Courier New" pitchFamily="49" charset="0"/>
              </a:rPr>
              <a:t>	</a:t>
            </a:r>
            <a:r>
              <a:rPr lang="en-US" sz="1800" dirty="0" err="1">
                <a:latin typeface="Courier New" pitchFamily="49" charset="0"/>
              </a:rPr>
              <a:t>xp</a:t>
            </a:r>
            <a:endParaRPr lang="en-US" sz="1800" dirty="0">
              <a:latin typeface="Courier New" pitchFamily="49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rsi</a:t>
            </a:r>
            <a:r>
              <a:rPr lang="en-US" sz="1800" dirty="0">
                <a:latin typeface="Courier New" pitchFamily="49" charset="0"/>
              </a:rPr>
              <a:t>	</a:t>
            </a:r>
            <a:r>
              <a:rPr lang="en-US" sz="1800" dirty="0" err="1">
                <a:latin typeface="Courier New" pitchFamily="49" charset="0"/>
              </a:rPr>
              <a:t>yp</a:t>
            </a:r>
            <a:endParaRPr lang="en-US" sz="1800" dirty="0">
              <a:latin typeface="Courier New" pitchFamily="49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rax</a:t>
            </a:r>
            <a:r>
              <a:rPr lang="en-US" sz="1800" dirty="0">
                <a:latin typeface="Courier New" pitchFamily="49" charset="0"/>
              </a:rPr>
              <a:t>	t0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rdx</a:t>
            </a:r>
            <a:r>
              <a:rPr lang="en-US" sz="1800" dirty="0">
                <a:latin typeface="Courier New" pitchFamily="49" charset="0"/>
              </a:rPr>
              <a:t>	t1</a:t>
            </a:r>
          </a:p>
        </p:txBody>
      </p:sp>
      <p:sp>
        <p:nvSpPr>
          <p:cNvPr id="27" name="Rectangle 4"/>
          <p:cNvSpPr>
            <a:spLocks noChangeArrowheads="1"/>
          </p:cNvSpPr>
          <p:nvPr/>
        </p:nvSpPr>
        <p:spPr bwMode="auto">
          <a:xfrm>
            <a:off x="3048000" y="4800600"/>
            <a:ext cx="58674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swap: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movq    (%rdi), %rax  # t0 = *xp  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(%rsi), %rdx  # t1 = *yp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%rdx, (%rdi)  # *xp = t1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%rax, (%rsi)  # *yp = t0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4516399" y="1219200"/>
            <a:ext cx="135100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</a:p>
        </p:txBody>
      </p:sp>
      <p:cxnSp>
        <p:nvCxnSpPr>
          <p:cNvPr id="3" name="Straight Arrow Connector 2"/>
          <p:cNvCxnSpPr>
            <a:endCxn id="34" idx="1"/>
          </p:cNvCxnSpPr>
          <p:nvPr/>
        </p:nvCxnSpPr>
        <p:spPr bwMode="auto">
          <a:xfrm flipV="1">
            <a:off x="5715000" y="1647175"/>
            <a:ext cx="1466178" cy="334025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>
            <a:off x="5715000" y="2438400"/>
            <a:ext cx="1451237" cy="68580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" name="Oval 4"/>
          <p:cNvSpPr/>
          <p:nvPr/>
        </p:nvSpPr>
        <p:spPr bwMode="auto">
          <a:xfrm>
            <a:off x="5638800" y="1905000"/>
            <a:ext cx="152400" cy="152400"/>
          </a:xfrm>
          <a:prstGeom prst="ellipse">
            <a:avLst/>
          </a:prstGeom>
          <a:solidFill>
            <a:srgbClr val="FF0000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33" name="Oval 32"/>
          <p:cNvSpPr/>
          <p:nvPr/>
        </p:nvSpPr>
        <p:spPr bwMode="auto">
          <a:xfrm>
            <a:off x="5638800" y="2362200"/>
            <a:ext cx="152400" cy="152400"/>
          </a:xfrm>
          <a:prstGeom prst="ellipse">
            <a:avLst/>
          </a:prstGeom>
          <a:solidFill>
            <a:srgbClr val="FF0000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7181178" y="1456675"/>
            <a:ext cx="1066800" cy="1905000"/>
            <a:chOff x="7181178" y="1456675"/>
            <a:chExt cx="1066800" cy="1905000"/>
          </a:xfrm>
        </p:grpSpPr>
        <p:sp>
          <p:nvSpPr>
            <p:cNvPr id="34" name="Rectangle 8"/>
            <p:cNvSpPr>
              <a:spLocks noChangeArrowheads="1"/>
            </p:cNvSpPr>
            <p:nvPr/>
          </p:nvSpPr>
          <p:spPr bwMode="auto">
            <a:xfrm>
              <a:off x="7181178" y="1456675"/>
              <a:ext cx="1066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35" name="Rectangle 9"/>
            <p:cNvSpPr>
              <a:spLocks noChangeArrowheads="1"/>
            </p:cNvSpPr>
            <p:nvPr/>
          </p:nvSpPr>
          <p:spPr bwMode="auto">
            <a:xfrm>
              <a:off x="7181178" y="1837675"/>
              <a:ext cx="1066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36" name="Rectangle 10"/>
            <p:cNvSpPr>
              <a:spLocks noChangeArrowheads="1"/>
            </p:cNvSpPr>
            <p:nvPr/>
          </p:nvSpPr>
          <p:spPr bwMode="auto">
            <a:xfrm>
              <a:off x="7181178" y="2218675"/>
              <a:ext cx="1066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endParaRPr lang="en-US" sz="1800" dirty="0">
                <a:latin typeface="Calibri" pitchFamily="34" charset="0"/>
              </a:endParaRPr>
            </a:p>
          </p:txBody>
        </p:sp>
        <p:sp>
          <p:nvSpPr>
            <p:cNvPr id="37" name="Rectangle 11"/>
            <p:cNvSpPr>
              <a:spLocks noChangeArrowheads="1"/>
            </p:cNvSpPr>
            <p:nvPr/>
          </p:nvSpPr>
          <p:spPr bwMode="auto">
            <a:xfrm>
              <a:off x="7181178" y="2599675"/>
              <a:ext cx="1066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endParaRPr lang="en-US" sz="1800" dirty="0">
                <a:latin typeface="Calibri" pitchFamily="34" charset="0"/>
              </a:endParaRPr>
            </a:p>
          </p:txBody>
        </p:sp>
        <p:sp>
          <p:nvSpPr>
            <p:cNvPr id="38" name="Rectangle 20"/>
            <p:cNvSpPr>
              <a:spLocks noChangeArrowheads="1"/>
            </p:cNvSpPr>
            <p:nvPr/>
          </p:nvSpPr>
          <p:spPr bwMode="auto">
            <a:xfrm>
              <a:off x="7181178" y="2980675"/>
              <a:ext cx="1066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endParaRPr lang="en-US" sz="1800" dirty="0"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9760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/>
                <a:cs typeface="Courier New"/>
              </a:rPr>
              <a:t>Swap</a:t>
            </a:r>
            <a:r>
              <a:rPr lang="en-US" dirty="0"/>
              <a:t>()</a:t>
            </a:r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4953000" y="1661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123</a:t>
            </a:r>
          </a:p>
        </p:txBody>
      </p:sp>
      <p:sp>
        <p:nvSpPr>
          <p:cNvPr id="55" name="Rectangle 9"/>
          <p:cNvSpPr>
            <a:spLocks noChangeArrowheads="1"/>
          </p:cNvSpPr>
          <p:nvPr/>
        </p:nvSpPr>
        <p:spPr bwMode="auto">
          <a:xfrm>
            <a:off x="4953000" y="2042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4953000" y="2423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7" name="Rectangle 11"/>
          <p:cNvSpPr>
            <a:spLocks noChangeArrowheads="1"/>
          </p:cNvSpPr>
          <p:nvPr/>
        </p:nvSpPr>
        <p:spPr bwMode="auto">
          <a:xfrm>
            <a:off x="4953000" y="2804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4953000" y="3185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alibri" pitchFamily="34" charset="0"/>
              </a:rPr>
              <a:t>456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1110823" y="1814110"/>
            <a:ext cx="1752600" cy="1752600"/>
            <a:chOff x="9111129" y="1790700"/>
            <a:chExt cx="1752600" cy="1752600"/>
          </a:xfrm>
        </p:grpSpPr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rax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9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</a:t>
              </a:r>
            </a:p>
          </p:txBody>
        </p:sp>
        <p:sp>
          <p:nvSpPr>
            <p:cNvPr id="70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</a:t>
              </a:r>
            </a:p>
          </p:txBody>
        </p:sp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itchFamily="49" charset="0"/>
              </a:endParaRP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itchFamily="49" charset="0"/>
              </a:endParaRPr>
            </a:p>
          </p:txBody>
        </p:sp>
      </p:grp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1295400" y="1252322"/>
            <a:ext cx="135100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</a:p>
        </p:txBody>
      </p:sp>
      <p:sp>
        <p:nvSpPr>
          <p:cNvPr id="76" name="Text Box 5"/>
          <p:cNvSpPr txBox="1">
            <a:spLocks noChangeArrowheads="1"/>
          </p:cNvSpPr>
          <p:nvPr/>
        </p:nvSpPr>
        <p:spPr bwMode="auto">
          <a:xfrm>
            <a:off x="4816383" y="1032633"/>
            <a:ext cx="127961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</a:p>
        </p:txBody>
      </p: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1447800" y="4114800"/>
            <a:ext cx="58674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swap: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movq    (%rdi), %rax  # t0 = *xp  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(%rsi), %rdx  # t1 = *yp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%rdx, (%rdi)  # *xp = t1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%rax, (%rsi)  # *yp = t0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6096000" y="1414046"/>
            <a:ext cx="1219200" cy="2190764"/>
            <a:chOff x="6096000" y="1414046"/>
            <a:chExt cx="1219200" cy="2190764"/>
          </a:xfrm>
        </p:grpSpPr>
        <p:sp>
          <p:nvSpPr>
            <p:cNvPr id="59" name="Text Box 34"/>
            <p:cNvSpPr txBox="1">
              <a:spLocks noChangeArrowheads="1"/>
            </p:cNvSpPr>
            <p:nvPr/>
          </p:nvSpPr>
          <p:spPr bwMode="auto">
            <a:xfrm>
              <a:off x="6096000" y="165694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 </a:t>
              </a:r>
            </a:p>
          </p:txBody>
        </p:sp>
        <p:sp>
          <p:nvSpPr>
            <p:cNvPr id="60" name="Text Box 35"/>
            <p:cNvSpPr txBox="1">
              <a:spLocks noChangeArrowheads="1"/>
            </p:cNvSpPr>
            <p:nvPr/>
          </p:nvSpPr>
          <p:spPr bwMode="auto">
            <a:xfrm>
              <a:off x="6096000" y="2052235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0x118</a:t>
              </a:r>
            </a:p>
          </p:txBody>
        </p:sp>
        <p:sp>
          <p:nvSpPr>
            <p:cNvPr id="61" name="Text Box 36"/>
            <p:cNvSpPr txBox="1">
              <a:spLocks noChangeArrowheads="1"/>
            </p:cNvSpPr>
            <p:nvPr/>
          </p:nvSpPr>
          <p:spPr bwMode="auto">
            <a:xfrm>
              <a:off x="6096000" y="2447523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0x110 </a:t>
              </a:r>
            </a:p>
          </p:txBody>
        </p:sp>
        <p:sp>
          <p:nvSpPr>
            <p:cNvPr id="62" name="Text Box 37"/>
            <p:cNvSpPr txBox="1">
              <a:spLocks noChangeArrowheads="1"/>
            </p:cNvSpPr>
            <p:nvPr/>
          </p:nvSpPr>
          <p:spPr bwMode="auto">
            <a:xfrm>
              <a:off x="6096000" y="2842810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0x108 </a:t>
              </a:r>
            </a:p>
          </p:txBody>
        </p:sp>
        <p:sp>
          <p:nvSpPr>
            <p:cNvPr id="63" name="Text Box 38"/>
            <p:cNvSpPr txBox="1">
              <a:spLocks noChangeArrowheads="1"/>
            </p:cNvSpPr>
            <p:nvPr/>
          </p:nvSpPr>
          <p:spPr bwMode="auto">
            <a:xfrm>
              <a:off x="6096000" y="323809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 </a:t>
              </a:r>
            </a:p>
          </p:txBody>
        </p:sp>
        <p:sp>
          <p:nvSpPr>
            <p:cNvPr id="81" name="Text Box 34"/>
            <p:cNvSpPr txBox="1">
              <a:spLocks noChangeArrowheads="1"/>
            </p:cNvSpPr>
            <p:nvPr/>
          </p:nvSpPr>
          <p:spPr bwMode="auto">
            <a:xfrm>
              <a:off x="6096000" y="1414046"/>
              <a:ext cx="1219200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alibri"/>
                  <a:cs typeface="Calibri"/>
                </a:rPr>
                <a:t>Address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06209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/>
                <a:cs typeface="Courier New"/>
              </a:rPr>
              <a:t>Swap</a:t>
            </a:r>
            <a:r>
              <a:rPr lang="en-US" dirty="0"/>
              <a:t>()</a:t>
            </a:r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4953000" y="1661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123</a:t>
            </a:r>
          </a:p>
        </p:txBody>
      </p:sp>
      <p:sp>
        <p:nvSpPr>
          <p:cNvPr id="55" name="Rectangle 9"/>
          <p:cNvSpPr>
            <a:spLocks noChangeArrowheads="1"/>
          </p:cNvSpPr>
          <p:nvPr/>
        </p:nvSpPr>
        <p:spPr bwMode="auto">
          <a:xfrm>
            <a:off x="4953000" y="2042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4953000" y="2423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7" name="Rectangle 11"/>
          <p:cNvSpPr>
            <a:spLocks noChangeArrowheads="1"/>
          </p:cNvSpPr>
          <p:nvPr/>
        </p:nvSpPr>
        <p:spPr bwMode="auto">
          <a:xfrm>
            <a:off x="4953000" y="2804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4953000" y="3185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456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1110823" y="1814110"/>
            <a:ext cx="1752600" cy="1752600"/>
            <a:chOff x="9111129" y="1790700"/>
            <a:chExt cx="1752600" cy="1752600"/>
          </a:xfrm>
        </p:grpSpPr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rax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9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</a:t>
              </a:r>
            </a:p>
          </p:txBody>
        </p:sp>
        <p:sp>
          <p:nvSpPr>
            <p:cNvPr id="70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</a:t>
              </a:r>
            </a:p>
          </p:txBody>
        </p:sp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</a:rPr>
                <a:t>123</a:t>
              </a: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itchFamily="49" charset="0"/>
              </a:endParaRPr>
            </a:p>
          </p:txBody>
        </p:sp>
      </p:grp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1295400" y="1252322"/>
            <a:ext cx="135100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</a:p>
        </p:txBody>
      </p:sp>
      <p:sp>
        <p:nvSpPr>
          <p:cNvPr id="76" name="Text Box 5"/>
          <p:cNvSpPr txBox="1">
            <a:spLocks noChangeArrowheads="1"/>
          </p:cNvSpPr>
          <p:nvPr/>
        </p:nvSpPr>
        <p:spPr bwMode="auto">
          <a:xfrm>
            <a:off x="4816383" y="1032633"/>
            <a:ext cx="127961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</a:p>
        </p:txBody>
      </p:sp>
      <p:cxnSp>
        <p:nvCxnSpPr>
          <p:cNvPr id="78" name="Straight Arrow Connector 77"/>
          <p:cNvCxnSpPr>
            <a:stCxn id="53" idx="1"/>
            <a:endCxn id="71" idx="3"/>
          </p:cNvCxnSpPr>
          <p:nvPr/>
        </p:nvCxnSpPr>
        <p:spPr bwMode="auto">
          <a:xfrm flipH="1">
            <a:off x="2863423" y="1852210"/>
            <a:ext cx="2089577" cy="106680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1447800" y="4114800"/>
            <a:ext cx="58674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swap: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</a:t>
            </a:r>
            <a:r>
              <a:rPr lang="ro-RO" sz="1800" dirty="0">
                <a:solidFill>
                  <a:srgbClr val="FF0000"/>
                </a:solidFill>
                <a:latin typeface="Courier New" pitchFamily="49" charset="0"/>
              </a:rPr>
              <a:t>movq    (%rdi), %rax  # t0 = *xp  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(%rsi), %rdx  # t1 = *yp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%rdx, (%rdi)  # *xp = t1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%rax, (%rsi)  # *yp = t0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6096000" y="1414046"/>
            <a:ext cx="1219200" cy="2190764"/>
            <a:chOff x="6096000" y="1414046"/>
            <a:chExt cx="1219200" cy="2190764"/>
          </a:xfrm>
        </p:grpSpPr>
        <p:sp>
          <p:nvSpPr>
            <p:cNvPr id="31" name="Text Box 34"/>
            <p:cNvSpPr txBox="1">
              <a:spLocks noChangeArrowheads="1"/>
            </p:cNvSpPr>
            <p:nvPr/>
          </p:nvSpPr>
          <p:spPr bwMode="auto">
            <a:xfrm>
              <a:off x="6096000" y="165694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 </a:t>
              </a:r>
            </a:p>
          </p:txBody>
        </p:sp>
        <p:sp>
          <p:nvSpPr>
            <p:cNvPr id="32" name="Text Box 35"/>
            <p:cNvSpPr txBox="1">
              <a:spLocks noChangeArrowheads="1"/>
            </p:cNvSpPr>
            <p:nvPr/>
          </p:nvSpPr>
          <p:spPr bwMode="auto">
            <a:xfrm>
              <a:off x="6096000" y="2052235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0x118</a:t>
              </a:r>
            </a:p>
          </p:txBody>
        </p:sp>
        <p:sp>
          <p:nvSpPr>
            <p:cNvPr id="33" name="Text Box 36"/>
            <p:cNvSpPr txBox="1">
              <a:spLocks noChangeArrowheads="1"/>
            </p:cNvSpPr>
            <p:nvPr/>
          </p:nvSpPr>
          <p:spPr bwMode="auto">
            <a:xfrm>
              <a:off x="6096000" y="2447523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0x110 </a:t>
              </a:r>
            </a:p>
          </p:txBody>
        </p:sp>
        <p:sp>
          <p:nvSpPr>
            <p:cNvPr id="34" name="Text Box 37"/>
            <p:cNvSpPr txBox="1">
              <a:spLocks noChangeArrowheads="1"/>
            </p:cNvSpPr>
            <p:nvPr/>
          </p:nvSpPr>
          <p:spPr bwMode="auto">
            <a:xfrm>
              <a:off x="6096000" y="2842810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0x108 </a:t>
              </a:r>
            </a:p>
          </p:txBody>
        </p:sp>
        <p:sp>
          <p:nvSpPr>
            <p:cNvPr id="35" name="Text Box 38"/>
            <p:cNvSpPr txBox="1">
              <a:spLocks noChangeArrowheads="1"/>
            </p:cNvSpPr>
            <p:nvPr/>
          </p:nvSpPr>
          <p:spPr bwMode="auto">
            <a:xfrm>
              <a:off x="6096000" y="323809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 </a:t>
              </a:r>
            </a:p>
          </p:txBody>
        </p:sp>
        <p:sp>
          <p:nvSpPr>
            <p:cNvPr id="36" name="Text Box 34"/>
            <p:cNvSpPr txBox="1">
              <a:spLocks noChangeArrowheads="1"/>
            </p:cNvSpPr>
            <p:nvPr/>
          </p:nvSpPr>
          <p:spPr bwMode="auto">
            <a:xfrm>
              <a:off x="6096000" y="1414046"/>
              <a:ext cx="1219200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alibri"/>
                  <a:cs typeface="Calibri"/>
                </a:rPr>
                <a:t>Address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4753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/>
                <a:cs typeface="Courier New"/>
              </a:rPr>
              <a:t>Swap</a:t>
            </a:r>
            <a:r>
              <a:rPr lang="en-US" dirty="0"/>
              <a:t>()</a:t>
            </a:r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4953000" y="1661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123</a:t>
            </a:r>
          </a:p>
        </p:txBody>
      </p:sp>
      <p:sp>
        <p:nvSpPr>
          <p:cNvPr id="55" name="Rectangle 9"/>
          <p:cNvSpPr>
            <a:spLocks noChangeArrowheads="1"/>
          </p:cNvSpPr>
          <p:nvPr/>
        </p:nvSpPr>
        <p:spPr bwMode="auto">
          <a:xfrm>
            <a:off x="4953000" y="2042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4953000" y="2423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7" name="Rectangle 11"/>
          <p:cNvSpPr>
            <a:spLocks noChangeArrowheads="1"/>
          </p:cNvSpPr>
          <p:nvPr/>
        </p:nvSpPr>
        <p:spPr bwMode="auto">
          <a:xfrm>
            <a:off x="4953000" y="2804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4953000" y="3185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456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1110823" y="1814110"/>
            <a:ext cx="1752600" cy="1752600"/>
            <a:chOff x="9111129" y="1790700"/>
            <a:chExt cx="1752600" cy="1752600"/>
          </a:xfrm>
        </p:grpSpPr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rax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9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</a:t>
              </a:r>
            </a:p>
          </p:txBody>
        </p:sp>
        <p:sp>
          <p:nvSpPr>
            <p:cNvPr id="70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</a:t>
              </a:r>
            </a:p>
          </p:txBody>
        </p:sp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123</a:t>
              </a: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</a:rPr>
                <a:t>456</a:t>
              </a:r>
            </a:p>
          </p:txBody>
        </p:sp>
      </p:grp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1295400" y="1252322"/>
            <a:ext cx="135100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</a:p>
        </p:txBody>
      </p:sp>
      <p:sp>
        <p:nvSpPr>
          <p:cNvPr id="76" name="Text Box 5"/>
          <p:cNvSpPr txBox="1">
            <a:spLocks noChangeArrowheads="1"/>
          </p:cNvSpPr>
          <p:nvPr/>
        </p:nvSpPr>
        <p:spPr bwMode="auto">
          <a:xfrm>
            <a:off x="4816383" y="1032633"/>
            <a:ext cx="127961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</a:p>
        </p:txBody>
      </p:sp>
      <p:cxnSp>
        <p:nvCxnSpPr>
          <p:cNvPr id="78" name="Straight Arrow Connector 77"/>
          <p:cNvCxnSpPr>
            <a:stCxn id="58" idx="1"/>
            <a:endCxn id="72" idx="3"/>
          </p:cNvCxnSpPr>
          <p:nvPr/>
        </p:nvCxnSpPr>
        <p:spPr bwMode="auto">
          <a:xfrm flipH="1">
            <a:off x="2863423" y="3376210"/>
            <a:ext cx="2089577" cy="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1447800" y="4114800"/>
            <a:ext cx="58674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swap: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movq    (%rdi), %rax  # t0 = *xp  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</a:t>
            </a:r>
            <a:r>
              <a:rPr lang="ro-RO" sz="1800" dirty="0">
                <a:solidFill>
                  <a:srgbClr val="FF0000"/>
                </a:solidFill>
                <a:latin typeface="Courier New" pitchFamily="49" charset="0"/>
              </a:rPr>
              <a:t> movq    (%rsi), %rdx  # t1 = *yp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%rdx, (%rdi)  # *xp = t1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%rax, (%rsi)  # *yp = t0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6096000" y="1414046"/>
            <a:ext cx="1219200" cy="2190764"/>
            <a:chOff x="6096000" y="1414046"/>
            <a:chExt cx="1219200" cy="2190764"/>
          </a:xfrm>
        </p:grpSpPr>
        <p:sp>
          <p:nvSpPr>
            <p:cNvPr id="32" name="Text Box 34"/>
            <p:cNvSpPr txBox="1">
              <a:spLocks noChangeArrowheads="1"/>
            </p:cNvSpPr>
            <p:nvPr/>
          </p:nvSpPr>
          <p:spPr bwMode="auto">
            <a:xfrm>
              <a:off x="6096000" y="165694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 </a:t>
              </a:r>
            </a:p>
          </p:txBody>
        </p:sp>
        <p:sp>
          <p:nvSpPr>
            <p:cNvPr id="33" name="Text Box 35"/>
            <p:cNvSpPr txBox="1">
              <a:spLocks noChangeArrowheads="1"/>
            </p:cNvSpPr>
            <p:nvPr/>
          </p:nvSpPr>
          <p:spPr bwMode="auto">
            <a:xfrm>
              <a:off x="6096000" y="2052235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0x118</a:t>
              </a:r>
            </a:p>
          </p:txBody>
        </p:sp>
        <p:sp>
          <p:nvSpPr>
            <p:cNvPr id="34" name="Text Box 36"/>
            <p:cNvSpPr txBox="1">
              <a:spLocks noChangeArrowheads="1"/>
            </p:cNvSpPr>
            <p:nvPr/>
          </p:nvSpPr>
          <p:spPr bwMode="auto">
            <a:xfrm>
              <a:off x="6096000" y="2447523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0x110 </a:t>
              </a:r>
            </a:p>
          </p:txBody>
        </p:sp>
        <p:sp>
          <p:nvSpPr>
            <p:cNvPr id="35" name="Text Box 37"/>
            <p:cNvSpPr txBox="1">
              <a:spLocks noChangeArrowheads="1"/>
            </p:cNvSpPr>
            <p:nvPr/>
          </p:nvSpPr>
          <p:spPr bwMode="auto">
            <a:xfrm>
              <a:off x="6096000" y="2842810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0x108 </a:t>
              </a:r>
            </a:p>
          </p:txBody>
        </p:sp>
        <p:sp>
          <p:nvSpPr>
            <p:cNvPr id="36" name="Text Box 38"/>
            <p:cNvSpPr txBox="1">
              <a:spLocks noChangeArrowheads="1"/>
            </p:cNvSpPr>
            <p:nvPr/>
          </p:nvSpPr>
          <p:spPr bwMode="auto">
            <a:xfrm>
              <a:off x="6096000" y="323809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 </a:t>
              </a:r>
            </a:p>
          </p:txBody>
        </p:sp>
        <p:sp>
          <p:nvSpPr>
            <p:cNvPr id="37" name="Text Box 34"/>
            <p:cNvSpPr txBox="1">
              <a:spLocks noChangeArrowheads="1"/>
            </p:cNvSpPr>
            <p:nvPr/>
          </p:nvSpPr>
          <p:spPr bwMode="auto">
            <a:xfrm>
              <a:off x="6096000" y="1414046"/>
              <a:ext cx="1219200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alibri"/>
                  <a:cs typeface="Calibri"/>
                </a:rPr>
                <a:t>Address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22137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/>
                <a:cs typeface="Courier New"/>
              </a:rPr>
              <a:t>Swap</a:t>
            </a:r>
            <a:r>
              <a:rPr lang="en-US" dirty="0"/>
              <a:t>()</a:t>
            </a:r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4953000" y="1661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FF0000"/>
                </a:solidFill>
                <a:latin typeface="Courier New" pitchFamily="49" charset="0"/>
              </a:rPr>
              <a:t>456</a:t>
            </a:r>
          </a:p>
        </p:txBody>
      </p:sp>
      <p:sp>
        <p:nvSpPr>
          <p:cNvPr id="55" name="Rectangle 9"/>
          <p:cNvSpPr>
            <a:spLocks noChangeArrowheads="1"/>
          </p:cNvSpPr>
          <p:nvPr/>
        </p:nvSpPr>
        <p:spPr bwMode="auto">
          <a:xfrm>
            <a:off x="4953000" y="2042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4953000" y="2423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7" name="Rectangle 11"/>
          <p:cNvSpPr>
            <a:spLocks noChangeArrowheads="1"/>
          </p:cNvSpPr>
          <p:nvPr/>
        </p:nvSpPr>
        <p:spPr bwMode="auto">
          <a:xfrm>
            <a:off x="4953000" y="2804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4953000" y="3185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456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1110823" y="1814110"/>
            <a:ext cx="1752600" cy="1752600"/>
            <a:chOff x="9111129" y="1790700"/>
            <a:chExt cx="1752600" cy="1752600"/>
          </a:xfrm>
        </p:grpSpPr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rax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9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</a:t>
              </a:r>
            </a:p>
          </p:txBody>
        </p:sp>
        <p:sp>
          <p:nvSpPr>
            <p:cNvPr id="70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</a:t>
              </a:r>
            </a:p>
          </p:txBody>
        </p:sp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123</a:t>
              </a: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456</a:t>
              </a:r>
            </a:p>
          </p:txBody>
        </p:sp>
      </p:grp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1295400" y="1252322"/>
            <a:ext cx="135100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</a:p>
        </p:txBody>
      </p:sp>
      <p:sp>
        <p:nvSpPr>
          <p:cNvPr id="76" name="Text Box 5"/>
          <p:cNvSpPr txBox="1">
            <a:spLocks noChangeArrowheads="1"/>
          </p:cNvSpPr>
          <p:nvPr/>
        </p:nvSpPr>
        <p:spPr bwMode="auto">
          <a:xfrm>
            <a:off x="4816383" y="1032633"/>
            <a:ext cx="127961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</a:p>
        </p:txBody>
      </p:sp>
      <p:cxnSp>
        <p:nvCxnSpPr>
          <p:cNvPr id="78" name="Straight Arrow Connector 77"/>
          <p:cNvCxnSpPr>
            <a:stCxn id="72" idx="3"/>
            <a:endCxn id="53" idx="1"/>
          </p:cNvCxnSpPr>
          <p:nvPr/>
        </p:nvCxnSpPr>
        <p:spPr bwMode="auto">
          <a:xfrm flipV="1">
            <a:off x="2863423" y="1852210"/>
            <a:ext cx="2089577" cy="152400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1447800" y="4114800"/>
            <a:ext cx="58674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swap: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movq    (%rdi), %rax  # t0 = *xp  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(%rsi), %rdx  # t1 = *yp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</a:t>
            </a:r>
            <a:r>
              <a:rPr lang="ro-RO" sz="1800" dirty="0">
                <a:solidFill>
                  <a:srgbClr val="FF0000"/>
                </a:solidFill>
                <a:latin typeface="Courier New" pitchFamily="49" charset="0"/>
              </a:rPr>
              <a:t> movq    %rdx, (%rdi)  # *xp = t1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%rax, (%rsi)  # *yp = t0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6096000" y="1414046"/>
            <a:ext cx="1219200" cy="2190764"/>
            <a:chOff x="6096000" y="1414046"/>
            <a:chExt cx="1219200" cy="2190764"/>
          </a:xfrm>
        </p:grpSpPr>
        <p:sp>
          <p:nvSpPr>
            <p:cNvPr id="31" name="Text Box 34"/>
            <p:cNvSpPr txBox="1">
              <a:spLocks noChangeArrowheads="1"/>
            </p:cNvSpPr>
            <p:nvPr/>
          </p:nvSpPr>
          <p:spPr bwMode="auto">
            <a:xfrm>
              <a:off x="6096000" y="165694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 </a:t>
              </a:r>
            </a:p>
          </p:txBody>
        </p:sp>
        <p:sp>
          <p:nvSpPr>
            <p:cNvPr id="32" name="Text Box 35"/>
            <p:cNvSpPr txBox="1">
              <a:spLocks noChangeArrowheads="1"/>
            </p:cNvSpPr>
            <p:nvPr/>
          </p:nvSpPr>
          <p:spPr bwMode="auto">
            <a:xfrm>
              <a:off x="6096000" y="2052235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0x118</a:t>
              </a:r>
            </a:p>
          </p:txBody>
        </p:sp>
        <p:sp>
          <p:nvSpPr>
            <p:cNvPr id="33" name="Text Box 36"/>
            <p:cNvSpPr txBox="1">
              <a:spLocks noChangeArrowheads="1"/>
            </p:cNvSpPr>
            <p:nvPr/>
          </p:nvSpPr>
          <p:spPr bwMode="auto">
            <a:xfrm>
              <a:off x="6096000" y="2447523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0x110 </a:t>
              </a:r>
            </a:p>
          </p:txBody>
        </p:sp>
        <p:sp>
          <p:nvSpPr>
            <p:cNvPr id="34" name="Text Box 37"/>
            <p:cNvSpPr txBox="1">
              <a:spLocks noChangeArrowheads="1"/>
            </p:cNvSpPr>
            <p:nvPr/>
          </p:nvSpPr>
          <p:spPr bwMode="auto">
            <a:xfrm>
              <a:off x="6096000" y="2842810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0x108 </a:t>
              </a:r>
            </a:p>
          </p:txBody>
        </p:sp>
        <p:sp>
          <p:nvSpPr>
            <p:cNvPr id="35" name="Text Box 38"/>
            <p:cNvSpPr txBox="1">
              <a:spLocks noChangeArrowheads="1"/>
            </p:cNvSpPr>
            <p:nvPr/>
          </p:nvSpPr>
          <p:spPr bwMode="auto">
            <a:xfrm>
              <a:off x="6096000" y="323809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 </a:t>
              </a:r>
            </a:p>
          </p:txBody>
        </p:sp>
        <p:sp>
          <p:nvSpPr>
            <p:cNvPr id="36" name="Text Box 34"/>
            <p:cNvSpPr txBox="1">
              <a:spLocks noChangeArrowheads="1"/>
            </p:cNvSpPr>
            <p:nvPr/>
          </p:nvSpPr>
          <p:spPr bwMode="auto">
            <a:xfrm>
              <a:off x="6096000" y="1414046"/>
              <a:ext cx="1219200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alibri"/>
                  <a:cs typeface="Calibri"/>
                </a:rPr>
                <a:t>Address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5709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/>
                <a:cs typeface="Courier New"/>
              </a:rPr>
              <a:t>Swap</a:t>
            </a:r>
            <a:r>
              <a:rPr lang="en-US" dirty="0"/>
              <a:t>()</a:t>
            </a:r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4953000" y="1661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456</a:t>
            </a:r>
          </a:p>
        </p:txBody>
      </p:sp>
      <p:sp>
        <p:nvSpPr>
          <p:cNvPr id="55" name="Rectangle 9"/>
          <p:cNvSpPr>
            <a:spLocks noChangeArrowheads="1"/>
          </p:cNvSpPr>
          <p:nvPr/>
        </p:nvSpPr>
        <p:spPr bwMode="auto">
          <a:xfrm>
            <a:off x="4953000" y="2042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4953000" y="2423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7" name="Rectangle 11"/>
          <p:cNvSpPr>
            <a:spLocks noChangeArrowheads="1"/>
          </p:cNvSpPr>
          <p:nvPr/>
        </p:nvSpPr>
        <p:spPr bwMode="auto">
          <a:xfrm>
            <a:off x="4953000" y="2804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4953000" y="3185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123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1110823" y="1814110"/>
            <a:ext cx="1752600" cy="1752600"/>
            <a:chOff x="9111129" y="1790700"/>
            <a:chExt cx="1752600" cy="1752600"/>
          </a:xfrm>
        </p:grpSpPr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rax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9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</a:t>
              </a:r>
            </a:p>
          </p:txBody>
        </p:sp>
        <p:sp>
          <p:nvSpPr>
            <p:cNvPr id="70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</a:t>
              </a:r>
            </a:p>
          </p:txBody>
        </p:sp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123</a:t>
              </a: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456</a:t>
              </a:r>
            </a:p>
          </p:txBody>
        </p:sp>
      </p:grp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1295400" y="1252322"/>
            <a:ext cx="135100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</a:p>
        </p:txBody>
      </p:sp>
      <p:sp>
        <p:nvSpPr>
          <p:cNvPr id="76" name="Text Box 5"/>
          <p:cNvSpPr txBox="1">
            <a:spLocks noChangeArrowheads="1"/>
          </p:cNvSpPr>
          <p:nvPr/>
        </p:nvSpPr>
        <p:spPr bwMode="auto">
          <a:xfrm>
            <a:off x="4816383" y="1032633"/>
            <a:ext cx="127961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</a:p>
        </p:txBody>
      </p:sp>
      <p:cxnSp>
        <p:nvCxnSpPr>
          <p:cNvPr id="78" name="Straight Arrow Connector 77"/>
          <p:cNvCxnSpPr>
            <a:stCxn id="71" idx="3"/>
          </p:cNvCxnSpPr>
          <p:nvPr/>
        </p:nvCxnSpPr>
        <p:spPr bwMode="auto">
          <a:xfrm>
            <a:off x="2863423" y="2919010"/>
            <a:ext cx="2074636" cy="41910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1447800" y="4114800"/>
            <a:ext cx="58674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swap: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movq    (%rdi), %rax  # t0 = *xp  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(%rsi), %rdx  # t1 = *yp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%rdx, (%rdi)  # *xp = t1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</a:t>
            </a:r>
            <a:r>
              <a:rPr lang="ro-RO" sz="1800" dirty="0">
                <a:solidFill>
                  <a:srgbClr val="FF0000"/>
                </a:solidFill>
                <a:latin typeface="Courier New" pitchFamily="49" charset="0"/>
              </a:rPr>
              <a:t>movq    %rax, (%rsi)  # *yp = t0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6096000" y="1414046"/>
            <a:ext cx="1219200" cy="2190764"/>
            <a:chOff x="6096000" y="1414046"/>
            <a:chExt cx="1219200" cy="2190764"/>
          </a:xfrm>
        </p:grpSpPr>
        <p:sp>
          <p:nvSpPr>
            <p:cNvPr id="29" name="Text Box 34"/>
            <p:cNvSpPr txBox="1">
              <a:spLocks noChangeArrowheads="1"/>
            </p:cNvSpPr>
            <p:nvPr/>
          </p:nvSpPr>
          <p:spPr bwMode="auto">
            <a:xfrm>
              <a:off x="6096000" y="165694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 </a:t>
              </a:r>
            </a:p>
          </p:txBody>
        </p:sp>
        <p:sp>
          <p:nvSpPr>
            <p:cNvPr id="30" name="Text Box 35"/>
            <p:cNvSpPr txBox="1">
              <a:spLocks noChangeArrowheads="1"/>
            </p:cNvSpPr>
            <p:nvPr/>
          </p:nvSpPr>
          <p:spPr bwMode="auto">
            <a:xfrm>
              <a:off x="6096000" y="2052235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0x118</a:t>
              </a:r>
            </a:p>
          </p:txBody>
        </p:sp>
        <p:sp>
          <p:nvSpPr>
            <p:cNvPr id="31" name="Text Box 36"/>
            <p:cNvSpPr txBox="1">
              <a:spLocks noChangeArrowheads="1"/>
            </p:cNvSpPr>
            <p:nvPr/>
          </p:nvSpPr>
          <p:spPr bwMode="auto">
            <a:xfrm>
              <a:off x="6096000" y="2447523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0x110 </a:t>
              </a:r>
            </a:p>
          </p:txBody>
        </p:sp>
        <p:sp>
          <p:nvSpPr>
            <p:cNvPr id="32" name="Text Box 37"/>
            <p:cNvSpPr txBox="1">
              <a:spLocks noChangeArrowheads="1"/>
            </p:cNvSpPr>
            <p:nvPr/>
          </p:nvSpPr>
          <p:spPr bwMode="auto">
            <a:xfrm>
              <a:off x="6096000" y="2842810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0x108 </a:t>
              </a:r>
            </a:p>
          </p:txBody>
        </p:sp>
        <p:sp>
          <p:nvSpPr>
            <p:cNvPr id="33" name="Text Box 38"/>
            <p:cNvSpPr txBox="1">
              <a:spLocks noChangeArrowheads="1"/>
            </p:cNvSpPr>
            <p:nvPr/>
          </p:nvSpPr>
          <p:spPr bwMode="auto">
            <a:xfrm>
              <a:off x="6096000" y="323809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 </a:t>
              </a:r>
            </a:p>
          </p:txBody>
        </p:sp>
        <p:sp>
          <p:nvSpPr>
            <p:cNvPr id="34" name="Text Box 34"/>
            <p:cNvSpPr txBox="1">
              <a:spLocks noChangeArrowheads="1"/>
            </p:cNvSpPr>
            <p:nvPr/>
          </p:nvSpPr>
          <p:spPr bwMode="auto">
            <a:xfrm>
              <a:off x="6096000" y="1414046"/>
              <a:ext cx="1219200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alibri"/>
                  <a:cs typeface="Calibri"/>
                </a:rPr>
                <a:t>Address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169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69912"/>
            <a:ext cx="7035800" cy="573088"/>
          </a:xfrm>
        </p:spPr>
        <p:txBody>
          <a:bodyPr/>
          <a:lstStyle/>
          <a:p>
            <a:r>
              <a:rPr lang="en-US" dirty="0"/>
              <a:t>Simple Memory Addressing Modes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3838" indent="-223838" defTabSz="895350">
              <a:tabLst>
                <a:tab pos="2349500" algn="l"/>
                <a:tab pos="4114800" algn="l"/>
              </a:tabLst>
            </a:pPr>
            <a:r>
              <a:rPr lang="en-US" dirty="0"/>
              <a:t>Normal	(R)	</a:t>
            </a:r>
            <a:r>
              <a:rPr lang="en-US" dirty="0" err="1"/>
              <a:t>Mem[Reg[R</a:t>
            </a:r>
            <a:r>
              <a:rPr lang="en-US" dirty="0"/>
              <a:t>]]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Register R specifies memory address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Aha! Pointer dereferencing in C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 err="1">
                <a:latin typeface="Courier New" pitchFamily="49" charset="0"/>
              </a:rPr>
              <a:t>movq</a:t>
            </a:r>
            <a:r>
              <a:rPr lang="en-US" sz="2400" b="1" dirty="0">
                <a:latin typeface="Courier New" pitchFamily="49" charset="0"/>
              </a:rPr>
              <a:t> (%</a:t>
            </a:r>
            <a:r>
              <a:rPr lang="en-US" sz="2400" b="1" dirty="0" err="1">
                <a:latin typeface="Courier New" pitchFamily="49" charset="0"/>
              </a:rPr>
              <a:t>rcx</a:t>
            </a:r>
            <a:r>
              <a:rPr lang="en-US" sz="2400" b="1" dirty="0">
                <a:latin typeface="Courier New" pitchFamily="49" charset="0"/>
              </a:rPr>
              <a:t>),%</a:t>
            </a:r>
            <a:r>
              <a:rPr lang="en-US" sz="2400" b="1" dirty="0" err="1">
                <a:latin typeface="Courier New" pitchFamily="49" charset="0"/>
              </a:rPr>
              <a:t>rax</a:t>
            </a:r>
            <a:endParaRPr lang="en-US" sz="2400" b="1" dirty="0">
              <a:latin typeface="Courier New" pitchFamily="49" charset="0"/>
            </a:endParaRP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endParaRPr lang="en-US" sz="2400" dirty="0"/>
          </a:p>
          <a:p>
            <a:pPr marL="223838" indent="-223838" defTabSz="895350">
              <a:tabLst>
                <a:tab pos="2349500" algn="l"/>
                <a:tab pos="4114800" algn="l"/>
              </a:tabLst>
            </a:pPr>
            <a:r>
              <a:rPr lang="en-US" dirty="0"/>
              <a:t>Displacement	D(R)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[R]+D]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Register R specifies start of memory region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Constant displacement D specifies offset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 err="1">
                <a:latin typeface="Courier New" pitchFamily="49" charset="0"/>
              </a:rPr>
              <a:t>movq</a:t>
            </a:r>
            <a:r>
              <a:rPr lang="en-US" sz="2400" b="1" dirty="0">
                <a:latin typeface="Courier New" pitchFamily="49" charset="0"/>
              </a:rPr>
              <a:t> 8(%</a:t>
            </a:r>
            <a:r>
              <a:rPr lang="en-US" sz="2400" b="1" dirty="0" err="1">
                <a:latin typeface="Courier New" pitchFamily="49" charset="0"/>
              </a:rPr>
              <a:t>rbp</a:t>
            </a:r>
            <a:r>
              <a:rPr lang="en-US" sz="2400" b="1" dirty="0">
                <a:latin typeface="Courier New" pitchFamily="49" charset="0"/>
              </a:rPr>
              <a:t>),%</a:t>
            </a:r>
            <a:r>
              <a:rPr lang="en-US" sz="2400" b="1" dirty="0" err="1">
                <a:latin typeface="Courier New" pitchFamily="49" charset="0"/>
              </a:rPr>
              <a:t>rdx</a:t>
            </a:r>
            <a:endParaRPr lang="en-US" sz="2400" b="1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7409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93712"/>
            <a:ext cx="8077200" cy="573088"/>
          </a:xfrm>
        </p:spPr>
        <p:txBody>
          <a:bodyPr/>
          <a:lstStyle/>
          <a:p>
            <a:r>
              <a:rPr lang="en-US" dirty="0"/>
              <a:t>Complete Memory Addressing Modes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50950"/>
            <a:ext cx="8307387" cy="5530850"/>
          </a:xfrm>
        </p:spPr>
        <p:txBody>
          <a:bodyPr/>
          <a:lstStyle/>
          <a:p>
            <a:pPr marL="223838" indent="-223838" defTabSz="895350">
              <a:tabLst>
                <a:tab pos="1206500" algn="l"/>
                <a:tab pos="3657600" algn="l"/>
              </a:tabLst>
            </a:pPr>
            <a:r>
              <a:rPr lang="en-US" dirty="0"/>
              <a:t>Most General Form</a:t>
            </a:r>
          </a:p>
          <a:p>
            <a:pPr marL="223838" indent="-223838" defTabSz="895350">
              <a:buNone/>
              <a:tabLst>
                <a:tab pos="1206500" algn="l"/>
                <a:tab pos="3657600" algn="l"/>
              </a:tabLst>
            </a:pPr>
            <a:r>
              <a:rPr lang="en-US" dirty="0"/>
              <a:t>		D(</a:t>
            </a:r>
            <a:r>
              <a:rPr lang="en-US" dirty="0" err="1"/>
              <a:t>Rb,Ri,S</a:t>
            </a:r>
            <a:r>
              <a:rPr lang="en-US" dirty="0"/>
              <a:t>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Rb</a:t>
            </a:r>
            <a:r>
              <a:rPr lang="en-US" dirty="0"/>
              <a:t>]+S*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Ri</a:t>
            </a:r>
            <a:r>
              <a:rPr lang="en-US" dirty="0"/>
              <a:t>]+ D]</a:t>
            </a:r>
          </a:p>
          <a:p>
            <a:pPr marL="560388" lvl="1" indent="-222250" defTabSz="895350">
              <a:tabLst>
                <a:tab pos="1206500" algn="l"/>
                <a:tab pos="3657600" algn="l"/>
              </a:tabLst>
            </a:pPr>
            <a:r>
              <a:rPr lang="en-US" dirty="0"/>
              <a:t>D: 	Constant “displacement” 1, 2, or 4 bytes</a:t>
            </a:r>
          </a:p>
          <a:p>
            <a:pPr marL="560388" lvl="1" indent="-222250" defTabSz="895350">
              <a:tabLst>
                <a:tab pos="1206500" algn="l"/>
                <a:tab pos="3657600" algn="l"/>
              </a:tabLst>
            </a:pPr>
            <a:r>
              <a:rPr lang="en-US" dirty="0" err="1"/>
              <a:t>Rb</a:t>
            </a:r>
            <a:r>
              <a:rPr lang="en-US" dirty="0"/>
              <a:t>: 	Base register: Any of 16 integer registers</a:t>
            </a:r>
          </a:p>
          <a:p>
            <a:pPr marL="560388" lvl="1" indent="-222250" defTabSz="895350">
              <a:tabLst>
                <a:tab pos="1206500" algn="l"/>
                <a:tab pos="3657600" algn="l"/>
              </a:tabLst>
            </a:pPr>
            <a:r>
              <a:rPr lang="en-US" dirty="0" err="1"/>
              <a:t>Ri</a:t>
            </a:r>
            <a:r>
              <a:rPr lang="en-US" dirty="0"/>
              <a:t>:	Index register: Any, except for </a:t>
            </a:r>
            <a:r>
              <a:rPr lang="en-US" b="1" dirty="0">
                <a:latin typeface="Courier New" pitchFamily="49" charset="0"/>
              </a:rPr>
              <a:t>%</a:t>
            </a:r>
            <a:r>
              <a:rPr lang="en-US" b="1" dirty="0" err="1">
                <a:latin typeface="Courier New" pitchFamily="49" charset="0"/>
              </a:rPr>
              <a:t>rsp</a:t>
            </a:r>
            <a:endParaRPr lang="en-US" b="1" dirty="0">
              <a:latin typeface="Courier New" pitchFamily="49" charset="0"/>
            </a:endParaRPr>
          </a:p>
          <a:p>
            <a:pPr marL="560388" lvl="1" indent="-222250" defTabSz="895350">
              <a:tabLst>
                <a:tab pos="1206500" algn="l"/>
                <a:tab pos="3657600" algn="l"/>
              </a:tabLst>
            </a:pPr>
            <a:r>
              <a:rPr lang="en-US" dirty="0"/>
              <a:t>S: 	Scale: 1, 2, 4, or 8 (</a:t>
            </a:r>
            <a:r>
              <a:rPr lang="en-US" i="1" dirty="0">
                <a:solidFill>
                  <a:srgbClr val="C00000"/>
                </a:solidFill>
              </a:rPr>
              <a:t>why these numbers?</a:t>
            </a:r>
            <a:r>
              <a:rPr lang="en-US" dirty="0"/>
              <a:t>)</a:t>
            </a:r>
          </a:p>
          <a:p>
            <a:pPr marL="223838" indent="-223838" defTabSz="895350">
              <a:tabLst>
                <a:tab pos="1206500" algn="l"/>
                <a:tab pos="3657600" algn="l"/>
              </a:tabLst>
            </a:pPr>
            <a:endParaRPr lang="en-US" dirty="0"/>
          </a:p>
          <a:p>
            <a:pPr marL="223838" indent="-223838" defTabSz="895350">
              <a:tabLst>
                <a:tab pos="1206500" algn="l"/>
                <a:tab pos="3657600" algn="l"/>
              </a:tabLst>
            </a:pPr>
            <a:r>
              <a:rPr lang="en-US" dirty="0"/>
              <a:t>Special Cases</a:t>
            </a:r>
          </a:p>
          <a:p>
            <a:pPr marL="223838" indent="-223838" defTabSz="895350">
              <a:buNone/>
              <a:tabLst>
                <a:tab pos="1206500" algn="l"/>
                <a:tab pos="3657600" algn="l"/>
              </a:tabLst>
            </a:pPr>
            <a:r>
              <a:rPr lang="en-US" dirty="0"/>
              <a:t>		(</a:t>
            </a:r>
            <a:r>
              <a:rPr lang="en-US" dirty="0" err="1"/>
              <a:t>Rb,Ri</a:t>
            </a:r>
            <a:r>
              <a:rPr lang="en-US" dirty="0"/>
              <a:t>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Rb</a:t>
            </a:r>
            <a:r>
              <a:rPr lang="en-US" dirty="0"/>
              <a:t>]+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Ri</a:t>
            </a:r>
            <a:r>
              <a:rPr lang="en-US" dirty="0"/>
              <a:t>]]</a:t>
            </a:r>
          </a:p>
          <a:p>
            <a:pPr marL="223838" indent="-223838" defTabSz="895350">
              <a:buNone/>
              <a:tabLst>
                <a:tab pos="1206500" algn="l"/>
                <a:tab pos="3657600" algn="l"/>
              </a:tabLst>
            </a:pPr>
            <a:r>
              <a:rPr lang="en-US" dirty="0"/>
              <a:t>		D(</a:t>
            </a:r>
            <a:r>
              <a:rPr lang="en-US" dirty="0" err="1"/>
              <a:t>Rb,Ri</a:t>
            </a:r>
            <a:r>
              <a:rPr lang="en-US" dirty="0"/>
              <a:t>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Rb</a:t>
            </a:r>
            <a:r>
              <a:rPr lang="en-US" dirty="0"/>
              <a:t>]+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Ri</a:t>
            </a:r>
            <a:r>
              <a:rPr lang="en-US" dirty="0"/>
              <a:t>]+D]</a:t>
            </a:r>
          </a:p>
          <a:p>
            <a:pPr marL="223838" indent="-223838" defTabSz="895350">
              <a:buNone/>
              <a:tabLst>
                <a:tab pos="1206500" algn="l"/>
                <a:tab pos="3657600" algn="l"/>
              </a:tabLst>
            </a:pPr>
            <a:r>
              <a:rPr lang="en-US" dirty="0"/>
              <a:t>		(</a:t>
            </a:r>
            <a:r>
              <a:rPr lang="en-US" dirty="0" err="1"/>
              <a:t>Rb,Ri,S</a:t>
            </a:r>
            <a:r>
              <a:rPr lang="en-US" dirty="0"/>
              <a:t>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Rb</a:t>
            </a:r>
            <a:r>
              <a:rPr lang="en-US" dirty="0"/>
              <a:t>]+S*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Ri</a:t>
            </a:r>
            <a:r>
              <a:rPr lang="en-US" dirty="0"/>
              <a:t>]]</a:t>
            </a:r>
          </a:p>
        </p:txBody>
      </p:sp>
    </p:spTree>
    <p:extLst>
      <p:ext uri="{BB962C8B-B14F-4D97-AF65-F5344CB8AC3E}">
        <p14:creationId xmlns:p14="http://schemas.microsoft.com/office/powerpoint/2010/main" val="2181548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67" name="Group 79"/>
          <p:cNvGraphicFramePr>
            <a:graphicFrameLocks noGrp="1"/>
          </p:cNvGraphicFramePr>
          <p:nvPr/>
        </p:nvGraphicFramePr>
        <p:xfrm>
          <a:off x="1050585" y="3886200"/>
          <a:ext cx="6934200" cy="254000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2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80963" indent="-80963"/>
            <a:r>
              <a:rPr lang="en-US" dirty="0">
                <a:latin typeface="Calibri" charset="0"/>
                <a:ea typeface="Calibri" charset="0"/>
                <a:cs typeface="Calibri" charset="0"/>
                <a:sym typeface="Calibri" charset="0"/>
              </a:rPr>
              <a:t>Address Computation Examples</a:t>
            </a:r>
            <a:endParaRPr lang="en-US" dirty="0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graphicFrame>
        <p:nvGraphicFramePr>
          <p:cNvPr id="12296" name="Group 8"/>
          <p:cNvGraphicFramePr>
            <a:graphicFrameLocks noGrp="1"/>
          </p:cNvGraphicFramePr>
          <p:nvPr/>
        </p:nvGraphicFramePr>
        <p:xfrm>
          <a:off x="1050585" y="3893820"/>
          <a:ext cx="6934200" cy="252476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+ 0x8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0xf008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+ 0x100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+ 4*0x100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0xf400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2*0xf000 + 0x80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0x1e080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350" name="Group 62"/>
          <p:cNvGraphicFramePr>
            <a:graphicFrameLocks noGrp="1"/>
          </p:cNvGraphicFramePr>
          <p:nvPr/>
        </p:nvGraphicFramePr>
        <p:xfrm>
          <a:off x="1066800" y="1511300"/>
          <a:ext cx="2362200" cy="1016000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0x0100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6883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85000"/>
          </a:schemeClr>
        </a:solidFill>
        <a:ln w="25400" cap="flat" cmpd="sng" algn="ctr">
          <a:noFill/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rtlCol="0" anchor="ctr" anchorCtr="1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dirty="0" smtClean="0">
            <a:latin typeface="Calibri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20081</TotalTime>
  <Words>1609</Words>
  <Application>Microsoft Macintosh PowerPoint</Application>
  <PresentationFormat>On-screen Show (4:3)</PresentationFormat>
  <Paragraphs>501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40" baseType="lpstr">
      <vt:lpstr>ＭＳ Ｐゴシック</vt:lpstr>
      <vt:lpstr>ヒラギノ角ゴ ProN W3</vt:lpstr>
      <vt:lpstr>ヒラギノ角ゴ ProN W6</vt:lpstr>
      <vt:lpstr>Arial</vt:lpstr>
      <vt:lpstr>Arial Narrow</vt:lpstr>
      <vt:lpstr>Calibri</vt:lpstr>
      <vt:lpstr>Calibri Bold</vt:lpstr>
      <vt:lpstr>Courier New</vt:lpstr>
      <vt:lpstr>Courier New Bold</vt:lpstr>
      <vt:lpstr>Gill Sans</vt:lpstr>
      <vt:lpstr>Times New Roman</vt:lpstr>
      <vt:lpstr>Wingdings</vt:lpstr>
      <vt:lpstr>Wingdings 2</vt:lpstr>
      <vt:lpstr>template2007</vt:lpstr>
      <vt:lpstr>Machine Programming I: Basics</vt:lpstr>
      <vt:lpstr>Intel x86 Processors</vt:lpstr>
      <vt:lpstr>Intel x86 Evolution: Milestones</vt:lpstr>
      <vt:lpstr>Intel x86 Processors, cont.</vt:lpstr>
      <vt:lpstr>2015 State of the Art</vt:lpstr>
      <vt:lpstr>x86 Clones: Advanced Micro Devices (AMD)</vt:lpstr>
      <vt:lpstr>Intel’s 64-Bit History</vt:lpstr>
      <vt:lpstr>Definitions</vt:lpstr>
      <vt:lpstr>Assembly/Machine Code View</vt:lpstr>
      <vt:lpstr>Assembly Characteristics: Data Types</vt:lpstr>
      <vt:lpstr>Data Formats</vt:lpstr>
      <vt:lpstr>x86-64 Integer Registers</vt:lpstr>
      <vt:lpstr>Some History: IA32 Registers</vt:lpstr>
      <vt:lpstr>Moving Data</vt:lpstr>
      <vt:lpstr>movq Operand Combinations</vt:lpstr>
      <vt:lpstr>Simple Memory Addressing Modes</vt:lpstr>
      <vt:lpstr>Example of Simple Addressing Modes</vt:lpstr>
      <vt:lpstr>Understanding Swap()</vt:lpstr>
      <vt:lpstr>Understanding Swap()</vt:lpstr>
      <vt:lpstr>Understanding Swap()</vt:lpstr>
      <vt:lpstr>Understanding Swap()</vt:lpstr>
      <vt:lpstr>Understanding Swap()</vt:lpstr>
      <vt:lpstr>Understanding Swap()</vt:lpstr>
      <vt:lpstr>Simple Memory Addressing Modes</vt:lpstr>
      <vt:lpstr>Complete Memory Addressing Modes</vt:lpstr>
      <vt:lpstr>Address Computation Examples</vt:lpstr>
    </vt:vector>
  </TitlesOfParts>
  <Manager/>
  <Company/>
  <LinksUpToDate>false</LinksUpToDate>
  <SharedDoc>false</SharedDoc>
  <HyperlinkBase/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Introduction to Computer Systems 15-213/18-213 </dc:title>
  <dc:subject/>
  <dc:creator>Markus Pueschel</dc:creator>
  <cp:keywords/>
  <dc:description/>
  <cp:lastModifiedBy>Ryan Balachandran</cp:lastModifiedBy>
  <cp:revision>667</cp:revision>
  <cp:lastPrinted>2011-09-12T20:37:42Z</cp:lastPrinted>
  <dcterms:created xsi:type="dcterms:W3CDTF">2012-09-11T15:51:41Z</dcterms:created>
  <dcterms:modified xsi:type="dcterms:W3CDTF">2019-10-23T20:11:33Z</dcterms:modified>
  <cp:category/>
</cp:coreProperties>
</file>