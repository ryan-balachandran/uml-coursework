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aveSubsetFonts="1">
  <p:sldMasterIdLst>
    <p:sldMasterId id="2147483936" r:id="rId1"/>
  </p:sldMasterIdLst>
  <p:notesMasterIdLst>
    <p:notesMasterId r:id="rId20"/>
  </p:notesMasterIdLst>
  <p:handoutMasterIdLst>
    <p:handoutMasterId r:id="rId21"/>
  </p:handoutMasterIdLst>
  <p:sldIdLst>
    <p:sldId id="286" r:id="rId2"/>
    <p:sldId id="287" r:id="rId3"/>
    <p:sldId id="578" r:id="rId4"/>
    <p:sldId id="567" r:id="rId5"/>
    <p:sldId id="288" r:id="rId6"/>
    <p:sldId id="289" r:id="rId7"/>
    <p:sldId id="290" r:id="rId8"/>
    <p:sldId id="291" r:id="rId9"/>
    <p:sldId id="568" r:id="rId10"/>
    <p:sldId id="569" r:id="rId11"/>
    <p:sldId id="570" r:id="rId12"/>
    <p:sldId id="571" r:id="rId13"/>
    <p:sldId id="572" r:id="rId14"/>
    <p:sldId id="573" r:id="rId15"/>
    <p:sldId id="574" r:id="rId16"/>
    <p:sldId id="575" r:id="rId17"/>
    <p:sldId id="576" r:id="rId18"/>
    <p:sldId id="577" r:id="rId19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" pitchFamily="2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" pitchFamily="2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" pitchFamily="2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" pitchFamily="2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" pitchFamily="2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Times" pitchFamily="2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Times" pitchFamily="2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Times" pitchFamily="2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Times" pitchFamily="2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79"/>
    <p:restoredTop sz="94624"/>
  </p:normalViewPr>
  <p:slideViewPr>
    <p:cSldViewPr>
      <p:cViewPr varScale="1">
        <p:scale>
          <a:sx n="106" d="100"/>
          <a:sy n="106" d="100"/>
        </p:scale>
        <p:origin x="1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662301E-0E87-4645-8B58-47F899566DA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" charset="0"/>
                <a:ea typeface="ＭＳ Ｐゴシック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E2571B-99CB-A54D-B8DE-8BEF58EBF80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E810C10D-3F42-714C-8A08-0073F9BF2DC3}" type="datetimeFigureOut">
              <a:rPr lang="en-US" altLang="en-US"/>
              <a:pPr>
                <a:defRPr/>
              </a:pPr>
              <a:t>11/13/19</a:t>
            </a:fld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F95977-C733-6F45-8B49-3BF9D8AF375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" charset="0"/>
                <a:ea typeface="ＭＳ Ｐゴシック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6C9EC2-F41A-1748-B800-FFC0D4B9FEF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F4983205-AEB7-CC4B-AD0E-49D75ED270E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250BC099-3046-8E46-B87D-053F17FFD79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Arial" charset="0"/>
                <a:ea typeface="ＭＳ Ｐゴシック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406BA756-77EF-C94A-9343-636745BC705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Arial" charset="0"/>
                <a:ea typeface="ＭＳ Ｐゴシック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4">
            <a:extLst>
              <a:ext uri="{FF2B5EF4-FFF2-40B4-BE49-F238E27FC236}">
                <a16:creationId xmlns:a16="http://schemas.microsoft.com/office/drawing/2014/main" id="{DB9FEFC4-4EA4-8A40-8F6F-ECBCB3CB01B8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9" name="Rectangle 5">
            <a:extLst>
              <a:ext uri="{FF2B5EF4-FFF2-40B4-BE49-F238E27FC236}">
                <a16:creationId xmlns:a16="http://schemas.microsoft.com/office/drawing/2014/main" id="{7AFE40C8-2183-0D40-8888-1EACA96F493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270" name="Rectangle 6">
            <a:extLst>
              <a:ext uri="{FF2B5EF4-FFF2-40B4-BE49-F238E27FC236}">
                <a16:creationId xmlns:a16="http://schemas.microsoft.com/office/drawing/2014/main" id="{C9DF2D15-A126-7E43-964A-EA69B86AE43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Arial" charset="0"/>
                <a:ea typeface="ＭＳ Ｐゴシック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71" name="Rectangle 7">
            <a:extLst>
              <a:ext uri="{FF2B5EF4-FFF2-40B4-BE49-F238E27FC236}">
                <a16:creationId xmlns:a16="http://schemas.microsoft.com/office/drawing/2014/main" id="{2E4589FC-B2B9-644D-8131-9A0B2A90E12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307AFF12-2990-8842-9CCC-5FBA28393A0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charset="0"/>
        <a:cs typeface="Arial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Arial" charset="0"/>
        <a:cs typeface="Arial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Arial" charset="0"/>
        <a:cs typeface="Arial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Arial" charset="0"/>
        <a:cs typeface="Arial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Arial" charset="0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3D70D08-6E72-8941-B467-B0D0CF2DCBB8}"/>
              </a:ext>
            </a:extLst>
          </p:cNvPr>
          <p:cNvSpPr/>
          <p:nvPr/>
        </p:nvSpPr>
        <p:spPr>
          <a:xfrm>
            <a:off x="1328738" y="1295400"/>
            <a:ext cx="6486525" cy="3152775"/>
          </a:xfrm>
          <a:prstGeom prst="rect">
            <a:avLst/>
          </a:prstGeom>
          <a:ln w="3175">
            <a:solidFill>
              <a:schemeClr val="bg1"/>
            </a:solidFill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>
            <a:normAutofit/>
          </a:bodyPr>
          <a:lstStyle/>
          <a:p>
            <a:pPr eaLnBrk="1" hangingPunct="1">
              <a:spcBef>
                <a:spcPts val="20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/>
            </a:pPr>
            <a:endParaRPr sz="32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22921" y="1523999"/>
            <a:ext cx="6498158" cy="1724867"/>
          </a:xfrm>
        </p:spPr>
        <p:txBody>
          <a:bodyPr rtlCol="0">
            <a:noAutofit/>
          </a:bodyPr>
          <a:lstStyle>
            <a:lvl1pPr marL="0" indent="0" algn="ctr" defTabSz="9144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4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22921" y="3299012"/>
            <a:ext cx="6498159" cy="916641"/>
          </a:xfrm>
        </p:spPr>
        <p:txBody>
          <a:bodyPr rtlCol="0">
            <a:normAutofit/>
          </a:bodyPr>
          <a:lstStyle>
            <a:lvl1pPr marL="0" indent="0" algn="ctr" defTabSz="914400" rtl="0" eaLnBrk="1" latinLnBrk="0" hangingPunct="1">
              <a:spcBef>
                <a:spcPts val="3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9ABAB87F-B38B-3847-81DC-7892CA32F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4AE00ED-6170-D647-8C45-7750B9380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96D8DAB-E783-624A-85BD-27ECF935F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573F7D-9005-4F4F-999F-FC96B854616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75222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7C9111-8532-A849-867F-F7D5C9495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79D69C-9FA8-0442-BC0F-066E8B3A5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E7CEE8-0607-4444-94A4-42D5212C1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A5F424-BDB4-3449-B865-B48E81ACA80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07772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3538" y="3352801"/>
            <a:ext cx="8416925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3538" y="4771029"/>
            <a:ext cx="8416925" cy="972671"/>
          </a:xfrm>
        </p:spPr>
        <p:txBody>
          <a:bodyPr>
            <a:normAutofit/>
          </a:bodyPr>
          <a:lstStyle>
            <a:lvl1pPr marL="0" indent="0" algn="ctr">
              <a:spcBef>
                <a:spcPts val="300"/>
              </a:spcBef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3"/>
          </p:nvPr>
        </p:nvSpPr>
        <p:spPr>
          <a:xfrm>
            <a:off x="370980" y="363538"/>
            <a:ext cx="8402040" cy="2836862"/>
          </a:xfrm>
          <a:ln w="3175">
            <a:solidFill>
              <a:schemeClr val="bg1"/>
            </a:solidFill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Drag picture to placeholder or click icon to add</a:t>
            </a:r>
            <a:endParaRPr noProof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2DCC39D-2ED8-FD43-886E-D22D434DF9A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BBE8D4A-A32E-0443-A854-DB4064DE134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C4F7FA5-3D33-8D4A-BF87-E887A7B124F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D3F7B4-B49F-4441-AF3B-333FE01D655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42966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275" y="2403144"/>
            <a:ext cx="8056563" cy="1362075"/>
          </a:xfrm>
        </p:spPr>
        <p:txBody>
          <a:bodyPr/>
          <a:lstStyle>
            <a:lvl1pPr algn="ctr">
              <a:defRPr sz="46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9275" y="3736005"/>
            <a:ext cx="8056563" cy="1500187"/>
          </a:xfrm>
        </p:spPr>
        <p:txBody>
          <a:bodyPr>
            <a:normAutofit/>
          </a:bodyPr>
          <a:lstStyle>
            <a:lvl1pPr marL="0" indent="0" algn="ctr">
              <a:spcBef>
                <a:spcPts val="300"/>
              </a:spcBef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B9E390-5AF1-354B-8D25-90A2E7092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5E96DB-3877-4442-9A29-BBFC8B4B2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4E2D7-FAF9-9040-980F-96CDA4410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FAECE9-742B-5941-AF13-D86F8E76D34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2675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275" y="107576"/>
            <a:ext cx="8042276" cy="13369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9275" y="1600201"/>
            <a:ext cx="3840480" cy="4343400"/>
          </a:xfrm>
        </p:spPr>
        <p:txBody>
          <a:bodyPr>
            <a:normAutofit/>
          </a:bodyPr>
          <a:lstStyle>
            <a:lvl1pPr>
              <a:spcBef>
                <a:spcPts val="1600"/>
              </a:spcBef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1071" y="1600201"/>
            <a:ext cx="3840480" cy="4343400"/>
          </a:xfrm>
        </p:spPr>
        <p:txBody>
          <a:bodyPr>
            <a:normAutofit/>
          </a:bodyPr>
          <a:lstStyle>
            <a:lvl1pPr>
              <a:spcBef>
                <a:spcPts val="1600"/>
              </a:spcBef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150A272F-F745-9047-802E-1A7735636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38C88EF-2060-1841-9367-751D1A870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06E0347-6DC3-9144-9E6E-09FFA6543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92BBE4-8C2A-A84D-B87D-F61956D0F68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6670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274" y="107576"/>
            <a:ext cx="8042276" cy="1336956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9274" y="1453224"/>
            <a:ext cx="3840480" cy="750887"/>
          </a:xfrm>
        </p:spPr>
        <p:txBody>
          <a:bodyPr anchor="b">
            <a:no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9274" y="2347415"/>
            <a:ext cx="3840480" cy="3596185"/>
          </a:xfrm>
        </p:spPr>
        <p:txBody>
          <a:bodyPr>
            <a:normAutofit/>
          </a:bodyPr>
          <a:lstStyle>
            <a:lvl1pPr>
              <a:spcBef>
                <a:spcPts val="1600"/>
              </a:spcBef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1070" y="1453224"/>
            <a:ext cx="3840480" cy="750887"/>
          </a:xfrm>
        </p:spPr>
        <p:txBody>
          <a:bodyPr anchor="b">
            <a:no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1070" y="2347415"/>
            <a:ext cx="3840480" cy="3596185"/>
          </a:xfrm>
        </p:spPr>
        <p:txBody>
          <a:bodyPr>
            <a:normAutofit/>
          </a:bodyPr>
          <a:lstStyle>
            <a:lvl1pPr>
              <a:spcBef>
                <a:spcPts val="1600"/>
              </a:spcBef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44C83DB7-53F4-1544-B0E2-17BA9B20E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4744497-6F9F-9B4C-9722-B57E3DDBB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1B7CCFC0-C3C2-3C40-A526-0D16CECDD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9BB5E4-B4B5-5C46-8C1E-C9735894879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02796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C79205A0-6540-BB41-A726-C47164937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C820EDA-06AC-B541-917F-BDD0A3B03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14D9CF2-FF6F-5045-969D-380DA382A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81D28F-8180-C142-B8E9-7AFDED4BAFC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39272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FA39F3B9-8EF4-544F-80E3-992AD7755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69E9567-893A-2E4F-BF8E-3AD9009E8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4EFD57E-6415-4447-98FE-A4A949673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9A3517-EF77-CD43-A19E-64F54BB7315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72056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399" y="611872"/>
            <a:ext cx="3840480" cy="1162050"/>
          </a:xfrm>
        </p:spPr>
        <p:txBody>
          <a:bodyPr/>
          <a:lstStyle>
            <a:lvl1pPr algn="ctr">
              <a:defRPr sz="3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2824" y="368300"/>
            <a:ext cx="3840480" cy="5575300"/>
          </a:xfrm>
        </p:spPr>
        <p:txBody>
          <a:bodyPr>
            <a:normAutofit/>
          </a:bodyPr>
          <a:lstStyle>
            <a:lvl1pPr>
              <a:spcBef>
                <a:spcPts val="2000"/>
              </a:spcBef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399" y="1787856"/>
            <a:ext cx="3840480" cy="372015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51A5768-5DB4-5E41-A6EE-D59216D73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DFD26E3-0F2A-F64E-9147-D1F7FB836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F990273-62BB-3848-AE3D-FA37AC5F7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9600E7-E8B3-524D-9CF1-A0A2F3E9991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571166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398" y="611872"/>
            <a:ext cx="4079545" cy="1162050"/>
          </a:xfrm>
        </p:spPr>
        <p:txBody>
          <a:bodyPr/>
          <a:lstStyle>
            <a:lvl1pPr algn="ctr">
              <a:defRPr sz="3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398" y="1787856"/>
            <a:ext cx="4079545" cy="372015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2"/>
          <p:cNvSpPr>
            <a:spLocks noGrp="1"/>
          </p:cNvSpPr>
          <p:nvPr>
            <p:ph type="pic" idx="1"/>
          </p:nvPr>
        </p:nvSpPr>
        <p:spPr>
          <a:xfrm>
            <a:off x="5090617" y="359392"/>
            <a:ext cx="3657600" cy="5318077"/>
          </a:xfrm>
          <a:ln w="3175">
            <a:solidFill>
              <a:schemeClr val="bg1"/>
            </a:solidFill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 rtlCol="0">
            <a:normAutofit/>
          </a:bodyPr>
          <a:lstStyle>
            <a:lvl1pPr marL="0" indent="0" algn="l" defTabSz="914400" rtl="0" eaLnBrk="1" latinLnBrk="0" hangingPunct="1">
              <a:spcBef>
                <a:spcPts val="20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3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Drag picture to placeholder or click icon to add</a:t>
            </a:r>
            <a:endParaRPr noProof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E94D0E39-EA27-0F4B-B364-5003A365C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7941317-259D-7842-85BA-8CD0A80F0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CC7D9DB-C4CF-C045-92C8-213DBC97E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75448-1C8E-8248-A03F-FA6F85F7DC2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80582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7699FE-9D57-0D4D-9601-C950E9924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52FDEC-C60B-B44E-B970-08AF9E1BD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EC06E2-4D22-354F-84E9-5B6066D62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0E8F80-D7EB-FA42-BABB-77384B9BE31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628769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69792" y="368301"/>
            <a:ext cx="1524000" cy="55753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49274" y="368301"/>
            <a:ext cx="6689726" cy="55753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C888E6-370B-494F-8206-4EA6B54D5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FF68F-573D-F746-9BDB-1D14AEC0D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897DB0-4DCC-8D4D-BF0B-674337AA9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7C7F3A-4384-AF42-8766-E2EB5FED0B0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26441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B73C818A-7A3C-AD41-8576-B00A0E9386C8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549275" y="107950"/>
            <a:ext cx="8042275" cy="1336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DE860CEE-2505-BD44-BB20-829B1FD7437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549275" y="1600200"/>
            <a:ext cx="8042275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AF8D2-0691-F841-AEED-DDC31282CC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29275" y="627538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BC586A-320D-4B44-B3CF-20830C29AD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5113" y="6275388"/>
            <a:ext cx="48402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666FE5-3C13-6440-9044-F21307418D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97813" y="6275388"/>
            <a:ext cx="990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AA21B2E3-6E18-8244-850B-3C5FC8D9470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51" r:id="rId1"/>
    <p:sldLayoutId id="2147484340" r:id="rId2"/>
    <p:sldLayoutId id="2147484341" r:id="rId3"/>
    <p:sldLayoutId id="2147484342" r:id="rId4"/>
    <p:sldLayoutId id="2147484343" r:id="rId5"/>
    <p:sldLayoutId id="2147484344" r:id="rId6"/>
    <p:sldLayoutId id="2147484345" r:id="rId7"/>
    <p:sldLayoutId id="2147484346" r:id="rId8"/>
    <p:sldLayoutId id="2147484347" r:id="rId9"/>
    <p:sldLayoutId id="2147484348" r:id="rId10"/>
    <p:sldLayoutId id="2147484349" r:id="rId11"/>
    <p:sldLayoutId id="214748435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600" kern="1200">
          <a:solidFill>
            <a:schemeClr val="accent1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600">
          <a:solidFill>
            <a:schemeClr val="accent1"/>
          </a:solidFill>
          <a:latin typeface="News Gothic MT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600">
          <a:solidFill>
            <a:schemeClr val="accent1"/>
          </a:solidFill>
          <a:latin typeface="News Gothic MT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600">
          <a:solidFill>
            <a:schemeClr val="accent1"/>
          </a:solidFill>
          <a:latin typeface="News Gothic MT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600">
          <a:solidFill>
            <a:schemeClr val="accent1"/>
          </a:solidFill>
          <a:latin typeface="News Gothic MT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600">
          <a:solidFill>
            <a:schemeClr val="accent1"/>
          </a:solidFill>
          <a:latin typeface="News Gothic MT" charset="0"/>
          <a:ea typeface="ＭＳ Ｐゴシック" charset="0"/>
          <a:cs typeface="ＭＳ Ｐゴシック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600">
          <a:solidFill>
            <a:schemeClr val="accent1"/>
          </a:solidFill>
          <a:latin typeface="News Gothic MT" charset="0"/>
          <a:ea typeface="ＭＳ Ｐゴシック" charset="0"/>
          <a:cs typeface="ＭＳ Ｐゴシック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600">
          <a:solidFill>
            <a:schemeClr val="accent1"/>
          </a:solidFill>
          <a:latin typeface="News Gothic MT" charset="0"/>
          <a:ea typeface="ＭＳ Ｐゴシック" charset="0"/>
          <a:cs typeface="ＭＳ Ｐゴシック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600">
          <a:solidFill>
            <a:schemeClr val="accent1"/>
          </a:solidFill>
          <a:latin typeface="News Gothic MT" charset="0"/>
          <a:ea typeface="ＭＳ Ｐゴシック" charset="0"/>
          <a:cs typeface="ＭＳ Ｐゴシック" charset="0"/>
        </a:defRPr>
      </a:lvl9pPr>
    </p:titleStyle>
    <p:bodyStyle>
      <a:lvl1pPr marL="349250" indent="-349250" algn="l" rtl="0" eaLnBrk="0" fontAlgn="base" hangingPunct="0">
        <a:spcBef>
          <a:spcPts val="2000"/>
        </a:spcBef>
        <a:spcAft>
          <a:spcPct val="0"/>
        </a:spcAft>
        <a:buClr>
          <a:srgbClr val="6FB7D7"/>
        </a:buClr>
        <a:buSzPct val="110000"/>
        <a:buFont typeface="Wingdings 2" pitchFamily="2" charset="2"/>
        <a:buChar char=""/>
        <a:defRPr sz="2400" kern="1200">
          <a:solidFill>
            <a:srgbClr val="595959"/>
          </a:solidFill>
          <a:latin typeface="+mn-lt"/>
          <a:ea typeface="ＭＳ Ｐゴシック" charset="0"/>
          <a:cs typeface="ＭＳ Ｐゴシック" charset="0"/>
        </a:defRPr>
      </a:lvl1pPr>
      <a:lvl2pPr marL="685800" indent="-336550" algn="l" rtl="0" eaLnBrk="0" fontAlgn="base" hangingPunct="0">
        <a:spcBef>
          <a:spcPts val="600"/>
        </a:spcBef>
        <a:spcAft>
          <a:spcPct val="0"/>
        </a:spcAft>
        <a:buClr>
          <a:srgbClr val="215D77"/>
        </a:buClr>
        <a:buSzPct val="110000"/>
        <a:buFont typeface="Wingdings 2" pitchFamily="2" charset="2"/>
        <a:buChar char=""/>
        <a:defRPr sz="2200" kern="1200">
          <a:solidFill>
            <a:srgbClr val="595959"/>
          </a:solidFill>
          <a:latin typeface="+mn-lt"/>
          <a:ea typeface="ＭＳ Ｐゴシック" charset="0"/>
          <a:cs typeface="+mn-cs"/>
        </a:defRPr>
      </a:lvl2pPr>
      <a:lvl3pPr marL="968375" indent="-282575" algn="l" rtl="0" eaLnBrk="0" fontAlgn="base" hangingPunct="0">
        <a:spcBef>
          <a:spcPts val="600"/>
        </a:spcBef>
        <a:spcAft>
          <a:spcPct val="0"/>
        </a:spcAft>
        <a:buClr>
          <a:srgbClr val="6FB7D7"/>
        </a:buClr>
        <a:buSzPct val="110000"/>
        <a:buFont typeface="Wingdings 2" pitchFamily="2" charset="2"/>
        <a:buChar char=""/>
        <a:defRPr sz="2000" kern="1200">
          <a:solidFill>
            <a:srgbClr val="595959"/>
          </a:solidFill>
          <a:latin typeface="+mn-lt"/>
          <a:ea typeface="ＭＳ Ｐゴシック" charset="0"/>
          <a:cs typeface="+mn-cs"/>
        </a:defRPr>
      </a:lvl3pPr>
      <a:lvl4pPr marL="1263650" indent="-295275" algn="l" rtl="0" eaLnBrk="0" fontAlgn="base" hangingPunct="0">
        <a:spcBef>
          <a:spcPts val="600"/>
        </a:spcBef>
        <a:spcAft>
          <a:spcPct val="0"/>
        </a:spcAft>
        <a:buClr>
          <a:srgbClr val="215D77"/>
        </a:buClr>
        <a:buSzPct val="110000"/>
        <a:buFont typeface="Wingdings 2" pitchFamily="2" charset="2"/>
        <a:buChar char=""/>
        <a:defRPr kern="1200">
          <a:solidFill>
            <a:srgbClr val="595959"/>
          </a:solidFill>
          <a:latin typeface="+mn-lt"/>
          <a:ea typeface="ＭＳ Ｐゴシック" charset="0"/>
          <a:cs typeface="+mn-cs"/>
        </a:defRPr>
      </a:lvl4pPr>
      <a:lvl5pPr marL="1546225" indent="-282575" algn="l" rtl="0" eaLnBrk="0" fontAlgn="base" hangingPunct="0">
        <a:spcBef>
          <a:spcPts val="600"/>
        </a:spcBef>
        <a:spcAft>
          <a:spcPct val="0"/>
        </a:spcAft>
        <a:buClr>
          <a:srgbClr val="6FB7D7"/>
        </a:buClr>
        <a:buSzPct val="110000"/>
        <a:buFont typeface="Wingdings 2" pitchFamily="2" charset="2"/>
        <a:buChar char=""/>
        <a:defRPr kern="1200">
          <a:solidFill>
            <a:srgbClr val="595959"/>
          </a:solidFill>
          <a:latin typeface="+mn-lt"/>
          <a:ea typeface="ＭＳ Ｐゴシック" charset="0"/>
          <a:cs typeface="+mn-cs"/>
        </a:defRPr>
      </a:lvl5pPr>
      <a:lvl6pPr marL="1828800" indent="-282575" algn="l" defTabSz="9144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18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117725" indent="-282575" algn="l" defTabSz="9144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18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2398713" indent="-282575" algn="l" defTabSz="9144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18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689225" indent="-282575" algn="l" defTabSz="9144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18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e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B83BF300-6313-8547-9DE8-390793E58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838" y="207963"/>
            <a:ext cx="8042275" cy="950912"/>
          </a:xfrm>
        </p:spPr>
        <p:txBody>
          <a:bodyPr/>
          <a:lstStyle/>
          <a:p>
            <a:r>
              <a:rPr lang="en-US" altLang="en-US" sz="4000">
                <a:ea typeface="ＭＳ Ｐゴシック" panose="020B0600070205080204" pitchFamily="34" charset="-128"/>
              </a:rPr>
              <a:t>4.2 Logic Gates</a:t>
            </a:r>
          </a:p>
        </p:txBody>
      </p:sp>
      <p:sp>
        <p:nvSpPr>
          <p:cNvPr id="16386" name="Rectangle 3">
            <a:extLst>
              <a:ext uri="{FF2B5EF4-FFF2-40B4-BE49-F238E27FC236}">
                <a16:creationId xmlns:a16="http://schemas.microsoft.com/office/drawing/2014/main" id="{A2B50573-6E32-5D45-A098-03EA7C9152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0838" y="3179763"/>
            <a:ext cx="8305800" cy="1220787"/>
          </a:xfrm>
        </p:spPr>
        <p:txBody>
          <a:bodyPr/>
          <a:lstStyle/>
          <a:p>
            <a:pPr lvl="1"/>
            <a:r>
              <a:rPr lang="en-US" altLang="en-US">
                <a:ea typeface="ＭＳ Ｐゴシック" panose="020B0600070205080204" pitchFamily="34" charset="-128"/>
              </a:rPr>
              <a:t>Outputs are Boolean functions of inputs</a:t>
            </a:r>
          </a:p>
          <a:p>
            <a:pPr lvl="1"/>
            <a:r>
              <a:rPr lang="en-US" altLang="en-US">
                <a:ea typeface="ＭＳ Ｐゴシック" panose="020B0600070205080204" pitchFamily="34" charset="-128"/>
              </a:rPr>
              <a:t>Respond continuously to changes in inputs</a:t>
            </a:r>
          </a:p>
          <a:p>
            <a:pPr lvl="2"/>
            <a:r>
              <a:rPr lang="en-US" altLang="en-US">
                <a:ea typeface="ＭＳ Ｐゴシック" panose="020B0600070205080204" pitchFamily="34" charset="-128"/>
              </a:rPr>
              <a:t>With some, small delay</a:t>
            </a:r>
          </a:p>
          <a:p>
            <a:pPr lvl="1"/>
            <a:endParaRPr lang="en-US" altLang="en-US">
              <a:ea typeface="ＭＳ Ｐゴシック" panose="020B0600070205080204" pitchFamily="34" charset="-128"/>
            </a:endParaRPr>
          </a:p>
        </p:txBody>
      </p:sp>
      <p:pic>
        <p:nvPicPr>
          <p:cNvPr id="16387" name="Picture 37">
            <a:extLst>
              <a:ext uri="{FF2B5EF4-FFF2-40B4-BE49-F238E27FC236}">
                <a16:creationId xmlns:a16="http://schemas.microsoft.com/office/drawing/2014/main" id="{3873427A-E6E9-454B-99AC-621CBC6548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388" y="1146175"/>
            <a:ext cx="7292975" cy="179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</p:pic>
      <p:sp>
        <p:nvSpPr>
          <p:cNvPr id="295977" name="Rectangle 41">
            <a:extLst>
              <a:ext uri="{FF2B5EF4-FFF2-40B4-BE49-F238E27FC236}">
                <a16:creationId xmlns:a16="http://schemas.microsoft.com/office/drawing/2014/main" id="{6ACC94F5-B187-644F-B2F5-1424E93F67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5775" y="4918075"/>
            <a:ext cx="5111750" cy="461963"/>
          </a:xfrm>
          <a:prstGeom prst="rect">
            <a:avLst/>
          </a:prstGeom>
          <a:solidFill>
            <a:srgbClr val="FFFF66"/>
          </a:solidFill>
          <a:ln w="19050">
            <a:noFill/>
            <a:miter lim="800000"/>
            <a:headEnd/>
            <a:tailEnd type="none" w="sm" len="sm"/>
          </a:ln>
          <a:effectLst/>
        </p:spPr>
        <p:txBody>
          <a:bodyPr lIns="45784" rIns="45784" anchor="ctr">
            <a:spAutoFit/>
          </a:bodyPr>
          <a:lstStyle/>
          <a:p>
            <a:pPr>
              <a:defRPr/>
            </a:pPr>
            <a:endParaRPr lang="en-US" sz="2403">
              <a:latin typeface="Courier New" pitchFamily="49" charset="0"/>
            </a:endParaRPr>
          </a:p>
        </p:txBody>
      </p:sp>
      <p:sp>
        <p:nvSpPr>
          <p:cNvPr id="295978" name="Rectangle 42">
            <a:extLst>
              <a:ext uri="{FF2B5EF4-FFF2-40B4-BE49-F238E27FC236}">
                <a16:creationId xmlns:a16="http://schemas.microsoft.com/office/drawing/2014/main" id="{F2ABBDB4-19A9-0B4E-848C-183DF576C4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5775" y="5843588"/>
            <a:ext cx="5111750" cy="461962"/>
          </a:xfrm>
          <a:prstGeom prst="rect">
            <a:avLst/>
          </a:prstGeom>
          <a:solidFill>
            <a:srgbClr val="FFFF66"/>
          </a:solidFill>
          <a:ln w="19050">
            <a:noFill/>
            <a:miter lim="800000"/>
            <a:headEnd/>
            <a:tailEnd type="none" w="sm" len="sm"/>
          </a:ln>
          <a:effectLst/>
        </p:spPr>
        <p:txBody>
          <a:bodyPr lIns="45784" rIns="45784" anchor="ctr">
            <a:spAutoFit/>
          </a:bodyPr>
          <a:lstStyle/>
          <a:p>
            <a:pPr>
              <a:defRPr/>
            </a:pPr>
            <a:endParaRPr lang="en-US" sz="2403">
              <a:latin typeface="Courier New" pitchFamily="49" charset="0"/>
            </a:endParaRPr>
          </a:p>
        </p:txBody>
      </p:sp>
      <p:sp>
        <p:nvSpPr>
          <p:cNvPr id="295979" name="Line 43">
            <a:extLst>
              <a:ext uri="{FF2B5EF4-FFF2-40B4-BE49-F238E27FC236}">
                <a16:creationId xmlns:a16="http://schemas.microsoft.com/office/drawing/2014/main" id="{17D7C768-3D0E-FF42-978A-B178C68F573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755775" y="4967288"/>
            <a:ext cx="0" cy="1296987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 type="none" w="sm" len="sm"/>
          </a:ln>
          <a:effectLst/>
        </p:spPr>
        <p:txBody>
          <a:bodyPr lIns="45784" rIns="45784" anchor="ctr">
            <a:spAutoFit/>
          </a:bodyPr>
          <a:lstStyle/>
          <a:p>
            <a:pPr>
              <a:defRPr/>
            </a:pPr>
            <a:endParaRPr lang="en-US" sz="2403"/>
          </a:p>
        </p:txBody>
      </p:sp>
      <p:sp>
        <p:nvSpPr>
          <p:cNvPr id="295980" name="Line 44">
            <a:extLst>
              <a:ext uri="{FF2B5EF4-FFF2-40B4-BE49-F238E27FC236}">
                <a16:creationId xmlns:a16="http://schemas.microsoft.com/office/drawing/2014/main" id="{D8BEA093-70EC-7546-B07E-943748E2089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755775" y="6264275"/>
            <a:ext cx="511175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 type="none" w="sm" len="sm"/>
          </a:ln>
          <a:effectLst/>
        </p:spPr>
        <p:txBody>
          <a:bodyPr lIns="45784" rIns="45784" anchor="ctr">
            <a:spAutoFit/>
          </a:bodyPr>
          <a:lstStyle/>
          <a:p>
            <a:pPr>
              <a:defRPr/>
            </a:pPr>
            <a:endParaRPr lang="en-US" sz="2403"/>
          </a:p>
        </p:txBody>
      </p:sp>
      <p:sp>
        <p:nvSpPr>
          <p:cNvPr id="295981" name="Text Box 45">
            <a:extLst>
              <a:ext uri="{FF2B5EF4-FFF2-40B4-BE49-F238E27FC236}">
                <a16:creationId xmlns:a16="http://schemas.microsoft.com/office/drawing/2014/main" id="{8BDD476F-AD9C-624D-8B30-E21AFCF04B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5426075"/>
            <a:ext cx="1074737" cy="461963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wrap="none" lIns="45784" rIns="45784">
            <a:spAutoFit/>
          </a:bodyPr>
          <a:lstStyle/>
          <a:p>
            <a:pPr algn="r">
              <a:defRPr/>
            </a:pPr>
            <a:r>
              <a:rPr lang="en-US" sz="2403"/>
              <a:t>Voltage</a:t>
            </a:r>
          </a:p>
        </p:txBody>
      </p:sp>
      <p:sp>
        <p:nvSpPr>
          <p:cNvPr id="295982" name="Text Box 46">
            <a:extLst>
              <a:ext uri="{FF2B5EF4-FFF2-40B4-BE49-F238E27FC236}">
                <a16:creationId xmlns:a16="http://schemas.microsoft.com/office/drawing/2014/main" id="{A04D4C9F-E652-2746-8943-886FE7AFCE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2213" y="6342063"/>
            <a:ext cx="771525" cy="461962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wrap="none" lIns="45784" rIns="45784">
            <a:spAutoFit/>
          </a:bodyPr>
          <a:lstStyle/>
          <a:p>
            <a:pPr>
              <a:defRPr/>
            </a:pPr>
            <a:r>
              <a:rPr lang="en-US" sz="2403"/>
              <a:t>Time</a:t>
            </a:r>
          </a:p>
        </p:txBody>
      </p:sp>
      <p:sp>
        <p:nvSpPr>
          <p:cNvPr id="295997" name="Text Box 61">
            <a:extLst>
              <a:ext uri="{FF2B5EF4-FFF2-40B4-BE49-F238E27FC236}">
                <a16:creationId xmlns:a16="http://schemas.microsoft.com/office/drawing/2014/main" id="{3D158F96-C265-6B4B-B75A-5E9AA9689B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48525" y="5648325"/>
            <a:ext cx="403225" cy="461963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lIns="45784" rIns="45784">
            <a:spAutoFit/>
          </a:bodyPr>
          <a:lstStyle/>
          <a:p>
            <a:pPr>
              <a:defRPr/>
            </a:pPr>
            <a:r>
              <a:rPr lang="en-US" sz="2403"/>
              <a:t>a</a:t>
            </a:r>
          </a:p>
        </p:txBody>
      </p:sp>
      <p:sp>
        <p:nvSpPr>
          <p:cNvPr id="295999" name="Text Box 63">
            <a:extLst>
              <a:ext uri="{FF2B5EF4-FFF2-40B4-BE49-F238E27FC236}">
                <a16:creationId xmlns:a16="http://schemas.microsoft.com/office/drawing/2014/main" id="{612DF6FB-EFD2-1145-8217-94833AD0BA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72325" y="4732338"/>
            <a:ext cx="403225" cy="463550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lIns="45784" rIns="45784">
            <a:spAutoFit/>
          </a:bodyPr>
          <a:lstStyle/>
          <a:p>
            <a:pPr>
              <a:defRPr/>
            </a:pPr>
            <a:r>
              <a:rPr lang="en-US" sz="2403"/>
              <a:t>b</a:t>
            </a:r>
          </a:p>
        </p:txBody>
      </p:sp>
      <p:sp>
        <p:nvSpPr>
          <p:cNvPr id="296002" name="Line 66">
            <a:extLst>
              <a:ext uri="{FF2B5EF4-FFF2-40B4-BE49-F238E27FC236}">
                <a16:creationId xmlns:a16="http://schemas.microsoft.com/office/drawing/2014/main" id="{021F073F-9FEC-5C4C-84CE-781D01AE01E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38925" y="4960938"/>
            <a:ext cx="533400" cy="230187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sm" len="sm"/>
          </a:ln>
          <a:effectLst/>
        </p:spPr>
        <p:txBody>
          <a:bodyPr lIns="45784" rIns="45784" anchor="ctr">
            <a:spAutoFit/>
          </a:bodyPr>
          <a:lstStyle/>
          <a:p>
            <a:pPr>
              <a:defRPr/>
            </a:pPr>
            <a:endParaRPr lang="en-US" sz="2403"/>
          </a:p>
        </p:txBody>
      </p:sp>
      <p:sp>
        <p:nvSpPr>
          <p:cNvPr id="296003" name="Line 67">
            <a:extLst>
              <a:ext uri="{FF2B5EF4-FFF2-40B4-BE49-F238E27FC236}">
                <a16:creationId xmlns:a16="http://schemas.microsoft.com/office/drawing/2014/main" id="{A69CA1CA-1989-2B4E-AE08-E5F55AF440E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15125" y="5876925"/>
            <a:ext cx="533400" cy="2286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sm" len="sm"/>
          </a:ln>
          <a:effectLst/>
        </p:spPr>
        <p:txBody>
          <a:bodyPr lIns="45784" rIns="45784" anchor="ctr">
            <a:spAutoFit/>
          </a:bodyPr>
          <a:lstStyle/>
          <a:p>
            <a:pPr>
              <a:defRPr/>
            </a:pPr>
            <a:endParaRPr lang="en-US" sz="2403"/>
          </a:p>
        </p:txBody>
      </p:sp>
      <p:grpSp>
        <p:nvGrpSpPr>
          <p:cNvPr id="296010" name="Group 74">
            <a:extLst>
              <a:ext uri="{FF2B5EF4-FFF2-40B4-BE49-F238E27FC236}">
                <a16:creationId xmlns:a16="http://schemas.microsoft.com/office/drawing/2014/main" id="{853F9B3F-4359-D74A-A78B-5718FEB17379}"/>
              </a:ext>
            </a:extLst>
          </p:cNvPr>
          <p:cNvGrpSpPr>
            <a:grpSpLocks/>
          </p:cNvGrpSpPr>
          <p:nvPr/>
        </p:nvGrpSpPr>
        <p:grpSpPr bwMode="auto">
          <a:xfrm>
            <a:off x="5875338" y="4503738"/>
            <a:ext cx="2060575" cy="533400"/>
            <a:chOff x="3696" y="2832"/>
            <a:chExt cx="1296" cy="336"/>
          </a:xfrm>
        </p:grpSpPr>
        <p:sp>
          <p:nvSpPr>
            <p:cNvPr id="296004" name="Line 68">
              <a:extLst>
                <a:ext uri="{FF2B5EF4-FFF2-40B4-BE49-F238E27FC236}">
                  <a16:creationId xmlns:a16="http://schemas.microsoft.com/office/drawing/2014/main" id="{4DCD38C4-5232-3D4F-8D33-664DC974BB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96" y="2976"/>
              <a:ext cx="480" cy="192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triangle" w="sm" len="sm"/>
            </a:ln>
            <a:effectLst/>
          </p:spPr>
          <p:txBody>
            <a:bodyPr lIns="45784" rIns="45784" anchor="ctr">
              <a:spAutoFit/>
            </a:bodyPr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296005" name="Text Box 69">
              <a:extLst>
                <a:ext uri="{FF2B5EF4-FFF2-40B4-BE49-F238E27FC236}">
                  <a16:creationId xmlns:a16="http://schemas.microsoft.com/office/drawing/2014/main" id="{B35088E4-4265-A244-95AE-A1252BC04E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6" y="2832"/>
              <a:ext cx="816" cy="291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84" rIns="45784">
              <a:spAutoFit/>
            </a:bodyPr>
            <a:lstStyle/>
            <a:p>
              <a:pPr>
                <a:defRPr/>
              </a:pPr>
              <a:r>
                <a:rPr lang="en-US" sz="2403"/>
                <a:t>a </a:t>
              </a:r>
              <a:r>
                <a:rPr lang="en-US" sz="2403">
                  <a:latin typeface="Courier New" pitchFamily="49" charset="0"/>
                </a:rPr>
                <a:t>&amp;&amp;</a:t>
              </a:r>
              <a:r>
                <a:rPr lang="en-US" sz="2403"/>
                <a:t> b</a:t>
              </a:r>
            </a:p>
          </p:txBody>
        </p:sp>
      </p:grpSp>
      <p:sp>
        <p:nvSpPr>
          <p:cNvPr id="296006" name="Line 70">
            <a:extLst>
              <a:ext uri="{FF2B5EF4-FFF2-40B4-BE49-F238E27FC236}">
                <a16:creationId xmlns:a16="http://schemas.microsoft.com/office/drawing/2014/main" id="{024990C5-9C6F-064D-B936-1B0996A04400}"/>
              </a:ext>
            </a:extLst>
          </p:cNvPr>
          <p:cNvSpPr>
            <a:spLocks noChangeShapeType="1"/>
          </p:cNvSpPr>
          <p:nvPr/>
        </p:nvSpPr>
        <p:spPr bwMode="auto">
          <a:xfrm>
            <a:off x="4044950" y="4656138"/>
            <a:ext cx="304800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lIns="45784" rIns="45784" anchor="ctr">
            <a:spAutoFit/>
          </a:bodyPr>
          <a:lstStyle/>
          <a:p>
            <a:pPr>
              <a:defRPr/>
            </a:pPr>
            <a:endParaRPr lang="en-US" sz="2403"/>
          </a:p>
        </p:txBody>
      </p:sp>
      <p:sp>
        <p:nvSpPr>
          <p:cNvPr id="296007" name="Line 71">
            <a:extLst>
              <a:ext uri="{FF2B5EF4-FFF2-40B4-BE49-F238E27FC236}">
                <a16:creationId xmlns:a16="http://schemas.microsoft.com/office/drawing/2014/main" id="{314F2428-A64E-5240-849A-195FF8912AE8}"/>
              </a:ext>
            </a:extLst>
          </p:cNvPr>
          <p:cNvSpPr>
            <a:spLocks noChangeShapeType="1"/>
          </p:cNvSpPr>
          <p:nvPr/>
        </p:nvSpPr>
        <p:spPr bwMode="auto">
          <a:xfrm>
            <a:off x="5799138" y="4656138"/>
            <a:ext cx="304800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lIns="45784" rIns="45784" anchor="ctr">
            <a:spAutoFit/>
          </a:bodyPr>
          <a:lstStyle/>
          <a:p>
            <a:pPr>
              <a:defRPr/>
            </a:pPr>
            <a:endParaRPr lang="en-US" sz="2403"/>
          </a:p>
        </p:txBody>
      </p:sp>
      <p:sp>
        <p:nvSpPr>
          <p:cNvPr id="296008" name="Text Box 72">
            <a:extLst>
              <a:ext uri="{FF2B5EF4-FFF2-40B4-BE49-F238E27FC236}">
                <a16:creationId xmlns:a16="http://schemas.microsoft.com/office/drawing/2014/main" id="{E2CE98A9-4DC2-8C44-B8D9-54A57BC653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875" y="4275138"/>
            <a:ext cx="1209675" cy="339725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wrap="none" lIns="45784" rIns="45784">
            <a:spAutoFit/>
          </a:bodyPr>
          <a:lstStyle/>
          <a:p>
            <a:pPr>
              <a:defRPr/>
            </a:pPr>
            <a:r>
              <a:rPr lang="en-US" sz="1602"/>
              <a:t>Rising Delay</a:t>
            </a:r>
          </a:p>
        </p:txBody>
      </p:sp>
      <p:sp>
        <p:nvSpPr>
          <p:cNvPr id="296009" name="Text Box 73">
            <a:extLst>
              <a:ext uri="{FF2B5EF4-FFF2-40B4-BE49-F238E27FC236}">
                <a16:creationId xmlns:a16="http://schemas.microsoft.com/office/drawing/2014/main" id="{DAE5948C-3929-B846-958E-FD0B7CFBA4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5575" y="4267200"/>
            <a:ext cx="1265238" cy="338138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wrap="none" lIns="45784" rIns="45784">
            <a:spAutoFit/>
          </a:bodyPr>
          <a:lstStyle/>
          <a:p>
            <a:pPr>
              <a:defRPr/>
            </a:pPr>
            <a:r>
              <a:rPr lang="en-US" sz="1602"/>
              <a:t>Falling Delay</a:t>
            </a:r>
          </a:p>
        </p:txBody>
      </p:sp>
      <p:sp>
        <p:nvSpPr>
          <p:cNvPr id="16403" name="Freeform 60">
            <a:extLst>
              <a:ext uri="{FF2B5EF4-FFF2-40B4-BE49-F238E27FC236}">
                <a16:creationId xmlns:a16="http://schemas.microsoft.com/office/drawing/2014/main" id="{8903ECE6-F8DA-664D-9B1D-EC1EF014AECE}"/>
              </a:ext>
            </a:extLst>
          </p:cNvPr>
          <p:cNvSpPr>
            <a:spLocks/>
          </p:cNvSpPr>
          <p:nvPr/>
        </p:nvSpPr>
        <p:spPr bwMode="auto">
          <a:xfrm>
            <a:off x="1752600" y="5105400"/>
            <a:ext cx="5105400" cy="990600"/>
          </a:xfrm>
          <a:custGeom>
            <a:avLst/>
            <a:gdLst>
              <a:gd name="T0" fmla="*/ 0 w 3216"/>
              <a:gd name="T1" fmla="*/ 2147483646 h 624"/>
              <a:gd name="T2" fmla="*/ 2147483646 w 3216"/>
              <a:gd name="T3" fmla="*/ 2147483646 h 624"/>
              <a:gd name="T4" fmla="*/ 2147483646 w 3216"/>
              <a:gd name="T5" fmla="*/ 0 h 624"/>
              <a:gd name="T6" fmla="*/ 2147483646 w 3216"/>
              <a:gd name="T7" fmla="*/ 0 h 624"/>
              <a:gd name="T8" fmla="*/ 2147483646 w 3216"/>
              <a:gd name="T9" fmla="*/ 2147483646 h 624"/>
              <a:gd name="T10" fmla="*/ 2147483646 w 3216"/>
              <a:gd name="T11" fmla="*/ 2147483646 h 62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3216" h="624">
                <a:moveTo>
                  <a:pt x="0" y="624"/>
                </a:moveTo>
                <a:lnTo>
                  <a:pt x="912" y="624"/>
                </a:lnTo>
                <a:lnTo>
                  <a:pt x="1008" y="0"/>
                </a:lnTo>
                <a:lnTo>
                  <a:pt x="2448" y="0"/>
                </a:lnTo>
                <a:lnTo>
                  <a:pt x="2592" y="624"/>
                </a:lnTo>
                <a:lnTo>
                  <a:pt x="3216" y="624"/>
                </a:lnTo>
              </a:path>
            </a:pathLst>
          </a:custGeom>
          <a:noFill/>
          <a:ln w="28575" cap="rnd" cmpd="sng">
            <a:solidFill>
              <a:srgbClr val="FF0002"/>
            </a:solidFill>
            <a:prstDash val="sysDot"/>
            <a:round/>
            <a:headEnd type="none" w="med" len="med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45720" rIns="45720" anchor="ctr">
            <a:spAutoFit/>
          </a:bodyPr>
          <a:lstStyle/>
          <a:p>
            <a:endParaRPr lang="en-US"/>
          </a:p>
        </p:txBody>
      </p:sp>
      <p:sp>
        <p:nvSpPr>
          <p:cNvPr id="16404" name="Freeform 62">
            <a:extLst>
              <a:ext uri="{FF2B5EF4-FFF2-40B4-BE49-F238E27FC236}">
                <a16:creationId xmlns:a16="http://schemas.microsoft.com/office/drawing/2014/main" id="{F46BE982-9355-8448-AA06-7ED7676EE351}"/>
              </a:ext>
            </a:extLst>
          </p:cNvPr>
          <p:cNvSpPr>
            <a:spLocks/>
          </p:cNvSpPr>
          <p:nvPr/>
        </p:nvSpPr>
        <p:spPr bwMode="auto">
          <a:xfrm>
            <a:off x="1752600" y="5029200"/>
            <a:ext cx="5105400" cy="990600"/>
          </a:xfrm>
          <a:custGeom>
            <a:avLst/>
            <a:gdLst>
              <a:gd name="T0" fmla="*/ 0 w 3216"/>
              <a:gd name="T1" fmla="*/ 0 h 624"/>
              <a:gd name="T2" fmla="*/ 2147483646 w 3216"/>
              <a:gd name="T3" fmla="*/ 0 h 624"/>
              <a:gd name="T4" fmla="*/ 2147483646 w 3216"/>
              <a:gd name="T5" fmla="*/ 2147483646 h 624"/>
              <a:gd name="T6" fmla="*/ 2147483646 w 3216"/>
              <a:gd name="T7" fmla="*/ 2147483646 h 624"/>
              <a:gd name="T8" fmla="*/ 2147483646 w 3216"/>
              <a:gd name="T9" fmla="*/ 2147483646 h 624"/>
              <a:gd name="T10" fmla="*/ 2147483646 w 3216"/>
              <a:gd name="T11" fmla="*/ 2147483646 h 624"/>
              <a:gd name="T12" fmla="*/ 2147483646 w 3216"/>
              <a:gd name="T13" fmla="*/ 2147483646 h 62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3216" h="624">
                <a:moveTo>
                  <a:pt x="0" y="0"/>
                </a:moveTo>
                <a:lnTo>
                  <a:pt x="480" y="0"/>
                </a:lnTo>
                <a:lnTo>
                  <a:pt x="624" y="624"/>
                </a:lnTo>
                <a:lnTo>
                  <a:pt x="1440" y="624"/>
                </a:lnTo>
                <a:lnTo>
                  <a:pt x="1488" y="96"/>
                </a:lnTo>
                <a:lnTo>
                  <a:pt x="2160" y="96"/>
                </a:lnTo>
                <a:lnTo>
                  <a:pt x="3216" y="96"/>
                </a:lnTo>
              </a:path>
            </a:pathLst>
          </a:custGeom>
          <a:noFill/>
          <a:ln w="28575" cap="flat" cmpd="sng">
            <a:solidFill>
              <a:srgbClr val="00CC66"/>
            </a:solidFill>
            <a:prstDash val="sysDot"/>
            <a:round/>
            <a:headEnd type="none" w="med" len="med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45720" rIns="45720" anchor="ctr">
            <a:spAutoFit/>
          </a:bodyPr>
          <a:lstStyle/>
          <a:p>
            <a:endParaRPr lang="en-US"/>
          </a:p>
        </p:txBody>
      </p:sp>
      <p:sp>
        <p:nvSpPr>
          <p:cNvPr id="16405" name="Freeform 65">
            <a:extLst>
              <a:ext uri="{FF2B5EF4-FFF2-40B4-BE49-F238E27FC236}">
                <a16:creationId xmlns:a16="http://schemas.microsoft.com/office/drawing/2014/main" id="{899EFFBB-77F7-FB4A-B91F-844A600DD405}"/>
              </a:ext>
            </a:extLst>
          </p:cNvPr>
          <p:cNvSpPr>
            <a:spLocks/>
          </p:cNvSpPr>
          <p:nvPr/>
        </p:nvSpPr>
        <p:spPr bwMode="auto">
          <a:xfrm>
            <a:off x="1752600" y="5029200"/>
            <a:ext cx="5105400" cy="1143000"/>
          </a:xfrm>
          <a:custGeom>
            <a:avLst/>
            <a:gdLst>
              <a:gd name="T0" fmla="*/ 0 w 3216"/>
              <a:gd name="T1" fmla="*/ 2147483646 h 720"/>
              <a:gd name="T2" fmla="*/ 2147483646 w 3216"/>
              <a:gd name="T3" fmla="*/ 2147483646 h 720"/>
              <a:gd name="T4" fmla="*/ 2147483646 w 3216"/>
              <a:gd name="T5" fmla="*/ 0 h 720"/>
              <a:gd name="T6" fmla="*/ 2147483646 w 3216"/>
              <a:gd name="T7" fmla="*/ 0 h 720"/>
              <a:gd name="T8" fmla="*/ 2147483646 w 3216"/>
              <a:gd name="T9" fmla="*/ 2147483646 h 720"/>
              <a:gd name="T10" fmla="*/ 2147483646 w 3216"/>
              <a:gd name="T11" fmla="*/ 2147483646 h 72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3216" h="720">
                <a:moveTo>
                  <a:pt x="0" y="720"/>
                </a:moveTo>
                <a:lnTo>
                  <a:pt x="1584" y="720"/>
                </a:lnTo>
                <a:lnTo>
                  <a:pt x="1680" y="0"/>
                </a:lnTo>
                <a:lnTo>
                  <a:pt x="2688" y="0"/>
                </a:lnTo>
                <a:lnTo>
                  <a:pt x="2784" y="720"/>
                </a:lnTo>
                <a:lnTo>
                  <a:pt x="3216" y="720"/>
                </a:lnTo>
              </a:path>
            </a:pathLst>
          </a:cu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45720" rIns="45720"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6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>
            <a:extLst>
              <a:ext uri="{FF2B5EF4-FFF2-40B4-BE49-F238E27FC236}">
                <a16:creationId xmlns:a16="http://schemas.microsoft.com/office/drawing/2014/main" id="{3D149941-53CC-6943-A941-18F6980C4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275" y="107950"/>
            <a:ext cx="7908925" cy="1055688"/>
          </a:xfrm>
        </p:spPr>
        <p:txBody>
          <a:bodyPr/>
          <a:lstStyle/>
          <a:p>
            <a:r>
              <a:rPr lang="en-US" altLang="en-US" sz="4000">
                <a:ea typeface="ＭＳ Ｐゴシック" panose="020B0600070205080204" pitchFamily="34" charset="-128"/>
              </a:rPr>
              <a:t>Combinational Circuits</a:t>
            </a:r>
          </a:p>
        </p:txBody>
      </p:sp>
      <p:sp>
        <p:nvSpPr>
          <p:cNvPr id="17410" name="Rectangle 3">
            <a:extLst>
              <a:ext uri="{FF2B5EF4-FFF2-40B4-BE49-F238E27FC236}">
                <a16:creationId xmlns:a16="http://schemas.microsoft.com/office/drawing/2014/main" id="{2494D409-FA04-F142-9570-BA1734C2C7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0513" y="4503738"/>
            <a:ext cx="8026400" cy="1939925"/>
          </a:xfrm>
        </p:spPr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Acyclic Network of Logic Gates</a:t>
            </a:r>
          </a:p>
          <a:p>
            <a:pPr lvl="1"/>
            <a:r>
              <a:rPr lang="en-US" altLang="en-US">
                <a:ea typeface="ＭＳ Ｐゴシック" panose="020B0600070205080204" pitchFamily="34" charset="-128"/>
              </a:rPr>
              <a:t>Continously responds to changes on primary inputs</a:t>
            </a:r>
          </a:p>
          <a:p>
            <a:pPr lvl="1"/>
            <a:r>
              <a:rPr lang="en-US" altLang="en-US">
                <a:ea typeface="ＭＳ Ｐゴシック" panose="020B0600070205080204" pitchFamily="34" charset="-128"/>
              </a:rPr>
              <a:t>Primary outputs become (after some delay) Boolean functions of primary inputs</a:t>
            </a:r>
          </a:p>
        </p:txBody>
      </p:sp>
      <p:grpSp>
        <p:nvGrpSpPr>
          <p:cNvPr id="17411" name="Group 53">
            <a:extLst>
              <a:ext uri="{FF2B5EF4-FFF2-40B4-BE49-F238E27FC236}">
                <a16:creationId xmlns:a16="http://schemas.microsoft.com/office/drawing/2014/main" id="{84040DD9-F0B4-814B-A864-E850534A20E6}"/>
              </a:ext>
            </a:extLst>
          </p:cNvPr>
          <p:cNvGrpSpPr>
            <a:grpSpLocks/>
          </p:cNvGrpSpPr>
          <p:nvPr/>
        </p:nvGrpSpPr>
        <p:grpSpPr bwMode="auto">
          <a:xfrm>
            <a:off x="1296988" y="1146175"/>
            <a:ext cx="6719887" cy="2763838"/>
            <a:chOff x="816" y="720"/>
            <a:chExt cx="4227" cy="1739"/>
          </a:xfrm>
        </p:grpSpPr>
        <p:sp>
          <p:nvSpPr>
            <p:cNvPr id="296964" name="Rectangle 4">
              <a:extLst>
                <a:ext uri="{FF2B5EF4-FFF2-40B4-BE49-F238E27FC236}">
                  <a16:creationId xmlns:a16="http://schemas.microsoft.com/office/drawing/2014/main" id="{D1A6D45D-0E3A-D449-9F60-B82AF6181F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8" y="1088"/>
              <a:ext cx="1600" cy="1371"/>
            </a:xfrm>
            <a:prstGeom prst="rect">
              <a:avLst/>
            </a:prstGeom>
            <a:solidFill>
              <a:srgbClr val="FCFEB9"/>
            </a:solidFill>
            <a:ln w="19050">
              <a:solidFill>
                <a:schemeClr val="tx2"/>
              </a:solidFill>
              <a:miter lim="800000"/>
              <a:headEnd/>
              <a:tailEnd type="none" w="sm" len="sm"/>
            </a:ln>
            <a:effectLst/>
          </p:spPr>
          <p:txBody>
            <a:bodyPr lIns="45784" rIns="45784" anchor="ctr">
              <a:spAutoFit/>
            </a:bodyPr>
            <a:lstStyle/>
            <a:p>
              <a:pPr>
                <a:defRPr/>
              </a:pPr>
              <a:endParaRPr lang="en-US" sz="2403"/>
            </a:p>
          </p:txBody>
        </p:sp>
        <p:pic>
          <p:nvPicPr>
            <p:cNvPr id="17413" name="Picture 24">
              <a:extLst>
                <a:ext uri="{FF2B5EF4-FFF2-40B4-BE49-F238E27FC236}">
                  <a16:creationId xmlns:a16="http://schemas.microsoft.com/office/drawing/2014/main" id="{601A84C1-2E27-E64E-9C6A-1D0A3EFBA81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52" y="1104"/>
              <a:ext cx="390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</p:pic>
        <p:pic>
          <p:nvPicPr>
            <p:cNvPr id="17414" name="Picture 26">
              <a:extLst>
                <a:ext uri="{FF2B5EF4-FFF2-40B4-BE49-F238E27FC236}">
                  <a16:creationId xmlns:a16="http://schemas.microsoft.com/office/drawing/2014/main" id="{5DB8A8FB-B930-6440-A55B-2B59F32D4D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6" y="2304"/>
              <a:ext cx="307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</p:pic>
        <p:pic>
          <p:nvPicPr>
            <p:cNvPr id="17415" name="Picture 27">
              <a:extLst>
                <a:ext uri="{FF2B5EF4-FFF2-40B4-BE49-F238E27FC236}">
                  <a16:creationId xmlns:a16="http://schemas.microsoft.com/office/drawing/2014/main" id="{91869826-BD35-9B41-A548-E23A3EE6939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36" y="2112"/>
              <a:ext cx="390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</p:pic>
        <p:pic>
          <p:nvPicPr>
            <p:cNvPr id="17416" name="Picture 28">
              <a:extLst>
                <a:ext uri="{FF2B5EF4-FFF2-40B4-BE49-F238E27FC236}">
                  <a16:creationId xmlns:a16="http://schemas.microsoft.com/office/drawing/2014/main" id="{2FE7D52C-A003-5F4C-8598-F4D3DC18873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20" y="1488"/>
              <a:ext cx="390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</p:pic>
        <p:pic>
          <p:nvPicPr>
            <p:cNvPr id="17417" name="Picture 29">
              <a:extLst>
                <a:ext uri="{FF2B5EF4-FFF2-40B4-BE49-F238E27FC236}">
                  <a16:creationId xmlns:a16="http://schemas.microsoft.com/office/drawing/2014/main" id="{3E8E3E87-FDF0-0F46-BDB0-F98161CBCA0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6" y="1536"/>
              <a:ext cx="351" cy="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</p:pic>
        <p:pic>
          <p:nvPicPr>
            <p:cNvPr id="17418" name="Picture 30">
              <a:extLst>
                <a:ext uri="{FF2B5EF4-FFF2-40B4-BE49-F238E27FC236}">
                  <a16:creationId xmlns:a16="http://schemas.microsoft.com/office/drawing/2014/main" id="{7B8FD28B-03A7-7440-8F25-EDBEDE078DE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92" y="1824"/>
              <a:ext cx="351" cy="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</p:pic>
        <p:pic>
          <p:nvPicPr>
            <p:cNvPr id="17419" name="Picture 31">
              <a:extLst>
                <a:ext uri="{FF2B5EF4-FFF2-40B4-BE49-F238E27FC236}">
                  <a16:creationId xmlns:a16="http://schemas.microsoft.com/office/drawing/2014/main" id="{8F6319E3-167B-F448-81E8-F499D7E60A3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68" y="1968"/>
              <a:ext cx="307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</p:pic>
        <p:pic>
          <p:nvPicPr>
            <p:cNvPr id="17420" name="Picture 32">
              <a:extLst>
                <a:ext uri="{FF2B5EF4-FFF2-40B4-BE49-F238E27FC236}">
                  <a16:creationId xmlns:a16="http://schemas.microsoft.com/office/drawing/2014/main" id="{DCEE51A2-12CE-E148-AEB8-BFE60727EA5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72" y="1152"/>
              <a:ext cx="307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</p:pic>
        <p:sp>
          <p:nvSpPr>
            <p:cNvPr id="296994" name="Line 34">
              <a:extLst>
                <a:ext uri="{FF2B5EF4-FFF2-40B4-BE49-F238E27FC236}">
                  <a16:creationId xmlns:a16="http://schemas.microsoft.com/office/drawing/2014/main" id="{F8A90B7D-3CDD-E446-867F-F5AEF20C4A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1104"/>
              <a:ext cx="528" cy="0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round/>
              <a:headEnd/>
              <a:tailEnd type="triangle" w="sm" len="sm"/>
            </a:ln>
            <a:effectLst/>
          </p:spPr>
          <p:txBody>
            <a:bodyPr wrap="none" lIns="45784" rIns="45784" anchor="ctr">
              <a:spAutoFit/>
            </a:bodyPr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296995" name="Line 35">
              <a:extLst>
                <a:ext uri="{FF2B5EF4-FFF2-40B4-BE49-F238E27FC236}">
                  <a16:creationId xmlns:a16="http://schemas.microsoft.com/office/drawing/2014/main" id="{5D7120C2-095F-8D4F-8868-7550BCEED2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1296"/>
              <a:ext cx="528" cy="0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round/>
              <a:headEnd/>
              <a:tailEnd type="triangle" w="sm" len="sm"/>
            </a:ln>
            <a:effectLst/>
          </p:spPr>
          <p:txBody>
            <a:bodyPr wrap="none" lIns="45784" rIns="45784" anchor="ctr">
              <a:spAutoFit/>
            </a:bodyPr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296996" name="Line 36">
              <a:extLst>
                <a:ext uri="{FF2B5EF4-FFF2-40B4-BE49-F238E27FC236}">
                  <a16:creationId xmlns:a16="http://schemas.microsoft.com/office/drawing/2014/main" id="{C0B9D292-5014-DC4A-963C-B1C14DC3DA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1488"/>
              <a:ext cx="528" cy="0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round/>
              <a:headEnd/>
              <a:tailEnd type="triangle" w="sm" len="sm"/>
            </a:ln>
            <a:effectLst/>
          </p:spPr>
          <p:txBody>
            <a:bodyPr wrap="none" lIns="45784" rIns="45784" anchor="ctr">
              <a:spAutoFit/>
            </a:bodyPr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296997" name="Line 37">
              <a:extLst>
                <a:ext uri="{FF2B5EF4-FFF2-40B4-BE49-F238E27FC236}">
                  <a16:creationId xmlns:a16="http://schemas.microsoft.com/office/drawing/2014/main" id="{44B8A080-9950-174F-A757-9B9CEE90F0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1680"/>
              <a:ext cx="528" cy="0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round/>
              <a:headEnd/>
              <a:tailEnd type="triangle" w="sm" len="sm"/>
            </a:ln>
            <a:effectLst/>
          </p:spPr>
          <p:txBody>
            <a:bodyPr wrap="none" lIns="45784" rIns="45784" anchor="ctr">
              <a:spAutoFit/>
            </a:bodyPr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296998" name="Line 38">
              <a:extLst>
                <a:ext uri="{FF2B5EF4-FFF2-40B4-BE49-F238E27FC236}">
                  <a16:creationId xmlns:a16="http://schemas.microsoft.com/office/drawing/2014/main" id="{7BB3FC21-E74B-6B43-83B5-412A3F3FBF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1872"/>
              <a:ext cx="528" cy="0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round/>
              <a:headEnd/>
              <a:tailEnd type="triangle" w="sm" len="sm"/>
            </a:ln>
            <a:effectLst/>
          </p:spPr>
          <p:txBody>
            <a:bodyPr wrap="none" lIns="45784" rIns="45784" anchor="ctr">
              <a:spAutoFit/>
            </a:bodyPr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296999" name="Line 39">
              <a:extLst>
                <a:ext uri="{FF2B5EF4-FFF2-40B4-BE49-F238E27FC236}">
                  <a16:creationId xmlns:a16="http://schemas.microsoft.com/office/drawing/2014/main" id="{CACBBCE2-F7F1-204D-B33A-71A6DBBE33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2064"/>
              <a:ext cx="528" cy="0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round/>
              <a:headEnd/>
              <a:tailEnd type="triangle" w="sm" len="sm"/>
            </a:ln>
            <a:effectLst/>
          </p:spPr>
          <p:txBody>
            <a:bodyPr wrap="none" lIns="45784" rIns="45784" anchor="ctr">
              <a:spAutoFit/>
            </a:bodyPr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297000" name="Line 40">
              <a:extLst>
                <a:ext uri="{FF2B5EF4-FFF2-40B4-BE49-F238E27FC236}">
                  <a16:creationId xmlns:a16="http://schemas.microsoft.com/office/drawing/2014/main" id="{31C893B8-7B82-6F44-AD23-DD4B53E150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2256"/>
              <a:ext cx="528" cy="0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round/>
              <a:headEnd/>
              <a:tailEnd type="triangle" w="sm" len="sm"/>
            </a:ln>
            <a:effectLst/>
          </p:spPr>
          <p:txBody>
            <a:bodyPr wrap="none" lIns="45784" rIns="45784" anchor="ctr">
              <a:spAutoFit/>
            </a:bodyPr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297001" name="Line 41">
              <a:extLst>
                <a:ext uri="{FF2B5EF4-FFF2-40B4-BE49-F238E27FC236}">
                  <a16:creationId xmlns:a16="http://schemas.microsoft.com/office/drawing/2014/main" id="{DBF29ACD-7B71-9B43-8F8B-B0F2C74214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2448"/>
              <a:ext cx="528" cy="0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round/>
              <a:headEnd/>
              <a:tailEnd type="triangle" w="sm" len="sm"/>
            </a:ln>
            <a:effectLst/>
          </p:spPr>
          <p:txBody>
            <a:bodyPr wrap="none" lIns="45784" rIns="45784" anchor="ctr">
              <a:spAutoFit/>
            </a:bodyPr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297002" name="Line 42">
              <a:extLst>
                <a:ext uri="{FF2B5EF4-FFF2-40B4-BE49-F238E27FC236}">
                  <a16:creationId xmlns:a16="http://schemas.microsoft.com/office/drawing/2014/main" id="{16877D58-CA51-4F47-A0E2-2AF6A06D36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1104"/>
              <a:ext cx="528" cy="0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round/>
              <a:headEnd/>
              <a:tailEnd type="triangle" w="sm" len="sm"/>
            </a:ln>
            <a:effectLst/>
          </p:spPr>
          <p:txBody>
            <a:bodyPr wrap="none" lIns="45784" rIns="45784" anchor="ctr">
              <a:spAutoFit/>
            </a:bodyPr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297003" name="Line 43">
              <a:extLst>
                <a:ext uri="{FF2B5EF4-FFF2-40B4-BE49-F238E27FC236}">
                  <a16:creationId xmlns:a16="http://schemas.microsoft.com/office/drawing/2014/main" id="{8A757E86-D620-8741-AE53-5A7AE5BF3F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1296"/>
              <a:ext cx="528" cy="0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round/>
              <a:headEnd/>
              <a:tailEnd type="triangle" w="sm" len="sm"/>
            </a:ln>
            <a:effectLst/>
          </p:spPr>
          <p:txBody>
            <a:bodyPr wrap="none" lIns="45784" rIns="45784" anchor="ctr">
              <a:spAutoFit/>
            </a:bodyPr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297004" name="Line 44">
              <a:extLst>
                <a:ext uri="{FF2B5EF4-FFF2-40B4-BE49-F238E27FC236}">
                  <a16:creationId xmlns:a16="http://schemas.microsoft.com/office/drawing/2014/main" id="{BE3AE300-C19D-5D40-97FC-D2E0FC299F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1488"/>
              <a:ext cx="528" cy="0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round/>
              <a:headEnd/>
              <a:tailEnd type="triangle" w="sm" len="sm"/>
            </a:ln>
            <a:effectLst/>
          </p:spPr>
          <p:txBody>
            <a:bodyPr wrap="none" lIns="45784" rIns="45784" anchor="ctr">
              <a:spAutoFit/>
            </a:bodyPr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297005" name="Line 45">
              <a:extLst>
                <a:ext uri="{FF2B5EF4-FFF2-40B4-BE49-F238E27FC236}">
                  <a16:creationId xmlns:a16="http://schemas.microsoft.com/office/drawing/2014/main" id="{738A25C2-49AA-6E45-9FE8-65982F86C2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1680"/>
              <a:ext cx="528" cy="0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round/>
              <a:headEnd/>
              <a:tailEnd type="triangle" w="sm" len="sm"/>
            </a:ln>
            <a:effectLst/>
          </p:spPr>
          <p:txBody>
            <a:bodyPr wrap="none" lIns="45784" rIns="45784" anchor="ctr">
              <a:spAutoFit/>
            </a:bodyPr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297006" name="Line 46">
              <a:extLst>
                <a:ext uri="{FF2B5EF4-FFF2-40B4-BE49-F238E27FC236}">
                  <a16:creationId xmlns:a16="http://schemas.microsoft.com/office/drawing/2014/main" id="{066936B0-C53B-A04A-BE85-435DBA7E19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1872"/>
              <a:ext cx="528" cy="0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round/>
              <a:headEnd/>
              <a:tailEnd type="triangle" w="sm" len="sm"/>
            </a:ln>
            <a:effectLst/>
          </p:spPr>
          <p:txBody>
            <a:bodyPr wrap="none" lIns="45784" rIns="45784" anchor="ctr">
              <a:spAutoFit/>
            </a:bodyPr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297007" name="Line 47">
              <a:extLst>
                <a:ext uri="{FF2B5EF4-FFF2-40B4-BE49-F238E27FC236}">
                  <a16:creationId xmlns:a16="http://schemas.microsoft.com/office/drawing/2014/main" id="{B6C1034B-0D67-8E46-BB96-B60334DEF5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2064"/>
              <a:ext cx="528" cy="0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round/>
              <a:headEnd/>
              <a:tailEnd type="triangle" w="sm" len="sm"/>
            </a:ln>
            <a:effectLst/>
          </p:spPr>
          <p:txBody>
            <a:bodyPr wrap="none" lIns="45784" rIns="45784" anchor="ctr">
              <a:spAutoFit/>
            </a:bodyPr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297008" name="Line 48">
              <a:extLst>
                <a:ext uri="{FF2B5EF4-FFF2-40B4-BE49-F238E27FC236}">
                  <a16:creationId xmlns:a16="http://schemas.microsoft.com/office/drawing/2014/main" id="{99F2BCF7-F7D8-7749-AC09-590A2DAFCF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2256"/>
              <a:ext cx="528" cy="0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round/>
              <a:headEnd/>
              <a:tailEnd type="triangle" w="sm" len="sm"/>
            </a:ln>
            <a:effectLst/>
          </p:spPr>
          <p:txBody>
            <a:bodyPr wrap="none" lIns="45784" rIns="45784" anchor="ctr">
              <a:spAutoFit/>
            </a:bodyPr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297009" name="Line 49">
              <a:extLst>
                <a:ext uri="{FF2B5EF4-FFF2-40B4-BE49-F238E27FC236}">
                  <a16:creationId xmlns:a16="http://schemas.microsoft.com/office/drawing/2014/main" id="{A7503506-174F-934C-8084-B6B7B85F8B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2448"/>
              <a:ext cx="528" cy="0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round/>
              <a:headEnd/>
              <a:tailEnd type="triangle" w="sm" len="sm"/>
            </a:ln>
            <a:effectLst/>
          </p:spPr>
          <p:txBody>
            <a:bodyPr wrap="none" lIns="45784" rIns="45784" anchor="ctr">
              <a:spAutoFit/>
            </a:bodyPr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297010" name="Text Box 50">
              <a:extLst>
                <a:ext uri="{FF2B5EF4-FFF2-40B4-BE49-F238E27FC236}">
                  <a16:creationId xmlns:a16="http://schemas.microsoft.com/office/drawing/2014/main" id="{AD9A37CA-377E-B844-AB1D-0FD6A852FD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6" y="720"/>
              <a:ext cx="1430" cy="291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wrap="none" lIns="45784" rIns="45784">
              <a:spAutoFit/>
            </a:bodyPr>
            <a:lstStyle/>
            <a:p>
              <a:pPr>
                <a:defRPr/>
              </a:pPr>
              <a:r>
                <a:rPr lang="en-US" sz="2403"/>
                <a:t>Acyclic Network</a:t>
              </a:r>
            </a:p>
          </p:txBody>
        </p:sp>
        <p:sp>
          <p:nvSpPr>
            <p:cNvPr id="297011" name="Text Box 51">
              <a:extLst>
                <a:ext uri="{FF2B5EF4-FFF2-40B4-BE49-F238E27FC236}">
                  <a16:creationId xmlns:a16="http://schemas.microsoft.com/office/drawing/2014/main" id="{A77BFDA2-2BDC-8B42-AF9B-390DAD7DB8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1536"/>
              <a:ext cx="757" cy="52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wrap="none" lIns="45784" rIns="45784">
              <a:spAutoFit/>
            </a:bodyPr>
            <a:lstStyle/>
            <a:p>
              <a:pPr>
                <a:defRPr/>
              </a:pPr>
              <a:r>
                <a:rPr lang="en-US" sz="2403"/>
                <a:t>Primary</a:t>
              </a:r>
            </a:p>
            <a:p>
              <a:pPr>
                <a:defRPr/>
              </a:pPr>
              <a:r>
                <a:rPr lang="en-US" sz="2403"/>
                <a:t>Inputs</a:t>
              </a:r>
            </a:p>
          </p:txBody>
        </p:sp>
        <p:sp>
          <p:nvSpPr>
            <p:cNvPr id="297012" name="Text Box 52">
              <a:extLst>
                <a:ext uri="{FF2B5EF4-FFF2-40B4-BE49-F238E27FC236}">
                  <a16:creationId xmlns:a16="http://schemas.microsoft.com/office/drawing/2014/main" id="{AF12FF99-E005-DC49-A777-3D7093993F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6" y="1536"/>
              <a:ext cx="757" cy="52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wrap="none" lIns="45784" rIns="45784">
              <a:spAutoFit/>
            </a:bodyPr>
            <a:lstStyle/>
            <a:p>
              <a:pPr>
                <a:defRPr/>
              </a:pPr>
              <a:r>
                <a:rPr lang="en-US" sz="2403"/>
                <a:t>Primary</a:t>
              </a:r>
            </a:p>
            <a:p>
              <a:pPr>
                <a:defRPr/>
              </a:pPr>
              <a:r>
                <a:rPr lang="en-US" sz="2403"/>
                <a:t>Outputs</a:t>
              </a:r>
            </a:p>
          </p:txBody>
        </p:sp>
      </p:grp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3">
            <a:extLst>
              <a:ext uri="{FF2B5EF4-FFF2-40B4-BE49-F238E27FC236}">
                <a16:creationId xmlns:a16="http://schemas.microsoft.com/office/drawing/2014/main" id="{C453E941-32AD-6A4B-AC83-E37EE4AE3B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257300"/>
            <a:ext cx="7772400" cy="485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800100" indent="-3429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buFontTx/>
              <a:buChar char="•"/>
            </a:pPr>
            <a:r>
              <a:rPr lang="en-US" altLang="en-US" b="0" dirty="0">
                <a:latin typeface="Franklin Gothic Book" panose="020B0503020102020204" pitchFamily="34" charset="0"/>
              </a:rPr>
              <a:t>Combinational logic</a:t>
            </a:r>
          </a:p>
          <a:p>
            <a:pPr lvl="1">
              <a:spcBef>
                <a:spcPct val="20000"/>
              </a:spcBef>
              <a:buFontTx/>
              <a:buChar char="•"/>
            </a:pPr>
            <a:r>
              <a:rPr lang="en-US" altLang="en-US" b="0" dirty="0">
                <a:latin typeface="Franklin Gothic Book" panose="020B0503020102020204" pitchFamily="34" charset="0"/>
              </a:rPr>
              <a:t>No memory</a:t>
            </a:r>
          </a:p>
          <a:p>
            <a:pPr lvl="1">
              <a:spcBef>
                <a:spcPct val="20000"/>
              </a:spcBef>
              <a:buFontTx/>
              <a:buChar char="•"/>
            </a:pPr>
            <a:r>
              <a:rPr lang="en-US" altLang="en-US" b="0" dirty="0">
                <a:latin typeface="Franklin Gothic Book" panose="020B0503020102020204" pitchFamily="34" charset="0"/>
              </a:rPr>
              <a:t>A set of inputs uniquely and unambiguously specifies what outputs are</a:t>
            </a:r>
          </a:p>
          <a:p>
            <a:pPr lvl="1">
              <a:spcBef>
                <a:spcPct val="20000"/>
              </a:spcBef>
              <a:buFontTx/>
              <a:buChar char="•"/>
            </a:pPr>
            <a:r>
              <a:rPr lang="en-US" altLang="en-US" b="0" dirty="0">
                <a:latin typeface="Franklin Gothic Book" panose="020B0503020102020204" pitchFamily="34" charset="0"/>
              </a:rPr>
              <a:t>Defined by a truth table</a:t>
            </a:r>
          </a:p>
          <a:p>
            <a:pPr lvl="1">
              <a:spcBef>
                <a:spcPct val="20000"/>
              </a:spcBef>
              <a:buFontTx/>
              <a:buChar char="•"/>
            </a:pPr>
            <a:r>
              <a:rPr lang="en-US" altLang="en-US" b="0" dirty="0">
                <a:latin typeface="Franklin Gothic Book" panose="020B0503020102020204" pitchFamily="34" charset="0"/>
              </a:rPr>
              <a:t>e.g.    Inputs – A,B,C; Outputs – D,E,F</a:t>
            </a:r>
          </a:p>
          <a:p>
            <a:pPr lvl="1">
              <a:spcBef>
                <a:spcPct val="20000"/>
              </a:spcBef>
              <a:buFontTx/>
              <a:buChar char="•"/>
            </a:pPr>
            <a:r>
              <a:rPr lang="en-US" altLang="en-US" b="0" dirty="0">
                <a:latin typeface="Franklin Gothic Book" panose="020B0503020102020204" pitchFamily="34" charset="0"/>
              </a:rPr>
              <a:t>Design Process: collect input combinations producing ones in the output</a:t>
            </a:r>
          </a:p>
          <a:p>
            <a:pPr lvl="1">
              <a:spcBef>
                <a:spcPct val="20000"/>
              </a:spcBef>
            </a:pPr>
            <a:endParaRPr lang="en-US" altLang="en-US" sz="2000" dirty="0"/>
          </a:p>
        </p:txBody>
      </p:sp>
      <p:sp>
        <p:nvSpPr>
          <p:cNvPr id="18434" name="Rectangle 2">
            <a:extLst>
              <a:ext uri="{FF2B5EF4-FFF2-40B4-BE49-F238E27FC236}">
                <a16:creationId xmlns:a16="http://schemas.microsoft.com/office/drawing/2014/main" id="{50355FF0-E883-AC44-80FA-13F44CA557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609600"/>
            <a:ext cx="77724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ko-KR" sz="3200" dirty="0">
                <a:latin typeface="Franklin Gothic Medium" panose="020B0603020102020204" pitchFamily="34" charset="0"/>
                <a:ea typeface="Gulim" panose="020B0600000101010101" pitchFamily="34" charset="-127"/>
              </a:rPr>
              <a:t>4.2. Logic Design</a:t>
            </a:r>
            <a:endParaRPr lang="en-US" altLang="en-US" sz="3200" dirty="0"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3">
            <a:extLst>
              <a:ext uri="{FF2B5EF4-FFF2-40B4-BE49-F238E27FC236}">
                <a16:creationId xmlns:a16="http://schemas.microsoft.com/office/drawing/2014/main" id="{FB17AE97-E602-FB46-9311-2EE9EF7CEC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4572000"/>
            <a:ext cx="77724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257300" indent="-3429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 lvl="2">
              <a:spcBef>
                <a:spcPct val="20000"/>
              </a:spcBef>
              <a:buFontTx/>
              <a:buChar char="•"/>
            </a:pPr>
            <a:r>
              <a:rPr lang="en-US" altLang="en-US" b="0">
                <a:latin typeface="Franklin Gothic Book" panose="020B0503020102020204" pitchFamily="34" charset="0"/>
              </a:rPr>
              <a:t>D = A+B+C</a:t>
            </a:r>
          </a:p>
          <a:p>
            <a:pPr lvl="2">
              <a:spcBef>
                <a:spcPct val="20000"/>
              </a:spcBef>
              <a:buFontTx/>
              <a:buChar char="•"/>
            </a:pPr>
            <a:r>
              <a:rPr lang="en-US" altLang="en-US" b="0">
                <a:latin typeface="Franklin Gothic Book" panose="020B0503020102020204" pitchFamily="34" charset="0"/>
              </a:rPr>
              <a:t>F = A^B^C</a:t>
            </a:r>
          </a:p>
          <a:p>
            <a:pPr lvl="2">
              <a:spcBef>
                <a:spcPct val="20000"/>
              </a:spcBef>
              <a:buFontTx/>
              <a:buChar char="•"/>
            </a:pPr>
            <a:r>
              <a:rPr lang="en-US" altLang="en-US" b="0">
                <a:latin typeface="Franklin Gothic Book" panose="020B0503020102020204" pitchFamily="34" charset="0"/>
              </a:rPr>
              <a:t>E = A</a:t>
            </a:r>
            <a:r>
              <a:rPr lang="ja-JP" altLang="en-US" b="0">
                <a:latin typeface="Franklin Gothic Book" panose="020B0503020102020204" pitchFamily="34" charset="0"/>
              </a:rPr>
              <a:t>’</a:t>
            </a:r>
            <a:r>
              <a:rPr lang="en-US" altLang="ja-JP" b="0">
                <a:latin typeface="Franklin Gothic Book" panose="020B0503020102020204" pitchFamily="34" charset="0"/>
              </a:rPr>
              <a:t>BC + AB</a:t>
            </a:r>
            <a:r>
              <a:rPr lang="ja-JP" altLang="en-US" b="0">
                <a:latin typeface="Franklin Gothic Book" panose="020B0503020102020204" pitchFamily="34" charset="0"/>
              </a:rPr>
              <a:t>’</a:t>
            </a:r>
            <a:r>
              <a:rPr lang="en-US" altLang="ja-JP" b="0">
                <a:latin typeface="Franklin Gothic Book" panose="020B0503020102020204" pitchFamily="34" charset="0"/>
              </a:rPr>
              <a:t>C + ABC</a:t>
            </a:r>
            <a:r>
              <a:rPr lang="ja-JP" altLang="en-US" b="0">
                <a:latin typeface="Franklin Gothic Book" panose="020B0503020102020204" pitchFamily="34" charset="0"/>
              </a:rPr>
              <a:t>’</a:t>
            </a:r>
            <a:r>
              <a:rPr lang="en-US" altLang="ja-JP" b="0">
                <a:latin typeface="Franklin Gothic Book" panose="020B0503020102020204" pitchFamily="34" charset="0"/>
              </a:rPr>
              <a:t>  =&gt; canonical form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en-US" sz="2000">
                <a:latin typeface="Franklin Gothic Book" panose="020B0503020102020204" pitchFamily="34" charset="0"/>
              </a:rPr>
              <a:t> </a:t>
            </a:r>
          </a:p>
          <a:p>
            <a:pPr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altLang="en-US" sz="2000">
              <a:latin typeface="Franklin Gothic Book" panose="020B0503020102020204" pitchFamily="34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altLang="en-US" sz="2000">
              <a:latin typeface="Franklin Gothic Book" panose="020B050302010202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82E366D-E562-D040-875D-BCC32261C9A5}"/>
              </a:ext>
            </a:extLst>
          </p:cNvPr>
          <p:cNvGraphicFramePr>
            <a:graphicFrameLocks noGrp="1"/>
          </p:cNvGraphicFramePr>
          <p:nvPr/>
        </p:nvGraphicFramePr>
        <p:xfrm>
          <a:off x="1905000" y="1447800"/>
          <a:ext cx="5715000" cy="2971800"/>
        </p:xfrm>
        <a:graphic>
          <a:graphicData uri="http://schemas.openxmlformats.org/drawingml/2006/table">
            <a:tbl>
              <a:tblPr/>
              <a:tblGrid>
                <a:gridCol w="95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  A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   B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C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D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E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F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0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0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0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0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0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0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0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0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0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0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0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0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0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0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0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0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0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0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0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0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0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0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0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0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0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9530" name="Rectangle 2">
            <a:extLst>
              <a:ext uri="{FF2B5EF4-FFF2-40B4-BE49-F238E27FC236}">
                <a16:creationId xmlns:a16="http://schemas.microsoft.com/office/drawing/2014/main" id="{9925B4F3-E002-1F4C-8808-64AAE94769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609600"/>
            <a:ext cx="77724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ko-KR" sz="2800">
                <a:latin typeface="Franklin Gothic Medium" panose="020B0603020102020204" pitchFamily="34" charset="0"/>
                <a:ea typeface="Gulim" panose="020B0600000101010101" pitchFamily="34" charset="-127"/>
              </a:rPr>
              <a:t>Truth Table</a:t>
            </a:r>
            <a:endParaRPr lang="en-US" altLang="en-US" sz="2800"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56ECC47A-59BE-4D4F-B89E-7A0A26DAA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275" y="107950"/>
            <a:ext cx="8048625" cy="1050925"/>
          </a:xfrm>
        </p:spPr>
        <p:txBody>
          <a:bodyPr/>
          <a:lstStyle/>
          <a:p>
            <a:r>
              <a:rPr lang="en-US" altLang="en-US" sz="4000">
                <a:ea typeface="ＭＳ Ｐゴシック" panose="020B0600070205080204" pitchFamily="34" charset="-128"/>
              </a:rPr>
              <a:t>Bit Equality</a:t>
            </a:r>
          </a:p>
        </p:txBody>
      </p:sp>
      <p:sp>
        <p:nvSpPr>
          <p:cNvPr id="20482" name="Rectangle 3">
            <a:extLst>
              <a:ext uri="{FF2B5EF4-FFF2-40B4-BE49-F238E27FC236}">
                <a16:creationId xmlns:a16="http://schemas.microsoft.com/office/drawing/2014/main" id="{D94B61E1-1CDF-D841-845E-0C509CEE00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0513" y="3587750"/>
            <a:ext cx="8307387" cy="2855913"/>
          </a:xfrm>
        </p:spPr>
        <p:txBody>
          <a:bodyPr/>
          <a:lstStyle/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Generate 1 if a and b are equal</a:t>
            </a:r>
          </a:p>
        </p:txBody>
      </p:sp>
      <p:grpSp>
        <p:nvGrpSpPr>
          <p:cNvPr id="20483" name="Group 43">
            <a:extLst>
              <a:ext uri="{FF2B5EF4-FFF2-40B4-BE49-F238E27FC236}">
                <a16:creationId xmlns:a16="http://schemas.microsoft.com/office/drawing/2014/main" id="{2958DF85-EDB5-FE49-8040-7679804290B5}"/>
              </a:ext>
            </a:extLst>
          </p:cNvPr>
          <p:cNvGrpSpPr>
            <a:grpSpLocks/>
          </p:cNvGrpSpPr>
          <p:nvPr/>
        </p:nvGrpSpPr>
        <p:grpSpPr bwMode="auto">
          <a:xfrm>
            <a:off x="765175" y="1222375"/>
            <a:ext cx="4257675" cy="1984375"/>
            <a:chOff x="387" y="960"/>
            <a:chExt cx="2679" cy="1248"/>
          </a:xfrm>
        </p:grpSpPr>
        <p:sp>
          <p:nvSpPr>
            <p:cNvPr id="297988" name="Rectangle 4">
              <a:extLst>
                <a:ext uri="{FF2B5EF4-FFF2-40B4-BE49-F238E27FC236}">
                  <a16:creationId xmlns:a16="http://schemas.microsoft.com/office/drawing/2014/main" id="{A7BB52FE-A6F5-0E46-AEF9-9C55ED2067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960"/>
              <a:ext cx="1776" cy="1248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Ctr="1"/>
            <a:lstStyle/>
            <a:p>
              <a:pPr eaLnBrk="1" hangingPunct="1">
                <a:defRPr/>
              </a:pPr>
              <a:r>
                <a:rPr lang="en-US" sz="2403" b="0"/>
                <a:t>Bit equal</a:t>
              </a:r>
            </a:p>
          </p:txBody>
        </p:sp>
        <p:sp>
          <p:nvSpPr>
            <p:cNvPr id="297989" name="Freeform 5">
              <a:extLst>
                <a:ext uri="{FF2B5EF4-FFF2-40B4-BE49-F238E27FC236}">
                  <a16:creationId xmlns:a16="http://schemas.microsoft.com/office/drawing/2014/main" id="{80B610F2-3A34-094E-ABF7-FF6C2930A257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777" y="1344"/>
              <a:ext cx="336" cy="192"/>
            </a:xfrm>
            <a:custGeom>
              <a:avLst/>
              <a:gdLst/>
              <a:ahLst/>
              <a:cxnLst>
                <a:cxn ang="0">
                  <a:pos x="0" y="96"/>
                </a:cxn>
                <a:cxn ang="0">
                  <a:pos x="144" y="96"/>
                </a:cxn>
                <a:cxn ang="0">
                  <a:pos x="144" y="0"/>
                </a:cxn>
                <a:cxn ang="0">
                  <a:pos x="336" y="0"/>
                </a:cxn>
              </a:cxnLst>
              <a:rect l="0" t="0" r="r" b="b"/>
              <a:pathLst>
                <a:path w="336" h="96">
                  <a:moveTo>
                    <a:pt x="0" y="96"/>
                  </a:moveTo>
                  <a:lnTo>
                    <a:pt x="144" y="96"/>
                  </a:lnTo>
                  <a:lnTo>
                    <a:pt x="144" y="0"/>
                  </a:lnTo>
                  <a:lnTo>
                    <a:pt x="336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297990" name="Freeform 6">
              <a:extLst>
                <a:ext uri="{FF2B5EF4-FFF2-40B4-BE49-F238E27FC236}">
                  <a16:creationId xmlns:a16="http://schemas.microsoft.com/office/drawing/2014/main" id="{2C86A963-F083-5146-9A4C-0451CE0884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7" y="1728"/>
              <a:ext cx="336" cy="196"/>
            </a:xfrm>
            <a:custGeom>
              <a:avLst/>
              <a:gdLst/>
              <a:ahLst/>
              <a:cxnLst>
                <a:cxn ang="0">
                  <a:pos x="0" y="96"/>
                </a:cxn>
                <a:cxn ang="0">
                  <a:pos x="144" y="96"/>
                </a:cxn>
                <a:cxn ang="0">
                  <a:pos x="144" y="0"/>
                </a:cxn>
                <a:cxn ang="0">
                  <a:pos x="336" y="0"/>
                </a:cxn>
              </a:cxnLst>
              <a:rect l="0" t="0" r="r" b="b"/>
              <a:pathLst>
                <a:path w="336" h="96">
                  <a:moveTo>
                    <a:pt x="0" y="96"/>
                  </a:moveTo>
                  <a:lnTo>
                    <a:pt x="144" y="96"/>
                  </a:lnTo>
                  <a:lnTo>
                    <a:pt x="144" y="0"/>
                  </a:lnTo>
                  <a:lnTo>
                    <a:pt x="336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297991" name="Line 7">
              <a:extLst>
                <a:ext uri="{FF2B5EF4-FFF2-40B4-BE49-F238E27FC236}">
                  <a16:creationId xmlns:a16="http://schemas.microsoft.com/office/drawing/2014/main" id="{F599D1A9-B430-B740-8E21-D85253A253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2" y="1628"/>
              <a:ext cx="251" cy="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297992" name="Freeform 8">
              <a:extLst>
                <a:ext uri="{FF2B5EF4-FFF2-40B4-BE49-F238E27FC236}">
                  <a16:creationId xmlns:a16="http://schemas.microsoft.com/office/drawing/2014/main" id="{F22C7875-7DAD-A143-85D7-65AA611D74E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5" y="1488"/>
              <a:ext cx="410" cy="27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90" y="0"/>
                </a:cxn>
                <a:cxn ang="0">
                  <a:pos x="190" y="0"/>
                </a:cxn>
                <a:cxn ang="0">
                  <a:pos x="227" y="3"/>
                </a:cxn>
                <a:cxn ang="0">
                  <a:pos x="262" y="11"/>
                </a:cxn>
                <a:cxn ang="0">
                  <a:pos x="292" y="22"/>
                </a:cxn>
                <a:cxn ang="0">
                  <a:pos x="322" y="40"/>
                </a:cxn>
                <a:cxn ang="0">
                  <a:pos x="372" y="81"/>
                </a:cxn>
                <a:cxn ang="0">
                  <a:pos x="410" y="140"/>
                </a:cxn>
                <a:cxn ang="0">
                  <a:pos x="410" y="140"/>
                </a:cxn>
                <a:cxn ang="0">
                  <a:pos x="372" y="195"/>
                </a:cxn>
                <a:cxn ang="0">
                  <a:pos x="322" y="240"/>
                </a:cxn>
                <a:cxn ang="0">
                  <a:pos x="292" y="254"/>
                </a:cxn>
                <a:cxn ang="0">
                  <a:pos x="262" y="266"/>
                </a:cxn>
                <a:cxn ang="0">
                  <a:pos x="227" y="273"/>
                </a:cxn>
                <a:cxn ang="0">
                  <a:pos x="190" y="277"/>
                </a:cxn>
                <a:cxn ang="0">
                  <a:pos x="190" y="277"/>
                </a:cxn>
                <a:cxn ang="0">
                  <a:pos x="0" y="277"/>
                </a:cxn>
                <a:cxn ang="0">
                  <a:pos x="0" y="277"/>
                </a:cxn>
                <a:cxn ang="0">
                  <a:pos x="0" y="277"/>
                </a:cxn>
                <a:cxn ang="0">
                  <a:pos x="0" y="277"/>
                </a:cxn>
                <a:cxn ang="0">
                  <a:pos x="22" y="247"/>
                </a:cxn>
                <a:cxn ang="0">
                  <a:pos x="38" y="214"/>
                </a:cxn>
                <a:cxn ang="0">
                  <a:pos x="45" y="177"/>
                </a:cxn>
                <a:cxn ang="0">
                  <a:pos x="49" y="140"/>
                </a:cxn>
                <a:cxn ang="0">
                  <a:pos x="49" y="140"/>
                </a:cxn>
                <a:cxn ang="0">
                  <a:pos x="45" y="99"/>
                </a:cxn>
                <a:cxn ang="0">
                  <a:pos x="38" y="66"/>
                </a:cxn>
                <a:cxn ang="0">
                  <a:pos x="22" y="33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410" h="277">
                  <a:moveTo>
                    <a:pt x="0" y="0"/>
                  </a:moveTo>
                  <a:lnTo>
                    <a:pt x="190" y="0"/>
                  </a:lnTo>
                  <a:lnTo>
                    <a:pt x="190" y="0"/>
                  </a:lnTo>
                  <a:lnTo>
                    <a:pt x="227" y="3"/>
                  </a:lnTo>
                  <a:lnTo>
                    <a:pt x="262" y="11"/>
                  </a:lnTo>
                  <a:lnTo>
                    <a:pt x="292" y="22"/>
                  </a:lnTo>
                  <a:lnTo>
                    <a:pt x="322" y="40"/>
                  </a:lnTo>
                  <a:lnTo>
                    <a:pt x="372" y="81"/>
                  </a:lnTo>
                  <a:lnTo>
                    <a:pt x="410" y="140"/>
                  </a:lnTo>
                  <a:lnTo>
                    <a:pt x="410" y="140"/>
                  </a:lnTo>
                  <a:lnTo>
                    <a:pt x="372" y="195"/>
                  </a:lnTo>
                  <a:lnTo>
                    <a:pt x="322" y="240"/>
                  </a:lnTo>
                  <a:lnTo>
                    <a:pt x="292" y="254"/>
                  </a:lnTo>
                  <a:lnTo>
                    <a:pt x="262" y="266"/>
                  </a:lnTo>
                  <a:lnTo>
                    <a:pt x="227" y="273"/>
                  </a:lnTo>
                  <a:lnTo>
                    <a:pt x="190" y="277"/>
                  </a:lnTo>
                  <a:lnTo>
                    <a:pt x="190" y="277"/>
                  </a:lnTo>
                  <a:lnTo>
                    <a:pt x="0" y="277"/>
                  </a:lnTo>
                  <a:lnTo>
                    <a:pt x="0" y="277"/>
                  </a:lnTo>
                  <a:lnTo>
                    <a:pt x="0" y="277"/>
                  </a:lnTo>
                  <a:lnTo>
                    <a:pt x="0" y="277"/>
                  </a:lnTo>
                  <a:lnTo>
                    <a:pt x="22" y="247"/>
                  </a:lnTo>
                  <a:lnTo>
                    <a:pt x="38" y="214"/>
                  </a:lnTo>
                  <a:lnTo>
                    <a:pt x="45" y="177"/>
                  </a:lnTo>
                  <a:lnTo>
                    <a:pt x="49" y="140"/>
                  </a:lnTo>
                  <a:lnTo>
                    <a:pt x="49" y="140"/>
                  </a:lnTo>
                  <a:lnTo>
                    <a:pt x="45" y="99"/>
                  </a:lnTo>
                  <a:lnTo>
                    <a:pt x="38" y="66"/>
                  </a:lnTo>
                  <a:lnTo>
                    <a:pt x="22" y="33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297993" name="Freeform 9">
              <a:extLst>
                <a:ext uri="{FF2B5EF4-FFF2-40B4-BE49-F238E27FC236}">
                  <a16:creationId xmlns:a16="http://schemas.microsoft.com/office/drawing/2014/main" id="{0BC318F2-9435-F340-9135-FE3D689388E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5" y="1488"/>
              <a:ext cx="410" cy="27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90" y="0"/>
                </a:cxn>
                <a:cxn ang="0">
                  <a:pos x="190" y="0"/>
                </a:cxn>
                <a:cxn ang="0">
                  <a:pos x="227" y="3"/>
                </a:cxn>
                <a:cxn ang="0">
                  <a:pos x="262" y="11"/>
                </a:cxn>
                <a:cxn ang="0">
                  <a:pos x="292" y="22"/>
                </a:cxn>
                <a:cxn ang="0">
                  <a:pos x="322" y="40"/>
                </a:cxn>
                <a:cxn ang="0">
                  <a:pos x="372" y="81"/>
                </a:cxn>
                <a:cxn ang="0">
                  <a:pos x="410" y="140"/>
                </a:cxn>
                <a:cxn ang="0">
                  <a:pos x="410" y="140"/>
                </a:cxn>
                <a:cxn ang="0">
                  <a:pos x="372" y="195"/>
                </a:cxn>
                <a:cxn ang="0">
                  <a:pos x="322" y="240"/>
                </a:cxn>
                <a:cxn ang="0">
                  <a:pos x="292" y="254"/>
                </a:cxn>
                <a:cxn ang="0">
                  <a:pos x="262" y="266"/>
                </a:cxn>
                <a:cxn ang="0">
                  <a:pos x="227" y="273"/>
                </a:cxn>
                <a:cxn ang="0">
                  <a:pos x="190" y="277"/>
                </a:cxn>
                <a:cxn ang="0">
                  <a:pos x="190" y="277"/>
                </a:cxn>
                <a:cxn ang="0">
                  <a:pos x="0" y="277"/>
                </a:cxn>
                <a:cxn ang="0">
                  <a:pos x="0" y="277"/>
                </a:cxn>
                <a:cxn ang="0">
                  <a:pos x="0" y="277"/>
                </a:cxn>
                <a:cxn ang="0">
                  <a:pos x="0" y="277"/>
                </a:cxn>
                <a:cxn ang="0">
                  <a:pos x="22" y="247"/>
                </a:cxn>
                <a:cxn ang="0">
                  <a:pos x="38" y="214"/>
                </a:cxn>
                <a:cxn ang="0">
                  <a:pos x="45" y="177"/>
                </a:cxn>
                <a:cxn ang="0">
                  <a:pos x="49" y="140"/>
                </a:cxn>
                <a:cxn ang="0">
                  <a:pos x="49" y="140"/>
                </a:cxn>
                <a:cxn ang="0">
                  <a:pos x="45" y="99"/>
                </a:cxn>
                <a:cxn ang="0">
                  <a:pos x="38" y="66"/>
                </a:cxn>
                <a:cxn ang="0">
                  <a:pos x="22" y="33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410" h="277">
                  <a:moveTo>
                    <a:pt x="0" y="0"/>
                  </a:moveTo>
                  <a:lnTo>
                    <a:pt x="190" y="0"/>
                  </a:lnTo>
                  <a:lnTo>
                    <a:pt x="190" y="0"/>
                  </a:lnTo>
                  <a:lnTo>
                    <a:pt x="227" y="3"/>
                  </a:lnTo>
                  <a:lnTo>
                    <a:pt x="262" y="11"/>
                  </a:lnTo>
                  <a:lnTo>
                    <a:pt x="292" y="22"/>
                  </a:lnTo>
                  <a:lnTo>
                    <a:pt x="322" y="40"/>
                  </a:lnTo>
                  <a:lnTo>
                    <a:pt x="372" y="81"/>
                  </a:lnTo>
                  <a:lnTo>
                    <a:pt x="410" y="140"/>
                  </a:lnTo>
                  <a:lnTo>
                    <a:pt x="410" y="140"/>
                  </a:lnTo>
                  <a:lnTo>
                    <a:pt x="372" y="195"/>
                  </a:lnTo>
                  <a:lnTo>
                    <a:pt x="322" y="240"/>
                  </a:lnTo>
                  <a:lnTo>
                    <a:pt x="292" y="254"/>
                  </a:lnTo>
                  <a:lnTo>
                    <a:pt x="262" y="266"/>
                  </a:lnTo>
                  <a:lnTo>
                    <a:pt x="227" y="273"/>
                  </a:lnTo>
                  <a:lnTo>
                    <a:pt x="190" y="277"/>
                  </a:lnTo>
                  <a:lnTo>
                    <a:pt x="190" y="277"/>
                  </a:lnTo>
                  <a:lnTo>
                    <a:pt x="0" y="277"/>
                  </a:lnTo>
                  <a:lnTo>
                    <a:pt x="0" y="277"/>
                  </a:lnTo>
                  <a:lnTo>
                    <a:pt x="0" y="277"/>
                  </a:lnTo>
                  <a:lnTo>
                    <a:pt x="0" y="277"/>
                  </a:lnTo>
                  <a:lnTo>
                    <a:pt x="22" y="247"/>
                  </a:lnTo>
                  <a:lnTo>
                    <a:pt x="38" y="214"/>
                  </a:lnTo>
                  <a:lnTo>
                    <a:pt x="45" y="177"/>
                  </a:lnTo>
                  <a:lnTo>
                    <a:pt x="49" y="140"/>
                  </a:lnTo>
                  <a:lnTo>
                    <a:pt x="49" y="140"/>
                  </a:lnTo>
                  <a:lnTo>
                    <a:pt x="45" y="99"/>
                  </a:lnTo>
                  <a:lnTo>
                    <a:pt x="38" y="66"/>
                  </a:lnTo>
                  <a:lnTo>
                    <a:pt x="22" y="33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297994" name="Line 10">
              <a:extLst>
                <a:ext uri="{FF2B5EF4-FFF2-40B4-BE49-F238E27FC236}">
                  <a16:creationId xmlns:a16="http://schemas.microsoft.com/office/drawing/2014/main" id="{1CD22E00-7406-C847-B1FB-D22CB42F17B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202" y="1776"/>
              <a:ext cx="95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297995" name="Freeform 11">
              <a:extLst>
                <a:ext uri="{FF2B5EF4-FFF2-40B4-BE49-F238E27FC236}">
                  <a16:creationId xmlns:a16="http://schemas.microsoft.com/office/drawing/2014/main" id="{2F395B8B-C09D-3746-A624-9926C4FDA31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50" y="1541"/>
              <a:ext cx="190" cy="18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84"/>
                </a:cxn>
                <a:cxn ang="0">
                  <a:pos x="190" y="92"/>
                </a:cxn>
                <a:cxn ang="0">
                  <a:pos x="0" y="0"/>
                </a:cxn>
              </a:cxnLst>
              <a:rect l="0" t="0" r="r" b="b"/>
              <a:pathLst>
                <a:path w="190" h="184">
                  <a:moveTo>
                    <a:pt x="0" y="0"/>
                  </a:moveTo>
                  <a:lnTo>
                    <a:pt x="0" y="184"/>
                  </a:lnTo>
                  <a:lnTo>
                    <a:pt x="190" y="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297996" name="Freeform 12">
              <a:extLst>
                <a:ext uri="{FF2B5EF4-FFF2-40B4-BE49-F238E27FC236}">
                  <a16:creationId xmlns:a16="http://schemas.microsoft.com/office/drawing/2014/main" id="{4965EC38-9616-F044-AAE7-F6A518646558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50" y="1539"/>
              <a:ext cx="190" cy="18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84"/>
                </a:cxn>
                <a:cxn ang="0">
                  <a:pos x="190" y="92"/>
                </a:cxn>
                <a:cxn ang="0">
                  <a:pos x="0" y="0"/>
                </a:cxn>
              </a:cxnLst>
              <a:rect l="0" t="0" r="r" b="b"/>
              <a:pathLst>
                <a:path w="190" h="184">
                  <a:moveTo>
                    <a:pt x="0" y="0"/>
                  </a:moveTo>
                  <a:lnTo>
                    <a:pt x="0" y="184"/>
                  </a:lnTo>
                  <a:lnTo>
                    <a:pt x="190" y="92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297997" name="Freeform 13">
              <a:extLst>
                <a:ext uri="{FF2B5EF4-FFF2-40B4-BE49-F238E27FC236}">
                  <a16:creationId xmlns:a16="http://schemas.microsoft.com/office/drawing/2014/main" id="{3C5E5A00-34AD-734C-9723-6EB686913062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225" y="1726"/>
              <a:ext cx="49" cy="48"/>
            </a:xfrm>
            <a:custGeom>
              <a:avLst/>
              <a:gdLst/>
              <a:ahLst/>
              <a:cxnLst>
                <a:cxn ang="0">
                  <a:pos x="49" y="26"/>
                </a:cxn>
                <a:cxn ang="0">
                  <a:pos x="42" y="41"/>
                </a:cxn>
                <a:cxn ang="0">
                  <a:pos x="23" y="48"/>
                </a:cxn>
                <a:cxn ang="0">
                  <a:pos x="23" y="48"/>
                </a:cxn>
                <a:cxn ang="0">
                  <a:pos x="8" y="41"/>
                </a:cxn>
                <a:cxn ang="0">
                  <a:pos x="0" y="26"/>
                </a:cxn>
                <a:cxn ang="0">
                  <a:pos x="0" y="26"/>
                </a:cxn>
                <a:cxn ang="0">
                  <a:pos x="8" y="8"/>
                </a:cxn>
                <a:cxn ang="0">
                  <a:pos x="23" y="0"/>
                </a:cxn>
                <a:cxn ang="0">
                  <a:pos x="23" y="0"/>
                </a:cxn>
                <a:cxn ang="0">
                  <a:pos x="42" y="8"/>
                </a:cxn>
                <a:cxn ang="0">
                  <a:pos x="49" y="26"/>
                </a:cxn>
              </a:cxnLst>
              <a:rect l="0" t="0" r="r" b="b"/>
              <a:pathLst>
                <a:path w="49" h="48">
                  <a:moveTo>
                    <a:pt x="49" y="26"/>
                  </a:moveTo>
                  <a:lnTo>
                    <a:pt x="42" y="41"/>
                  </a:lnTo>
                  <a:lnTo>
                    <a:pt x="23" y="48"/>
                  </a:lnTo>
                  <a:lnTo>
                    <a:pt x="23" y="48"/>
                  </a:lnTo>
                  <a:lnTo>
                    <a:pt x="8" y="41"/>
                  </a:lnTo>
                  <a:lnTo>
                    <a:pt x="0" y="26"/>
                  </a:lnTo>
                  <a:lnTo>
                    <a:pt x="0" y="26"/>
                  </a:lnTo>
                  <a:lnTo>
                    <a:pt x="8" y="8"/>
                  </a:lnTo>
                  <a:lnTo>
                    <a:pt x="23" y="0"/>
                  </a:lnTo>
                  <a:lnTo>
                    <a:pt x="23" y="0"/>
                  </a:lnTo>
                  <a:lnTo>
                    <a:pt x="42" y="8"/>
                  </a:lnTo>
                  <a:lnTo>
                    <a:pt x="49" y="26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297998" name="Freeform 14">
              <a:extLst>
                <a:ext uri="{FF2B5EF4-FFF2-40B4-BE49-F238E27FC236}">
                  <a16:creationId xmlns:a16="http://schemas.microsoft.com/office/drawing/2014/main" id="{C15E1758-4F43-8E4F-B5A2-712F9AE205F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225" y="1726"/>
              <a:ext cx="49" cy="48"/>
            </a:xfrm>
            <a:custGeom>
              <a:avLst/>
              <a:gdLst/>
              <a:ahLst/>
              <a:cxnLst>
                <a:cxn ang="0">
                  <a:pos x="49" y="26"/>
                </a:cxn>
                <a:cxn ang="0">
                  <a:pos x="42" y="41"/>
                </a:cxn>
                <a:cxn ang="0">
                  <a:pos x="23" y="48"/>
                </a:cxn>
                <a:cxn ang="0">
                  <a:pos x="23" y="48"/>
                </a:cxn>
                <a:cxn ang="0">
                  <a:pos x="8" y="41"/>
                </a:cxn>
                <a:cxn ang="0">
                  <a:pos x="0" y="26"/>
                </a:cxn>
                <a:cxn ang="0">
                  <a:pos x="0" y="26"/>
                </a:cxn>
                <a:cxn ang="0">
                  <a:pos x="8" y="8"/>
                </a:cxn>
                <a:cxn ang="0">
                  <a:pos x="23" y="0"/>
                </a:cxn>
                <a:cxn ang="0">
                  <a:pos x="23" y="0"/>
                </a:cxn>
                <a:cxn ang="0">
                  <a:pos x="42" y="8"/>
                </a:cxn>
                <a:cxn ang="0">
                  <a:pos x="49" y="26"/>
                </a:cxn>
              </a:cxnLst>
              <a:rect l="0" t="0" r="r" b="b"/>
              <a:pathLst>
                <a:path w="49" h="48">
                  <a:moveTo>
                    <a:pt x="49" y="26"/>
                  </a:moveTo>
                  <a:lnTo>
                    <a:pt x="42" y="41"/>
                  </a:lnTo>
                  <a:lnTo>
                    <a:pt x="23" y="48"/>
                  </a:lnTo>
                  <a:lnTo>
                    <a:pt x="23" y="48"/>
                  </a:lnTo>
                  <a:lnTo>
                    <a:pt x="8" y="41"/>
                  </a:lnTo>
                  <a:lnTo>
                    <a:pt x="0" y="26"/>
                  </a:lnTo>
                  <a:lnTo>
                    <a:pt x="0" y="26"/>
                  </a:lnTo>
                  <a:lnTo>
                    <a:pt x="8" y="8"/>
                  </a:lnTo>
                  <a:lnTo>
                    <a:pt x="23" y="0"/>
                  </a:lnTo>
                  <a:lnTo>
                    <a:pt x="23" y="0"/>
                  </a:lnTo>
                  <a:lnTo>
                    <a:pt x="42" y="8"/>
                  </a:lnTo>
                  <a:lnTo>
                    <a:pt x="49" y="26"/>
                  </a:lnTo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297999" name="Line 15">
              <a:extLst>
                <a:ext uri="{FF2B5EF4-FFF2-40B4-BE49-F238E27FC236}">
                  <a16:creationId xmlns:a16="http://schemas.microsoft.com/office/drawing/2014/main" id="{880E09CD-4904-1B49-B947-888DD97D8CC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202" y="1487"/>
              <a:ext cx="95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298000" name="Line 16">
              <a:extLst>
                <a:ext uri="{FF2B5EF4-FFF2-40B4-BE49-F238E27FC236}">
                  <a16:creationId xmlns:a16="http://schemas.microsoft.com/office/drawing/2014/main" id="{699F864F-8B12-CA45-82BC-02F88FF3BF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7" y="1248"/>
              <a:ext cx="95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298001" name="Line 17">
              <a:extLst>
                <a:ext uri="{FF2B5EF4-FFF2-40B4-BE49-F238E27FC236}">
                  <a16:creationId xmlns:a16="http://schemas.microsoft.com/office/drawing/2014/main" id="{9D0B73AE-277C-BB4D-B4C1-5CDF1F34AB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7" y="1248"/>
              <a:ext cx="815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298002" name="Freeform 18">
              <a:extLst>
                <a:ext uri="{FF2B5EF4-FFF2-40B4-BE49-F238E27FC236}">
                  <a16:creationId xmlns:a16="http://schemas.microsoft.com/office/drawing/2014/main" id="{B5EC23BA-4AE6-F64D-851D-04C0BC38AB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2" y="1200"/>
              <a:ext cx="386" cy="281"/>
            </a:xfrm>
            <a:custGeom>
              <a:avLst/>
              <a:gdLst/>
              <a:ahLst/>
              <a:cxnLst>
                <a:cxn ang="0">
                  <a:pos x="382" y="140"/>
                </a:cxn>
                <a:cxn ang="0">
                  <a:pos x="378" y="166"/>
                </a:cxn>
                <a:cxn ang="0">
                  <a:pos x="370" y="192"/>
                </a:cxn>
                <a:cxn ang="0">
                  <a:pos x="359" y="214"/>
                </a:cxn>
                <a:cxn ang="0">
                  <a:pos x="340" y="236"/>
                </a:cxn>
                <a:cxn ang="0">
                  <a:pos x="317" y="254"/>
                </a:cxn>
                <a:cxn ang="0">
                  <a:pos x="294" y="266"/>
                </a:cxn>
                <a:cxn ang="0">
                  <a:pos x="267" y="273"/>
                </a:cxn>
                <a:cxn ang="0">
                  <a:pos x="237" y="277"/>
                </a:cxn>
                <a:cxn ang="0">
                  <a:pos x="237" y="277"/>
                </a:cxn>
                <a:cxn ang="0">
                  <a:pos x="0" y="277"/>
                </a:cxn>
                <a:cxn ang="0">
                  <a:pos x="0" y="277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237" y="0"/>
                </a:cxn>
                <a:cxn ang="0">
                  <a:pos x="237" y="0"/>
                </a:cxn>
                <a:cxn ang="0">
                  <a:pos x="267" y="3"/>
                </a:cxn>
                <a:cxn ang="0">
                  <a:pos x="294" y="11"/>
                </a:cxn>
                <a:cxn ang="0">
                  <a:pos x="317" y="22"/>
                </a:cxn>
                <a:cxn ang="0">
                  <a:pos x="340" y="40"/>
                </a:cxn>
                <a:cxn ang="0">
                  <a:pos x="359" y="62"/>
                </a:cxn>
                <a:cxn ang="0">
                  <a:pos x="370" y="85"/>
                </a:cxn>
                <a:cxn ang="0">
                  <a:pos x="378" y="110"/>
                </a:cxn>
                <a:cxn ang="0">
                  <a:pos x="382" y="140"/>
                </a:cxn>
              </a:cxnLst>
              <a:rect l="0" t="0" r="r" b="b"/>
              <a:pathLst>
                <a:path w="382" h="277">
                  <a:moveTo>
                    <a:pt x="382" y="140"/>
                  </a:moveTo>
                  <a:lnTo>
                    <a:pt x="378" y="166"/>
                  </a:lnTo>
                  <a:lnTo>
                    <a:pt x="370" y="192"/>
                  </a:lnTo>
                  <a:lnTo>
                    <a:pt x="359" y="214"/>
                  </a:lnTo>
                  <a:lnTo>
                    <a:pt x="340" y="236"/>
                  </a:lnTo>
                  <a:lnTo>
                    <a:pt x="317" y="254"/>
                  </a:lnTo>
                  <a:lnTo>
                    <a:pt x="294" y="266"/>
                  </a:lnTo>
                  <a:lnTo>
                    <a:pt x="267" y="273"/>
                  </a:lnTo>
                  <a:lnTo>
                    <a:pt x="237" y="277"/>
                  </a:lnTo>
                  <a:lnTo>
                    <a:pt x="237" y="277"/>
                  </a:lnTo>
                  <a:lnTo>
                    <a:pt x="0" y="277"/>
                  </a:lnTo>
                  <a:lnTo>
                    <a:pt x="0" y="277"/>
                  </a:lnTo>
                  <a:lnTo>
                    <a:pt x="0" y="0"/>
                  </a:lnTo>
                  <a:lnTo>
                    <a:pt x="0" y="0"/>
                  </a:lnTo>
                  <a:lnTo>
                    <a:pt x="237" y="0"/>
                  </a:lnTo>
                  <a:lnTo>
                    <a:pt x="237" y="0"/>
                  </a:lnTo>
                  <a:lnTo>
                    <a:pt x="267" y="3"/>
                  </a:lnTo>
                  <a:lnTo>
                    <a:pt x="294" y="11"/>
                  </a:lnTo>
                  <a:lnTo>
                    <a:pt x="317" y="22"/>
                  </a:lnTo>
                  <a:lnTo>
                    <a:pt x="340" y="40"/>
                  </a:lnTo>
                  <a:lnTo>
                    <a:pt x="359" y="62"/>
                  </a:lnTo>
                  <a:lnTo>
                    <a:pt x="370" y="85"/>
                  </a:lnTo>
                  <a:lnTo>
                    <a:pt x="378" y="110"/>
                  </a:lnTo>
                  <a:lnTo>
                    <a:pt x="382" y="14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298003" name="Freeform 19">
              <a:extLst>
                <a:ext uri="{FF2B5EF4-FFF2-40B4-BE49-F238E27FC236}">
                  <a16:creationId xmlns:a16="http://schemas.microsoft.com/office/drawing/2014/main" id="{3406C99C-7E50-F34B-84C9-57D24E34BD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2" y="1200"/>
              <a:ext cx="386" cy="281"/>
            </a:xfrm>
            <a:custGeom>
              <a:avLst/>
              <a:gdLst/>
              <a:ahLst/>
              <a:cxnLst>
                <a:cxn ang="0">
                  <a:pos x="382" y="140"/>
                </a:cxn>
                <a:cxn ang="0">
                  <a:pos x="378" y="166"/>
                </a:cxn>
                <a:cxn ang="0">
                  <a:pos x="370" y="192"/>
                </a:cxn>
                <a:cxn ang="0">
                  <a:pos x="359" y="214"/>
                </a:cxn>
                <a:cxn ang="0">
                  <a:pos x="340" y="236"/>
                </a:cxn>
                <a:cxn ang="0">
                  <a:pos x="317" y="254"/>
                </a:cxn>
                <a:cxn ang="0">
                  <a:pos x="294" y="266"/>
                </a:cxn>
                <a:cxn ang="0">
                  <a:pos x="267" y="273"/>
                </a:cxn>
                <a:cxn ang="0">
                  <a:pos x="237" y="277"/>
                </a:cxn>
                <a:cxn ang="0">
                  <a:pos x="237" y="277"/>
                </a:cxn>
                <a:cxn ang="0">
                  <a:pos x="0" y="277"/>
                </a:cxn>
                <a:cxn ang="0">
                  <a:pos x="0" y="277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237" y="0"/>
                </a:cxn>
                <a:cxn ang="0">
                  <a:pos x="237" y="0"/>
                </a:cxn>
                <a:cxn ang="0">
                  <a:pos x="267" y="3"/>
                </a:cxn>
                <a:cxn ang="0">
                  <a:pos x="294" y="11"/>
                </a:cxn>
                <a:cxn ang="0">
                  <a:pos x="317" y="22"/>
                </a:cxn>
                <a:cxn ang="0">
                  <a:pos x="340" y="40"/>
                </a:cxn>
                <a:cxn ang="0">
                  <a:pos x="359" y="62"/>
                </a:cxn>
                <a:cxn ang="0">
                  <a:pos x="370" y="85"/>
                </a:cxn>
                <a:cxn ang="0">
                  <a:pos x="378" y="110"/>
                </a:cxn>
                <a:cxn ang="0">
                  <a:pos x="382" y="140"/>
                </a:cxn>
              </a:cxnLst>
              <a:rect l="0" t="0" r="r" b="b"/>
              <a:pathLst>
                <a:path w="382" h="277">
                  <a:moveTo>
                    <a:pt x="382" y="140"/>
                  </a:moveTo>
                  <a:lnTo>
                    <a:pt x="378" y="166"/>
                  </a:lnTo>
                  <a:lnTo>
                    <a:pt x="370" y="192"/>
                  </a:lnTo>
                  <a:lnTo>
                    <a:pt x="359" y="214"/>
                  </a:lnTo>
                  <a:lnTo>
                    <a:pt x="340" y="236"/>
                  </a:lnTo>
                  <a:lnTo>
                    <a:pt x="317" y="254"/>
                  </a:lnTo>
                  <a:lnTo>
                    <a:pt x="294" y="266"/>
                  </a:lnTo>
                  <a:lnTo>
                    <a:pt x="267" y="273"/>
                  </a:lnTo>
                  <a:lnTo>
                    <a:pt x="237" y="277"/>
                  </a:lnTo>
                  <a:lnTo>
                    <a:pt x="237" y="277"/>
                  </a:lnTo>
                  <a:lnTo>
                    <a:pt x="0" y="277"/>
                  </a:lnTo>
                  <a:lnTo>
                    <a:pt x="0" y="277"/>
                  </a:lnTo>
                  <a:lnTo>
                    <a:pt x="0" y="0"/>
                  </a:lnTo>
                  <a:lnTo>
                    <a:pt x="0" y="0"/>
                  </a:lnTo>
                  <a:lnTo>
                    <a:pt x="237" y="0"/>
                  </a:lnTo>
                  <a:lnTo>
                    <a:pt x="237" y="0"/>
                  </a:lnTo>
                  <a:lnTo>
                    <a:pt x="267" y="3"/>
                  </a:lnTo>
                  <a:lnTo>
                    <a:pt x="294" y="11"/>
                  </a:lnTo>
                  <a:lnTo>
                    <a:pt x="317" y="22"/>
                  </a:lnTo>
                  <a:lnTo>
                    <a:pt x="340" y="40"/>
                  </a:lnTo>
                  <a:lnTo>
                    <a:pt x="359" y="62"/>
                  </a:lnTo>
                  <a:lnTo>
                    <a:pt x="370" y="85"/>
                  </a:lnTo>
                  <a:lnTo>
                    <a:pt x="378" y="110"/>
                  </a:lnTo>
                  <a:lnTo>
                    <a:pt x="382" y="14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298004" name="Text Box 20">
              <a:extLst>
                <a:ext uri="{FF2B5EF4-FFF2-40B4-BE49-F238E27FC236}">
                  <a16:creationId xmlns:a16="http://schemas.microsoft.com/office/drawing/2014/main" id="{E01632ED-7CAF-5748-BF1A-A03A3B2A92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9" y="1104"/>
              <a:ext cx="174" cy="2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r" eaLnBrk="1" hangingPunct="1">
                <a:defRPr/>
              </a:pPr>
              <a:r>
                <a:rPr lang="en-US" sz="1602" b="0"/>
                <a:t>a</a:t>
              </a:r>
              <a:endParaRPr lang="en-US" sz="1602" b="0" baseline="-25000"/>
            </a:p>
          </p:txBody>
        </p:sp>
        <p:sp>
          <p:nvSpPr>
            <p:cNvPr id="298005" name="Line 21">
              <a:extLst>
                <a:ext uri="{FF2B5EF4-FFF2-40B4-BE49-F238E27FC236}">
                  <a16:creationId xmlns:a16="http://schemas.microsoft.com/office/drawing/2014/main" id="{24A9A11E-CA82-1A40-A392-38A14CD9AD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9" y="1440"/>
              <a:ext cx="383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298006" name="Line 22">
              <a:extLst>
                <a:ext uri="{FF2B5EF4-FFF2-40B4-BE49-F238E27FC236}">
                  <a16:creationId xmlns:a16="http://schemas.microsoft.com/office/drawing/2014/main" id="{CE728EA0-4E8C-AA45-9F2D-D589747283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8" y="2009"/>
              <a:ext cx="815" cy="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298007" name="Freeform 23">
              <a:extLst>
                <a:ext uri="{FF2B5EF4-FFF2-40B4-BE49-F238E27FC236}">
                  <a16:creationId xmlns:a16="http://schemas.microsoft.com/office/drawing/2014/main" id="{592D2E82-6CA8-E240-AB38-45752544AE1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3" y="1776"/>
              <a:ext cx="386" cy="281"/>
            </a:xfrm>
            <a:custGeom>
              <a:avLst/>
              <a:gdLst/>
              <a:ahLst/>
              <a:cxnLst>
                <a:cxn ang="0">
                  <a:pos x="382" y="140"/>
                </a:cxn>
                <a:cxn ang="0">
                  <a:pos x="378" y="166"/>
                </a:cxn>
                <a:cxn ang="0">
                  <a:pos x="370" y="192"/>
                </a:cxn>
                <a:cxn ang="0">
                  <a:pos x="359" y="214"/>
                </a:cxn>
                <a:cxn ang="0">
                  <a:pos x="340" y="236"/>
                </a:cxn>
                <a:cxn ang="0">
                  <a:pos x="317" y="254"/>
                </a:cxn>
                <a:cxn ang="0">
                  <a:pos x="294" y="266"/>
                </a:cxn>
                <a:cxn ang="0">
                  <a:pos x="267" y="273"/>
                </a:cxn>
                <a:cxn ang="0">
                  <a:pos x="237" y="277"/>
                </a:cxn>
                <a:cxn ang="0">
                  <a:pos x="237" y="277"/>
                </a:cxn>
                <a:cxn ang="0">
                  <a:pos x="0" y="277"/>
                </a:cxn>
                <a:cxn ang="0">
                  <a:pos x="0" y="277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237" y="0"/>
                </a:cxn>
                <a:cxn ang="0">
                  <a:pos x="237" y="0"/>
                </a:cxn>
                <a:cxn ang="0">
                  <a:pos x="267" y="3"/>
                </a:cxn>
                <a:cxn ang="0">
                  <a:pos x="294" y="11"/>
                </a:cxn>
                <a:cxn ang="0">
                  <a:pos x="317" y="22"/>
                </a:cxn>
                <a:cxn ang="0">
                  <a:pos x="340" y="40"/>
                </a:cxn>
                <a:cxn ang="0">
                  <a:pos x="359" y="62"/>
                </a:cxn>
                <a:cxn ang="0">
                  <a:pos x="370" y="85"/>
                </a:cxn>
                <a:cxn ang="0">
                  <a:pos x="378" y="110"/>
                </a:cxn>
                <a:cxn ang="0">
                  <a:pos x="382" y="140"/>
                </a:cxn>
              </a:cxnLst>
              <a:rect l="0" t="0" r="r" b="b"/>
              <a:pathLst>
                <a:path w="382" h="277">
                  <a:moveTo>
                    <a:pt x="382" y="140"/>
                  </a:moveTo>
                  <a:lnTo>
                    <a:pt x="378" y="166"/>
                  </a:lnTo>
                  <a:lnTo>
                    <a:pt x="370" y="192"/>
                  </a:lnTo>
                  <a:lnTo>
                    <a:pt x="359" y="214"/>
                  </a:lnTo>
                  <a:lnTo>
                    <a:pt x="340" y="236"/>
                  </a:lnTo>
                  <a:lnTo>
                    <a:pt x="317" y="254"/>
                  </a:lnTo>
                  <a:lnTo>
                    <a:pt x="294" y="266"/>
                  </a:lnTo>
                  <a:lnTo>
                    <a:pt x="267" y="273"/>
                  </a:lnTo>
                  <a:lnTo>
                    <a:pt x="237" y="277"/>
                  </a:lnTo>
                  <a:lnTo>
                    <a:pt x="237" y="277"/>
                  </a:lnTo>
                  <a:lnTo>
                    <a:pt x="0" y="277"/>
                  </a:lnTo>
                  <a:lnTo>
                    <a:pt x="0" y="277"/>
                  </a:lnTo>
                  <a:lnTo>
                    <a:pt x="0" y="0"/>
                  </a:lnTo>
                  <a:lnTo>
                    <a:pt x="0" y="0"/>
                  </a:lnTo>
                  <a:lnTo>
                    <a:pt x="237" y="0"/>
                  </a:lnTo>
                  <a:lnTo>
                    <a:pt x="237" y="0"/>
                  </a:lnTo>
                  <a:lnTo>
                    <a:pt x="267" y="3"/>
                  </a:lnTo>
                  <a:lnTo>
                    <a:pt x="294" y="11"/>
                  </a:lnTo>
                  <a:lnTo>
                    <a:pt x="317" y="22"/>
                  </a:lnTo>
                  <a:lnTo>
                    <a:pt x="340" y="40"/>
                  </a:lnTo>
                  <a:lnTo>
                    <a:pt x="359" y="62"/>
                  </a:lnTo>
                  <a:lnTo>
                    <a:pt x="370" y="85"/>
                  </a:lnTo>
                  <a:lnTo>
                    <a:pt x="378" y="110"/>
                  </a:lnTo>
                  <a:lnTo>
                    <a:pt x="382" y="14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298008" name="Freeform 24">
              <a:extLst>
                <a:ext uri="{FF2B5EF4-FFF2-40B4-BE49-F238E27FC236}">
                  <a16:creationId xmlns:a16="http://schemas.microsoft.com/office/drawing/2014/main" id="{EA314CCC-53F9-FC4E-A368-3C3C25496D9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3" y="1776"/>
              <a:ext cx="386" cy="281"/>
            </a:xfrm>
            <a:custGeom>
              <a:avLst/>
              <a:gdLst/>
              <a:ahLst/>
              <a:cxnLst>
                <a:cxn ang="0">
                  <a:pos x="382" y="140"/>
                </a:cxn>
                <a:cxn ang="0">
                  <a:pos x="378" y="166"/>
                </a:cxn>
                <a:cxn ang="0">
                  <a:pos x="370" y="192"/>
                </a:cxn>
                <a:cxn ang="0">
                  <a:pos x="359" y="214"/>
                </a:cxn>
                <a:cxn ang="0">
                  <a:pos x="340" y="236"/>
                </a:cxn>
                <a:cxn ang="0">
                  <a:pos x="317" y="254"/>
                </a:cxn>
                <a:cxn ang="0">
                  <a:pos x="294" y="266"/>
                </a:cxn>
                <a:cxn ang="0">
                  <a:pos x="267" y="273"/>
                </a:cxn>
                <a:cxn ang="0">
                  <a:pos x="237" y="277"/>
                </a:cxn>
                <a:cxn ang="0">
                  <a:pos x="237" y="277"/>
                </a:cxn>
                <a:cxn ang="0">
                  <a:pos x="0" y="277"/>
                </a:cxn>
                <a:cxn ang="0">
                  <a:pos x="0" y="277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237" y="0"/>
                </a:cxn>
                <a:cxn ang="0">
                  <a:pos x="237" y="0"/>
                </a:cxn>
                <a:cxn ang="0">
                  <a:pos x="267" y="3"/>
                </a:cxn>
                <a:cxn ang="0">
                  <a:pos x="294" y="11"/>
                </a:cxn>
                <a:cxn ang="0">
                  <a:pos x="317" y="22"/>
                </a:cxn>
                <a:cxn ang="0">
                  <a:pos x="340" y="40"/>
                </a:cxn>
                <a:cxn ang="0">
                  <a:pos x="359" y="62"/>
                </a:cxn>
                <a:cxn ang="0">
                  <a:pos x="370" y="85"/>
                </a:cxn>
                <a:cxn ang="0">
                  <a:pos x="378" y="110"/>
                </a:cxn>
                <a:cxn ang="0">
                  <a:pos x="382" y="140"/>
                </a:cxn>
              </a:cxnLst>
              <a:rect l="0" t="0" r="r" b="b"/>
              <a:pathLst>
                <a:path w="382" h="277">
                  <a:moveTo>
                    <a:pt x="382" y="140"/>
                  </a:moveTo>
                  <a:lnTo>
                    <a:pt x="378" y="166"/>
                  </a:lnTo>
                  <a:lnTo>
                    <a:pt x="370" y="192"/>
                  </a:lnTo>
                  <a:lnTo>
                    <a:pt x="359" y="214"/>
                  </a:lnTo>
                  <a:lnTo>
                    <a:pt x="340" y="236"/>
                  </a:lnTo>
                  <a:lnTo>
                    <a:pt x="317" y="254"/>
                  </a:lnTo>
                  <a:lnTo>
                    <a:pt x="294" y="266"/>
                  </a:lnTo>
                  <a:lnTo>
                    <a:pt x="267" y="273"/>
                  </a:lnTo>
                  <a:lnTo>
                    <a:pt x="237" y="277"/>
                  </a:lnTo>
                  <a:lnTo>
                    <a:pt x="237" y="277"/>
                  </a:lnTo>
                  <a:lnTo>
                    <a:pt x="0" y="277"/>
                  </a:lnTo>
                  <a:lnTo>
                    <a:pt x="0" y="277"/>
                  </a:lnTo>
                  <a:lnTo>
                    <a:pt x="0" y="0"/>
                  </a:lnTo>
                  <a:lnTo>
                    <a:pt x="0" y="0"/>
                  </a:lnTo>
                  <a:lnTo>
                    <a:pt x="237" y="0"/>
                  </a:lnTo>
                  <a:lnTo>
                    <a:pt x="237" y="0"/>
                  </a:lnTo>
                  <a:lnTo>
                    <a:pt x="267" y="3"/>
                  </a:lnTo>
                  <a:lnTo>
                    <a:pt x="294" y="11"/>
                  </a:lnTo>
                  <a:lnTo>
                    <a:pt x="317" y="22"/>
                  </a:lnTo>
                  <a:lnTo>
                    <a:pt x="340" y="40"/>
                  </a:lnTo>
                  <a:lnTo>
                    <a:pt x="359" y="62"/>
                  </a:lnTo>
                  <a:lnTo>
                    <a:pt x="370" y="85"/>
                  </a:lnTo>
                  <a:lnTo>
                    <a:pt x="378" y="110"/>
                  </a:lnTo>
                  <a:lnTo>
                    <a:pt x="382" y="14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298009" name="Text Box 25">
              <a:extLst>
                <a:ext uri="{FF2B5EF4-FFF2-40B4-BE49-F238E27FC236}">
                  <a16:creationId xmlns:a16="http://schemas.microsoft.com/office/drawing/2014/main" id="{47D8D738-2E71-7945-87C7-744F1473BD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7" y="1900"/>
              <a:ext cx="187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r" eaLnBrk="1" hangingPunct="1">
                <a:defRPr/>
              </a:pPr>
              <a:r>
                <a:rPr lang="en-US" sz="1602" b="0"/>
                <a:t>b</a:t>
              </a:r>
              <a:endParaRPr lang="en-US" sz="1602" b="0" baseline="-25000"/>
            </a:p>
          </p:txBody>
        </p:sp>
        <p:sp>
          <p:nvSpPr>
            <p:cNvPr id="298010" name="Line 26">
              <a:extLst>
                <a:ext uri="{FF2B5EF4-FFF2-40B4-BE49-F238E27FC236}">
                  <a16:creationId xmlns:a16="http://schemas.microsoft.com/office/drawing/2014/main" id="{4B5FD37B-43E8-2A48-A6C0-470D5B29D1D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721" y="1728"/>
              <a:ext cx="57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298011" name="Rectangle 27">
              <a:extLst>
                <a:ext uri="{FF2B5EF4-FFF2-40B4-BE49-F238E27FC236}">
                  <a16:creationId xmlns:a16="http://schemas.microsoft.com/office/drawing/2014/main" id="{F33628F1-ABE0-0D4A-9158-BB865FB18B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1536"/>
              <a:ext cx="378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sz="1602" b="0"/>
                <a:t>eq</a:t>
              </a:r>
            </a:p>
          </p:txBody>
        </p:sp>
        <p:grpSp>
          <p:nvGrpSpPr>
            <p:cNvPr id="20509" name="Group 28">
              <a:extLst>
                <a:ext uri="{FF2B5EF4-FFF2-40B4-BE49-F238E27FC236}">
                  <a16:creationId xmlns:a16="http://schemas.microsoft.com/office/drawing/2014/main" id="{E7215A7F-BE94-384A-B339-F6C528F34927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1109" y="1820"/>
              <a:ext cx="184" cy="383"/>
              <a:chOff x="912" y="1776"/>
              <a:chExt cx="184" cy="383"/>
            </a:xfrm>
          </p:grpSpPr>
          <p:sp>
            <p:nvSpPr>
              <p:cNvPr id="298013" name="Line 29">
                <a:extLst>
                  <a:ext uri="{FF2B5EF4-FFF2-40B4-BE49-F238E27FC236}">
                    <a16:creationId xmlns:a16="http://schemas.microsoft.com/office/drawing/2014/main" id="{59112C0C-4BD3-0D42-95F1-DF8D755506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965" y="1827"/>
                <a:ext cx="95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 sz="2403"/>
              </a:p>
            </p:txBody>
          </p:sp>
          <p:sp>
            <p:nvSpPr>
              <p:cNvPr id="298014" name="Freeform 30">
                <a:extLst>
                  <a:ext uri="{FF2B5EF4-FFF2-40B4-BE49-F238E27FC236}">
                    <a16:creationId xmlns:a16="http://schemas.microsoft.com/office/drawing/2014/main" id="{104D8AD2-56D5-AB4B-8AC7-9B711E115BEE}"/>
                  </a:ext>
                </a:extLst>
              </p:cNvPr>
              <p:cNvSpPr>
                <a:spLocks/>
              </p:cNvSpPr>
              <p:nvPr/>
            </p:nvSpPr>
            <p:spPr bwMode="auto">
              <a:xfrm rot="16200000" flipV="1">
                <a:off x="913" y="1877"/>
                <a:ext cx="190" cy="18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184"/>
                  </a:cxn>
                  <a:cxn ang="0">
                    <a:pos x="190" y="92"/>
                  </a:cxn>
                  <a:cxn ang="0">
                    <a:pos x="0" y="0"/>
                  </a:cxn>
                </a:cxnLst>
                <a:rect l="0" t="0" r="r" b="b"/>
                <a:pathLst>
                  <a:path w="190" h="184">
                    <a:moveTo>
                      <a:pt x="0" y="0"/>
                    </a:moveTo>
                    <a:lnTo>
                      <a:pt x="0" y="184"/>
                    </a:lnTo>
                    <a:lnTo>
                      <a:pt x="190" y="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 sz="2403"/>
              </a:p>
            </p:txBody>
          </p:sp>
          <p:sp>
            <p:nvSpPr>
              <p:cNvPr id="298015" name="Freeform 31">
                <a:extLst>
                  <a:ext uri="{FF2B5EF4-FFF2-40B4-BE49-F238E27FC236}">
                    <a16:creationId xmlns:a16="http://schemas.microsoft.com/office/drawing/2014/main" id="{80690B9F-CD2C-434E-8E01-ED9F613FF7B2}"/>
                  </a:ext>
                </a:extLst>
              </p:cNvPr>
              <p:cNvSpPr>
                <a:spLocks/>
              </p:cNvSpPr>
              <p:nvPr/>
            </p:nvSpPr>
            <p:spPr bwMode="auto">
              <a:xfrm rot="16200000" flipV="1">
                <a:off x="913" y="1877"/>
                <a:ext cx="190" cy="18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184"/>
                  </a:cxn>
                  <a:cxn ang="0">
                    <a:pos x="190" y="92"/>
                  </a:cxn>
                  <a:cxn ang="0">
                    <a:pos x="0" y="0"/>
                  </a:cxn>
                </a:cxnLst>
                <a:rect l="0" t="0" r="r" b="b"/>
                <a:pathLst>
                  <a:path w="190" h="184">
                    <a:moveTo>
                      <a:pt x="0" y="0"/>
                    </a:moveTo>
                    <a:lnTo>
                      <a:pt x="0" y="184"/>
                    </a:lnTo>
                    <a:lnTo>
                      <a:pt x="190" y="92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FFFFFF"/>
              </a:solidFill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 sz="2403"/>
              </a:p>
            </p:txBody>
          </p:sp>
          <p:sp>
            <p:nvSpPr>
              <p:cNvPr id="298016" name="Freeform 32">
                <a:extLst>
                  <a:ext uri="{FF2B5EF4-FFF2-40B4-BE49-F238E27FC236}">
                    <a16:creationId xmlns:a16="http://schemas.microsoft.com/office/drawing/2014/main" id="{06EE90B8-52AA-2441-BF1D-AC599468B1AA}"/>
                  </a:ext>
                </a:extLst>
              </p:cNvPr>
              <p:cNvSpPr>
                <a:spLocks/>
              </p:cNvSpPr>
              <p:nvPr/>
            </p:nvSpPr>
            <p:spPr bwMode="auto">
              <a:xfrm rot="16200000" flipV="1">
                <a:off x="984" y="1823"/>
                <a:ext cx="49" cy="48"/>
              </a:xfrm>
              <a:custGeom>
                <a:avLst/>
                <a:gdLst/>
                <a:ahLst/>
                <a:cxnLst>
                  <a:cxn ang="0">
                    <a:pos x="49" y="26"/>
                  </a:cxn>
                  <a:cxn ang="0">
                    <a:pos x="42" y="41"/>
                  </a:cxn>
                  <a:cxn ang="0">
                    <a:pos x="23" y="48"/>
                  </a:cxn>
                  <a:cxn ang="0">
                    <a:pos x="23" y="48"/>
                  </a:cxn>
                  <a:cxn ang="0">
                    <a:pos x="8" y="41"/>
                  </a:cxn>
                  <a:cxn ang="0">
                    <a:pos x="0" y="26"/>
                  </a:cxn>
                  <a:cxn ang="0">
                    <a:pos x="0" y="26"/>
                  </a:cxn>
                  <a:cxn ang="0">
                    <a:pos x="8" y="8"/>
                  </a:cxn>
                  <a:cxn ang="0">
                    <a:pos x="23" y="0"/>
                  </a:cxn>
                  <a:cxn ang="0">
                    <a:pos x="23" y="0"/>
                  </a:cxn>
                  <a:cxn ang="0">
                    <a:pos x="42" y="8"/>
                  </a:cxn>
                  <a:cxn ang="0">
                    <a:pos x="49" y="26"/>
                  </a:cxn>
                </a:cxnLst>
                <a:rect l="0" t="0" r="r" b="b"/>
                <a:pathLst>
                  <a:path w="49" h="48">
                    <a:moveTo>
                      <a:pt x="49" y="26"/>
                    </a:moveTo>
                    <a:lnTo>
                      <a:pt x="42" y="41"/>
                    </a:lnTo>
                    <a:lnTo>
                      <a:pt x="23" y="48"/>
                    </a:lnTo>
                    <a:lnTo>
                      <a:pt x="23" y="48"/>
                    </a:lnTo>
                    <a:lnTo>
                      <a:pt x="8" y="41"/>
                    </a:lnTo>
                    <a:lnTo>
                      <a:pt x="0" y="26"/>
                    </a:lnTo>
                    <a:lnTo>
                      <a:pt x="0" y="26"/>
                    </a:lnTo>
                    <a:lnTo>
                      <a:pt x="8" y="8"/>
                    </a:lnTo>
                    <a:lnTo>
                      <a:pt x="23" y="0"/>
                    </a:lnTo>
                    <a:lnTo>
                      <a:pt x="23" y="0"/>
                    </a:lnTo>
                    <a:lnTo>
                      <a:pt x="42" y="8"/>
                    </a:lnTo>
                    <a:lnTo>
                      <a:pt x="49" y="26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 sz="2403"/>
              </a:p>
            </p:txBody>
          </p:sp>
          <p:sp>
            <p:nvSpPr>
              <p:cNvPr id="298017" name="Freeform 33">
                <a:extLst>
                  <a:ext uri="{FF2B5EF4-FFF2-40B4-BE49-F238E27FC236}">
                    <a16:creationId xmlns:a16="http://schemas.microsoft.com/office/drawing/2014/main" id="{F5D5AAE8-7DD2-2347-B714-967F2447CC1C}"/>
                  </a:ext>
                </a:extLst>
              </p:cNvPr>
              <p:cNvSpPr>
                <a:spLocks/>
              </p:cNvSpPr>
              <p:nvPr/>
            </p:nvSpPr>
            <p:spPr bwMode="auto">
              <a:xfrm rot="16200000" flipV="1">
                <a:off x="984" y="1823"/>
                <a:ext cx="49" cy="48"/>
              </a:xfrm>
              <a:custGeom>
                <a:avLst/>
                <a:gdLst/>
                <a:ahLst/>
                <a:cxnLst>
                  <a:cxn ang="0">
                    <a:pos x="49" y="26"/>
                  </a:cxn>
                  <a:cxn ang="0">
                    <a:pos x="42" y="41"/>
                  </a:cxn>
                  <a:cxn ang="0">
                    <a:pos x="23" y="48"/>
                  </a:cxn>
                  <a:cxn ang="0">
                    <a:pos x="23" y="48"/>
                  </a:cxn>
                  <a:cxn ang="0">
                    <a:pos x="8" y="41"/>
                  </a:cxn>
                  <a:cxn ang="0">
                    <a:pos x="0" y="26"/>
                  </a:cxn>
                  <a:cxn ang="0">
                    <a:pos x="0" y="26"/>
                  </a:cxn>
                  <a:cxn ang="0">
                    <a:pos x="8" y="8"/>
                  </a:cxn>
                  <a:cxn ang="0">
                    <a:pos x="23" y="0"/>
                  </a:cxn>
                  <a:cxn ang="0">
                    <a:pos x="23" y="0"/>
                  </a:cxn>
                  <a:cxn ang="0">
                    <a:pos x="42" y="8"/>
                  </a:cxn>
                  <a:cxn ang="0">
                    <a:pos x="49" y="26"/>
                  </a:cxn>
                </a:cxnLst>
                <a:rect l="0" t="0" r="r" b="b"/>
                <a:pathLst>
                  <a:path w="49" h="48">
                    <a:moveTo>
                      <a:pt x="49" y="26"/>
                    </a:moveTo>
                    <a:lnTo>
                      <a:pt x="42" y="41"/>
                    </a:lnTo>
                    <a:lnTo>
                      <a:pt x="23" y="48"/>
                    </a:lnTo>
                    <a:lnTo>
                      <a:pt x="23" y="48"/>
                    </a:lnTo>
                    <a:lnTo>
                      <a:pt x="8" y="41"/>
                    </a:lnTo>
                    <a:lnTo>
                      <a:pt x="0" y="26"/>
                    </a:lnTo>
                    <a:lnTo>
                      <a:pt x="0" y="26"/>
                    </a:lnTo>
                    <a:lnTo>
                      <a:pt x="8" y="8"/>
                    </a:lnTo>
                    <a:lnTo>
                      <a:pt x="23" y="0"/>
                    </a:lnTo>
                    <a:lnTo>
                      <a:pt x="23" y="0"/>
                    </a:lnTo>
                    <a:lnTo>
                      <a:pt x="42" y="8"/>
                    </a:lnTo>
                    <a:lnTo>
                      <a:pt x="49" y="26"/>
                    </a:lnTo>
                  </a:path>
                </a:pathLst>
              </a:custGeom>
              <a:solidFill>
                <a:srgbClr val="FFFFFF"/>
              </a:solidFill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 sz="2403"/>
              </a:p>
            </p:txBody>
          </p:sp>
          <p:sp>
            <p:nvSpPr>
              <p:cNvPr id="298018" name="Line 34">
                <a:extLst>
                  <a:ext uri="{FF2B5EF4-FFF2-40B4-BE49-F238E27FC236}">
                    <a16:creationId xmlns:a16="http://schemas.microsoft.com/office/drawing/2014/main" id="{26122FB4-B06A-9C4D-A804-EEE6D66E9D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965" y="2111"/>
                <a:ext cx="95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 sz="2403"/>
              </a:p>
            </p:txBody>
          </p:sp>
        </p:grpSp>
        <p:sp>
          <p:nvSpPr>
            <p:cNvPr id="298019" name="Line 35">
              <a:extLst>
                <a:ext uri="{FF2B5EF4-FFF2-40B4-BE49-F238E27FC236}">
                  <a16:creationId xmlns:a16="http://schemas.microsoft.com/office/drawing/2014/main" id="{3979F8F3-1A1A-C44D-8381-C33BD0BCE3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9" y="1824"/>
              <a:ext cx="143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298020" name="Line 36">
              <a:extLst>
                <a:ext uri="{FF2B5EF4-FFF2-40B4-BE49-F238E27FC236}">
                  <a16:creationId xmlns:a16="http://schemas.microsoft.com/office/drawing/2014/main" id="{CFBE730F-249A-C64E-9C70-5CF13E5D6CD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153" y="1342"/>
              <a:ext cx="196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grpSp>
          <p:nvGrpSpPr>
            <p:cNvPr id="20512" name="Group 37">
              <a:extLst>
                <a:ext uri="{FF2B5EF4-FFF2-40B4-BE49-F238E27FC236}">
                  <a16:creationId xmlns:a16="http://schemas.microsoft.com/office/drawing/2014/main" id="{F7E0F1D5-B893-0A47-B931-2898B62FB48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01" y="1200"/>
              <a:ext cx="96" cy="96"/>
              <a:chOff x="240" y="4176"/>
              <a:chExt cx="192" cy="192"/>
            </a:xfrm>
          </p:grpSpPr>
          <p:sp>
            <p:nvSpPr>
              <p:cNvPr id="298022" name="Oval 38">
                <a:extLst>
                  <a:ext uri="{FF2B5EF4-FFF2-40B4-BE49-F238E27FC236}">
                    <a16:creationId xmlns:a16="http://schemas.microsoft.com/office/drawing/2014/main" id="{FA6E7F81-C9ED-6446-BC5A-48FC847460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" y="4223"/>
                <a:ext cx="96" cy="98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2403"/>
              </a:p>
            </p:txBody>
          </p:sp>
          <p:sp>
            <p:nvSpPr>
              <p:cNvPr id="298023" name="Rectangle 39">
                <a:extLst>
                  <a:ext uri="{FF2B5EF4-FFF2-40B4-BE49-F238E27FC236}">
                    <a16:creationId xmlns:a16="http://schemas.microsoft.com/office/drawing/2014/main" id="{7937DF71-7DC8-314B-92E7-C59D7D80AD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" y="4169"/>
                <a:ext cx="192" cy="20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2403"/>
              </a:p>
            </p:txBody>
          </p:sp>
        </p:grpSp>
        <p:grpSp>
          <p:nvGrpSpPr>
            <p:cNvPr id="20513" name="Group 40">
              <a:extLst>
                <a:ext uri="{FF2B5EF4-FFF2-40B4-BE49-F238E27FC236}">
                  <a16:creationId xmlns:a16="http://schemas.microsoft.com/office/drawing/2014/main" id="{02CD4225-E14E-1240-8232-D63B6C0208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61" y="1968"/>
              <a:ext cx="96" cy="96"/>
              <a:chOff x="240" y="4176"/>
              <a:chExt cx="192" cy="192"/>
            </a:xfrm>
          </p:grpSpPr>
          <p:sp>
            <p:nvSpPr>
              <p:cNvPr id="298025" name="Oval 41">
                <a:extLst>
                  <a:ext uri="{FF2B5EF4-FFF2-40B4-BE49-F238E27FC236}">
                    <a16:creationId xmlns:a16="http://schemas.microsoft.com/office/drawing/2014/main" id="{24D48A8C-2563-8640-92D8-E37517FDF4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5" y="4231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2403"/>
              </a:p>
            </p:txBody>
          </p:sp>
          <p:sp>
            <p:nvSpPr>
              <p:cNvPr id="298026" name="Rectangle 42">
                <a:extLst>
                  <a:ext uri="{FF2B5EF4-FFF2-40B4-BE49-F238E27FC236}">
                    <a16:creationId xmlns:a16="http://schemas.microsoft.com/office/drawing/2014/main" id="{EAB4267F-D8FD-024C-BDBD-82C7AD2C56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7" y="4183"/>
                <a:ext cx="192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2403"/>
              </a:p>
            </p:txBody>
          </p:sp>
        </p:grpSp>
      </p:grpSp>
      <p:sp>
        <p:nvSpPr>
          <p:cNvPr id="298028" name="Text Box 44">
            <a:extLst>
              <a:ext uri="{FF2B5EF4-FFF2-40B4-BE49-F238E27FC236}">
                <a16:creationId xmlns:a16="http://schemas.microsoft.com/office/drawing/2014/main" id="{30A201BD-F8CC-2E45-891F-7D83C668DA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6638" y="2366963"/>
            <a:ext cx="3963987" cy="461962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wrap="none" lIns="45784" rIns="45784">
            <a:spAutoFit/>
          </a:bodyPr>
          <a:lstStyle/>
          <a:p>
            <a:pPr>
              <a:defRPr/>
            </a:pPr>
            <a:r>
              <a:rPr lang="en-US" sz="2403" dirty="0" err="1">
                <a:latin typeface="Courier New" pitchFamily="49" charset="0"/>
              </a:rPr>
              <a:t>eq</a:t>
            </a:r>
            <a:r>
              <a:rPr lang="en-US" sz="2403" dirty="0">
                <a:latin typeface="Courier New" pitchFamily="49" charset="0"/>
              </a:rPr>
              <a:t> = (a&amp;&amp;b)||(!a&amp;&amp;!b)</a:t>
            </a:r>
          </a:p>
        </p:txBody>
      </p:sp>
    </p:spTree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>
            <a:extLst>
              <a:ext uri="{FF2B5EF4-FFF2-40B4-BE49-F238E27FC236}">
                <a16:creationId xmlns:a16="http://schemas.microsoft.com/office/drawing/2014/main" id="{252CCB62-932D-7142-A46D-C6DAFB452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275" y="107950"/>
            <a:ext cx="8042275" cy="963613"/>
          </a:xfrm>
        </p:spPr>
        <p:txBody>
          <a:bodyPr/>
          <a:lstStyle/>
          <a:p>
            <a:r>
              <a:rPr lang="en-US" altLang="en-US" sz="4000">
                <a:ea typeface="ＭＳ Ｐゴシック" panose="020B0600070205080204" pitchFamily="34" charset="-128"/>
              </a:rPr>
              <a:t>Word Equality</a:t>
            </a:r>
          </a:p>
        </p:txBody>
      </p:sp>
      <p:grpSp>
        <p:nvGrpSpPr>
          <p:cNvPr id="21506" name="Group 4">
            <a:extLst>
              <a:ext uri="{FF2B5EF4-FFF2-40B4-BE49-F238E27FC236}">
                <a16:creationId xmlns:a16="http://schemas.microsoft.com/office/drawing/2014/main" id="{9DAFEE18-8C71-8E45-AF89-270F6C8CE845}"/>
              </a:ext>
            </a:extLst>
          </p:cNvPr>
          <p:cNvGrpSpPr>
            <a:grpSpLocks/>
          </p:cNvGrpSpPr>
          <p:nvPr/>
        </p:nvGrpSpPr>
        <p:grpSpPr bwMode="auto">
          <a:xfrm>
            <a:off x="638175" y="1527175"/>
            <a:ext cx="4545013" cy="4154488"/>
            <a:chOff x="1071" y="384"/>
            <a:chExt cx="2859" cy="2613"/>
          </a:xfrm>
        </p:grpSpPr>
        <p:sp>
          <p:nvSpPr>
            <p:cNvPr id="299013" name="Freeform 5">
              <a:extLst>
                <a:ext uri="{FF2B5EF4-FFF2-40B4-BE49-F238E27FC236}">
                  <a16:creationId xmlns:a16="http://schemas.microsoft.com/office/drawing/2014/main" id="{F9BF881A-B8D8-0E41-BFF2-77747E18FB24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0" y="1776"/>
              <a:ext cx="864" cy="964"/>
            </a:xfrm>
            <a:custGeom>
              <a:avLst/>
              <a:gdLst/>
              <a:ahLst/>
              <a:cxnLst>
                <a:cxn ang="0">
                  <a:pos x="0" y="960"/>
                </a:cxn>
                <a:cxn ang="0">
                  <a:pos x="672" y="960"/>
                </a:cxn>
                <a:cxn ang="0">
                  <a:pos x="672" y="0"/>
                </a:cxn>
                <a:cxn ang="0">
                  <a:pos x="864" y="0"/>
                </a:cxn>
              </a:cxnLst>
              <a:rect l="0" t="0" r="r" b="b"/>
              <a:pathLst>
                <a:path w="864" h="960">
                  <a:moveTo>
                    <a:pt x="0" y="960"/>
                  </a:moveTo>
                  <a:lnTo>
                    <a:pt x="672" y="960"/>
                  </a:lnTo>
                  <a:lnTo>
                    <a:pt x="672" y="0"/>
                  </a:lnTo>
                  <a:lnTo>
                    <a:pt x="864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299014" name="Text Box 6">
              <a:extLst>
                <a:ext uri="{FF2B5EF4-FFF2-40B4-BE49-F238E27FC236}">
                  <a16:creationId xmlns:a16="http://schemas.microsoft.com/office/drawing/2014/main" id="{B2F83003-75B4-4543-B3B8-04C9B26DE8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1" y="384"/>
              <a:ext cx="268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r" eaLnBrk="1" hangingPunct="1">
                <a:defRPr/>
              </a:pPr>
              <a:r>
                <a:rPr lang="en-US" sz="1602" b="0" dirty="0"/>
                <a:t>b</a:t>
              </a:r>
              <a:r>
                <a:rPr lang="en-US" sz="1602" b="0" baseline="-25000" dirty="0"/>
                <a:t>63</a:t>
              </a:r>
            </a:p>
          </p:txBody>
        </p:sp>
        <p:sp>
          <p:nvSpPr>
            <p:cNvPr id="299015" name="Rectangle 7">
              <a:extLst>
                <a:ext uri="{FF2B5EF4-FFF2-40B4-BE49-F238E27FC236}">
                  <a16:creationId xmlns:a16="http://schemas.microsoft.com/office/drawing/2014/main" id="{85C151BF-E9FD-9448-AA30-0B1FDA80E8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384"/>
              <a:ext cx="624" cy="480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r>
                <a:rPr lang="en-US" sz="1602" b="0"/>
                <a:t>Bit equal</a:t>
              </a:r>
            </a:p>
          </p:txBody>
        </p:sp>
        <p:sp>
          <p:nvSpPr>
            <p:cNvPr id="299016" name="Line 8">
              <a:extLst>
                <a:ext uri="{FF2B5EF4-FFF2-40B4-BE49-F238E27FC236}">
                  <a16:creationId xmlns:a16="http://schemas.microsoft.com/office/drawing/2014/main" id="{A7F1FC26-F6AE-3F4D-8A5E-2E8D028173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4" y="480"/>
              <a:ext cx="195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299017" name="Line 9">
              <a:extLst>
                <a:ext uri="{FF2B5EF4-FFF2-40B4-BE49-F238E27FC236}">
                  <a16:creationId xmlns:a16="http://schemas.microsoft.com/office/drawing/2014/main" id="{FBC7A6F4-6A4A-D641-9776-F200D5B05B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44" y="768"/>
              <a:ext cx="19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299018" name="Text Box 10">
              <a:extLst>
                <a:ext uri="{FF2B5EF4-FFF2-40B4-BE49-F238E27FC236}">
                  <a16:creationId xmlns:a16="http://schemas.microsoft.com/office/drawing/2014/main" id="{82815C24-8527-2349-A5DB-88B9CCAFD9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8" y="672"/>
              <a:ext cx="261" cy="2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r" eaLnBrk="1" hangingPunct="1">
                <a:defRPr/>
              </a:pPr>
              <a:r>
                <a:rPr lang="en-US" sz="1602" b="0" dirty="0"/>
                <a:t>a</a:t>
              </a:r>
              <a:r>
                <a:rPr lang="en-US" sz="1602" b="0" baseline="-25000" dirty="0"/>
                <a:t>63</a:t>
              </a:r>
            </a:p>
          </p:txBody>
        </p:sp>
        <p:sp>
          <p:nvSpPr>
            <p:cNvPr id="299019" name="Rectangle 11">
              <a:extLst>
                <a:ext uri="{FF2B5EF4-FFF2-40B4-BE49-F238E27FC236}">
                  <a16:creationId xmlns:a16="http://schemas.microsoft.com/office/drawing/2014/main" id="{E453B110-016D-EB4F-991C-863C344449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384"/>
              <a:ext cx="374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sz="1602" b="0" dirty="0"/>
                <a:t>eq</a:t>
              </a:r>
              <a:r>
                <a:rPr lang="en-US" sz="1602" b="0" baseline="-25000" dirty="0"/>
                <a:t>63</a:t>
              </a:r>
            </a:p>
          </p:txBody>
        </p:sp>
        <p:sp>
          <p:nvSpPr>
            <p:cNvPr id="299020" name="Text Box 12">
              <a:extLst>
                <a:ext uri="{FF2B5EF4-FFF2-40B4-BE49-F238E27FC236}">
                  <a16:creationId xmlns:a16="http://schemas.microsoft.com/office/drawing/2014/main" id="{1F45E8FF-FA12-3343-8262-191BA85F62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3" y="864"/>
              <a:ext cx="268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r" eaLnBrk="1" hangingPunct="1">
                <a:defRPr/>
              </a:pPr>
              <a:r>
                <a:rPr lang="en-US" sz="1602" b="0" dirty="0"/>
                <a:t>b</a:t>
              </a:r>
              <a:r>
                <a:rPr lang="en-US" sz="1602" b="0" baseline="-25000" dirty="0"/>
                <a:t>62</a:t>
              </a:r>
            </a:p>
          </p:txBody>
        </p:sp>
        <p:sp>
          <p:nvSpPr>
            <p:cNvPr id="299021" name="Rectangle 13">
              <a:extLst>
                <a:ext uri="{FF2B5EF4-FFF2-40B4-BE49-F238E27FC236}">
                  <a16:creationId xmlns:a16="http://schemas.microsoft.com/office/drawing/2014/main" id="{EB4904FF-A8AD-2A4B-B9EE-D5CC33C3F0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864"/>
              <a:ext cx="624" cy="476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r>
                <a:rPr lang="en-US" sz="1602" b="0"/>
                <a:t>Bit equal</a:t>
              </a:r>
            </a:p>
          </p:txBody>
        </p:sp>
        <p:sp>
          <p:nvSpPr>
            <p:cNvPr id="299022" name="Line 14">
              <a:extLst>
                <a:ext uri="{FF2B5EF4-FFF2-40B4-BE49-F238E27FC236}">
                  <a16:creationId xmlns:a16="http://schemas.microsoft.com/office/drawing/2014/main" id="{6E7DD4DB-8E62-6B4C-ABC3-88A9D40BB9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4" y="960"/>
              <a:ext cx="195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299023" name="Line 15">
              <a:extLst>
                <a:ext uri="{FF2B5EF4-FFF2-40B4-BE49-F238E27FC236}">
                  <a16:creationId xmlns:a16="http://schemas.microsoft.com/office/drawing/2014/main" id="{C17F8C97-1EC7-FA4D-AC73-B3BC5EAB60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44" y="1248"/>
              <a:ext cx="19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299024" name="Text Box 16">
              <a:extLst>
                <a:ext uri="{FF2B5EF4-FFF2-40B4-BE49-F238E27FC236}">
                  <a16:creationId xmlns:a16="http://schemas.microsoft.com/office/drawing/2014/main" id="{BEAE5B4C-5987-9247-A195-99774BB4FA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0" y="1152"/>
              <a:ext cx="261" cy="2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r" eaLnBrk="1" hangingPunct="1">
                <a:defRPr/>
              </a:pPr>
              <a:r>
                <a:rPr lang="en-US" sz="1602" b="0" dirty="0"/>
                <a:t>a</a:t>
              </a:r>
              <a:r>
                <a:rPr lang="en-US" sz="1602" b="0" baseline="-25000" dirty="0"/>
                <a:t>62</a:t>
              </a:r>
            </a:p>
          </p:txBody>
        </p:sp>
        <p:sp>
          <p:nvSpPr>
            <p:cNvPr id="299025" name="Rectangle 17">
              <a:extLst>
                <a:ext uri="{FF2B5EF4-FFF2-40B4-BE49-F238E27FC236}">
                  <a16:creationId xmlns:a16="http://schemas.microsoft.com/office/drawing/2014/main" id="{69C73EFF-746A-1D4B-9FDB-474F872E92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0" y="864"/>
              <a:ext cx="374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sz="1602" b="0" dirty="0"/>
                <a:t>eq</a:t>
              </a:r>
              <a:r>
                <a:rPr lang="en-US" sz="1602" b="0" baseline="-25000" dirty="0"/>
                <a:t>62</a:t>
              </a:r>
            </a:p>
          </p:txBody>
        </p:sp>
        <p:sp>
          <p:nvSpPr>
            <p:cNvPr id="299026" name="Text Box 18">
              <a:extLst>
                <a:ext uri="{FF2B5EF4-FFF2-40B4-BE49-F238E27FC236}">
                  <a16:creationId xmlns:a16="http://schemas.microsoft.com/office/drawing/2014/main" id="{FAE3B523-DDDB-F44A-BFD0-9B29CA349C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7" y="2016"/>
              <a:ext cx="224" cy="2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r" eaLnBrk="1" hangingPunct="1">
                <a:defRPr/>
              </a:pPr>
              <a:r>
                <a:rPr lang="en-US" sz="1602" b="0"/>
                <a:t>b</a:t>
              </a:r>
              <a:r>
                <a:rPr lang="en-US" sz="1602" b="0" baseline="-25000"/>
                <a:t>1</a:t>
              </a:r>
            </a:p>
          </p:txBody>
        </p:sp>
        <p:sp>
          <p:nvSpPr>
            <p:cNvPr id="299027" name="Rectangle 19">
              <a:extLst>
                <a:ext uri="{FF2B5EF4-FFF2-40B4-BE49-F238E27FC236}">
                  <a16:creationId xmlns:a16="http://schemas.microsoft.com/office/drawing/2014/main" id="{7F736B76-D0E8-EA4A-A978-751AE5CE21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2016"/>
              <a:ext cx="624" cy="480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r>
                <a:rPr lang="en-US" sz="1602" b="0"/>
                <a:t>Bit equal</a:t>
              </a:r>
            </a:p>
          </p:txBody>
        </p:sp>
        <p:sp>
          <p:nvSpPr>
            <p:cNvPr id="299028" name="Line 20">
              <a:extLst>
                <a:ext uri="{FF2B5EF4-FFF2-40B4-BE49-F238E27FC236}">
                  <a16:creationId xmlns:a16="http://schemas.microsoft.com/office/drawing/2014/main" id="{C66FFBC1-3443-BC4B-A773-38D048B821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4" y="2112"/>
              <a:ext cx="195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299029" name="Line 21">
              <a:extLst>
                <a:ext uri="{FF2B5EF4-FFF2-40B4-BE49-F238E27FC236}">
                  <a16:creationId xmlns:a16="http://schemas.microsoft.com/office/drawing/2014/main" id="{ADA58423-A405-454E-8701-329AC1A315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44" y="2400"/>
              <a:ext cx="196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299030" name="Text Box 22">
              <a:extLst>
                <a:ext uri="{FF2B5EF4-FFF2-40B4-BE49-F238E27FC236}">
                  <a16:creationId xmlns:a16="http://schemas.microsoft.com/office/drawing/2014/main" id="{4351BC47-24E7-E74E-9D2F-3220FDDD5C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24" y="2304"/>
              <a:ext cx="217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r" eaLnBrk="1" hangingPunct="1">
                <a:defRPr/>
              </a:pPr>
              <a:r>
                <a:rPr lang="en-US" sz="1602" b="0"/>
                <a:t>a</a:t>
              </a:r>
              <a:r>
                <a:rPr lang="en-US" sz="1602" b="0" baseline="-25000"/>
                <a:t>1</a:t>
              </a:r>
            </a:p>
          </p:txBody>
        </p:sp>
        <p:sp>
          <p:nvSpPr>
            <p:cNvPr id="299031" name="Rectangle 23">
              <a:extLst>
                <a:ext uri="{FF2B5EF4-FFF2-40B4-BE49-F238E27FC236}">
                  <a16:creationId xmlns:a16="http://schemas.microsoft.com/office/drawing/2014/main" id="{56FA66ED-AB7D-D844-9AF8-68FAA00046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0" y="2016"/>
              <a:ext cx="374" cy="2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sz="1602" b="0"/>
                <a:t>eq</a:t>
              </a:r>
              <a:r>
                <a:rPr lang="en-US" sz="1602" b="0" baseline="-25000"/>
                <a:t>1</a:t>
              </a:r>
            </a:p>
          </p:txBody>
        </p:sp>
        <p:sp>
          <p:nvSpPr>
            <p:cNvPr id="299032" name="Text Box 24">
              <a:extLst>
                <a:ext uri="{FF2B5EF4-FFF2-40B4-BE49-F238E27FC236}">
                  <a16:creationId xmlns:a16="http://schemas.microsoft.com/office/drawing/2014/main" id="{FF0721CF-7AE4-BE47-BAFA-A17F6AB365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7" y="2496"/>
              <a:ext cx="224" cy="2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r" eaLnBrk="1" hangingPunct="1">
                <a:defRPr/>
              </a:pPr>
              <a:r>
                <a:rPr lang="en-US" sz="1602" b="0"/>
                <a:t>b</a:t>
              </a:r>
              <a:r>
                <a:rPr lang="en-US" sz="1602" b="0" baseline="-25000"/>
                <a:t>0</a:t>
              </a:r>
            </a:p>
          </p:txBody>
        </p:sp>
        <p:sp>
          <p:nvSpPr>
            <p:cNvPr id="299033" name="Rectangle 25">
              <a:extLst>
                <a:ext uri="{FF2B5EF4-FFF2-40B4-BE49-F238E27FC236}">
                  <a16:creationId xmlns:a16="http://schemas.microsoft.com/office/drawing/2014/main" id="{4CDCF8AC-98FA-C24B-BE63-18DFBB1D53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2496"/>
              <a:ext cx="624" cy="480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r>
                <a:rPr lang="en-US" sz="1602" b="0"/>
                <a:t>Bit equal</a:t>
              </a:r>
            </a:p>
          </p:txBody>
        </p:sp>
        <p:sp>
          <p:nvSpPr>
            <p:cNvPr id="299034" name="Line 26">
              <a:extLst>
                <a:ext uri="{FF2B5EF4-FFF2-40B4-BE49-F238E27FC236}">
                  <a16:creationId xmlns:a16="http://schemas.microsoft.com/office/drawing/2014/main" id="{7E00CCC6-9D4C-4740-BF1C-7B24DFD612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4" y="2592"/>
              <a:ext cx="195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299035" name="Line 27">
              <a:extLst>
                <a:ext uri="{FF2B5EF4-FFF2-40B4-BE49-F238E27FC236}">
                  <a16:creationId xmlns:a16="http://schemas.microsoft.com/office/drawing/2014/main" id="{25838198-76B2-F54F-8243-A538C81F367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44" y="2880"/>
              <a:ext cx="19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299036" name="Text Box 28">
              <a:extLst>
                <a:ext uri="{FF2B5EF4-FFF2-40B4-BE49-F238E27FC236}">
                  <a16:creationId xmlns:a16="http://schemas.microsoft.com/office/drawing/2014/main" id="{3FA57B6E-2529-514D-8EA3-9B4403DE95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24" y="2784"/>
              <a:ext cx="217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r" eaLnBrk="1" hangingPunct="1">
                <a:defRPr/>
              </a:pPr>
              <a:r>
                <a:rPr lang="en-US" sz="1602" b="0"/>
                <a:t>a</a:t>
              </a:r>
              <a:r>
                <a:rPr lang="en-US" sz="1602" b="0" baseline="-25000"/>
                <a:t>0</a:t>
              </a:r>
            </a:p>
          </p:txBody>
        </p:sp>
        <p:sp>
          <p:nvSpPr>
            <p:cNvPr id="299037" name="Rectangle 29">
              <a:extLst>
                <a:ext uri="{FF2B5EF4-FFF2-40B4-BE49-F238E27FC236}">
                  <a16:creationId xmlns:a16="http://schemas.microsoft.com/office/drawing/2014/main" id="{6C7A42DD-5695-3D46-89AC-A3E1B2CA18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0" y="2496"/>
              <a:ext cx="374" cy="2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sz="1602" b="0"/>
                <a:t>eq</a:t>
              </a:r>
              <a:r>
                <a:rPr lang="en-US" sz="1602" b="0" baseline="-25000"/>
                <a:t>0</a:t>
              </a:r>
            </a:p>
          </p:txBody>
        </p:sp>
        <p:grpSp>
          <p:nvGrpSpPr>
            <p:cNvPr id="21543" name="Group 30">
              <a:extLst>
                <a:ext uri="{FF2B5EF4-FFF2-40B4-BE49-F238E27FC236}">
                  <a16:creationId xmlns:a16="http://schemas.microsoft.com/office/drawing/2014/main" id="{3FC2FE09-2DC9-FE4D-9F63-8D4092A7E3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76" y="1488"/>
              <a:ext cx="96" cy="384"/>
              <a:chOff x="1776" y="1440"/>
              <a:chExt cx="96" cy="384"/>
            </a:xfrm>
          </p:grpSpPr>
          <p:grpSp>
            <p:nvGrpSpPr>
              <p:cNvPr id="21562" name="Group 31">
                <a:extLst>
                  <a:ext uri="{FF2B5EF4-FFF2-40B4-BE49-F238E27FC236}">
                    <a16:creationId xmlns:a16="http://schemas.microsoft.com/office/drawing/2014/main" id="{1F5AB60E-4CB1-BD48-9540-099B38575BE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76" y="1440"/>
                <a:ext cx="96" cy="96"/>
                <a:chOff x="240" y="4176"/>
                <a:chExt cx="192" cy="192"/>
              </a:xfrm>
            </p:grpSpPr>
            <p:sp>
              <p:nvSpPr>
                <p:cNvPr id="299040" name="Oval 32">
                  <a:extLst>
                    <a:ext uri="{FF2B5EF4-FFF2-40B4-BE49-F238E27FC236}">
                      <a16:creationId xmlns:a16="http://schemas.microsoft.com/office/drawing/2014/main" id="{3C156A7C-C8E0-DC4E-A8D1-B7F81B76E33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" y="4231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2403"/>
                </a:p>
              </p:txBody>
            </p:sp>
            <p:sp>
              <p:nvSpPr>
                <p:cNvPr id="299041" name="Rectangle 33">
                  <a:extLst>
                    <a:ext uri="{FF2B5EF4-FFF2-40B4-BE49-F238E27FC236}">
                      <a16:creationId xmlns:a16="http://schemas.microsoft.com/office/drawing/2014/main" id="{E42CF3F0-FED5-8449-9D32-B4C778BAE09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0" y="4183"/>
                  <a:ext cx="192" cy="19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2403"/>
                </a:p>
              </p:txBody>
            </p:sp>
          </p:grpSp>
          <p:grpSp>
            <p:nvGrpSpPr>
              <p:cNvPr id="21563" name="Group 34">
                <a:extLst>
                  <a:ext uri="{FF2B5EF4-FFF2-40B4-BE49-F238E27FC236}">
                    <a16:creationId xmlns:a16="http://schemas.microsoft.com/office/drawing/2014/main" id="{0BA7A9FF-5F3D-8E45-A5DC-8827E0BF3E5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76" y="1584"/>
                <a:ext cx="96" cy="96"/>
                <a:chOff x="240" y="4176"/>
                <a:chExt cx="192" cy="192"/>
              </a:xfrm>
            </p:grpSpPr>
            <p:sp>
              <p:nvSpPr>
                <p:cNvPr id="299043" name="Oval 35">
                  <a:extLst>
                    <a:ext uri="{FF2B5EF4-FFF2-40B4-BE49-F238E27FC236}">
                      <a16:creationId xmlns:a16="http://schemas.microsoft.com/office/drawing/2014/main" id="{8CC5D0A8-DD4F-0B4B-A71D-179B5D73C7B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" y="4224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2403"/>
                </a:p>
              </p:txBody>
            </p:sp>
            <p:sp>
              <p:nvSpPr>
                <p:cNvPr id="299044" name="Rectangle 36">
                  <a:extLst>
                    <a:ext uri="{FF2B5EF4-FFF2-40B4-BE49-F238E27FC236}">
                      <a16:creationId xmlns:a16="http://schemas.microsoft.com/office/drawing/2014/main" id="{56875816-89E3-2343-A320-336756D0CA7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0" y="4176"/>
                  <a:ext cx="192" cy="19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2403"/>
                </a:p>
              </p:txBody>
            </p:sp>
          </p:grpSp>
          <p:grpSp>
            <p:nvGrpSpPr>
              <p:cNvPr id="21564" name="Group 37">
                <a:extLst>
                  <a:ext uri="{FF2B5EF4-FFF2-40B4-BE49-F238E27FC236}">
                    <a16:creationId xmlns:a16="http://schemas.microsoft.com/office/drawing/2014/main" id="{098CB697-39E4-8A4D-AD25-DA613B11B9C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76" y="1728"/>
                <a:ext cx="96" cy="96"/>
                <a:chOff x="240" y="4176"/>
                <a:chExt cx="192" cy="192"/>
              </a:xfrm>
            </p:grpSpPr>
            <p:sp>
              <p:nvSpPr>
                <p:cNvPr id="299046" name="Oval 38">
                  <a:extLst>
                    <a:ext uri="{FF2B5EF4-FFF2-40B4-BE49-F238E27FC236}">
                      <a16:creationId xmlns:a16="http://schemas.microsoft.com/office/drawing/2014/main" id="{081EA0E0-7260-6D4B-9626-E67B828BA98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" y="4224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2403"/>
                </a:p>
              </p:txBody>
            </p:sp>
            <p:sp>
              <p:nvSpPr>
                <p:cNvPr id="299047" name="Rectangle 39">
                  <a:extLst>
                    <a:ext uri="{FF2B5EF4-FFF2-40B4-BE49-F238E27FC236}">
                      <a16:creationId xmlns:a16="http://schemas.microsoft.com/office/drawing/2014/main" id="{AE1AC3A4-8A3B-1B46-80D1-F9E2DC429AE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0" y="4176"/>
                  <a:ext cx="192" cy="19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2403"/>
                </a:p>
              </p:txBody>
            </p:sp>
          </p:grpSp>
        </p:grpSp>
        <p:sp>
          <p:nvSpPr>
            <p:cNvPr id="299048" name="Line 40">
              <a:extLst>
                <a:ext uri="{FF2B5EF4-FFF2-40B4-BE49-F238E27FC236}">
                  <a16:creationId xmlns:a16="http://schemas.microsoft.com/office/drawing/2014/main" id="{A8F97B6C-47C5-3C4C-976E-8BCFB241EA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9" y="1676"/>
              <a:ext cx="95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299049" name="Freeform 41">
              <a:extLst>
                <a:ext uri="{FF2B5EF4-FFF2-40B4-BE49-F238E27FC236}">
                  <a16:creationId xmlns:a16="http://schemas.microsoft.com/office/drawing/2014/main" id="{77109126-9DAD-0B49-8E1A-89633B04457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7" y="1536"/>
              <a:ext cx="378" cy="277"/>
            </a:xfrm>
            <a:custGeom>
              <a:avLst/>
              <a:gdLst/>
              <a:ahLst/>
              <a:cxnLst>
                <a:cxn ang="0">
                  <a:pos x="382" y="140"/>
                </a:cxn>
                <a:cxn ang="0">
                  <a:pos x="378" y="166"/>
                </a:cxn>
                <a:cxn ang="0">
                  <a:pos x="370" y="192"/>
                </a:cxn>
                <a:cxn ang="0">
                  <a:pos x="359" y="214"/>
                </a:cxn>
                <a:cxn ang="0">
                  <a:pos x="340" y="236"/>
                </a:cxn>
                <a:cxn ang="0">
                  <a:pos x="317" y="254"/>
                </a:cxn>
                <a:cxn ang="0">
                  <a:pos x="294" y="266"/>
                </a:cxn>
                <a:cxn ang="0">
                  <a:pos x="267" y="273"/>
                </a:cxn>
                <a:cxn ang="0">
                  <a:pos x="237" y="277"/>
                </a:cxn>
                <a:cxn ang="0">
                  <a:pos x="237" y="277"/>
                </a:cxn>
                <a:cxn ang="0">
                  <a:pos x="0" y="277"/>
                </a:cxn>
                <a:cxn ang="0">
                  <a:pos x="0" y="277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237" y="0"/>
                </a:cxn>
                <a:cxn ang="0">
                  <a:pos x="237" y="0"/>
                </a:cxn>
                <a:cxn ang="0">
                  <a:pos x="267" y="3"/>
                </a:cxn>
                <a:cxn ang="0">
                  <a:pos x="294" y="11"/>
                </a:cxn>
                <a:cxn ang="0">
                  <a:pos x="317" y="22"/>
                </a:cxn>
                <a:cxn ang="0">
                  <a:pos x="340" y="40"/>
                </a:cxn>
                <a:cxn ang="0">
                  <a:pos x="359" y="62"/>
                </a:cxn>
                <a:cxn ang="0">
                  <a:pos x="370" y="85"/>
                </a:cxn>
                <a:cxn ang="0">
                  <a:pos x="378" y="110"/>
                </a:cxn>
                <a:cxn ang="0">
                  <a:pos x="382" y="140"/>
                </a:cxn>
              </a:cxnLst>
              <a:rect l="0" t="0" r="r" b="b"/>
              <a:pathLst>
                <a:path w="382" h="277">
                  <a:moveTo>
                    <a:pt x="382" y="140"/>
                  </a:moveTo>
                  <a:lnTo>
                    <a:pt x="378" y="166"/>
                  </a:lnTo>
                  <a:lnTo>
                    <a:pt x="370" y="192"/>
                  </a:lnTo>
                  <a:lnTo>
                    <a:pt x="359" y="214"/>
                  </a:lnTo>
                  <a:lnTo>
                    <a:pt x="340" y="236"/>
                  </a:lnTo>
                  <a:lnTo>
                    <a:pt x="317" y="254"/>
                  </a:lnTo>
                  <a:lnTo>
                    <a:pt x="294" y="266"/>
                  </a:lnTo>
                  <a:lnTo>
                    <a:pt x="267" y="273"/>
                  </a:lnTo>
                  <a:lnTo>
                    <a:pt x="237" y="277"/>
                  </a:lnTo>
                  <a:lnTo>
                    <a:pt x="237" y="277"/>
                  </a:lnTo>
                  <a:lnTo>
                    <a:pt x="0" y="277"/>
                  </a:lnTo>
                  <a:lnTo>
                    <a:pt x="0" y="277"/>
                  </a:lnTo>
                  <a:lnTo>
                    <a:pt x="0" y="0"/>
                  </a:lnTo>
                  <a:lnTo>
                    <a:pt x="0" y="0"/>
                  </a:lnTo>
                  <a:lnTo>
                    <a:pt x="237" y="0"/>
                  </a:lnTo>
                  <a:lnTo>
                    <a:pt x="237" y="0"/>
                  </a:lnTo>
                  <a:lnTo>
                    <a:pt x="267" y="3"/>
                  </a:lnTo>
                  <a:lnTo>
                    <a:pt x="294" y="11"/>
                  </a:lnTo>
                  <a:lnTo>
                    <a:pt x="317" y="22"/>
                  </a:lnTo>
                  <a:lnTo>
                    <a:pt x="340" y="40"/>
                  </a:lnTo>
                  <a:lnTo>
                    <a:pt x="359" y="62"/>
                  </a:lnTo>
                  <a:lnTo>
                    <a:pt x="370" y="85"/>
                  </a:lnTo>
                  <a:lnTo>
                    <a:pt x="378" y="110"/>
                  </a:lnTo>
                  <a:lnTo>
                    <a:pt x="382" y="140"/>
                  </a:lnTo>
                  <a:close/>
                </a:path>
              </a:pathLst>
            </a:custGeom>
            <a:solidFill>
              <a:srgbClr val="CCEC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299050" name="Freeform 42">
              <a:extLst>
                <a:ext uri="{FF2B5EF4-FFF2-40B4-BE49-F238E27FC236}">
                  <a16:creationId xmlns:a16="http://schemas.microsoft.com/office/drawing/2014/main" id="{D19C4798-6C9E-454F-AF50-F49FF65D7E0F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7" y="1536"/>
              <a:ext cx="378" cy="277"/>
            </a:xfrm>
            <a:custGeom>
              <a:avLst/>
              <a:gdLst/>
              <a:ahLst/>
              <a:cxnLst>
                <a:cxn ang="0">
                  <a:pos x="382" y="140"/>
                </a:cxn>
                <a:cxn ang="0">
                  <a:pos x="378" y="166"/>
                </a:cxn>
                <a:cxn ang="0">
                  <a:pos x="370" y="192"/>
                </a:cxn>
                <a:cxn ang="0">
                  <a:pos x="359" y="214"/>
                </a:cxn>
                <a:cxn ang="0">
                  <a:pos x="340" y="236"/>
                </a:cxn>
                <a:cxn ang="0">
                  <a:pos x="317" y="254"/>
                </a:cxn>
                <a:cxn ang="0">
                  <a:pos x="294" y="266"/>
                </a:cxn>
                <a:cxn ang="0">
                  <a:pos x="267" y="273"/>
                </a:cxn>
                <a:cxn ang="0">
                  <a:pos x="237" y="277"/>
                </a:cxn>
                <a:cxn ang="0">
                  <a:pos x="237" y="277"/>
                </a:cxn>
                <a:cxn ang="0">
                  <a:pos x="0" y="277"/>
                </a:cxn>
                <a:cxn ang="0">
                  <a:pos x="0" y="277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237" y="0"/>
                </a:cxn>
                <a:cxn ang="0">
                  <a:pos x="237" y="0"/>
                </a:cxn>
                <a:cxn ang="0">
                  <a:pos x="267" y="3"/>
                </a:cxn>
                <a:cxn ang="0">
                  <a:pos x="294" y="11"/>
                </a:cxn>
                <a:cxn ang="0">
                  <a:pos x="317" y="22"/>
                </a:cxn>
                <a:cxn ang="0">
                  <a:pos x="340" y="40"/>
                </a:cxn>
                <a:cxn ang="0">
                  <a:pos x="359" y="62"/>
                </a:cxn>
                <a:cxn ang="0">
                  <a:pos x="370" y="85"/>
                </a:cxn>
                <a:cxn ang="0">
                  <a:pos x="378" y="110"/>
                </a:cxn>
                <a:cxn ang="0">
                  <a:pos x="382" y="140"/>
                </a:cxn>
              </a:cxnLst>
              <a:rect l="0" t="0" r="r" b="b"/>
              <a:pathLst>
                <a:path w="382" h="277">
                  <a:moveTo>
                    <a:pt x="382" y="140"/>
                  </a:moveTo>
                  <a:lnTo>
                    <a:pt x="378" y="166"/>
                  </a:lnTo>
                  <a:lnTo>
                    <a:pt x="370" y="192"/>
                  </a:lnTo>
                  <a:lnTo>
                    <a:pt x="359" y="214"/>
                  </a:lnTo>
                  <a:lnTo>
                    <a:pt x="340" y="236"/>
                  </a:lnTo>
                  <a:lnTo>
                    <a:pt x="317" y="254"/>
                  </a:lnTo>
                  <a:lnTo>
                    <a:pt x="294" y="266"/>
                  </a:lnTo>
                  <a:lnTo>
                    <a:pt x="267" y="273"/>
                  </a:lnTo>
                  <a:lnTo>
                    <a:pt x="237" y="277"/>
                  </a:lnTo>
                  <a:lnTo>
                    <a:pt x="237" y="277"/>
                  </a:lnTo>
                  <a:lnTo>
                    <a:pt x="0" y="277"/>
                  </a:lnTo>
                  <a:lnTo>
                    <a:pt x="0" y="277"/>
                  </a:lnTo>
                  <a:lnTo>
                    <a:pt x="0" y="0"/>
                  </a:lnTo>
                  <a:lnTo>
                    <a:pt x="0" y="0"/>
                  </a:lnTo>
                  <a:lnTo>
                    <a:pt x="237" y="0"/>
                  </a:lnTo>
                  <a:lnTo>
                    <a:pt x="237" y="0"/>
                  </a:lnTo>
                  <a:lnTo>
                    <a:pt x="267" y="3"/>
                  </a:lnTo>
                  <a:lnTo>
                    <a:pt x="294" y="11"/>
                  </a:lnTo>
                  <a:lnTo>
                    <a:pt x="317" y="22"/>
                  </a:lnTo>
                  <a:lnTo>
                    <a:pt x="340" y="40"/>
                  </a:lnTo>
                  <a:lnTo>
                    <a:pt x="359" y="62"/>
                  </a:lnTo>
                  <a:lnTo>
                    <a:pt x="370" y="85"/>
                  </a:lnTo>
                  <a:lnTo>
                    <a:pt x="378" y="110"/>
                  </a:lnTo>
                  <a:lnTo>
                    <a:pt x="382" y="14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299051" name="Freeform 43">
              <a:extLst>
                <a:ext uri="{FF2B5EF4-FFF2-40B4-BE49-F238E27FC236}">
                  <a16:creationId xmlns:a16="http://schemas.microsoft.com/office/drawing/2014/main" id="{C8DD94E3-82DF-C846-BD42-C339BAF406C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0" y="624"/>
              <a:ext cx="528" cy="96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32" y="0"/>
                </a:cxn>
                <a:cxn ang="0">
                  <a:pos x="432" y="960"/>
                </a:cxn>
                <a:cxn ang="0">
                  <a:pos x="528" y="960"/>
                </a:cxn>
              </a:cxnLst>
              <a:rect l="0" t="0" r="r" b="b"/>
              <a:pathLst>
                <a:path w="528" h="960">
                  <a:moveTo>
                    <a:pt x="0" y="0"/>
                  </a:moveTo>
                  <a:lnTo>
                    <a:pt x="432" y="0"/>
                  </a:lnTo>
                  <a:lnTo>
                    <a:pt x="432" y="960"/>
                  </a:lnTo>
                  <a:lnTo>
                    <a:pt x="528" y="96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299052" name="Freeform 44">
              <a:extLst>
                <a:ext uri="{FF2B5EF4-FFF2-40B4-BE49-F238E27FC236}">
                  <a16:creationId xmlns:a16="http://schemas.microsoft.com/office/drawing/2014/main" id="{5D37DA4B-325F-CE47-83F9-B48E7AED692E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160" y="624"/>
              <a:ext cx="864" cy="964"/>
            </a:xfrm>
            <a:custGeom>
              <a:avLst/>
              <a:gdLst/>
              <a:ahLst/>
              <a:cxnLst>
                <a:cxn ang="0">
                  <a:pos x="0" y="960"/>
                </a:cxn>
                <a:cxn ang="0">
                  <a:pos x="672" y="960"/>
                </a:cxn>
                <a:cxn ang="0">
                  <a:pos x="672" y="0"/>
                </a:cxn>
                <a:cxn ang="0">
                  <a:pos x="864" y="0"/>
                </a:cxn>
              </a:cxnLst>
              <a:rect l="0" t="0" r="r" b="b"/>
              <a:pathLst>
                <a:path w="864" h="960">
                  <a:moveTo>
                    <a:pt x="0" y="960"/>
                  </a:moveTo>
                  <a:lnTo>
                    <a:pt x="672" y="960"/>
                  </a:lnTo>
                  <a:lnTo>
                    <a:pt x="672" y="0"/>
                  </a:lnTo>
                  <a:lnTo>
                    <a:pt x="864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299053" name="Freeform 45">
              <a:extLst>
                <a:ext uri="{FF2B5EF4-FFF2-40B4-BE49-F238E27FC236}">
                  <a16:creationId xmlns:a16="http://schemas.microsoft.com/office/drawing/2014/main" id="{C8E9614C-C8FB-C643-8BC1-50022E5B1D7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0" y="1104"/>
              <a:ext cx="864" cy="52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76" y="0"/>
                </a:cxn>
                <a:cxn ang="0">
                  <a:pos x="576" y="528"/>
                </a:cxn>
                <a:cxn ang="0">
                  <a:pos x="864" y="528"/>
                </a:cxn>
              </a:cxnLst>
              <a:rect l="0" t="0" r="r" b="b"/>
              <a:pathLst>
                <a:path w="864" h="528">
                  <a:moveTo>
                    <a:pt x="0" y="0"/>
                  </a:moveTo>
                  <a:lnTo>
                    <a:pt x="576" y="0"/>
                  </a:lnTo>
                  <a:lnTo>
                    <a:pt x="576" y="528"/>
                  </a:lnTo>
                  <a:lnTo>
                    <a:pt x="864" y="528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299054" name="Freeform 46">
              <a:extLst>
                <a:ext uri="{FF2B5EF4-FFF2-40B4-BE49-F238E27FC236}">
                  <a16:creationId xmlns:a16="http://schemas.microsoft.com/office/drawing/2014/main" id="{DBFC983D-34B9-B045-83FB-3D79171B241C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160" y="1728"/>
              <a:ext cx="864" cy="52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76" y="0"/>
                </a:cxn>
                <a:cxn ang="0">
                  <a:pos x="576" y="528"/>
                </a:cxn>
                <a:cxn ang="0">
                  <a:pos x="864" y="528"/>
                </a:cxn>
              </a:cxnLst>
              <a:rect l="0" t="0" r="r" b="b"/>
              <a:pathLst>
                <a:path w="864" h="528">
                  <a:moveTo>
                    <a:pt x="0" y="0"/>
                  </a:moveTo>
                  <a:lnTo>
                    <a:pt x="576" y="0"/>
                  </a:lnTo>
                  <a:lnTo>
                    <a:pt x="576" y="528"/>
                  </a:lnTo>
                  <a:lnTo>
                    <a:pt x="864" y="528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grpSp>
          <p:nvGrpSpPr>
            <p:cNvPr id="21551" name="Group 47">
              <a:extLst>
                <a:ext uri="{FF2B5EF4-FFF2-40B4-BE49-F238E27FC236}">
                  <a16:creationId xmlns:a16="http://schemas.microsoft.com/office/drawing/2014/main" id="{CFFC282B-F59C-8649-9F89-3ECAD2ABAD8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44" y="1488"/>
              <a:ext cx="96" cy="384"/>
              <a:chOff x="1776" y="1440"/>
              <a:chExt cx="96" cy="384"/>
            </a:xfrm>
          </p:grpSpPr>
          <p:grpSp>
            <p:nvGrpSpPr>
              <p:cNvPr id="21553" name="Group 48">
                <a:extLst>
                  <a:ext uri="{FF2B5EF4-FFF2-40B4-BE49-F238E27FC236}">
                    <a16:creationId xmlns:a16="http://schemas.microsoft.com/office/drawing/2014/main" id="{E651B952-45B3-A744-AB92-002E0E71388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76" y="1440"/>
                <a:ext cx="96" cy="96"/>
                <a:chOff x="240" y="4176"/>
                <a:chExt cx="192" cy="192"/>
              </a:xfrm>
            </p:grpSpPr>
            <p:sp>
              <p:nvSpPr>
                <p:cNvPr id="299057" name="Oval 49">
                  <a:extLst>
                    <a:ext uri="{FF2B5EF4-FFF2-40B4-BE49-F238E27FC236}">
                      <a16:creationId xmlns:a16="http://schemas.microsoft.com/office/drawing/2014/main" id="{DA8C8550-BE17-5243-9620-10F757E8006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" y="4231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2403"/>
                </a:p>
              </p:txBody>
            </p:sp>
            <p:sp>
              <p:nvSpPr>
                <p:cNvPr id="299058" name="Rectangle 50">
                  <a:extLst>
                    <a:ext uri="{FF2B5EF4-FFF2-40B4-BE49-F238E27FC236}">
                      <a16:creationId xmlns:a16="http://schemas.microsoft.com/office/drawing/2014/main" id="{E22E4991-068A-544F-BDB4-5ADF522B425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0" y="4183"/>
                  <a:ext cx="192" cy="19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2403"/>
                </a:p>
              </p:txBody>
            </p:sp>
          </p:grpSp>
          <p:grpSp>
            <p:nvGrpSpPr>
              <p:cNvPr id="21554" name="Group 51">
                <a:extLst>
                  <a:ext uri="{FF2B5EF4-FFF2-40B4-BE49-F238E27FC236}">
                    <a16:creationId xmlns:a16="http://schemas.microsoft.com/office/drawing/2014/main" id="{11648582-D441-FA4B-BE4A-286F1BE0FAA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76" y="1584"/>
                <a:ext cx="96" cy="96"/>
                <a:chOff x="240" y="4176"/>
                <a:chExt cx="192" cy="192"/>
              </a:xfrm>
            </p:grpSpPr>
            <p:sp>
              <p:nvSpPr>
                <p:cNvPr id="299060" name="Oval 52">
                  <a:extLst>
                    <a:ext uri="{FF2B5EF4-FFF2-40B4-BE49-F238E27FC236}">
                      <a16:creationId xmlns:a16="http://schemas.microsoft.com/office/drawing/2014/main" id="{27DC1B40-5235-A44F-964D-0271A59BEC9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" y="4224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2403"/>
                </a:p>
              </p:txBody>
            </p:sp>
            <p:sp>
              <p:nvSpPr>
                <p:cNvPr id="299061" name="Rectangle 53">
                  <a:extLst>
                    <a:ext uri="{FF2B5EF4-FFF2-40B4-BE49-F238E27FC236}">
                      <a16:creationId xmlns:a16="http://schemas.microsoft.com/office/drawing/2014/main" id="{B138EA1B-086B-7A4D-A92D-10EF4C1C8A5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0" y="4176"/>
                  <a:ext cx="192" cy="19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2403"/>
                </a:p>
              </p:txBody>
            </p:sp>
          </p:grpSp>
          <p:grpSp>
            <p:nvGrpSpPr>
              <p:cNvPr id="21555" name="Group 54">
                <a:extLst>
                  <a:ext uri="{FF2B5EF4-FFF2-40B4-BE49-F238E27FC236}">
                    <a16:creationId xmlns:a16="http://schemas.microsoft.com/office/drawing/2014/main" id="{59EDB270-C226-F547-83A2-654FE60864D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76" y="1728"/>
                <a:ext cx="96" cy="96"/>
                <a:chOff x="240" y="4176"/>
                <a:chExt cx="192" cy="192"/>
              </a:xfrm>
            </p:grpSpPr>
            <p:sp>
              <p:nvSpPr>
                <p:cNvPr id="299063" name="Oval 55">
                  <a:extLst>
                    <a:ext uri="{FF2B5EF4-FFF2-40B4-BE49-F238E27FC236}">
                      <a16:creationId xmlns:a16="http://schemas.microsoft.com/office/drawing/2014/main" id="{7731F05D-417D-A549-90AC-5695E7E0174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" y="4224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2403"/>
                </a:p>
              </p:txBody>
            </p:sp>
            <p:sp>
              <p:nvSpPr>
                <p:cNvPr id="299064" name="Rectangle 56">
                  <a:extLst>
                    <a:ext uri="{FF2B5EF4-FFF2-40B4-BE49-F238E27FC236}">
                      <a16:creationId xmlns:a16="http://schemas.microsoft.com/office/drawing/2014/main" id="{0E43514C-4DC3-014F-9BAF-AABA2A7ABEA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0" y="4176"/>
                  <a:ext cx="192" cy="19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2403"/>
                </a:p>
              </p:txBody>
            </p:sp>
          </p:grpSp>
        </p:grpSp>
        <p:sp>
          <p:nvSpPr>
            <p:cNvPr id="299065" name="Rectangle 57">
              <a:extLst>
                <a:ext uri="{FF2B5EF4-FFF2-40B4-BE49-F238E27FC236}">
                  <a16:creationId xmlns:a16="http://schemas.microsoft.com/office/drawing/2014/main" id="{E41209EA-1A0C-084A-9263-0C006BFAD1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2" y="1584"/>
              <a:ext cx="378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sz="1602" b="0"/>
                <a:t>Eq</a:t>
              </a:r>
              <a:endParaRPr lang="en-US" sz="1602" b="0" baseline="-25000"/>
            </a:p>
          </p:txBody>
        </p:sp>
      </p:grpSp>
      <p:grpSp>
        <p:nvGrpSpPr>
          <p:cNvPr id="21507" name="Group 58">
            <a:extLst>
              <a:ext uri="{FF2B5EF4-FFF2-40B4-BE49-F238E27FC236}">
                <a16:creationId xmlns:a16="http://schemas.microsoft.com/office/drawing/2014/main" id="{8D219FF2-FC3C-7749-B7AD-021C141137C3}"/>
              </a:ext>
            </a:extLst>
          </p:cNvPr>
          <p:cNvGrpSpPr>
            <a:grpSpLocks/>
          </p:cNvGrpSpPr>
          <p:nvPr/>
        </p:nvGrpSpPr>
        <p:grpSpPr bwMode="auto">
          <a:xfrm>
            <a:off x="5341938" y="1527175"/>
            <a:ext cx="2678112" cy="1125538"/>
            <a:chOff x="3926" y="1800"/>
            <a:chExt cx="1685" cy="708"/>
          </a:xfrm>
        </p:grpSpPr>
        <p:sp>
          <p:nvSpPr>
            <p:cNvPr id="299067" name="Rectangle 59">
              <a:extLst>
                <a:ext uri="{FF2B5EF4-FFF2-40B4-BE49-F238E27FC236}">
                  <a16:creationId xmlns:a16="http://schemas.microsoft.com/office/drawing/2014/main" id="{C9341C1C-35E3-134F-B0A8-CD5AE1C803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1824"/>
              <a:ext cx="716" cy="576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lIns="91557" tIns="45779" rIns="91557" bIns="45779" anchor="ctr"/>
            <a:lstStyle/>
            <a:p>
              <a:pPr eaLnBrk="1" hangingPunct="1">
                <a:defRPr/>
              </a:pPr>
              <a:r>
                <a:rPr lang="en-US" sz="2403" b="0"/>
                <a:t>=</a:t>
              </a:r>
            </a:p>
          </p:txBody>
        </p:sp>
        <p:sp>
          <p:nvSpPr>
            <p:cNvPr id="299068" name="Line 60">
              <a:extLst>
                <a:ext uri="{FF2B5EF4-FFF2-40B4-BE49-F238E27FC236}">
                  <a16:creationId xmlns:a16="http://schemas.microsoft.com/office/drawing/2014/main" id="{4CBB2AB5-2528-174A-BC99-C3DF1CE57E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8" y="1920"/>
              <a:ext cx="2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299069" name="Line 61">
              <a:extLst>
                <a:ext uri="{FF2B5EF4-FFF2-40B4-BE49-F238E27FC236}">
                  <a16:creationId xmlns:a16="http://schemas.microsoft.com/office/drawing/2014/main" id="{533C8BE5-B29D-A248-8025-8074B5C005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8" y="2304"/>
              <a:ext cx="2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299070" name="Line 62">
              <a:extLst>
                <a:ext uri="{FF2B5EF4-FFF2-40B4-BE49-F238E27FC236}">
                  <a16:creationId xmlns:a16="http://schemas.microsoft.com/office/drawing/2014/main" id="{418C679C-83A7-E64C-86AC-D8F12EBA50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36" y="2112"/>
              <a:ext cx="2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299071" name="Text Box 63">
              <a:extLst>
                <a:ext uri="{FF2B5EF4-FFF2-40B4-BE49-F238E27FC236}">
                  <a16:creationId xmlns:a16="http://schemas.microsoft.com/office/drawing/2014/main" id="{6DEBF5FE-8855-9A4F-8AA1-34A5E06865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6" y="1800"/>
              <a:ext cx="24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sz="2403" b="0"/>
                <a:t>B</a:t>
              </a:r>
            </a:p>
          </p:txBody>
        </p:sp>
        <p:sp>
          <p:nvSpPr>
            <p:cNvPr id="299072" name="Text Box 64">
              <a:extLst>
                <a:ext uri="{FF2B5EF4-FFF2-40B4-BE49-F238E27FC236}">
                  <a16:creationId xmlns:a16="http://schemas.microsoft.com/office/drawing/2014/main" id="{6AE7DE3B-2F9B-914E-B47D-EFCC10C3FB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2217"/>
              <a:ext cx="257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sz="2403" b="0"/>
                <a:t>A</a:t>
              </a:r>
            </a:p>
          </p:txBody>
        </p:sp>
        <p:sp>
          <p:nvSpPr>
            <p:cNvPr id="299073" name="Text Box 65">
              <a:extLst>
                <a:ext uri="{FF2B5EF4-FFF2-40B4-BE49-F238E27FC236}">
                  <a16:creationId xmlns:a16="http://schemas.microsoft.com/office/drawing/2014/main" id="{E1AD7A80-F42A-6944-8A79-F3257DC2C5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0" y="1872"/>
              <a:ext cx="331" cy="29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sz="2403" b="0"/>
                <a:t>Eq</a:t>
              </a:r>
            </a:p>
          </p:txBody>
        </p:sp>
      </p:grpSp>
      <p:sp>
        <p:nvSpPr>
          <p:cNvPr id="299074" name="Text Box 66">
            <a:extLst>
              <a:ext uri="{FF2B5EF4-FFF2-40B4-BE49-F238E27FC236}">
                <a16:creationId xmlns:a16="http://schemas.microsoft.com/office/drawing/2014/main" id="{D953253B-EB98-1841-8B5D-1BDD99C927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6975" y="1179513"/>
            <a:ext cx="3741738" cy="461962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wrap="none" lIns="45784" rIns="45784">
            <a:spAutoFit/>
          </a:bodyPr>
          <a:lstStyle/>
          <a:p>
            <a:pPr>
              <a:defRPr/>
            </a:pPr>
            <a:r>
              <a:rPr lang="en-US" sz="2403"/>
              <a:t>Word-Level Representation</a:t>
            </a:r>
          </a:p>
        </p:txBody>
      </p:sp>
      <p:sp>
        <p:nvSpPr>
          <p:cNvPr id="299075" name="Text Box 67">
            <a:extLst>
              <a:ext uri="{FF2B5EF4-FFF2-40B4-BE49-F238E27FC236}">
                <a16:creationId xmlns:a16="http://schemas.microsoft.com/office/drawing/2014/main" id="{6B8C9977-F953-8B42-94A5-C78C7E3FAC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1625" y="3435350"/>
            <a:ext cx="3414713" cy="463550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wrap="none" lIns="45784" rIns="45784">
            <a:spAutoFit/>
          </a:bodyPr>
          <a:lstStyle/>
          <a:p>
            <a:pPr>
              <a:defRPr/>
            </a:pPr>
            <a:r>
              <a:rPr lang="en-US" sz="2403">
                <a:latin typeface="Courier New" pitchFamily="49" charset="0"/>
              </a:rPr>
              <a:t>bool Eq = (A == B)</a:t>
            </a:r>
          </a:p>
        </p:txBody>
      </p:sp>
      <p:sp>
        <p:nvSpPr>
          <p:cNvPr id="299076" name="Text Box 68">
            <a:extLst>
              <a:ext uri="{FF2B5EF4-FFF2-40B4-BE49-F238E27FC236}">
                <a16:creationId xmlns:a16="http://schemas.microsoft.com/office/drawing/2014/main" id="{A0CCFD0E-84E1-2442-A916-450A24D076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5300" y="2978150"/>
            <a:ext cx="2819400" cy="461963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wrap="none" lIns="45784" rIns="45784">
            <a:spAutoFit/>
          </a:bodyPr>
          <a:lstStyle/>
          <a:p>
            <a:pPr>
              <a:defRPr/>
            </a:pPr>
            <a:r>
              <a:rPr lang="en-US" sz="2403"/>
              <a:t>HCL Representation</a:t>
            </a:r>
          </a:p>
        </p:txBody>
      </p:sp>
    </p:spTree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>
            <a:extLst>
              <a:ext uri="{FF2B5EF4-FFF2-40B4-BE49-F238E27FC236}">
                <a16:creationId xmlns:a16="http://schemas.microsoft.com/office/drawing/2014/main" id="{9BA2F3C6-D4E7-E045-B477-7AFFC1374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Bit-Level Multiplexor</a:t>
            </a:r>
          </a:p>
        </p:txBody>
      </p:sp>
      <p:sp>
        <p:nvSpPr>
          <p:cNvPr id="22530" name="Rectangle 3">
            <a:extLst>
              <a:ext uri="{FF2B5EF4-FFF2-40B4-BE49-F238E27FC236}">
                <a16:creationId xmlns:a16="http://schemas.microsoft.com/office/drawing/2014/main" id="{45C0EF5D-18F7-8E44-ABF1-DABD176F11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4606" y="4103735"/>
            <a:ext cx="6110287" cy="2092325"/>
          </a:xfrm>
        </p:spPr>
        <p:txBody>
          <a:bodyPr/>
          <a:lstStyle/>
          <a:p>
            <a:pPr lvl="1"/>
            <a:r>
              <a:rPr lang="en-US" altLang="en-US" b="0" dirty="0">
                <a:latin typeface="Franklin Gothic Book" panose="020B0503020102020204" pitchFamily="34" charset="0"/>
              </a:rPr>
              <a:t>multiplexor (mux), selector </a:t>
            </a:r>
          </a:p>
          <a:p>
            <a:pPr lvl="2"/>
            <a:r>
              <a:rPr lang="en-US" altLang="en-US" dirty="0">
                <a:ea typeface="ＭＳ Ｐゴシック" panose="020B0600070205080204" pitchFamily="34" charset="-128"/>
              </a:rPr>
              <a:t>Control signal s</a:t>
            </a:r>
          </a:p>
          <a:p>
            <a:pPr lvl="2"/>
            <a:r>
              <a:rPr lang="en-US" altLang="en-US" dirty="0">
                <a:ea typeface="ＭＳ Ｐゴシック" panose="020B0600070205080204" pitchFamily="34" charset="-128"/>
              </a:rPr>
              <a:t>Data signals a and b</a:t>
            </a:r>
          </a:p>
          <a:p>
            <a:pPr lvl="2"/>
            <a:r>
              <a:rPr lang="en-US" altLang="en-US" dirty="0">
                <a:ea typeface="ＭＳ Ｐゴシック" panose="020B0600070205080204" pitchFamily="34" charset="-128"/>
              </a:rPr>
              <a:t>Output a when s=1, b when s=0</a:t>
            </a:r>
          </a:p>
        </p:txBody>
      </p:sp>
      <p:sp>
        <p:nvSpPr>
          <p:cNvPr id="300036" name="Rectangle 4">
            <a:extLst>
              <a:ext uri="{FF2B5EF4-FFF2-40B4-BE49-F238E27FC236}">
                <a16:creationId xmlns:a16="http://schemas.microsoft.com/office/drawing/2014/main" id="{F6E15662-2BC6-414A-A952-D2689FB748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0788" y="1603375"/>
            <a:ext cx="2824162" cy="2136775"/>
          </a:xfrm>
          <a:prstGeom prst="rect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Ctr="1"/>
          <a:lstStyle/>
          <a:p>
            <a:pPr eaLnBrk="1" hangingPunct="1">
              <a:defRPr/>
            </a:pPr>
            <a:r>
              <a:rPr lang="en-US" sz="2403" b="0"/>
              <a:t>Bit MUX</a:t>
            </a:r>
          </a:p>
        </p:txBody>
      </p:sp>
      <p:sp>
        <p:nvSpPr>
          <p:cNvPr id="300037" name="Freeform 5">
            <a:extLst>
              <a:ext uri="{FF2B5EF4-FFF2-40B4-BE49-F238E27FC236}">
                <a16:creationId xmlns:a16="http://schemas.microsoft.com/office/drawing/2014/main" id="{76F4B971-F899-E34A-9CC1-CCCD475FB460}"/>
              </a:ext>
            </a:extLst>
          </p:cNvPr>
          <p:cNvSpPr>
            <a:spLocks/>
          </p:cNvSpPr>
          <p:nvPr/>
        </p:nvSpPr>
        <p:spPr bwMode="auto">
          <a:xfrm flipV="1">
            <a:off x="2822575" y="2671763"/>
            <a:ext cx="534988" cy="152400"/>
          </a:xfrm>
          <a:custGeom>
            <a:avLst/>
            <a:gdLst/>
            <a:ahLst/>
            <a:cxnLst>
              <a:cxn ang="0">
                <a:pos x="0" y="96"/>
              </a:cxn>
              <a:cxn ang="0">
                <a:pos x="144" y="96"/>
              </a:cxn>
              <a:cxn ang="0">
                <a:pos x="144" y="0"/>
              </a:cxn>
              <a:cxn ang="0">
                <a:pos x="336" y="0"/>
              </a:cxn>
            </a:cxnLst>
            <a:rect l="0" t="0" r="r" b="b"/>
            <a:pathLst>
              <a:path w="336" h="96">
                <a:moveTo>
                  <a:pt x="0" y="96"/>
                </a:moveTo>
                <a:lnTo>
                  <a:pt x="144" y="96"/>
                </a:lnTo>
                <a:lnTo>
                  <a:pt x="144" y="0"/>
                </a:lnTo>
                <a:lnTo>
                  <a:pt x="336" y="0"/>
                </a:lnTo>
              </a:path>
            </a:pathLst>
          </a:custGeom>
          <a:noFill/>
          <a:ln w="19050" cmpd="sng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 sz="2403"/>
          </a:p>
        </p:txBody>
      </p:sp>
      <p:sp>
        <p:nvSpPr>
          <p:cNvPr id="300038" name="Freeform 6">
            <a:extLst>
              <a:ext uri="{FF2B5EF4-FFF2-40B4-BE49-F238E27FC236}">
                <a16:creationId xmlns:a16="http://schemas.microsoft.com/office/drawing/2014/main" id="{00DF22FF-927B-C64F-B200-CA4EF61D043A}"/>
              </a:ext>
            </a:extLst>
          </p:cNvPr>
          <p:cNvSpPr>
            <a:spLocks/>
          </p:cNvSpPr>
          <p:nvPr/>
        </p:nvSpPr>
        <p:spPr bwMode="auto">
          <a:xfrm>
            <a:off x="2822575" y="3130550"/>
            <a:ext cx="534988" cy="152400"/>
          </a:xfrm>
          <a:custGeom>
            <a:avLst/>
            <a:gdLst/>
            <a:ahLst/>
            <a:cxnLst>
              <a:cxn ang="0">
                <a:pos x="0" y="96"/>
              </a:cxn>
              <a:cxn ang="0">
                <a:pos x="144" y="96"/>
              </a:cxn>
              <a:cxn ang="0">
                <a:pos x="144" y="0"/>
              </a:cxn>
              <a:cxn ang="0">
                <a:pos x="336" y="0"/>
              </a:cxn>
            </a:cxnLst>
            <a:rect l="0" t="0" r="r" b="b"/>
            <a:pathLst>
              <a:path w="336" h="96">
                <a:moveTo>
                  <a:pt x="0" y="96"/>
                </a:moveTo>
                <a:lnTo>
                  <a:pt x="144" y="96"/>
                </a:lnTo>
                <a:lnTo>
                  <a:pt x="144" y="0"/>
                </a:lnTo>
                <a:lnTo>
                  <a:pt x="336" y="0"/>
                </a:lnTo>
              </a:path>
            </a:pathLst>
          </a:custGeom>
          <a:noFill/>
          <a:ln w="19050" cmpd="sng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 sz="2403"/>
          </a:p>
        </p:txBody>
      </p:sp>
      <p:sp>
        <p:nvSpPr>
          <p:cNvPr id="300039" name="Line 7">
            <a:extLst>
              <a:ext uri="{FF2B5EF4-FFF2-40B4-BE49-F238E27FC236}">
                <a16:creationId xmlns:a16="http://schemas.microsoft.com/office/drawing/2014/main" id="{E7898544-21E2-BC43-BC51-4BE17B4154F4}"/>
              </a:ext>
            </a:extLst>
          </p:cNvPr>
          <p:cNvSpPr>
            <a:spLocks noChangeShapeType="1"/>
          </p:cNvSpPr>
          <p:nvPr/>
        </p:nvSpPr>
        <p:spPr bwMode="auto">
          <a:xfrm>
            <a:off x="3879850" y="2971800"/>
            <a:ext cx="393700" cy="635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 sz="2403"/>
          </a:p>
        </p:txBody>
      </p:sp>
      <p:sp>
        <p:nvSpPr>
          <p:cNvPr id="300040" name="Freeform 8">
            <a:extLst>
              <a:ext uri="{FF2B5EF4-FFF2-40B4-BE49-F238E27FC236}">
                <a16:creationId xmlns:a16="http://schemas.microsoft.com/office/drawing/2014/main" id="{5BE1AD76-567D-B84F-A5DF-9BEB2165DDE7}"/>
              </a:ext>
            </a:extLst>
          </p:cNvPr>
          <p:cNvSpPr>
            <a:spLocks/>
          </p:cNvSpPr>
          <p:nvPr/>
        </p:nvSpPr>
        <p:spPr bwMode="auto">
          <a:xfrm>
            <a:off x="3278188" y="2747963"/>
            <a:ext cx="650875" cy="44132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90" y="0"/>
              </a:cxn>
              <a:cxn ang="0">
                <a:pos x="190" y="0"/>
              </a:cxn>
              <a:cxn ang="0">
                <a:pos x="227" y="3"/>
              </a:cxn>
              <a:cxn ang="0">
                <a:pos x="262" y="11"/>
              </a:cxn>
              <a:cxn ang="0">
                <a:pos x="292" y="22"/>
              </a:cxn>
              <a:cxn ang="0">
                <a:pos x="322" y="40"/>
              </a:cxn>
              <a:cxn ang="0">
                <a:pos x="372" y="81"/>
              </a:cxn>
              <a:cxn ang="0">
                <a:pos x="410" y="140"/>
              </a:cxn>
              <a:cxn ang="0">
                <a:pos x="410" y="140"/>
              </a:cxn>
              <a:cxn ang="0">
                <a:pos x="372" y="195"/>
              </a:cxn>
              <a:cxn ang="0">
                <a:pos x="322" y="240"/>
              </a:cxn>
              <a:cxn ang="0">
                <a:pos x="292" y="254"/>
              </a:cxn>
              <a:cxn ang="0">
                <a:pos x="262" y="266"/>
              </a:cxn>
              <a:cxn ang="0">
                <a:pos x="227" y="273"/>
              </a:cxn>
              <a:cxn ang="0">
                <a:pos x="190" y="277"/>
              </a:cxn>
              <a:cxn ang="0">
                <a:pos x="190" y="277"/>
              </a:cxn>
              <a:cxn ang="0">
                <a:pos x="0" y="277"/>
              </a:cxn>
              <a:cxn ang="0">
                <a:pos x="0" y="277"/>
              </a:cxn>
              <a:cxn ang="0">
                <a:pos x="0" y="277"/>
              </a:cxn>
              <a:cxn ang="0">
                <a:pos x="0" y="277"/>
              </a:cxn>
              <a:cxn ang="0">
                <a:pos x="22" y="247"/>
              </a:cxn>
              <a:cxn ang="0">
                <a:pos x="38" y="214"/>
              </a:cxn>
              <a:cxn ang="0">
                <a:pos x="45" y="177"/>
              </a:cxn>
              <a:cxn ang="0">
                <a:pos x="49" y="140"/>
              </a:cxn>
              <a:cxn ang="0">
                <a:pos x="49" y="140"/>
              </a:cxn>
              <a:cxn ang="0">
                <a:pos x="45" y="99"/>
              </a:cxn>
              <a:cxn ang="0">
                <a:pos x="38" y="66"/>
              </a:cxn>
              <a:cxn ang="0">
                <a:pos x="22" y="33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 w="410" h="277">
                <a:moveTo>
                  <a:pt x="0" y="0"/>
                </a:moveTo>
                <a:lnTo>
                  <a:pt x="190" y="0"/>
                </a:lnTo>
                <a:lnTo>
                  <a:pt x="190" y="0"/>
                </a:lnTo>
                <a:lnTo>
                  <a:pt x="227" y="3"/>
                </a:lnTo>
                <a:lnTo>
                  <a:pt x="262" y="11"/>
                </a:lnTo>
                <a:lnTo>
                  <a:pt x="292" y="22"/>
                </a:lnTo>
                <a:lnTo>
                  <a:pt x="322" y="40"/>
                </a:lnTo>
                <a:lnTo>
                  <a:pt x="372" y="81"/>
                </a:lnTo>
                <a:lnTo>
                  <a:pt x="410" y="140"/>
                </a:lnTo>
                <a:lnTo>
                  <a:pt x="410" y="140"/>
                </a:lnTo>
                <a:lnTo>
                  <a:pt x="372" y="195"/>
                </a:lnTo>
                <a:lnTo>
                  <a:pt x="322" y="240"/>
                </a:lnTo>
                <a:lnTo>
                  <a:pt x="292" y="254"/>
                </a:lnTo>
                <a:lnTo>
                  <a:pt x="262" y="266"/>
                </a:lnTo>
                <a:lnTo>
                  <a:pt x="227" y="273"/>
                </a:lnTo>
                <a:lnTo>
                  <a:pt x="190" y="277"/>
                </a:lnTo>
                <a:lnTo>
                  <a:pt x="190" y="277"/>
                </a:lnTo>
                <a:lnTo>
                  <a:pt x="0" y="277"/>
                </a:lnTo>
                <a:lnTo>
                  <a:pt x="0" y="277"/>
                </a:lnTo>
                <a:lnTo>
                  <a:pt x="0" y="277"/>
                </a:lnTo>
                <a:lnTo>
                  <a:pt x="0" y="277"/>
                </a:lnTo>
                <a:lnTo>
                  <a:pt x="22" y="247"/>
                </a:lnTo>
                <a:lnTo>
                  <a:pt x="38" y="214"/>
                </a:lnTo>
                <a:lnTo>
                  <a:pt x="45" y="177"/>
                </a:lnTo>
                <a:lnTo>
                  <a:pt x="49" y="140"/>
                </a:lnTo>
                <a:lnTo>
                  <a:pt x="49" y="140"/>
                </a:lnTo>
                <a:lnTo>
                  <a:pt x="45" y="99"/>
                </a:lnTo>
                <a:lnTo>
                  <a:pt x="38" y="66"/>
                </a:lnTo>
                <a:lnTo>
                  <a:pt x="22" y="33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 sz="2403"/>
          </a:p>
        </p:txBody>
      </p:sp>
      <p:sp>
        <p:nvSpPr>
          <p:cNvPr id="300041" name="Freeform 9">
            <a:extLst>
              <a:ext uri="{FF2B5EF4-FFF2-40B4-BE49-F238E27FC236}">
                <a16:creationId xmlns:a16="http://schemas.microsoft.com/office/drawing/2014/main" id="{99706815-9443-B747-AF20-5F99BBA2B0BE}"/>
              </a:ext>
            </a:extLst>
          </p:cNvPr>
          <p:cNvSpPr>
            <a:spLocks/>
          </p:cNvSpPr>
          <p:nvPr/>
        </p:nvSpPr>
        <p:spPr bwMode="auto">
          <a:xfrm>
            <a:off x="3278188" y="2747963"/>
            <a:ext cx="650875" cy="44132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90" y="0"/>
              </a:cxn>
              <a:cxn ang="0">
                <a:pos x="190" y="0"/>
              </a:cxn>
              <a:cxn ang="0">
                <a:pos x="227" y="3"/>
              </a:cxn>
              <a:cxn ang="0">
                <a:pos x="262" y="11"/>
              </a:cxn>
              <a:cxn ang="0">
                <a:pos x="292" y="22"/>
              </a:cxn>
              <a:cxn ang="0">
                <a:pos x="322" y="40"/>
              </a:cxn>
              <a:cxn ang="0">
                <a:pos x="372" y="81"/>
              </a:cxn>
              <a:cxn ang="0">
                <a:pos x="410" y="140"/>
              </a:cxn>
              <a:cxn ang="0">
                <a:pos x="410" y="140"/>
              </a:cxn>
              <a:cxn ang="0">
                <a:pos x="372" y="195"/>
              </a:cxn>
              <a:cxn ang="0">
                <a:pos x="322" y="240"/>
              </a:cxn>
              <a:cxn ang="0">
                <a:pos x="292" y="254"/>
              </a:cxn>
              <a:cxn ang="0">
                <a:pos x="262" y="266"/>
              </a:cxn>
              <a:cxn ang="0">
                <a:pos x="227" y="273"/>
              </a:cxn>
              <a:cxn ang="0">
                <a:pos x="190" y="277"/>
              </a:cxn>
              <a:cxn ang="0">
                <a:pos x="190" y="277"/>
              </a:cxn>
              <a:cxn ang="0">
                <a:pos x="0" y="277"/>
              </a:cxn>
              <a:cxn ang="0">
                <a:pos x="0" y="277"/>
              </a:cxn>
              <a:cxn ang="0">
                <a:pos x="0" y="277"/>
              </a:cxn>
              <a:cxn ang="0">
                <a:pos x="0" y="277"/>
              </a:cxn>
              <a:cxn ang="0">
                <a:pos x="22" y="247"/>
              </a:cxn>
              <a:cxn ang="0">
                <a:pos x="38" y="214"/>
              </a:cxn>
              <a:cxn ang="0">
                <a:pos x="45" y="177"/>
              </a:cxn>
              <a:cxn ang="0">
                <a:pos x="49" y="140"/>
              </a:cxn>
              <a:cxn ang="0">
                <a:pos x="49" y="140"/>
              </a:cxn>
              <a:cxn ang="0">
                <a:pos x="45" y="99"/>
              </a:cxn>
              <a:cxn ang="0">
                <a:pos x="38" y="66"/>
              </a:cxn>
              <a:cxn ang="0">
                <a:pos x="22" y="33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 w="410" h="277">
                <a:moveTo>
                  <a:pt x="0" y="0"/>
                </a:moveTo>
                <a:lnTo>
                  <a:pt x="190" y="0"/>
                </a:lnTo>
                <a:lnTo>
                  <a:pt x="190" y="0"/>
                </a:lnTo>
                <a:lnTo>
                  <a:pt x="227" y="3"/>
                </a:lnTo>
                <a:lnTo>
                  <a:pt x="262" y="11"/>
                </a:lnTo>
                <a:lnTo>
                  <a:pt x="292" y="22"/>
                </a:lnTo>
                <a:lnTo>
                  <a:pt x="322" y="40"/>
                </a:lnTo>
                <a:lnTo>
                  <a:pt x="372" y="81"/>
                </a:lnTo>
                <a:lnTo>
                  <a:pt x="410" y="140"/>
                </a:lnTo>
                <a:lnTo>
                  <a:pt x="410" y="140"/>
                </a:lnTo>
                <a:lnTo>
                  <a:pt x="372" y="195"/>
                </a:lnTo>
                <a:lnTo>
                  <a:pt x="322" y="240"/>
                </a:lnTo>
                <a:lnTo>
                  <a:pt x="292" y="254"/>
                </a:lnTo>
                <a:lnTo>
                  <a:pt x="262" y="266"/>
                </a:lnTo>
                <a:lnTo>
                  <a:pt x="227" y="273"/>
                </a:lnTo>
                <a:lnTo>
                  <a:pt x="190" y="277"/>
                </a:lnTo>
                <a:lnTo>
                  <a:pt x="190" y="277"/>
                </a:lnTo>
                <a:lnTo>
                  <a:pt x="0" y="277"/>
                </a:lnTo>
                <a:lnTo>
                  <a:pt x="0" y="277"/>
                </a:lnTo>
                <a:lnTo>
                  <a:pt x="0" y="277"/>
                </a:lnTo>
                <a:lnTo>
                  <a:pt x="0" y="277"/>
                </a:lnTo>
                <a:lnTo>
                  <a:pt x="22" y="247"/>
                </a:lnTo>
                <a:lnTo>
                  <a:pt x="38" y="214"/>
                </a:lnTo>
                <a:lnTo>
                  <a:pt x="45" y="177"/>
                </a:lnTo>
                <a:lnTo>
                  <a:pt x="49" y="140"/>
                </a:lnTo>
                <a:lnTo>
                  <a:pt x="49" y="140"/>
                </a:lnTo>
                <a:lnTo>
                  <a:pt x="45" y="99"/>
                </a:lnTo>
                <a:lnTo>
                  <a:pt x="38" y="66"/>
                </a:lnTo>
                <a:lnTo>
                  <a:pt x="22" y="33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</a:path>
            </a:pathLst>
          </a:custGeom>
          <a:solidFill>
            <a:srgbClr val="FFFFFF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 sz="2403"/>
          </a:p>
        </p:txBody>
      </p:sp>
      <p:grpSp>
        <p:nvGrpSpPr>
          <p:cNvPr id="22537" name="Group 10">
            <a:extLst>
              <a:ext uri="{FF2B5EF4-FFF2-40B4-BE49-F238E27FC236}">
                <a16:creationId xmlns:a16="http://schemas.microsoft.com/office/drawing/2014/main" id="{87A013BE-BE4E-334C-A6F4-8EAA013FD038}"/>
              </a:ext>
            </a:extLst>
          </p:cNvPr>
          <p:cNvGrpSpPr>
            <a:grpSpLocks/>
          </p:cNvGrpSpPr>
          <p:nvPr/>
        </p:nvGrpSpPr>
        <p:grpSpPr bwMode="auto">
          <a:xfrm>
            <a:off x="1755775" y="1757363"/>
            <a:ext cx="292100" cy="609600"/>
            <a:chOff x="960" y="1055"/>
            <a:chExt cx="184" cy="384"/>
          </a:xfrm>
        </p:grpSpPr>
        <p:sp>
          <p:nvSpPr>
            <p:cNvPr id="300043" name="Line 11">
              <a:extLst>
                <a:ext uri="{FF2B5EF4-FFF2-40B4-BE49-F238E27FC236}">
                  <a16:creationId xmlns:a16="http://schemas.microsoft.com/office/drawing/2014/main" id="{DE53F8DF-4345-A940-8D2D-D23972D09FA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009" y="1391"/>
              <a:ext cx="95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00044" name="Freeform 12">
              <a:extLst>
                <a:ext uri="{FF2B5EF4-FFF2-40B4-BE49-F238E27FC236}">
                  <a16:creationId xmlns:a16="http://schemas.microsoft.com/office/drawing/2014/main" id="{0A1311ED-0AD3-5D4B-B730-81E0CDAE8C52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957" y="1154"/>
              <a:ext cx="190" cy="18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84"/>
                </a:cxn>
                <a:cxn ang="0">
                  <a:pos x="190" y="92"/>
                </a:cxn>
                <a:cxn ang="0">
                  <a:pos x="0" y="0"/>
                </a:cxn>
              </a:cxnLst>
              <a:rect l="0" t="0" r="r" b="b"/>
              <a:pathLst>
                <a:path w="190" h="184">
                  <a:moveTo>
                    <a:pt x="0" y="0"/>
                  </a:moveTo>
                  <a:lnTo>
                    <a:pt x="0" y="184"/>
                  </a:lnTo>
                  <a:lnTo>
                    <a:pt x="190" y="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00045" name="Freeform 13">
              <a:extLst>
                <a:ext uri="{FF2B5EF4-FFF2-40B4-BE49-F238E27FC236}">
                  <a16:creationId xmlns:a16="http://schemas.microsoft.com/office/drawing/2014/main" id="{69A7D55A-35A7-494C-B56B-7DB0E04D454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957" y="1154"/>
              <a:ext cx="190" cy="18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84"/>
                </a:cxn>
                <a:cxn ang="0">
                  <a:pos x="190" y="92"/>
                </a:cxn>
                <a:cxn ang="0">
                  <a:pos x="0" y="0"/>
                </a:cxn>
              </a:cxnLst>
              <a:rect l="0" t="0" r="r" b="b"/>
              <a:pathLst>
                <a:path w="190" h="184">
                  <a:moveTo>
                    <a:pt x="0" y="0"/>
                  </a:moveTo>
                  <a:lnTo>
                    <a:pt x="0" y="184"/>
                  </a:lnTo>
                  <a:lnTo>
                    <a:pt x="190" y="92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00046" name="Freeform 14">
              <a:extLst>
                <a:ext uri="{FF2B5EF4-FFF2-40B4-BE49-F238E27FC236}">
                  <a16:creationId xmlns:a16="http://schemas.microsoft.com/office/drawing/2014/main" id="{284C24E4-E8A8-BC49-B47E-7EB9CD9C8CA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29" y="1344"/>
              <a:ext cx="49" cy="48"/>
            </a:xfrm>
            <a:custGeom>
              <a:avLst/>
              <a:gdLst/>
              <a:ahLst/>
              <a:cxnLst>
                <a:cxn ang="0">
                  <a:pos x="49" y="26"/>
                </a:cxn>
                <a:cxn ang="0">
                  <a:pos x="42" y="41"/>
                </a:cxn>
                <a:cxn ang="0">
                  <a:pos x="23" y="48"/>
                </a:cxn>
                <a:cxn ang="0">
                  <a:pos x="23" y="48"/>
                </a:cxn>
                <a:cxn ang="0">
                  <a:pos x="8" y="41"/>
                </a:cxn>
                <a:cxn ang="0">
                  <a:pos x="0" y="26"/>
                </a:cxn>
                <a:cxn ang="0">
                  <a:pos x="0" y="26"/>
                </a:cxn>
                <a:cxn ang="0">
                  <a:pos x="8" y="8"/>
                </a:cxn>
                <a:cxn ang="0">
                  <a:pos x="23" y="0"/>
                </a:cxn>
                <a:cxn ang="0">
                  <a:pos x="23" y="0"/>
                </a:cxn>
                <a:cxn ang="0">
                  <a:pos x="42" y="8"/>
                </a:cxn>
                <a:cxn ang="0">
                  <a:pos x="49" y="26"/>
                </a:cxn>
              </a:cxnLst>
              <a:rect l="0" t="0" r="r" b="b"/>
              <a:pathLst>
                <a:path w="49" h="48">
                  <a:moveTo>
                    <a:pt x="49" y="26"/>
                  </a:moveTo>
                  <a:lnTo>
                    <a:pt x="42" y="41"/>
                  </a:lnTo>
                  <a:lnTo>
                    <a:pt x="23" y="48"/>
                  </a:lnTo>
                  <a:lnTo>
                    <a:pt x="23" y="48"/>
                  </a:lnTo>
                  <a:lnTo>
                    <a:pt x="8" y="41"/>
                  </a:lnTo>
                  <a:lnTo>
                    <a:pt x="0" y="26"/>
                  </a:lnTo>
                  <a:lnTo>
                    <a:pt x="0" y="26"/>
                  </a:lnTo>
                  <a:lnTo>
                    <a:pt x="8" y="8"/>
                  </a:lnTo>
                  <a:lnTo>
                    <a:pt x="23" y="0"/>
                  </a:lnTo>
                  <a:lnTo>
                    <a:pt x="23" y="0"/>
                  </a:lnTo>
                  <a:lnTo>
                    <a:pt x="42" y="8"/>
                  </a:lnTo>
                  <a:lnTo>
                    <a:pt x="49" y="26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00047" name="Freeform 15">
              <a:extLst>
                <a:ext uri="{FF2B5EF4-FFF2-40B4-BE49-F238E27FC236}">
                  <a16:creationId xmlns:a16="http://schemas.microsoft.com/office/drawing/2014/main" id="{72A74B78-AA02-C34A-B113-7E4A1EE318BA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29" y="1344"/>
              <a:ext cx="49" cy="48"/>
            </a:xfrm>
            <a:custGeom>
              <a:avLst/>
              <a:gdLst/>
              <a:ahLst/>
              <a:cxnLst>
                <a:cxn ang="0">
                  <a:pos x="49" y="26"/>
                </a:cxn>
                <a:cxn ang="0">
                  <a:pos x="42" y="41"/>
                </a:cxn>
                <a:cxn ang="0">
                  <a:pos x="23" y="48"/>
                </a:cxn>
                <a:cxn ang="0">
                  <a:pos x="23" y="48"/>
                </a:cxn>
                <a:cxn ang="0">
                  <a:pos x="8" y="41"/>
                </a:cxn>
                <a:cxn ang="0">
                  <a:pos x="0" y="26"/>
                </a:cxn>
                <a:cxn ang="0">
                  <a:pos x="0" y="26"/>
                </a:cxn>
                <a:cxn ang="0">
                  <a:pos x="8" y="8"/>
                </a:cxn>
                <a:cxn ang="0">
                  <a:pos x="23" y="0"/>
                </a:cxn>
                <a:cxn ang="0">
                  <a:pos x="23" y="0"/>
                </a:cxn>
                <a:cxn ang="0">
                  <a:pos x="42" y="8"/>
                </a:cxn>
                <a:cxn ang="0">
                  <a:pos x="49" y="26"/>
                </a:cxn>
              </a:cxnLst>
              <a:rect l="0" t="0" r="r" b="b"/>
              <a:pathLst>
                <a:path w="49" h="48">
                  <a:moveTo>
                    <a:pt x="49" y="26"/>
                  </a:moveTo>
                  <a:lnTo>
                    <a:pt x="42" y="41"/>
                  </a:lnTo>
                  <a:lnTo>
                    <a:pt x="23" y="48"/>
                  </a:lnTo>
                  <a:lnTo>
                    <a:pt x="23" y="48"/>
                  </a:lnTo>
                  <a:lnTo>
                    <a:pt x="8" y="41"/>
                  </a:lnTo>
                  <a:lnTo>
                    <a:pt x="0" y="26"/>
                  </a:lnTo>
                  <a:lnTo>
                    <a:pt x="0" y="26"/>
                  </a:lnTo>
                  <a:lnTo>
                    <a:pt x="8" y="8"/>
                  </a:lnTo>
                  <a:lnTo>
                    <a:pt x="23" y="0"/>
                  </a:lnTo>
                  <a:lnTo>
                    <a:pt x="23" y="0"/>
                  </a:lnTo>
                  <a:lnTo>
                    <a:pt x="42" y="8"/>
                  </a:lnTo>
                  <a:lnTo>
                    <a:pt x="49" y="26"/>
                  </a:lnTo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00048" name="Line 16">
              <a:extLst>
                <a:ext uri="{FF2B5EF4-FFF2-40B4-BE49-F238E27FC236}">
                  <a16:creationId xmlns:a16="http://schemas.microsoft.com/office/drawing/2014/main" id="{0837279C-9C2A-9A43-9184-32AF0FAA269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002" y="1102"/>
              <a:ext cx="95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</p:grpSp>
      <p:sp>
        <p:nvSpPr>
          <p:cNvPr id="300049" name="Line 17">
            <a:extLst>
              <a:ext uri="{FF2B5EF4-FFF2-40B4-BE49-F238E27FC236}">
                <a16:creationId xmlns:a16="http://schemas.microsoft.com/office/drawing/2014/main" id="{1214F1B9-EDAC-8F48-B660-0E9E41A2F517}"/>
              </a:ext>
            </a:extLst>
          </p:cNvPr>
          <p:cNvSpPr>
            <a:spLocks noChangeShapeType="1"/>
          </p:cNvSpPr>
          <p:nvPr/>
        </p:nvSpPr>
        <p:spPr bwMode="auto">
          <a:xfrm>
            <a:off x="2060575" y="2519363"/>
            <a:ext cx="150813" cy="15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 sz="2403"/>
          </a:p>
        </p:txBody>
      </p:sp>
      <p:sp>
        <p:nvSpPr>
          <p:cNvPr id="300050" name="Line 18">
            <a:extLst>
              <a:ext uri="{FF2B5EF4-FFF2-40B4-BE49-F238E27FC236}">
                <a16:creationId xmlns:a16="http://schemas.microsoft.com/office/drawing/2014/main" id="{79BDC94C-C8FE-7741-866C-0FB183D03EBE}"/>
              </a:ext>
            </a:extLst>
          </p:cNvPr>
          <p:cNvSpPr>
            <a:spLocks noChangeShapeType="1"/>
          </p:cNvSpPr>
          <p:nvPr/>
        </p:nvSpPr>
        <p:spPr bwMode="auto">
          <a:xfrm>
            <a:off x="915988" y="2824163"/>
            <a:ext cx="1295400" cy="15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 sz="2403"/>
          </a:p>
        </p:txBody>
      </p:sp>
      <p:sp>
        <p:nvSpPr>
          <p:cNvPr id="300051" name="Freeform 19">
            <a:extLst>
              <a:ext uri="{FF2B5EF4-FFF2-40B4-BE49-F238E27FC236}">
                <a16:creationId xmlns:a16="http://schemas.microsoft.com/office/drawing/2014/main" id="{810F63E8-5D98-774F-B34A-1426ADFDA725}"/>
              </a:ext>
            </a:extLst>
          </p:cNvPr>
          <p:cNvSpPr>
            <a:spLocks/>
          </p:cNvSpPr>
          <p:nvPr/>
        </p:nvSpPr>
        <p:spPr bwMode="auto">
          <a:xfrm>
            <a:off x="2211388" y="2443163"/>
            <a:ext cx="606425" cy="441325"/>
          </a:xfrm>
          <a:custGeom>
            <a:avLst/>
            <a:gdLst/>
            <a:ahLst/>
            <a:cxnLst>
              <a:cxn ang="0">
                <a:pos x="382" y="140"/>
              </a:cxn>
              <a:cxn ang="0">
                <a:pos x="378" y="166"/>
              </a:cxn>
              <a:cxn ang="0">
                <a:pos x="370" y="192"/>
              </a:cxn>
              <a:cxn ang="0">
                <a:pos x="359" y="214"/>
              </a:cxn>
              <a:cxn ang="0">
                <a:pos x="340" y="236"/>
              </a:cxn>
              <a:cxn ang="0">
                <a:pos x="317" y="254"/>
              </a:cxn>
              <a:cxn ang="0">
                <a:pos x="294" y="266"/>
              </a:cxn>
              <a:cxn ang="0">
                <a:pos x="267" y="273"/>
              </a:cxn>
              <a:cxn ang="0">
                <a:pos x="237" y="277"/>
              </a:cxn>
              <a:cxn ang="0">
                <a:pos x="237" y="277"/>
              </a:cxn>
              <a:cxn ang="0">
                <a:pos x="0" y="277"/>
              </a:cxn>
              <a:cxn ang="0">
                <a:pos x="0" y="277"/>
              </a:cxn>
              <a:cxn ang="0">
                <a:pos x="0" y="0"/>
              </a:cxn>
              <a:cxn ang="0">
                <a:pos x="0" y="0"/>
              </a:cxn>
              <a:cxn ang="0">
                <a:pos x="237" y="0"/>
              </a:cxn>
              <a:cxn ang="0">
                <a:pos x="237" y="0"/>
              </a:cxn>
              <a:cxn ang="0">
                <a:pos x="267" y="3"/>
              </a:cxn>
              <a:cxn ang="0">
                <a:pos x="294" y="11"/>
              </a:cxn>
              <a:cxn ang="0">
                <a:pos x="317" y="22"/>
              </a:cxn>
              <a:cxn ang="0">
                <a:pos x="340" y="40"/>
              </a:cxn>
              <a:cxn ang="0">
                <a:pos x="359" y="62"/>
              </a:cxn>
              <a:cxn ang="0">
                <a:pos x="370" y="85"/>
              </a:cxn>
              <a:cxn ang="0">
                <a:pos x="378" y="110"/>
              </a:cxn>
              <a:cxn ang="0">
                <a:pos x="382" y="140"/>
              </a:cxn>
            </a:cxnLst>
            <a:rect l="0" t="0" r="r" b="b"/>
            <a:pathLst>
              <a:path w="382" h="277">
                <a:moveTo>
                  <a:pt x="382" y="140"/>
                </a:moveTo>
                <a:lnTo>
                  <a:pt x="378" y="166"/>
                </a:lnTo>
                <a:lnTo>
                  <a:pt x="370" y="192"/>
                </a:lnTo>
                <a:lnTo>
                  <a:pt x="359" y="214"/>
                </a:lnTo>
                <a:lnTo>
                  <a:pt x="340" y="236"/>
                </a:lnTo>
                <a:lnTo>
                  <a:pt x="317" y="254"/>
                </a:lnTo>
                <a:lnTo>
                  <a:pt x="294" y="266"/>
                </a:lnTo>
                <a:lnTo>
                  <a:pt x="267" y="273"/>
                </a:lnTo>
                <a:lnTo>
                  <a:pt x="237" y="277"/>
                </a:lnTo>
                <a:lnTo>
                  <a:pt x="237" y="277"/>
                </a:lnTo>
                <a:lnTo>
                  <a:pt x="0" y="277"/>
                </a:lnTo>
                <a:lnTo>
                  <a:pt x="0" y="277"/>
                </a:lnTo>
                <a:lnTo>
                  <a:pt x="0" y="0"/>
                </a:lnTo>
                <a:lnTo>
                  <a:pt x="0" y="0"/>
                </a:lnTo>
                <a:lnTo>
                  <a:pt x="237" y="0"/>
                </a:lnTo>
                <a:lnTo>
                  <a:pt x="237" y="0"/>
                </a:lnTo>
                <a:lnTo>
                  <a:pt x="267" y="3"/>
                </a:lnTo>
                <a:lnTo>
                  <a:pt x="294" y="11"/>
                </a:lnTo>
                <a:lnTo>
                  <a:pt x="317" y="22"/>
                </a:lnTo>
                <a:lnTo>
                  <a:pt x="340" y="40"/>
                </a:lnTo>
                <a:lnTo>
                  <a:pt x="359" y="62"/>
                </a:lnTo>
                <a:lnTo>
                  <a:pt x="370" y="85"/>
                </a:lnTo>
                <a:lnTo>
                  <a:pt x="378" y="110"/>
                </a:lnTo>
                <a:lnTo>
                  <a:pt x="382" y="140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 sz="2403"/>
          </a:p>
        </p:txBody>
      </p:sp>
      <p:sp>
        <p:nvSpPr>
          <p:cNvPr id="300052" name="Freeform 20">
            <a:extLst>
              <a:ext uri="{FF2B5EF4-FFF2-40B4-BE49-F238E27FC236}">
                <a16:creationId xmlns:a16="http://schemas.microsoft.com/office/drawing/2014/main" id="{61CBBBCB-08B8-5A44-8E7F-DF5F6F08D496}"/>
              </a:ext>
            </a:extLst>
          </p:cNvPr>
          <p:cNvSpPr>
            <a:spLocks/>
          </p:cNvSpPr>
          <p:nvPr/>
        </p:nvSpPr>
        <p:spPr bwMode="auto">
          <a:xfrm>
            <a:off x="2211388" y="2443163"/>
            <a:ext cx="606425" cy="441325"/>
          </a:xfrm>
          <a:custGeom>
            <a:avLst/>
            <a:gdLst/>
            <a:ahLst/>
            <a:cxnLst>
              <a:cxn ang="0">
                <a:pos x="382" y="140"/>
              </a:cxn>
              <a:cxn ang="0">
                <a:pos x="378" y="166"/>
              </a:cxn>
              <a:cxn ang="0">
                <a:pos x="370" y="192"/>
              </a:cxn>
              <a:cxn ang="0">
                <a:pos x="359" y="214"/>
              </a:cxn>
              <a:cxn ang="0">
                <a:pos x="340" y="236"/>
              </a:cxn>
              <a:cxn ang="0">
                <a:pos x="317" y="254"/>
              </a:cxn>
              <a:cxn ang="0">
                <a:pos x="294" y="266"/>
              </a:cxn>
              <a:cxn ang="0">
                <a:pos x="267" y="273"/>
              </a:cxn>
              <a:cxn ang="0">
                <a:pos x="237" y="277"/>
              </a:cxn>
              <a:cxn ang="0">
                <a:pos x="237" y="277"/>
              </a:cxn>
              <a:cxn ang="0">
                <a:pos x="0" y="277"/>
              </a:cxn>
              <a:cxn ang="0">
                <a:pos x="0" y="277"/>
              </a:cxn>
              <a:cxn ang="0">
                <a:pos x="0" y="0"/>
              </a:cxn>
              <a:cxn ang="0">
                <a:pos x="0" y="0"/>
              </a:cxn>
              <a:cxn ang="0">
                <a:pos x="237" y="0"/>
              </a:cxn>
              <a:cxn ang="0">
                <a:pos x="237" y="0"/>
              </a:cxn>
              <a:cxn ang="0">
                <a:pos x="267" y="3"/>
              </a:cxn>
              <a:cxn ang="0">
                <a:pos x="294" y="11"/>
              </a:cxn>
              <a:cxn ang="0">
                <a:pos x="317" y="22"/>
              </a:cxn>
              <a:cxn ang="0">
                <a:pos x="340" y="40"/>
              </a:cxn>
              <a:cxn ang="0">
                <a:pos x="359" y="62"/>
              </a:cxn>
              <a:cxn ang="0">
                <a:pos x="370" y="85"/>
              </a:cxn>
              <a:cxn ang="0">
                <a:pos x="378" y="110"/>
              </a:cxn>
              <a:cxn ang="0">
                <a:pos x="382" y="140"/>
              </a:cxn>
            </a:cxnLst>
            <a:rect l="0" t="0" r="r" b="b"/>
            <a:pathLst>
              <a:path w="382" h="277">
                <a:moveTo>
                  <a:pt x="382" y="140"/>
                </a:moveTo>
                <a:lnTo>
                  <a:pt x="378" y="166"/>
                </a:lnTo>
                <a:lnTo>
                  <a:pt x="370" y="192"/>
                </a:lnTo>
                <a:lnTo>
                  <a:pt x="359" y="214"/>
                </a:lnTo>
                <a:lnTo>
                  <a:pt x="340" y="236"/>
                </a:lnTo>
                <a:lnTo>
                  <a:pt x="317" y="254"/>
                </a:lnTo>
                <a:lnTo>
                  <a:pt x="294" y="266"/>
                </a:lnTo>
                <a:lnTo>
                  <a:pt x="267" y="273"/>
                </a:lnTo>
                <a:lnTo>
                  <a:pt x="237" y="277"/>
                </a:lnTo>
                <a:lnTo>
                  <a:pt x="237" y="277"/>
                </a:lnTo>
                <a:lnTo>
                  <a:pt x="0" y="277"/>
                </a:lnTo>
                <a:lnTo>
                  <a:pt x="0" y="277"/>
                </a:lnTo>
                <a:lnTo>
                  <a:pt x="0" y="0"/>
                </a:lnTo>
                <a:lnTo>
                  <a:pt x="0" y="0"/>
                </a:lnTo>
                <a:lnTo>
                  <a:pt x="237" y="0"/>
                </a:lnTo>
                <a:lnTo>
                  <a:pt x="237" y="0"/>
                </a:lnTo>
                <a:lnTo>
                  <a:pt x="267" y="3"/>
                </a:lnTo>
                <a:lnTo>
                  <a:pt x="294" y="11"/>
                </a:lnTo>
                <a:lnTo>
                  <a:pt x="317" y="22"/>
                </a:lnTo>
                <a:lnTo>
                  <a:pt x="340" y="40"/>
                </a:lnTo>
                <a:lnTo>
                  <a:pt x="359" y="62"/>
                </a:lnTo>
                <a:lnTo>
                  <a:pt x="370" y="85"/>
                </a:lnTo>
                <a:lnTo>
                  <a:pt x="378" y="110"/>
                </a:lnTo>
                <a:lnTo>
                  <a:pt x="382" y="140"/>
                </a:lnTo>
              </a:path>
            </a:pathLst>
          </a:cu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 sz="2403"/>
          </a:p>
        </p:txBody>
      </p:sp>
      <p:sp>
        <p:nvSpPr>
          <p:cNvPr id="300053" name="Text Box 21">
            <a:extLst>
              <a:ext uri="{FF2B5EF4-FFF2-40B4-BE49-F238E27FC236}">
                <a16:creationId xmlns:a16="http://schemas.microsoft.com/office/drawing/2014/main" id="{25D684CC-97BA-A24E-86F7-EE8D41D14E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775" y="2595563"/>
            <a:ext cx="296863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 eaLnBrk="1" hangingPunct="1">
              <a:defRPr/>
            </a:pPr>
            <a:r>
              <a:rPr lang="en-US" sz="1602" b="0"/>
              <a:t>b</a:t>
            </a:r>
            <a:endParaRPr lang="en-US" sz="1602" b="0" baseline="-25000"/>
          </a:p>
        </p:txBody>
      </p:sp>
      <p:sp>
        <p:nvSpPr>
          <p:cNvPr id="300054" name="Text Box 22">
            <a:extLst>
              <a:ext uri="{FF2B5EF4-FFF2-40B4-BE49-F238E27FC236}">
                <a16:creationId xmlns:a16="http://schemas.microsoft.com/office/drawing/2014/main" id="{A2D44A6E-2B8F-2A43-984F-95112CB9AB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603375"/>
            <a:ext cx="265112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1602" b="0"/>
              <a:t>s</a:t>
            </a:r>
          </a:p>
        </p:txBody>
      </p:sp>
      <p:sp>
        <p:nvSpPr>
          <p:cNvPr id="300055" name="Line 23">
            <a:extLst>
              <a:ext uri="{FF2B5EF4-FFF2-40B4-BE49-F238E27FC236}">
                <a16:creationId xmlns:a16="http://schemas.microsoft.com/office/drawing/2014/main" id="{E1934C6E-99FD-574E-8183-2085113AE60D}"/>
              </a:ext>
            </a:extLst>
          </p:cNvPr>
          <p:cNvSpPr>
            <a:spLocks noChangeShapeType="1"/>
          </p:cNvSpPr>
          <p:nvPr/>
        </p:nvSpPr>
        <p:spPr bwMode="auto">
          <a:xfrm>
            <a:off x="2060575" y="3130550"/>
            <a:ext cx="150813" cy="15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 sz="2403"/>
          </a:p>
        </p:txBody>
      </p:sp>
      <p:sp>
        <p:nvSpPr>
          <p:cNvPr id="300056" name="Line 24">
            <a:extLst>
              <a:ext uri="{FF2B5EF4-FFF2-40B4-BE49-F238E27FC236}">
                <a16:creationId xmlns:a16="http://schemas.microsoft.com/office/drawing/2014/main" id="{83B3028C-F9F9-B247-935F-49060D19AF9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15988" y="3424238"/>
            <a:ext cx="1295400" cy="11112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 sz="2403"/>
          </a:p>
        </p:txBody>
      </p:sp>
      <p:sp>
        <p:nvSpPr>
          <p:cNvPr id="300057" name="Freeform 25">
            <a:extLst>
              <a:ext uri="{FF2B5EF4-FFF2-40B4-BE49-F238E27FC236}">
                <a16:creationId xmlns:a16="http://schemas.microsoft.com/office/drawing/2014/main" id="{6A99DBCF-8AB5-0749-9F85-14A38B3646B6}"/>
              </a:ext>
            </a:extLst>
          </p:cNvPr>
          <p:cNvSpPr>
            <a:spLocks/>
          </p:cNvSpPr>
          <p:nvPr/>
        </p:nvSpPr>
        <p:spPr bwMode="auto">
          <a:xfrm>
            <a:off x="2211388" y="3054350"/>
            <a:ext cx="606425" cy="439738"/>
          </a:xfrm>
          <a:custGeom>
            <a:avLst/>
            <a:gdLst/>
            <a:ahLst/>
            <a:cxnLst>
              <a:cxn ang="0">
                <a:pos x="382" y="140"/>
              </a:cxn>
              <a:cxn ang="0">
                <a:pos x="378" y="166"/>
              </a:cxn>
              <a:cxn ang="0">
                <a:pos x="370" y="192"/>
              </a:cxn>
              <a:cxn ang="0">
                <a:pos x="359" y="214"/>
              </a:cxn>
              <a:cxn ang="0">
                <a:pos x="340" y="236"/>
              </a:cxn>
              <a:cxn ang="0">
                <a:pos x="317" y="254"/>
              </a:cxn>
              <a:cxn ang="0">
                <a:pos x="294" y="266"/>
              </a:cxn>
              <a:cxn ang="0">
                <a:pos x="267" y="273"/>
              </a:cxn>
              <a:cxn ang="0">
                <a:pos x="237" y="277"/>
              </a:cxn>
              <a:cxn ang="0">
                <a:pos x="237" y="277"/>
              </a:cxn>
              <a:cxn ang="0">
                <a:pos x="0" y="277"/>
              </a:cxn>
              <a:cxn ang="0">
                <a:pos x="0" y="277"/>
              </a:cxn>
              <a:cxn ang="0">
                <a:pos x="0" y="0"/>
              </a:cxn>
              <a:cxn ang="0">
                <a:pos x="0" y="0"/>
              </a:cxn>
              <a:cxn ang="0">
                <a:pos x="237" y="0"/>
              </a:cxn>
              <a:cxn ang="0">
                <a:pos x="237" y="0"/>
              </a:cxn>
              <a:cxn ang="0">
                <a:pos x="267" y="3"/>
              </a:cxn>
              <a:cxn ang="0">
                <a:pos x="294" y="11"/>
              </a:cxn>
              <a:cxn ang="0">
                <a:pos x="317" y="22"/>
              </a:cxn>
              <a:cxn ang="0">
                <a:pos x="340" y="40"/>
              </a:cxn>
              <a:cxn ang="0">
                <a:pos x="359" y="62"/>
              </a:cxn>
              <a:cxn ang="0">
                <a:pos x="370" y="85"/>
              </a:cxn>
              <a:cxn ang="0">
                <a:pos x="378" y="110"/>
              </a:cxn>
              <a:cxn ang="0">
                <a:pos x="382" y="140"/>
              </a:cxn>
            </a:cxnLst>
            <a:rect l="0" t="0" r="r" b="b"/>
            <a:pathLst>
              <a:path w="382" h="277">
                <a:moveTo>
                  <a:pt x="382" y="140"/>
                </a:moveTo>
                <a:lnTo>
                  <a:pt x="378" y="166"/>
                </a:lnTo>
                <a:lnTo>
                  <a:pt x="370" y="192"/>
                </a:lnTo>
                <a:lnTo>
                  <a:pt x="359" y="214"/>
                </a:lnTo>
                <a:lnTo>
                  <a:pt x="340" y="236"/>
                </a:lnTo>
                <a:lnTo>
                  <a:pt x="317" y="254"/>
                </a:lnTo>
                <a:lnTo>
                  <a:pt x="294" y="266"/>
                </a:lnTo>
                <a:lnTo>
                  <a:pt x="267" y="273"/>
                </a:lnTo>
                <a:lnTo>
                  <a:pt x="237" y="277"/>
                </a:lnTo>
                <a:lnTo>
                  <a:pt x="237" y="277"/>
                </a:lnTo>
                <a:lnTo>
                  <a:pt x="0" y="277"/>
                </a:lnTo>
                <a:lnTo>
                  <a:pt x="0" y="277"/>
                </a:lnTo>
                <a:lnTo>
                  <a:pt x="0" y="0"/>
                </a:lnTo>
                <a:lnTo>
                  <a:pt x="0" y="0"/>
                </a:lnTo>
                <a:lnTo>
                  <a:pt x="237" y="0"/>
                </a:lnTo>
                <a:lnTo>
                  <a:pt x="237" y="0"/>
                </a:lnTo>
                <a:lnTo>
                  <a:pt x="267" y="3"/>
                </a:lnTo>
                <a:lnTo>
                  <a:pt x="294" y="11"/>
                </a:lnTo>
                <a:lnTo>
                  <a:pt x="317" y="22"/>
                </a:lnTo>
                <a:lnTo>
                  <a:pt x="340" y="40"/>
                </a:lnTo>
                <a:lnTo>
                  <a:pt x="359" y="62"/>
                </a:lnTo>
                <a:lnTo>
                  <a:pt x="370" y="85"/>
                </a:lnTo>
                <a:lnTo>
                  <a:pt x="378" y="110"/>
                </a:lnTo>
                <a:lnTo>
                  <a:pt x="382" y="140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 sz="2403"/>
          </a:p>
        </p:txBody>
      </p:sp>
      <p:sp>
        <p:nvSpPr>
          <p:cNvPr id="300058" name="Freeform 26">
            <a:extLst>
              <a:ext uri="{FF2B5EF4-FFF2-40B4-BE49-F238E27FC236}">
                <a16:creationId xmlns:a16="http://schemas.microsoft.com/office/drawing/2014/main" id="{08598D2B-4F55-1343-AFA5-FE5FA814A4DF}"/>
              </a:ext>
            </a:extLst>
          </p:cNvPr>
          <p:cNvSpPr>
            <a:spLocks/>
          </p:cNvSpPr>
          <p:nvPr/>
        </p:nvSpPr>
        <p:spPr bwMode="auto">
          <a:xfrm>
            <a:off x="2211388" y="3054350"/>
            <a:ext cx="606425" cy="439738"/>
          </a:xfrm>
          <a:custGeom>
            <a:avLst/>
            <a:gdLst/>
            <a:ahLst/>
            <a:cxnLst>
              <a:cxn ang="0">
                <a:pos x="382" y="140"/>
              </a:cxn>
              <a:cxn ang="0">
                <a:pos x="378" y="166"/>
              </a:cxn>
              <a:cxn ang="0">
                <a:pos x="370" y="192"/>
              </a:cxn>
              <a:cxn ang="0">
                <a:pos x="359" y="214"/>
              </a:cxn>
              <a:cxn ang="0">
                <a:pos x="340" y="236"/>
              </a:cxn>
              <a:cxn ang="0">
                <a:pos x="317" y="254"/>
              </a:cxn>
              <a:cxn ang="0">
                <a:pos x="294" y="266"/>
              </a:cxn>
              <a:cxn ang="0">
                <a:pos x="267" y="273"/>
              </a:cxn>
              <a:cxn ang="0">
                <a:pos x="237" y="277"/>
              </a:cxn>
              <a:cxn ang="0">
                <a:pos x="237" y="277"/>
              </a:cxn>
              <a:cxn ang="0">
                <a:pos x="0" y="277"/>
              </a:cxn>
              <a:cxn ang="0">
                <a:pos x="0" y="277"/>
              </a:cxn>
              <a:cxn ang="0">
                <a:pos x="0" y="0"/>
              </a:cxn>
              <a:cxn ang="0">
                <a:pos x="0" y="0"/>
              </a:cxn>
              <a:cxn ang="0">
                <a:pos x="237" y="0"/>
              </a:cxn>
              <a:cxn ang="0">
                <a:pos x="237" y="0"/>
              </a:cxn>
              <a:cxn ang="0">
                <a:pos x="267" y="3"/>
              </a:cxn>
              <a:cxn ang="0">
                <a:pos x="294" y="11"/>
              </a:cxn>
              <a:cxn ang="0">
                <a:pos x="317" y="22"/>
              </a:cxn>
              <a:cxn ang="0">
                <a:pos x="340" y="40"/>
              </a:cxn>
              <a:cxn ang="0">
                <a:pos x="359" y="62"/>
              </a:cxn>
              <a:cxn ang="0">
                <a:pos x="370" y="85"/>
              </a:cxn>
              <a:cxn ang="0">
                <a:pos x="378" y="110"/>
              </a:cxn>
              <a:cxn ang="0">
                <a:pos x="382" y="140"/>
              </a:cxn>
            </a:cxnLst>
            <a:rect l="0" t="0" r="r" b="b"/>
            <a:pathLst>
              <a:path w="382" h="277">
                <a:moveTo>
                  <a:pt x="382" y="140"/>
                </a:moveTo>
                <a:lnTo>
                  <a:pt x="378" y="166"/>
                </a:lnTo>
                <a:lnTo>
                  <a:pt x="370" y="192"/>
                </a:lnTo>
                <a:lnTo>
                  <a:pt x="359" y="214"/>
                </a:lnTo>
                <a:lnTo>
                  <a:pt x="340" y="236"/>
                </a:lnTo>
                <a:lnTo>
                  <a:pt x="317" y="254"/>
                </a:lnTo>
                <a:lnTo>
                  <a:pt x="294" y="266"/>
                </a:lnTo>
                <a:lnTo>
                  <a:pt x="267" y="273"/>
                </a:lnTo>
                <a:lnTo>
                  <a:pt x="237" y="277"/>
                </a:lnTo>
                <a:lnTo>
                  <a:pt x="237" y="277"/>
                </a:lnTo>
                <a:lnTo>
                  <a:pt x="0" y="277"/>
                </a:lnTo>
                <a:lnTo>
                  <a:pt x="0" y="277"/>
                </a:lnTo>
                <a:lnTo>
                  <a:pt x="0" y="0"/>
                </a:lnTo>
                <a:lnTo>
                  <a:pt x="0" y="0"/>
                </a:lnTo>
                <a:lnTo>
                  <a:pt x="237" y="0"/>
                </a:lnTo>
                <a:lnTo>
                  <a:pt x="237" y="0"/>
                </a:lnTo>
                <a:lnTo>
                  <a:pt x="267" y="3"/>
                </a:lnTo>
                <a:lnTo>
                  <a:pt x="294" y="11"/>
                </a:lnTo>
                <a:lnTo>
                  <a:pt x="317" y="22"/>
                </a:lnTo>
                <a:lnTo>
                  <a:pt x="340" y="40"/>
                </a:lnTo>
                <a:lnTo>
                  <a:pt x="359" y="62"/>
                </a:lnTo>
                <a:lnTo>
                  <a:pt x="370" y="85"/>
                </a:lnTo>
                <a:lnTo>
                  <a:pt x="378" y="110"/>
                </a:lnTo>
                <a:lnTo>
                  <a:pt x="382" y="140"/>
                </a:lnTo>
              </a:path>
            </a:pathLst>
          </a:cu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 sz="2403"/>
          </a:p>
        </p:txBody>
      </p:sp>
      <p:sp>
        <p:nvSpPr>
          <p:cNvPr id="300059" name="Text Box 27">
            <a:extLst>
              <a:ext uri="{FF2B5EF4-FFF2-40B4-BE49-F238E27FC236}">
                <a16:creationId xmlns:a16="http://schemas.microsoft.com/office/drawing/2014/main" id="{CB34F652-544B-4243-BFCD-CDB20A84FB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3413" y="3251200"/>
            <a:ext cx="276225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 eaLnBrk="1" hangingPunct="1">
              <a:defRPr/>
            </a:pPr>
            <a:r>
              <a:rPr lang="en-US" sz="1602" b="0"/>
              <a:t>a</a:t>
            </a:r>
            <a:endParaRPr lang="en-US" sz="1602" b="0" baseline="-25000"/>
          </a:p>
        </p:txBody>
      </p:sp>
      <p:sp>
        <p:nvSpPr>
          <p:cNvPr id="300060" name="Freeform 28">
            <a:extLst>
              <a:ext uri="{FF2B5EF4-FFF2-40B4-BE49-F238E27FC236}">
                <a16:creationId xmlns:a16="http://schemas.microsoft.com/office/drawing/2014/main" id="{9C8AFA34-3B16-8248-AE42-ADB89A09A272}"/>
              </a:ext>
            </a:extLst>
          </p:cNvPr>
          <p:cNvSpPr>
            <a:spLocks/>
          </p:cNvSpPr>
          <p:nvPr/>
        </p:nvSpPr>
        <p:spPr bwMode="auto">
          <a:xfrm>
            <a:off x="1525588" y="1757363"/>
            <a:ext cx="534987" cy="1373187"/>
          </a:xfrm>
          <a:custGeom>
            <a:avLst/>
            <a:gdLst/>
            <a:ahLst/>
            <a:cxnLst>
              <a:cxn ang="0">
                <a:pos x="336" y="1056"/>
              </a:cxn>
              <a:cxn ang="0">
                <a:pos x="0" y="1056"/>
              </a:cxn>
              <a:cxn ang="0">
                <a:pos x="0" y="0"/>
              </a:cxn>
            </a:cxnLst>
            <a:rect l="0" t="0" r="r" b="b"/>
            <a:pathLst>
              <a:path w="336" h="1056">
                <a:moveTo>
                  <a:pt x="336" y="1056"/>
                </a:moveTo>
                <a:lnTo>
                  <a:pt x="0" y="1056"/>
                </a:lnTo>
                <a:lnTo>
                  <a:pt x="0" y="0"/>
                </a:lnTo>
              </a:path>
            </a:pathLst>
          </a:custGeom>
          <a:noFill/>
          <a:ln w="19050" cmpd="sng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 sz="2403"/>
          </a:p>
        </p:txBody>
      </p:sp>
      <p:sp>
        <p:nvSpPr>
          <p:cNvPr id="300061" name="Line 29">
            <a:extLst>
              <a:ext uri="{FF2B5EF4-FFF2-40B4-BE49-F238E27FC236}">
                <a16:creationId xmlns:a16="http://schemas.microsoft.com/office/drawing/2014/main" id="{2C0A41B3-21D6-DD46-B8D0-B6573978F558}"/>
              </a:ext>
            </a:extLst>
          </p:cNvPr>
          <p:cNvSpPr>
            <a:spLocks noChangeShapeType="1"/>
          </p:cNvSpPr>
          <p:nvPr/>
        </p:nvSpPr>
        <p:spPr bwMode="auto">
          <a:xfrm>
            <a:off x="915988" y="1757363"/>
            <a:ext cx="99218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 sz="2403"/>
          </a:p>
        </p:txBody>
      </p:sp>
      <p:sp>
        <p:nvSpPr>
          <p:cNvPr id="300062" name="Freeform 30">
            <a:extLst>
              <a:ext uri="{FF2B5EF4-FFF2-40B4-BE49-F238E27FC236}">
                <a16:creationId xmlns:a16="http://schemas.microsoft.com/office/drawing/2014/main" id="{3856EF31-A64F-D747-8986-AED6FDA0AC8B}"/>
              </a:ext>
            </a:extLst>
          </p:cNvPr>
          <p:cNvSpPr>
            <a:spLocks/>
          </p:cNvSpPr>
          <p:nvPr/>
        </p:nvSpPr>
        <p:spPr bwMode="auto">
          <a:xfrm>
            <a:off x="1908175" y="2366963"/>
            <a:ext cx="152400" cy="152400"/>
          </a:xfrm>
          <a:custGeom>
            <a:avLst/>
            <a:gdLst/>
            <a:ahLst/>
            <a:cxnLst>
              <a:cxn ang="0">
                <a:pos x="336" y="1056"/>
              </a:cxn>
              <a:cxn ang="0">
                <a:pos x="0" y="1056"/>
              </a:cxn>
              <a:cxn ang="0">
                <a:pos x="0" y="0"/>
              </a:cxn>
            </a:cxnLst>
            <a:rect l="0" t="0" r="r" b="b"/>
            <a:pathLst>
              <a:path w="336" h="1056">
                <a:moveTo>
                  <a:pt x="336" y="1056"/>
                </a:moveTo>
                <a:lnTo>
                  <a:pt x="0" y="1056"/>
                </a:lnTo>
                <a:lnTo>
                  <a:pt x="0" y="0"/>
                </a:lnTo>
              </a:path>
            </a:pathLst>
          </a:custGeom>
          <a:noFill/>
          <a:ln w="19050" cmpd="sng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 sz="2403"/>
          </a:p>
        </p:txBody>
      </p:sp>
      <p:sp>
        <p:nvSpPr>
          <p:cNvPr id="300063" name="Rectangle 31">
            <a:extLst>
              <a:ext uri="{FF2B5EF4-FFF2-40B4-BE49-F238E27FC236}">
                <a16:creationId xmlns:a16="http://schemas.microsoft.com/office/drawing/2014/main" id="{39A35655-24A1-D547-A5AE-C9BA100AB5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9750" y="2824163"/>
            <a:ext cx="600075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sz="1602" b="0"/>
              <a:t>out</a:t>
            </a:r>
          </a:p>
        </p:txBody>
      </p:sp>
      <p:grpSp>
        <p:nvGrpSpPr>
          <p:cNvPr id="22553" name="Group 32">
            <a:extLst>
              <a:ext uri="{FF2B5EF4-FFF2-40B4-BE49-F238E27FC236}">
                <a16:creationId xmlns:a16="http://schemas.microsoft.com/office/drawing/2014/main" id="{04C0709E-33F5-0042-9E94-D1680048C5B7}"/>
              </a:ext>
            </a:extLst>
          </p:cNvPr>
          <p:cNvGrpSpPr>
            <a:grpSpLocks/>
          </p:cNvGrpSpPr>
          <p:nvPr/>
        </p:nvGrpSpPr>
        <p:grpSpPr bwMode="auto">
          <a:xfrm>
            <a:off x="1449388" y="1679575"/>
            <a:ext cx="152400" cy="153988"/>
            <a:chOff x="240" y="4176"/>
            <a:chExt cx="192" cy="192"/>
          </a:xfrm>
        </p:grpSpPr>
        <p:sp>
          <p:nvSpPr>
            <p:cNvPr id="300065" name="Oval 33">
              <a:extLst>
                <a:ext uri="{FF2B5EF4-FFF2-40B4-BE49-F238E27FC236}">
                  <a16:creationId xmlns:a16="http://schemas.microsoft.com/office/drawing/2014/main" id="{F043DB26-5196-A34B-9C34-B8B308DE83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4224"/>
              <a:ext cx="96" cy="97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00066" name="Rectangle 34">
              <a:extLst>
                <a:ext uri="{FF2B5EF4-FFF2-40B4-BE49-F238E27FC236}">
                  <a16:creationId xmlns:a16="http://schemas.microsoft.com/office/drawing/2014/main" id="{1EDF68B9-BE6F-9347-8ACF-47B89AA0E2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" y="4176"/>
              <a:ext cx="192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2403"/>
            </a:p>
          </p:txBody>
        </p:sp>
      </p:grpSp>
      <p:sp>
        <p:nvSpPr>
          <p:cNvPr id="300067" name="Text Box 35">
            <a:extLst>
              <a:ext uri="{FF2B5EF4-FFF2-40B4-BE49-F238E27FC236}">
                <a16:creationId xmlns:a16="http://schemas.microsoft.com/office/drawing/2014/main" id="{0918551B-ADBF-2444-90DE-34E87A5A57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6638" y="2366963"/>
            <a:ext cx="3963987" cy="461962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wrap="none" lIns="45784" rIns="45784">
            <a:spAutoFit/>
          </a:bodyPr>
          <a:lstStyle/>
          <a:p>
            <a:pPr>
              <a:defRPr/>
            </a:pPr>
            <a:r>
              <a:rPr lang="en-US" sz="2403" dirty="0">
                <a:latin typeface="Courier New" pitchFamily="49" charset="0"/>
              </a:rPr>
              <a:t>out = (s&amp;&amp;a)||(!s&amp;&amp;b)</a:t>
            </a:r>
          </a:p>
        </p:txBody>
      </p:sp>
      <p:sp>
        <p:nvSpPr>
          <p:cNvPr id="300068" name="Text Box 36">
            <a:extLst>
              <a:ext uri="{FF2B5EF4-FFF2-40B4-BE49-F238E27FC236}">
                <a16:creationId xmlns:a16="http://schemas.microsoft.com/office/drawing/2014/main" id="{22CFCF1E-C73A-B84A-A781-6BB00DF9B6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6250" y="1816100"/>
            <a:ext cx="2271713" cy="461963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wrap="none" lIns="45784" rIns="45784">
            <a:spAutoFit/>
          </a:bodyPr>
          <a:lstStyle/>
          <a:p>
            <a:pPr>
              <a:defRPr/>
            </a:pPr>
            <a:r>
              <a:rPr lang="en-US" sz="2403"/>
              <a:t>HCL Expression</a:t>
            </a:r>
          </a:p>
        </p:txBody>
      </p:sp>
    </p:spTree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>
            <a:extLst>
              <a:ext uri="{FF2B5EF4-FFF2-40B4-BE49-F238E27FC236}">
                <a16:creationId xmlns:a16="http://schemas.microsoft.com/office/drawing/2014/main" id="{687290A1-36F7-AD47-BB27-41BCF8F52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038" y="1588"/>
            <a:ext cx="8716962" cy="781050"/>
          </a:xfrm>
        </p:spPr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Word Multiplexor</a:t>
            </a:r>
          </a:p>
        </p:txBody>
      </p:sp>
      <p:sp>
        <p:nvSpPr>
          <p:cNvPr id="23554" name="Rectangle 3">
            <a:extLst>
              <a:ext uri="{FF2B5EF4-FFF2-40B4-BE49-F238E27FC236}">
                <a16:creationId xmlns:a16="http://schemas.microsoft.com/office/drawing/2014/main" id="{47D57CA8-F845-E848-880E-91FC40B6C0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75138" y="4459288"/>
            <a:ext cx="4781550" cy="1068387"/>
          </a:xfrm>
        </p:spPr>
        <p:txBody>
          <a:bodyPr/>
          <a:lstStyle/>
          <a:p>
            <a:pPr lvl="1"/>
            <a:r>
              <a:rPr lang="en-US" altLang="en-US">
                <a:ea typeface="ＭＳ Ｐゴシック" panose="020B0600070205080204" pitchFamily="34" charset="-128"/>
              </a:rPr>
              <a:t>Select input word A or B depending on control signal s</a:t>
            </a:r>
          </a:p>
        </p:txBody>
      </p:sp>
      <p:sp>
        <p:nvSpPr>
          <p:cNvPr id="301122" name="Text Box 66">
            <a:extLst>
              <a:ext uri="{FF2B5EF4-FFF2-40B4-BE49-F238E27FC236}">
                <a16:creationId xmlns:a16="http://schemas.microsoft.com/office/drawing/2014/main" id="{29E7F729-BBE0-BC48-9447-0AC3694C03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0938" y="771525"/>
            <a:ext cx="3741737" cy="461963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wrap="none" lIns="45784" rIns="45784">
            <a:spAutoFit/>
          </a:bodyPr>
          <a:lstStyle/>
          <a:p>
            <a:pPr>
              <a:defRPr/>
            </a:pPr>
            <a:r>
              <a:rPr lang="en-US" sz="2403" dirty="0"/>
              <a:t>Word-Level Representation</a:t>
            </a:r>
          </a:p>
        </p:txBody>
      </p:sp>
      <p:grpSp>
        <p:nvGrpSpPr>
          <p:cNvPr id="23556" name="Group 69">
            <a:extLst>
              <a:ext uri="{FF2B5EF4-FFF2-40B4-BE49-F238E27FC236}">
                <a16:creationId xmlns:a16="http://schemas.microsoft.com/office/drawing/2014/main" id="{1D80F849-2D92-8F4C-86C3-5F6C2D91915F}"/>
              </a:ext>
            </a:extLst>
          </p:cNvPr>
          <p:cNvGrpSpPr>
            <a:grpSpLocks/>
          </p:cNvGrpSpPr>
          <p:nvPr/>
        </p:nvGrpSpPr>
        <p:grpSpPr bwMode="auto">
          <a:xfrm>
            <a:off x="382588" y="688975"/>
            <a:ext cx="4578350" cy="5724525"/>
            <a:chOff x="336" y="720"/>
            <a:chExt cx="2880" cy="3601"/>
          </a:xfrm>
        </p:grpSpPr>
        <p:sp>
          <p:nvSpPr>
            <p:cNvPr id="301126" name="Rectangle 70">
              <a:extLst>
                <a:ext uri="{FF2B5EF4-FFF2-40B4-BE49-F238E27FC236}">
                  <a16:creationId xmlns:a16="http://schemas.microsoft.com/office/drawing/2014/main" id="{E6E45BBD-D1A3-6D46-9A29-FD992CFC0F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1248"/>
              <a:ext cx="1776" cy="768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Ctr="1"/>
            <a:lstStyle/>
            <a:p>
              <a:pPr eaLnBrk="1" hangingPunct="1">
                <a:defRPr/>
              </a:pPr>
              <a:endParaRPr lang="en-US" sz="2403" b="0"/>
            </a:p>
          </p:txBody>
        </p:sp>
        <p:sp>
          <p:nvSpPr>
            <p:cNvPr id="301127" name="Freeform 71">
              <a:extLst>
                <a:ext uri="{FF2B5EF4-FFF2-40B4-BE49-F238E27FC236}">
                  <a16:creationId xmlns:a16="http://schemas.microsoft.com/office/drawing/2014/main" id="{3B4A9320-2A9B-4A44-92AC-A278BF246D2A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824" y="1440"/>
              <a:ext cx="340" cy="96"/>
            </a:xfrm>
            <a:custGeom>
              <a:avLst/>
              <a:gdLst/>
              <a:ahLst/>
              <a:cxnLst>
                <a:cxn ang="0">
                  <a:pos x="0" y="96"/>
                </a:cxn>
                <a:cxn ang="0">
                  <a:pos x="144" y="96"/>
                </a:cxn>
                <a:cxn ang="0">
                  <a:pos x="144" y="0"/>
                </a:cxn>
                <a:cxn ang="0">
                  <a:pos x="336" y="0"/>
                </a:cxn>
              </a:cxnLst>
              <a:rect l="0" t="0" r="r" b="b"/>
              <a:pathLst>
                <a:path w="336" h="96">
                  <a:moveTo>
                    <a:pt x="0" y="96"/>
                  </a:moveTo>
                  <a:lnTo>
                    <a:pt x="144" y="96"/>
                  </a:lnTo>
                  <a:lnTo>
                    <a:pt x="144" y="0"/>
                  </a:lnTo>
                  <a:lnTo>
                    <a:pt x="336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01128" name="Freeform 72">
              <a:extLst>
                <a:ext uri="{FF2B5EF4-FFF2-40B4-BE49-F238E27FC236}">
                  <a16:creationId xmlns:a16="http://schemas.microsoft.com/office/drawing/2014/main" id="{28E9A04F-5E27-AD45-8FCD-A084533AA73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4" y="1728"/>
              <a:ext cx="340" cy="100"/>
            </a:xfrm>
            <a:custGeom>
              <a:avLst/>
              <a:gdLst/>
              <a:ahLst/>
              <a:cxnLst>
                <a:cxn ang="0">
                  <a:pos x="0" y="96"/>
                </a:cxn>
                <a:cxn ang="0">
                  <a:pos x="144" y="96"/>
                </a:cxn>
                <a:cxn ang="0">
                  <a:pos x="144" y="0"/>
                </a:cxn>
                <a:cxn ang="0">
                  <a:pos x="336" y="0"/>
                </a:cxn>
              </a:cxnLst>
              <a:rect l="0" t="0" r="r" b="b"/>
              <a:pathLst>
                <a:path w="336" h="96">
                  <a:moveTo>
                    <a:pt x="0" y="96"/>
                  </a:moveTo>
                  <a:lnTo>
                    <a:pt x="144" y="96"/>
                  </a:lnTo>
                  <a:lnTo>
                    <a:pt x="144" y="0"/>
                  </a:lnTo>
                  <a:lnTo>
                    <a:pt x="336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01129" name="Line 73">
              <a:extLst>
                <a:ext uri="{FF2B5EF4-FFF2-40B4-BE49-F238E27FC236}">
                  <a16:creationId xmlns:a16="http://schemas.microsoft.com/office/drawing/2014/main" id="{15238C4F-54ED-0443-A92C-9A28F380A0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89" y="1628"/>
              <a:ext cx="247" cy="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01130" name="Freeform 74">
              <a:extLst>
                <a:ext uri="{FF2B5EF4-FFF2-40B4-BE49-F238E27FC236}">
                  <a16:creationId xmlns:a16="http://schemas.microsoft.com/office/drawing/2014/main" id="{564DD8FF-4E84-5945-B68B-FDADD3EE84E4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0" y="1488"/>
              <a:ext cx="410" cy="27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90" y="0"/>
                </a:cxn>
                <a:cxn ang="0">
                  <a:pos x="190" y="0"/>
                </a:cxn>
                <a:cxn ang="0">
                  <a:pos x="227" y="3"/>
                </a:cxn>
                <a:cxn ang="0">
                  <a:pos x="262" y="11"/>
                </a:cxn>
                <a:cxn ang="0">
                  <a:pos x="292" y="22"/>
                </a:cxn>
                <a:cxn ang="0">
                  <a:pos x="322" y="40"/>
                </a:cxn>
                <a:cxn ang="0">
                  <a:pos x="372" y="81"/>
                </a:cxn>
                <a:cxn ang="0">
                  <a:pos x="410" y="140"/>
                </a:cxn>
                <a:cxn ang="0">
                  <a:pos x="410" y="140"/>
                </a:cxn>
                <a:cxn ang="0">
                  <a:pos x="372" y="195"/>
                </a:cxn>
                <a:cxn ang="0">
                  <a:pos x="322" y="240"/>
                </a:cxn>
                <a:cxn ang="0">
                  <a:pos x="292" y="254"/>
                </a:cxn>
                <a:cxn ang="0">
                  <a:pos x="262" y="266"/>
                </a:cxn>
                <a:cxn ang="0">
                  <a:pos x="227" y="273"/>
                </a:cxn>
                <a:cxn ang="0">
                  <a:pos x="190" y="277"/>
                </a:cxn>
                <a:cxn ang="0">
                  <a:pos x="190" y="277"/>
                </a:cxn>
                <a:cxn ang="0">
                  <a:pos x="0" y="277"/>
                </a:cxn>
                <a:cxn ang="0">
                  <a:pos x="0" y="277"/>
                </a:cxn>
                <a:cxn ang="0">
                  <a:pos x="0" y="277"/>
                </a:cxn>
                <a:cxn ang="0">
                  <a:pos x="0" y="277"/>
                </a:cxn>
                <a:cxn ang="0">
                  <a:pos x="22" y="247"/>
                </a:cxn>
                <a:cxn ang="0">
                  <a:pos x="38" y="214"/>
                </a:cxn>
                <a:cxn ang="0">
                  <a:pos x="45" y="177"/>
                </a:cxn>
                <a:cxn ang="0">
                  <a:pos x="49" y="140"/>
                </a:cxn>
                <a:cxn ang="0">
                  <a:pos x="49" y="140"/>
                </a:cxn>
                <a:cxn ang="0">
                  <a:pos x="45" y="99"/>
                </a:cxn>
                <a:cxn ang="0">
                  <a:pos x="38" y="66"/>
                </a:cxn>
                <a:cxn ang="0">
                  <a:pos x="22" y="33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410" h="277">
                  <a:moveTo>
                    <a:pt x="0" y="0"/>
                  </a:moveTo>
                  <a:lnTo>
                    <a:pt x="190" y="0"/>
                  </a:lnTo>
                  <a:lnTo>
                    <a:pt x="190" y="0"/>
                  </a:lnTo>
                  <a:lnTo>
                    <a:pt x="227" y="3"/>
                  </a:lnTo>
                  <a:lnTo>
                    <a:pt x="262" y="11"/>
                  </a:lnTo>
                  <a:lnTo>
                    <a:pt x="292" y="22"/>
                  </a:lnTo>
                  <a:lnTo>
                    <a:pt x="322" y="40"/>
                  </a:lnTo>
                  <a:lnTo>
                    <a:pt x="372" y="81"/>
                  </a:lnTo>
                  <a:lnTo>
                    <a:pt x="410" y="140"/>
                  </a:lnTo>
                  <a:lnTo>
                    <a:pt x="410" y="140"/>
                  </a:lnTo>
                  <a:lnTo>
                    <a:pt x="372" y="195"/>
                  </a:lnTo>
                  <a:lnTo>
                    <a:pt x="322" y="240"/>
                  </a:lnTo>
                  <a:lnTo>
                    <a:pt x="292" y="254"/>
                  </a:lnTo>
                  <a:lnTo>
                    <a:pt x="262" y="266"/>
                  </a:lnTo>
                  <a:lnTo>
                    <a:pt x="227" y="273"/>
                  </a:lnTo>
                  <a:lnTo>
                    <a:pt x="190" y="277"/>
                  </a:lnTo>
                  <a:lnTo>
                    <a:pt x="190" y="277"/>
                  </a:lnTo>
                  <a:lnTo>
                    <a:pt x="0" y="277"/>
                  </a:lnTo>
                  <a:lnTo>
                    <a:pt x="0" y="277"/>
                  </a:lnTo>
                  <a:lnTo>
                    <a:pt x="0" y="277"/>
                  </a:lnTo>
                  <a:lnTo>
                    <a:pt x="0" y="277"/>
                  </a:lnTo>
                  <a:lnTo>
                    <a:pt x="22" y="247"/>
                  </a:lnTo>
                  <a:lnTo>
                    <a:pt x="38" y="214"/>
                  </a:lnTo>
                  <a:lnTo>
                    <a:pt x="45" y="177"/>
                  </a:lnTo>
                  <a:lnTo>
                    <a:pt x="49" y="140"/>
                  </a:lnTo>
                  <a:lnTo>
                    <a:pt x="49" y="140"/>
                  </a:lnTo>
                  <a:lnTo>
                    <a:pt x="45" y="99"/>
                  </a:lnTo>
                  <a:lnTo>
                    <a:pt x="38" y="66"/>
                  </a:lnTo>
                  <a:lnTo>
                    <a:pt x="22" y="33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01131" name="Freeform 75">
              <a:extLst>
                <a:ext uri="{FF2B5EF4-FFF2-40B4-BE49-F238E27FC236}">
                  <a16:creationId xmlns:a16="http://schemas.microsoft.com/office/drawing/2014/main" id="{87E65816-83AE-6C4F-9AD8-4E0E21037C3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0" y="1488"/>
              <a:ext cx="410" cy="27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90" y="0"/>
                </a:cxn>
                <a:cxn ang="0">
                  <a:pos x="190" y="0"/>
                </a:cxn>
                <a:cxn ang="0">
                  <a:pos x="227" y="3"/>
                </a:cxn>
                <a:cxn ang="0">
                  <a:pos x="262" y="11"/>
                </a:cxn>
                <a:cxn ang="0">
                  <a:pos x="292" y="22"/>
                </a:cxn>
                <a:cxn ang="0">
                  <a:pos x="322" y="40"/>
                </a:cxn>
                <a:cxn ang="0">
                  <a:pos x="372" y="81"/>
                </a:cxn>
                <a:cxn ang="0">
                  <a:pos x="410" y="140"/>
                </a:cxn>
                <a:cxn ang="0">
                  <a:pos x="410" y="140"/>
                </a:cxn>
                <a:cxn ang="0">
                  <a:pos x="372" y="195"/>
                </a:cxn>
                <a:cxn ang="0">
                  <a:pos x="322" y="240"/>
                </a:cxn>
                <a:cxn ang="0">
                  <a:pos x="292" y="254"/>
                </a:cxn>
                <a:cxn ang="0">
                  <a:pos x="262" y="266"/>
                </a:cxn>
                <a:cxn ang="0">
                  <a:pos x="227" y="273"/>
                </a:cxn>
                <a:cxn ang="0">
                  <a:pos x="190" y="277"/>
                </a:cxn>
                <a:cxn ang="0">
                  <a:pos x="190" y="277"/>
                </a:cxn>
                <a:cxn ang="0">
                  <a:pos x="0" y="277"/>
                </a:cxn>
                <a:cxn ang="0">
                  <a:pos x="0" y="277"/>
                </a:cxn>
                <a:cxn ang="0">
                  <a:pos x="0" y="277"/>
                </a:cxn>
                <a:cxn ang="0">
                  <a:pos x="0" y="277"/>
                </a:cxn>
                <a:cxn ang="0">
                  <a:pos x="22" y="247"/>
                </a:cxn>
                <a:cxn ang="0">
                  <a:pos x="38" y="214"/>
                </a:cxn>
                <a:cxn ang="0">
                  <a:pos x="45" y="177"/>
                </a:cxn>
                <a:cxn ang="0">
                  <a:pos x="49" y="140"/>
                </a:cxn>
                <a:cxn ang="0">
                  <a:pos x="49" y="140"/>
                </a:cxn>
                <a:cxn ang="0">
                  <a:pos x="45" y="99"/>
                </a:cxn>
                <a:cxn ang="0">
                  <a:pos x="38" y="66"/>
                </a:cxn>
                <a:cxn ang="0">
                  <a:pos x="22" y="33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410" h="277">
                  <a:moveTo>
                    <a:pt x="0" y="0"/>
                  </a:moveTo>
                  <a:lnTo>
                    <a:pt x="190" y="0"/>
                  </a:lnTo>
                  <a:lnTo>
                    <a:pt x="190" y="0"/>
                  </a:lnTo>
                  <a:lnTo>
                    <a:pt x="227" y="3"/>
                  </a:lnTo>
                  <a:lnTo>
                    <a:pt x="262" y="11"/>
                  </a:lnTo>
                  <a:lnTo>
                    <a:pt x="292" y="22"/>
                  </a:lnTo>
                  <a:lnTo>
                    <a:pt x="322" y="40"/>
                  </a:lnTo>
                  <a:lnTo>
                    <a:pt x="372" y="81"/>
                  </a:lnTo>
                  <a:lnTo>
                    <a:pt x="410" y="140"/>
                  </a:lnTo>
                  <a:lnTo>
                    <a:pt x="410" y="140"/>
                  </a:lnTo>
                  <a:lnTo>
                    <a:pt x="372" y="195"/>
                  </a:lnTo>
                  <a:lnTo>
                    <a:pt x="322" y="240"/>
                  </a:lnTo>
                  <a:lnTo>
                    <a:pt x="292" y="254"/>
                  </a:lnTo>
                  <a:lnTo>
                    <a:pt x="262" y="266"/>
                  </a:lnTo>
                  <a:lnTo>
                    <a:pt x="227" y="273"/>
                  </a:lnTo>
                  <a:lnTo>
                    <a:pt x="190" y="277"/>
                  </a:lnTo>
                  <a:lnTo>
                    <a:pt x="190" y="277"/>
                  </a:lnTo>
                  <a:lnTo>
                    <a:pt x="0" y="277"/>
                  </a:lnTo>
                  <a:lnTo>
                    <a:pt x="0" y="277"/>
                  </a:lnTo>
                  <a:lnTo>
                    <a:pt x="0" y="277"/>
                  </a:lnTo>
                  <a:lnTo>
                    <a:pt x="0" y="277"/>
                  </a:lnTo>
                  <a:lnTo>
                    <a:pt x="22" y="247"/>
                  </a:lnTo>
                  <a:lnTo>
                    <a:pt x="38" y="214"/>
                  </a:lnTo>
                  <a:lnTo>
                    <a:pt x="45" y="177"/>
                  </a:lnTo>
                  <a:lnTo>
                    <a:pt x="49" y="140"/>
                  </a:lnTo>
                  <a:lnTo>
                    <a:pt x="49" y="140"/>
                  </a:lnTo>
                  <a:lnTo>
                    <a:pt x="45" y="99"/>
                  </a:lnTo>
                  <a:lnTo>
                    <a:pt x="38" y="66"/>
                  </a:lnTo>
                  <a:lnTo>
                    <a:pt x="22" y="33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grpSp>
          <p:nvGrpSpPr>
            <p:cNvPr id="23574" name="Group 76">
              <a:extLst>
                <a:ext uri="{FF2B5EF4-FFF2-40B4-BE49-F238E27FC236}">
                  <a16:creationId xmlns:a16="http://schemas.microsoft.com/office/drawing/2014/main" id="{68363E6A-0057-0F48-8175-27B86EE897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52" y="864"/>
              <a:ext cx="184" cy="384"/>
              <a:chOff x="960" y="1055"/>
              <a:chExt cx="184" cy="384"/>
            </a:xfrm>
          </p:grpSpPr>
          <p:sp>
            <p:nvSpPr>
              <p:cNvPr id="301133" name="Line 77">
                <a:extLst>
                  <a:ext uri="{FF2B5EF4-FFF2-40B4-BE49-F238E27FC236}">
                    <a16:creationId xmlns:a16="http://schemas.microsoft.com/office/drawing/2014/main" id="{AE6564B1-4562-3A4A-94DB-2EBD76961B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1009" y="1391"/>
                <a:ext cx="95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 sz="2403"/>
              </a:p>
            </p:txBody>
          </p:sp>
          <p:sp>
            <p:nvSpPr>
              <p:cNvPr id="301134" name="Freeform 78">
                <a:extLst>
                  <a:ext uri="{FF2B5EF4-FFF2-40B4-BE49-F238E27FC236}">
                    <a16:creationId xmlns:a16="http://schemas.microsoft.com/office/drawing/2014/main" id="{756725DC-B253-6F4C-809A-A3F6A0C66BE7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955" y="1154"/>
                <a:ext cx="194" cy="18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184"/>
                  </a:cxn>
                  <a:cxn ang="0">
                    <a:pos x="190" y="92"/>
                  </a:cxn>
                  <a:cxn ang="0">
                    <a:pos x="0" y="0"/>
                  </a:cxn>
                </a:cxnLst>
                <a:rect l="0" t="0" r="r" b="b"/>
                <a:pathLst>
                  <a:path w="190" h="184">
                    <a:moveTo>
                      <a:pt x="0" y="0"/>
                    </a:moveTo>
                    <a:lnTo>
                      <a:pt x="0" y="184"/>
                    </a:lnTo>
                    <a:lnTo>
                      <a:pt x="190" y="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 sz="2403"/>
              </a:p>
            </p:txBody>
          </p:sp>
          <p:sp>
            <p:nvSpPr>
              <p:cNvPr id="301135" name="Freeform 79">
                <a:extLst>
                  <a:ext uri="{FF2B5EF4-FFF2-40B4-BE49-F238E27FC236}">
                    <a16:creationId xmlns:a16="http://schemas.microsoft.com/office/drawing/2014/main" id="{E297E9D0-0087-1545-8F5C-AE8DA732F4AD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955" y="1154"/>
                <a:ext cx="194" cy="18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184"/>
                  </a:cxn>
                  <a:cxn ang="0">
                    <a:pos x="190" y="92"/>
                  </a:cxn>
                  <a:cxn ang="0">
                    <a:pos x="0" y="0"/>
                  </a:cxn>
                </a:cxnLst>
                <a:rect l="0" t="0" r="r" b="b"/>
                <a:pathLst>
                  <a:path w="190" h="184">
                    <a:moveTo>
                      <a:pt x="0" y="0"/>
                    </a:moveTo>
                    <a:lnTo>
                      <a:pt x="0" y="184"/>
                    </a:lnTo>
                    <a:lnTo>
                      <a:pt x="190" y="92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FFFFFF"/>
              </a:solidFill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 sz="2403"/>
              </a:p>
            </p:txBody>
          </p:sp>
          <p:sp>
            <p:nvSpPr>
              <p:cNvPr id="301136" name="Freeform 80">
                <a:extLst>
                  <a:ext uri="{FF2B5EF4-FFF2-40B4-BE49-F238E27FC236}">
                    <a16:creationId xmlns:a16="http://schemas.microsoft.com/office/drawing/2014/main" id="{1C4FA845-A706-C34B-80F5-C19B3DC63163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1028" y="1345"/>
                <a:ext cx="49" cy="48"/>
              </a:xfrm>
              <a:custGeom>
                <a:avLst/>
                <a:gdLst/>
                <a:ahLst/>
                <a:cxnLst>
                  <a:cxn ang="0">
                    <a:pos x="49" y="26"/>
                  </a:cxn>
                  <a:cxn ang="0">
                    <a:pos x="42" y="41"/>
                  </a:cxn>
                  <a:cxn ang="0">
                    <a:pos x="23" y="48"/>
                  </a:cxn>
                  <a:cxn ang="0">
                    <a:pos x="23" y="48"/>
                  </a:cxn>
                  <a:cxn ang="0">
                    <a:pos x="8" y="41"/>
                  </a:cxn>
                  <a:cxn ang="0">
                    <a:pos x="0" y="26"/>
                  </a:cxn>
                  <a:cxn ang="0">
                    <a:pos x="0" y="26"/>
                  </a:cxn>
                  <a:cxn ang="0">
                    <a:pos x="8" y="8"/>
                  </a:cxn>
                  <a:cxn ang="0">
                    <a:pos x="23" y="0"/>
                  </a:cxn>
                  <a:cxn ang="0">
                    <a:pos x="23" y="0"/>
                  </a:cxn>
                  <a:cxn ang="0">
                    <a:pos x="42" y="8"/>
                  </a:cxn>
                  <a:cxn ang="0">
                    <a:pos x="49" y="26"/>
                  </a:cxn>
                </a:cxnLst>
                <a:rect l="0" t="0" r="r" b="b"/>
                <a:pathLst>
                  <a:path w="49" h="48">
                    <a:moveTo>
                      <a:pt x="49" y="26"/>
                    </a:moveTo>
                    <a:lnTo>
                      <a:pt x="42" y="41"/>
                    </a:lnTo>
                    <a:lnTo>
                      <a:pt x="23" y="48"/>
                    </a:lnTo>
                    <a:lnTo>
                      <a:pt x="23" y="48"/>
                    </a:lnTo>
                    <a:lnTo>
                      <a:pt x="8" y="41"/>
                    </a:lnTo>
                    <a:lnTo>
                      <a:pt x="0" y="26"/>
                    </a:lnTo>
                    <a:lnTo>
                      <a:pt x="0" y="26"/>
                    </a:lnTo>
                    <a:lnTo>
                      <a:pt x="8" y="8"/>
                    </a:lnTo>
                    <a:lnTo>
                      <a:pt x="23" y="0"/>
                    </a:lnTo>
                    <a:lnTo>
                      <a:pt x="23" y="0"/>
                    </a:lnTo>
                    <a:lnTo>
                      <a:pt x="42" y="8"/>
                    </a:lnTo>
                    <a:lnTo>
                      <a:pt x="49" y="26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 sz="2403"/>
              </a:p>
            </p:txBody>
          </p:sp>
          <p:sp>
            <p:nvSpPr>
              <p:cNvPr id="301137" name="Freeform 81">
                <a:extLst>
                  <a:ext uri="{FF2B5EF4-FFF2-40B4-BE49-F238E27FC236}">
                    <a16:creationId xmlns:a16="http://schemas.microsoft.com/office/drawing/2014/main" id="{CA2210D3-C5F5-C544-9CE9-6B97CCC73257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1028" y="1345"/>
                <a:ext cx="49" cy="48"/>
              </a:xfrm>
              <a:custGeom>
                <a:avLst/>
                <a:gdLst/>
                <a:ahLst/>
                <a:cxnLst>
                  <a:cxn ang="0">
                    <a:pos x="49" y="26"/>
                  </a:cxn>
                  <a:cxn ang="0">
                    <a:pos x="42" y="41"/>
                  </a:cxn>
                  <a:cxn ang="0">
                    <a:pos x="23" y="48"/>
                  </a:cxn>
                  <a:cxn ang="0">
                    <a:pos x="23" y="48"/>
                  </a:cxn>
                  <a:cxn ang="0">
                    <a:pos x="8" y="41"/>
                  </a:cxn>
                  <a:cxn ang="0">
                    <a:pos x="0" y="26"/>
                  </a:cxn>
                  <a:cxn ang="0">
                    <a:pos x="0" y="26"/>
                  </a:cxn>
                  <a:cxn ang="0">
                    <a:pos x="8" y="8"/>
                  </a:cxn>
                  <a:cxn ang="0">
                    <a:pos x="23" y="0"/>
                  </a:cxn>
                  <a:cxn ang="0">
                    <a:pos x="23" y="0"/>
                  </a:cxn>
                  <a:cxn ang="0">
                    <a:pos x="42" y="8"/>
                  </a:cxn>
                  <a:cxn ang="0">
                    <a:pos x="49" y="26"/>
                  </a:cxn>
                </a:cxnLst>
                <a:rect l="0" t="0" r="r" b="b"/>
                <a:pathLst>
                  <a:path w="49" h="48">
                    <a:moveTo>
                      <a:pt x="49" y="26"/>
                    </a:moveTo>
                    <a:lnTo>
                      <a:pt x="42" y="41"/>
                    </a:lnTo>
                    <a:lnTo>
                      <a:pt x="23" y="48"/>
                    </a:lnTo>
                    <a:lnTo>
                      <a:pt x="23" y="48"/>
                    </a:lnTo>
                    <a:lnTo>
                      <a:pt x="8" y="41"/>
                    </a:lnTo>
                    <a:lnTo>
                      <a:pt x="0" y="26"/>
                    </a:lnTo>
                    <a:lnTo>
                      <a:pt x="0" y="26"/>
                    </a:lnTo>
                    <a:lnTo>
                      <a:pt x="8" y="8"/>
                    </a:lnTo>
                    <a:lnTo>
                      <a:pt x="23" y="0"/>
                    </a:lnTo>
                    <a:lnTo>
                      <a:pt x="23" y="0"/>
                    </a:lnTo>
                    <a:lnTo>
                      <a:pt x="42" y="8"/>
                    </a:lnTo>
                    <a:lnTo>
                      <a:pt x="49" y="26"/>
                    </a:lnTo>
                  </a:path>
                </a:pathLst>
              </a:custGeom>
              <a:solidFill>
                <a:srgbClr val="FFFFFF"/>
              </a:solidFill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 sz="2403"/>
              </a:p>
            </p:txBody>
          </p:sp>
          <p:sp>
            <p:nvSpPr>
              <p:cNvPr id="301138" name="Line 82">
                <a:extLst>
                  <a:ext uri="{FF2B5EF4-FFF2-40B4-BE49-F238E27FC236}">
                    <a16:creationId xmlns:a16="http://schemas.microsoft.com/office/drawing/2014/main" id="{55424499-3E7E-804C-955E-C0012CCD8F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1002" y="1102"/>
                <a:ext cx="95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 sz="2403"/>
              </a:p>
            </p:txBody>
          </p:sp>
        </p:grpSp>
        <p:sp>
          <p:nvSpPr>
            <p:cNvPr id="301139" name="Line 83">
              <a:extLst>
                <a:ext uri="{FF2B5EF4-FFF2-40B4-BE49-F238E27FC236}">
                  <a16:creationId xmlns:a16="http://schemas.microsoft.com/office/drawing/2014/main" id="{D6AE9100-FFC8-7B4A-8269-5EFF7E43B9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4" y="1344"/>
              <a:ext cx="99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01140" name="Line 84">
              <a:extLst>
                <a:ext uri="{FF2B5EF4-FFF2-40B4-BE49-F238E27FC236}">
                  <a16:creationId xmlns:a16="http://schemas.microsoft.com/office/drawing/2014/main" id="{E2750AC6-FA0E-9648-89F4-7011263301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1536"/>
              <a:ext cx="819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01141" name="Freeform 85">
              <a:extLst>
                <a:ext uri="{FF2B5EF4-FFF2-40B4-BE49-F238E27FC236}">
                  <a16:creationId xmlns:a16="http://schemas.microsoft.com/office/drawing/2014/main" id="{6F04DE2E-607F-2643-AF87-0B9927CD5B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9" y="1296"/>
              <a:ext cx="378" cy="277"/>
            </a:xfrm>
            <a:custGeom>
              <a:avLst/>
              <a:gdLst/>
              <a:ahLst/>
              <a:cxnLst>
                <a:cxn ang="0">
                  <a:pos x="382" y="140"/>
                </a:cxn>
                <a:cxn ang="0">
                  <a:pos x="378" y="166"/>
                </a:cxn>
                <a:cxn ang="0">
                  <a:pos x="370" y="192"/>
                </a:cxn>
                <a:cxn ang="0">
                  <a:pos x="359" y="214"/>
                </a:cxn>
                <a:cxn ang="0">
                  <a:pos x="340" y="236"/>
                </a:cxn>
                <a:cxn ang="0">
                  <a:pos x="317" y="254"/>
                </a:cxn>
                <a:cxn ang="0">
                  <a:pos x="294" y="266"/>
                </a:cxn>
                <a:cxn ang="0">
                  <a:pos x="267" y="273"/>
                </a:cxn>
                <a:cxn ang="0">
                  <a:pos x="237" y="277"/>
                </a:cxn>
                <a:cxn ang="0">
                  <a:pos x="237" y="277"/>
                </a:cxn>
                <a:cxn ang="0">
                  <a:pos x="0" y="277"/>
                </a:cxn>
                <a:cxn ang="0">
                  <a:pos x="0" y="277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237" y="0"/>
                </a:cxn>
                <a:cxn ang="0">
                  <a:pos x="237" y="0"/>
                </a:cxn>
                <a:cxn ang="0">
                  <a:pos x="267" y="3"/>
                </a:cxn>
                <a:cxn ang="0">
                  <a:pos x="294" y="11"/>
                </a:cxn>
                <a:cxn ang="0">
                  <a:pos x="317" y="22"/>
                </a:cxn>
                <a:cxn ang="0">
                  <a:pos x="340" y="40"/>
                </a:cxn>
                <a:cxn ang="0">
                  <a:pos x="359" y="62"/>
                </a:cxn>
                <a:cxn ang="0">
                  <a:pos x="370" y="85"/>
                </a:cxn>
                <a:cxn ang="0">
                  <a:pos x="378" y="110"/>
                </a:cxn>
                <a:cxn ang="0">
                  <a:pos x="382" y="140"/>
                </a:cxn>
              </a:cxnLst>
              <a:rect l="0" t="0" r="r" b="b"/>
              <a:pathLst>
                <a:path w="382" h="277">
                  <a:moveTo>
                    <a:pt x="382" y="140"/>
                  </a:moveTo>
                  <a:lnTo>
                    <a:pt x="378" y="166"/>
                  </a:lnTo>
                  <a:lnTo>
                    <a:pt x="370" y="192"/>
                  </a:lnTo>
                  <a:lnTo>
                    <a:pt x="359" y="214"/>
                  </a:lnTo>
                  <a:lnTo>
                    <a:pt x="340" y="236"/>
                  </a:lnTo>
                  <a:lnTo>
                    <a:pt x="317" y="254"/>
                  </a:lnTo>
                  <a:lnTo>
                    <a:pt x="294" y="266"/>
                  </a:lnTo>
                  <a:lnTo>
                    <a:pt x="267" y="273"/>
                  </a:lnTo>
                  <a:lnTo>
                    <a:pt x="237" y="277"/>
                  </a:lnTo>
                  <a:lnTo>
                    <a:pt x="237" y="277"/>
                  </a:lnTo>
                  <a:lnTo>
                    <a:pt x="0" y="277"/>
                  </a:lnTo>
                  <a:lnTo>
                    <a:pt x="0" y="277"/>
                  </a:lnTo>
                  <a:lnTo>
                    <a:pt x="0" y="0"/>
                  </a:lnTo>
                  <a:lnTo>
                    <a:pt x="0" y="0"/>
                  </a:lnTo>
                  <a:lnTo>
                    <a:pt x="237" y="0"/>
                  </a:lnTo>
                  <a:lnTo>
                    <a:pt x="237" y="0"/>
                  </a:lnTo>
                  <a:lnTo>
                    <a:pt x="267" y="3"/>
                  </a:lnTo>
                  <a:lnTo>
                    <a:pt x="294" y="11"/>
                  </a:lnTo>
                  <a:lnTo>
                    <a:pt x="317" y="22"/>
                  </a:lnTo>
                  <a:lnTo>
                    <a:pt x="340" y="40"/>
                  </a:lnTo>
                  <a:lnTo>
                    <a:pt x="359" y="62"/>
                  </a:lnTo>
                  <a:lnTo>
                    <a:pt x="370" y="85"/>
                  </a:lnTo>
                  <a:lnTo>
                    <a:pt x="378" y="110"/>
                  </a:lnTo>
                  <a:lnTo>
                    <a:pt x="382" y="14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01142" name="Freeform 86">
              <a:extLst>
                <a:ext uri="{FF2B5EF4-FFF2-40B4-BE49-F238E27FC236}">
                  <a16:creationId xmlns:a16="http://schemas.microsoft.com/office/drawing/2014/main" id="{405C56A6-9207-664E-9532-9229B18040B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9" y="1296"/>
              <a:ext cx="378" cy="277"/>
            </a:xfrm>
            <a:custGeom>
              <a:avLst/>
              <a:gdLst/>
              <a:ahLst/>
              <a:cxnLst>
                <a:cxn ang="0">
                  <a:pos x="382" y="140"/>
                </a:cxn>
                <a:cxn ang="0">
                  <a:pos x="378" y="166"/>
                </a:cxn>
                <a:cxn ang="0">
                  <a:pos x="370" y="192"/>
                </a:cxn>
                <a:cxn ang="0">
                  <a:pos x="359" y="214"/>
                </a:cxn>
                <a:cxn ang="0">
                  <a:pos x="340" y="236"/>
                </a:cxn>
                <a:cxn ang="0">
                  <a:pos x="317" y="254"/>
                </a:cxn>
                <a:cxn ang="0">
                  <a:pos x="294" y="266"/>
                </a:cxn>
                <a:cxn ang="0">
                  <a:pos x="267" y="273"/>
                </a:cxn>
                <a:cxn ang="0">
                  <a:pos x="237" y="277"/>
                </a:cxn>
                <a:cxn ang="0">
                  <a:pos x="237" y="277"/>
                </a:cxn>
                <a:cxn ang="0">
                  <a:pos x="0" y="277"/>
                </a:cxn>
                <a:cxn ang="0">
                  <a:pos x="0" y="277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237" y="0"/>
                </a:cxn>
                <a:cxn ang="0">
                  <a:pos x="237" y="0"/>
                </a:cxn>
                <a:cxn ang="0">
                  <a:pos x="267" y="3"/>
                </a:cxn>
                <a:cxn ang="0">
                  <a:pos x="294" y="11"/>
                </a:cxn>
                <a:cxn ang="0">
                  <a:pos x="317" y="22"/>
                </a:cxn>
                <a:cxn ang="0">
                  <a:pos x="340" y="40"/>
                </a:cxn>
                <a:cxn ang="0">
                  <a:pos x="359" y="62"/>
                </a:cxn>
                <a:cxn ang="0">
                  <a:pos x="370" y="85"/>
                </a:cxn>
                <a:cxn ang="0">
                  <a:pos x="378" y="110"/>
                </a:cxn>
                <a:cxn ang="0">
                  <a:pos x="382" y="140"/>
                </a:cxn>
              </a:cxnLst>
              <a:rect l="0" t="0" r="r" b="b"/>
              <a:pathLst>
                <a:path w="382" h="277">
                  <a:moveTo>
                    <a:pt x="382" y="140"/>
                  </a:moveTo>
                  <a:lnTo>
                    <a:pt x="378" y="166"/>
                  </a:lnTo>
                  <a:lnTo>
                    <a:pt x="370" y="192"/>
                  </a:lnTo>
                  <a:lnTo>
                    <a:pt x="359" y="214"/>
                  </a:lnTo>
                  <a:lnTo>
                    <a:pt x="340" y="236"/>
                  </a:lnTo>
                  <a:lnTo>
                    <a:pt x="317" y="254"/>
                  </a:lnTo>
                  <a:lnTo>
                    <a:pt x="294" y="266"/>
                  </a:lnTo>
                  <a:lnTo>
                    <a:pt x="267" y="273"/>
                  </a:lnTo>
                  <a:lnTo>
                    <a:pt x="237" y="277"/>
                  </a:lnTo>
                  <a:lnTo>
                    <a:pt x="237" y="277"/>
                  </a:lnTo>
                  <a:lnTo>
                    <a:pt x="0" y="277"/>
                  </a:lnTo>
                  <a:lnTo>
                    <a:pt x="0" y="277"/>
                  </a:lnTo>
                  <a:lnTo>
                    <a:pt x="0" y="0"/>
                  </a:lnTo>
                  <a:lnTo>
                    <a:pt x="0" y="0"/>
                  </a:lnTo>
                  <a:lnTo>
                    <a:pt x="237" y="0"/>
                  </a:lnTo>
                  <a:lnTo>
                    <a:pt x="237" y="0"/>
                  </a:lnTo>
                  <a:lnTo>
                    <a:pt x="267" y="3"/>
                  </a:lnTo>
                  <a:lnTo>
                    <a:pt x="294" y="11"/>
                  </a:lnTo>
                  <a:lnTo>
                    <a:pt x="317" y="22"/>
                  </a:lnTo>
                  <a:lnTo>
                    <a:pt x="340" y="40"/>
                  </a:lnTo>
                  <a:lnTo>
                    <a:pt x="359" y="62"/>
                  </a:lnTo>
                  <a:lnTo>
                    <a:pt x="370" y="85"/>
                  </a:lnTo>
                  <a:lnTo>
                    <a:pt x="378" y="110"/>
                  </a:lnTo>
                  <a:lnTo>
                    <a:pt x="382" y="14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01143" name="Text Box 87">
              <a:extLst>
                <a:ext uri="{FF2B5EF4-FFF2-40B4-BE49-F238E27FC236}">
                  <a16:creationId xmlns:a16="http://schemas.microsoft.com/office/drawing/2014/main" id="{ED739C11-AF44-5C43-A94A-A8FEFC0E15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2" y="1392"/>
              <a:ext cx="268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r" eaLnBrk="1" hangingPunct="1">
                <a:defRPr/>
              </a:pPr>
              <a:r>
                <a:rPr lang="en-US" sz="1602" b="0" dirty="0"/>
                <a:t>b</a:t>
              </a:r>
              <a:r>
                <a:rPr lang="en-US" sz="1602" b="0" baseline="-25000" dirty="0"/>
                <a:t>63</a:t>
              </a:r>
            </a:p>
          </p:txBody>
        </p:sp>
        <p:sp>
          <p:nvSpPr>
            <p:cNvPr id="301144" name="Text Box 88">
              <a:extLst>
                <a:ext uri="{FF2B5EF4-FFF2-40B4-BE49-F238E27FC236}">
                  <a16:creationId xmlns:a16="http://schemas.microsoft.com/office/drawing/2014/main" id="{EB5BC745-3467-2D4D-B058-27A55AF86F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" y="720"/>
              <a:ext cx="167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sz="1602" b="0"/>
                <a:t>s</a:t>
              </a:r>
            </a:p>
          </p:txBody>
        </p:sp>
        <p:sp>
          <p:nvSpPr>
            <p:cNvPr id="301145" name="Line 89">
              <a:extLst>
                <a:ext uri="{FF2B5EF4-FFF2-40B4-BE49-F238E27FC236}">
                  <a16:creationId xmlns:a16="http://schemas.microsoft.com/office/drawing/2014/main" id="{0CBAC05D-D96C-EB4F-AAD4-7893D52F14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1728"/>
              <a:ext cx="431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01146" name="Line 90">
              <a:extLst>
                <a:ext uri="{FF2B5EF4-FFF2-40B4-BE49-F238E27FC236}">
                  <a16:creationId xmlns:a16="http://schemas.microsoft.com/office/drawing/2014/main" id="{BBD55985-117D-7749-AA86-75BD1B9CD58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4" y="1920"/>
              <a:ext cx="82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01147" name="Freeform 91">
              <a:extLst>
                <a:ext uri="{FF2B5EF4-FFF2-40B4-BE49-F238E27FC236}">
                  <a16:creationId xmlns:a16="http://schemas.microsoft.com/office/drawing/2014/main" id="{FA4EB097-48EA-D64A-B947-9702665003B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9" y="1680"/>
              <a:ext cx="378" cy="281"/>
            </a:xfrm>
            <a:custGeom>
              <a:avLst/>
              <a:gdLst/>
              <a:ahLst/>
              <a:cxnLst>
                <a:cxn ang="0">
                  <a:pos x="382" y="140"/>
                </a:cxn>
                <a:cxn ang="0">
                  <a:pos x="378" y="166"/>
                </a:cxn>
                <a:cxn ang="0">
                  <a:pos x="370" y="192"/>
                </a:cxn>
                <a:cxn ang="0">
                  <a:pos x="359" y="214"/>
                </a:cxn>
                <a:cxn ang="0">
                  <a:pos x="340" y="236"/>
                </a:cxn>
                <a:cxn ang="0">
                  <a:pos x="317" y="254"/>
                </a:cxn>
                <a:cxn ang="0">
                  <a:pos x="294" y="266"/>
                </a:cxn>
                <a:cxn ang="0">
                  <a:pos x="267" y="273"/>
                </a:cxn>
                <a:cxn ang="0">
                  <a:pos x="237" y="277"/>
                </a:cxn>
                <a:cxn ang="0">
                  <a:pos x="237" y="277"/>
                </a:cxn>
                <a:cxn ang="0">
                  <a:pos x="0" y="277"/>
                </a:cxn>
                <a:cxn ang="0">
                  <a:pos x="0" y="277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237" y="0"/>
                </a:cxn>
                <a:cxn ang="0">
                  <a:pos x="237" y="0"/>
                </a:cxn>
                <a:cxn ang="0">
                  <a:pos x="267" y="3"/>
                </a:cxn>
                <a:cxn ang="0">
                  <a:pos x="294" y="11"/>
                </a:cxn>
                <a:cxn ang="0">
                  <a:pos x="317" y="22"/>
                </a:cxn>
                <a:cxn ang="0">
                  <a:pos x="340" y="40"/>
                </a:cxn>
                <a:cxn ang="0">
                  <a:pos x="359" y="62"/>
                </a:cxn>
                <a:cxn ang="0">
                  <a:pos x="370" y="85"/>
                </a:cxn>
                <a:cxn ang="0">
                  <a:pos x="378" y="110"/>
                </a:cxn>
                <a:cxn ang="0">
                  <a:pos x="382" y="140"/>
                </a:cxn>
              </a:cxnLst>
              <a:rect l="0" t="0" r="r" b="b"/>
              <a:pathLst>
                <a:path w="382" h="277">
                  <a:moveTo>
                    <a:pt x="382" y="140"/>
                  </a:moveTo>
                  <a:lnTo>
                    <a:pt x="378" y="166"/>
                  </a:lnTo>
                  <a:lnTo>
                    <a:pt x="370" y="192"/>
                  </a:lnTo>
                  <a:lnTo>
                    <a:pt x="359" y="214"/>
                  </a:lnTo>
                  <a:lnTo>
                    <a:pt x="340" y="236"/>
                  </a:lnTo>
                  <a:lnTo>
                    <a:pt x="317" y="254"/>
                  </a:lnTo>
                  <a:lnTo>
                    <a:pt x="294" y="266"/>
                  </a:lnTo>
                  <a:lnTo>
                    <a:pt x="267" y="273"/>
                  </a:lnTo>
                  <a:lnTo>
                    <a:pt x="237" y="277"/>
                  </a:lnTo>
                  <a:lnTo>
                    <a:pt x="237" y="277"/>
                  </a:lnTo>
                  <a:lnTo>
                    <a:pt x="0" y="277"/>
                  </a:lnTo>
                  <a:lnTo>
                    <a:pt x="0" y="277"/>
                  </a:lnTo>
                  <a:lnTo>
                    <a:pt x="0" y="0"/>
                  </a:lnTo>
                  <a:lnTo>
                    <a:pt x="0" y="0"/>
                  </a:lnTo>
                  <a:lnTo>
                    <a:pt x="237" y="0"/>
                  </a:lnTo>
                  <a:lnTo>
                    <a:pt x="237" y="0"/>
                  </a:lnTo>
                  <a:lnTo>
                    <a:pt x="267" y="3"/>
                  </a:lnTo>
                  <a:lnTo>
                    <a:pt x="294" y="11"/>
                  </a:lnTo>
                  <a:lnTo>
                    <a:pt x="317" y="22"/>
                  </a:lnTo>
                  <a:lnTo>
                    <a:pt x="340" y="40"/>
                  </a:lnTo>
                  <a:lnTo>
                    <a:pt x="359" y="62"/>
                  </a:lnTo>
                  <a:lnTo>
                    <a:pt x="370" y="85"/>
                  </a:lnTo>
                  <a:lnTo>
                    <a:pt x="378" y="110"/>
                  </a:lnTo>
                  <a:lnTo>
                    <a:pt x="382" y="14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01148" name="Freeform 92">
              <a:extLst>
                <a:ext uri="{FF2B5EF4-FFF2-40B4-BE49-F238E27FC236}">
                  <a16:creationId xmlns:a16="http://schemas.microsoft.com/office/drawing/2014/main" id="{B16A2B5E-7E60-6A4D-B24E-CC002874E7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9" y="1680"/>
              <a:ext cx="378" cy="281"/>
            </a:xfrm>
            <a:custGeom>
              <a:avLst/>
              <a:gdLst/>
              <a:ahLst/>
              <a:cxnLst>
                <a:cxn ang="0">
                  <a:pos x="382" y="140"/>
                </a:cxn>
                <a:cxn ang="0">
                  <a:pos x="378" y="166"/>
                </a:cxn>
                <a:cxn ang="0">
                  <a:pos x="370" y="192"/>
                </a:cxn>
                <a:cxn ang="0">
                  <a:pos x="359" y="214"/>
                </a:cxn>
                <a:cxn ang="0">
                  <a:pos x="340" y="236"/>
                </a:cxn>
                <a:cxn ang="0">
                  <a:pos x="317" y="254"/>
                </a:cxn>
                <a:cxn ang="0">
                  <a:pos x="294" y="266"/>
                </a:cxn>
                <a:cxn ang="0">
                  <a:pos x="267" y="273"/>
                </a:cxn>
                <a:cxn ang="0">
                  <a:pos x="237" y="277"/>
                </a:cxn>
                <a:cxn ang="0">
                  <a:pos x="237" y="277"/>
                </a:cxn>
                <a:cxn ang="0">
                  <a:pos x="0" y="277"/>
                </a:cxn>
                <a:cxn ang="0">
                  <a:pos x="0" y="277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237" y="0"/>
                </a:cxn>
                <a:cxn ang="0">
                  <a:pos x="237" y="0"/>
                </a:cxn>
                <a:cxn ang="0">
                  <a:pos x="267" y="3"/>
                </a:cxn>
                <a:cxn ang="0">
                  <a:pos x="294" y="11"/>
                </a:cxn>
                <a:cxn ang="0">
                  <a:pos x="317" y="22"/>
                </a:cxn>
                <a:cxn ang="0">
                  <a:pos x="340" y="40"/>
                </a:cxn>
                <a:cxn ang="0">
                  <a:pos x="359" y="62"/>
                </a:cxn>
                <a:cxn ang="0">
                  <a:pos x="370" y="85"/>
                </a:cxn>
                <a:cxn ang="0">
                  <a:pos x="378" y="110"/>
                </a:cxn>
                <a:cxn ang="0">
                  <a:pos x="382" y="140"/>
                </a:cxn>
              </a:cxnLst>
              <a:rect l="0" t="0" r="r" b="b"/>
              <a:pathLst>
                <a:path w="382" h="277">
                  <a:moveTo>
                    <a:pt x="382" y="140"/>
                  </a:moveTo>
                  <a:lnTo>
                    <a:pt x="378" y="166"/>
                  </a:lnTo>
                  <a:lnTo>
                    <a:pt x="370" y="192"/>
                  </a:lnTo>
                  <a:lnTo>
                    <a:pt x="359" y="214"/>
                  </a:lnTo>
                  <a:lnTo>
                    <a:pt x="340" y="236"/>
                  </a:lnTo>
                  <a:lnTo>
                    <a:pt x="317" y="254"/>
                  </a:lnTo>
                  <a:lnTo>
                    <a:pt x="294" y="266"/>
                  </a:lnTo>
                  <a:lnTo>
                    <a:pt x="267" y="273"/>
                  </a:lnTo>
                  <a:lnTo>
                    <a:pt x="237" y="277"/>
                  </a:lnTo>
                  <a:lnTo>
                    <a:pt x="237" y="277"/>
                  </a:lnTo>
                  <a:lnTo>
                    <a:pt x="0" y="277"/>
                  </a:lnTo>
                  <a:lnTo>
                    <a:pt x="0" y="277"/>
                  </a:lnTo>
                  <a:lnTo>
                    <a:pt x="0" y="0"/>
                  </a:lnTo>
                  <a:lnTo>
                    <a:pt x="0" y="0"/>
                  </a:lnTo>
                  <a:lnTo>
                    <a:pt x="237" y="0"/>
                  </a:lnTo>
                  <a:lnTo>
                    <a:pt x="237" y="0"/>
                  </a:lnTo>
                  <a:lnTo>
                    <a:pt x="267" y="3"/>
                  </a:lnTo>
                  <a:lnTo>
                    <a:pt x="294" y="11"/>
                  </a:lnTo>
                  <a:lnTo>
                    <a:pt x="317" y="22"/>
                  </a:lnTo>
                  <a:lnTo>
                    <a:pt x="340" y="40"/>
                  </a:lnTo>
                  <a:lnTo>
                    <a:pt x="359" y="62"/>
                  </a:lnTo>
                  <a:lnTo>
                    <a:pt x="370" y="85"/>
                  </a:lnTo>
                  <a:lnTo>
                    <a:pt x="378" y="110"/>
                  </a:lnTo>
                  <a:lnTo>
                    <a:pt x="382" y="14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01149" name="Text Box 93">
              <a:extLst>
                <a:ext uri="{FF2B5EF4-FFF2-40B4-BE49-F238E27FC236}">
                  <a16:creationId xmlns:a16="http://schemas.microsoft.com/office/drawing/2014/main" id="{F788F130-9B8E-3443-8B8C-5FFE971B81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9" y="1804"/>
              <a:ext cx="261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r" eaLnBrk="1" hangingPunct="1">
                <a:defRPr/>
              </a:pPr>
              <a:r>
                <a:rPr lang="en-US" sz="1602" b="0" dirty="0"/>
                <a:t>a</a:t>
              </a:r>
              <a:r>
                <a:rPr lang="en-US" sz="1602" b="0" baseline="-25000" dirty="0"/>
                <a:t>63</a:t>
              </a:r>
            </a:p>
          </p:txBody>
        </p:sp>
        <p:sp>
          <p:nvSpPr>
            <p:cNvPr id="301150" name="Line 94">
              <a:extLst>
                <a:ext uri="{FF2B5EF4-FFF2-40B4-BE49-F238E27FC236}">
                  <a16:creationId xmlns:a16="http://schemas.microsoft.com/office/drawing/2014/main" id="{3A4FCCFE-8900-064B-9DB3-B4C3484655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864"/>
              <a:ext cx="62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01151" name="Freeform 95">
              <a:extLst>
                <a:ext uri="{FF2B5EF4-FFF2-40B4-BE49-F238E27FC236}">
                  <a16:creationId xmlns:a16="http://schemas.microsoft.com/office/drawing/2014/main" id="{66DF4D81-DCB8-6A42-B943-8854D3AFC6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8" y="1248"/>
              <a:ext cx="96" cy="96"/>
            </a:xfrm>
            <a:custGeom>
              <a:avLst/>
              <a:gdLst/>
              <a:ahLst/>
              <a:cxnLst>
                <a:cxn ang="0">
                  <a:pos x="336" y="1056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336" h="1056">
                  <a:moveTo>
                    <a:pt x="336" y="1056"/>
                  </a:move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01152" name="Rectangle 96">
              <a:extLst>
                <a:ext uri="{FF2B5EF4-FFF2-40B4-BE49-F238E27FC236}">
                  <a16:creationId xmlns:a16="http://schemas.microsoft.com/office/drawing/2014/main" id="{F5420C15-51A8-F341-9BCB-9FFA112927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1536"/>
              <a:ext cx="432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sz="1602" b="0" dirty="0"/>
                <a:t>out</a:t>
              </a:r>
              <a:r>
                <a:rPr lang="en-US" sz="1602" b="0" baseline="-25000" dirty="0"/>
                <a:t>63</a:t>
              </a:r>
            </a:p>
          </p:txBody>
        </p:sp>
        <p:sp>
          <p:nvSpPr>
            <p:cNvPr id="301153" name="Rectangle 97">
              <a:extLst>
                <a:ext uri="{FF2B5EF4-FFF2-40B4-BE49-F238E27FC236}">
                  <a16:creationId xmlns:a16="http://schemas.microsoft.com/office/drawing/2014/main" id="{F4A688BC-0362-3740-AA98-E112F1A63D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2016"/>
              <a:ext cx="1776" cy="768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Ctr="1"/>
            <a:lstStyle/>
            <a:p>
              <a:pPr eaLnBrk="1" hangingPunct="1">
                <a:defRPr/>
              </a:pPr>
              <a:endParaRPr lang="en-US" sz="2403" b="0"/>
            </a:p>
          </p:txBody>
        </p:sp>
        <p:sp>
          <p:nvSpPr>
            <p:cNvPr id="301154" name="Freeform 98">
              <a:extLst>
                <a:ext uri="{FF2B5EF4-FFF2-40B4-BE49-F238E27FC236}">
                  <a16:creationId xmlns:a16="http://schemas.microsoft.com/office/drawing/2014/main" id="{2F8A2AB6-1DCE-8543-A76B-48E4D2E4FD7B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824" y="2208"/>
              <a:ext cx="340" cy="96"/>
            </a:xfrm>
            <a:custGeom>
              <a:avLst/>
              <a:gdLst/>
              <a:ahLst/>
              <a:cxnLst>
                <a:cxn ang="0">
                  <a:pos x="0" y="96"/>
                </a:cxn>
                <a:cxn ang="0">
                  <a:pos x="144" y="96"/>
                </a:cxn>
                <a:cxn ang="0">
                  <a:pos x="144" y="0"/>
                </a:cxn>
                <a:cxn ang="0">
                  <a:pos x="336" y="0"/>
                </a:cxn>
              </a:cxnLst>
              <a:rect l="0" t="0" r="r" b="b"/>
              <a:pathLst>
                <a:path w="336" h="96">
                  <a:moveTo>
                    <a:pt x="0" y="96"/>
                  </a:moveTo>
                  <a:lnTo>
                    <a:pt x="144" y="96"/>
                  </a:lnTo>
                  <a:lnTo>
                    <a:pt x="144" y="0"/>
                  </a:lnTo>
                  <a:lnTo>
                    <a:pt x="336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01155" name="Freeform 99">
              <a:extLst>
                <a:ext uri="{FF2B5EF4-FFF2-40B4-BE49-F238E27FC236}">
                  <a16:creationId xmlns:a16="http://schemas.microsoft.com/office/drawing/2014/main" id="{EBFDE305-D9A9-4241-808F-15803018A3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4" y="2496"/>
              <a:ext cx="340" cy="100"/>
            </a:xfrm>
            <a:custGeom>
              <a:avLst/>
              <a:gdLst/>
              <a:ahLst/>
              <a:cxnLst>
                <a:cxn ang="0">
                  <a:pos x="0" y="96"/>
                </a:cxn>
                <a:cxn ang="0">
                  <a:pos x="144" y="96"/>
                </a:cxn>
                <a:cxn ang="0">
                  <a:pos x="144" y="0"/>
                </a:cxn>
                <a:cxn ang="0">
                  <a:pos x="336" y="0"/>
                </a:cxn>
              </a:cxnLst>
              <a:rect l="0" t="0" r="r" b="b"/>
              <a:pathLst>
                <a:path w="336" h="96">
                  <a:moveTo>
                    <a:pt x="0" y="96"/>
                  </a:moveTo>
                  <a:lnTo>
                    <a:pt x="144" y="96"/>
                  </a:lnTo>
                  <a:lnTo>
                    <a:pt x="144" y="0"/>
                  </a:lnTo>
                  <a:lnTo>
                    <a:pt x="336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01156" name="Line 100">
              <a:extLst>
                <a:ext uri="{FF2B5EF4-FFF2-40B4-BE49-F238E27FC236}">
                  <a16:creationId xmlns:a16="http://schemas.microsoft.com/office/drawing/2014/main" id="{F9458645-419E-6546-9BBE-27EE180ED6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89" y="2396"/>
              <a:ext cx="247" cy="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01157" name="Freeform 101">
              <a:extLst>
                <a:ext uri="{FF2B5EF4-FFF2-40B4-BE49-F238E27FC236}">
                  <a16:creationId xmlns:a16="http://schemas.microsoft.com/office/drawing/2014/main" id="{CD0C79E3-BE6B-8F40-AF28-680B2ADCF133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0" y="2256"/>
              <a:ext cx="410" cy="28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90" y="0"/>
                </a:cxn>
                <a:cxn ang="0">
                  <a:pos x="190" y="0"/>
                </a:cxn>
                <a:cxn ang="0">
                  <a:pos x="227" y="3"/>
                </a:cxn>
                <a:cxn ang="0">
                  <a:pos x="262" y="11"/>
                </a:cxn>
                <a:cxn ang="0">
                  <a:pos x="292" y="22"/>
                </a:cxn>
                <a:cxn ang="0">
                  <a:pos x="322" y="40"/>
                </a:cxn>
                <a:cxn ang="0">
                  <a:pos x="372" y="81"/>
                </a:cxn>
                <a:cxn ang="0">
                  <a:pos x="410" y="140"/>
                </a:cxn>
                <a:cxn ang="0">
                  <a:pos x="410" y="140"/>
                </a:cxn>
                <a:cxn ang="0">
                  <a:pos x="372" y="195"/>
                </a:cxn>
                <a:cxn ang="0">
                  <a:pos x="322" y="240"/>
                </a:cxn>
                <a:cxn ang="0">
                  <a:pos x="292" y="254"/>
                </a:cxn>
                <a:cxn ang="0">
                  <a:pos x="262" y="266"/>
                </a:cxn>
                <a:cxn ang="0">
                  <a:pos x="227" y="273"/>
                </a:cxn>
                <a:cxn ang="0">
                  <a:pos x="190" y="277"/>
                </a:cxn>
                <a:cxn ang="0">
                  <a:pos x="190" y="277"/>
                </a:cxn>
                <a:cxn ang="0">
                  <a:pos x="0" y="277"/>
                </a:cxn>
                <a:cxn ang="0">
                  <a:pos x="0" y="277"/>
                </a:cxn>
                <a:cxn ang="0">
                  <a:pos x="0" y="277"/>
                </a:cxn>
                <a:cxn ang="0">
                  <a:pos x="0" y="277"/>
                </a:cxn>
                <a:cxn ang="0">
                  <a:pos x="22" y="247"/>
                </a:cxn>
                <a:cxn ang="0">
                  <a:pos x="38" y="214"/>
                </a:cxn>
                <a:cxn ang="0">
                  <a:pos x="45" y="177"/>
                </a:cxn>
                <a:cxn ang="0">
                  <a:pos x="49" y="140"/>
                </a:cxn>
                <a:cxn ang="0">
                  <a:pos x="49" y="140"/>
                </a:cxn>
                <a:cxn ang="0">
                  <a:pos x="45" y="99"/>
                </a:cxn>
                <a:cxn ang="0">
                  <a:pos x="38" y="66"/>
                </a:cxn>
                <a:cxn ang="0">
                  <a:pos x="22" y="33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410" h="277">
                  <a:moveTo>
                    <a:pt x="0" y="0"/>
                  </a:moveTo>
                  <a:lnTo>
                    <a:pt x="190" y="0"/>
                  </a:lnTo>
                  <a:lnTo>
                    <a:pt x="190" y="0"/>
                  </a:lnTo>
                  <a:lnTo>
                    <a:pt x="227" y="3"/>
                  </a:lnTo>
                  <a:lnTo>
                    <a:pt x="262" y="11"/>
                  </a:lnTo>
                  <a:lnTo>
                    <a:pt x="292" y="22"/>
                  </a:lnTo>
                  <a:lnTo>
                    <a:pt x="322" y="40"/>
                  </a:lnTo>
                  <a:lnTo>
                    <a:pt x="372" y="81"/>
                  </a:lnTo>
                  <a:lnTo>
                    <a:pt x="410" y="140"/>
                  </a:lnTo>
                  <a:lnTo>
                    <a:pt x="410" y="140"/>
                  </a:lnTo>
                  <a:lnTo>
                    <a:pt x="372" y="195"/>
                  </a:lnTo>
                  <a:lnTo>
                    <a:pt x="322" y="240"/>
                  </a:lnTo>
                  <a:lnTo>
                    <a:pt x="292" y="254"/>
                  </a:lnTo>
                  <a:lnTo>
                    <a:pt x="262" y="266"/>
                  </a:lnTo>
                  <a:lnTo>
                    <a:pt x="227" y="273"/>
                  </a:lnTo>
                  <a:lnTo>
                    <a:pt x="190" y="277"/>
                  </a:lnTo>
                  <a:lnTo>
                    <a:pt x="190" y="277"/>
                  </a:lnTo>
                  <a:lnTo>
                    <a:pt x="0" y="277"/>
                  </a:lnTo>
                  <a:lnTo>
                    <a:pt x="0" y="277"/>
                  </a:lnTo>
                  <a:lnTo>
                    <a:pt x="0" y="277"/>
                  </a:lnTo>
                  <a:lnTo>
                    <a:pt x="0" y="277"/>
                  </a:lnTo>
                  <a:lnTo>
                    <a:pt x="22" y="247"/>
                  </a:lnTo>
                  <a:lnTo>
                    <a:pt x="38" y="214"/>
                  </a:lnTo>
                  <a:lnTo>
                    <a:pt x="45" y="177"/>
                  </a:lnTo>
                  <a:lnTo>
                    <a:pt x="49" y="140"/>
                  </a:lnTo>
                  <a:lnTo>
                    <a:pt x="49" y="140"/>
                  </a:lnTo>
                  <a:lnTo>
                    <a:pt x="45" y="99"/>
                  </a:lnTo>
                  <a:lnTo>
                    <a:pt x="38" y="66"/>
                  </a:lnTo>
                  <a:lnTo>
                    <a:pt x="22" y="33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01158" name="Freeform 102">
              <a:extLst>
                <a:ext uri="{FF2B5EF4-FFF2-40B4-BE49-F238E27FC236}">
                  <a16:creationId xmlns:a16="http://schemas.microsoft.com/office/drawing/2014/main" id="{C61C7EDC-0862-AC44-B91D-4C6CD2FA7C62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0" y="2256"/>
              <a:ext cx="410" cy="28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90" y="0"/>
                </a:cxn>
                <a:cxn ang="0">
                  <a:pos x="190" y="0"/>
                </a:cxn>
                <a:cxn ang="0">
                  <a:pos x="227" y="3"/>
                </a:cxn>
                <a:cxn ang="0">
                  <a:pos x="262" y="11"/>
                </a:cxn>
                <a:cxn ang="0">
                  <a:pos x="292" y="22"/>
                </a:cxn>
                <a:cxn ang="0">
                  <a:pos x="322" y="40"/>
                </a:cxn>
                <a:cxn ang="0">
                  <a:pos x="372" y="81"/>
                </a:cxn>
                <a:cxn ang="0">
                  <a:pos x="410" y="140"/>
                </a:cxn>
                <a:cxn ang="0">
                  <a:pos x="410" y="140"/>
                </a:cxn>
                <a:cxn ang="0">
                  <a:pos x="372" y="195"/>
                </a:cxn>
                <a:cxn ang="0">
                  <a:pos x="322" y="240"/>
                </a:cxn>
                <a:cxn ang="0">
                  <a:pos x="292" y="254"/>
                </a:cxn>
                <a:cxn ang="0">
                  <a:pos x="262" y="266"/>
                </a:cxn>
                <a:cxn ang="0">
                  <a:pos x="227" y="273"/>
                </a:cxn>
                <a:cxn ang="0">
                  <a:pos x="190" y="277"/>
                </a:cxn>
                <a:cxn ang="0">
                  <a:pos x="190" y="277"/>
                </a:cxn>
                <a:cxn ang="0">
                  <a:pos x="0" y="277"/>
                </a:cxn>
                <a:cxn ang="0">
                  <a:pos x="0" y="277"/>
                </a:cxn>
                <a:cxn ang="0">
                  <a:pos x="0" y="277"/>
                </a:cxn>
                <a:cxn ang="0">
                  <a:pos x="0" y="277"/>
                </a:cxn>
                <a:cxn ang="0">
                  <a:pos x="22" y="247"/>
                </a:cxn>
                <a:cxn ang="0">
                  <a:pos x="38" y="214"/>
                </a:cxn>
                <a:cxn ang="0">
                  <a:pos x="45" y="177"/>
                </a:cxn>
                <a:cxn ang="0">
                  <a:pos x="49" y="140"/>
                </a:cxn>
                <a:cxn ang="0">
                  <a:pos x="49" y="140"/>
                </a:cxn>
                <a:cxn ang="0">
                  <a:pos x="45" y="99"/>
                </a:cxn>
                <a:cxn ang="0">
                  <a:pos x="38" y="66"/>
                </a:cxn>
                <a:cxn ang="0">
                  <a:pos x="22" y="33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410" h="277">
                  <a:moveTo>
                    <a:pt x="0" y="0"/>
                  </a:moveTo>
                  <a:lnTo>
                    <a:pt x="190" y="0"/>
                  </a:lnTo>
                  <a:lnTo>
                    <a:pt x="190" y="0"/>
                  </a:lnTo>
                  <a:lnTo>
                    <a:pt x="227" y="3"/>
                  </a:lnTo>
                  <a:lnTo>
                    <a:pt x="262" y="11"/>
                  </a:lnTo>
                  <a:lnTo>
                    <a:pt x="292" y="22"/>
                  </a:lnTo>
                  <a:lnTo>
                    <a:pt x="322" y="40"/>
                  </a:lnTo>
                  <a:lnTo>
                    <a:pt x="372" y="81"/>
                  </a:lnTo>
                  <a:lnTo>
                    <a:pt x="410" y="140"/>
                  </a:lnTo>
                  <a:lnTo>
                    <a:pt x="410" y="140"/>
                  </a:lnTo>
                  <a:lnTo>
                    <a:pt x="372" y="195"/>
                  </a:lnTo>
                  <a:lnTo>
                    <a:pt x="322" y="240"/>
                  </a:lnTo>
                  <a:lnTo>
                    <a:pt x="292" y="254"/>
                  </a:lnTo>
                  <a:lnTo>
                    <a:pt x="262" y="266"/>
                  </a:lnTo>
                  <a:lnTo>
                    <a:pt x="227" y="273"/>
                  </a:lnTo>
                  <a:lnTo>
                    <a:pt x="190" y="277"/>
                  </a:lnTo>
                  <a:lnTo>
                    <a:pt x="190" y="277"/>
                  </a:lnTo>
                  <a:lnTo>
                    <a:pt x="0" y="277"/>
                  </a:lnTo>
                  <a:lnTo>
                    <a:pt x="0" y="277"/>
                  </a:lnTo>
                  <a:lnTo>
                    <a:pt x="0" y="277"/>
                  </a:lnTo>
                  <a:lnTo>
                    <a:pt x="0" y="277"/>
                  </a:lnTo>
                  <a:lnTo>
                    <a:pt x="22" y="247"/>
                  </a:lnTo>
                  <a:lnTo>
                    <a:pt x="38" y="214"/>
                  </a:lnTo>
                  <a:lnTo>
                    <a:pt x="45" y="177"/>
                  </a:lnTo>
                  <a:lnTo>
                    <a:pt x="49" y="140"/>
                  </a:lnTo>
                  <a:lnTo>
                    <a:pt x="49" y="140"/>
                  </a:lnTo>
                  <a:lnTo>
                    <a:pt x="45" y="99"/>
                  </a:lnTo>
                  <a:lnTo>
                    <a:pt x="38" y="66"/>
                  </a:lnTo>
                  <a:lnTo>
                    <a:pt x="22" y="33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01159" name="Line 103">
              <a:extLst>
                <a:ext uri="{FF2B5EF4-FFF2-40B4-BE49-F238E27FC236}">
                  <a16:creationId xmlns:a16="http://schemas.microsoft.com/office/drawing/2014/main" id="{DDD4F3B1-6A58-1E43-9EC2-59E48225ED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4" y="2112"/>
              <a:ext cx="99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01160" name="Line 104">
              <a:extLst>
                <a:ext uri="{FF2B5EF4-FFF2-40B4-BE49-F238E27FC236}">
                  <a16:creationId xmlns:a16="http://schemas.microsoft.com/office/drawing/2014/main" id="{CBB8F636-EE34-954E-AEFE-73527D3F3E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2304"/>
              <a:ext cx="819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01161" name="Freeform 105">
              <a:extLst>
                <a:ext uri="{FF2B5EF4-FFF2-40B4-BE49-F238E27FC236}">
                  <a16:creationId xmlns:a16="http://schemas.microsoft.com/office/drawing/2014/main" id="{5EE433C1-A243-D742-9E89-7B799251168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9" y="2064"/>
              <a:ext cx="378" cy="277"/>
            </a:xfrm>
            <a:custGeom>
              <a:avLst/>
              <a:gdLst/>
              <a:ahLst/>
              <a:cxnLst>
                <a:cxn ang="0">
                  <a:pos x="382" y="140"/>
                </a:cxn>
                <a:cxn ang="0">
                  <a:pos x="378" y="166"/>
                </a:cxn>
                <a:cxn ang="0">
                  <a:pos x="370" y="192"/>
                </a:cxn>
                <a:cxn ang="0">
                  <a:pos x="359" y="214"/>
                </a:cxn>
                <a:cxn ang="0">
                  <a:pos x="340" y="236"/>
                </a:cxn>
                <a:cxn ang="0">
                  <a:pos x="317" y="254"/>
                </a:cxn>
                <a:cxn ang="0">
                  <a:pos x="294" y="266"/>
                </a:cxn>
                <a:cxn ang="0">
                  <a:pos x="267" y="273"/>
                </a:cxn>
                <a:cxn ang="0">
                  <a:pos x="237" y="277"/>
                </a:cxn>
                <a:cxn ang="0">
                  <a:pos x="237" y="277"/>
                </a:cxn>
                <a:cxn ang="0">
                  <a:pos x="0" y="277"/>
                </a:cxn>
                <a:cxn ang="0">
                  <a:pos x="0" y="277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237" y="0"/>
                </a:cxn>
                <a:cxn ang="0">
                  <a:pos x="237" y="0"/>
                </a:cxn>
                <a:cxn ang="0">
                  <a:pos x="267" y="3"/>
                </a:cxn>
                <a:cxn ang="0">
                  <a:pos x="294" y="11"/>
                </a:cxn>
                <a:cxn ang="0">
                  <a:pos x="317" y="22"/>
                </a:cxn>
                <a:cxn ang="0">
                  <a:pos x="340" y="40"/>
                </a:cxn>
                <a:cxn ang="0">
                  <a:pos x="359" y="62"/>
                </a:cxn>
                <a:cxn ang="0">
                  <a:pos x="370" y="85"/>
                </a:cxn>
                <a:cxn ang="0">
                  <a:pos x="378" y="110"/>
                </a:cxn>
                <a:cxn ang="0">
                  <a:pos x="382" y="140"/>
                </a:cxn>
              </a:cxnLst>
              <a:rect l="0" t="0" r="r" b="b"/>
              <a:pathLst>
                <a:path w="382" h="277">
                  <a:moveTo>
                    <a:pt x="382" y="140"/>
                  </a:moveTo>
                  <a:lnTo>
                    <a:pt x="378" y="166"/>
                  </a:lnTo>
                  <a:lnTo>
                    <a:pt x="370" y="192"/>
                  </a:lnTo>
                  <a:lnTo>
                    <a:pt x="359" y="214"/>
                  </a:lnTo>
                  <a:lnTo>
                    <a:pt x="340" y="236"/>
                  </a:lnTo>
                  <a:lnTo>
                    <a:pt x="317" y="254"/>
                  </a:lnTo>
                  <a:lnTo>
                    <a:pt x="294" y="266"/>
                  </a:lnTo>
                  <a:lnTo>
                    <a:pt x="267" y="273"/>
                  </a:lnTo>
                  <a:lnTo>
                    <a:pt x="237" y="277"/>
                  </a:lnTo>
                  <a:lnTo>
                    <a:pt x="237" y="277"/>
                  </a:lnTo>
                  <a:lnTo>
                    <a:pt x="0" y="277"/>
                  </a:lnTo>
                  <a:lnTo>
                    <a:pt x="0" y="277"/>
                  </a:lnTo>
                  <a:lnTo>
                    <a:pt x="0" y="0"/>
                  </a:lnTo>
                  <a:lnTo>
                    <a:pt x="0" y="0"/>
                  </a:lnTo>
                  <a:lnTo>
                    <a:pt x="237" y="0"/>
                  </a:lnTo>
                  <a:lnTo>
                    <a:pt x="237" y="0"/>
                  </a:lnTo>
                  <a:lnTo>
                    <a:pt x="267" y="3"/>
                  </a:lnTo>
                  <a:lnTo>
                    <a:pt x="294" y="11"/>
                  </a:lnTo>
                  <a:lnTo>
                    <a:pt x="317" y="22"/>
                  </a:lnTo>
                  <a:lnTo>
                    <a:pt x="340" y="40"/>
                  </a:lnTo>
                  <a:lnTo>
                    <a:pt x="359" y="62"/>
                  </a:lnTo>
                  <a:lnTo>
                    <a:pt x="370" y="85"/>
                  </a:lnTo>
                  <a:lnTo>
                    <a:pt x="378" y="110"/>
                  </a:lnTo>
                  <a:lnTo>
                    <a:pt x="382" y="14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01162" name="Freeform 106">
              <a:extLst>
                <a:ext uri="{FF2B5EF4-FFF2-40B4-BE49-F238E27FC236}">
                  <a16:creationId xmlns:a16="http://schemas.microsoft.com/office/drawing/2014/main" id="{6D5248BC-8922-244F-83BA-EAB8FD4D7FA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9" y="2064"/>
              <a:ext cx="378" cy="277"/>
            </a:xfrm>
            <a:custGeom>
              <a:avLst/>
              <a:gdLst/>
              <a:ahLst/>
              <a:cxnLst>
                <a:cxn ang="0">
                  <a:pos x="382" y="140"/>
                </a:cxn>
                <a:cxn ang="0">
                  <a:pos x="378" y="166"/>
                </a:cxn>
                <a:cxn ang="0">
                  <a:pos x="370" y="192"/>
                </a:cxn>
                <a:cxn ang="0">
                  <a:pos x="359" y="214"/>
                </a:cxn>
                <a:cxn ang="0">
                  <a:pos x="340" y="236"/>
                </a:cxn>
                <a:cxn ang="0">
                  <a:pos x="317" y="254"/>
                </a:cxn>
                <a:cxn ang="0">
                  <a:pos x="294" y="266"/>
                </a:cxn>
                <a:cxn ang="0">
                  <a:pos x="267" y="273"/>
                </a:cxn>
                <a:cxn ang="0">
                  <a:pos x="237" y="277"/>
                </a:cxn>
                <a:cxn ang="0">
                  <a:pos x="237" y="277"/>
                </a:cxn>
                <a:cxn ang="0">
                  <a:pos x="0" y="277"/>
                </a:cxn>
                <a:cxn ang="0">
                  <a:pos x="0" y="277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237" y="0"/>
                </a:cxn>
                <a:cxn ang="0">
                  <a:pos x="237" y="0"/>
                </a:cxn>
                <a:cxn ang="0">
                  <a:pos x="267" y="3"/>
                </a:cxn>
                <a:cxn ang="0">
                  <a:pos x="294" y="11"/>
                </a:cxn>
                <a:cxn ang="0">
                  <a:pos x="317" y="22"/>
                </a:cxn>
                <a:cxn ang="0">
                  <a:pos x="340" y="40"/>
                </a:cxn>
                <a:cxn ang="0">
                  <a:pos x="359" y="62"/>
                </a:cxn>
                <a:cxn ang="0">
                  <a:pos x="370" y="85"/>
                </a:cxn>
                <a:cxn ang="0">
                  <a:pos x="378" y="110"/>
                </a:cxn>
                <a:cxn ang="0">
                  <a:pos x="382" y="140"/>
                </a:cxn>
              </a:cxnLst>
              <a:rect l="0" t="0" r="r" b="b"/>
              <a:pathLst>
                <a:path w="382" h="277">
                  <a:moveTo>
                    <a:pt x="382" y="140"/>
                  </a:moveTo>
                  <a:lnTo>
                    <a:pt x="378" y="166"/>
                  </a:lnTo>
                  <a:lnTo>
                    <a:pt x="370" y="192"/>
                  </a:lnTo>
                  <a:lnTo>
                    <a:pt x="359" y="214"/>
                  </a:lnTo>
                  <a:lnTo>
                    <a:pt x="340" y="236"/>
                  </a:lnTo>
                  <a:lnTo>
                    <a:pt x="317" y="254"/>
                  </a:lnTo>
                  <a:lnTo>
                    <a:pt x="294" y="266"/>
                  </a:lnTo>
                  <a:lnTo>
                    <a:pt x="267" y="273"/>
                  </a:lnTo>
                  <a:lnTo>
                    <a:pt x="237" y="277"/>
                  </a:lnTo>
                  <a:lnTo>
                    <a:pt x="237" y="277"/>
                  </a:lnTo>
                  <a:lnTo>
                    <a:pt x="0" y="277"/>
                  </a:lnTo>
                  <a:lnTo>
                    <a:pt x="0" y="277"/>
                  </a:lnTo>
                  <a:lnTo>
                    <a:pt x="0" y="0"/>
                  </a:lnTo>
                  <a:lnTo>
                    <a:pt x="0" y="0"/>
                  </a:lnTo>
                  <a:lnTo>
                    <a:pt x="237" y="0"/>
                  </a:lnTo>
                  <a:lnTo>
                    <a:pt x="237" y="0"/>
                  </a:lnTo>
                  <a:lnTo>
                    <a:pt x="267" y="3"/>
                  </a:lnTo>
                  <a:lnTo>
                    <a:pt x="294" y="11"/>
                  </a:lnTo>
                  <a:lnTo>
                    <a:pt x="317" y="22"/>
                  </a:lnTo>
                  <a:lnTo>
                    <a:pt x="340" y="40"/>
                  </a:lnTo>
                  <a:lnTo>
                    <a:pt x="359" y="62"/>
                  </a:lnTo>
                  <a:lnTo>
                    <a:pt x="370" y="85"/>
                  </a:lnTo>
                  <a:lnTo>
                    <a:pt x="378" y="110"/>
                  </a:lnTo>
                  <a:lnTo>
                    <a:pt x="382" y="14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01163" name="Text Box 107">
              <a:extLst>
                <a:ext uri="{FF2B5EF4-FFF2-40B4-BE49-F238E27FC236}">
                  <a16:creationId xmlns:a16="http://schemas.microsoft.com/office/drawing/2014/main" id="{5C706336-EA84-2741-B871-6FBAE3D9A0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2" y="2160"/>
              <a:ext cx="268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r" eaLnBrk="1" hangingPunct="1">
                <a:defRPr/>
              </a:pPr>
              <a:r>
                <a:rPr lang="en-US" sz="1602" b="0" dirty="0"/>
                <a:t>b</a:t>
              </a:r>
              <a:r>
                <a:rPr lang="en-US" sz="1602" b="0" baseline="-25000" dirty="0"/>
                <a:t>62</a:t>
              </a:r>
            </a:p>
          </p:txBody>
        </p:sp>
        <p:sp>
          <p:nvSpPr>
            <p:cNvPr id="301164" name="Line 108">
              <a:extLst>
                <a:ext uri="{FF2B5EF4-FFF2-40B4-BE49-F238E27FC236}">
                  <a16:creationId xmlns:a16="http://schemas.microsoft.com/office/drawing/2014/main" id="{27FB4E95-8D2A-F349-9B28-4AD78A4310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2496"/>
              <a:ext cx="431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01165" name="Line 109">
              <a:extLst>
                <a:ext uri="{FF2B5EF4-FFF2-40B4-BE49-F238E27FC236}">
                  <a16:creationId xmlns:a16="http://schemas.microsoft.com/office/drawing/2014/main" id="{3090D90D-B799-9E45-A58B-48B7DB47FA1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4" y="2688"/>
              <a:ext cx="82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01166" name="Freeform 110">
              <a:extLst>
                <a:ext uri="{FF2B5EF4-FFF2-40B4-BE49-F238E27FC236}">
                  <a16:creationId xmlns:a16="http://schemas.microsoft.com/office/drawing/2014/main" id="{5135BABD-AA2D-CD48-BA1C-0F12A978D4E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9" y="2448"/>
              <a:ext cx="378" cy="281"/>
            </a:xfrm>
            <a:custGeom>
              <a:avLst/>
              <a:gdLst/>
              <a:ahLst/>
              <a:cxnLst>
                <a:cxn ang="0">
                  <a:pos x="382" y="140"/>
                </a:cxn>
                <a:cxn ang="0">
                  <a:pos x="378" y="166"/>
                </a:cxn>
                <a:cxn ang="0">
                  <a:pos x="370" y="192"/>
                </a:cxn>
                <a:cxn ang="0">
                  <a:pos x="359" y="214"/>
                </a:cxn>
                <a:cxn ang="0">
                  <a:pos x="340" y="236"/>
                </a:cxn>
                <a:cxn ang="0">
                  <a:pos x="317" y="254"/>
                </a:cxn>
                <a:cxn ang="0">
                  <a:pos x="294" y="266"/>
                </a:cxn>
                <a:cxn ang="0">
                  <a:pos x="267" y="273"/>
                </a:cxn>
                <a:cxn ang="0">
                  <a:pos x="237" y="277"/>
                </a:cxn>
                <a:cxn ang="0">
                  <a:pos x="237" y="277"/>
                </a:cxn>
                <a:cxn ang="0">
                  <a:pos x="0" y="277"/>
                </a:cxn>
                <a:cxn ang="0">
                  <a:pos x="0" y="277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237" y="0"/>
                </a:cxn>
                <a:cxn ang="0">
                  <a:pos x="237" y="0"/>
                </a:cxn>
                <a:cxn ang="0">
                  <a:pos x="267" y="3"/>
                </a:cxn>
                <a:cxn ang="0">
                  <a:pos x="294" y="11"/>
                </a:cxn>
                <a:cxn ang="0">
                  <a:pos x="317" y="22"/>
                </a:cxn>
                <a:cxn ang="0">
                  <a:pos x="340" y="40"/>
                </a:cxn>
                <a:cxn ang="0">
                  <a:pos x="359" y="62"/>
                </a:cxn>
                <a:cxn ang="0">
                  <a:pos x="370" y="85"/>
                </a:cxn>
                <a:cxn ang="0">
                  <a:pos x="378" y="110"/>
                </a:cxn>
                <a:cxn ang="0">
                  <a:pos x="382" y="140"/>
                </a:cxn>
              </a:cxnLst>
              <a:rect l="0" t="0" r="r" b="b"/>
              <a:pathLst>
                <a:path w="382" h="277">
                  <a:moveTo>
                    <a:pt x="382" y="140"/>
                  </a:moveTo>
                  <a:lnTo>
                    <a:pt x="378" y="166"/>
                  </a:lnTo>
                  <a:lnTo>
                    <a:pt x="370" y="192"/>
                  </a:lnTo>
                  <a:lnTo>
                    <a:pt x="359" y="214"/>
                  </a:lnTo>
                  <a:lnTo>
                    <a:pt x="340" y="236"/>
                  </a:lnTo>
                  <a:lnTo>
                    <a:pt x="317" y="254"/>
                  </a:lnTo>
                  <a:lnTo>
                    <a:pt x="294" y="266"/>
                  </a:lnTo>
                  <a:lnTo>
                    <a:pt x="267" y="273"/>
                  </a:lnTo>
                  <a:lnTo>
                    <a:pt x="237" y="277"/>
                  </a:lnTo>
                  <a:lnTo>
                    <a:pt x="237" y="277"/>
                  </a:lnTo>
                  <a:lnTo>
                    <a:pt x="0" y="277"/>
                  </a:lnTo>
                  <a:lnTo>
                    <a:pt x="0" y="277"/>
                  </a:lnTo>
                  <a:lnTo>
                    <a:pt x="0" y="0"/>
                  </a:lnTo>
                  <a:lnTo>
                    <a:pt x="0" y="0"/>
                  </a:lnTo>
                  <a:lnTo>
                    <a:pt x="237" y="0"/>
                  </a:lnTo>
                  <a:lnTo>
                    <a:pt x="237" y="0"/>
                  </a:lnTo>
                  <a:lnTo>
                    <a:pt x="267" y="3"/>
                  </a:lnTo>
                  <a:lnTo>
                    <a:pt x="294" y="11"/>
                  </a:lnTo>
                  <a:lnTo>
                    <a:pt x="317" y="22"/>
                  </a:lnTo>
                  <a:lnTo>
                    <a:pt x="340" y="40"/>
                  </a:lnTo>
                  <a:lnTo>
                    <a:pt x="359" y="62"/>
                  </a:lnTo>
                  <a:lnTo>
                    <a:pt x="370" y="85"/>
                  </a:lnTo>
                  <a:lnTo>
                    <a:pt x="378" y="110"/>
                  </a:lnTo>
                  <a:lnTo>
                    <a:pt x="382" y="14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01167" name="Freeform 111">
              <a:extLst>
                <a:ext uri="{FF2B5EF4-FFF2-40B4-BE49-F238E27FC236}">
                  <a16:creationId xmlns:a16="http://schemas.microsoft.com/office/drawing/2014/main" id="{450DCDA3-9DBF-0149-B065-C95A3118D5D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9" y="2448"/>
              <a:ext cx="378" cy="281"/>
            </a:xfrm>
            <a:custGeom>
              <a:avLst/>
              <a:gdLst/>
              <a:ahLst/>
              <a:cxnLst>
                <a:cxn ang="0">
                  <a:pos x="382" y="140"/>
                </a:cxn>
                <a:cxn ang="0">
                  <a:pos x="378" y="166"/>
                </a:cxn>
                <a:cxn ang="0">
                  <a:pos x="370" y="192"/>
                </a:cxn>
                <a:cxn ang="0">
                  <a:pos x="359" y="214"/>
                </a:cxn>
                <a:cxn ang="0">
                  <a:pos x="340" y="236"/>
                </a:cxn>
                <a:cxn ang="0">
                  <a:pos x="317" y="254"/>
                </a:cxn>
                <a:cxn ang="0">
                  <a:pos x="294" y="266"/>
                </a:cxn>
                <a:cxn ang="0">
                  <a:pos x="267" y="273"/>
                </a:cxn>
                <a:cxn ang="0">
                  <a:pos x="237" y="277"/>
                </a:cxn>
                <a:cxn ang="0">
                  <a:pos x="237" y="277"/>
                </a:cxn>
                <a:cxn ang="0">
                  <a:pos x="0" y="277"/>
                </a:cxn>
                <a:cxn ang="0">
                  <a:pos x="0" y="277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237" y="0"/>
                </a:cxn>
                <a:cxn ang="0">
                  <a:pos x="237" y="0"/>
                </a:cxn>
                <a:cxn ang="0">
                  <a:pos x="267" y="3"/>
                </a:cxn>
                <a:cxn ang="0">
                  <a:pos x="294" y="11"/>
                </a:cxn>
                <a:cxn ang="0">
                  <a:pos x="317" y="22"/>
                </a:cxn>
                <a:cxn ang="0">
                  <a:pos x="340" y="40"/>
                </a:cxn>
                <a:cxn ang="0">
                  <a:pos x="359" y="62"/>
                </a:cxn>
                <a:cxn ang="0">
                  <a:pos x="370" y="85"/>
                </a:cxn>
                <a:cxn ang="0">
                  <a:pos x="378" y="110"/>
                </a:cxn>
                <a:cxn ang="0">
                  <a:pos x="382" y="140"/>
                </a:cxn>
              </a:cxnLst>
              <a:rect l="0" t="0" r="r" b="b"/>
              <a:pathLst>
                <a:path w="382" h="277">
                  <a:moveTo>
                    <a:pt x="382" y="140"/>
                  </a:moveTo>
                  <a:lnTo>
                    <a:pt x="378" y="166"/>
                  </a:lnTo>
                  <a:lnTo>
                    <a:pt x="370" y="192"/>
                  </a:lnTo>
                  <a:lnTo>
                    <a:pt x="359" y="214"/>
                  </a:lnTo>
                  <a:lnTo>
                    <a:pt x="340" y="236"/>
                  </a:lnTo>
                  <a:lnTo>
                    <a:pt x="317" y="254"/>
                  </a:lnTo>
                  <a:lnTo>
                    <a:pt x="294" y="266"/>
                  </a:lnTo>
                  <a:lnTo>
                    <a:pt x="267" y="273"/>
                  </a:lnTo>
                  <a:lnTo>
                    <a:pt x="237" y="277"/>
                  </a:lnTo>
                  <a:lnTo>
                    <a:pt x="237" y="277"/>
                  </a:lnTo>
                  <a:lnTo>
                    <a:pt x="0" y="277"/>
                  </a:lnTo>
                  <a:lnTo>
                    <a:pt x="0" y="277"/>
                  </a:lnTo>
                  <a:lnTo>
                    <a:pt x="0" y="0"/>
                  </a:lnTo>
                  <a:lnTo>
                    <a:pt x="0" y="0"/>
                  </a:lnTo>
                  <a:lnTo>
                    <a:pt x="237" y="0"/>
                  </a:lnTo>
                  <a:lnTo>
                    <a:pt x="237" y="0"/>
                  </a:lnTo>
                  <a:lnTo>
                    <a:pt x="267" y="3"/>
                  </a:lnTo>
                  <a:lnTo>
                    <a:pt x="294" y="11"/>
                  </a:lnTo>
                  <a:lnTo>
                    <a:pt x="317" y="22"/>
                  </a:lnTo>
                  <a:lnTo>
                    <a:pt x="340" y="40"/>
                  </a:lnTo>
                  <a:lnTo>
                    <a:pt x="359" y="62"/>
                  </a:lnTo>
                  <a:lnTo>
                    <a:pt x="370" y="85"/>
                  </a:lnTo>
                  <a:lnTo>
                    <a:pt x="378" y="110"/>
                  </a:lnTo>
                  <a:lnTo>
                    <a:pt x="382" y="14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01168" name="Text Box 112">
              <a:extLst>
                <a:ext uri="{FF2B5EF4-FFF2-40B4-BE49-F238E27FC236}">
                  <a16:creationId xmlns:a16="http://schemas.microsoft.com/office/drawing/2014/main" id="{74CE2D78-B5C6-9941-A8E6-1C42FF47A0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9" y="2572"/>
              <a:ext cx="261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r" eaLnBrk="1" hangingPunct="1">
                <a:defRPr/>
              </a:pPr>
              <a:r>
                <a:rPr lang="en-US" sz="1602" b="0" dirty="0"/>
                <a:t>a</a:t>
              </a:r>
              <a:r>
                <a:rPr lang="en-US" sz="1602" b="0" baseline="-25000" dirty="0"/>
                <a:t>62</a:t>
              </a:r>
            </a:p>
          </p:txBody>
        </p:sp>
        <p:sp>
          <p:nvSpPr>
            <p:cNvPr id="301169" name="Freeform 113">
              <a:extLst>
                <a:ext uri="{FF2B5EF4-FFF2-40B4-BE49-F238E27FC236}">
                  <a16:creationId xmlns:a16="http://schemas.microsoft.com/office/drawing/2014/main" id="{34C69F48-7C8C-EB4F-AE58-1886CDDEA94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8" y="2016"/>
              <a:ext cx="96" cy="96"/>
            </a:xfrm>
            <a:custGeom>
              <a:avLst/>
              <a:gdLst/>
              <a:ahLst/>
              <a:cxnLst>
                <a:cxn ang="0">
                  <a:pos x="336" y="1056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336" h="1056">
                  <a:moveTo>
                    <a:pt x="336" y="1056"/>
                  </a:move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01170" name="Rectangle 114">
              <a:extLst>
                <a:ext uri="{FF2B5EF4-FFF2-40B4-BE49-F238E27FC236}">
                  <a16:creationId xmlns:a16="http://schemas.microsoft.com/office/drawing/2014/main" id="{9C924381-C711-AD4B-803A-C5EA8FB267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2304"/>
              <a:ext cx="432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sz="1602" b="0" dirty="0"/>
                <a:t>out</a:t>
              </a:r>
              <a:r>
                <a:rPr lang="en-US" sz="1602" b="0" baseline="-25000" dirty="0"/>
                <a:t>62</a:t>
              </a:r>
            </a:p>
          </p:txBody>
        </p:sp>
        <p:sp>
          <p:nvSpPr>
            <p:cNvPr id="301171" name="Rectangle 115">
              <a:extLst>
                <a:ext uri="{FF2B5EF4-FFF2-40B4-BE49-F238E27FC236}">
                  <a16:creationId xmlns:a16="http://schemas.microsoft.com/office/drawing/2014/main" id="{472D8A18-6C03-B447-A1C2-B4CF1B96AF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3552"/>
              <a:ext cx="1776" cy="768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Ctr="1"/>
            <a:lstStyle/>
            <a:p>
              <a:pPr eaLnBrk="1" hangingPunct="1">
                <a:defRPr/>
              </a:pPr>
              <a:endParaRPr lang="en-US" sz="2403" b="0"/>
            </a:p>
          </p:txBody>
        </p:sp>
        <p:sp>
          <p:nvSpPr>
            <p:cNvPr id="301172" name="Freeform 116">
              <a:extLst>
                <a:ext uri="{FF2B5EF4-FFF2-40B4-BE49-F238E27FC236}">
                  <a16:creationId xmlns:a16="http://schemas.microsoft.com/office/drawing/2014/main" id="{4C783244-EEE4-2F47-96DE-242E8FFE4D76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824" y="3744"/>
              <a:ext cx="340" cy="96"/>
            </a:xfrm>
            <a:custGeom>
              <a:avLst/>
              <a:gdLst/>
              <a:ahLst/>
              <a:cxnLst>
                <a:cxn ang="0">
                  <a:pos x="0" y="96"/>
                </a:cxn>
                <a:cxn ang="0">
                  <a:pos x="144" y="96"/>
                </a:cxn>
                <a:cxn ang="0">
                  <a:pos x="144" y="0"/>
                </a:cxn>
                <a:cxn ang="0">
                  <a:pos x="336" y="0"/>
                </a:cxn>
              </a:cxnLst>
              <a:rect l="0" t="0" r="r" b="b"/>
              <a:pathLst>
                <a:path w="336" h="96">
                  <a:moveTo>
                    <a:pt x="0" y="96"/>
                  </a:moveTo>
                  <a:lnTo>
                    <a:pt x="144" y="96"/>
                  </a:lnTo>
                  <a:lnTo>
                    <a:pt x="144" y="0"/>
                  </a:lnTo>
                  <a:lnTo>
                    <a:pt x="336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01173" name="Freeform 117">
              <a:extLst>
                <a:ext uri="{FF2B5EF4-FFF2-40B4-BE49-F238E27FC236}">
                  <a16:creationId xmlns:a16="http://schemas.microsoft.com/office/drawing/2014/main" id="{9CFC855D-1C4B-7644-B2BE-36C102DF6D9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4" y="4032"/>
              <a:ext cx="340" cy="96"/>
            </a:xfrm>
            <a:custGeom>
              <a:avLst/>
              <a:gdLst/>
              <a:ahLst/>
              <a:cxnLst>
                <a:cxn ang="0">
                  <a:pos x="0" y="96"/>
                </a:cxn>
                <a:cxn ang="0">
                  <a:pos x="144" y="96"/>
                </a:cxn>
                <a:cxn ang="0">
                  <a:pos x="144" y="0"/>
                </a:cxn>
                <a:cxn ang="0">
                  <a:pos x="336" y="0"/>
                </a:cxn>
              </a:cxnLst>
              <a:rect l="0" t="0" r="r" b="b"/>
              <a:pathLst>
                <a:path w="336" h="96">
                  <a:moveTo>
                    <a:pt x="0" y="96"/>
                  </a:moveTo>
                  <a:lnTo>
                    <a:pt x="144" y="96"/>
                  </a:lnTo>
                  <a:lnTo>
                    <a:pt x="144" y="0"/>
                  </a:lnTo>
                  <a:lnTo>
                    <a:pt x="336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01174" name="Line 118">
              <a:extLst>
                <a:ext uri="{FF2B5EF4-FFF2-40B4-BE49-F238E27FC236}">
                  <a16:creationId xmlns:a16="http://schemas.microsoft.com/office/drawing/2014/main" id="{336782D3-F4B0-544C-ACF4-41D9C15E7D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89" y="3932"/>
              <a:ext cx="247" cy="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01175" name="Freeform 119">
              <a:extLst>
                <a:ext uri="{FF2B5EF4-FFF2-40B4-BE49-F238E27FC236}">
                  <a16:creationId xmlns:a16="http://schemas.microsoft.com/office/drawing/2014/main" id="{09DA4A44-300A-C244-8490-E16D157DF18A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0" y="3792"/>
              <a:ext cx="410" cy="28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90" y="0"/>
                </a:cxn>
                <a:cxn ang="0">
                  <a:pos x="190" y="0"/>
                </a:cxn>
                <a:cxn ang="0">
                  <a:pos x="227" y="3"/>
                </a:cxn>
                <a:cxn ang="0">
                  <a:pos x="262" y="11"/>
                </a:cxn>
                <a:cxn ang="0">
                  <a:pos x="292" y="22"/>
                </a:cxn>
                <a:cxn ang="0">
                  <a:pos x="322" y="40"/>
                </a:cxn>
                <a:cxn ang="0">
                  <a:pos x="372" y="81"/>
                </a:cxn>
                <a:cxn ang="0">
                  <a:pos x="410" y="140"/>
                </a:cxn>
                <a:cxn ang="0">
                  <a:pos x="410" y="140"/>
                </a:cxn>
                <a:cxn ang="0">
                  <a:pos x="372" y="195"/>
                </a:cxn>
                <a:cxn ang="0">
                  <a:pos x="322" y="240"/>
                </a:cxn>
                <a:cxn ang="0">
                  <a:pos x="292" y="254"/>
                </a:cxn>
                <a:cxn ang="0">
                  <a:pos x="262" y="266"/>
                </a:cxn>
                <a:cxn ang="0">
                  <a:pos x="227" y="273"/>
                </a:cxn>
                <a:cxn ang="0">
                  <a:pos x="190" y="277"/>
                </a:cxn>
                <a:cxn ang="0">
                  <a:pos x="190" y="277"/>
                </a:cxn>
                <a:cxn ang="0">
                  <a:pos x="0" y="277"/>
                </a:cxn>
                <a:cxn ang="0">
                  <a:pos x="0" y="277"/>
                </a:cxn>
                <a:cxn ang="0">
                  <a:pos x="0" y="277"/>
                </a:cxn>
                <a:cxn ang="0">
                  <a:pos x="0" y="277"/>
                </a:cxn>
                <a:cxn ang="0">
                  <a:pos x="22" y="247"/>
                </a:cxn>
                <a:cxn ang="0">
                  <a:pos x="38" y="214"/>
                </a:cxn>
                <a:cxn ang="0">
                  <a:pos x="45" y="177"/>
                </a:cxn>
                <a:cxn ang="0">
                  <a:pos x="49" y="140"/>
                </a:cxn>
                <a:cxn ang="0">
                  <a:pos x="49" y="140"/>
                </a:cxn>
                <a:cxn ang="0">
                  <a:pos x="45" y="99"/>
                </a:cxn>
                <a:cxn ang="0">
                  <a:pos x="38" y="66"/>
                </a:cxn>
                <a:cxn ang="0">
                  <a:pos x="22" y="33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410" h="277">
                  <a:moveTo>
                    <a:pt x="0" y="0"/>
                  </a:moveTo>
                  <a:lnTo>
                    <a:pt x="190" y="0"/>
                  </a:lnTo>
                  <a:lnTo>
                    <a:pt x="190" y="0"/>
                  </a:lnTo>
                  <a:lnTo>
                    <a:pt x="227" y="3"/>
                  </a:lnTo>
                  <a:lnTo>
                    <a:pt x="262" y="11"/>
                  </a:lnTo>
                  <a:lnTo>
                    <a:pt x="292" y="22"/>
                  </a:lnTo>
                  <a:lnTo>
                    <a:pt x="322" y="40"/>
                  </a:lnTo>
                  <a:lnTo>
                    <a:pt x="372" y="81"/>
                  </a:lnTo>
                  <a:lnTo>
                    <a:pt x="410" y="140"/>
                  </a:lnTo>
                  <a:lnTo>
                    <a:pt x="410" y="140"/>
                  </a:lnTo>
                  <a:lnTo>
                    <a:pt x="372" y="195"/>
                  </a:lnTo>
                  <a:lnTo>
                    <a:pt x="322" y="240"/>
                  </a:lnTo>
                  <a:lnTo>
                    <a:pt x="292" y="254"/>
                  </a:lnTo>
                  <a:lnTo>
                    <a:pt x="262" y="266"/>
                  </a:lnTo>
                  <a:lnTo>
                    <a:pt x="227" y="273"/>
                  </a:lnTo>
                  <a:lnTo>
                    <a:pt x="190" y="277"/>
                  </a:lnTo>
                  <a:lnTo>
                    <a:pt x="190" y="277"/>
                  </a:lnTo>
                  <a:lnTo>
                    <a:pt x="0" y="277"/>
                  </a:lnTo>
                  <a:lnTo>
                    <a:pt x="0" y="277"/>
                  </a:lnTo>
                  <a:lnTo>
                    <a:pt x="0" y="277"/>
                  </a:lnTo>
                  <a:lnTo>
                    <a:pt x="0" y="277"/>
                  </a:lnTo>
                  <a:lnTo>
                    <a:pt x="22" y="247"/>
                  </a:lnTo>
                  <a:lnTo>
                    <a:pt x="38" y="214"/>
                  </a:lnTo>
                  <a:lnTo>
                    <a:pt x="45" y="177"/>
                  </a:lnTo>
                  <a:lnTo>
                    <a:pt x="49" y="140"/>
                  </a:lnTo>
                  <a:lnTo>
                    <a:pt x="49" y="140"/>
                  </a:lnTo>
                  <a:lnTo>
                    <a:pt x="45" y="99"/>
                  </a:lnTo>
                  <a:lnTo>
                    <a:pt x="38" y="66"/>
                  </a:lnTo>
                  <a:lnTo>
                    <a:pt x="22" y="33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01176" name="Freeform 120">
              <a:extLst>
                <a:ext uri="{FF2B5EF4-FFF2-40B4-BE49-F238E27FC236}">
                  <a16:creationId xmlns:a16="http://schemas.microsoft.com/office/drawing/2014/main" id="{F65A8685-EBA0-4C46-BE6C-51093E064BCD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0" y="3792"/>
              <a:ext cx="410" cy="28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90" y="0"/>
                </a:cxn>
                <a:cxn ang="0">
                  <a:pos x="190" y="0"/>
                </a:cxn>
                <a:cxn ang="0">
                  <a:pos x="227" y="3"/>
                </a:cxn>
                <a:cxn ang="0">
                  <a:pos x="262" y="11"/>
                </a:cxn>
                <a:cxn ang="0">
                  <a:pos x="292" y="22"/>
                </a:cxn>
                <a:cxn ang="0">
                  <a:pos x="322" y="40"/>
                </a:cxn>
                <a:cxn ang="0">
                  <a:pos x="372" y="81"/>
                </a:cxn>
                <a:cxn ang="0">
                  <a:pos x="410" y="140"/>
                </a:cxn>
                <a:cxn ang="0">
                  <a:pos x="410" y="140"/>
                </a:cxn>
                <a:cxn ang="0">
                  <a:pos x="372" y="195"/>
                </a:cxn>
                <a:cxn ang="0">
                  <a:pos x="322" y="240"/>
                </a:cxn>
                <a:cxn ang="0">
                  <a:pos x="292" y="254"/>
                </a:cxn>
                <a:cxn ang="0">
                  <a:pos x="262" y="266"/>
                </a:cxn>
                <a:cxn ang="0">
                  <a:pos x="227" y="273"/>
                </a:cxn>
                <a:cxn ang="0">
                  <a:pos x="190" y="277"/>
                </a:cxn>
                <a:cxn ang="0">
                  <a:pos x="190" y="277"/>
                </a:cxn>
                <a:cxn ang="0">
                  <a:pos x="0" y="277"/>
                </a:cxn>
                <a:cxn ang="0">
                  <a:pos x="0" y="277"/>
                </a:cxn>
                <a:cxn ang="0">
                  <a:pos x="0" y="277"/>
                </a:cxn>
                <a:cxn ang="0">
                  <a:pos x="0" y="277"/>
                </a:cxn>
                <a:cxn ang="0">
                  <a:pos x="22" y="247"/>
                </a:cxn>
                <a:cxn ang="0">
                  <a:pos x="38" y="214"/>
                </a:cxn>
                <a:cxn ang="0">
                  <a:pos x="45" y="177"/>
                </a:cxn>
                <a:cxn ang="0">
                  <a:pos x="49" y="140"/>
                </a:cxn>
                <a:cxn ang="0">
                  <a:pos x="49" y="140"/>
                </a:cxn>
                <a:cxn ang="0">
                  <a:pos x="45" y="99"/>
                </a:cxn>
                <a:cxn ang="0">
                  <a:pos x="38" y="66"/>
                </a:cxn>
                <a:cxn ang="0">
                  <a:pos x="22" y="33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410" h="277">
                  <a:moveTo>
                    <a:pt x="0" y="0"/>
                  </a:moveTo>
                  <a:lnTo>
                    <a:pt x="190" y="0"/>
                  </a:lnTo>
                  <a:lnTo>
                    <a:pt x="190" y="0"/>
                  </a:lnTo>
                  <a:lnTo>
                    <a:pt x="227" y="3"/>
                  </a:lnTo>
                  <a:lnTo>
                    <a:pt x="262" y="11"/>
                  </a:lnTo>
                  <a:lnTo>
                    <a:pt x="292" y="22"/>
                  </a:lnTo>
                  <a:lnTo>
                    <a:pt x="322" y="40"/>
                  </a:lnTo>
                  <a:lnTo>
                    <a:pt x="372" y="81"/>
                  </a:lnTo>
                  <a:lnTo>
                    <a:pt x="410" y="140"/>
                  </a:lnTo>
                  <a:lnTo>
                    <a:pt x="410" y="140"/>
                  </a:lnTo>
                  <a:lnTo>
                    <a:pt x="372" y="195"/>
                  </a:lnTo>
                  <a:lnTo>
                    <a:pt x="322" y="240"/>
                  </a:lnTo>
                  <a:lnTo>
                    <a:pt x="292" y="254"/>
                  </a:lnTo>
                  <a:lnTo>
                    <a:pt x="262" y="266"/>
                  </a:lnTo>
                  <a:lnTo>
                    <a:pt x="227" y="273"/>
                  </a:lnTo>
                  <a:lnTo>
                    <a:pt x="190" y="277"/>
                  </a:lnTo>
                  <a:lnTo>
                    <a:pt x="190" y="277"/>
                  </a:lnTo>
                  <a:lnTo>
                    <a:pt x="0" y="277"/>
                  </a:lnTo>
                  <a:lnTo>
                    <a:pt x="0" y="277"/>
                  </a:lnTo>
                  <a:lnTo>
                    <a:pt x="0" y="277"/>
                  </a:lnTo>
                  <a:lnTo>
                    <a:pt x="0" y="277"/>
                  </a:lnTo>
                  <a:lnTo>
                    <a:pt x="22" y="247"/>
                  </a:lnTo>
                  <a:lnTo>
                    <a:pt x="38" y="214"/>
                  </a:lnTo>
                  <a:lnTo>
                    <a:pt x="45" y="177"/>
                  </a:lnTo>
                  <a:lnTo>
                    <a:pt x="49" y="140"/>
                  </a:lnTo>
                  <a:lnTo>
                    <a:pt x="49" y="140"/>
                  </a:lnTo>
                  <a:lnTo>
                    <a:pt x="45" y="99"/>
                  </a:lnTo>
                  <a:lnTo>
                    <a:pt x="38" y="66"/>
                  </a:lnTo>
                  <a:lnTo>
                    <a:pt x="22" y="33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01177" name="Line 121">
              <a:extLst>
                <a:ext uri="{FF2B5EF4-FFF2-40B4-BE49-F238E27FC236}">
                  <a16:creationId xmlns:a16="http://schemas.microsoft.com/office/drawing/2014/main" id="{ADD1C157-722B-FD48-AF8F-F5EA10D630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4" y="3648"/>
              <a:ext cx="99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01178" name="Line 122">
              <a:extLst>
                <a:ext uri="{FF2B5EF4-FFF2-40B4-BE49-F238E27FC236}">
                  <a16:creationId xmlns:a16="http://schemas.microsoft.com/office/drawing/2014/main" id="{8C6925D6-0E52-5A4E-B2A9-6D033DB6DE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3840"/>
              <a:ext cx="819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01179" name="Freeform 123">
              <a:extLst>
                <a:ext uri="{FF2B5EF4-FFF2-40B4-BE49-F238E27FC236}">
                  <a16:creationId xmlns:a16="http://schemas.microsoft.com/office/drawing/2014/main" id="{696ABC35-1B34-104F-82B1-8029C9B2D85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9" y="3600"/>
              <a:ext cx="378" cy="277"/>
            </a:xfrm>
            <a:custGeom>
              <a:avLst/>
              <a:gdLst/>
              <a:ahLst/>
              <a:cxnLst>
                <a:cxn ang="0">
                  <a:pos x="382" y="140"/>
                </a:cxn>
                <a:cxn ang="0">
                  <a:pos x="378" y="166"/>
                </a:cxn>
                <a:cxn ang="0">
                  <a:pos x="370" y="192"/>
                </a:cxn>
                <a:cxn ang="0">
                  <a:pos x="359" y="214"/>
                </a:cxn>
                <a:cxn ang="0">
                  <a:pos x="340" y="236"/>
                </a:cxn>
                <a:cxn ang="0">
                  <a:pos x="317" y="254"/>
                </a:cxn>
                <a:cxn ang="0">
                  <a:pos x="294" y="266"/>
                </a:cxn>
                <a:cxn ang="0">
                  <a:pos x="267" y="273"/>
                </a:cxn>
                <a:cxn ang="0">
                  <a:pos x="237" y="277"/>
                </a:cxn>
                <a:cxn ang="0">
                  <a:pos x="237" y="277"/>
                </a:cxn>
                <a:cxn ang="0">
                  <a:pos x="0" y="277"/>
                </a:cxn>
                <a:cxn ang="0">
                  <a:pos x="0" y="277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237" y="0"/>
                </a:cxn>
                <a:cxn ang="0">
                  <a:pos x="237" y="0"/>
                </a:cxn>
                <a:cxn ang="0">
                  <a:pos x="267" y="3"/>
                </a:cxn>
                <a:cxn ang="0">
                  <a:pos x="294" y="11"/>
                </a:cxn>
                <a:cxn ang="0">
                  <a:pos x="317" y="22"/>
                </a:cxn>
                <a:cxn ang="0">
                  <a:pos x="340" y="40"/>
                </a:cxn>
                <a:cxn ang="0">
                  <a:pos x="359" y="62"/>
                </a:cxn>
                <a:cxn ang="0">
                  <a:pos x="370" y="85"/>
                </a:cxn>
                <a:cxn ang="0">
                  <a:pos x="378" y="110"/>
                </a:cxn>
                <a:cxn ang="0">
                  <a:pos x="382" y="140"/>
                </a:cxn>
              </a:cxnLst>
              <a:rect l="0" t="0" r="r" b="b"/>
              <a:pathLst>
                <a:path w="382" h="277">
                  <a:moveTo>
                    <a:pt x="382" y="140"/>
                  </a:moveTo>
                  <a:lnTo>
                    <a:pt x="378" y="166"/>
                  </a:lnTo>
                  <a:lnTo>
                    <a:pt x="370" y="192"/>
                  </a:lnTo>
                  <a:lnTo>
                    <a:pt x="359" y="214"/>
                  </a:lnTo>
                  <a:lnTo>
                    <a:pt x="340" y="236"/>
                  </a:lnTo>
                  <a:lnTo>
                    <a:pt x="317" y="254"/>
                  </a:lnTo>
                  <a:lnTo>
                    <a:pt x="294" y="266"/>
                  </a:lnTo>
                  <a:lnTo>
                    <a:pt x="267" y="273"/>
                  </a:lnTo>
                  <a:lnTo>
                    <a:pt x="237" y="277"/>
                  </a:lnTo>
                  <a:lnTo>
                    <a:pt x="237" y="277"/>
                  </a:lnTo>
                  <a:lnTo>
                    <a:pt x="0" y="277"/>
                  </a:lnTo>
                  <a:lnTo>
                    <a:pt x="0" y="277"/>
                  </a:lnTo>
                  <a:lnTo>
                    <a:pt x="0" y="0"/>
                  </a:lnTo>
                  <a:lnTo>
                    <a:pt x="0" y="0"/>
                  </a:lnTo>
                  <a:lnTo>
                    <a:pt x="237" y="0"/>
                  </a:lnTo>
                  <a:lnTo>
                    <a:pt x="237" y="0"/>
                  </a:lnTo>
                  <a:lnTo>
                    <a:pt x="267" y="3"/>
                  </a:lnTo>
                  <a:lnTo>
                    <a:pt x="294" y="11"/>
                  </a:lnTo>
                  <a:lnTo>
                    <a:pt x="317" y="22"/>
                  </a:lnTo>
                  <a:lnTo>
                    <a:pt x="340" y="40"/>
                  </a:lnTo>
                  <a:lnTo>
                    <a:pt x="359" y="62"/>
                  </a:lnTo>
                  <a:lnTo>
                    <a:pt x="370" y="85"/>
                  </a:lnTo>
                  <a:lnTo>
                    <a:pt x="378" y="110"/>
                  </a:lnTo>
                  <a:lnTo>
                    <a:pt x="382" y="14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01180" name="Freeform 124">
              <a:extLst>
                <a:ext uri="{FF2B5EF4-FFF2-40B4-BE49-F238E27FC236}">
                  <a16:creationId xmlns:a16="http://schemas.microsoft.com/office/drawing/2014/main" id="{65A58CF0-98E2-3C49-B2C1-CB79B697F97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9" y="3600"/>
              <a:ext cx="378" cy="277"/>
            </a:xfrm>
            <a:custGeom>
              <a:avLst/>
              <a:gdLst/>
              <a:ahLst/>
              <a:cxnLst>
                <a:cxn ang="0">
                  <a:pos x="382" y="140"/>
                </a:cxn>
                <a:cxn ang="0">
                  <a:pos x="378" y="166"/>
                </a:cxn>
                <a:cxn ang="0">
                  <a:pos x="370" y="192"/>
                </a:cxn>
                <a:cxn ang="0">
                  <a:pos x="359" y="214"/>
                </a:cxn>
                <a:cxn ang="0">
                  <a:pos x="340" y="236"/>
                </a:cxn>
                <a:cxn ang="0">
                  <a:pos x="317" y="254"/>
                </a:cxn>
                <a:cxn ang="0">
                  <a:pos x="294" y="266"/>
                </a:cxn>
                <a:cxn ang="0">
                  <a:pos x="267" y="273"/>
                </a:cxn>
                <a:cxn ang="0">
                  <a:pos x="237" y="277"/>
                </a:cxn>
                <a:cxn ang="0">
                  <a:pos x="237" y="277"/>
                </a:cxn>
                <a:cxn ang="0">
                  <a:pos x="0" y="277"/>
                </a:cxn>
                <a:cxn ang="0">
                  <a:pos x="0" y="277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237" y="0"/>
                </a:cxn>
                <a:cxn ang="0">
                  <a:pos x="237" y="0"/>
                </a:cxn>
                <a:cxn ang="0">
                  <a:pos x="267" y="3"/>
                </a:cxn>
                <a:cxn ang="0">
                  <a:pos x="294" y="11"/>
                </a:cxn>
                <a:cxn ang="0">
                  <a:pos x="317" y="22"/>
                </a:cxn>
                <a:cxn ang="0">
                  <a:pos x="340" y="40"/>
                </a:cxn>
                <a:cxn ang="0">
                  <a:pos x="359" y="62"/>
                </a:cxn>
                <a:cxn ang="0">
                  <a:pos x="370" y="85"/>
                </a:cxn>
                <a:cxn ang="0">
                  <a:pos x="378" y="110"/>
                </a:cxn>
                <a:cxn ang="0">
                  <a:pos x="382" y="140"/>
                </a:cxn>
              </a:cxnLst>
              <a:rect l="0" t="0" r="r" b="b"/>
              <a:pathLst>
                <a:path w="382" h="277">
                  <a:moveTo>
                    <a:pt x="382" y="140"/>
                  </a:moveTo>
                  <a:lnTo>
                    <a:pt x="378" y="166"/>
                  </a:lnTo>
                  <a:lnTo>
                    <a:pt x="370" y="192"/>
                  </a:lnTo>
                  <a:lnTo>
                    <a:pt x="359" y="214"/>
                  </a:lnTo>
                  <a:lnTo>
                    <a:pt x="340" y="236"/>
                  </a:lnTo>
                  <a:lnTo>
                    <a:pt x="317" y="254"/>
                  </a:lnTo>
                  <a:lnTo>
                    <a:pt x="294" y="266"/>
                  </a:lnTo>
                  <a:lnTo>
                    <a:pt x="267" y="273"/>
                  </a:lnTo>
                  <a:lnTo>
                    <a:pt x="237" y="277"/>
                  </a:lnTo>
                  <a:lnTo>
                    <a:pt x="237" y="277"/>
                  </a:lnTo>
                  <a:lnTo>
                    <a:pt x="0" y="277"/>
                  </a:lnTo>
                  <a:lnTo>
                    <a:pt x="0" y="277"/>
                  </a:lnTo>
                  <a:lnTo>
                    <a:pt x="0" y="0"/>
                  </a:lnTo>
                  <a:lnTo>
                    <a:pt x="0" y="0"/>
                  </a:lnTo>
                  <a:lnTo>
                    <a:pt x="237" y="0"/>
                  </a:lnTo>
                  <a:lnTo>
                    <a:pt x="237" y="0"/>
                  </a:lnTo>
                  <a:lnTo>
                    <a:pt x="267" y="3"/>
                  </a:lnTo>
                  <a:lnTo>
                    <a:pt x="294" y="11"/>
                  </a:lnTo>
                  <a:lnTo>
                    <a:pt x="317" y="22"/>
                  </a:lnTo>
                  <a:lnTo>
                    <a:pt x="340" y="40"/>
                  </a:lnTo>
                  <a:lnTo>
                    <a:pt x="359" y="62"/>
                  </a:lnTo>
                  <a:lnTo>
                    <a:pt x="370" y="85"/>
                  </a:lnTo>
                  <a:lnTo>
                    <a:pt x="378" y="110"/>
                  </a:lnTo>
                  <a:lnTo>
                    <a:pt x="382" y="14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01181" name="Text Box 125">
              <a:extLst>
                <a:ext uri="{FF2B5EF4-FFF2-40B4-BE49-F238E27FC236}">
                  <a16:creationId xmlns:a16="http://schemas.microsoft.com/office/drawing/2014/main" id="{50F32E1E-FAE6-AB4B-934B-DD71E9F51C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" y="3696"/>
              <a:ext cx="224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r" eaLnBrk="1" hangingPunct="1">
                <a:defRPr/>
              </a:pPr>
              <a:r>
                <a:rPr lang="en-US" sz="1602" b="0"/>
                <a:t>b</a:t>
              </a:r>
              <a:r>
                <a:rPr lang="en-US" sz="1602" b="0" baseline="-25000"/>
                <a:t>0</a:t>
              </a:r>
            </a:p>
          </p:txBody>
        </p:sp>
        <p:sp>
          <p:nvSpPr>
            <p:cNvPr id="301182" name="Line 126">
              <a:extLst>
                <a:ext uri="{FF2B5EF4-FFF2-40B4-BE49-F238E27FC236}">
                  <a16:creationId xmlns:a16="http://schemas.microsoft.com/office/drawing/2014/main" id="{4119F915-BE8A-7342-8061-E35AA60413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4" y="4032"/>
              <a:ext cx="99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01183" name="Line 127">
              <a:extLst>
                <a:ext uri="{FF2B5EF4-FFF2-40B4-BE49-F238E27FC236}">
                  <a16:creationId xmlns:a16="http://schemas.microsoft.com/office/drawing/2014/main" id="{71AEC7EE-8638-B244-B62E-4568EAE8BA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4" y="4224"/>
              <a:ext cx="82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01184" name="Freeform 128">
              <a:extLst>
                <a:ext uri="{FF2B5EF4-FFF2-40B4-BE49-F238E27FC236}">
                  <a16:creationId xmlns:a16="http://schemas.microsoft.com/office/drawing/2014/main" id="{F960F854-B1F9-5248-9C3B-4F16F3CEE9D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9" y="3984"/>
              <a:ext cx="378" cy="277"/>
            </a:xfrm>
            <a:custGeom>
              <a:avLst/>
              <a:gdLst/>
              <a:ahLst/>
              <a:cxnLst>
                <a:cxn ang="0">
                  <a:pos x="382" y="140"/>
                </a:cxn>
                <a:cxn ang="0">
                  <a:pos x="378" y="166"/>
                </a:cxn>
                <a:cxn ang="0">
                  <a:pos x="370" y="192"/>
                </a:cxn>
                <a:cxn ang="0">
                  <a:pos x="359" y="214"/>
                </a:cxn>
                <a:cxn ang="0">
                  <a:pos x="340" y="236"/>
                </a:cxn>
                <a:cxn ang="0">
                  <a:pos x="317" y="254"/>
                </a:cxn>
                <a:cxn ang="0">
                  <a:pos x="294" y="266"/>
                </a:cxn>
                <a:cxn ang="0">
                  <a:pos x="267" y="273"/>
                </a:cxn>
                <a:cxn ang="0">
                  <a:pos x="237" y="277"/>
                </a:cxn>
                <a:cxn ang="0">
                  <a:pos x="237" y="277"/>
                </a:cxn>
                <a:cxn ang="0">
                  <a:pos x="0" y="277"/>
                </a:cxn>
                <a:cxn ang="0">
                  <a:pos x="0" y="277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237" y="0"/>
                </a:cxn>
                <a:cxn ang="0">
                  <a:pos x="237" y="0"/>
                </a:cxn>
                <a:cxn ang="0">
                  <a:pos x="267" y="3"/>
                </a:cxn>
                <a:cxn ang="0">
                  <a:pos x="294" y="11"/>
                </a:cxn>
                <a:cxn ang="0">
                  <a:pos x="317" y="22"/>
                </a:cxn>
                <a:cxn ang="0">
                  <a:pos x="340" y="40"/>
                </a:cxn>
                <a:cxn ang="0">
                  <a:pos x="359" y="62"/>
                </a:cxn>
                <a:cxn ang="0">
                  <a:pos x="370" y="85"/>
                </a:cxn>
                <a:cxn ang="0">
                  <a:pos x="378" y="110"/>
                </a:cxn>
                <a:cxn ang="0">
                  <a:pos x="382" y="140"/>
                </a:cxn>
              </a:cxnLst>
              <a:rect l="0" t="0" r="r" b="b"/>
              <a:pathLst>
                <a:path w="382" h="277">
                  <a:moveTo>
                    <a:pt x="382" y="140"/>
                  </a:moveTo>
                  <a:lnTo>
                    <a:pt x="378" y="166"/>
                  </a:lnTo>
                  <a:lnTo>
                    <a:pt x="370" y="192"/>
                  </a:lnTo>
                  <a:lnTo>
                    <a:pt x="359" y="214"/>
                  </a:lnTo>
                  <a:lnTo>
                    <a:pt x="340" y="236"/>
                  </a:lnTo>
                  <a:lnTo>
                    <a:pt x="317" y="254"/>
                  </a:lnTo>
                  <a:lnTo>
                    <a:pt x="294" y="266"/>
                  </a:lnTo>
                  <a:lnTo>
                    <a:pt x="267" y="273"/>
                  </a:lnTo>
                  <a:lnTo>
                    <a:pt x="237" y="277"/>
                  </a:lnTo>
                  <a:lnTo>
                    <a:pt x="237" y="277"/>
                  </a:lnTo>
                  <a:lnTo>
                    <a:pt x="0" y="277"/>
                  </a:lnTo>
                  <a:lnTo>
                    <a:pt x="0" y="277"/>
                  </a:lnTo>
                  <a:lnTo>
                    <a:pt x="0" y="0"/>
                  </a:lnTo>
                  <a:lnTo>
                    <a:pt x="0" y="0"/>
                  </a:lnTo>
                  <a:lnTo>
                    <a:pt x="237" y="0"/>
                  </a:lnTo>
                  <a:lnTo>
                    <a:pt x="237" y="0"/>
                  </a:lnTo>
                  <a:lnTo>
                    <a:pt x="267" y="3"/>
                  </a:lnTo>
                  <a:lnTo>
                    <a:pt x="294" y="11"/>
                  </a:lnTo>
                  <a:lnTo>
                    <a:pt x="317" y="22"/>
                  </a:lnTo>
                  <a:lnTo>
                    <a:pt x="340" y="40"/>
                  </a:lnTo>
                  <a:lnTo>
                    <a:pt x="359" y="62"/>
                  </a:lnTo>
                  <a:lnTo>
                    <a:pt x="370" y="85"/>
                  </a:lnTo>
                  <a:lnTo>
                    <a:pt x="378" y="110"/>
                  </a:lnTo>
                  <a:lnTo>
                    <a:pt x="382" y="14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01185" name="Freeform 129">
              <a:extLst>
                <a:ext uri="{FF2B5EF4-FFF2-40B4-BE49-F238E27FC236}">
                  <a16:creationId xmlns:a16="http://schemas.microsoft.com/office/drawing/2014/main" id="{061DFA79-9693-EF4B-BAE7-7F58895C33E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9" y="3984"/>
              <a:ext cx="378" cy="277"/>
            </a:xfrm>
            <a:custGeom>
              <a:avLst/>
              <a:gdLst/>
              <a:ahLst/>
              <a:cxnLst>
                <a:cxn ang="0">
                  <a:pos x="382" y="140"/>
                </a:cxn>
                <a:cxn ang="0">
                  <a:pos x="378" y="166"/>
                </a:cxn>
                <a:cxn ang="0">
                  <a:pos x="370" y="192"/>
                </a:cxn>
                <a:cxn ang="0">
                  <a:pos x="359" y="214"/>
                </a:cxn>
                <a:cxn ang="0">
                  <a:pos x="340" y="236"/>
                </a:cxn>
                <a:cxn ang="0">
                  <a:pos x="317" y="254"/>
                </a:cxn>
                <a:cxn ang="0">
                  <a:pos x="294" y="266"/>
                </a:cxn>
                <a:cxn ang="0">
                  <a:pos x="267" y="273"/>
                </a:cxn>
                <a:cxn ang="0">
                  <a:pos x="237" y="277"/>
                </a:cxn>
                <a:cxn ang="0">
                  <a:pos x="237" y="277"/>
                </a:cxn>
                <a:cxn ang="0">
                  <a:pos x="0" y="277"/>
                </a:cxn>
                <a:cxn ang="0">
                  <a:pos x="0" y="277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237" y="0"/>
                </a:cxn>
                <a:cxn ang="0">
                  <a:pos x="237" y="0"/>
                </a:cxn>
                <a:cxn ang="0">
                  <a:pos x="267" y="3"/>
                </a:cxn>
                <a:cxn ang="0">
                  <a:pos x="294" y="11"/>
                </a:cxn>
                <a:cxn ang="0">
                  <a:pos x="317" y="22"/>
                </a:cxn>
                <a:cxn ang="0">
                  <a:pos x="340" y="40"/>
                </a:cxn>
                <a:cxn ang="0">
                  <a:pos x="359" y="62"/>
                </a:cxn>
                <a:cxn ang="0">
                  <a:pos x="370" y="85"/>
                </a:cxn>
                <a:cxn ang="0">
                  <a:pos x="378" y="110"/>
                </a:cxn>
                <a:cxn ang="0">
                  <a:pos x="382" y="140"/>
                </a:cxn>
              </a:cxnLst>
              <a:rect l="0" t="0" r="r" b="b"/>
              <a:pathLst>
                <a:path w="382" h="277">
                  <a:moveTo>
                    <a:pt x="382" y="140"/>
                  </a:moveTo>
                  <a:lnTo>
                    <a:pt x="378" y="166"/>
                  </a:lnTo>
                  <a:lnTo>
                    <a:pt x="370" y="192"/>
                  </a:lnTo>
                  <a:lnTo>
                    <a:pt x="359" y="214"/>
                  </a:lnTo>
                  <a:lnTo>
                    <a:pt x="340" y="236"/>
                  </a:lnTo>
                  <a:lnTo>
                    <a:pt x="317" y="254"/>
                  </a:lnTo>
                  <a:lnTo>
                    <a:pt x="294" y="266"/>
                  </a:lnTo>
                  <a:lnTo>
                    <a:pt x="267" y="273"/>
                  </a:lnTo>
                  <a:lnTo>
                    <a:pt x="237" y="277"/>
                  </a:lnTo>
                  <a:lnTo>
                    <a:pt x="237" y="277"/>
                  </a:lnTo>
                  <a:lnTo>
                    <a:pt x="0" y="277"/>
                  </a:lnTo>
                  <a:lnTo>
                    <a:pt x="0" y="277"/>
                  </a:lnTo>
                  <a:lnTo>
                    <a:pt x="0" y="0"/>
                  </a:lnTo>
                  <a:lnTo>
                    <a:pt x="0" y="0"/>
                  </a:lnTo>
                  <a:lnTo>
                    <a:pt x="237" y="0"/>
                  </a:lnTo>
                  <a:lnTo>
                    <a:pt x="237" y="0"/>
                  </a:lnTo>
                  <a:lnTo>
                    <a:pt x="267" y="3"/>
                  </a:lnTo>
                  <a:lnTo>
                    <a:pt x="294" y="11"/>
                  </a:lnTo>
                  <a:lnTo>
                    <a:pt x="317" y="22"/>
                  </a:lnTo>
                  <a:lnTo>
                    <a:pt x="340" y="40"/>
                  </a:lnTo>
                  <a:lnTo>
                    <a:pt x="359" y="62"/>
                  </a:lnTo>
                  <a:lnTo>
                    <a:pt x="370" y="85"/>
                  </a:lnTo>
                  <a:lnTo>
                    <a:pt x="378" y="110"/>
                  </a:lnTo>
                  <a:lnTo>
                    <a:pt x="382" y="14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01186" name="Text Box 130">
              <a:extLst>
                <a:ext uri="{FF2B5EF4-FFF2-40B4-BE49-F238E27FC236}">
                  <a16:creationId xmlns:a16="http://schemas.microsoft.com/office/drawing/2014/main" id="{E2AB2592-7707-7B46-B265-72EE1F0E44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" y="4108"/>
              <a:ext cx="217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r" eaLnBrk="1" hangingPunct="1">
                <a:defRPr/>
              </a:pPr>
              <a:r>
                <a:rPr lang="en-US" sz="1602" b="0"/>
                <a:t>a</a:t>
              </a:r>
              <a:r>
                <a:rPr lang="en-US" sz="1602" b="0" baseline="-25000"/>
                <a:t>0</a:t>
              </a:r>
            </a:p>
          </p:txBody>
        </p:sp>
        <p:sp>
          <p:nvSpPr>
            <p:cNvPr id="301187" name="Freeform 131">
              <a:extLst>
                <a:ext uri="{FF2B5EF4-FFF2-40B4-BE49-F238E27FC236}">
                  <a16:creationId xmlns:a16="http://schemas.microsoft.com/office/drawing/2014/main" id="{C9D28A9F-3FB5-054D-B144-D490E94C14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8" y="1344"/>
              <a:ext cx="144" cy="2304"/>
            </a:xfrm>
            <a:custGeom>
              <a:avLst/>
              <a:gdLst/>
              <a:ahLst/>
              <a:cxnLst>
                <a:cxn ang="0">
                  <a:pos x="336" y="1056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336" h="1056">
                  <a:moveTo>
                    <a:pt x="336" y="1056"/>
                  </a:move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01188" name="Rectangle 132">
              <a:extLst>
                <a:ext uri="{FF2B5EF4-FFF2-40B4-BE49-F238E27FC236}">
                  <a16:creationId xmlns:a16="http://schemas.microsoft.com/office/drawing/2014/main" id="{DA8AA682-9B14-0844-8151-A44A7D5096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3840"/>
              <a:ext cx="432" cy="2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sz="1602" b="0"/>
                <a:t>out</a:t>
              </a:r>
              <a:r>
                <a:rPr lang="en-US" sz="1602" b="0" baseline="-25000"/>
                <a:t>0</a:t>
              </a:r>
            </a:p>
          </p:txBody>
        </p:sp>
        <p:sp>
          <p:nvSpPr>
            <p:cNvPr id="301189" name="Freeform 133">
              <a:extLst>
                <a:ext uri="{FF2B5EF4-FFF2-40B4-BE49-F238E27FC236}">
                  <a16:creationId xmlns:a16="http://schemas.microsoft.com/office/drawing/2014/main" id="{259B9128-6B42-6A49-8355-640F27F9631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8" y="864"/>
              <a:ext cx="336" cy="3172"/>
            </a:xfrm>
            <a:custGeom>
              <a:avLst/>
              <a:gdLst/>
              <a:ahLst/>
              <a:cxnLst>
                <a:cxn ang="0">
                  <a:pos x="336" y="1056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336" h="1056">
                  <a:moveTo>
                    <a:pt x="336" y="1056"/>
                  </a:move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grpSp>
          <p:nvGrpSpPr>
            <p:cNvPr id="23626" name="Group 134">
              <a:extLst>
                <a:ext uri="{FF2B5EF4-FFF2-40B4-BE49-F238E27FC236}">
                  <a16:creationId xmlns:a16="http://schemas.microsoft.com/office/drawing/2014/main" id="{2631ABAD-8BCE-4445-8934-79BF52CE464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00" y="1296"/>
              <a:ext cx="96" cy="96"/>
              <a:chOff x="240" y="4176"/>
              <a:chExt cx="192" cy="192"/>
            </a:xfrm>
          </p:grpSpPr>
          <p:sp>
            <p:nvSpPr>
              <p:cNvPr id="301191" name="Oval 135">
                <a:extLst>
                  <a:ext uri="{FF2B5EF4-FFF2-40B4-BE49-F238E27FC236}">
                    <a16:creationId xmlns:a16="http://schemas.microsoft.com/office/drawing/2014/main" id="{B69D84C0-7035-4548-B482-37F8E4F4CF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" y="4224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2403"/>
              </a:p>
            </p:txBody>
          </p:sp>
          <p:sp>
            <p:nvSpPr>
              <p:cNvPr id="301192" name="Rectangle 136">
                <a:extLst>
                  <a:ext uri="{FF2B5EF4-FFF2-40B4-BE49-F238E27FC236}">
                    <a16:creationId xmlns:a16="http://schemas.microsoft.com/office/drawing/2014/main" id="{8911FAD1-BCB9-FB45-B13D-525F88E67A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" y="4176"/>
                <a:ext cx="192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2403"/>
              </a:p>
            </p:txBody>
          </p:sp>
        </p:grpSp>
        <p:grpSp>
          <p:nvGrpSpPr>
            <p:cNvPr id="23627" name="Group 137">
              <a:extLst>
                <a:ext uri="{FF2B5EF4-FFF2-40B4-BE49-F238E27FC236}">
                  <a16:creationId xmlns:a16="http://schemas.microsoft.com/office/drawing/2014/main" id="{3C5D1995-E907-8D47-B6B5-30802476B70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00" y="2064"/>
              <a:ext cx="96" cy="96"/>
              <a:chOff x="240" y="4176"/>
              <a:chExt cx="192" cy="192"/>
            </a:xfrm>
          </p:grpSpPr>
          <p:sp>
            <p:nvSpPr>
              <p:cNvPr id="301194" name="Oval 138">
                <a:extLst>
                  <a:ext uri="{FF2B5EF4-FFF2-40B4-BE49-F238E27FC236}">
                    <a16:creationId xmlns:a16="http://schemas.microsoft.com/office/drawing/2014/main" id="{15DCBA56-3CF7-4A48-B558-A484D69EFB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" y="4224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2403"/>
              </a:p>
            </p:txBody>
          </p:sp>
          <p:sp>
            <p:nvSpPr>
              <p:cNvPr id="301195" name="Rectangle 139">
                <a:extLst>
                  <a:ext uri="{FF2B5EF4-FFF2-40B4-BE49-F238E27FC236}">
                    <a16:creationId xmlns:a16="http://schemas.microsoft.com/office/drawing/2014/main" id="{D818ABA4-951F-1A40-A1B3-DE0533916C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" y="4176"/>
                <a:ext cx="192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2403"/>
              </a:p>
            </p:txBody>
          </p:sp>
        </p:grpSp>
        <p:grpSp>
          <p:nvGrpSpPr>
            <p:cNvPr id="23628" name="Group 140">
              <a:extLst>
                <a:ext uri="{FF2B5EF4-FFF2-40B4-BE49-F238E27FC236}">
                  <a16:creationId xmlns:a16="http://schemas.microsoft.com/office/drawing/2014/main" id="{E2A7E159-D7C0-ED47-A5EA-5F9F83B7CA3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60" y="1680"/>
              <a:ext cx="96" cy="96"/>
              <a:chOff x="240" y="4176"/>
              <a:chExt cx="192" cy="192"/>
            </a:xfrm>
          </p:grpSpPr>
          <p:sp>
            <p:nvSpPr>
              <p:cNvPr id="301197" name="Oval 141">
                <a:extLst>
                  <a:ext uri="{FF2B5EF4-FFF2-40B4-BE49-F238E27FC236}">
                    <a16:creationId xmlns:a16="http://schemas.microsoft.com/office/drawing/2014/main" id="{5DCE94D1-0733-C240-BA51-C91EE68902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" y="4223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2403"/>
              </a:p>
            </p:txBody>
          </p:sp>
          <p:sp>
            <p:nvSpPr>
              <p:cNvPr id="301198" name="Rectangle 142">
                <a:extLst>
                  <a:ext uri="{FF2B5EF4-FFF2-40B4-BE49-F238E27FC236}">
                    <a16:creationId xmlns:a16="http://schemas.microsoft.com/office/drawing/2014/main" id="{89854DDB-07E1-3D48-AEE9-24DF0E3107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" y="4169"/>
                <a:ext cx="192" cy="19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2403"/>
              </a:p>
            </p:txBody>
          </p:sp>
        </p:grpSp>
        <p:grpSp>
          <p:nvGrpSpPr>
            <p:cNvPr id="23629" name="Group 143">
              <a:extLst>
                <a:ext uri="{FF2B5EF4-FFF2-40B4-BE49-F238E27FC236}">
                  <a16:creationId xmlns:a16="http://schemas.microsoft.com/office/drawing/2014/main" id="{6EEA2D5A-84E2-BA4A-896F-AA419AEEBD7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60" y="2448"/>
              <a:ext cx="96" cy="96"/>
              <a:chOff x="240" y="4176"/>
              <a:chExt cx="192" cy="192"/>
            </a:xfrm>
          </p:grpSpPr>
          <p:sp>
            <p:nvSpPr>
              <p:cNvPr id="301200" name="Oval 144">
                <a:extLst>
                  <a:ext uri="{FF2B5EF4-FFF2-40B4-BE49-F238E27FC236}">
                    <a16:creationId xmlns:a16="http://schemas.microsoft.com/office/drawing/2014/main" id="{56B970E3-081F-DE4B-A662-D9621072CD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" y="4223"/>
                <a:ext cx="96" cy="98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2403"/>
              </a:p>
            </p:txBody>
          </p:sp>
          <p:sp>
            <p:nvSpPr>
              <p:cNvPr id="301201" name="Rectangle 145">
                <a:extLst>
                  <a:ext uri="{FF2B5EF4-FFF2-40B4-BE49-F238E27FC236}">
                    <a16:creationId xmlns:a16="http://schemas.microsoft.com/office/drawing/2014/main" id="{565FD0CB-9EC5-B54E-B60E-5858E24587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" y="4169"/>
                <a:ext cx="192" cy="20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2403"/>
              </a:p>
            </p:txBody>
          </p:sp>
        </p:grpSp>
        <p:grpSp>
          <p:nvGrpSpPr>
            <p:cNvPr id="23630" name="Group 146">
              <a:extLst>
                <a:ext uri="{FF2B5EF4-FFF2-40B4-BE49-F238E27FC236}">
                  <a16:creationId xmlns:a16="http://schemas.microsoft.com/office/drawing/2014/main" id="{2202CBBE-98B4-AE4C-B08A-B54D73DF6DE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84" y="2976"/>
              <a:ext cx="96" cy="384"/>
              <a:chOff x="1584" y="2544"/>
              <a:chExt cx="96" cy="384"/>
            </a:xfrm>
          </p:grpSpPr>
          <p:grpSp>
            <p:nvGrpSpPr>
              <p:cNvPr id="23634" name="Group 147">
                <a:extLst>
                  <a:ext uri="{FF2B5EF4-FFF2-40B4-BE49-F238E27FC236}">
                    <a16:creationId xmlns:a16="http://schemas.microsoft.com/office/drawing/2014/main" id="{7FFC0D82-AA01-2442-88F5-DD12C3A908E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84" y="2544"/>
                <a:ext cx="96" cy="96"/>
                <a:chOff x="240" y="4176"/>
                <a:chExt cx="192" cy="192"/>
              </a:xfrm>
            </p:grpSpPr>
            <p:sp>
              <p:nvSpPr>
                <p:cNvPr id="301204" name="Oval 148">
                  <a:extLst>
                    <a:ext uri="{FF2B5EF4-FFF2-40B4-BE49-F238E27FC236}">
                      <a16:creationId xmlns:a16="http://schemas.microsoft.com/office/drawing/2014/main" id="{9F66117D-9F4F-044A-8BA5-BE520A35261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" y="4224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2403"/>
                </a:p>
              </p:txBody>
            </p:sp>
            <p:sp>
              <p:nvSpPr>
                <p:cNvPr id="301205" name="Rectangle 149">
                  <a:extLst>
                    <a:ext uri="{FF2B5EF4-FFF2-40B4-BE49-F238E27FC236}">
                      <a16:creationId xmlns:a16="http://schemas.microsoft.com/office/drawing/2014/main" id="{6B98434D-F01F-3D47-8B1D-6BA95976DC1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7" y="4176"/>
                  <a:ext cx="192" cy="19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2403"/>
                </a:p>
              </p:txBody>
            </p:sp>
          </p:grpSp>
          <p:grpSp>
            <p:nvGrpSpPr>
              <p:cNvPr id="23635" name="Group 150">
                <a:extLst>
                  <a:ext uri="{FF2B5EF4-FFF2-40B4-BE49-F238E27FC236}">
                    <a16:creationId xmlns:a16="http://schemas.microsoft.com/office/drawing/2014/main" id="{403887BD-8A40-AA4F-87DD-C50A02C80BE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84" y="2688"/>
                <a:ext cx="96" cy="96"/>
                <a:chOff x="240" y="4176"/>
                <a:chExt cx="192" cy="192"/>
              </a:xfrm>
            </p:grpSpPr>
            <p:sp>
              <p:nvSpPr>
                <p:cNvPr id="301207" name="Oval 151">
                  <a:extLst>
                    <a:ext uri="{FF2B5EF4-FFF2-40B4-BE49-F238E27FC236}">
                      <a16:creationId xmlns:a16="http://schemas.microsoft.com/office/drawing/2014/main" id="{7E10EDFC-8ACE-0C4A-BA58-00A5E5BC569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" y="4223"/>
                  <a:ext cx="96" cy="98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2403"/>
                </a:p>
              </p:txBody>
            </p:sp>
            <p:sp>
              <p:nvSpPr>
                <p:cNvPr id="301208" name="Rectangle 152">
                  <a:extLst>
                    <a:ext uri="{FF2B5EF4-FFF2-40B4-BE49-F238E27FC236}">
                      <a16:creationId xmlns:a16="http://schemas.microsoft.com/office/drawing/2014/main" id="{77A63E1A-F47B-0449-BF92-B16A3F8E4F7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7" y="4169"/>
                  <a:ext cx="192" cy="20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2403"/>
                </a:p>
              </p:txBody>
            </p:sp>
          </p:grpSp>
          <p:grpSp>
            <p:nvGrpSpPr>
              <p:cNvPr id="23636" name="Group 153">
                <a:extLst>
                  <a:ext uri="{FF2B5EF4-FFF2-40B4-BE49-F238E27FC236}">
                    <a16:creationId xmlns:a16="http://schemas.microsoft.com/office/drawing/2014/main" id="{E1C237E4-E6E9-CB41-939A-D061C7E0AD3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84" y="2832"/>
                <a:ext cx="96" cy="96"/>
                <a:chOff x="240" y="4176"/>
                <a:chExt cx="192" cy="192"/>
              </a:xfrm>
            </p:grpSpPr>
            <p:sp>
              <p:nvSpPr>
                <p:cNvPr id="301210" name="Oval 154">
                  <a:extLst>
                    <a:ext uri="{FF2B5EF4-FFF2-40B4-BE49-F238E27FC236}">
                      <a16:creationId xmlns:a16="http://schemas.microsoft.com/office/drawing/2014/main" id="{5A1FD7C3-6FCA-194C-BF82-3C23C506AF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" y="4231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2403"/>
                </a:p>
              </p:txBody>
            </p:sp>
            <p:sp>
              <p:nvSpPr>
                <p:cNvPr id="301211" name="Rectangle 155">
                  <a:extLst>
                    <a:ext uri="{FF2B5EF4-FFF2-40B4-BE49-F238E27FC236}">
                      <a16:creationId xmlns:a16="http://schemas.microsoft.com/office/drawing/2014/main" id="{5D43548F-69E6-7D46-A243-F9DF5F7F84B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7" y="4183"/>
                  <a:ext cx="192" cy="19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2403"/>
                </a:p>
              </p:txBody>
            </p:sp>
          </p:grpSp>
        </p:grpSp>
        <p:grpSp>
          <p:nvGrpSpPr>
            <p:cNvPr id="23631" name="Group 156">
              <a:extLst>
                <a:ext uri="{FF2B5EF4-FFF2-40B4-BE49-F238E27FC236}">
                  <a16:creationId xmlns:a16="http://schemas.microsoft.com/office/drawing/2014/main" id="{0C4EA9A0-D2CA-8F41-9596-6045DA131A1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60" y="816"/>
              <a:ext cx="96" cy="96"/>
              <a:chOff x="240" y="4176"/>
              <a:chExt cx="192" cy="192"/>
            </a:xfrm>
          </p:grpSpPr>
          <p:sp>
            <p:nvSpPr>
              <p:cNvPr id="301213" name="Oval 157">
                <a:extLst>
                  <a:ext uri="{FF2B5EF4-FFF2-40B4-BE49-F238E27FC236}">
                    <a16:creationId xmlns:a16="http://schemas.microsoft.com/office/drawing/2014/main" id="{E7E352BA-63E8-8947-A885-4AE4D97938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" y="4224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2403"/>
              </a:p>
            </p:txBody>
          </p:sp>
          <p:sp>
            <p:nvSpPr>
              <p:cNvPr id="301214" name="Rectangle 158">
                <a:extLst>
                  <a:ext uri="{FF2B5EF4-FFF2-40B4-BE49-F238E27FC236}">
                    <a16:creationId xmlns:a16="http://schemas.microsoft.com/office/drawing/2014/main" id="{AFC5B4C1-1E7F-FB48-90A6-F2102DCFB0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" y="4176"/>
                <a:ext cx="192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2403"/>
              </a:p>
            </p:txBody>
          </p:sp>
        </p:grpSp>
      </p:grpSp>
      <p:sp>
        <p:nvSpPr>
          <p:cNvPr id="301221" name="Rectangle 165">
            <a:extLst>
              <a:ext uri="{FF2B5EF4-FFF2-40B4-BE49-F238E27FC236}">
                <a16:creationId xmlns:a16="http://schemas.microsoft.com/office/drawing/2014/main" id="{04D72921-0A58-EB41-939F-5B6FC583EC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5450" y="2593975"/>
            <a:ext cx="3181350" cy="1571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sz="2403" dirty="0">
                <a:latin typeface="Courier New" pitchFamily="49" charset="0"/>
              </a:rPr>
              <a:t>Out = [</a:t>
            </a:r>
          </a:p>
          <a:p>
            <a:pPr eaLnBrk="1" hangingPunct="1">
              <a:defRPr/>
            </a:pPr>
            <a:r>
              <a:rPr lang="en-US" sz="2403" dirty="0">
                <a:latin typeface="Courier New" pitchFamily="49" charset="0"/>
              </a:rPr>
              <a:t>  s : A;</a:t>
            </a:r>
          </a:p>
          <a:p>
            <a:pPr eaLnBrk="1" hangingPunct="1">
              <a:defRPr/>
            </a:pPr>
            <a:r>
              <a:rPr lang="en-US" sz="2403" dirty="0">
                <a:latin typeface="Courier New" pitchFamily="49" charset="0"/>
              </a:rPr>
              <a:t>  1 : B;</a:t>
            </a:r>
          </a:p>
          <a:p>
            <a:pPr eaLnBrk="1" hangingPunct="1">
              <a:defRPr/>
            </a:pPr>
            <a:r>
              <a:rPr lang="en-US" sz="2403" dirty="0">
                <a:latin typeface="Courier New" pitchFamily="49" charset="0"/>
              </a:rPr>
              <a:t>];</a:t>
            </a:r>
          </a:p>
        </p:txBody>
      </p:sp>
      <p:grpSp>
        <p:nvGrpSpPr>
          <p:cNvPr id="23558" name="Group 170">
            <a:extLst>
              <a:ext uri="{FF2B5EF4-FFF2-40B4-BE49-F238E27FC236}">
                <a16:creationId xmlns:a16="http://schemas.microsoft.com/office/drawing/2014/main" id="{78B9F085-DCC2-FF4B-BF8C-F5DF9E20C2F8}"/>
              </a:ext>
            </a:extLst>
          </p:cNvPr>
          <p:cNvGrpSpPr>
            <a:grpSpLocks/>
          </p:cNvGrpSpPr>
          <p:nvPr/>
        </p:nvGrpSpPr>
        <p:grpSpPr bwMode="auto">
          <a:xfrm>
            <a:off x="5494338" y="1087438"/>
            <a:ext cx="2192337" cy="1258887"/>
            <a:chOff x="3504" y="2064"/>
            <a:chExt cx="1379" cy="792"/>
          </a:xfrm>
        </p:grpSpPr>
        <p:sp>
          <p:nvSpPr>
            <p:cNvPr id="301222" name="Rectangle 166">
              <a:extLst>
                <a:ext uri="{FF2B5EF4-FFF2-40B4-BE49-F238E27FC236}">
                  <a16:creationId xmlns:a16="http://schemas.microsoft.com/office/drawing/2014/main" id="{38642997-A19D-D34B-96FE-5DFAC9FAB6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4" y="2064"/>
              <a:ext cx="167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sz="1602" b="0"/>
                <a:t>s</a:t>
              </a:r>
            </a:p>
          </p:txBody>
        </p:sp>
        <p:sp>
          <p:nvSpPr>
            <p:cNvPr id="301215" name="Line 159">
              <a:extLst>
                <a:ext uri="{FF2B5EF4-FFF2-40B4-BE49-F238E27FC236}">
                  <a16:creationId xmlns:a16="http://schemas.microsoft.com/office/drawing/2014/main" id="{920B944E-8F70-E24A-90A4-7D21C0885E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6" y="2496"/>
              <a:ext cx="24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01216" name="Line 160">
              <a:extLst>
                <a:ext uri="{FF2B5EF4-FFF2-40B4-BE49-F238E27FC236}">
                  <a16:creationId xmlns:a16="http://schemas.microsoft.com/office/drawing/2014/main" id="{44DB74D0-E96B-964C-896B-FA1DEDACF1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6" y="2736"/>
              <a:ext cx="24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01217" name="Rectangle 161">
              <a:extLst>
                <a:ext uri="{FF2B5EF4-FFF2-40B4-BE49-F238E27FC236}">
                  <a16:creationId xmlns:a16="http://schemas.microsoft.com/office/drawing/2014/main" id="{73788D52-613C-2541-B13A-A4A453DB1B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4" y="2380"/>
              <a:ext cx="201" cy="2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sz="1602" b="0"/>
                <a:t>B</a:t>
              </a:r>
            </a:p>
          </p:txBody>
        </p:sp>
        <p:sp>
          <p:nvSpPr>
            <p:cNvPr id="301218" name="Rectangle 162">
              <a:extLst>
                <a:ext uri="{FF2B5EF4-FFF2-40B4-BE49-F238E27FC236}">
                  <a16:creationId xmlns:a16="http://schemas.microsoft.com/office/drawing/2014/main" id="{986D4CCE-74B2-F447-B2ED-CA8AEC2A2D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4" y="2640"/>
              <a:ext cx="210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sz="1602" b="0"/>
                <a:t>A</a:t>
              </a:r>
            </a:p>
          </p:txBody>
        </p:sp>
        <p:sp>
          <p:nvSpPr>
            <p:cNvPr id="301219" name="Line 163">
              <a:extLst>
                <a:ext uri="{FF2B5EF4-FFF2-40B4-BE49-F238E27FC236}">
                  <a16:creationId xmlns:a16="http://schemas.microsoft.com/office/drawing/2014/main" id="{A47B1160-482D-9843-9ECE-42595BD305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2592"/>
              <a:ext cx="24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01220" name="Rectangle 164">
              <a:extLst>
                <a:ext uri="{FF2B5EF4-FFF2-40B4-BE49-F238E27FC236}">
                  <a16:creationId xmlns:a16="http://schemas.microsoft.com/office/drawing/2014/main" id="{857B9C6C-DE5A-D14B-8FC4-380560BC02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0" y="2486"/>
              <a:ext cx="323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sz="1602" b="0"/>
                <a:t>Out</a:t>
              </a:r>
            </a:p>
          </p:txBody>
        </p:sp>
        <p:sp>
          <p:nvSpPr>
            <p:cNvPr id="301223" name="Freeform 167">
              <a:extLst>
                <a:ext uri="{FF2B5EF4-FFF2-40B4-BE49-F238E27FC236}">
                  <a16:creationId xmlns:a16="http://schemas.microsoft.com/office/drawing/2014/main" id="{B736817D-14AA-8E4D-B0E4-17EF34F3D1D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6" y="2208"/>
              <a:ext cx="432" cy="144"/>
            </a:xfrm>
            <a:custGeom>
              <a:avLst/>
              <a:gdLst/>
              <a:ahLst/>
              <a:cxnLst>
                <a:cxn ang="0">
                  <a:pos x="432" y="144"/>
                </a:cxn>
                <a:cxn ang="0">
                  <a:pos x="432" y="0"/>
                </a:cxn>
                <a:cxn ang="0">
                  <a:pos x="0" y="0"/>
                </a:cxn>
              </a:cxnLst>
              <a:rect l="0" t="0" r="r" b="b"/>
              <a:pathLst>
                <a:path w="432" h="144">
                  <a:moveTo>
                    <a:pt x="432" y="144"/>
                  </a:moveTo>
                  <a:lnTo>
                    <a:pt x="432" y="0"/>
                  </a:ln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ysDot"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01224" name="AutoShape 168">
              <a:extLst>
                <a:ext uri="{FF2B5EF4-FFF2-40B4-BE49-F238E27FC236}">
                  <a16:creationId xmlns:a16="http://schemas.microsoft.com/office/drawing/2014/main" id="{EF7ED7CB-C716-3441-84D2-706134E613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2328"/>
              <a:ext cx="419" cy="528"/>
            </a:xfrm>
            <a:prstGeom prst="roundRect">
              <a:avLst>
                <a:gd name="adj" fmla="val 16667"/>
              </a:avLst>
            </a:prstGeom>
            <a:solidFill>
              <a:srgbClr val="CCEC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91557" tIns="45779" rIns="91557" bIns="45779" anchor="ctr"/>
            <a:lstStyle/>
            <a:p>
              <a:pPr eaLnBrk="1" hangingPunct="1">
                <a:defRPr/>
              </a:pPr>
              <a:r>
                <a:rPr lang="en-US" sz="1202" b="0"/>
                <a:t>MUX</a:t>
              </a:r>
            </a:p>
          </p:txBody>
        </p:sp>
      </p:grpSp>
    </p:spTree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Content Placeholder 2">
            <a:extLst>
              <a:ext uri="{FF2B5EF4-FFF2-40B4-BE49-F238E27FC236}">
                <a16:creationId xmlns:a16="http://schemas.microsoft.com/office/drawing/2014/main" id="{E22E027E-F021-FF4F-90F2-0F12DC3A2871}"/>
              </a:ext>
            </a:extLst>
          </p:cNvPr>
          <p:cNvSpPr txBox="1">
            <a:spLocks/>
          </p:cNvSpPr>
          <p:nvPr/>
        </p:nvSpPr>
        <p:spPr bwMode="auto">
          <a:xfrm>
            <a:off x="685800" y="1295400"/>
            <a:ext cx="4419600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800100" indent="-3429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257300" indent="-3429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 marL="457200" lvl="1" indent="0">
              <a:spcBef>
                <a:spcPct val="20000"/>
              </a:spcBef>
            </a:pPr>
            <a:endParaRPr lang="en-US" altLang="en-US" b="0" dirty="0">
              <a:latin typeface="Franklin Gothic Book" panose="020B0503020102020204" pitchFamily="34" charset="0"/>
            </a:endParaRPr>
          </a:p>
          <a:p>
            <a:pPr lvl="1">
              <a:spcBef>
                <a:spcPct val="20000"/>
              </a:spcBef>
              <a:buFontTx/>
              <a:buChar char="•"/>
            </a:pPr>
            <a:endParaRPr lang="en-US" altLang="en-US" b="0" dirty="0">
              <a:latin typeface="Franklin Gothic Book" panose="020B0503020102020204" pitchFamily="34" charset="0"/>
            </a:endParaRP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US" altLang="en-US" b="0" dirty="0">
                <a:latin typeface="Franklin Gothic Book" panose="020B0503020102020204" pitchFamily="34" charset="0"/>
              </a:rPr>
              <a:t>Input </a:t>
            </a:r>
            <a:r>
              <a:rPr lang="en-US" altLang="en-US" b="0" dirty="0" err="1">
                <a:latin typeface="Franklin Gothic Book" panose="020B0503020102020204" pitchFamily="34" charset="0"/>
              </a:rPr>
              <a:t>a,b</a:t>
            </a:r>
            <a:r>
              <a:rPr lang="en-US" altLang="en-US" b="0" dirty="0">
                <a:latin typeface="Franklin Gothic Book" panose="020B0503020102020204" pitchFamily="34" charset="0"/>
              </a:rPr>
              <a:t> enables one of 4 outputs</a:t>
            </a:r>
          </a:p>
          <a:p>
            <a:pPr lvl="1">
              <a:spcBef>
                <a:spcPct val="20000"/>
              </a:spcBef>
              <a:buFontTx/>
              <a:buChar char="•"/>
            </a:pPr>
            <a:r>
              <a:rPr lang="en-US" altLang="en-US" b="0" dirty="0" err="1">
                <a:latin typeface="Franklin Gothic Book" panose="020B0503020102020204" pitchFamily="34" charset="0"/>
              </a:rPr>
              <a:t>a,b</a:t>
            </a:r>
            <a:r>
              <a:rPr lang="en-US" altLang="en-US" b="0" dirty="0">
                <a:latin typeface="Franklin Gothic Book" panose="020B0503020102020204" pitchFamily="34" charset="0"/>
              </a:rPr>
              <a:t> = 00 -&gt; out0</a:t>
            </a:r>
          </a:p>
          <a:p>
            <a:pPr lvl="1">
              <a:spcBef>
                <a:spcPct val="20000"/>
              </a:spcBef>
              <a:buFontTx/>
              <a:buChar char="•"/>
            </a:pPr>
            <a:r>
              <a:rPr lang="en-US" altLang="en-US" b="0" dirty="0" err="1">
                <a:latin typeface="Franklin Gothic Book" panose="020B0503020102020204" pitchFamily="34" charset="0"/>
              </a:rPr>
              <a:t>a,b</a:t>
            </a:r>
            <a:r>
              <a:rPr lang="en-US" altLang="en-US" b="0" dirty="0">
                <a:latin typeface="Franklin Gothic Book" panose="020B0503020102020204" pitchFamily="34" charset="0"/>
              </a:rPr>
              <a:t> = 01 -&gt; out1</a:t>
            </a:r>
          </a:p>
          <a:p>
            <a:pPr lvl="1">
              <a:spcBef>
                <a:spcPct val="20000"/>
              </a:spcBef>
              <a:buFontTx/>
              <a:buChar char="•"/>
            </a:pPr>
            <a:r>
              <a:rPr lang="en-US" altLang="en-US" b="0" dirty="0" err="1">
                <a:latin typeface="Franklin Gothic Book" panose="020B0503020102020204" pitchFamily="34" charset="0"/>
              </a:rPr>
              <a:t>a,b</a:t>
            </a:r>
            <a:r>
              <a:rPr lang="en-US" altLang="en-US" b="0" dirty="0">
                <a:latin typeface="Franklin Gothic Book" panose="020B0503020102020204" pitchFamily="34" charset="0"/>
              </a:rPr>
              <a:t> = 10 -&gt; out2</a:t>
            </a:r>
          </a:p>
          <a:p>
            <a:pPr lvl="1">
              <a:spcBef>
                <a:spcPct val="20000"/>
              </a:spcBef>
              <a:buFontTx/>
              <a:buChar char="•"/>
            </a:pPr>
            <a:r>
              <a:rPr lang="en-US" altLang="en-US" b="0" dirty="0" err="1">
                <a:latin typeface="Franklin Gothic Book" panose="020B0503020102020204" pitchFamily="34" charset="0"/>
              </a:rPr>
              <a:t>a,b</a:t>
            </a:r>
            <a:r>
              <a:rPr lang="en-US" altLang="en-US" b="0" dirty="0">
                <a:latin typeface="Franklin Gothic Book" panose="020B0503020102020204" pitchFamily="34" charset="0"/>
              </a:rPr>
              <a:t> = 11 -&gt; out3</a:t>
            </a:r>
          </a:p>
          <a:p>
            <a:pPr lvl="1">
              <a:spcBef>
                <a:spcPct val="20000"/>
              </a:spcBef>
              <a:buFontTx/>
              <a:buChar char="•"/>
            </a:pPr>
            <a:endParaRPr lang="en-US" altLang="en-US" b="0" dirty="0">
              <a:latin typeface="Franklin Gothic Book" panose="020B0503020102020204" pitchFamily="34" charset="0"/>
            </a:endParaRPr>
          </a:p>
          <a:p>
            <a:pPr lvl="2">
              <a:spcBef>
                <a:spcPct val="20000"/>
              </a:spcBef>
              <a:buFontTx/>
              <a:buChar char="•"/>
            </a:pPr>
            <a:endParaRPr lang="en-US" altLang="en-US" b="0" dirty="0">
              <a:latin typeface="Franklin Gothic Book" panose="020B0503020102020204" pitchFamily="34" charset="0"/>
            </a:endParaRPr>
          </a:p>
          <a:p>
            <a:pPr lvl="2">
              <a:spcBef>
                <a:spcPct val="20000"/>
              </a:spcBef>
              <a:buFontTx/>
              <a:buChar char="•"/>
            </a:pPr>
            <a:endParaRPr lang="en-US" altLang="en-US" sz="2000" dirty="0">
              <a:latin typeface="Times New Roman" panose="02020603050405020304" pitchFamily="18" charset="0"/>
            </a:endParaRPr>
          </a:p>
          <a:p>
            <a:pPr lvl="2">
              <a:spcBef>
                <a:spcPct val="20000"/>
              </a:spcBef>
              <a:buFontTx/>
              <a:buChar char="•"/>
            </a:pPr>
            <a:endParaRPr lang="en-US" altLang="en-US" sz="2000" dirty="0">
              <a:latin typeface="Times New Roman" panose="02020603050405020304" pitchFamily="18" charset="0"/>
            </a:endParaRPr>
          </a:p>
          <a:p>
            <a:pPr lvl="2">
              <a:spcBef>
                <a:spcPct val="20000"/>
              </a:spcBef>
              <a:buFontTx/>
              <a:buChar char="•"/>
            </a:pPr>
            <a:endParaRPr lang="en-US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A6155C-C068-154A-B7DC-79069155952B}"/>
              </a:ext>
            </a:extLst>
          </p:cNvPr>
          <p:cNvSpPr/>
          <p:nvPr/>
        </p:nvSpPr>
        <p:spPr>
          <a:xfrm>
            <a:off x="6096000" y="2113588"/>
            <a:ext cx="685800" cy="12192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000000"/>
              </a:solidFill>
              <a:latin typeface="Times New Roman" charset="0"/>
              <a:ea typeface="ＭＳ Ｐゴシック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D5FF1A4-B3D2-904A-96A7-66553BDEC72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867400" y="2418388"/>
            <a:ext cx="228600" cy="15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/>
          </a:extLst>
        </p:spPr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B9FE67E-6164-0A43-9AD3-A7877F96761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867400" y="2951788"/>
            <a:ext cx="228600" cy="15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/>
          </a:extLst>
        </p:spPr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34C1F30-8774-3E47-8B26-EC1112616EE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781800" y="2265988"/>
            <a:ext cx="228600" cy="15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/>
          </a:extLst>
        </p:spPr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BBCA832-8AB9-6D46-B39E-2BA7F1D4BCD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781800" y="3180388"/>
            <a:ext cx="228600" cy="15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/>
          </a:extLst>
        </p:spPr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88321AC-AA8D-A040-A2EC-92ED52C0B60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781800" y="2875588"/>
            <a:ext cx="228600" cy="15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/>
          </a:extLst>
        </p:spPr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2855D37-9686-9341-B919-A7249AB67DD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781800" y="2570788"/>
            <a:ext cx="228600" cy="15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/>
          </a:extLst>
        </p:spPr>
      </p:cxnSp>
      <p:sp>
        <p:nvSpPr>
          <p:cNvPr id="24585" name="TextBox 18">
            <a:extLst>
              <a:ext uri="{FF2B5EF4-FFF2-40B4-BE49-F238E27FC236}">
                <a16:creationId xmlns:a16="http://schemas.microsoft.com/office/drawing/2014/main" id="{F72CF157-EBB9-6D47-B2F3-3B1EBFAF3C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2265988"/>
            <a:ext cx="304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 b="0"/>
              <a:t>a</a:t>
            </a:r>
          </a:p>
        </p:txBody>
      </p:sp>
      <p:sp>
        <p:nvSpPr>
          <p:cNvPr id="24586" name="TextBox 19">
            <a:extLst>
              <a:ext uri="{FF2B5EF4-FFF2-40B4-BE49-F238E27FC236}">
                <a16:creationId xmlns:a16="http://schemas.microsoft.com/office/drawing/2014/main" id="{8E172B1B-195F-224F-9D0A-B104842517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2799388"/>
            <a:ext cx="304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 b="0"/>
              <a:t>b</a:t>
            </a:r>
          </a:p>
        </p:txBody>
      </p:sp>
      <p:sp>
        <p:nvSpPr>
          <p:cNvPr id="24587" name="TextBox 20">
            <a:extLst>
              <a:ext uri="{FF2B5EF4-FFF2-40B4-BE49-F238E27FC236}">
                <a16:creationId xmlns:a16="http://schemas.microsoft.com/office/drawing/2014/main" id="{44612001-FC87-3B47-9D61-86B88812D1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2113588"/>
            <a:ext cx="838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 b="0"/>
              <a:t>Out0</a:t>
            </a:r>
          </a:p>
        </p:txBody>
      </p:sp>
      <p:sp>
        <p:nvSpPr>
          <p:cNvPr id="24588" name="TextBox 21">
            <a:extLst>
              <a:ext uri="{FF2B5EF4-FFF2-40B4-BE49-F238E27FC236}">
                <a16:creationId xmlns:a16="http://schemas.microsoft.com/office/drawing/2014/main" id="{DE3A8C54-6716-3F48-9C62-8C265F6C99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2418388"/>
            <a:ext cx="990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 b="0"/>
              <a:t>Out1</a:t>
            </a:r>
          </a:p>
        </p:txBody>
      </p:sp>
      <p:sp>
        <p:nvSpPr>
          <p:cNvPr id="24589" name="TextBox 22">
            <a:extLst>
              <a:ext uri="{FF2B5EF4-FFF2-40B4-BE49-F238E27FC236}">
                <a16:creationId xmlns:a16="http://schemas.microsoft.com/office/drawing/2014/main" id="{DF598A0A-C496-CF40-9CBE-ED92D5095E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2723188"/>
            <a:ext cx="1066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 b="0"/>
              <a:t>Out2</a:t>
            </a:r>
          </a:p>
        </p:txBody>
      </p:sp>
      <p:sp>
        <p:nvSpPr>
          <p:cNvPr id="24590" name="TextBox 23">
            <a:extLst>
              <a:ext uri="{FF2B5EF4-FFF2-40B4-BE49-F238E27FC236}">
                <a16:creationId xmlns:a16="http://schemas.microsoft.com/office/drawing/2014/main" id="{8276B067-A015-2C42-9EC6-2496687D0F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3027988"/>
            <a:ext cx="762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 b="0"/>
              <a:t>Out3</a:t>
            </a:r>
          </a:p>
        </p:txBody>
      </p:sp>
      <p:sp>
        <p:nvSpPr>
          <p:cNvPr id="24600" name="Rectangle 2">
            <a:extLst>
              <a:ext uri="{FF2B5EF4-FFF2-40B4-BE49-F238E27FC236}">
                <a16:creationId xmlns:a16="http://schemas.microsoft.com/office/drawing/2014/main" id="{75E625DC-4AD7-8643-83D9-9A95DFE34A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189" y="762000"/>
            <a:ext cx="77724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ko-KR" sz="3600" dirty="0">
                <a:latin typeface="Franklin Gothic Medium" panose="020B0603020102020204" pitchFamily="34" charset="0"/>
                <a:ea typeface="Gulim" panose="020B0600000101010101" pitchFamily="34" charset="-127"/>
              </a:rPr>
              <a:t>Decoder</a:t>
            </a:r>
            <a:endParaRPr lang="en-US" altLang="en-US" sz="3600" dirty="0"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00E0843-D9CD-6D44-803C-19756AB173E3}"/>
              </a:ext>
            </a:extLst>
          </p:cNvPr>
          <p:cNvSpPr/>
          <p:nvPr/>
        </p:nvSpPr>
        <p:spPr>
          <a:xfrm>
            <a:off x="6172200" y="1752600"/>
            <a:ext cx="914400" cy="9906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000000"/>
              </a:solidFill>
              <a:latin typeface="Times New Roman" charset="0"/>
              <a:ea typeface="ＭＳ Ｐゴシック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2D0A7AC-845C-4A40-AB10-7F4D15792D9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943600" y="1981200"/>
            <a:ext cx="228600" cy="15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/>
          </a:extLst>
        </p:spPr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44187A9-DFDF-B847-A7FD-5207449502C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943600" y="2514600"/>
            <a:ext cx="228600" cy="15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/>
          </a:extLst>
        </p:spPr>
      </p:cxnSp>
      <p:sp>
        <p:nvSpPr>
          <p:cNvPr id="25604" name="TextBox 6">
            <a:extLst>
              <a:ext uri="{FF2B5EF4-FFF2-40B4-BE49-F238E27FC236}">
                <a16:creationId xmlns:a16="http://schemas.microsoft.com/office/drawing/2014/main" id="{36A44A4D-8D2D-9C44-BAE7-B9F3003361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1828800"/>
            <a:ext cx="3048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/>
              <a:t>a</a:t>
            </a:r>
          </a:p>
        </p:txBody>
      </p:sp>
      <p:sp>
        <p:nvSpPr>
          <p:cNvPr id="25605" name="TextBox 7">
            <a:extLst>
              <a:ext uri="{FF2B5EF4-FFF2-40B4-BE49-F238E27FC236}">
                <a16:creationId xmlns:a16="http://schemas.microsoft.com/office/drawing/2014/main" id="{CB03AE32-B798-9743-ADAE-2BBC843DA8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2362200"/>
            <a:ext cx="3048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/>
              <a:t>b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8D6FE60-BC4C-A348-93AA-6C534CCBCC71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6515894" y="2856706"/>
            <a:ext cx="228600" cy="15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/>
          </a:extLst>
        </p:spPr>
      </p:cxnSp>
      <p:sp>
        <p:nvSpPr>
          <p:cNvPr id="25607" name="TextBox 9">
            <a:extLst>
              <a:ext uri="{FF2B5EF4-FFF2-40B4-BE49-F238E27FC236}">
                <a16:creationId xmlns:a16="http://schemas.microsoft.com/office/drawing/2014/main" id="{CED392B4-42D9-2F4B-ADAC-56039C8DDE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2971800"/>
            <a:ext cx="1676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 b="0"/>
              <a:t>Carry-out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A95B165-79FB-AC4C-B0CD-613538D3D25D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6515894" y="1637506"/>
            <a:ext cx="228600" cy="15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/>
          </a:extLst>
        </p:spPr>
      </p:cxnSp>
      <p:sp>
        <p:nvSpPr>
          <p:cNvPr id="25609" name="TextBox 11">
            <a:extLst>
              <a:ext uri="{FF2B5EF4-FFF2-40B4-BE49-F238E27FC236}">
                <a16:creationId xmlns:a16="http://schemas.microsoft.com/office/drawing/2014/main" id="{C3FD395C-2505-1D42-B45A-514EF22088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1219200"/>
            <a:ext cx="1371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 b="0"/>
              <a:t>Carry-in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5D55FEB-8859-854D-8DD8-1A1DCB61D7E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086600" y="2209800"/>
            <a:ext cx="228600" cy="15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/>
          </a:extLst>
        </p:spPr>
      </p:cxnSp>
      <p:sp>
        <p:nvSpPr>
          <p:cNvPr id="25611" name="TextBox 13">
            <a:extLst>
              <a:ext uri="{FF2B5EF4-FFF2-40B4-BE49-F238E27FC236}">
                <a16:creationId xmlns:a16="http://schemas.microsoft.com/office/drawing/2014/main" id="{AC59DCAC-BA9D-824B-B73A-DE4A8BD3A8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1400" y="2057400"/>
            <a:ext cx="6096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/>
              <a:t>sum</a:t>
            </a:r>
          </a:p>
        </p:txBody>
      </p:sp>
      <p:sp>
        <p:nvSpPr>
          <p:cNvPr id="25612" name="Content Placeholder 2">
            <a:extLst>
              <a:ext uri="{FF2B5EF4-FFF2-40B4-BE49-F238E27FC236}">
                <a16:creationId xmlns:a16="http://schemas.microsoft.com/office/drawing/2014/main" id="{55A83F81-05EF-4F4D-9541-80D755462A10}"/>
              </a:ext>
            </a:extLst>
          </p:cNvPr>
          <p:cNvSpPr txBox="1">
            <a:spLocks/>
          </p:cNvSpPr>
          <p:nvPr/>
        </p:nvSpPr>
        <p:spPr bwMode="auto">
          <a:xfrm>
            <a:off x="990600" y="1219200"/>
            <a:ext cx="4800600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800100" indent="-3429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257300" indent="-3429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buFontTx/>
              <a:buChar char="•"/>
            </a:pPr>
            <a:r>
              <a:rPr lang="en-US" altLang="en-US" sz="1800" b="0">
                <a:latin typeface="Franklin Gothic Book" panose="020B0503020102020204" pitchFamily="34" charset="0"/>
              </a:rPr>
              <a:t>1-bit Adder: Properties</a:t>
            </a:r>
          </a:p>
          <a:p>
            <a:pPr>
              <a:spcBef>
                <a:spcPct val="20000"/>
              </a:spcBef>
              <a:buFontTx/>
              <a:buChar char="•"/>
            </a:pPr>
            <a:endParaRPr lang="en-US" altLang="en-US" sz="1800" b="0">
              <a:latin typeface="Franklin Gothic Book" panose="020B0503020102020204" pitchFamily="34" charset="0"/>
            </a:endParaRPr>
          </a:p>
          <a:p>
            <a:pPr>
              <a:spcBef>
                <a:spcPct val="20000"/>
              </a:spcBef>
              <a:buFontTx/>
              <a:buChar char="•"/>
            </a:pPr>
            <a:endParaRPr lang="en-US" altLang="en-US" sz="1800" b="0">
              <a:latin typeface="Franklin Gothic Book" panose="020B0503020102020204" pitchFamily="34" charset="0"/>
            </a:endParaRPr>
          </a:p>
          <a:p>
            <a:pPr>
              <a:spcBef>
                <a:spcPct val="20000"/>
              </a:spcBef>
              <a:buFontTx/>
              <a:buChar char="•"/>
            </a:pPr>
            <a:endParaRPr lang="en-US" altLang="en-US" sz="1800" b="0">
              <a:latin typeface="Franklin Gothic Book" panose="020B0503020102020204" pitchFamily="34" charset="0"/>
            </a:endParaRPr>
          </a:p>
          <a:p>
            <a:pPr lvl="1">
              <a:spcBef>
                <a:spcPct val="20000"/>
              </a:spcBef>
              <a:buFont typeface="Arial Black" panose="020B0604020202020204" pitchFamily="34" charset="0"/>
              <a:buAutoNum type="arabicPeriod"/>
            </a:pPr>
            <a:r>
              <a:rPr lang="en-US" altLang="en-US" sz="1800" b="0">
                <a:latin typeface="Franklin Gothic Book" panose="020B0503020102020204" pitchFamily="34" charset="0"/>
              </a:rPr>
              <a:t>Fill out a Truth Table</a:t>
            </a:r>
          </a:p>
          <a:p>
            <a:pPr lvl="1">
              <a:spcBef>
                <a:spcPct val="20000"/>
              </a:spcBef>
              <a:buFont typeface="Arial Black" panose="020B0604020202020204" pitchFamily="34" charset="0"/>
              <a:buAutoNum type="arabicPeriod"/>
            </a:pPr>
            <a:endParaRPr lang="en-US" altLang="en-US" sz="1800" b="0">
              <a:latin typeface="Franklin Gothic Book" panose="020B0503020102020204" pitchFamily="34" charset="0"/>
            </a:endParaRPr>
          </a:p>
          <a:p>
            <a:pPr lvl="1">
              <a:spcBef>
                <a:spcPct val="20000"/>
              </a:spcBef>
              <a:buFont typeface="Arial Black" panose="020B0604020202020204" pitchFamily="34" charset="0"/>
              <a:buAutoNum type="arabicPeriod"/>
            </a:pPr>
            <a:endParaRPr lang="en-US" altLang="en-US" sz="1800" b="0">
              <a:latin typeface="Franklin Gothic Book" panose="020B0503020102020204" pitchFamily="34" charset="0"/>
            </a:endParaRPr>
          </a:p>
          <a:p>
            <a:pPr lvl="1">
              <a:spcBef>
                <a:spcPct val="20000"/>
              </a:spcBef>
              <a:buFont typeface="Arial Black" panose="020B0604020202020204" pitchFamily="34" charset="0"/>
              <a:buAutoNum type="arabicPeriod"/>
            </a:pPr>
            <a:endParaRPr lang="en-US" altLang="en-US" sz="1800" b="0">
              <a:latin typeface="Franklin Gothic Book" panose="020B0503020102020204" pitchFamily="34" charset="0"/>
            </a:endParaRPr>
          </a:p>
          <a:p>
            <a:pPr lvl="1">
              <a:spcBef>
                <a:spcPct val="20000"/>
              </a:spcBef>
              <a:buFont typeface="Arial Black" panose="020B0604020202020204" pitchFamily="34" charset="0"/>
              <a:buAutoNum type="arabicPeriod"/>
            </a:pPr>
            <a:endParaRPr lang="en-US" altLang="en-US" sz="1800" b="0">
              <a:latin typeface="Franklin Gothic Book" panose="020B0503020102020204" pitchFamily="34" charset="0"/>
            </a:endParaRPr>
          </a:p>
          <a:p>
            <a:pPr lvl="1">
              <a:spcBef>
                <a:spcPct val="20000"/>
              </a:spcBef>
              <a:buFont typeface="Arial Black" panose="020B0604020202020204" pitchFamily="34" charset="0"/>
              <a:buAutoNum type="arabicPeriod"/>
            </a:pPr>
            <a:r>
              <a:rPr lang="en-US" altLang="en-US" sz="1800" b="0">
                <a:latin typeface="Franklin Gothic Book" panose="020B0503020102020204" pitchFamily="34" charset="0"/>
              </a:rPr>
              <a:t>Write out Boolean Expressions for outputs</a:t>
            </a:r>
          </a:p>
          <a:p>
            <a:pPr lvl="2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1800" b="0">
                <a:latin typeface="Franklin Gothic Book" panose="020B0503020102020204" pitchFamily="34" charset="0"/>
              </a:rPr>
              <a:t>S = (a</a:t>
            </a:r>
            <a:r>
              <a:rPr lang="ja-JP" altLang="en-US" sz="1800" b="0">
                <a:latin typeface="Franklin Gothic Book" panose="020B0503020102020204" pitchFamily="34" charset="0"/>
              </a:rPr>
              <a:t>’</a:t>
            </a:r>
            <a:r>
              <a:rPr lang="en-US" altLang="ja-JP" sz="1800" b="0">
                <a:latin typeface="Franklin Gothic Book" panose="020B0503020102020204" pitchFamily="34" charset="0"/>
              </a:rPr>
              <a:t>⋅b</a:t>
            </a:r>
            <a:r>
              <a:rPr lang="ja-JP" altLang="en-US" sz="1800" b="0">
                <a:latin typeface="Franklin Gothic Book" panose="020B0503020102020204" pitchFamily="34" charset="0"/>
              </a:rPr>
              <a:t>’</a:t>
            </a:r>
            <a:r>
              <a:rPr lang="en-US" altLang="ja-JP" sz="1800" b="0">
                <a:latin typeface="Franklin Gothic Book" panose="020B0503020102020204" pitchFamily="34" charset="0"/>
              </a:rPr>
              <a:t>⋅Cin) + (a</a:t>
            </a:r>
            <a:r>
              <a:rPr lang="ja-JP" altLang="en-US" sz="1800" b="0">
                <a:latin typeface="Franklin Gothic Book" panose="020B0503020102020204" pitchFamily="34" charset="0"/>
              </a:rPr>
              <a:t>’</a:t>
            </a:r>
            <a:r>
              <a:rPr lang="en-US" altLang="ja-JP" sz="1800" b="0">
                <a:latin typeface="Franklin Gothic Book" panose="020B0503020102020204" pitchFamily="34" charset="0"/>
              </a:rPr>
              <a:t>⋅b⋅Cin</a:t>
            </a:r>
            <a:r>
              <a:rPr lang="ja-JP" altLang="en-US" sz="1800" b="0">
                <a:latin typeface="Franklin Gothic Book" panose="020B0503020102020204" pitchFamily="34" charset="0"/>
              </a:rPr>
              <a:t>’</a:t>
            </a:r>
            <a:r>
              <a:rPr lang="en-US" altLang="ja-JP" sz="1800" b="0">
                <a:latin typeface="Franklin Gothic Book" panose="020B0503020102020204" pitchFamily="34" charset="0"/>
              </a:rPr>
              <a:t>) + (a⋅b</a:t>
            </a:r>
            <a:r>
              <a:rPr lang="ja-JP" altLang="en-US" sz="1800" b="0">
                <a:latin typeface="Franklin Gothic Book" panose="020B0503020102020204" pitchFamily="34" charset="0"/>
              </a:rPr>
              <a:t>’</a:t>
            </a:r>
            <a:r>
              <a:rPr lang="en-US" altLang="ja-JP" sz="1800" b="0">
                <a:latin typeface="Franklin Gothic Book" panose="020B0503020102020204" pitchFamily="34" charset="0"/>
              </a:rPr>
              <a:t>⋅Cin</a:t>
            </a:r>
            <a:r>
              <a:rPr lang="ja-JP" altLang="en-US" sz="1800" b="0">
                <a:latin typeface="Franklin Gothic Book" panose="020B0503020102020204" pitchFamily="34" charset="0"/>
              </a:rPr>
              <a:t>’</a:t>
            </a:r>
            <a:r>
              <a:rPr lang="en-US" altLang="ja-JP" sz="1800" b="0">
                <a:latin typeface="Franklin Gothic Book" panose="020B0503020102020204" pitchFamily="34" charset="0"/>
              </a:rPr>
              <a:t>) + (a⋅b⋅Cin)</a:t>
            </a:r>
          </a:p>
          <a:p>
            <a:pPr lvl="2">
              <a:spcBef>
                <a:spcPct val="20000"/>
              </a:spcBef>
              <a:buFontTx/>
              <a:buChar char="•"/>
            </a:pPr>
            <a:r>
              <a:rPr lang="en-US" altLang="en-US" sz="1800" b="0">
                <a:latin typeface="Franklin Gothic Book" panose="020B0503020102020204" pitchFamily="34" charset="0"/>
              </a:rPr>
              <a:t>Cout =(b ⋅ Cin) + (a ⋅ Cin) + (a⋅b)</a:t>
            </a:r>
          </a:p>
          <a:p>
            <a:pPr lvl="1">
              <a:spcBef>
                <a:spcPct val="20000"/>
              </a:spcBef>
              <a:buFont typeface="Arial Black" panose="020B0604020202020204" pitchFamily="34" charset="0"/>
              <a:buAutoNum type="arabicPeriod"/>
            </a:pPr>
            <a:r>
              <a:rPr lang="en-US" altLang="en-US" sz="1800" b="0">
                <a:latin typeface="Franklin Gothic Book" panose="020B0503020102020204" pitchFamily="34" charset="0"/>
              </a:rPr>
              <a:t>Simplify expressions, if possible</a:t>
            </a:r>
          </a:p>
        </p:txBody>
      </p:sp>
      <p:sp>
        <p:nvSpPr>
          <p:cNvPr id="14" name="Text Box 6">
            <a:extLst>
              <a:ext uri="{FF2B5EF4-FFF2-40B4-BE49-F238E27FC236}">
                <a16:creationId xmlns:a16="http://schemas.microsoft.com/office/drawing/2014/main" id="{DA1A66B3-6C4D-7C45-AF07-7B1DAB728A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3733800"/>
            <a:ext cx="3429000" cy="2508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lvl="1"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1800" b="0" u="sng" dirty="0">
                <a:latin typeface="Times"/>
                <a:ea typeface="+mn-ea"/>
              </a:rPr>
              <a:t>a     b     </a:t>
            </a:r>
            <a:r>
              <a:rPr lang="en-US" sz="1800" b="0" u="sng" dirty="0" err="1">
                <a:latin typeface="Times"/>
                <a:ea typeface="+mn-ea"/>
              </a:rPr>
              <a:t>Cin</a:t>
            </a:r>
            <a:r>
              <a:rPr lang="en-US" sz="1800" b="0" u="sng" dirty="0">
                <a:latin typeface="Times"/>
                <a:ea typeface="+mn-ea"/>
              </a:rPr>
              <a:t>        S     </a:t>
            </a:r>
            <a:r>
              <a:rPr lang="en-US" sz="1800" b="0" u="sng" dirty="0" err="1">
                <a:latin typeface="Times"/>
                <a:ea typeface="+mn-ea"/>
              </a:rPr>
              <a:t>Cout</a:t>
            </a:r>
            <a:r>
              <a:rPr lang="en-US" sz="1800" b="0" u="sng" dirty="0">
                <a:latin typeface="Times"/>
                <a:ea typeface="+mn-ea"/>
              </a:rPr>
              <a:t> 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1600" b="0" dirty="0">
                <a:latin typeface="Times"/>
                <a:ea typeface="+mn-ea"/>
              </a:rPr>
              <a:t>0       0         0          0          0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1600" b="0" dirty="0">
                <a:latin typeface="Times"/>
                <a:ea typeface="+mn-ea"/>
              </a:rPr>
              <a:t>0       0         1          1          0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1600" b="0" dirty="0">
                <a:latin typeface="Times"/>
                <a:ea typeface="+mn-ea"/>
              </a:rPr>
              <a:t>0       1         0          1          0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1600" b="0" dirty="0">
                <a:latin typeface="Times"/>
                <a:ea typeface="+mn-ea"/>
              </a:rPr>
              <a:t>0       1         1          0          1</a:t>
            </a:r>
          </a:p>
          <a:p>
            <a:pPr marL="685800" lvl="1" indent="-228600">
              <a:lnSpc>
                <a:spcPct val="90000"/>
              </a:lnSpc>
              <a:spcBef>
                <a:spcPct val="20000"/>
              </a:spcBef>
              <a:buFontTx/>
              <a:buAutoNum type="arabicPlain"/>
              <a:defRPr/>
            </a:pPr>
            <a:r>
              <a:rPr lang="en-US" sz="1600" b="0" dirty="0">
                <a:latin typeface="Times"/>
                <a:ea typeface="+mn-ea"/>
              </a:rPr>
              <a:t>    0         0           1          0</a:t>
            </a:r>
          </a:p>
          <a:p>
            <a:pPr marL="685800" lvl="1" indent="-228600"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1600" b="0" dirty="0">
                <a:latin typeface="Times"/>
                <a:ea typeface="+mn-ea"/>
              </a:rPr>
              <a:t>1       0         1           0          1</a:t>
            </a:r>
          </a:p>
          <a:p>
            <a:pPr marL="685800" lvl="1" indent="-228600"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1600" b="0" dirty="0">
                <a:latin typeface="Times"/>
                <a:ea typeface="+mn-ea"/>
              </a:rPr>
              <a:t>1       1         0           0          1</a:t>
            </a:r>
          </a:p>
          <a:p>
            <a:pPr marL="685800" lvl="1" indent="-228600"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1600" b="0" dirty="0">
                <a:latin typeface="Times"/>
                <a:ea typeface="+mn-ea"/>
              </a:rPr>
              <a:t>1       1         1           1          1</a:t>
            </a:r>
          </a:p>
        </p:txBody>
      </p:sp>
      <p:sp>
        <p:nvSpPr>
          <p:cNvPr id="25614" name="Rectangle 2">
            <a:extLst>
              <a:ext uri="{FF2B5EF4-FFF2-40B4-BE49-F238E27FC236}">
                <a16:creationId xmlns:a16="http://schemas.microsoft.com/office/drawing/2014/main" id="{1B8BC0E7-F849-9D47-A3FC-5844EFC635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457200"/>
            <a:ext cx="77724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ko-KR" sz="2800">
                <a:solidFill>
                  <a:schemeClr val="tx2"/>
                </a:solidFill>
                <a:latin typeface="Franklin Gothic Medium" panose="020B0603020102020204" pitchFamily="34" charset="0"/>
                <a:ea typeface="Gulim" panose="020B0600000101010101" pitchFamily="34" charset="-127"/>
              </a:rPr>
              <a:t>1-bit </a:t>
            </a:r>
            <a:r>
              <a:rPr lang="en-US" altLang="ko-KR" sz="2800">
                <a:latin typeface="Franklin Gothic Medium" panose="020B0603020102020204" pitchFamily="34" charset="0"/>
                <a:ea typeface="Gulim" panose="020B0600000101010101" pitchFamily="34" charset="-127"/>
              </a:rPr>
              <a:t>Adder</a:t>
            </a:r>
            <a:endParaRPr lang="en-US" altLang="en-US" sz="2800"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5" name="Picture 1">
            <a:extLst>
              <a:ext uri="{FF2B5EF4-FFF2-40B4-BE49-F238E27FC236}">
                <a16:creationId xmlns:a16="http://schemas.microsoft.com/office/drawing/2014/main" id="{FE777893-EA6A-C74C-881D-5685E61095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905000"/>
            <a:ext cx="6403975" cy="327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2" name="Content Placeholder 2">
            <a:extLst>
              <a:ext uri="{FF2B5EF4-FFF2-40B4-BE49-F238E27FC236}">
                <a16:creationId xmlns:a16="http://schemas.microsoft.com/office/drawing/2014/main" id="{6415AAA0-1486-F04F-8F0B-AE1B2D1647AF}"/>
              </a:ext>
            </a:extLst>
          </p:cNvPr>
          <p:cNvSpPr txBox="1">
            <a:spLocks/>
          </p:cNvSpPr>
          <p:nvPr/>
        </p:nvSpPr>
        <p:spPr bwMode="auto">
          <a:xfrm>
            <a:off x="685800" y="1066800"/>
            <a:ext cx="5562600" cy="533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800100" indent="-3429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257300" indent="-3429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 lvl="1">
              <a:spcBef>
                <a:spcPct val="20000"/>
              </a:spcBef>
              <a:buFontTx/>
              <a:buChar char="•"/>
              <a:defRPr/>
            </a:pPr>
            <a:r>
              <a:rPr lang="en-US" altLang="en-US" sz="2000" b="0" dirty="0">
                <a:latin typeface="Franklin Gothic Book" panose="020B0503020102020204" pitchFamily="34" charset="0"/>
              </a:rPr>
              <a:t>Carry-Out implementation</a:t>
            </a:r>
          </a:p>
          <a:p>
            <a:pPr marL="457200" lvl="1" indent="0">
              <a:spcBef>
                <a:spcPct val="20000"/>
              </a:spcBef>
              <a:defRPr/>
            </a:pPr>
            <a:r>
              <a:rPr lang="en-US" altLang="en-US" sz="2000" b="0" dirty="0">
                <a:latin typeface="Franklin Gothic Book" panose="020B0503020102020204" pitchFamily="34" charset="0"/>
              </a:rPr>
              <a:t>		</a:t>
            </a:r>
            <a:r>
              <a:rPr lang="en-US" altLang="en-US" sz="2000" b="0" dirty="0" err="1">
                <a:latin typeface="Franklin Gothic Book" panose="020B0503020102020204" pitchFamily="34" charset="0"/>
              </a:rPr>
              <a:t>Cout</a:t>
            </a:r>
            <a:r>
              <a:rPr lang="en-US" altLang="en-US" sz="2000" b="0" dirty="0">
                <a:latin typeface="Franklin Gothic Book" panose="020B0503020102020204" pitchFamily="34" charset="0"/>
              </a:rPr>
              <a:t> =(b ⋅ </a:t>
            </a:r>
            <a:r>
              <a:rPr lang="en-US" altLang="en-US" sz="2000" b="0" dirty="0" err="1">
                <a:latin typeface="Franklin Gothic Book" panose="020B0503020102020204" pitchFamily="34" charset="0"/>
              </a:rPr>
              <a:t>Cin</a:t>
            </a:r>
            <a:r>
              <a:rPr lang="en-US" altLang="en-US" sz="2000" b="0" dirty="0">
                <a:latin typeface="Franklin Gothic Book" panose="020B0503020102020204" pitchFamily="34" charset="0"/>
              </a:rPr>
              <a:t>) + (a ⋅ </a:t>
            </a:r>
            <a:r>
              <a:rPr lang="en-US" altLang="en-US" sz="2000" b="0" dirty="0" err="1">
                <a:latin typeface="Franklin Gothic Book" panose="020B0503020102020204" pitchFamily="34" charset="0"/>
              </a:rPr>
              <a:t>Cin</a:t>
            </a:r>
            <a:r>
              <a:rPr lang="en-US" altLang="en-US" sz="2000" b="0" dirty="0">
                <a:latin typeface="Franklin Gothic Book" panose="020B0503020102020204" pitchFamily="34" charset="0"/>
              </a:rPr>
              <a:t>) + (</a:t>
            </a:r>
            <a:r>
              <a:rPr lang="en-US" altLang="en-US" sz="2000" b="0" dirty="0" err="1">
                <a:latin typeface="Franklin Gothic Book" panose="020B0503020102020204" pitchFamily="34" charset="0"/>
              </a:rPr>
              <a:t>a⋅b</a:t>
            </a:r>
            <a:r>
              <a:rPr lang="en-US" altLang="en-US" sz="2000" b="0" dirty="0">
                <a:latin typeface="Franklin Gothic Book" panose="020B0503020102020204" pitchFamily="34" charset="0"/>
              </a:rPr>
              <a:t>)</a:t>
            </a:r>
          </a:p>
          <a:p>
            <a:pPr>
              <a:spcBef>
                <a:spcPct val="20000"/>
              </a:spcBef>
              <a:buFontTx/>
              <a:buChar char="•"/>
              <a:defRPr/>
            </a:pPr>
            <a:endParaRPr lang="en-US" altLang="en-US" sz="2000" b="0" dirty="0">
              <a:latin typeface="Franklin Gothic Book" panose="020B0503020102020204" pitchFamily="34" charset="0"/>
            </a:endParaRPr>
          </a:p>
          <a:p>
            <a:pPr lvl="1">
              <a:spcBef>
                <a:spcPct val="20000"/>
              </a:spcBef>
              <a:buFontTx/>
              <a:buChar char="•"/>
              <a:defRPr/>
            </a:pPr>
            <a:endParaRPr lang="en-US" altLang="en-US" sz="2000" b="0" dirty="0">
              <a:latin typeface="Franklin Gothic Book" panose="020B0503020102020204" pitchFamily="34" charset="0"/>
            </a:endParaRPr>
          </a:p>
          <a:p>
            <a:pPr lvl="1">
              <a:spcBef>
                <a:spcPct val="20000"/>
              </a:spcBef>
              <a:buFontTx/>
              <a:buChar char="•"/>
              <a:defRPr/>
            </a:pPr>
            <a:endParaRPr lang="en-US" altLang="en-US" sz="2000" b="0" dirty="0">
              <a:latin typeface="Franklin Gothic Book" panose="020B0503020102020204" pitchFamily="34" charset="0"/>
            </a:endParaRPr>
          </a:p>
          <a:p>
            <a:pPr lvl="1">
              <a:spcBef>
                <a:spcPct val="20000"/>
              </a:spcBef>
              <a:buFontTx/>
              <a:buChar char="•"/>
              <a:defRPr/>
            </a:pPr>
            <a:endParaRPr lang="en-US" altLang="en-US" sz="2000" b="0" dirty="0">
              <a:latin typeface="Franklin Gothic Book" panose="020B0503020102020204" pitchFamily="34" charset="0"/>
            </a:endParaRPr>
          </a:p>
          <a:p>
            <a:pPr lvl="1">
              <a:spcBef>
                <a:spcPct val="20000"/>
              </a:spcBef>
              <a:buFontTx/>
              <a:buChar char="•"/>
              <a:defRPr/>
            </a:pPr>
            <a:endParaRPr lang="en-US" altLang="en-US" sz="2000" b="0" dirty="0">
              <a:latin typeface="Franklin Gothic Book" panose="020B0503020102020204" pitchFamily="34" charset="0"/>
            </a:endParaRPr>
          </a:p>
          <a:p>
            <a:pPr lvl="1">
              <a:spcBef>
                <a:spcPct val="20000"/>
              </a:spcBef>
              <a:buFontTx/>
              <a:buChar char="•"/>
              <a:defRPr/>
            </a:pPr>
            <a:endParaRPr lang="en-US" altLang="en-US" sz="2000" b="0" dirty="0">
              <a:latin typeface="Franklin Gothic Book" panose="020B0503020102020204" pitchFamily="34" charset="0"/>
            </a:endParaRPr>
          </a:p>
          <a:p>
            <a:pPr lvl="1">
              <a:spcBef>
                <a:spcPct val="20000"/>
              </a:spcBef>
              <a:buFontTx/>
              <a:buChar char="•"/>
              <a:defRPr/>
            </a:pPr>
            <a:endParaRPr lang="en-US" altLang="en-US" sz="2000" b="0" dirty="0">
              <a:latin typeface="Franklin Gothic Book" panose="020B0503020102020204" pitchFamily="34" charset="0"/>
            </a:endParaRPr>
          </a:p>
          <a:p>
            <a:pPr lvl="1">
              <a:spcBef>
                <a:spcPct val="20000"/>
              </a:spcBef>
              <a:buFontTx/>
              <a:buChar char="•"/>
              <a:defRPr/>
            </a:pPr>
            <a:endParaRPr lang="en-US" altLang="en-US" sz="2000" b="0" dirty="0">
              <a:latin typeface="Franklin Gothic Book" panose="020B0503020102020204" pitchFamily="34" charset="0"/>
            </a:endParaRPr>
          </a:p>
          <a:p>
            <a:pPr marL="457200" lvl="1" indent="0">
              <a:spcBef>
                <a:spcPct val="20000"/>
              </a:spcBef>
              <a:defRPr/>
            </a:pPr>
            <a:endParaRPr lang="en-US" altLang="en-US" sz="2000" b="0" dirty="0">
              <a:latin typeface="Franklin Gothic Book" panose="020B0503020102020204" pitchFamily="34" charset="0"/>
            </a:endParaRPr>
          </a:p>
          <a:p>
            <a:pPr lvl="1">
              <a:spcBef>
                <a:spcPct val="20000"/>
              </a:spcBef>
              <a:buFontTx/>
              <a:buChar char="•"/>
              <a:defRPr/>
            </a:pPr>
            <a:endParaRPr lang="en-US" altLang="en-US" sz="2000" b="0" dirty="0">
              <a:latin typeface="Franklin Gothic Book" panose="020B0503020102020204" pitchFamily="34" charset="0"/>
            </a:endParaRPr>
          </a:p>
          <a:p>
            <a:pPr lvl="1">
              <a:spcBef>
                <a:spcPct val="20000"/>
              </a:spcBef>
              <a:buFontTx/>
              <a:buChar char="•"/>
              <a:defRPr/>
            </a:pPr>
            <a:r>
              <a:rPr lang="en-US" altLang="en-US" sz="2000" b="0" dirty="0">
                <a:latin typeface="Franklin Gothic Book" panose="020B0503020102020204" pitchFamily="34" charset="0"/>
              </a:rPr>
              <a:t>Similar implementation of Sum </a:t>
            </a:r>
            <a:r>
              <a:rPr lang="en-US" altLang="en-US" sz="2000" b="0">
                <a:latin typeface="Franklin Gothic Book" panose="020B0503020102020204" pitchFamily="34" charset="0"/>
              </a:rPr>
              <a:t>(quiz)</a:t>
            </a:r>
            <a:endParaRPr lang="en-US" altLang="en-US" sz="2000" b="0" dirty="0">
              <a:latin typeface="Franklin Gothic Book" panose="020B0503020102020204" pitchFamily="34" charset="0"/>
            </a:endParaRPr>
          </a:p>
          <a:p>
            <a:pPr lvl="1">
              <a:spcBef>
                <a:spcPct val="20000"/>
              </a:spcBef>
              <a:defRPr/>
            </a:pPr>
            <a:endParaRPr lang="en-US" altLang="en-US" sz="1800" dirty="0">
              <a:latin typeface="Times New Roman" panose="02020603050405020304" pitchFamily="18" charset="0"/>
            </a:endParaRPr>
          </a:p>
          <a:p>
            <a:pPr lvl="2">
              <a:spcBef>
                <a:spcPct val="20000"/>
              </a:spcBef>
              <a:buFontTx/>
              <a:buChar char="•"/>
              <a:defRPr/>
            </a:pPr>
            <a:endParaRPr lang="en-US" altLang="en-US" sz="20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>
            <a:extLst>
              <a:ext uri="{FF2B5EF4-FFF2-40B4-BE49-F238E27FC236}">
                <a16:creationId xmlns:a16="http://schemas.microsoft.com/office/drawing/2014/main" id="{143528EA-54C4-8243-B22D-210C9E5AC9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457200"/>
            <a:ext cx="77724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ko-KR" sz="2800">
                <a:latin typeface="Franklin Gothic Medium" panose="020B0603020102020204" pitchFamily="34" charset="0"/>
                <a:ea typeface="Gulim" panose="020B0600000101010101" pitchFamily="34" charset="-127"/>
              </a:rPr>
              <a:t>1-bit ALU</a:t>
            </a:r>
            <a:endParaRPr lang="en-US" altLang="en-US" sz="2800">
              <a:latin typeface="Franklin Gothic Medium" panose="020B0603020102020204" pitchFamily="34" charset="0"/>
            </a:endParaRPr>
          </a:p>
        </p:txBody>
      </p:sp>
      <p:pic>
        <p:nvPicPr>
          <p:cNvPr id="27650" name="Picture 2">
            <a:extLst>
              <a:ext uri="{FF2B5EF4-FFF2-40B4-BE49-F238E27FC236}">
                <a16:creationId xmlns:a16="http://schemas.microsoft.com/office/drawing/2014/main" id="{EC8A84BD-1CAA-0247-9B4A-4AFB879177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1600200"/>
            <a:ext cx="4495800" cy="362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1" name="Content Placeholder 2">
            <a:extLst>
              <a:ext uri="{FF2B5EF4-FFF2-40B4-BE49-F238E27FC236}">
                <a16:creationId xmlns:a16="http://schemas.microsoft.com/office/drawing/2014/main" id="{ECDC5856-4899-6343-9118-73ADAB2480E3}"/>
              </a:ext>
            </a:extLst>
          </p:cNvPr>
          <p:cNvSpPr txBox="1">
            <a:spLocks/>
          </p:cNvSpPr>
          <p:nvPr/>
        </p:nvSpPr>
        <p:spPr bwMode="auto">
          <a:xfrm>
            <a:off x="762000" y="1676400"/>
            <a:ext cx="3886200" cy="358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800100" indent="-3429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257300" indent="-3429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 lvl="1">
              <a:spcBef>
                <a:spcPct val="20000"/>
              </a:spcBef>
              <a:buFontTx/>
              <a:buChar char="•"/>
            </a:pPr>
            <a:r>
              <a:rPr lang="en-US" altLang="en-US" sz="2000" b="0">
                <a:latin typeface="Franklin Gothic Book" panose="020B0503020102020204" pitchFamily="34" charset="0"/>
              </a:rPr>
              <a:t>1-bit ALU</a:t>
            </a:r>
          </a:p>
          <a:p>
            <a:pPr lvl="2">
              <a:spcBef>
                <a:spcPct val="20000"/>
              </a:spcBef>
              <a:buFontTx/>
              <a:buChar char="•"/>
            </a:pPr>
            <a:r>
              <a:rPr lang="en-US" altLang="en-US" sz="2000" b="0">
                <a:latin typeface="Franklin Gothic Book" panose="020B0503020102020204" pitchFamily="34" charset="0"/>
              </a:rPr>
              <a:t>1-bit adder</a:t>
            </a:r>
          </a:p>
          <a:p>
            <a:pPr lvl="2">
              <a:spcBef>
                <a:spcPct val="20000"/>
              </a:spcBef>
              <a:buFontTx/>
              <a:buChar char="•"/>
            </a:pPr>
            <a:r>
              <a:rPr lang="en-US" altLang="en-US" sz="2000" b="0">
                <a:latin typeface="Franklin Gothic Book" panose="020B0503020102020204" pitchFamily="34" charset="0"/>
              </a:rPr>
              <a:t>Logical unit: and/or</a:t>
            </a:r>
          </a:p>
          <a:p>
            <a:pPr lvl="1">
              <a:spcBef>
                <a:spcPct val="20000"/>
              </a:spcBef>
              <a:buFontTx/>
              <a:buChar char="•"/>
            </a:pPr>
            <a:endParaRPr lang="en-US" altLang="en-US" sz="2000" b="0"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3" name="Picture 2">
            <a:extLst>
              <a:ext uri="{FF2B5EF4-FFF2-40B4-BE49-F238E27FC236}">
                <a16:creationId xmlns:a16="http://schemas.microsoft.com/office/drawing/2014/main" id="{924BFE79-76FD-3D40-BCC5-C1F73FAAA1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1219200"/>
            <a:ext cx="5810250" cy="419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4" name="Rectangle 2">
            <a:extLst>
              <a:ext uri="{FF2B5EF4-FFF2-40B4-BE49-F238E27FC236}">
                <a16:creationId xmlns:a16="http://schemas.microsoft.com/office/drawing/2014/main" id="{43438F5E-39FE-A440-85FA-C81B632C4B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533400"/>
            <a:ext cx="77724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ko-KR" sz="2800">
                <a:latin typeface="Franklin Gothic Medium" panose="020B0603020102020204" pitchFamily="34" charset="0"/>
                <a:ea typeface="Gulim" panose="020B0600000101010101" pitchFamily="34" charset="-127"/>
              </a:rPr>
              <a:t>1-bit ALU </a:t>
            </a:r>
            <a:endParaRPr lang="en-US" altLang="en-US" sz="2800">
              <a:latin typeface="Franklin Gothic Medium" panose="020B0603020102020204" pitchFamily="34" charset="0"/>
            </a:endParaRPr>
          </a:p>
        </p:txBody>
      </p:sp>
      <p:sp>
        <p:nvSpPr>
          <p:cNvPr id="28675" name="Content Placeholder 2">
            <a:extLst>
              <a:ext uri="{FF2B5EF4-FFF2-40B4-BE49-F238E27FC236}">
                <a16:creationId xmlns:a16="http://schemas.microsoft.com/office/drawing/2014/main" id="{0FBE0F5E-7DAF-8E44-9FD2-2A18A37F8D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600200"/>
            <a:ext cx="3581400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800100" indent="-3429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257300" indent="-3429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 lvl="1">
              <a:spcBef>
                <a:spcPct val="20000"/>
              </a:spcBef>
              <a:buFontTx/>
              <a:buChar char="•"/>
            </a:pPr>
            <a:r>
              <a:rPr lang="en-US" altLang="en-US" sz="2000" b="0">
                <a:latin typeface="Franklin Gothic Book" panose="020B0503020102020204" pitchFamily="34" charset="0"/>
              </a:rPr>
              <a:t>Capable of </a:t>
            </a:r>
          </a:p>
          <a:p>
            <a:pPr lvl="1">
              <a:spcBef>
                <a:spcPct val="20000"/>
              </a:spcBef>
            </a:pPr>
            <a:r>
              <a:rPr lang="en-US" altLang="en-US" sz="2000" b="0">
                <a:latin typeface="Franklin Gothic Book" panose="020B0503020102020204" pitchFamily="34" charset="0"/>
              </a:rPr>
              <a:t>	ADD, AND, and OR</a:t>
            </a:r>
          </a:p>
          <a:p>
            <a:pPr lvl="1">
              <a:spcBef>
                <a:spcPct val="20000"/>
              </a:spcBef>
              <a:buFontTx/>
              <a:buChar char="•"/>
            </a:pPr>
            <a:endParaRPr lang="en-US" altLang="en-US" sz="2000" b="0">
              <a:latin typeface="Franklin Gothic Book" panose="020B0503020102020204" pitchFamily="34" charset="0"/>
            </a:endParaRPr>
          </a:p>
          <a:p>
            <a:pPr lvl="1">
              <a:spcBef>
                <a:spcPct val="20000"/>
              </a:spcBef>
              <a:buFontTx/>
              <a:buChar char="•"/>
            </a:pPr>
            <a:r>
              <a:rPr lang="en-US" altLang="en-US" sz="2000" b="0">
                <a:solidFill>
                  <a:srgbClr val="FF0000"/>
                </a:solidFill>
                <a:latin typeface="Franklin Gothic Book" panose="020B0503020102020204" pitchFamily="34" charset="0"/>
              </a:rPr>
              <a:t>How to add SUB ?</a:t>
            </a:r>
          </a:p>
          <a:p>
            <a:pPr lvl="2">
              <a:spcBef>
                <a:spcPct val="20000"/>
              </a:spcBef>
              <a:buFontTx/>
              <a:buChar char="•"/>
            </a:pPr>
            <a:r>
              <a:rPr lang="en-US" altLang="en-US" sz="2000" b="0">
                <a:latin typeface="Franklin Gothic Book" panose="020B0503020102020204" pitchFamily="34" charset="0"/>
              </a:rPr>
              <a:t>-b = ~b + 1</a:t>
            </a:r>
          </a:p>
          <a:p>
            <a:pPr lvl="2">
              <a:spcBef>
                <a:spcPct val="20000"/>
              </a:spcBef>
              <a:buFontTx/>
              <a:buChar char="•"/>
            </a:pPr>
            <a:r>
              <a:rPr lang="en-US" altLang="en-US" sz="2000" b="0">
                <a:latin typeface="Franklin Gothic Book" panose="020B0503020102020204" pitchFamily="34" charset="0"/>
              </a:rPr>
              <a:t>a – b = a + (b</a:t>
            </a:r>
            <a:r>
              <a:rPr lang="ja-JP" altLang="en-US" sz="2000" b="0">
                <a:latin typeface="Franklin Gothic Book" panose="020B0503020102020204" pitchFamily="34" charset="0"/>
              </a:rPr>
              <a:t>’</a:t>
            </a:r>
            <a:r>
              <a:rPr lang="en-US" altLang="ja-JP" sz="2000" b="0">
                <a:latin typeface="Franklin Gothic Book" panose="020B0503020102020204" pitchFamily="34" charset="0"/>
              </a:rPr>
              <a:t> + 1)</a:t>
            </a:r>
          </a:p>
          <a:p>
            <a:pPr lvl="2">
              <a:spcBef>
                <a:spcPct val="20000"/>
              </a:spcBef>
              <a:buFontTx/>
              <a:buChar char="•"/>
            </a:pPr>
            <a:r>
              <a:rPr lang="en-US" altLang="en-US" sz="2000" b="0">
                <a:latin typeface="Franklin Gothic Book" panose="020B0503020102020204" pitchFamily="34" charset="0"/>
              </a:rPr>
              <a:t>Add Binvert</a:t>
            </a:r>
          </a:p>
          <a:p>
            <a:pPr lvl="2">
              <a:spcBef>
                <a:spcPct val="20000"/>
              </a:spcBef>
              <a:buFontTx/>
              <a:buChar char="•"/>
            </a:pPr>
            <a:r>
              <a:rPr lang="en-US" altLang="en-US" sz="2000" b="0">
                <a:latin typeface="Franklin Gothic Book" panose="020B0503020102020204" pitchFamily="34" charset="0"/>
              </a:rPr>
              <a:t>How to add 1 ?</a:t>
            </a:r>
          </a:p>
          <a:p>
            <a:pPr lvl="1">
              <a:spcBef>
                <a:spcPct val="20000"/>
              </a:spcBef>
              <a:buFontTx/>
              <a:buChar char="•"/>
            </a:pPr>
            <a:endParaRPr lang="en-US" altLang="en-US" sz="1800">
              <a:latin typeface="Times New Roman" panose="02020603050405020304" pitchFamily="18" charset="0"/>
            </a:endParaRPr>
          </a:p>
          <a:p>
            <a:pPr lvl="1">
              <a:spcBef>
                <a:spcPct val="20000"/>
              </a:spcBef>
              <a:buFontTx/>
              <a:buChar char="•"/>
            </a:pPr>
            <a:endParaRPr lang="en-US" altLang="en-US" sz="20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>
            <a:extLst>
              <a:ext uri="{FF2B5EF4-FFF2-40B4-BE49-F238E27FC236}">
                <a16:creationId xmlns:a16="http://schemas.microsoft.com/office/drawing/2014/main" id="{05F67FFD-70EC-B14C-8780-42344C28F2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381000"/>
            <a:ext cx="77724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ko-KR" sz="2800">
                <a:solidFill>
                  <a:schemeClr val="tx2"/>
                </a:solidFill>
                <a:latin typeface="Franklin Gothic Medium" panose="020B0603020102020204" pitchFamily="34" charset="0"/>
                <a:ea typeface="Gulim" panose="020B0600000101010101" pitchFamily="34" charset="-127"/>
              </a:rPr>
              <a:t>1-bit </a:t>
            </a:r>
            <a:r>
              <a:rPr lang="en-US" altLang="ko-KR" sz="2800">
                <a:latin typeface="Franklin Gothic Medium" panose="020B0603020102020204" pitchFamily="34" charset="0"/>
                <a:ea typeface="Gulim" panose="020B0600000101010101" pitchFamily="34" charset="-127"/>
              </a:rPr>
              <a:t>ALU</a:t>
            </a:r>
            <a:r>
              <a:rPr lang="en-US" altLang="ko-KR" sz="2800">
                <a:solidFill>
                  <a:schemeClr val="tx2"/>
                </a:solidFill>
                <a:latin typeface="Franklin Gothic Medium" panose="020B0603020102020204" pitchFamily="34" charset="0"/>
                <a:ea typeface="Gulim" panose="020B0600000101010101" pitchFamily="34" charset="-127"/>
              </a:rPr>
              <a:t> (Full)</a:t>
            </a:r>
            <a:endParaRPr lang="en-US" altLang="en-US" sz="2800">
              <a:solidFill>
                <a:schemeClr val="tx2"/>
              </a:solidFill>
              <a:latin typeface="Franklin Gothic Medium" panose="020B0603020102020204" pitchFamily="34" charset="0"/>
            </a:endParaRPr>
          </a:p>
        </p:txBody>
      </p:sp>
      <p:pic>
        <p:nvPicPr>
          <p:cNvPr id="29698" name="Picture 2">
            <a:extLst>
              <a:ext uri="{FF2B5EF4-FFF2-40B4-BE49-F238E27FC236}">
                <a16:creationId xmlns:a16="http://schemas.microsoft.com/office/drawing/2014/main" id="{B785F5CC-539F-0142-B11A-E2AB319438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1447800"/>
            <a:ext cx="4600575" cy="3895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699" name="Content Placeholder 2">
            <a:extLst>
              <a:ext uri="{FF2B5EF4-FFF2-40B4-BE49-F238E27FC236}">
                <a16:creationId xmlns:a16="http://schemas.microsoft.com/office/drawing/2014/main" id="{F2956C2D-233E-C142-83C1-84A0C2B4B3FD}"/>
              </a:ext>
            </a:extLst>
          </p:cNvPr>
          <p:cNvSpPr txBox="1">
            <a:spLocks/>
          </p:cNvSpPr>
          <p:nvPr/>
        </p:nvSpPr>
        <p:spPr bwMode="auto">
          <a:xfrm>
            <a:off x="762000" y="1676400"/>
            <a:ext cx="327660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800100" indent="-3429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257300" indent="-3429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 lvl="1">
              <a:spcBef>
                <a:spcPct val="20000"/>
              </a:spcBef>
              <a:buFontTx/>
              <a:buChar char="•"/>
            </a:pPr>
            <a:r>
              <a:rPr lang="en-US" altLang="en-US" sz="2000" b="0">
                <a:latin typeface="Franklin Gothic Book" panose="020B0503020102020204" pitchFamily="34" charset="0"/>
              </a:rPr>
              <a:t>ADD, AND, OR, SUB</a:t>
            </a:r>
          </a:p>
          <a:p>
            <a:pPr lvl="1">
              <a:spcBef>
                <a:spcPct val="20000"/>
              </a:spcBef>
              <a:buFontTx/>
              <a:buChar char="•"/>
            </a:pPr>
            <a:endParaRPr lang="en-US" altLang="en-US" sz="2000" b="0">
              <a:latin typeface="Franklin Gothic Book" panose="020B0503020102020204" pitchFamily="34" charset="0"/>
            </a:endParaRPr>
          </a:p>
          <a:p>
            <a:pPr lvl="1">
              <a:spcBef>
                <a:spcPct val="20000"/>
              </a:spcBef>
              <a:buFontTx/>
              <a:buChar char="•"/>
            </a:pPr>
            <a:r>
              <a:rPr lang="en-US" altLang="en-US" sz="2000" b="0">
                <a:solidFill>
                  <a:srgbClr val="FF0000"/>
                </a:solidFill>
                <a:latin typeface="Franklin Gothic Book" panose="020B0503020102020204" pitchFamily="34" charset="0"/>
              </a:rPr>
              <a:t>How to add NOR ?</a:t>
            </a:r>
          </a:p>
          <a:p>
            <a:pPr lvl="2">
              <a:spcBef>
                <a:spcPct val="20000"/>
              </a:spcBef>
              <a:buFontTx/>
              <a:buChar char="•"/>
            </a:pPr>
            <a:r>
              <a:rPr lang="en-US" altLang="en-US" sz="2000" b="0">
                <a:latin typeface="Franklin Gothic Book" panose="020B0503020102020204" pitchFamily="34" charset="0"/>
              </a:rPr>
              <a:t>(A+B)</a:t>
            </a:r>
            <a:r>
              <a:rPr lang="ja-JP" altLang="en-US" sz="2000" b="0">
                <a:latin typeface="Franklin Gothic Book" panose="020B0503020102020204" pitchFamily="34" charset="0"/>
              </a:rPr>
              <a:t>’</a:t>
            </a:r>
            <a:r>
              <a:rPr lang="en-US" altLang="ja-JP" sz="2000" b="0">
                <a:latin typeface="Franklin Gothic Book" panose="020B0503020102020204" pitchFamily="34" charset="0"/>
              </a:rPr>
              <a:t> = A</a:t>
            </a:r>
            <a:r>
              <a:rPr lang="ja-JP" altLang="en-US" sz="2000" b="0">
                <a:latin typeface="Franklin Gothic Book" panose="020B0503020102020204" pitchFamily="34" charset="0"/>
              </a:rPr>
              <a:t>’</a:t>
            </a:r>
            <a:r>
              <a:rPr lang="en-US" altLang="ja-JP" sz="2000" b="0">
                <a:latin typeface="Franklin Gothic Book" panose="020B0503020102020204" pitchFamily="34" charset="0"/>
              </a:rPr>
              <a:t>B</a:t>
            </a:r>
            <a:r>
              <a:rPr lang="ja-JP" altLang="en-US" sz="2000" b="0">
                <a:latin typeface="Franklin Gothic Book" panose="020B0503020102020204" pitchFamily="34" charset="0"/>
              </a:rPr>
              <a:t>’</a:t>
            </a:r>
            <a:endParaRPr lang="en-US" altLang="ja-JP" sz="2000" b="0">
              <a:latin typeface="Franklin Gothic Book" panose="020B0503020102020204" pitchFamily="34" charset="0"/>
            </a:endParaRPr>
          </a:p>
          <a:p>
            <a:pPr lvl="1">
              <a:spcBef>
                <a:spcPct val="20000"/>
              </a:spcBef>
              <a:buFontTx/>
              <a:buChar char="•"/>
            </a:pPr>
            <a:endParaRPr lang="en-US" altLang="en-US" sz="1800">
              <a:latin typeface="Times New Roman" panose="02020603050405020304" pitchFamily="18" charset="0"/>
            </a:endParaRPr>
          </a:p>
          <a:p>
            <a:pPr lvl="1">
              <a:spcBef>
                <a:spcPct val="20000"/>
              </a:spcBef>
              <a:buFontTx/>
              <a:buChar char="•"/>
            </a:pPr>
            <a:endParaRPr lang="en-US" altLang="en-US" sz="20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54">
            <a:extLst>
              <a:ext uri="{FF2B5EF4-FFF2-40B4-BE49-F238E27FC236}">
                <a16:creationId xmlns:a16="http://schemas.microsoft.com/office/drawing/2014/main" id="{C06FEEF1-01DC-084D-BA4D-620AA3AAB1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grpSp>
        <p:nvGrpSpPr>
          <p:cNvPr id="30722" name="Group 1">
            <a:extLst>
              <a:ext uri="{FF2B5EF4-FFF2-40B4-BE49-F238E27FC236}">
                <a16:creationId xmlns:a16="http://schemas.microsoft.com/office/drawing/2014/main" id="{35F74AE2-8BCE-2E41-B6C9-6F3D162037B4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191000" y="838200"/>
            <a:ext cx="4349750" cy="5181600"/>
            <a:chOff x="2506" y="3813"/>
            <a:chExt cx="4080" cy="4860"/>
          </a:xfrm>
        </p:grpSpPr>
        <p:sp>
          <p:nvSpPr>
            <p:cNvPr id="30725" name="AutoShape 53">
              <a:extLst>
                <a:ext uri="{FF2B5EF4-FFF2-40B4-BE49-F238E27FC236}">
                  <a16:creationId xmlns:a16="http://schemas.microsoft.com/office/drawing/2014/main" id="{70590A21-39F2-8E45-924E-0B52F95CBA74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506" y="3813"/>
              <a:ext cx="4080" cy="48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26" name="Rectangle 52">
              <a:extLst>
                <a:ext uri="{FF2B5EF4-FFF2-40B4-BE49-F238E27FC236}">
                  <a16:creationId xmlns:a16="http://schemas.microsoft.com/office/drawing/2014/main" id="{CDFFDEF4-FFA0-D948-836B-61395D3636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6" y="4533"/>
              <a:ext cx="710" cy="62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5720" rIns="45720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en-US" sz="1000">
                  <a:solidFill>
                    <a:srgbClr val="000000"/>
                  </a:solidFill>
                </a:rPr>
                <a:t>CarryIn</a:t>
              </a:r>
              <a:endParaRPr lang="en-US" altLang="en-US" sz="700"/>
            </a:p>
            <a:p>
              <a:pPr algn="ctr"/>
              <a:r>
                <a:rPr lang="en-US" altLang="en-US" sz="1000">
                  <a:solidFill>
                    <a:srgbClr val="000000"/>
                  </a:solidFill>
                </a:rPr>
                <a:t>ALU</a:t>
              </a:r>
              <a:r>
                <a:rPr lang="en-US" altLang="en-US" sz="1000" baseline="-30000">
                  <a:solidFill>
                    <a:srgbClr val="000000"/>
                  </a:solidFill>
                </a:rPr>
                <a:t>0</a:t>
              </a:r>
              <a:endParaRPr lang="en-US" altLang="en-US" sz="700"/>
            </a:p>
            <a:p>
              <a:pPr algn="ctr"/>
              <a:r>
                <a:rPr lang="en-US" altLang="en-US" sz="1000">
                  <a:solidFill>
                    <a:srgbClr val="000000"/>
                  </a:solidFill>
                </a:rPr>
                <a:t>CarryOut</a:t>
              </a:r>
              <a:endParaRPr lang="en-US" altLang="en-US"/>
            </a:p>
          </p:txBody>
        </p:sp>
        <p:sp>
          <p:nvSpPr>
            <p:cNvPr id="30727" name="Rectangle 51">
              <a:extLst>
                <a:ext uri="{FF2B5EF4-FFF2-40B4-BE49-F238E27FC236}">
                  <a16:creationId xmlns:a16="http://schemas.microsoft.com/office/drawing/2014/main" id="{7D735AE6-B4E3-2A40-A961-86A885E721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0" y="3956"/>
              <a:ext cx="990" cy="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45720" rIns="45720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en-US" sz="1400">
                  <a:solidFill>
                    <a:srgbClr val="000000"/>
                  </a:solidFill>
                </a:rPr>
                <a:t>CarryIn</a:t>
              </a:r>
              <a:endParaRPr lang="en-US" altLang="en-US"/>
            </a:p>
          </p:txBody>
        </p:sp>
        <p:sp>
          <p:nvSpPr>
            <p:cNvPr id="30728" name="Rectangle 50">
              <a:extLst>
                <a:ext uri="{FF2B5EF4-FFF2-40B4-BE49-F238E27FC236}">
                  <a16:creationId xmlns:a16="http://schemas.microsoft.com/office/drawing/2014/main" id="{FDE6347D-4E90-7146-A858-2393C9DDDB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3" y="3956"/>
              <a:ext cx="1110" cy="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45720" rIns="45720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en-US" sz="1400">
                  <a:solidFill>
                    <a:srgbClr val="000000"/>
                  </a:solidFill>
                </a:rPr>
                <a:t>Operation</a:t>
              </a:r>
              <a:endParaRPr lang="en-US" altLang="en-US"/>
            </a:p>
          </p:txBody>
        </p:sp>
        <p:sp>
          <p:nvSpPr>
            <p:cNvPr id="30729" name="Rectangle 49">
              <a:extLst>
                <a:ext uri="{FF2B5EF4-FFF2-40B4-BE49-F238E27FC236}">
                  <a16:creationId xmlns:a16="http://schemas.microsoft.com/office/drawing/2014/main" id="{57BA88B3-BD41-FE4C-B35A-F45815DEED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6" y="4443"/>
              <a:ext cx="410" cy="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45720" rIns="45720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en-US" sz="1200">
                  <a:solidFill>
                    <a:srgbClr val="000000"/>
                  </a:solidFill>
                </a:rPr>
                <a:t>a</a:t>
              </a:r>
              <a:r>
                <a:rPr lang="en-US" altLang="en-US" sz="1200" baseline="-30000">
                  <a:solidFill>
                    <a:srgbClr val="000000"/>
                  </a:solidFill>
                </a:rPr>
                <a:t>0</a:t>
              </a:r>
              <a:endParaRPr lang="en-US" altLang="en-US"/>
            </a:p>
          </p:txBody>
        </p:sp>
        <p:sp>
          <p:nvSpPr>
            <p:cNvPr id="30730" name="Rectangle 48">
              <a:extLst>
                <a:ext uri="{FF2B5EF4-FFF2-40B4-BE49-F238E27FC236}">
                  <a16:creationId xmlns:a16="http://schemas.microsoft.com/office/drawing/2014/main" id="{A7DA7EDA-5176-4546-A7A5-AEFC4A4561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6" y="4763"/>
              <a:ext cx="420" cy="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45720" rIns="45720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en-US" sz="1200">
                  <a:solidFill>
                    <a:srgbClr val="000000"/>
                  </a:solidFill>
                </a:rPr>
                <a:t>b</a:t>
              </a:r>
              <a:r>
                <a:rPr lang="en-US" altLang="en-US" sz="1200" baseline="-30000">
                  <a:solidFill>
                    <a:srgbClr val="000000"/>
                  </a:solidFill>
                </a:rPr>
                <a:t>0</a:t>
              </a:r>
              <a:endParaRPr lang="en-US" altLang="en-US"/>
            </a:p>
          </p:txBody>
        </p:sp>
        <p:sp>
          <p:nvSpPr>
            <p:cNvPr id="30731" name="Line 47">
              <a:extLst>
                <a:ext uri="{FF2B5EF4-FFF2-40B4-BE49-F238E27FC236}">
                  <a16:creationId xmlns:a16="http://schemas.microsoft.com/office/drawing/2014/main" id="{4BA6CD08-4FDC-F84D-A605-BE54C626C8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6" y="4683"/>
              <a:ext cx="75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32" name="Line 46">
              <a:extLst>
                <a:ext uri="{FF2B5EF4-FFF2-40B4-BE49-F238E27FC236}">
                  <a16:creationId xmlns:a16="http://schemas.microsoft.com/office/drawing/2014/main" id="{E0DF469D-A008-7445-A0E4-2B2FCCE9FE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6" y="4963"/>
              <a:ext cx="75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33" name="Line 45">
              <a:extLst>
                <a:ext uri="{FF2B5EF4-FFF2-40B4-BE49-F238E27FC236}">
                  <a16:creationId xmlns:a16="http://schemas.microsoft.com/office/drawing/2014/main" id="{B4A9989D-B1D5-6845-9BD4-C315DE80B7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86" y="5153"/>
              <a:ext cx="0" cy="3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34" name="Line 44">
              <a:extLst>
                <a:ext uri="{FF2B5EF4-FFF2-40B4-BE49-F238E27FC236}">
                  <a16:creationId xmlns:a16="http://schemas.microsoft.com/office/drawing/2014/main" id="{9EC8EA69-DFF2-FE4D-8C7E-99037D7E1B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86" y="4213"/>
              <a:ext cx="0" cy="3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35" name="Line 43">
              <a:extLst>
                <a:ext uri="{FF2B5EF4-FFF2-40B4-BE49-F238E27FC236}">
                  <a16:creationId xmlns:a16="http://schemas.microsoft.com/office/drawing/2014/main" id="{D51C3F90-01DF-B049-A9AA-0B1F2E0965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36" y="4833"/>
              <a:ext cx="10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36" name="Rectangle 42">
              <a:extLst>
                <a:ext uri="{FF2B5EF4-FFF2-40B4-BE49-F238E27FC236}">
                  <a16:creationId xmlns:a16="http://schemas.microsoft.com/office/drawing/2014/main" id="{688820B3-51C9-C943-B56F-938141FDFE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6" y="4633"/>
              <a:ext cx="1110" cy="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45720" rIns="45720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en-US" sz="1200">
                  <a:solidFill>
                    <a:srgbClr val="000000"/>
                  </a:solidFill>
                </a:rPr>
                <a:t>Result</a:t>
              </a:r>
              <a:r>
                <a:rPr lang="en-US" altLang="en-US" sz="1200" baseline="-30000">
                  <a:solidFill>
                    <a:srgbClr val="000000"/>
                  </a:solidFill>
                </a:rPr>
                <a:t>0</a:t>
              </a:r>
              <a:endParaRPr lang="en-US" altLang="en-US"/>
            </a:p>
          </p:txBody>
        </p:sp>
        <p:sp>
          <p:nvSpPr>
            <p:cNvPr id="30737" name="Rectangle 41">
              <a:extLst>
                <a:ext uri="{FF2B5EF4-FFF2-40B4-BE49-F238E27FC236}">
                  <a16:creationId xmlns:a16="http://schemas.microsoft.com/office/drawing/2014/main" id="{0113F649-D523-0244-B1CA-6BFBB075AA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6" y="5463"/>
              <a:ext cx="710" cy="62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5720" rIns="45720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en-US" sz="1000">
                  <a:solidFill>
                    <a:srgbClr val="000000"/>
                  </a:solidFill>
                </a:rPr>
                <a:t>CarryIn</a:t>
              </a:r>
              <a:endParaRPr lang="en-US" altLang="en-US" sz="700"/>
            </a:p>
            <a:p>
              <a:pPr algn="ctr"/>
              <a:r>
                <a:rPr lang="en-US" altLang="en-US" sz="1000">
                  <a:solidFill>
                    <a:srgbClr val="000000"/>
                  </a:solidFill>
                </a:rPr>
                <a:t>ALU</a:t>
              </a:r>
              <a:r>
                <a:rPr lang="en-US" altLang="en-US" sz="1000" baseline="-30000">
                  <a:solidFill>
                    <a:srgbClr val="000000"/>
                  </a:solidFill>
                </a:rPr>
                <a:t>1</a:t>
              </a:r>
              <a:endParaRPr lang="en-US" altLang="en-US" sz="700"/>
            </a:p>
            <a:p>
              <a:pPr algn="ctr"/>
              <a:r>
                <a:rPr lang="en-US" altLang="en-US" sz="1000">
                  <a:solidFill>
                    <a:srgbClr val="000000"/>
                  </a:solidFill>
                </a:rPr>
                <a:t>CarryOut</a:t>
              </a:r>
              <a:endParaRPr lang="en-US" altLang="en-US"/>
            </a:p>
          </p:txBody>
        </p:sp>
        <p:sp>
          <p:nvSpPr>
            <p:cNvPr id="30738" name="Rectangle 40">
              <a:extLst>
                <a:ext uri="{FF2B5EF4-FFF2-40B4-BE49-F238E27FC236}">
                  <a16:creationId xmlns:a16="http://schemas.microsoft.com/office/drawing/2014/main" id="{97DF2BED-BA1D-0245-B189-591848CA9A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6" y="5373"/>
              <a:ext cx="410" cy="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45720" rIns="45720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en-US" sz="1200">
                  <a:solidFill>
                    <a:srgbClr val="000000"/>
                  </a:solidFill>
                </a:rPr>
                <a:t>a</a:t>
              </a:r>
              <a:r>
                <a:rPr lang="en-US" altLang="en-US" sz="1200" baseline="-30000">
                  <a:solidFill>
                    <a:srgbClr val="000000"/>
                  </a:solidFill>
                </a:rPr>
                <a:t>1</a:t>
              </a:r>
              <a:endParaRPr lang="en-US" altLang="en-US"/>
            </a:p>
          </p:txBody>
        </p:sp>
        <p:sp>
          <p:nvSpPr>
            <p:cNvPr id="30739" name="Rectangle 39">
              <a:extLst>
                <a:ext uri="{FF2B5EF4-FFF2-40B4-BE49-F238E27FC236}">
                  <a16:creationId xmlns:a16="http://schemas.microsoft.com/office/drawing/2014/main" id="{CFDE9ECC-B3D2-0540-B15E-54C9E2FCF9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6" y="5693"/>
              <a:ext cx="420" cy="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45720" rIns="45720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en-US" sz="1200">
                  <a:solidFill>
                    <a:srgbClr val="000000"/>
                  </a:solidFill>
                </a:rPr>
                <a:t>b</a:t>
              </a:r>
              <a:r>
                <a:rPr lang="en-US" altLang="en-US" sz="1200" baseline="-30000">
                  <a:solidFill>
                    <a:srgbClr val="000000"/>
                  </a:solidFill>
                </a:rPr>
                <a:t>1</a:t>
              </a:r>
              <a:endParaRPr lang="en-US" altLang="en-US"/>
            </a:p>
          </p:txBody>
        </p:sp>
        <p:sp>
          <p:nvSpPr>
            <p:cNvPr id="30740" name="Line 38">
              <a:extLst>
                <a:ext uri="{FF2B5EF4-FFF2-40B4-BE49-F238E27FC236}">
                  <a16:creationId xmlns:a16="http://schemas.microsoft.com/office/drawing/2014/main" id="{8867918A-0150-5440-8660-30849F3899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6" y="5613"/>
              <a:ext cx="75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41" name="Line 37">
              <a:extLst>
                <a:ext uri="{FF2B5EF4-FFF2-40B4-BE49-F238E27FC236}">
                  <a16:creationId xmlns:a16="http://schemas.microsoft.com/office/drawing/2014/main" id="{C7D879DD-8058-D24F-97D3-1B87091F46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6" y="5893"/>
              <a:ext cx="75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42" name="Line 36">
              <a:extLst>
                <a:ext uri="{FF2B5EF4-FFF2-40B4-BE49-F238E27FC236}">
                  <a16:creationId xmlns:a16="http://schemas.microsoft.com/office/drawing/2014/main" id="{1B7274B8-5198-E147-9B64-0F4502B6AC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86" y="6083"/>
              <a:ext cx="0" cy="3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43" name="Line 35">
              <a:extLst>
                <a:ext uri="{FF2B5EF4-FFF2-40B4-BE49-F238E27FC236}">
                  <a16:creationId xmlns:a16="http://schemas.microsoft.com/office/drawing/2014/main" id="{D3B20E60-3118-614E-9D80-78CE234A00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36" y="5763"/>
              <a:ext cx="10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44" name="Rectangle 34">
              <a:extLst>
                <a:ext uri="{FF2B5EF4-FFF2-40B4-BE49-F238E27FC236}">
                  <a16:creationId xmlns:a16="http://schemas.microsoft.com/office/drawing/2014/main" id="{8C8049D4-FBB7-E44E-96CD-88146089E0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6" y="5563"/>
              <a:ext cx="1110" cy="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45720" rIns="45720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en-US" sz="1200">
                  <a:solidFill>
                    <a:srgbClr val="000000"/>
                  </a:solidFill>
                </a:rPr>
                <a:t>Result</a:t>
              </a:r>
              <a:r>
                <a:rPr lang="en-US" altLang="en-US" sz="1200" baseline="-30000">
                  <a:solidFill>
                    <a:srgbClr val="000000"/>
                  </a:solidFill>
                </a:rPr>
                <a:t>1</a:t>
              </a:r>
              <a:endParaRPr lang="en-US" altLang="en-US"/>
            </a:p>
          </p:txBody>
        </p:sp>
        <p:sp>
          <p:nvSpPr>
            <p:cNvPr id="30745" name="Rectangle 33">
              <a:extLst>
                <a:ext uri="{FF2B5EF4-FFF2-40B4-BE49-F238E27FC236}">
                  <a16:creationId xmlns:a16="http://schemas.microsoft.com/office/drawing/2014/main" id="{32226BA0-5ACD-344C-9C55-F31C38B1FF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6" y="6403"/>
              <a:ext cx="710" cy="62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5720" rIns="45720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en-US" sz="1000">
                  <a:solidFill>
                    <a:srgbClr val="000000"/>
                  </a:solidFill>
                </a:rPr>
                <a:t>CarryIn</a:t>
              </a:r>
              <a:endParaRPr lang="en-US" altLang="en-US" sz="700"/>
            </a:p>
            <a:p>
              <a:pPr algn="ctr"/>
              <a:r>
                <a:rPr lang="en-US" altLang="en-US" sz="1000">
                  <a:solidFill>
                    <a:srgbClr val="000000"/>
                  </a:solidFill>
                </a:rPr>
                <a:t>ALU</a:t>
              </a:r>
              <a:r>
                <a:rPr lang="en-US" altLang="en-US" sz="1000" baseline="-30000">
                  <a:solidFill>
                    <a:srgbClr val="000000"/>
                  </a:solidFill>
                </a:rPr>
                <a:t>2</a:t>
              </a:r>
              <a:endParaRPr lang="en-US" altLang="en-US" sz="700"/>
            </a:p>
            <a:p>
              <a:pPr algn="ctr"/>
              <a:r>
                <a:rPr lang="en-US" altLang="en-US" sz="1000">
                  <a:solidFill>
                    <a:srgbClr val="000000"/>
                  </a:solidFill>
                </a:rPr>
                <a:t>CarryOut</a:t>
              </a:r>
              <a:endParaRPr lang="en-US" altLang="en-US"/>
            </a:p>
          </p:txBody>
        </p:sp>
        <p:sp>
          <p:nvSpPr>
            <p:cNvPr id="30746" name="Rectangle 32">
              <a:extLst>
                <a:ext uri="{FF2B5EF4-FFF2-40B4-BE49-F238E27FC236}">
                  <a16:creationId xmlns:a16="http://schemas.microsoft.com/office/drawing/2014/main" id="{958562C4-9AB5-5246-8D70-FFF23CA11B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6" y="6313"/>
              <a:ext cx="410" cy="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45720" rIns="45720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en-US" sz="1200">
                  <a:solidFill>
                    <a:srgbClr val="000000"/>
                  </a:solidFill>
                </a:rPr>
                <a:t>a</a:t>
              </a:r>
              <a:r>
                <a:rPr lang="en-US" altLang="en-US" sz="1200" baseline="-30000">
                  <a:solidFill>
                    <a:srgbClr val="000000"/>
                  </a:solidFill>
                </a:rPr>
                <a:t>2</a:t>
              </a:r>
              <a:endParaRPr lang="en-US" altLang="en-US"/>
            </a:p>
          </p:txBody>
        </p:sp>
        <p:sp>
          <p:nvSpPr>
            <p:cNvPr id="30747" name="Rectangle 31">
              <a:extLst>
                <a:ext uri="{FF2B5EF4-FFF2-40B4-BE49-F238E27FC236}">
                  <a16:creationId xmlns:a16="http://schemas.microsoft.com/office/drawing/2014/main" id="{DBABB334-B3B8-F64D-B967-2EAF78E206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6" y="6633"/>
              <a:ext cx="420" cy="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45720" rIns="45720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en-US" sz="1200">
                  <a:solidFill>
                    <a:srgbClr val="000000"/>
                  </a:solidFill>
                </a:rPr>
                <a:t>b</a:t>
              </a:r>
              <a:r>
                <a:rPr lang="en-US" altLang="en-US" sz="1200" baseline="-30000">
                  <a:solidFill>
                    <a:srgbClr val="000000"/>
                  </a:solidFill>
                </a:rPr>
                <a:t>2</a:t>
              </a:r>
              <a:endParaRPr lang="en-US" altLang="en-US"/>
            </a:p>
          </p:txBody>
        </p:sp>
        <p:sp>
          <p:nvSpPr>
            <p:cNvPr id="30748" name="Line 30">
              <a:extLst>
                <a:ext uri="{FF2B5EF4-FFF2-40B4-BE49-F238E27FC236}">
                  <a16:creationId xmlns:a16="http://schemas.microsoft.com/office/drawing/2014/main" id="{26BEDD9D-CF14-5249-9365-96299E0DF0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6" y="6553"/>
              <a:ext cx="75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49" name="Line 29">
              <a:extLst>
                <a:ext uri="{FF2B5EF4-FFF2-40B4-BE49-F238E27FC236}">
                  <a16:creationId xmlns:a16="http://schemas.microsoft.com/office/drawing/2014/main" id="{321A22A4-A37B-7A4C-9408-91F3720B76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6" y="6833"/>
              <a:ext cx="75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50" name="Line 28">
              <a:extLst>
                <a:ext uri="{FF2B5EF4-FFF2-40B4-BE49-F238E27FC236}">
                  <a16:creationId xmlns:a16="http://schemas.microsoft.com/office/drawing/2014/main" id="{EFD77012-8891-2C48-B08E-1FED04EF9F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86" y="7023"/>
              <a:ext cx="0" cy="3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51" name="Line 27">
              <a:extLst>
                <a:ext uri="{FF2B5EF4-FFF2-40B4-BE49-F238E27FC236}">
                  <a16:creationId xmlns:a16="http://schemas.microsoft.com/office/drawing/2014/main" id="{AC48B94B-7558-B247-88BD-841ADEB92E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36" y="6703"/>
              <a:ext cx="10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52" name="Rectangle 26">
              <a:extLst>
                <a:ext uri="{FF2B5EF4-FFF2-40B4-BE49-F238E27FC236}">
                  <a16:creationId xmlns:a16="http://schemas.microsoft.com/office/drawing/2014/main" id="{53822CF5-8D3A-BB46-92E2-4B23DD1CC8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6" y="6503"/>
              <a:ext cx="1110" cy="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45720" rIns="45720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en-US" sz="1200">
                  <a:solidFill>
                    <a:srgbClr val="000000"/>
                  </a:solidFill>
                </a:rPr>
                <a:t>Result</a:t>
              </a:r>
              <a:r>
                <a:rPr lang="en-US" altLang="en-US" sz="1200" baseline="-30000">
                  <a:solidFill>
                    <a:srgbClr val="000000"/>
                  </a:solidFill>
                </a:rPr>
                <a:t>2</a:t>
              </a:r>
              <a:endParaRPr lang="en-US" altLang="en-US"/>
            </a:p>
          </p:txBody>
        </p:sp>
        <p:sp>
          <p:nvSpPr>
            <p:cNvPr id="30753" name="Rectangle 25">
              <a:extLst>
                <a:ext uri="{FF2B5EF4-FFF2-40B4-BE49-F238E27FC236}">
                  <a16:creationId xmlns:a16="http://schemas.microsoft.com/office/drawing/2014/main" id="{96E40BEF-337D-6841-A5EF-3EDD1EB9B7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6" y="8053"/>
              <a:ext cx="710" cy="62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5720" rIns="45720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en-US" sz="1000">
                  <a:solidFill>
                    <a:srgbClr val="000000"/>
                  </a:solidFill>
                </a:rPr>
                <a:t>CarryIn</a:t>
              </a:r>
              <a:endParaRPr lang="en-US" altLang="en-US" sz="700"/>
            </a:p>
            <a:p>
              <a:pPr algn="ctr"/>
              <a:r>
                <a:rPr lang="en-US" altLang="en-US" sz="1000">
                  <a:solidFill>
                    <a:srgbClr val="000000"/>
                  </a:solidFill>
                </a:rPr>
                <a:t>ALU </a:t>
              </a:r>
              <a:r>
                <a:rPr lang="en-US" altLang="en-US" sz="1000" baseline="-30000">
                  <a:solidFill>
                    <a:srgbClr val="000000"/>
                  </a:solidFill>
                </a:rPr>
                <a:t>31</a:t>
              </a:r>
              <a:endParaRPr lang="en-US" altLang="en-US" sz="700"/>
            </a:p>
            <a:p>
              <a:pPr algn="ctr"/>
              <a:r>
                <a:rPr lang="en-US" altLang="en-US" sz="1000">
                  <a:solidFill>
                    <a:srgbClr val="000000"/>
                  </a:solidFill>
                </a:rPr>
                <a:t>CarryOut</a:t>
              </a:r>
              <a:endParaRPr lang="en-US" altLang="en-US"/>
            </a:p>
          </p:txBody>
        </p:sp>
        <p:sp>
          <p:nvSpPr>
            <p:cNvPr id="30754" name="Rectangle 24">
              <a:extLst>
                <a:ext uri="{FF2B5EF4-FFF2-40B4-BE49-F238E27FC236}">
                  <a16:creationId xmlns:a16="http://schemas.microsoft.com/office/drawing/2014/main" id="{3FA5CA06-BA3E-3A4F-BBEB-C2BBDA8F7C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6" y="7963"/>
              <a:ext cx="560" cy="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45720" rIns="45720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en-US" sz="1200">
                  <a:solidFill>
                    <a:srgbClr val="000000"/>
                  </a:solidFill>
                </a:rPr>
                <a:t>a</a:t>
              </a:r>
              <a:r>
                <a:rPr lang="en-US" altLang="en-US" sz="1200" baseline="-30000">
                  <a:solidFill>
                    <a:srgbClr val="000000"/>
                  </a:solidFill>
                </a:rPr>
                <a:t>31</a:t>
              </a:r>
              <a:endParaRPr lang="en-US" altLang="en-US"/>
            </a:p>
          </p:txBody>
        </p:sp>
        <p:sp>
          <p:nvSpPr>
            <p:cNvPr id="30755" name="Rectangle 23">
              <a:extLst>
                <a:ext uri="{FF2B5EF4-FFF2-40B4-BE49-F238E27FC236}">
                  <a16:creationId xmlns:a16="http://schemas.microsoft.com/office/drawing/2014/main" id="{FD5D7EA5-3063-AE47-830E-9C154979CF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6" y="8283"/>
              <a:ext cx="570" cy="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45720" rIns="45720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en-US" sz="1200">
                  <a:solidFill>
                    <a:srgbClr val="000000"/>
                  </a:solidFill>
                </a:rPr>
                <a:t>b</a:t>
              </a:r>
              <a:r>
                <a:rPr lang="en-US" altLang="en-US" sz="1200" baseline="-30000">
                  <a:solidFill>
                    <a:srgbClr val="000000"/>
                  </a:solidFill>
                </a:rPr>
                <a:t>31</a:t>
              </a:r>
              <a:endParaRPr lang="en-US" altLang="en-US"/>
            </a:p>
          </p:txBody>
        </p:sp>
        <p:sp>
          <p:nvSpPr>
            <p:cNvPr id="30756" name="Line 22">
              <a:extLst>
                <a:ext uri="{FF2B5EF4-FFF2-40B4-BE49-F238E27FC236}">
                  <a16:creationId xmlns:a16="http://schemas.microsoft.com/office/drawing/2014/main" id="{47CD4442-1648-B841-B96D-529E3A0189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6" y="8203"/>
              <a:ext cx="75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57" name="Line 21">
              <a:extLst>
                <a:ext uri="{FF2B5EF4-FFF2-40B4-BE49-F238E27FC236}">
                  <a16:creationId xmlns:a16="http://schemas.microsoft.com/office/drawing/2014/main" id="{530D2BD7-27D0-ED4D-96F6-12CBFCF054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6" y="8483"/>
              <a:ext cx="75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58" name="Line 20">
              <a:extLst>
                <a:ext uri="{FF2B5EF4-FFF2-40B4-BE49-F238E27FC236}">
                  <a16:creationId xmlns:a16="http://schemas.microsoft.com/office/drawing/2014/main" id="{36B21B0C-D5B9-E74A-AF1F-EE980843FB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36" y="8353"/>
              <a:ext cx="10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59" name="Rectangle 19">
              <a:extLst>
                <a:ext uri="{FF2B5EF4-FFF2-40B4-BE49-F238E27FC236}">
                  <a16:creationId xmlns:a16="http://schemas.microsoft.com/office/drawing/2014/main" id="{6E640C65-854B-374A-A419-C01E936765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6" y="8153"/>
              <a:ext cx="1110" cy="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45720" rIns="45720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en-US" sz="1200">
                  <a:solidFill>
                    <a:srgbClr val="000000"/>
                  </a:solidFill>
                </a:rPr>
                <a:t>Result</a:t>
              </a:r>
              <a:r>
                <a:rPr lang="en-US" altLang="en-US" sz="1200" baseline="-30000">
                  <a:solidFill>
                    <a:srgbClr val="000000"/>
                  </a:solidFill>
                </a:rPr>
                <a:t>31</a:t>
              </a:r>
              <a:endParaRPr lang="en-US" altLang="en-US"/>
            </a:p>
          </p:txBody>
        </p:sp>
        <p:sp>
          <p:nvSpPr>
            <p:cNvPr id="30760" name="Line 18">
              <a:extLst>
                <a:ext uri="{FF2B5EF4-FFF2-40B4-BE49-F238E27FC236}">
                  <a16:creationId xmlns:a16="http://schemas.microsoft.com/office/drawing/2014/main" id="{DEE9E2AE-B3D9-6B49-8CBB-F1FAA11543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86" y="7723"/>
              <a:ext cx="0" cy="3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61" name="Rectangle 17">
              <a:extLst>
                <a:ext uri="{FF2B5EF4-FFF2-40B4-BE49-F238E27FC236}">
                  <a16:creationId xmlns:a16="http://schemas.microsoft.com/office/drawing/2014/main" id="{648B2D06-9056-324D-9545-C4493606359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3046" y="7403"/>
              <a:ext cx="560" cy="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45720" rIns="45720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en-US" sz="1800">
                  <a:solidFill>
                    <a:srgbClr val="000000"/>
                  </a:solidFill>
                  <a:sym typeface="Symbol" pitchFamily="2" charset="2"/>
                </a:rPr>
                <a:t></a:t>
              </a:r>
            </a:p>
          </p:txBody>
        </p:sp>
        <p:sp>
          <p:nvSpPr>
            <p:cNvPr id="30762" name="Rectangle 16">
              <a:extLst>
                <a:ext uri="{FF2B5EF4-FFF2-40B4-BE49-F238E27FC236}">
                  <a16:creationId xmlns:a16="http://schemas.microsoft.com/office/drawing/2014/main" id="{7B627597-E830-4445-A807-56CD4F3977A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3776" y="7403"/>
              <a:ext cx="560" cy="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45720" rIns="45720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en-US" sz="1800">
                  <a:solidFill>
                    <a:srgbClr val="000000"/>
                  </a:solidFill>
                  <a:sym typeface="Symbol" pitchFamily="2" charset="2"/>
                </a:rPr>
                <a:t></a:t>
              </a:r>
            </a:p>
          </p:txBody>
        </p:sp>
        <p:sp>
          <p:nvSpPr>
            <p:cNvPr id="30763" name="Rectangle 15">
              <a:extLst>
                <a:ext uri="{FF2B5EF4-FFF2-40B4-BE49-F238E27FC236}">
                  <a16:creationId xmlns:a16="http://schemas.microsoft.com/office/drawing/2014/main" id="{4B4AAFA9-6FDE-2F4D-BBE9-78C9F65E4B4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4829" y="7403"/>
              <a:ext cx="560" cy="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45720" rIns="45720"/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en-US" sz="1800">
                  <a:solidFill>
                    <a:srgbClr val="000000"/>
                  </a:solidFill>
                  <a:sym typeface="Symbol" pitchFamily="2" charset="2"/>
                </a:rPr>
                <a:t></a:t>
              </a:r>
            </a:p>
          </p:txBody>
        </p:sp>
        <p:sp>
          <p:nvSpPr>
            <p:cNvPr id="30764" name="Line 14">
              <a:extLst>
                <a:ext uri="{FF2B5EF4-FFF2-40B4-BE49-F238E27FC236}">
                  <a16:creationId xmlns:a16="http://schemas.microsoft.com/office/drawing/2014/main" id="{5BCAA38F-EE25-5744-9612-DB20C976B7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36" y="4213"/>
              <a:ext cx="0" cy="30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65" name="Line 13">
              <a:extLst>
                <a:ext uri="{FF2B5EF4-FFF2-40B4-BE49-F238E27FC236}">
                  <a16:creationId xmlns:a16="http://schemas.microsoft.com/office/drawing/2014/main" id="{EE0AD9D3-D2E3-074A-A035-777F91C719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26" y="7743"/>
              <a:ext cx="0" cy="13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66" name="Line 12">
              <a:extLst>
                <a:ext uri="{FF2B5EF4-FFF2-40B4-BE49-F238E27FC236}">
                  <a16:creationId xmlns:a16="http://schemas.microsoft.com/office/drawing/2014/main" id="{5723DE76-EE6A-504A-B82A-3CB8BF5CA7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6" y="7893"/>
              <a:ext cx="10" cy="1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67" name="Line 11">
              <a:extLst>
                <a:ext uri="{FF2B5EF4-FFF2-40B4-BE49-F238E27FC236}">
                  <a16:creationId xmlns:a16="http://schemas.microsoft.com/office/drawing/2014/main" id="{1A57FAC7-97E5-6342-A3D6-12F470AEBD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6" y="6243"/>
              <a:ext cx="10" cy="1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68" name="Line 10">
              <a:extLst>
                <a:ext uri="{FF2B5EF4-FFF2-40B4-BE49-F238E27FC236}">
                  <a16:creationId xmlns:a16="http://schemas.microsoft.com/office/drawing/2014/main" id="{26BD02D6-446B-A34B-9B2F-6208A260E4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6" y="5303"/>
              <a:ext cx="10" cy="1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69" name="Line 9">
              <a:extLst>
                <a:ext uri="{FF2B5EF4-FFF2-40B4-BE49-F238E27FC236}">
                  <a16:creationId xmlns:a16="http://schemas.microsoft.com/office/drawing/2014/main" id="{8DE1C861-71F7-4245-B5A2-CF8C864FCD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4393"/>
              <a:ext cx="10" cy="1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70" name="Line 8">
              <a:extLst>
                <a:ext uri="{FF2B5EF4-FFF2-40B4-BE49-F238E27FC236}">
                  <a16:creationId xmlns:a16="http://schemas.microsoft.com/office/drawing/2014/main" id="{14E6C9FF-B0B1-7A4C-A873-CA1D87EF61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4393"/>
              <a:ext cx="81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71" name="Line 7">
              <a:extLst>
                <a:ext uri="{FF2B5EF4-FFF2-40B4-BE49-F238E27FC236}">
                  <a16:creationId xmlns:a16="http://schemas.microsoft.com/office/drawing/2014/main" id="{A0C27648-CA34-7544-9834-5886D68AAD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9" y="5303"/>
              <a:ext cx="81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72" name="Line 6">
              <a:extLst>
                <a:ext uri="{FF2B5EF4-FFF2-40B4-BE49-F238E27FC236}">
                  <a16:creationId xmlns:a16="http://schemas.microsoft.com/office/drawing/2014/main" id="{37B67644-7650-EF4B-A0B2-BF978261FC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9" y="6243"/>
              <a:ext cx="81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73" name="Line 5">
              <a:extLst>
                <a:ext uri="{FF2B5EF4-FFF2-40B4-BE49-F238E27FC236}">
                  <a16:creationId xmlns:a16="http://schemas.microsoft.com/office/drawing/2014/main" id="{B76F0F41-1690-CD46-AAA8-FC9AE8D6E3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6" y="7883"/>
              <a:ext cx="83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74" name="Freeform 4">
              <a:extLst>
                <a:ext uri="{FF2B5EF4-FFF2-40B4-BE49-F238E27FC236}">
                  <a16:creationId xmlns:a16="http://schemas.microsoft.com/office/drawing/2014/main" id="{C0A649AB-0F57-7E43-9F41-B7CC3EC317F0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209" y="4365"/>
              <a:ext cx="58" cy="56"/>
            </a:xfrm>
            <a:custGeom>
              <a:avLst/>
              <a:gdLst>
                <a:gd name="T0" fmla="*/ 351669762 w 33"/>
                <a:gd name="T1" fmla="*/ 578250388 h 32"/>
                <a:gd name="T2" fmla="*/ 446788906 w 33"/>
                <a:gd name="T3" fmla="*/ 622650130 h 32"/>
                <a:gd name="T4" fmla="*/ 496171908 w 33"/>
                <a:gd name="T5" fmla="*/ 578250388 h 32"/>
                <a:gd name="T6" fmla="*/ 504228081 w 33"/>
                <a:gd name="T7" fmla="*/ 578250388 h 32"/>
                <a:gd name="T8" fmla="*/ 553281927 w 33"/>
                <a:gd name="T9" fmla="*/ 545242632 h 32"/>
                <a:gd name="T10" fmla="*/ 599697426 w 33"/>
                <a:gd name="T11" fmla="*/ 520690427 h 32"/>
                <a:gd name="T12" fmla="*/ 648687888 w 33"/>
                <a:gd name="T13" fmla="*/ 491948114 h 32"/>
                <a:gd name="T14" fmla="*/ 686487459 w 33"/>
                <a:gd name="T15" fmla="*/ 444502823 h 32"/>
                <a:gd name="T16" fmla="*/ 686487459 w 33"/>
                <a:gd name="T17" fmla="*/ 414530711 h 32"/>
                <a:gd name="T18" fmla="*/ 686487459 w 33"/>
                <a:gd name="T19" fmla="*/ 368675899 h 32"/>
                <a:gd name="T20" fmla="*/ 735466207 w 33"/>
                <a:gd name="T21" fmla="*/ 330428793 h 32"/>
                <a:gd name="T22" fmla="*/ 686487459 w 33"/>
                <a:gd name="T23" fmla="*/ 254001613 h 32"/>
                <a:gd name="T24" fmla="*/ 686487459 w 33"/>
                <a:gd name="T25" fmla="*/ 210671942 h 32"/>
                <a:gd name="T26" fmla="*/ 686487459 w 33"/>
                <a:gd name="T27" fmla="*/ 178038410 h 32"/>
                <a:gd name="T28" fmla="*/ 648687888 w 33"/>
                <a:gd name="T29" fmla="*/ 135356967 h 32"/>
                <a:gd name="T30" fmla="*/ 599697426 w 33"/>
                <a:gd name="T31" fmla="*/ 101777039 h 32"/>
                <a:gd name="T32" fmla="*/ 553281927 w 33"/>
                <a:gd name="T33" fmla="*/ 77400701 h 32"/>
                <a:gd name="T34" fmla="*/ 504228081 w 33"/>
                <a:gd name="T35" fmla="*/ 44228972 h 32"/>
                <a:gd name="T36" fmla="*/ 496171908 w 33"/>
                <a:gd name="T37" fmla="*/ 44228972 h 32"/>
                <a:gd name="T38" fmla="*/ 446788906 w 33"/>
                <a:gd name="T39" fmla="*/ 0 h 32"/>
                <a:gd name="T40" fmla="*/ 351669762 w 33"/>
                <a:gd name="T41" fmla="*/ 0 h 32"/>
                <a:gd name="T42" fmla="*/ 314798338 w 33"/>
                <a:gd name="T43" fmla="*/ 0 h 32"/>
                <a:gd name="T44" fmla="*/ 265802465 w 33"/>
                <a:gd name="T45" fmla="*/ 44228972 h 32"/>
                <a:gd name="T46" fmla="*/ 179109399 w 33"/>
                <a:gd name="T47" fmla="*/ 44228972 h 32"/>
                <a:gd name="T48" fmla="*/ 135462960 w 33"/>
                <a:gd name="T49" fmla="*/ 77400701 h 32"/>
                <a:gd name="T50" fmla="*/ 86046042 w 33"/>
                <a:gd name="T51" fmla="*/ 101777039 h 32"/>
                <a:gd name="T52" fmla="*/ 48957231 w 33"/>
                <a:gd name="T53" fmla="*/ 135356967 h 32"/>
                <a:gd name="T54" fmla="*/ 48957231 w 33"/>
                <a:gd name="T55" fmla="*/ 178038410 h 32"/>
                <a:gd name="T56" fmla="*/ 0 w 33"/>
                <a:gd name="T57" fmla="*/ 210671942 h 32"/>
                <a:gd name="T58" fmla="*/ 0 w 33"/>
                <a:gd name="T59" fmla="*/ 254001613 h 32"/>
                <a:gd name="T60" fmla="*/ 0 w 33"/>
                <a:gd name="T61" fmla="*/ 330428793 h 32"/>
                <a:gd name="T62" fmla="*/ 0 w 33"/>
                <a:gd name="T63" fmla="*/ 368675899 h 32"/>
                <a:gd name="T64" fmla="*/ 0 w 33"/>
                <a:gd name="T65" fmla="*/ 414530711 h 32"/>
                <a:gd name="T66" fmla="*/ 48957231 w 33"/>
                <a:gd name="T67" fmla="*/ 444502823 h 32"/>
                <a:gd name="T68" fmla="*/ 48957231 w 33"/>
                <a:gd name="T69" fmla="*/ 491948114 h 32"/>
                <a:gd name="T70" fmla="*/ 86046042 w 33"/>
                <a:gd name="T71" fmla="*/ 520690427 h 32"/>
                <a:gd name="T72" fmla="*/ 135462960 w 33"/>
                <a:gd name="T73" fmla="*/ 545242632 h 32"/>
                <a:gd name="T74" fmla="*/ 179109399 w 33"/>
                <a:gd name="T75" fmla="*/ 578250388 h 32"/>
                <a:gd name="T76" fmla="*/ 265802465 w 33"/>
                <a:gd name="T77" fmla="*/ 578250388 h 32"/>
                <a:gd name="T78" fmla="*/ 314798338 w 33"/>
                <a:gd name="T79" fmla="*/ 622650130 h 32"/>
                <a:gd name="T80" fmla="*/ 351669762 w 33"/>
                <a:gd name="T81" fmla="*/ 622650130 h 32"/>
                <a:gd name="T82" fmla="*/ 351669762 w 33"/>
                <a:gd name="T83" fmla="*/ 622650130 h 32"/>
                <a:gd name="T84" fmla="*/ 351669762 w 33"/>
                <a:gd name="T85" fmla="*/ 578250388 h 32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33"/>
                <a:gd name="T130" fmla="*/ 0 h 32"/>
                <a:gd name="T131" fmla="*/ 33 w 33"/>
                <a:gd name="T132" fmla="*/ 32 h 32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33" h="32">
                  <a:moveTo>
                    <a:pt x="16" y="30"/>
                  </a:moveTo>
                  <a:lnTo>
                    <a:pt x="20" y="32"/>
                  </a:lnTo>
                  <a:lnTo>
                    <a:pt x="22" y="30"/>
                  </a:lnTo>
                  <a:lnTo>
                    <a:pt x="23" y="30"/>
                  </a:lnTo>
                  <a:lnTo>
                    <a:pt x="25" y="28"/>
                  </a:lnTo>
                  <a:lnTo>
                    <a:pt x="27" y="27"/>
                  </a:lnTo>
                  <a:lnTo>
                    <a:pt x="29" y="25"/>
                  </a:lnTo>
                  <a:lnTo>
                    <a:pt x="31" y="23"/>
                  </a:lnTo>
                  <a:lnTo>
                    <a:pt x="31" y="21"/>
                  </a:lnTo>
                  <a:lnTo>
                    <a:pt x="31" y="19"/>
                  </a:lnTo>
                  <a:lnTo>
                    <a:pt x="33" y="17"/>
                  </a:lnTo>
                  <a:lnTo>
                    <a:pt x="31" y="13"/>
                  </a:lnTo>
                  <a:lnTo>
                    <a:pt x="31" y="11"/>
                  </a:lnTo>
                  <a:lnTo>
                    <a:pt x="31" y="9"/>
                  </a:lnTo>
                  <a:lnTo>
                    <a:pt x="29" y="7"/>
                  </a:lnTo>
                  <a:lnTo>
                    <a:pt x="27" y="5"/>
                  </a:lnTo>
                  <a:lnTo>
                    <a:pt x="25" y="4"/>
                  </a:lnTo>
                  <a:lnTo>
                    <a:pt x="23" y="2"/>
                  </a:lnTo>
                  <a:lnTo>
                    <a:pt x="22" y="2"/>
                  </a:lnTo>
                  <a:lnTo>
                    <a:pt x="20" y="0"/>
                  </a:lnTo>
                  <a:lnTo>
                    <a:pt x="16" y="0"/>
                  </a:lnTo>
                  <a:lnTo>
                    <a:pt x="14" y="0"/>
                  </a:lnTo>
                  <a:lnTo>
                    <a:pt x="12" y="2"/>
                  </a:lnTo>
                  <a:lnTo>
                    <a:pt x="8" y="2"/>
                  </a:lnTo>
                  <a:lnTo>
                    <a:pt x="6" y="4"/>
                  </a:lnTo>
                  <a:lnTo>
                    <a:pt x="4" y="5"/>
                  </a:lnTo>
                  <a:lnTo>
                    <a:pt x="2" y="7"/>
                  </a:lnTo>
                  <a:lnTo>
                    <a:pt x="2" y="9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0" y="17"/>
                  </a:lnTo>
                  <a:lnTo>
                    <a:pt x="0" y="19"/>
                  </a:lnTo>
                  <a:lnTo>
                    <a:pt x="0" y="21"/>
                  </a:lnTo>
                  <a:lnTo>
                    <a:pt x="2" y="23"/>
                  </a:lnTo>
                  <a:lnTo>
                    <a:pt x="2" y="25"/>
                  </a:lnTo>
                  <a:lnTo>
                    <a:pt x="4" y="27"/>
                  </a:lnTo>
                  <a:lnTo>
                    <a:pt x="6" y="28"/>
                  </a:lnTo>
                  <a:lnTo>
                    <a:pt x="8" y="30"/>
                  </a:lnTo>
                  <a:lnTo>
                    <a:pt x="12" y="30"/>
                  </a:lnTo>
                  <a:lnTo>
                    <a:pt x="14" y="32"/>
                  </a:lnTo>
                  <a:lnTo>
                    <a:pt x="16" y="32"/>
                  </a:lnTo>
                  <a:lnTo>
                    <a:pt x="16" y="3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775" name="Freeform 3">
              <a:extLst>
                <a:ext uri="{FF2B5EF4-FFF2-40B4-BE49-F238E27FC236}">
                  <a16:creationId xmlns:a16="http://schemas.microsoft.com/office/drawing/2014/main" id="{A85C31F5-6528-224B-9811-23E89DF31348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209" y="5274"/>
              <a:ext cx="58" cy="57"/>
            </a:xfrm>
            <a:custGeom>
              <a:avLst/>
              <a:gdLst>
                <a:gd name="T0" fmla="*/ 351669762 w 33"/>
                <a:gd name="T1" fmla="*/ 980516239 h 32"/>
                <a:gd name="T2" fmla="*/ 446788906 w 33"/>
                <a:gd name="T3" fmla="*/ 1069832986 h 32"/>
                <a:gd name="T4" fmla="*/ 496171908 w 33"/>
                <a:gd name="T5" fmla="*/ 980516239 h 32"/>
                <a:gd name="T6" fmla="*/ 504228081 w 33"/>
                <a:gd name="T7" fmla="*/ 980516239 h 32"/>
                <a:gd name="T8" fmla="*/ 553281927 w 33"/>
                <a:gd name="T9" fmla="*/ 934999219 h 32"/>
                <a:gd name="T10" fmla="*/ 599697426 w 33"/>
                <a:gd name="T11" fmla="*/ 887742777 h 32"/>
                <a:gd name="T12" fmla="*/ 648687888 w 33"/>
                <a:gd name="T13" fmla="*/ 835639827 h 32"/>
                <a:gd name="T14" fmla="*/ 686487459 w 33"/>
                <a:gd name="T15" fmla="*/ 765951782 h 32"/>
                <a:gd name="T16" fmla="*/ 686487459 w 33"/>
                <a:gd name="T17" fmla="*/ 693238743 h 32"/>
                <a:gd name="T18" fmla="*/ 686487459 w 33"/>
                <a:gd name="T19" fmla="*/ 641189760 h 32"/>
                <a:gd name="T20" fmla="*/ 735466207 w 33"/>
                <a:gd name="T21" fmla="*/ 550465257 h 32"/>
                <a:gd name="T22" fmla="*/ 686487459 w 33"/>
                <a:gd name="T23" fmla="*/ 430008018 h 32"/>
                <a:gd name="T24" fmla="*/ 686487459 w 33"/>
                <a:gd name="T25" fmla="*/ 376943960 h 32"/>
                <a:gd name="T26" fmla="*/ 686487459 w 33"/>
                <a:gd name="T27" fmla="*/ 308120987 h 32"/>
                <a:gd name="T28" fmla="*/ 648687888 w 33"/>
                <a:gd name="T29" fmla="*/ 218490758 h 32"/>
                <a:gd name="T30" fmla="*/ 599697426 w 33"/>
                <a:gd name="T31" fmla="*/ 172980203 h 32"/>
                <a:gd name="T32" fmla="*/ 553281927 w 33"/>
                <a:gd name="T33" fmla="*/ 122661478 h 32"/>
                <a:gd name="T34" fmla="*/ 504228081 w 33"/>
                <a:gd name="T35" fmla="*/ 68862584 h 32"/>
                <a:gd name="T36" fmla="*/ 496171908 w 33"/>
                <a:gd name="T37" fmla="*/ 68862584 h 32"/>
                <a:gd name="T38" fmla="*/ 446788906 w 33"/>
                <a:gd name="T39" fmla="*/ 0 h 32"/>
                <a:gd name="T40" fmla="*/ 351669762 w 33"/>
                <a:gd name="T41" fmla="*/ 0 h 32"/>
                <a:gd name="T42" fmla="*/ 314798338 w 33"/>
                <a:gd name="T43" fmla="*/ 0 h 32"/>
                <a:gd name="T44" fmla="*/ 265802465 w 33"/>
                <a:gd name="T45" fmla="*/ 68862584 h 32"/>
                <a:gd name="T46" fmla="*/ 179109399 w 33"/>
                <a:gd name="T47" fmla="*/ 68862584 h 32"/>
                <a:gd name="T48" fmla="*/ 135462960 w 33"/>
                <a:gd name="T49" fmla="*/ 122661478 h 32"/>
                <a:gd name="T50" fmla="*/ 86046042 w 33"/>
                <a:gd name="T51" fmla="*/ 172980203 h 32"/>
                <a:gd name="T52" fmla="*/ 48957231 w 33"/>
                <a:gd name="T53" fmla="*/ 218490758 h 32"/>
                <a:gd name="T54" fmla="*/ 48957231 w 33"/>
                <a:gd name="T55" fmla="*/ 308120987 h 32"/>
                <a:gd name="T56" fmla="*/ 0 w 33"/>
                <a:gd name="T57" fmla="*/ 376943960 h 32"/>
                <a:gd name="T58" fmla="*/ 0 w 33"/>
                <a:gd name="T59" fmla="*/ 430008018 h 32"/>
                <a:gd name="T60" fmla="*/ 0 w 33"/>
                <a:gd name="T61" fmla="*/ 550465257 h 32"/>
                <a:gd name="T62" fmla="*/ 0 w 33"/>
                <a:gd name="T63" fmla="*/ 641189760 h 32"/>
                <a:gd name="T64" fmla="*/ 0 w 33"/>
                <a:gd name="T65" fmla="*/ 693238743 h 32"/>
                <a:gd name="T66" fmla="*/ 48957231 w 33"/>
                <a:gd name="T67" fmla="*/ 765951782 h 32"/>
                <a:gd name="T68" fmla="*/ 48957231 w 33"/>
                <a:gd name="T69" fmla="*/ 835639827 h 32"/>
                <a:gd name="T70" fmla="*/ 86046042 w 33"/>
                <a:gd name="T71" fmla="*/ 887742777 h 32"/>
                <a:gd name="T72" fmla="*/ 135462960 w 33"/>
                <a:gd name="T73" fmla="*/ 934999219 h 32"/>
                <a:gd name="T74" fmla="*/ 179109399 w 33"/>
                <a:gd name="T75" fmla="*/ 980516239 h 32"/>
                <a:gd name="T76" fmla="*/ 265802465 w 33"/>
                <a:gd name="T77" fmla="*/ 980516239 h 32"/>
                <a:gd name="T78" fmla="*/ 314798338 w 33"/>
                <a:gd name="T79" fmla="*/ 1069832986 h 32"/>
                <a:gd name="T80" fmla="*/ 351669762 w 33"/>
                <a:gd name="T81" fmla="*/ 1069832986 h 32"/>
                <a:gd name="T82" fmla="*/ 351669762 w 33"/>
                <a:gd name="T83" fmla="*/ 1069832986 h 32"/>
                <a:gd name="T84" fmla="*/ 351669762 w 33"/>
                <a:gd name="T85" fmla="*/ 980516239 h 32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33"/>
                <a:gd name="T130" fmla="*/ 0 h 32"/>
                <a:gd name="T131" fmla="*/ 33 w 33"/>
                <a:gd name="T132" fmla="*/ 32 h 32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33" h="32">
                  <a:moveTo>
                    <a:pt x="16" y="30"/>
                  </a:moveTo>
                  <a:lnTo>
                    <a:pt x="20" y="32"/>
                  </a:lnTo>
                  <a:lnTo>
                    <a:pt x="22" y="30"/>
                  </a:lnTo>
                  <a:lnTo>
                    <a:pt x="23" y="30"/>
                  </a:lnTo>
                  <a:lnTo>
                    <a:pt x="25" y="28"/>
                  </a:lnTo>
                  <a:lnTo>
                    <a:pt x="27" y="27"/>
                  </a:lnTo>
                  <a:lnTo>
                    <a:pt x="29" y="25"/>
                  </a:lnTo>
                  <a:lnTo>
                    <a:pt x="31" y="23"/>
                  </a:lnTo>
                  <a:lnTo>
                    <a:pt x="31" y="21"/>
                  </a:lnTo>
                  <a:lnTo>
                    <a:pt x="31" y="19"/>
                  </a:lnTo>
                  <a:lnTo>
                    <a:pt x="33" y="17"/>
                  </a:lnTo>
                  <a:lnTo>
                    <a:pt x="31" y="13"/>
                  </a:lnTo>
                  <a:lnTo>
                    <a:pt x="31" y="11"/>
                  </a:lnTo>
                  <a:lnTo>
                    <a:pt x="31" y="9"/>
                  </a:lnTo>
                  <a:lnTo>
                    <a:pt x="29" y="7"/>
                  </a:lnTo>
                  <a:lnTo>
                    <a:pt x="27" y="5"/>
                  </a:lnTo>
                  <a:lnTo>
                    <a:pt x="25" y="4"/>
                  </a:lnTo>
                  <a:lnTo>
                    <a:pt x="23" y="2"/>
                  </a:lnTo>
                  <a:lnTo>
                    <a:pt x="22" y="2"/>
                  </a:lnTo>
                  <a:lnTo>
                    <a:pt x="20" y="0"/>
                  </a:lnTo>
                  <a:lnTo>
                    <a:pt x="16" y="0"/>
                  </a:lnTo>
                  <a:lnTo>
                    <a:pt x="14" y="0"/>
                  </a:lnTo>
                  <a:lnTo>
                    <a:pt x="12" y="2"/>
                  </a:lnTo>
                  <a:lnTo>
                    <a:pt x="8" y="2"/>
                  </a:lnTo>
                  <a:lnTo>
                    <a:pt x="6" y="4"/>
                  </a:lnTo>
                  <a:lnTo>
                    <a:pt x="4" y="5"/>
                  </a:lnTo>
                  <a:lnTo>
                    <a:pt x="2" y="7"/>
                  </a:lnTo>
                  <a:lnTo>
                    <a:pt x="2" y="9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0" y="17"/>
                  </a:lnTo>
                  <a:lnTo>
                    <a:pt x="0" y="19"/>
                  </a:lnTo>
                  <a:lnTo>
                    <a:pt x="0" y="21"/>
                  </a:lnTo>
                  <a:lnTo>
                    <a:pt x="2" y="23"/>
                  </a:lnTo>
                  <a:lnTo>
                    <a:pt x="2" y="25"/>
                  </a:lnTo>
                  <a:lnTo>
                    <a:pt x="4" y="27"/>
                  </a:lnTo>
                  <a:lnTo>
                    <a:pt x="6" y="28"/>
                  </a:lnTo>
                  <a:lnTo>
                    <a:pt x="8" y="30"/>
                  </a:lnTo>
                  <a:lnTo>
                    <a:pt x="12" y="30"/>
                  </a:lnTo>
                  <a:lnTo>
                    <a:pt x="14" y="32"/>
                  </a:lnTo>
                  <a:lnTo>
                    <a:pt x="16" y="32"/>
                  </a:lnTo>
                  <a:lnTo>
                    <a:pt x="16" y="3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776" name="Freeform 2">
              <a:extLst>
                <a:ext uri="{FF2B5EF4-FFF2-40B4-BE49-F238E27FC236}">
                  <a16:creationId xmlns:a16="http://schemas.microsoft.com/office/drawing/2014/main" id="{119F5B80-432A-3846-BC0E-1BBE0FAEFF30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206" y="6212"/>
              <a:ext cx="58" cy="56"/>
            </a:xfrm>
            <a:custGeom>
              <a:avLst/>
              <a:gdLst>
                <a:gd name="T0" fmla="*/ 351669762 w 33"/>
                <a:gd name="T1" fmla="*/ 578250388 h 32"/>
                <a:gd name="T2" fmla="*/ 446788906 w 33"/>
                <a:gd name="T3" fmla="*/ 622650130 h 32"/>
                <a:gd name="T4" fmla="*/ 496171908 w 33"/>
                <a:gd name="T5" fmla="*/ 578250388 h 32"/>
                <a:gd name="T6" fmla="*/ 504228081 w 33"/>
                <a:gd name="T7" fmla="*/ 578250388 h 32"/>
                <a:gd name="T8" fmla="*/ 553281927 w 33"/>
                <a:gd name="T9" fmla="*/ 545242632 h 32"/>
                <a:gd name="T10" fmla="*/ 599697426 w 33"/>
                <a:gd name="T11" fmla="*/ 520690427 h 32"/>
                <a:gd name="T12" fmla="*/ 648687888 w 33"/>
                <a:gd name="T13" fmla="*/ 491948114 h 32"/>
                <a:gd name="T14" fmla="*/ 686487459 w 33"/>
                <a:gd name="T15" fmla="*/ 444502823 h 32"/>
                <a:gd name="T16" fmla="*/ 686487459 w 33"/>
                <a:gd name="T17" fmla="*/ 414530711 h 32"/>
                <a:gd name="T18" fmla="*/ 686487459 w 33"/>
                <a:gd name="T19" fmla="*/ 368675899 h 32"/>
                <a:gd name="T20" fmla="*/ 735466207 w 33"/>
                <a:gd name="T21" fmla="*/ 330428793 h 32"/>
                <a:gd name="T22" fmla="*/ 686487459 w 33"/>
                <a:gd name="T23" fmla="*/ 254001613 h 32"/>
                <a:gd name="T24" fmla="*/ 686487459 w 33"/>
                <a:gd name="T25" fmla="*/ 210671942 h 32"/>
                <a:gd name="T26" fmla="*/ 686487459 w 33"/>
                <a:gd name="T27" fmla="*/ 178038410 h 32"/>
                <a:gd name="T28" fmla="*/ 648687888 w 33"/>
                <a:gd name="T29" fmla="*/ 135356967 h 32"/>
                <a:gd name="T30" fmla="*/ 599697426 w 33"/>
                <a:gd name="T31" fmla="*/ 101777039 h 32"/>
                <a:gd name="T32" fmla="*/ 553281927 w 33"/>
                <a:gd name="T33" fmla="*/ 77400701 h 32"/>
                <a:gd name="T34" fmla="*/ 504228081 w 33"/>
                <a:gd name="T35" fmla="*/ 44228972 h 32"/>
                <a:gd name="T36" fmla="*/ 496171908 w 33"/>
                <a:gd name="T37" fmla="*/ 44228972 h 32"/>
                <a:gd name="T38" fmla="*/ 446788906 w 33"/>
                <a:gd name="T39" fmla="*/ 0 h 32"/>
                <a:gd name="T40" fmla="*/ 351669762 w 33"/>
                <a:gd name="T41" fmla="*/ 0 h 32"/>
                <a:gd name="T42" fmla="*/ 314798338 w 33"/>
                <a:gd name="T43" fmla="*/ 0 h 32"/>
                <a:gd name="T44" fmla="*/ 265802465 w 33"/>
                <a:gd name="T45" fmla="*/ 44228972 h 32"/>
                <a:gd name="T46" fmla="*/ 179109399 w 33"/>
                <a:gd name="T47" fmla="*/ 44228972 h 32"/>
                <a:gd name="T48" fmla="*/ 135462960 w 33"/>
                <a:gd name="T49" fmla="*/ 77400701 h 32"/>
                <a:gd name="T50" fmla="*/ 86046042 w 33"/>
                <a:gd name="T51" fmla="*/ 101777039 h 32"/>
                <a:gd name="T52" fmla="*/ 48957231 w 33"/>
                <a:gd name="T53" fmla="*/ 135356967 h 32"/>
                <a:gd name="T54" fmla="*/ 48957231 w 33"/>
                <a:gd name="T55" fmla="*/ 178038410 h 32"/>
                <a:gd name="T56" fmla="*/ 0 w 33"/>
                <a:gd name="T57" fmla="*/ 210671942 h 32"/>
                <a:gd name="T58" fmla="*/ 0 w 33"/>
                <a:gd name="T59" fmla="*/ 254001613 h 32"/>
                <a:gd name="T60" fmla="*/ 0 w 33"/>
                <a:gd name="T61" fmla="*/ 330428793 h 32"/>
                <a:gd name="T62" fmla="*/ 0 w 33"/>
                <a:gd name="T63" fmla="*/ 368675899 h 32"/>
                <a:gd name="T64" fmla="*/ 0 w 33"/>
                <a:gd name="T65" fmla="*/ 414530711 h 32"/>
                <a:gd name="T66" fmla="*/ 48957231 w 33"/>
                <a:gd name="T67" fmla="*/ 444502823 h 32"/>
                <a:gd name="T68" fmla="*/ 48957231 w 33"/>
                <a:gd name="T69" fmla="*/ 491948114 h 32"/>
                <a:gd name="T70" fmla="*/ 86046042 w 33"/>
                <a:gd name="T71" fmla="*/ 520690427 h 32"/>
                <a:gd name="T72" fmla="*/ 135462960 w 33"/>
                <a:gd name="T73" fmla="*/ 545242632 h 32"/>
                <a:gd name="T74" fmla="*/ 179109399 w 33"/>
                <a:gd name="T75" fmla="*/ 578250388 h 32"/>
                <a:gd name="T76" fmla="*/ 265802465 w 33"/>
                <a:gd name="T77" fmla="*/ 578250388 h 32"/>
                <a:gd name="T78" fmla="*/ 314798338 w 33"/>
                <a:gd name="T79" fmla="*/ 622650130 h 32"/>
                <a:gd name="T80" fmla="*/ 351669762 w 33"/>
                <a:gd name="T81" fmla="*/ 622650130 h 32"/>
                <a:gd name="T82" fmla="*/ 351669762 w 33"/>
                <a:gd name="T83" fmla="*/ 622650130 h 32"/>
                <a:gd name="T84" fmla="*/ 351669762 w 33"/>
                <a:gd name="T85" fmla="*/ 578250388 h 32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33"/>
                <a:gd name="T130" fmla="*/ 0 h 32"/>
                <a:gd name="T131" fmla="*/ 33 w 33"/>
                <a:gd name="T132" fmla="*/ 32 h 32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33" h="32">
                  <a:moveTo>
                    <a:pt x="16" y="30"/>
                  </a:moveTo>
                  <a:lnTo>
                    <a:pt x="20" y="32"/>
                  </a:lnTo>
                  <a:lnTo>
                    <a:pt x="22" y="30"/>
                  </a:lnTo>
                  <a:lnTo>
                    <a:pt x="23" y="30"/>
                  </a:lnTo>
                  <a:lnTo>
                    <a:pt x="25" y="28"/>
                  </a:lnTo>
                  <a:lnTo>
                    <a:pt x="27" y="27"/>
                  </a:lnTo>
                  <a:lnTo>
                    <a:pt x="29" y="25"/>
                  </a:lnTo>
                  <a:lnTo>
                    <a:pt x="31" y="23"/>
                  </a:lnTo>
                  <a:lnTo>
                    <a:pt x="31" y="21"/>
                  </a:lnTo>
                  <a:lnTo>
                    <a:pt x="31" y="19"/>
                  </a:lnTo>
                  <a:lnTo>
                    <a:pt x="33" y="17"/>
                  </a:lnTo>
                  <a:lnTo>
                    <a:pt x="31" y="13"/>
                  </a:lnTo>
                  <a:lnTo>
                    <a:pt x="31" y="11"/>
                  </a:lnTo>
                  <a:lnTo>
                    <a:pt x="31" y="9"/>
                  </a:lnTo>
                  <a:lnTo>
                    <a:pt x="29" y="7"/>
                  </a:lnTo>
                  <a:lnTo>
                    <a:pt x="27" y="5"/>
                  </a:lnTo>
                  <a:lnTo>
                    <a:pt x="25" y="4"/>
                  </a:lnTo>
                  <a:lnTo>
                    <a:pt x="23" y="2"/>
                  </a:lnTo>
                  <a:lnTo>
                    <a:pt x="22" y="2"/>
                  </a:lnTo>
                  <a:lnTo>
                    <a:pt x="20" y="0"/>
                  </a:lnTo>
                  <a:lnTo>
                    <a:pt x="16" y="0"/>
                  </a:lnTo>
                  <a:lnTo>
                    <a:pt x="14" y="0"/>
                  </a:lnTo>
                  <a:lnTo>
                    <a:pt x="12" y="2"/>
                  </a:lnTo>
                  <a:lnTo>
                    <a:pt x="8" y="2"/>
                  </a:lnTo>
                  <a:lnTo>
                    <a:pt x="6" y="4"/>
                  </a:lnTo>
                  <a:lnTo>
                    <a:pt x="4" y="5"/>
                  </a:lnTo>
                  <a:lnTo>
                    <a:pt x="2" y="7"/>
                  </a:lnTo>
                  <a:lnTo>
                    <a:pt x="2" y="9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0" y="17"/>
                  </a:lnTo>
                  <a:lnTo>
                    <a:pt x="0" y="19"/>
                  </a:lnTo>
                  <a:lnTo>
                    <a:pt x="0" y="21"/>
                  </a:lnTo>
                  <a:lnTo>
                    <a:pt x="2" y="23"/>
                  </a:lnTo>
                  <a:lnTo>
                    <a:pt x="2" y="25"/>
                  </a:lnTo>
                  <a:lnTo>
                    <a:pt x="4" y="27"/>
                  </a:lnTo>
                  <a:lnTo>
                    <a:pt x="6" y="28"/>
                  </a:lnTo>
                  <a:lnTo>
                    <a:pt x="8" y="30"/>
                  </a:lnTo>
                  <a:lnTo>
                    <a:pt x="12" y="30"/>
                  </a:lnTo>
                  <a:lnTo>
                    <a:pt x="14" y="32"/>
                  </a:lnTo>
                  <a:lnTo>
                    <a:pt x="16" y="32"/>
                  </a:lnTo>
                  <a:lnTo>
                    <a:pt x="16" y="3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4579" name="Content Placeholder 2">
            <a:extLst>
              <a:ext uri="{FF2B5EF4-FFF2-40B4-BE49-F238E27FC236}">
                <a16:creationId xmlns:a16="http://schemas.microsoft.com/office/drawing/2014/main" id="{9DBB4515-9627-6043-99D4-5B8732B5CFB5}"/>
              </a:ext>
            </a:extLst>
          </p:cNvPr>
          <p:cNvSpPr txBox="1">
            <a:spLocks/>
          </p:cNvSpPr>
          <p:nvPr/>
        </p:nvSpPr>
        <p:spPr bwMode="auto">
          <a:xfrm>
            <a:off x="762000" y="1295400"/>
            <a:ext cx="3352800" cy="403860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 marL="342900" indent="-3429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800100" indent="-3429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>
              <a:spcBef>
                <a:spcPct val="20000"/>
              </a:spcBef>
              <a:buFontTx/>
              <a:buChar char="•"/>
              <a:defRPr/>
            </a:pPr>
            <a:r>
              <a:rPr lang="en-US" sz="2000" b="0" dirty="0">
                <a:latin typeface="Franklin Gothic Book" charset="0"/>
              </a:rPr>
              <a:t>From 1-bit ALU to</a:t>
            </a:r>
          </a:p>
          <a:p>
            <a:pPr marL="0" indent="0">
              <a:spcBef>
                <a:spcPct val="20000"/>
              </a:spcBef>
              <a:defRPr/>
            </a:pPr>
            <a:r>
              <a:rPr lang="en-US" sz="2000" b="0" dirty="0">
                <a:latin typeface="Franklin Gothic Book" charset="0"/>
              </a:rPr>
              <a:t>     32-bit ALU</a:t>
            </a:r>
          </a:p>
          <a:p>
            <a:pPr marL="0" indent="0">
              <a:spcBef>
                <a:spcPct val="20000"/>
              </a:spcBef>
              <a:defRPr/>
            </a:pPr>
            <a:endParaRPr lang="en-US" sz="2000" b="0" dirty="0">
              <a:latin typeface="Franklin Gothic Book" charset="0"/>
            </a:endParaRPr>
          </a:p>
          <a:p>
            <a:pPr lvl="1">
              <a:spcBef>
                <a:spcPct val="20000"/>
              </a:spcBef>
              <a:buFontTx/>
              <a:buChar char="•"/>
              <a:defRPr/>
            </a:pPr>
            <a:r>
              <a:rPr lang="en-US" sz="2000" b="0" dirty="0">
                <a:latin typeface="Franklin Gothic Book" charset="0"/>
                <a:cs typeface="ＭＳ Ｐゴシック" charset="0"/>
              </a:rPr>
              <a:t>Chain carry-out to carry-in to the next bit</a:t>
            </a:r>
          </a:p>
          <a:p>
            <a:pPr lvl="1">
              <a:spcBef>
                <a:spcPct val="20000"/>
              </a:spcBef>
              <a:buFontTx/>
              <a:buChar char="•"/>
              <a:defRPr/>
            </a:pPr>
            <a:endParaRPr lang="en-US" sz="2000" b="0" dirty="0">
              <a:latin typeface="Franklin Gothic Book" charset="0"/>
              <a:cs typeface="ＭＳ Ｐゴシック" charset="0"/>
            </a:endParaRPr>
          </a:p>
          <a:p>
            <a:pPr lvl="1">
              <a:spcBef>
                <a:spcPct val="20000"/>
              </a:spcBef>
              <a:buFontTx/>
              <a:buChar char="•"/>
              <a:defRPr/>
            </a:pPr>
            <a:r>
              <a:rPr lang="en-US" sz="2000" b="0" dirty="0">
                <a:latin typeface="Franklin Gothic Book" charset="0"/>
                <a:cs typeface="ＭＳ Ｐゴシック" charset="0"/>
              </a:rPr>
              <a:t>Set </a:t>
            </a:r>
            <a:r>
              <a:rPr lang="en-US" sz="2000" b="0" dirty="0" err="1">
                <a:latin typeface="Franklin Gothic Book" charset="0"/>
                <a:cs typeface="ＭＳ Ｐゴシック" charset="0"/>
              </a:rPr>
              <a:t>CarryIn</a:t>
            </a:r>
            <a:r>
              <a:rPr lang="en-US" sz="2000" b="0" dirty="0">
                <a:latin typeface="Franklin Gothic Book" charset="0"/>
                <a:cs typeface="ＭＳ Ｐゴシック" charset="0"/>
              </a:rPr>
              <a:t> in the least significant bit to 1 </a:t>
            </a:r>
            <a:r>
              <a:rPr lang="en-US" sz="2000" b="0" dirty="0">
                <a:solidFill>
                  <a:srgbClr val="FF0000"/>
                </a:solidFill>
                <a:latin typeface="Franklin Gothic Book" charset="0"/>
                <a:cs typeface="ＭＳ Ｐゴシック" charset="0"/>
              </a:rPr>
              <a:t>for subtraction</a:t>
            </a:r>
          </a:p>
          <a:p>
            <a:pPr lvl="1">
              <a:spcBef>
                <a:spcPct val="20000"/>
              </a:spcBef>
              <a:buFontTx/>
              <a:buChar char="•"/>
              <a:defRPr/>
            </a:pPr>
            <a:endParaRPr lang="en-US" sz="2000" b="0" dirty="0">
              <a:latin typeface="Franklin Gothic Book" charset="0"/>
              <a:cs typeface="ＭＳ Ｐゴシック" charset="0"/>
            </a:endParaRPr>
          </a:p>
        </p:txBody>
      </p:sp>
      <p:sp>
        <p:nvSpPr>
          <p:cNvPr id="30724" name="Rectangle 2">
            <a:extLst>
              <a:ext uri="{FF2B5EF4-FFF2-40B4-BE49-F238E27FC236}">
                <a16:creationId xmlns:a16="http://schemas.microsoft.com/office/drawing/2014/main" id="{28B75B28-C694-0840-BDC1-F32D3895EB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381000"/>
            <a:ext cx="77724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ko-KR" sz="2800">
                <a:solidFill>
                  <a:schemeClr val="tx2"/>
                </a:solidFill>
                <a:latin typeface="Franklin Gothic Medium" panose="020B0603020102020204" pitchFamily="34" charset="0"/>
                <a:ea typeface="Gulim" panose="020B0600000101010101" pitchFamily="34" charset="-127"/>
              </a:rPr>
              <a:t>32-bit </a:t>
            </a:r>
            <a:r>
              <a:rPr lang="en-US" altLang="ko-KR" sz="2800">
                <a:latin typeface="Franklin Gothic Medium" panose="020B0603020102020204" pitchFamily="34" charset="0"/>
                <a:ea typeface="Gulim" panose="020B0600000101010101" pitchFamily="34" charset="-127"/>
              </a:rPr>
              <a:t>ALU</a:t>
            </a:r>
            <a:endParaRPr lang="en-US" altLang="en-US" sz="2800"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B99F1AA0-D7A7-614D-A478-B7AA575CBFFE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381000"/>
            <a:ext cx="5829300" cy="685800"/>
          </a:xfrm>
          <a:prstGeom prst="rect">
            <a:avLst/>
          </a:prstGeom>
        </p:spPr>
        <p:txBody>
          <a:bodyPr/>
          <a:lstStyle/>
          <a:p>
            <a:pPr algn="ctr" eaLnBrk="1" hangingPunct="1">
              <a:defRPr/>
            </a:pPr>
            <a:r>
              <a:rPr lang="en-US" sz="2800" u="sng" dirty="0">
                <a:effectLst>
                  <a:reflection blurRad="12700" stA="48000" endA="300" endPos="55000" dir="5400000" sy="-90000" algn="bl" rotWithShape="0"/>
                </a:effectLst>
                <a:latin typeface="+mj-lt"/>
                <a:ea typeface="+mj-ea"/>
                <a:cs typeface="Times New Roman" pitchFamily="18" charset="0"/>
              </a:rPr>
              <a:t>32-bit ALU</a:t>
            </a:r>
            <a:endParaRPr lang="en-US" sz="3200" dirty="0">
              <a:effectLst>
                <a:reflection blurRad="12700" stA="48000" endA="300" endPos="55000" dir="5400000" sy="-90000" algn="bl" rotWithShape="0"/>
              </a:effectLst>
              <a:latin typeface="+mj-lt"/>
              <a:ea typeface="+mj-ea"/>
              <a:cs typeface="+mj-cs"/>
            </a:endParaRPr>
          </a:p>
        </p:txBody>
      </p:sp>
      <p:pic>
        <p:nvPicPr>
          <p:cNvPr id="31746" name="Picture 3">
            <a:extLst>
              <a:ext uri="{FF2B5EF4-FFF2-40B4-BE49-F238E27FC236}">
                <a16:creationId xmlns:a16="http://schemas.microsoft.com/office/drawing/2014/main" id="{DBAC0ADE-CE2E-7B43-BD50-062517530B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8725" y="1444625"/>
            <a:ext cx="5353050" cy="470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47" name="Content Placeholder 2">
            <a:extLst>
              <a:ext uri="{FF2B5EF4-FFF2-40B4-BE49-F238E27FC236}">
                <a16:creationId xmlns:a16="http://schemas.microsoft.com/office/drawing/2014/main" id="{082648D7-473E-FE4C-A3D8-31DA1C566808}"/>
              </a:ext>
            </a:extLst>
          </p:cNvPr>
          <p:cNvSpPr txBox="1">
            <a:spLocks/>
          </p:cNvSpPr>
          <p:nvPr/>
        </p:nvSpPr>
        <p:spPr bwMode="auto">
          <a:xfrm>
            <a:off x="228600" y="1447800"/>
            <a:ext cx="35814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800100" indent="-3429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buFontTx/>
              <a:buChar char="•"/>
            </a:pPr>
            <a:r>
              <a:rPr lang="en-US" altLang="en-US" sz="2000" b="0">
                <a:solidFill>
                  <a:srgbClr val="FF0000"/>
                </a:solidFill>
                <a:latin typeface="Franklin Gothic Book" panose="020B0503020102020204" pitchFamily="34" charset="0"/>
              </a:rPr>
              <a:t>Comparison: a &lt; b ?</a:t>
            </a:r>
          </a:p>
          <a:p>
            <a:pPr>
              <a:spcBef>
                <a:spcPct val="20000"/>
              </a:spcBef>
              <a:buFontTx/>
              <a:buChar char="•"/>
            </a:pPr>
            <a:endParaRPr lang="en-US" altLang="en-US" sz="2000" b="0">
              <a:solidFill>
                <a:srgbClr val="FF0000"/>
              </a:solidFill>
              <a:latin typeface="Franklin Gothic Book" panose="020B0503020102020204" pitchFamily="34" charset="0"/>
            </a:endParaRPr>
          </a:p>
          <a:p>
            <a:pPr lvl="1">
              <a:spcBef>
                <a:spcPct val="20000"/>
              </a:spcBef>
              <a:buFontTx/>
              <a:buChar char="•"/>
            </a:pPr>
            <a:r>
              <a:rPr lang="en-US" altLang="en-US" sz="2000" b="0">
                <a:latin typeface="Franklin Gothic Book" panose="020B0503020102020204" pitchFamily="34" charset="0"/>
              </a:rPr>
              <a:t>if a &lt; b, then a-b &lt; 0 =&gt; Check for SIGN bit after subtraction</a:t>
            </a:r>
          </a:p>
          <a:p>
            <a:pPr lvl="1">
              <a:spcBef>
                <a:spcPct val="20000"/>
              </a:spcBef>
              <a:buFontTx/>
              <a:buChar char="•"/>
            </a:pPr>
            <a:endParaRPr lang="en-US" altLang="en-US" sz="2000" b="0">
              <a:latin typeface="Franklin Gothic Book" panose="020B0503020102020204" pitchFamily="34" charset="0"/>
            </a:endParaRPr>
          </a:p>
          <a:p>
            <a:pPr lvl="1">
              <a:spcBef>
                <a:spcPct val="20000"/>
              </a:spcBef>
              <a:buFontTx/>
              <a:buChar char="•"/>
            </a:pPr>
            <a:r>
              <a:rPr lang="en-US" altLang="en-US" sz="2000" b="0">
                <a:latin typeface="Franklin Gothic Book" panose="020B0503020102020204" pitchFamily="34" charset="0"/>
              </a:rPr>
              <a:t>However, the result of subtraction is not of interest</a:t>
            </a:r>
          </a:p>
          <a:p>
            <a:pPr lvl="1">
              <a:spcBef>
                <a:spcPct val="20000"/>
              </a:spcBef>
              <a:buFontTx/>
              <a:buChar char="•"/>
            </a:pPr>
            <a:endParaRPr lang="en-US" altLang="en-US" sz="2000" b="0">
              <a:latin typeface="Franklin Gothic Book" panose="020B0503020102020204" pitchFamily="34" charset="0"/>
            </a:endParaRPr>
          </a:p>
          <a:p>
            <a:pPr lvl="1">
              <a:spcBef>
                <a:spcPct val="20000"/>
              </a:spcBef>
              <a:buFontTx/>
              <a:buChar char="•"/>
            </a:pPr>
            <a:r>
              <a:rPr lang="en-US" altLang="en-US" sz="2000" b="0">
                <a:latin typeface="Franklin Gothic Book" panose="020B0503020102020204" pitchFamily="34" charset="0"/>
              </a:rPr>
              <a:t>Needs only the sign bit and rest of bits of 0</a:t>
            </a:r>
            <a:r>
              <a:rPr lang="ja-JP" altLang="en-US" sz="2000" b="0">
                <a:latin typeface="Franklin Gothic Book" panose="020B0503020102020204" pitchFamily="34" charset="0"/>
              </a:rPr>
              <a:t>’</a:t>
            </a:r>
            <a:r>
              <a:rPr lang="en-US" altLang="ja-JP" sz="2000" b="0">
                <a:latin typeface="Franklin Gothic Book" panose="020B0503020102020204" pitchFamily="34" charset="0"/>
              </a:rPr>
              <a:t>s</a:t>
            </a:r>
            <a:endParaRPr lang="en-US" altLang="en-US" sz="2000" b="0"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69" name="Picture 1">
            <a:extLst>
              <a:ext uri="{FF2B5EF4-FFF2-40B4-BE49-F238E27FC236}">
                <a16:creationId xmlns:a16="http://schemas.microsoft.com/office/drawing/2014/main" id="{2E06493D-CA4B-134A-8C96-563BB7DD15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590550"/>
            <a:ext cx="5407025" cy="626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3" name="Picture 2">
            <a:extLst>
              <a:ext uri="{FF2B5EF4-FFF2-40B4-BE49-F238E27FC236}">
                <a16:creationId xmlns:a16="http://schemas.microsoft.com/office/drawing/2014/main" id="{A7A22132-2660-ED46-9D72-143B961D70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7825" y="1222375"/>
            <a:ext cx="5105400" cy="5178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F6E8FADA-940B-F84F-94B7-88C31E6FEF1E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381000"/>
            <a:ext cx="5829300" cy="685800"/>
          </a:xfrm>
          <a:prstGeom prst="rect">
            <a:avLst/>
          </a:prstGeom>
        </p:spPr>
        <p:txBody>
          <a:bodyPr/>
          <a:lstStyle/>
          <a:p>
            <a:pPr algn="ctr" eaLnBrk="1" hangingPunct="1">
              <a:defRPr/>
            </a:pPr>
            <a:r>
              <a:rPr lang="en-US" sz="2800" u="sng" dirty="0">
                <a:effectLst>
                  <a:reflection blurRad="12700" stA="48000" endA="300" endPos="55000" dir="5400000" sy="-90000" algn="bl" rotWithShape="0"/>
                </a:effectLst>
                <a:latin typeface="+mj-lt"/>
                <a:ea typeface="+mj-ea"/>
                <a:cs typeface="Times New Roman" pitchFamily="18" charset="0"/>
              </a:rPr>
              <a:t>32-bit ALU (Full)</a:t>
            </a:r>
            <a:endParaRPr lang="en-US" sz="3200" dirty="0">
              <a:effectLst>
                <a:reflection blurRad="12700" stA="48000" endA="300" endPos="55000" dir="5400000" sy="-90000" algn="bl" rotWithShape="0"/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33795" name="Content Placeholder 2">
            <a:extLst>
              <a:ext uri="{FF2B5EF4-FFF2-40B4-BE49-F238E27FC236}">
                <a16:creationId xmlns:a16="http://schemas.microsoft.com/office/drawing/2014/main" id="{3C0D5D3A-B04C-394E-9561-B0E21937A3B8}"/>
              </a:ext>
            </a:extLst>
          </p:cNvPr>
          <p:cNvSpPr txBox="1">
            <a:spLocks/>
          </p:cNvSpPr>
          <p:nvPr/>
        </p:nvSpPr>
        <p:spPr bwMode="auto">
          <a:xfrm>
            <a:off x="762000" y="1219200"/>
            <a:ext cx="34290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800100" indent="-3429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257300" indent="-3429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buFontTx/>
              <a:buChar char="•"/>
            </a:pPr>
            <a:r>
              <a:rPr lang="en-US" altLang="en-US" sz="2000" b="0">
                <a:latin typeface="Franklin Gothic Book" panose="020B0503020102020204" pitchFamily="34" charset="0"/>
              </a:rPr>
              <a:t>Comparison: a = b (beq) ?</a:t>
            </a:r>
          </a:p>
          <a:p>
            <a:pPr lvl="1">
              <a:spcBef>
                <a:spcPct val="20000"/>
              </a:spcBef>
              <a:buFontTx/>
              <a:buChar char="•"/>
            </a:pPr>
            <a:r>
              <a:rPr lang="en-US" altLang="en-US" sz="2000" b="0">
                <a:latin typeface="Franklin Gothic Book" panose="020B0503020102020204" pitchFamily="34" charset="0"/>
              </a:rPr>
              <a:t>if a = b, then a-b = 0</a:t>
            </a:r>
          </a:p>
          <a:p>
            <a:pPr lvl="1">
              <a:spcBef>
                <a:spcPct val="20000"/>
              </a:spcBef>
              <a:buFontTx/>
              <a:buChar char="•"/>
            </a:pPr>
            <a:r>
              <a:rPr lang="en-US" altLang="en-US" sz="2000" b="0">
                <a:latin typeface="Franklin Gothic Book" panose="020B0503020102020204" pitchFamily="34" charset="0"/>
              </a:rPr>
              <a:t>we subtract b from a, then test for all 0</a:t>
            </a:r>
            <a:r>
              <a:rPr lang="ja-JP" altLang="en-US" sz="2000" b="0">
                <a:latin typeface="Franklin Gothic Book" panose="020B0503020102020204" pitchFamily="34" charset="0"/>
              </a:rPr>
              <a:t>’</a:t>
            </a:r>
            <a:r>
              <a:rPr lang="en-US" altLang="ja-JP" sz="2000" b="0">
                <a:latin typeface="Franklin Gothic Book" panose="020B0503020102020204" pitchFamily="34" charset="0"/>
              </a:rPr>
              <a:t>s</a:t>
            </a:r>
          </a:p>
          <a:p>
            <a:pPr lvl="1">
              <a:spcBef>
                <a:spcPct val="20000"/>
              </a:spcBef>
              <a:buFontTx/>
              <a:buChar char="•"/>
            </a:pPr>
            <a:r>
              <a:rPr lang="en-US" altLang="en-US" sz="2000" b="0">
                <a:latin typeface="Franklin Gothic Book" panose="020B0503020102020204" pitchFamily="34" charset="0"/>
              </a:rPr>
              <a:t>Need a zero detector</a:t>
            </a:r>
          </a:p>
          <a:p>
            <a:pPr lvl="2">
              <a:spcBef>
                <a:spcPct val="20000"/>
              </a:spcBef>
              <a:buFontTx/>
              <a:buChar char="•"/>
            </a:pPr>
            <a:r>
              <a:rPr lang="en-US" altLang="en-US" sz="2000" b="0">
                <a:latin typeface="Franklin Gothic Book" panose="020B0503020102020204" pitchFamily="34" charset="0"/>
              </a:rPr>
              <a:t>Zero = 1 if all result bits are 0</a:t>
            </a:r>
            <a:r>
              <a:rPr lang="ja-JP" altLang="en-US" sz="2000" b="0">
                <a:latin typeface="Franklin Gothic Book" panose="020B0503020102020204" pitchFamily="34" charset="0"/>
              </a:rPr>
              <a:t>’</a:t>
            </a:r>
            <a:r>
              <a:rPr lang="en-US" altLang="ja-JP" sz="2000" b="0">
                <a:latin typeface="Franklin Gothic Book" panose="020B0503020102020204" pitchFamily="34" charset="0"/>
              </a:rPr>
              <a:t>s (couter-intuitive)</a:t>
            </a:r>
          </a:p>
          <a:p>
            <a:pPr lvl="2">
              <a:spcBef>
                <a:spcPct val="20000"/>
              </a:spcBef>
              <a:buFontTx/>
              <a:buChar char="•"/>
            </a:pPr>
            <a:endParaRPr lang="en-US" altLang="en-US" sz="2000" b="0">
              <a:latin typeface="Franklin Gothic Book" panose="020B0503020102020204" pitchFamily="34" charset="0"/>
            </a:endParaRPr>
          </a:p>
          <a:p>
            <a:pPr lvl="2">
              <a:spcBef>
                <a:spcPct val="20000"/>
              </a:spcBef>
              <a:buFontTx/>
              <a:buChar char="•"/>
            </a:pPr>
            <a:endParaRPr lang="en-US" altLang="en-US" sz="2000" b="0">
              <a:latin typeface="Franklin Gothic Book" panose="020B0503020102020204" pitchFamily="34" charset="0"/>
            </a:endParaRPr>
          </a:p>
          <a:p>
            <a:pPr lvl="2">
              <a:spcBef>
                <a:spcPct val="20000"/>
              </a:spcBef>
              <a:buFontTx/>
              <a:buChar char="•"/>
            </a:pPr>
            <a:endParaRPr lang="en-US" altLang="en-US" sz="2000" b="0">
              <a:latin typeface="Franklin Gothic Book" panose="020B0503020102020204" pitchFamily="34" charset="0"/>
            </a:endParaRP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US" altLang="en-US" sz="2000" b="0">
                <a:latin typeface="Franklin Gothic Book" panose="020B0503020102020204" pitchFamily="34" charset="0"/>
              </a:rPr>
              <a:t>Subtraction:  Add (b</a:t>
            </a:r>
            <a:r>
              <a:rPr lang="ja-JP" altLang="en-US" sz="2000" b="0">
                <a:latin typeface="Franklin Gothic Book" panose="020B0503020102020204" pitchFamily="34" charset="0"/>
              </a:rPr>
              <a:t>’</a:t>
            </a:r>
            <a:r>
              <a:rPr lang="en-US" altLang="ja-JP" sz="2000" b="0">
                <a:latin typeface="Franklin Gothic Book" panose="020B0503020102020204" pitchFamily="34" charset="0"/>
              </a:rPr>
              <a:t> + 1)</a:t>
            </a:r>
          </a:p>
          <a:p>
            <a:pPr lvl="1">
              <a:spcBef>
                <a:spcPct val="20000"/>
              </a:spcBef>
              <a:buFontTx/>
              <a:buChar char="•"/>
            </a:pPr>
            <a:r>
              <a:rPr lang="en-US" altLang="en-US" sz="2000" b="0">
                <a:latin typeface="Franklin Gothic Book" panose="020B0503020102020204" pitchFamily="34" charset="0"/>
              </a:rPr>
              <a:t>Use Bnegate = Binvert + CarryIn</a:t>
            </a:r>
          </a:p>
          <a:p>
            <a:pPr>
              <a:spcBef>
                <a:spcPct val="20000"/>
              </a:spcBef>
              <a:buFontTx/>
              <a:buChar char="•"/>
            </a:pPr>
            <a:endParaRPr lang="en-US" altLang="en-US" sz="1800">
              <a:latin typeface="Times New Roman" panose="02020603050405020304" pitchFamily="18" charset="0"/>
            </a:endParaRPr>
          </a:p>
          <a:p>
            <a:pPr lvl="2">
              <a:spcBef>
                <a:spcPct val="20000"/>
              </a:spcBef>
              <a:buFontTx/>
              <a:buChar char="•"/>
            </a:pPr>
            <a:endParaRPr lang="en-US" altLang="en-US" sz="180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Breeze">
      <a:dk1>
        <a:sysClr val="windowText" lastClr="000000"/>
      </a:dk1>
      <a:lt1>
        <a:sysClr val="window" lastClr="FFFFFF"/>
      </a:lt1>
      <a:dk2>
        <a:srgbClr val="09213B"/>
      </a:dk2>
      <a:lt2>
        <a:srgbClr val="D5EDF4"/>
      </a:lt2>
      <a:accent1>
        <a:srgbClr val="2C7C9F"/>
      </a:accent1>
      <a:accent2>
        <a:srgbClr val="244A58"/>
      </a:accent2>
      <a:accent3>
        <a:srgbClr val="E2751D"/>
      </a:accent3>
      <a:accent4>
        <a:srgbClr val="FFB400"/>
      </a:accent4>
      <a:accent5>
        <a:srgbClr val="7EB606"/>
      </a:accent5>
      <a:accent6>
        <a:srgbClr val="C00000"/>
      </a:accent6>
      <a:hlink>
        <a:srgbClr val="7030A0"/>
      </a:hlink>
      <a:folHlink>
        <a:srgbClr val="00B0F0"/>
      </a:folHlink>
    </a:clrScheme>
    <a:fontScheme name="Breeze">
      <a:majorFont>
        <a:latin typeface="News Gothic MT"/>
        <a:ea typeface=""/>
        <a:cs typeface=""/>
        <a:font script="Jpan" typeface="ＭＳ Ｐゴシック"/>
        <a:font script="Hans" typeface="宋体"/>
        <a:font script="Hant" typeface="新細明體"/>
      </a:majorFont>
      <a:minorFont>
        <a:latin typeface="News Gothic MT"/>
        <a:ea typeface=""/>
        <a:cs typeface=""/>
        <a:font script="Jpan" typeface="ＭＳ Ｐゴシック"/>
        <a:font script="Hans" typeface="宋体"/>
        <a:font script="Hant" typeface="新細明體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Breeze.thmx</Template>
  <TotalTime>1213</TotalTime>
  <Words>754</Words>
  <Application>Microsoft Macintosh PowerPoint</Application>
  <PresentationFormat>On-screen Show (4:3)</PresentationFormat>
  <Paragraphs>283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31" baseType="lpstr">
      <vt:lpstr>Gulim</vt:lpstr>
      <vt:lpstr>ＭＳ Ｐゴシック</vt:lpstr>
      <vt:lpstr>Arial</vt:lpstr>
      <vt:lpstr>Arial Black</vt:lpstr>
      <vt:lpstr>Courier New</vt:lpstr>
      <vt:lpstr>Franklin Gothic Book</vt:lpstr>
      <vt:lpstr>Franklin Gothic Medium</vt:lpstr>
      <vt:lpstr>News Gothic MT</vt:lpstr>
      <vt:lpstr>Symbol</vt:lpstr>
      <vt:lpstr>Times</vt:lpstr>
      <vt:lpstr>Times New Roman</vt:lpstr>
      <vt:lpstr>Wingdings 2</vt:lpstr>
      <vt:lpstr>Breeze</vt:lpstr>
      <vt:lpstr>4.2 Logic Gates</vt:lpstr>
      <vt:lpstr>Combinational Circuits</vt:lpstr>
      <vt:lpstr>PowerPoint Presentation</vt:lpstr>
      <vt:lpstr>PowerPoint Presentation</vt:lpstr>
      <vt:lpstr>Bit Equality</vt:lpstr>
      <vt:lpstr>Word Equality</vt:lpstr>
      <vt:lpstr>Bit-Level Multiplexor</vt:lpstr>
      <vt:lpstr>Word Multiplexor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Georgia Tech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CS1315: Introduction to Media Computation</dc:title>
  <dc:creator>Mark Guzdial</dc:creator>
  <cp:lastModifiedBy>Ryan Balachandran</cp:lastModifiedBy>
  <cp:revision>135</cp:revision>
  <dcterms:created xsi:type="dcterms:W3CDTF">2004-01-20T22:43:44Z</dcterms:created>
  <dcterms:modified xsi:type="dcterms:W3CDTF">2019-11-13T17:33:04Z</dcterms:modified>
</cp:coreProperties>
</file>