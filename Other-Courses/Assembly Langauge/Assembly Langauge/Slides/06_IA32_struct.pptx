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936" r:id="rId1"/>
  </p:sldMasterIdLst>
  <p:notesMasterIdLst>
    <p:notesMasterId r:id="rId48"/>
  </p:notesMasterIdLst>
  <p:handoutMasterIdLst>
    <p:handoutMasterId r:id="rId49"/>
  </p:handoutMasterIdLst>
  <p:sldIdLst>
    <p:sldId id="495" r:id="rId2"/>
    <p:sldId id="496" r:id="rId3"/>
    <p:sldId id="497" r:id="rId4"/>
    <p:sldId id="498" r:id="rId5"/>
    <p:sldId id="540" r:id="rId6"/>
    <p:sldId id="499" r:id="rId7"/>
    <p:sldId id="500" r:id="rId8"/>
    <p:sldId id="501" r:id="rId9"/>
    <p:sldId id="502" r:id="rId10"/>
    <p:sldId id="503" r:id="rId11"/>
    <p:sldId id="504" r:id="rId12"/>
    <p:sldId id="505" r:id="rId13"/>
    <p:sldId id="506" r:id="rId14"/>
    <p:sldId id="507" r:id="rId15"/>
    <p:sldId id="508" r:id="rId16"/>
    <p:sldId id="509" r:id="rId17"/>
    <p:sldId id="510" r:id="rId18"/>
    <p:sldId id="511" r:id="rId19"/>
    <p:sldId id="512" r:id="rId20"/>
    <p:sldId id="513" r:id="rId21"/>
    <p:sldId id="514" r:id="rId22"/>
    <p:sldId id="515" r:id="rId23"/>
    <p:sldId id="516" r:id="rId24"/>
    <p:sldId id="517" r:id="rId25"/>
    <p:sldId id="518" r:id="rId26"/>
    <p:sldId id="519" r:id="rId27"/>
    <p:sldId id="520" r:id="rId28"/>
    <p:sldId id="521" r:id="rId29"/>
    <p:sldId id="522" r:id="rId30"/>
    <p:sldId id="523" r:id="rId31"/>
    <p:sldId id="524" r:id="rId32"/>
    <p:sldId id="525" r:id="rId33"/>
    <p:sldId id="526" r:id="rId34"/>
    <p:sldId id="527" r:id="rId35"/>
    <p:sldId id="528" r:id="rId36"/>
    <p:sldId id="529" r:id="rId37"/>
    <p:sldId id="530" r:id="rId38"/>
    <p:sldId id="531" r:id="rId39"/>
    <p:sldId id="532" r:id="rId40"/>
    <p:sldId id="533" r:id="rId41"/>
    <p:sldId id="534" r:id="rId42"/>
    <p:sldId id="535" r:id="rId43"/>
    <p:sldId id="536" r:id="rId44"/>
    <p:sldId id="537" r:id="rId45"/>
    <p:sldId id="538" r:id="rId46"/>
    <p:sldId id="539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89806C-120A-144A-BA7A-3CBF9C3DE8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F6B7D-287C-F94F-B4EB-CB598AC1A8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fld id="{7FF19421-925C-F143-9956-C39BBCDE858D}" type="datetimeFigureOut">
              <a:rPr lang="en-US" altLang="en-US"/>
              <a:pPr/>
              <a:t>11/6/19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E75E2-3AAF-CC45-8A81-B9F81CF168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CD3AB-3D5B-D04E-A78B-B7BB277054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fld id="{E74178D9-EE74-7145-AC9B-8853B3810F7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B75B73-9AFB-584E-B07B-42CACD815D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AECF72D-E943-1A4E-9C53-66ED50C876F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60283A41-A369-AE4E-AE87-2F8A16D3EB1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100759DD-9BF5-B741-AB76-5578B9608D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44D15F09-B57F-7743-9611-13E30D5485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2E82EFB3-7E49-5B46-B55D-6CAFD4B321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605824-3F84-4A4E-A532-32415375448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4071C5-E6A7-1547-A2B9-2A3531EA31AD}"/>
              </a:ext>
            </a:extLst>
          </p:cNvPr>
          <p:cNvSpPr/>
          <p:nvPr/>
        </p:nvSpPr>
        <p:spPr>
          <a:xfrm>
            <a:off x="1328738" y="1295400"/>
            <a:ext cx="6486525" cy="315277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3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8BA2FF-95DE-5944-B271-3E2BD472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D72B28-F9F8-EC40-92D9-AD13679B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31E608-047E-4043-A893-3CF1C479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289F63-916D-5740-B559-42693D1A01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623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9BD4B-BADB-7849-BDE9-0BEC8A47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F9407-351C-8342-99E8-F3BB6089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51107-C39C-9043-8647-EB4B7F2D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B0C57-7263-F54E-803A-FEDA2727DF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27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3609AC-221B-4A49-8267-CFBDB30C71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BE663A-E03F-714B-BD08-0E717E9A4D6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E16B6F-8B8E-8F4D-8155-402AB91DF1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D45F154-3DCF-6D43-AF2F-39A8E4FAF9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58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16173-5B67-AB47-AE74-43701299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DE5AB-EE0F-A34F-A417-A42B055E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9B23-3323-6446-A316-78E156B6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1A80C8-949C-FB4B-8309-1E781059E1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40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AACC6FF-8CFE-954B-843F-E9ECF386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971012-59E3-6344-848F-F1F01435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509CAD-13E6-D540-B14C-6565DA82E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E4182-132A-CE44-9E08-957755D03A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98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74DDED4-C188-4243-AA07-8912F777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3A27B6D-1BE3-6144-BA68-0D00A052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706B15-15B2-844D-908D-B9E9DA0F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DB13-58E4-494F-89F9-4105240132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81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15C06D0-F1A1-9441-8798-D3B4AFDF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83A8DF5-DBDA-1C41-BBAF-9D15A42F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9755DD-90F1-6E4A-B53D-66B30F68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5B655-7846-C341-B880-DEB2B5BDF4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02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79B9294-C543-4B41-BF2D-0E6839DC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0CF4776-6676-CE4D-8906-FB3A9313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10A5F3-4E9D-AD4A-9096-224BF2FB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D2C943-99CB-4A49-ACC3-60757FF1EB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29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C2C6105-7321-C341-9B37-FF55F518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D3C1261-9BE0-8642-A6EB-133184E6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E14A04-D041-2046-A725-2E92E85C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F6E6A-15BC-5A49-B059-C0B590B543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99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3DD3523-9D36-5844-931D-13CC2FCD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AC9E4F-210E-BA40-B677-A04848D2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95D92C2-FE47-C44D-9F52-1120834E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568E20-3EE6-3F4D-8C34-79EA09D882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805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E2952-04ED-754D-B445-62BD33BD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24B27-119C-D547-974F-0AC19936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57E68-A8D7-D04D-9232-5853C225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806D-B47B-3340-9302-B1F28DB4CA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592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938A-F475-304F-BB51-74FD951D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36B6A-C79E-F745-89A4-07334CC0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109C4-CC56-994D-BD86-7BE9824B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5FB12-CEB4-4741-94A5-A5B93F71A1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63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CAE4E24-8D31-3043-B69F-AE6188F685E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BB2BC0-1540-FE4A-AD93-80225E7686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9CB7B-A446-5544-8C9F-4BB6E25AC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29275" y="62753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D9143-494C-AE4D-AEF0-DBDF0790F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113" y="6275388"/>
            <a:ext cx="48402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FFC28-BAD6-924C-936E-4C85C2A6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7813" y="6275388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96B49FF6-BA66-9B46-8E95-211AEEA2A5E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23" r:id="rId2"/>
    <p:sldLayoutId id="2147484224" r:id="rId3"/>
    <p:sldLayoutId id="2147484225" r:id="rId4"/>
    <p:sldLayoutId id="2147484226" r:id="rId5"/>
    <p:sldLayoutId id="2147484227" r:id="rId6"/>
    <p:sldLayoutId id="2147484228" r:id="rId7"/>
    <p:sldLayoutId id="2147484229" r:id="rId8"/>
    <p:sldLayoutId id="2147484230" r:id="rId9"/>
    <p:sldLayoutId id="2147484231" r:id="rId10"/>
    <p:sldLayoutId id="2147484232" r:id="rId11"/>
    <p:sldLayoutId id="214748423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400" kern="1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sz="2200" kern="1200">
          <a:solidFill>
            <a:srgbClr val="595959"/>
          </a:solidFill>
          <a:latin typeface="+mn-lt"/>
          <a:ea typeface="ＭＳ Ｐゴシック" charset="0"/>
          <a:cs typeface="+mn-cs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000" kern="1200">
          <a:solidFill>
            <a:srgbClr val="595959"/>
          </a:solidFill>
          <a:latin typeface="+mn-lt"/>
          <a:ea typeface="ＭＳ Ｐゴシック" charset="0"/>
          <a:cs typeface="+mn-cs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45B0EB0-4F89-6C46-B004-E1F779221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1524000"/>
            <a:ext cx="7391400" cy="1466850"/>
          </a:xfrm>
          <a:noFill/>
        </p:spPr>
        <p:txBody>
          <a:bodyPr lIns="63500" tIns="25400" rIns="63500" bIns="25400" anchor="t">
            <a:spAutoFit/>
          </a:bodyPr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Storage of Data Structures</a:t>
            </a:r>
            <a:b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</a:br>
            <a:endParaRPr lang="en-US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EFC232-FCE7-3041-804C-2387FF923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352800"/>
            <a:ext cx="6477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Topics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Arrays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 err="1">
                <a:latin typeface="+mn-lt"/>
                <a:ea typeface="+mn-ea"/>
                <a:cs typeface="ＭＳ Ｐゴシック" charset="0"/>
              </a:rPr>
              <a:t>Structs</a:t>
            </a:r>
            <a:endParaRPr lang="en-US" b="0" dirty="0">
              <a:latin typeface="+mn-lt"/>
              <a:ea typeface="+mn-ea"/>
              <a:cs typeface="ＭＳ Ｐゴシック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Unions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endParaRPr lang="en-US" b="0" dirty="0">
              <a:latin typeface="+mn-lt"/>
              <a:ea typeface="+mn-ea"/>
              <a:cs typeface="ＭＳ Ｐゴシック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579104AA-EFE6-8146-B9AA-6FF27A08A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20700"/>
            <a:ext cx="6167438" cy="573088"/>
          </a:xfrm>
          <a:noFill/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3.8. Basic Data Types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7DC06E67-5FA9-8C4D-9752-5E95FCC13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5400"/>
            <a:ext cx="8307388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 defTabSz="895350"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839788" indent="-165100" defTabSz="895350"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2400300" algn="l"/>
                <a:tab pos="3429000" algn="l"/>
                <a:tab pos="4521200" algn="l"/>
                <a:tab pos="6578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Integral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Stored &amp; operated on in general registers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Signed vs. unsigned depends on instructions used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Intel	GAS	Bytes	C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byte	</a:t>
            </a:r>
            <a:r>
              <a:rPr lang="en-US" altLang="en-US" sz="2000" b="0">
                <a:latin typeface="Courier New" panose="02070309020205020404" pitchFamily="49" charset="0"/>
              </a:rPr>
              <a:t>b</a:t>
            </a:r>
            <a:r>
              <a:rPr lang="en-US" altLang="en-US" sz="2000" b="0">
                <a:latin typeface="Calibri" panose="020F0502020204030204" pitchFamily="34" charset="0"/>
              </a:rPr>
              <a:t>	1	[</a:t>
            </a:r>
            <a:r>
              <a:rPr lang="en-US" altLang="en-US" sz="2000" b="0">
                <a:latin typeface="Courier New" panose="02070309020205020404" pitchFamily="49" charset="0"/>
              </a:rPr>
              <a:t>unsigned</a:t>
            </a:r>
            <a:r>
              <a:rPr lang="en-US" altLang="en-US" sz="2000" b="0">
                <a:latin typeface="Calibri" panose="020F0502020204030204" pitchFamily="34" charset="0"/>
              </a:rPr>
              <a:t>]</a:t>
            </a:r>
            <a:r>
              <a:rPr lang="en-US" altLang="en-US" sz="2000" b="0">
                <a:latin typeface="Courier New" panose="02070309020205020404" pitchFamily="49" charset="0"/>
              </a:rPr>
              <a:t> char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word	</a:t>
            </a:r>
            <a:r>
              <a:rPr lang="en-US" altLang="en-US" sz="2000" b="0">
                <a:latin typeface="Courier New" panose="02070309020205020404" pitchFamily="49" charset="0"/>
              </a:rPr>
              <a:t>w</a:t>
            </a:r>
            <a:r>
              <a:rPr lang="en-US" altLang="en-US" sz="2000" b="0">
                <a:latin typeface="Calibri" panose="020F0502020204030204" pitchFamily="34" charset="0"/>
              </a:rPr>
              <a:t>	2	[</a:t>
            </a:r>
            <a:r>
              <a:rPr lang="en-US" altLang="en-US" sz="2000" b="0">
                <a:latin typeface="Courier New" panose="02070309020205020404" pitchFamily="49" charset="0"/>
              </a:rPr>
              <a:t>unsigned</a:t>
            </a:r>
            <a:r>
              <a:rPr lang="en-US" altLang="en-US" sz="2000" b="0">
                <a:latin typeface="Calibri" panose="020F0502020204030204" pitchFamily="34" charset="0"/>
              </a:rPr>
              <a:t>]</a:t>
            </a:r>
            <a:r>
              <a:rPr lang="en-US" altLang="en-US" sz="2000" b="0">
                <a:latin typeface="Courier New" panose="02070309020205020404" pitchFamily="49" charset="0"/>
              </a:rPr>
              <a:t> short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double word	</a:t>
            </a:r>
            <a:r>
              <a:rPr lang="en-US" altLang="en-US" sz="2000" b="0">
                <a:latin typeface="Courier New" panose="02070309020205020404" pitchFamily="49" charset="0"/>
              </a:rPr>
              <a:t>l</a:t>
            </a:r>
            <a:r>
              <a:rPr lang="en-US" altLang="en-US" sz="2000" b="0">
                <a:latin typeface="Calibri" panose="020F0502020204030204" pitchFamily="34" charset="0"/>
              </a:rPr>
              <a:t>	4	[</a:t>
            </a:r>
            <a:r>
              <a:rPr lang="en-US" altLang="en-US" sz="2000" b="0">
                <a:latin typeface="Courier New" panose="02070309020205020404" pitchFamily="49" charset="0"/>
              </a:rPr>
              <a:t>unsigned</a:t>
            </a:r>
            <a:r>
              <a:rPr lang="en-US" altLang="en-US" sz="2000" b="0">
                <a:latin typeface="Calibri" panose="020F0502020204030204" pitchFamily="34" charset="0"/>
              </a:rPr>
              <a:t>]</a:t>
            </a:r>
            <a:r>
              <a:rPr lang="en-US" altLang="en-US" sz="2000" b="0">
                <a:latin typeface="Courier New" panose="02070309020205020404" pitchFamily="49" charset="0"/>
              </a:rPr>
              <a:t> int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Floating Point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Stored &amp; operated on in floating point registers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Intel	GAS	Bytes	C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Single	</a:t>
            </a:r>
            <a:r>
              <a:rPr lang="en-US" altLang="en-US" sz="2000" b="0">
                <a:latin typeface="Courier New" panose="02070309020205020404" pitchFamily="49" charset="0"/>
              </a:rPr>
              <a:t>s</a:t>
            </a:r>
            <a:r>
              <a:rPr lang="en-US" altLang="en-US" sz="2000" b="0">
                <a:latin typeface="Calibri" panose="020F0502020204030204" pitchFamily="34" charset="0"/>
              </a:rPr>
              <a:t>	4	</a:t>
            </a:r>
            <a:r>
              <a:rPr lang="en-US" altLang="en-US" sz="2000" b="0">
                <a:latin typeface="Courier New" panose="02070309020205020404" pitchFamily="49" charset="0"/>
              </a:rPr>
              <a:t>float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Double	</a:t>
            </a:r>
            <a:r>
              <a:rPr lang="en-US" altLang="en-US" sz="2000" b="0">
                <a:latin typeface="Courier New" panose="02070309020205020404" pitchFamily="49" charset="0"/>
              </a:rPr>
              <a:t>l</a:t>
            </a:r>
            <a:r>
              <a:rPr lang="en-US" altLang="en-US" sz="2000" b="0">
                <a:latin typeface="Calibri" panose="020F0502020204030204" pitchFamily="34" charset="0"/>
              </a:rPr>
              <a:t>	8	</a:t>
            </a:r>
            <a:r>
              <a:rPr lang="en-US" altLang="en-US" sz="2000" b="0">
                <a:latin typeface="Courier New" panose="02070309020205020404" pitchFamily="49" charset="0"/>
              </a:rPr>
              <a:t>double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Extended	</a:t>
            </a:r>
            <a:r>
              <a:rPr lang="en-US" altLang="en-US" sz="2000" b="0">
                <a:latin typeface="Courier New" panose="02070309020205020404" pitchFamily="49" charset="0"/>
              </a:rPr>
              <a:t>t</a:t>
            </a:r>
            <a:r>
              <a:rPr lang="en-US" altLang="en-US" sz="2000" b="0">
                <a:latin typeface="Calibri" panose="020F0502020204030204" pitchFamily="34" charset="0"/>
              </a:rPr>
              <a:t>	10/12	</a:t>
            </a:r>
            <a:r>
              <a:rPr lang="en-US" altLang="en-US" sz="2000" b="0">
                <a:latin typeface="Courier New" panose="02070309020205020404" pitchFamily="49" charset="0"/>
              </a:rPr>
              <a:t>long double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1FA4CCB-3751-E844-9BB4-32CEF4765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943600" cy="573088"/>
          </a:xfrm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Array Allocation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474D8D6D-F96A-A44C-AFB9-167493F9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838200"/>
            <a:ext cx="8307387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Basic Principle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r>
              <a:rPr lang="en-US" altLang="en-US" sz="2000" b="0">
                <a:latin typeface="Calibri" panose="020F0502020204030204" pitchFamily="34" charset="0"/>
              </a:rPr>
              <a:t>  </a:t>
            </a:r>
            <a:r>
              <a:rPr lang="en-US" altLang="en-US" sz="2000" b="0">
                <a:latin typeface="Courier New" panose="02070309020205020404" pitchFamily="49" charset="0"/>
              </a:rPr>
              <a:t>A[</a:t>
            </a:r>
            <a:r>
              <a:rPr lang="en-US" altLang="en-US" sz="2000" b="0" i="1">
                <a:latin typeface="Calibri" panose="020F0502020204030204" pitchFamily="34" charset="0"/>
              </a:rPr>
              <a:t>L</a:t>
            </a:r>
            <a:r>
              <a:rPr lang="en-US" altLang="en-US" sz="2000" b="0">
                <a:latin typeface="Courier New" panose="02070309020205020404" pitchFamily="49" charset="0"/>
              </a:rPr>
              <a:t>];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Array of data type 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r>
              <a:rPr lang="en-US" altLang="en-US" sz="2000" b="0">
                <a:latin typeface="Calibri" panose="020F0502020204030204" pitchFamily="34" charset="0"/>
              </a:rPr>
              <a:t> and length </a:t>
            </a:r>
            <a:r>
              <a:rPr lang="en-US" altLang="en-US" sz="2000" b="0" i="1">
                <a:latin typeface="Calibri" panose="020F0502020204030204" pitchFamily="34" charset="0"/>
              </a:rPr>
              <a:t>L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Contiguously allocated region of </a:t>
            </a:r>
            <a:r>
              <a:rPr lang="en-US" altLang="en-US" sz="2000" b="0" i="1">
                <a:latin typeface="Calibri" panose="020F0502020204030204" pitchFamily="34" charset="0"/>
              </a:rPr>
              <a:t>L</a:t>
            </a:r>
            <a:r>
              <a:rPr lang="en-US" altLang="en-US" sz="2000" b="0">
                <a:latin typeface="Calibri" panose="020F0502020204030204" pitchFamily="34" charset="0"/>
              </a:rPr>
              <a:t> * </a:t>
            </a:r>
            <a:r>
              <a:rPr lang="en-US" altLang="en-US" sz="2000" b="0">
                <a:latin typeface="Courier New" panose="02070309020205020404" pitchFamily="49" charset="0"/>
              </a:rPr>
              <a:t>sizeof(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r>
              <a:rPr lang="en-US" altLang="en-US" sz="2000" b="0">
                <a:latin typeface="Courier New" panose="02070309020205020404" pitchFamily="49" charset="0"/>
              </a:rPr>
              <a:t>)</a:t>
            </a:r>
            <a:r>
              <a:rPr lang="en-US" altLang="en-US" sz="2000" b="0">
                <a:latin typeface="Calibri" panose="020F0502020204030204" pitchFamily="34" charset="0"/>
              </a:rPr>
              <a:t> bytes</a:t>
            </a:r>
          </a:p>
        </p:txBody>
      </p:sp>
      <p:grpSp>
        <p:nvGrpSpPr>
          <p:cNvPr id="18435" name="Group 4">
            <a:extLst>
              <a:ext uri="{FF2B5EF4-FFF2-40B4-BE49-F238E27FC236}">
                <a16:creationId xmlns:a16="http://schemas.microsoft.com/office/drawing/2014/main" id="{9C667831-67D5-DA40-9232-A786B88E61EA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2590800"/>
            <a:ext cx="6375400" cy="781050"/>
            <a:chOff x="256" y="1632"/>
            <a:chExt cx="4016" cy="492"/>
          </a:xfrm>
        </p:grpSpPr>
        <p:sp>
          <p:nvSpPr>
            <p:cNvPr id="18486" name="Text Box 5">
              <a:extLst>
                <a:ext uri="{FF2B5EF4-FFF2-40B4-BE49-F238E27FC236}">
                  <a16:creationId xmlns:a16="http://schemas.microsoft.com/office/drawing/2014/main" id="{CE9349AE-2130-D346-80DA-291369BFF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" y="1632"/>
              <a:ext cx="16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2000">
                  <a:latin typeface="Courier New" panose="02070309020205020404" pitchFamily="49" charset="0"/>
                </a:rPr>
                <a:t>char string[12];</a:t>
              </a:r>
            </a:p>
          </p:txBody>
        </p:sp>
        <p:grpSp>
          <p:nvGrpSpPr>
            <p:cNvPr id="18487" name="Group 6">
              <a:extLst>
                <a:ext uri="{FF2B5EF4-FFF2-40B4-BE49-F238E27FC236}">
                  <a16:creationId xmlns:a16="http://schemas.microsoft.com/office/drawing/2014/main" id="{02B853E5-9289-8C4F-8E0C-7128CF4E3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680"/>
              <a:ext cx="2352" cy="444"/>
              <a:chOff x="1920" y="1680"/>
              <a:chExt cx="2352" cy="444"/>
            </a:xfrm>
          </p:grpSpPr>
          <p:grpSp>
            <p:nvGrpSpPr>
              <p:cNvPr id="18488" name="Group 7">
                <a:extLst>
                  <a:ext uri="{FF2B5EF4-FFF2-40B4-BE49-F238E27FC236}">
                    <a16:creationId xmlns:a16="http://schemas.microsoft.com/office/drawing/2014/main" id="{C3CB452C-D93A-C543-9F59-A79E55687B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1680"/>
                <a:ext cx="1728" cy="144"/>
                <a:chOff x="1008" y="1776"/>
                <a:chExt cx="1728" cy="144"/>
              </a:xfrm>
            </p:grpSpPr>
            <p:sp>
              <p:nvSpPr>
                <p:cNvPr id="18493" name="Rectangle 8">
                  <a:extLst>
                    <a:ext uri="{FF2B5EF4-FFF2-40B4-BE49-F238E27FC236}">
                      <a16:creationId xmlns:a16="http://schemas.microsoft.com/office/drawing/2014/main" id="{38354425-0266-3646-A2AD-F5C55E3112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94" name="Rectangle 9">
                  <a:extLst>
                    <a:ext uri="{FF2B5EF4-FFF2-40B4-BE49-F238E27FC236}">
                      <a16:creationId xmlns:a16="http://schemas.microsoft.com/office/drawing/2014/main" id="{8B1D307A-46D0-894E-A5D7-60AB081799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95" name="Rectangle 10">
                  <a:extLst>
                    <a:ext uri="{FF2B5EF4-FFF2-40B4-BE49-F238E27FC236}">
                      <a16:creationId xmlns:a16="http://schemas.microsoft.com/office/drawing/2014/main" id="{A3152FA8-72A5-5D44-825F-4BEC588054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96" name="Rectangle 11">
                  <a:extLst>
                    <a:ext uri="{FF2B5EF4-FFF2-40B4-BE49-F238E27FC236}">
                      <a16:creationId xmlns:a16="http://schemas.microsoft.com/office/drawing/2014/main" id="{13DF3357-3E82-A847-A9B5-BB3C92CA5F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97" name="Rectangle 12">
                  <a:extLst>
                    <a:ext uri="{FF2B5EF4-FFF2-40B4-BE49-F238E27FC236}">
                      <a16:creationId xmlns:a16="http://schemas.microsoft.com/office/drawing/2014/main" id="{77EA92F4-0EDF-B743-A453-51EDBC7BBC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98" name="Rectangle 13">
                  <a:extLst>
                    <a:ext uri="{FF2B5EF4-FFF2-40B4-BE49-F238E27FC236}">
                      <a16:creationId xmlns:a16="http://schemas.microsoft.com/office/drawing/2014/main" id="{E8E7992C-3E4E-E04B-8AB0-1393A68FFA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99" name="Rectangle 14">
                  <a:extLst>
                    <a:ext uri="{FF2B5EF4-FFF2-40B4-BE49-F238E27FC236}">
                      <a16:creationId xmlns:a16="http://schemas.microsoft.com/office/drawing/2014/main" id="{07B1215A-F20E-8040-8E77-1F63A80F8A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500" name="Rectangle 15">
                  <a:extLst>
                    <a:ext uri="{FF2B5EF4-FFF2-40B4-BE49-F238E27FC236}">
                      <a16:creationId xmlns:a16="http://schemas.microsoft.com/office/drawing/2014/main" id="{F02B872B-2898-454F-8BFB-02F2ADB8A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501" name="Rectangle 16">
                  <a:extLst>
                    <a:ext uri="{FF2B5EF4-FFF2-40B4-BE49-F238E27FC236}">
                      <a16:creationId xmlns:a16="http://schemas.microsoft.com/office/drawing/2014/main" id="{5C4A2F1F-05AE-654B-8A40-558B6B37A2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502" name="Rectangle 17">
                  <a:extLst>
                    <a:ext uri="{FF2B5EF4-FFF2-40B4-BE49-F238E27FC236}">
                      <a16:creationId xmlns:a16="http://schemas.microsoft.com/office/drawing/2014/main" id="{5E8DFDAC-6EC3-4E40-A145-0DC175D3E8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503" name="Rectangle 18">
                  <a:extLst>
                    <a:ext uri="{FF2B5EF4-FFF2-40B4-BE49-F238E27FC236}">
                      <a16:creationId xmlns:a16="http://schemas.microsoft.com/office/drawing/2014/main" id="{2634B6C0-3A17-194B-B912-DDB5CBC6BB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504" name="Rectangle 19">
                  <a:extLst>
                    <a:ext uri="{FF2B5EF4-FFF2-40B4-BE49-F238E27FC236}">
                      <a16:creationId xmlns:a16="http://schemas.microsoft.com/office/drawing/2014/main" id="{FBD98965-3099-2940-A52D-F553EFAE63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177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8489" name="Text Box 20">
                <a:extLst>
                  <a:ext uri="{FF2B5EF4-FFF2-40B4-BE49-F238E27FC236}">
                    <a16:creationId xmlns:a16="http://schemas.microsoft.com/office/drawing/2014/main" id="{9F6E6BCB-4BB2-B047-93CB-AFFE53083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1872"/>
                <a:ext cx="25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i="1">
                    <a:latin typeface="Helvetica" pitchFamily="2" charset="0"/>
                  </a:rPr>
                  <a:t>x</a:t>
                </a:r>
              </a:p>
            </p:txBody>
          </p:sp>
          <p:sp>
            <p:nvSpPr>
              <p:cNvPr id="18490" name="Text Box 21">
                <a:extLst>
                  <a:ext uri="{FF2B5EF4-FFF2-40B4-BE49-F238E27FC236}">
                    <a16:creationId xmlns:a16="http://schemas.microsoft.com/office/drawing/2014/main" id="{D950C513-7624-A440-823A-8568EEB0A6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1872"/>
                <a:ext cx="6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i="1">
                    <a:latin typeface="Helvetica" pitchFamily="2" charset="0"/>
                  </a:rPr>
                  <a:t>x </a:t>
                </a:r>
                <a:r>
                  <a:rPr lang="en-US" altLang="en-US" sz="2000" b="0">
                    <a:latin typeface="Helvetica" pitchFamily="2" charset="0"/>
                  </a:rPr>
                  <a:t>+ 12</a:t>
                </a:r>
                <a:endParaRPr lang="en-US" altLang="en-US" sz="2000" b="0" i="1">
                  <a:latin typeface="Helvetica" pitchFamily="2" charset="0"/>
                </a:endParaRPr>
              </a:p>
            </p:txBody>
          </p:sp>
          <p:sp>
            <p:nvSpPr>
              <p:cNvPr id="18491" name="Line 22">
                <a:extLst>
                  <a:ext uri="{FF2B5EF4-FFF2-40B4-BE49-F238E27FC236}">
                    <a16:creationId xmlns:a16="http://schemas.microsoft.com/office/drawing/2014/main" id="{65AB60F2-BBD5-334F-8EBA-C0AE94593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1824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2" name="Line 23">
                <a:extLst>
                  <a:ext uri="{FF2B5EF4-FFF2-40B4-BE49-F238E27FC236}">
                    <a16:creationId xmlns:a16="http://schemas.microsoft.com/office/drawing/2014/main" id="{3896A082-4408-4743-8046-7F7CC006A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2" y="1824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8436" name="Group 24">
            <a:extLst>
              <a:ext uri="{FF2B5EF4-FFF2-40B4-BE49-F238E27FC236}">
                <a16:creationId xmlns:a16="http://schemas.microsoft.com/office/drawing/2014/main" id="{84A0ED06-96DE-AD4C-A8C5-93ADEB3CE41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352800"/>
            <a:ext cx="7431088" cy="871538"/>
            <a:chOff x="743" y="2352"/>
            <a:chExt cx="4681" cy="549"/>
          </a:xfrm>
        </p:grpSpPr>
        <p:grpSp>
          <p:nvGrpSpPr>
            <p:cNvPr id="18467" name="Group 25">
              <a:extLst>
                <a:ext uri="{FF2B5EF4-FFF2-40B4-BE49-F238E27FC236}">
                  <a16:creationId xmlns:a16="http://schemas.microsoft.com/office/drawing/2014/main" id="{ACDB91DC-8B6C-2743-8FF2-30B80D2BE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2400"/>
              <a:ext cx="2880" cy="144"/>
              <a:chOff x="1008" y="1968"/>
              <a:chExt cx="2880" cy="144"/>
            </a:xfrm>
          </p:grpSpPr>
          <p:sp>
            <p:nvSpPr>
              <p:cNvPr id="18481" name="Rectangle 26">
                <a:extLst>
                  <a:ext uri="{FF2B5EF4-FFF2-40B4-BE49-F238E27FC236}">
                    <a16:creationId xmlns:a16="http://schemas.microsoft.com/office/drawing/2014/main" id="{585D8D33-E362-C24C-A78D-1D651EF3D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82" name="Rectangle 27">
                <a:extLst>
                  <a:ext uri="{FF2B5EF4-FFF2-40B4-BE49-F238E27FC236}">
                    <a16:creationId xmlns:a16="http://schemas.microsoft.com/office/drawing/2014/main" id="{734AA5BA-BDFD-BB4D-B27B-F0CCC6DB0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83" name="Rectangle 28">
                <a:extLst>
                  <a:ext uri="{FF2B5EF4-FFF2-40B4-BE49-F238E27FC236}">
                    <a16:creationId xmlns:a16="http://schemas.microsoft.com/office/drawing/2014/main" id="{0F43AC26-17A9-4549-A0A0-9F81E75C8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84" name="Rectangle 29">
                <a:extLst>
                  <a:ext uri="{FF2B5EF4-FFF2-40B4-BE49-F238E27FC236}">
                    <a16:creationId xmlns:a16="http://schemas.microsoft.com/office/drawing/2014/main" id="{5E522093-7BE8-0C4A-88E0-61457C4D2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85" name="Rectangle 30">
                <a:extLst>
                  <a:ext uri="{FF2B5EF4-FFF2-40B4-BE49-F238E27FC236}">
                    <a16:creationId xmlns:a16="http://schemas.microsoft.com/office/drawing/2014/main" id="{75319984-6A19-9A4A-90B8-B786C3A51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468" name="Text Box 31">
              <a:extLst>
                <a:ext uri="{FF2B5EF4-FFF2-40B4-BE49-F238E27FC236}">
                  <a16:creationId xmlns:a16="http://schemas.microsoft.com/office/drawing/2014/main" id="{7C07A440-D739-9C4E-A6D3-FA09BCFAA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" y="2352"/>
              <a:ext cx="11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2000">
                  <a:latin typeface="Courier New" panose="02070309020205020404" pitchFamily="49" charset="0"/>
                </a:rPr>
                <a:t>int val[5];</a:t>
              </a:r>
            </a:p>
          </p:txBody>
        </p:sp>
        <p:sp>
          <p:nvSpPr>
            <p:cNvPr id="18469" name="Text Box 32">
              <a:extLst>
                <a:ext uri="{FF2B5EF4-FFF2-40B4-BE49-F238E27FC236}">
                  <a16:creationId xmlns:a16="http://schemas.microsoft.com/office/drawing/2014/main" id="{F0231E41-56A4-2749-AA17-165BB9CD8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640"/>
              <a:ext cx="2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</a:t>
              </a:r>
            </a:p>
          </p:txBody>
        </p:sp>
        <p:sp>
          <p:nvSpPr>
            <p:cNvPr id="18470" name="Text Box 33">
              <a:extLst>
                <a:ext uri="{FF2B5EF4-FFF2-40B4-BE49-F238E27FC236}">
                  <a16:creationId xmlns:a16="http://schemas.microsoft.com/office/drawing/2014/main" id="{B40FC93A-7813-3647-9CD8-097DFBCA2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649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+ 4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8471" name="Line 34">
              <a:extLst>
                <a:ext uri="{FF2B5EF4-FFF2-40B4-BE49-F238E27FC236}">
                  <a16:creationId xmlns:a16="http://schemas.microsoft.com/office/drawing/2014/main" id="{661BF7A3-F99D-B94F-9778-9DAD59781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535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Line 35">
              <a:extLst>
                <a:ext uri="{FF2B5EF4-FFF2-40B4-BE49-F238E27FC236}">
                  <a16:creationId xmlns:a16="http://schemas.microsoft.com/office/drawing/2014/main" id="{84B3849A-68B4-7142-B990-EE5F212D0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54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" name="Text Box 36">
              <a:extLst>
                <a:ext uri="{FF2B5EF4-FFF2-40B4-BE49-F238E27FC236}">
                  <a16:creationId xmlns:a16="http://schemas.microsoft.com/office/drawing/2014/main" id="{38E5935A-9245-8248-8B30-76575453D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649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+ 8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8474" name="Line 37">
              <a:extLst>
                <a:ext uri="{FF2B5EF4-FFF2-40B4-BE49-F238E27FC236}">
                  <a16:creationId xmlns:a16="http://schemas.microsoft.com/office/drawing/2014/main" id="{294E45B7-BEDA-E140-8EF9-3DA68B2008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254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5" name="Text Box 38">
              <a:extLst>
                <a:ext uri="{FF2B5EF4-FFF2-40B4-BE49-F238E27FC236}">
                  <a16:creationId xmlns:a16="http://schemas.microsoft.com/office/drawing/2014/main" id="{00FD7402-C587-5C44-AC6A-1871AB8ED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649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+ 12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8476" name="Line 39">
              <a:extLst>
                <a:ext uri="{FF2B5EF4-FFF2-40B4-BE49-F238E27FC236}">
                  <a16:creationId xmlns:a16="http://schemas.microsoft.com/office/drawing/2014/main" id="{41AD834B-3644-5E43-AA7B-E042B3229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54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7" name="Text Box 40">
              <a:extLst>
                <a:ext uri="{FF2B5EF4-FFF2-40B4-BE49-F238E27FC236}">
                  <a16:creationId xmlns:a16="http://schemas.microsoft.com/office/drawing/2014/main" id="{14B9142C-EF23-854D-945A-5D751128C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7" y="2649"/>
              <a:ext cx="6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+ 16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8478" name="Line 41">
              <a:extLst>
                <a:ext uri="{FF2B5EF4-FFF2-40B4-BE49-F238E27FC236}">
                  <a16:creationId xmlns:a16="http://schemas.microsoft.com/office/drawing/2014/main" id="{22C12603-9D35-B048-9ACF-8F710E820C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54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9" name="Text Box 42">
              <a:extLst>
                <a:ext uri="{FF2B5EF4-FFF2-40B4-BE49-F238E27FC236}">
                  <a16:creationId xmlns:a16="http://schemas.microsoft.com/office/drawing/2014/main" id="{B2313610-C246-B84E-A69C-D650B138E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649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+ 20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8480" name="Line 43">
              <a:extLst>
                <a:ext uri="{FF2B5EF4-FFF2-40B4-BE49-F238E27FC236}">
                  <a16:creationId xmlns:a16="http://schemas.microsoft.com/office/drawing/2014/main" id="{461D178E-A566-9646-B65D-E3B5205DC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254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437" name="Group 44">
            <a:extLst>
              <a:ext uri="{FF2B5EF4-FFF2-40B4-BE49-F238E27FC236}">
                <a16:creationId xmlns:a16="http://schemas.microsoft.com/office/drawing/2014/main" id="{647F8FFC-E38C-2546-8431-25901D16FEA1}"/>
              </a:ext>
            </a:extLst>
          </p:cNvPr>
          <p:cNvGrpSpPr>
            <a:grpSpLocks/>
          </p:cNvGrpSpPr>
          <p:nvPr/>
        </p:nvGrpSpPr>
        <p:grpSpPr bwMode="auto">
          <a:xfrm>
            <a:off x="368300" y="4038600"/>
            <a:ext cx="8585200" cy="1300163"/>
            <a:chOff x="232" y="2544"/>
            <a:chExt cx="5408" cy="819"/>
          </a:xfrm>
        </p:grpSpPr>
        <p:sp>
          <p:nvSpPr>
            <p:cNvPr id="18450" name="Text Box 45">
              <a:extLst>
                <a:ext uri="{FF2B5EF4-FFF2-40B4-BE49-F238E27FC236}">
                  <a16:creationId xmlns:a16="http://schemas.microsoft.com/office/drawing/2014/main" id="{F51D5EC3-3F10-8F42-BFA8-CECDB5664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" y="2544"/>
              <a:ext cx="12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2000">
                  <a:latin typeface="Courier New" panose="02070309020205020404" pitchFamily="49" charset="0"/>
                </a:rPr>
                <a:t>double a[4];</a:t>
              </a:r>
            </a:p>
          </p:txBody>
        </p:sp>
        <p:grpSp>
          <p:nvGrpSpPr>
            <p:cNvPr id="18451" name="Group 46">
              <a:extLst>
                <a:ext uri="{FF2B5EF4-FFF2-40B4-BE49-F238E27FC236}">
                  <a16:creationId xmlns:a16="http://schemas.microsoft.com/office/drawing/2014/main" id="{A103650A-479D-D84A-9444-13751D5E4D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832"/>
              <a:ext cx="5256" cy="531"/>
              <a:chOff x="384" y="2832"/>
              <a:chExt cx="5256" cy="531"/>
            </a:xfrm>
          </p:grpSpPr>
          <p:grpSp>
            <p:nvGrpSpPr>
              <p:cNvPr id="18452" name="Group 47">
                <a:extLst>
                  <a:ext uri="{FF2B5EF4-FFF2-40B4-BE49-F238E27FC236}">
                    <a16:creationId xmlns:a16="http://schemas.microsoft.com/office/drawing/2014/main" id="{E73EF477-5FFC-6240-ABB6-5A3DEFA47A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2832"/>
                <a:ext cx="4608" cy="144"/>
                <a:chOff x="1008" y="2208"/>
                <a:chExt cx="4608" cy="144"/>
              </a:xfrm>
            </p:grpSpPr>
            <p:sp>
              <p:nvSpPr>
                <p:cNvPr id="18463" name="Rectangle 48">
                  <a:extLst>
                    <a:ext uri="{FF2B5EF4-FFF2-40B4-BE49-F238E27FC236}">
                      <a16:creationId xmlns:a16="http://schemas.microsoft.com/office/drawing/2014/main" id="{5051925C-4D8A-914F-8376-E4D8716FA8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208"/>
                  <a:ext cx="1152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64" name="Rectangle 49">
                  <a:extLst>
                    <a:ext uri="{FF2B5EF4-FFF2-40B4-BE49-F238E27FC236}">
                      <a16:creationId xmlns:a16="http://schemas.microsoft.com/office/drawing/2014/main" id="{675D1C9C-FC55-6A40-B853-6002CB66C0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2208"/>
                  <a:ext cx="1152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65" name="Rectangle 50">
                  <a:extLst>
                    <a:ext uri="{FF2B5EF4-FFF2-40B4-BE49-F238E27FC236}">
                      <a16:creationId xmlns:a16="http://schemas.microsoft.com/office/drawing/2014/main" id="{D82A848A-722F-1A48-83FF-5411E37095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208"/>
                  <a:ext cx="1152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8466" name="Rectangle 51">
                  <a:extLst>
                    <a:ext uri="{FF2B5EF4-FFF2-40B4-BE49-F238E27FC236}">
                      <a16:creationId xmlns:a16="http://schemas.microsoft.com/office/drawing/2014/main" id="{7E48DB1E-273F-E141-8E0A-96D3409F88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4" y="2208"/>
                  <a:ext cx="1152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8453" name="Line 52">
                <a:extLst>
                  <a:ext uri="{FF2B5EF4-FFF2-40B4-BE49-F238E27FC236}">
                    <a16:creationId xmlns:a16="http://schemas.microsoft.com/office/drawing/2014/main" id="{A31F72B6-44E4-8B4E-93C2-955CB1C14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08" y="2967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4" name="Text Box 53">
                <a:extLst>
                  <a:ext uri="{FF2B5EF4-FFF2-40B4-BE49-F238E27FC236}">
                    <a16:creationId xmlns:a16="http://schemas.microsoft.com/office/drawing/2014/main" id="{6B1987F4-8965-764D-9FDF-8E8AA1FE53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6" y="3081"/>
                <a:ext cx="6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i="1">
                    <a:latin typeface="Helvetica" pitchFamily="2" charset="0"/>
                  </a:rPr>
                  <a:t>x </a:t>
                </a:r>
                <a:r>
                  <a:rPr lang="en-US" altLang="en-US" sz="2000" b="0">
                    <a:latin typeface="Helvetica" pitchFamily="2" charset="0"/>
                  </a:rPr>
                  <a:t>+ 32</a:t>
                </a:r>
                <a:endParaRPr lang="en-US" altLang="en-US" sz="2000" b="0" i="1">
                  <a:latin typeface="Helvetica" pitchFamily="2" charset="0"/>
                </a:endParaRPr>
              </a:p>
            </p:txBody>
          </p:sp>
          <p:sp>
            <p:nvSpPr>
              <p:cNvPr id="18455" name="Line 54">
                <a:extLst>
                  <a:ext uri="{FF2B5EF4-FFF2-40B4-BE49-F238E27FC236}">
                    <a16:creationId xmlns:a16="http://schemas.microsoft.com/office/drawing/2014/main" id="{E8CCE15B-88D9-E947-A9B8-DF8631E35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0" y="2976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6" name="Text Box 55">
                <a:extLst>
                  <a:ext uri="{FF2B5EF4-FFF2-40B4-BE49-F238E27FC236}">
                    <a16:creationId xmlns:a16="http://schemas.microsoft.com/office/drawing/2014/main" id="{B7BCEAD2-46EF-0049-A6DD-E70894F47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3072"/>
                <a:ext cx="6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i="1">
                    <a:latin typeface="Helvetica" pitchFamily="2" charset="0"/>
                  </a:rPr>
                  <a:t>x </a:t>
                </a:r>
                <a:r>
                  <a:rPr lang="en-US" altLang="en-US" sz="2000" b="0">
                    <a:latin typeface="Helvetica" pitchFamily="2" charset="0"/>
                  </a:rPr>
                  <a:t>+ 24</a:t>
                </a:r>
                <a:endParaRPr lang="en-US" altLang="en-US" sz="2000" b="0" i="1">
                  <a:latin typeface="Helvetica" pitchFamily="2" charset="0"/>
                </a:endParaRPr>
              </a:p>
            </p:txBody>
          </p:sp>
          <p:sp>
            <p:nvSpPr>
              <p:cNvPr id="18457" name="Text Box 56">
                <a:extLst>
                  <a:ext uri="{FF2B5EF4-FFF2-40B4-BE49-F238E27FC236}">
                    <a16:creationId xmlns:a16="http://schemas.microsoft.com/office/drawing/2014/main" id="{DDD5B1F8-4D21-F344-98F1-D0A1C77CD2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3063"/>
                <a:ext cx="25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i="1">
                    <a:latin typeface="Helvetica" pitchFamily="2" charset="0"/>
                  </a:rPr>
                  <a:t>x</a:t>
                </a:r>
              </a:p>
            </p:txBody>
          </p:sp>
          <p:sp>
            <p:nvSpPr>
              <p:cNvPr id="18458" name="Line 57">
                <a:extLst>
                  <a:ext uri="{FF2B5EF4-FFF2-40B4-BE49-F238E27FC236}">
                    <a16:creationId xmlns:a16="http://schemas.microsoft.com/office/drawing/2014/main" id="{4C729B09-B2AF-EF49-A032-47660D1CE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2958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9" name="Text Box 58">
                <a:extLst>
                  <a:ext uri="{FF2B5EF4-FFF2-40B4-BE49-F238E27FC236}">
                    <a16:creationId xmlns:a16="http://schemas.microsoft.com/office/drawing/2014/main" id="{ED0D206A-EBD6-B546-95F0-C7C8C7D14B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072"/>
                <a:ext cx="6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i="1">
                    <a:latin typeface="Helvetica" pitchFamily="2" charset="0"/>
                  </a:rPr>
                  <a:t>x </a:t>
                </a:r>
                <a:r>
                  <a:rPr lang="en-US" altLang="en-US" sz="2000" b="0">
                    <a:latin typeface="Helvetica" pitchFamily="2" charset="0"/>
                  </a:rPr>
                  <a:t>+ </a:t>
                </a:r>
                <a:r>
                  <a:rPr lang="en-US" altLang="en-US" b="0">
                    <a:latin typeface="Helvetica" pitchFamily="2" charset="0"/>
                  </a:rPr>
                  <a:t>8</a:t>
                </a:r>
                <a:endParaRPr lang="en-US" altLang="en-US" b="0" i="1">
                  <a:latin typeface="Helvetica" pitchFamily="2" charset="0"/>
                </a:endParaRPr>
              </a:p>
            </p:txBody>
          </p:sp>
          <p:sp>
            <p:nvSpPr>
              <p:cNvPr id="18460" name="Line 59">
                <a:extLst>
                  <a:ext uri="{FF2B5EF4-FFF2-40B4-BE49-F238E27FC236}">
                    <a16:creationId xmlns:a16="http://schemas.microsoft.com/office/drawing/2014/main" id="{94857D31-F2CB-0A40-9855-5F679072AB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2967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1" name="Text Box 60">
                <a:extLst>
                  <a:ext uri="{FF2B5EF4-FFF2-40B4-BE49-F238E27FC236}">
                    <a16:creationId xmlns:a16="http://schemas.microsoft.com/office/drawing/2014/main" id="{C7B164DB-0675-E24D-9D18-F994833C2F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3072"/>
                <a:ext cx="6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i="1">
                    <a:latin typeface="Helvetica" pitchFamily="2" charset="0"/>
                  </a:rPr>
                  <a:t>x </a:t>
                </a:r>
                <a:r>
                  <a:rPr lang="en-US" altLang="en-US" sz="2000" b="0">
                    <a:latin typeface="Helvetica" pitchFamily="2" charset="0"/>
                  </a:rPr>
                  <a:t>+ 16</a:t>
                </a:r>
                <a:endParaRPr lang="en-US" altLang="en-US" sz="2000" b="0" i="1">
                  <a:latin typeface="Helvetica" pitchFamily="2" charset="0"/>
                </a:endParaRPr>
              </a:p>
            </p:txBody>
          </p:sp>
          <p:sp>
            <p:nvSpPr>
              <p:cNvPr id="18462" name="Line 61">
                <a:extLst>
                  <a:ext uri="{FF2B5EF4-FFF2-40B4-BE49-F238E27FC236}">
                    <a16:creationId xmlns:a16="http://schemas.microsoft.com/office/drawing/2014/main" id="{FD312CE1-0A0C-E646-BA52-9456084ED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967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438" name="Text Box 62">
            <a:extLst>
              <a:ext uri="{FF2B5EF4-FFF2-40B4-BE49-F238E27FC236}">
                <a16:creationId xmlns:a16="http://schemas.microsoft.com/office/drawing/2014/main" id="{CBD78C41-9576-3F40-BAA6-FE961869A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5562600"/>
            <a:ext cx="1878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2000">
                <a:latin typeface="Courier New" panose="02070309020205020404" pitchFamily="49" charset="0"/>
              </a:rPr>
              <a:t>char *p[3];</a:t>
            </a:r>
          </a:p>
        </p:txBody>
      </p:sp>
      <p:grpSp>
        <p:nvGrpSpPr>
          <p:cNvPr id="18439" name="Group 63">
            <a:extLst>
              <a:ext uri="{FF2B5EF4-FFF2-40B4-BE49-F238E27FC236}">
                <a16:creationId xmlns:a16="http://schemas.microsoft.com/office/drawing/2014/main" id="{544AF1F4-DF4C-1840-AC2F-DCE0B414E29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5638800"/>
            <a:ext cx="2895600" cy="795338"/>
            <a:chOff x="1920" y="3744"/>
            <a:chExt cx="1824" cy="501"/>
          </a:xfrm>
        </p:grpSpPr>
        <p:grpSp>
          <p:nvGrpSpPr>
            <p:cNvPr id="18440" name="Group 64">
              <a:extLst>
                <a:ext uri="{FF2B5EF4-FFF2-40B4-BE49-F238E27FC236}">
                  <a16:creationId xmlns:a16="http://schemas.microsoft.com/office/drawing/2014/main" id="{AA142FBA-25E5-D844-AEB3-FE2375357A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3744"/>
              <a:ext cx="1728" cy="144"/>
              <a:chOff x="2016" y="3744"/>
              <a:chExt cx="1728" cy="144"/>
            </a:xfrm>
          </p:grpSpPr>
          <p:sp>
            <p:nvSpPr>
              <p:cNvPr id="18447" name="Rectangle 65">
                <a:extLst>
                  <a:ext uri="{FF2B5EF4-FFF2-40B4-BE49-F238E27FC236}">
                    <a16:creationId xmlns:a16="http://schemas.microsoft.com/office/drawing/2014/main" id="{EC8B4618-DB5D-DB42-90EC-5E550E753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3744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48" name="Rectangle 66">
                <a:extLst>
                  <a:ext uri="{FF2B5EF4-FFF2-40B4-BE49-F238E27FC236}">
                    <a16:creationId xmlns:a16="http://schemas.microsoft.com/office/drawing/2014/main" id="{7B82248D-5C70-2A4C-BCBB-D2CC7B195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3744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49" name="Rectangle 67">
                <a:extLst>
                  <a:ext uri="{FF2B5EF4-FFF2-40B4-BE49-F238E27FC236}">
                    <a16:creationId xmlns:a16="http://schemas.microsoft.com/office/drawing/2014/main" id="{D0A29042-E0BF-1C46-B77F-8DEE979C6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744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441" name="Text Box 68">
              <a:extLst>
                <a:ext uri="{FF2B5EF4-FFF2-40B4-BE49-F238E27FC236}">
                  <a16:creationId xmlns:a16="http://schemas.microsoft.com/office/drawing/2014/main" id="{8891C55C-C853-1243-94DC-94C8EEAD8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984"/>
              <a:ext cx="2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</a:t>
              </a:r>
            </a:p>
          </p:txBody>
        </p:sp>
        <p:sp>
          <p:nvSpPr>
            <p:cNvPr id="18442" name="Text Box 69">
              <a:extLst>
                <a:ext uri="{FF2B5EF4-FFF2-40B4-BE49-F238E27FC236}">
                  <a16:creationId xmlns:a16="http://schemas.microsoft.com/office/drawing/2014/main" id="{0FF22F50-82DD-5B4C-B832-DF5D4CDEF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993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+ 4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8443" name="Line 70">
              <a:extLst>
                <a:ext uri="{FF2B5EF4-FFF2-40B4-BE49-F238E27FC236}">
                  <a16:creationId xmlns:a16="http://schemas.microsoft.com/office/drawing/2014/main" id="{0BCBBD4A-CAAB-1943-907B-A56EFD2EE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87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Line 71">
              <a:extLst>
                <a:ext uri="{FF2B5EF4-FFF2-40B4-BE49-F238E27FC236}">
                  <a16:creationId xmlns:a16="http://schemas.microsoft.com/office/drawing/2014/main" id="{3BF6C63A-E7DC-CB49-A501-26FB5C8237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3888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Text Box 72">
              <a:extLst>
                <a:ext uri="{FF2B5EF4-FFF2-40B4-BE49-F238E27FC236}">
                  <a16:creationId xmlns:a16="http://schemas.microsoft.com/office/drawing/2014/main" id="{AEAF9098-BDF1-6A43-B4E2-2DE89A1EE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993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+ 8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8446" name="Line 73">
              <a:extLst>
                <a:ext uri="{FF2B5EF4-FFF2-40B4-BE49-F238E27FC236}">
                  <a16:creationId xmlns:a16="http://schemas.microsoft.com/office/drawing/2014/main" id="{AA236DFE-5B35-0646-9AB3-C01523608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3888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EF3655C-CFA9-CF4A-B7BE-AD258ABB2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5562600" cy="573088"/>
          </a:xfrm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Array Access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76E9A45B-C40C-0C4C-A4D9-148CEA4DA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0600"/>
            <a:ext cx="8064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Basic Principle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r>
              <a:rPr lang="en-US" altLang="en-US" sz="2000" b="0">
                <a:latin typeface="Calibri" panose="020F0502020204030204" pitchFamily="34" charset="0"/>
              </a:rPr>
              <a:t>  </a:t>
            </a:r>
            <a:r>
              <a:rPr lang="en-US" altLang="en-US" sz="2000" b="0">
                <a:latin typeface="Courier New" panose="02070309020205020404" pitchFamily="49" charset="0"/>
              </a:rPr>
              <a:t>A[</a:t>
            </a:r>
            <a:r>
              <a:rPr lang="en-US" altLang="en-US" sz="2000" b="0" i="1">
                <a:latin typeface="Calibri" panose="020F0502020204030204" pitchFamily="34" charset="0"/>
              </a:rPr>
              <a:t>L</a:t>
            </a:r>
            <a:r>
              <a:rPr lang="en-US" altLang="en-US" sz="2000" b="0">
                <a:latin typeface="Courier New" panose="02070309020205020404" pitchFamily="49" charset="0"/>
              </a:rPr>
              <a:t>];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Array of data type 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r>
              <a:rPr lang="en-US" altLang="en-US" sz="2000" b="0">
                <a:latin typeface="Calibri" panose="020F0502020204030204" pitchFamily="34" charset="0"/>
              </a:rPr>
              <a:t> and length </a:t>
            </a:r>
            <a:r>
              <a:rPr lang="en-US" altLang="en-US" sz="2000" b="0" i="1">
                <a:latin typeface="Calibri" panose="020F0502020204030204" pitchFamily="34" charset="0"/>
              </a:rPr>
              <a:t>L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Identifier </a:t>
            </a:r>
            <a:r>
              <a:rPr lang="en-US" altLang="en-US" sz="2000" b="0">
                <a:latin typeface="Courier New" panose="02070309020205020404" pitchFamily="49" charset="0"/>
              </a:rPr>
              <a:t>A</a:t>
            </a:r>
            <a:r>
              <a:rPr lang="en-US" altLang="en-US" sz="2000" b="0">
                <a:latin typeface="Calibri" panose="020F0502020204030204" pitchFamily="34" charset="0"/>
              </a:rPr>
              <a:t> can be used as a pointer to array element 0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sz="28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Reference	Type	Value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val[4]	int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	int *	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val+1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 *	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&amp;val[2]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 *	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val[5]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	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*(val+1)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	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 + </a:t>
            </a:r>
            <a:r>
              <a:rPr lang="en-US" altLang="en-US" sz="2000" b="0" i="1">
                <a:latin typeface="Calibri" panose="020F0502020204030204" pitchFamily="34" charset="0"/>
              </a:rPr>
              <a:t>i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 *	</a:t>
            </a:r>
            <a:endParaRPr lang="en-US" altLang="en-US" sz="2000" b="0" i="1">
              <a:latin typeface="Calibri" panose="020F0502020204030204" pitchFamily="34" charset="0"/>
            </a:endParaRPr>
          </a:p>
        </p:txBody>
      </p:sp>
      <p:grpSp>
        <p:nvGrpSpPr>
          <p:cNvPr id="19459" name="Group 4">
            <a:extLst>
              <a:ext uri="{FF2B5EF4-FFF2-40B4-BE49-F238E27FC236}">
                <a16:creationId xmlns:a16="http://schemas.microsoft.com/office/drawing/2014/main" id="{B78DBEC6-0ACB-A54D-AD51-0D66546EC37A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2667000"/>
            <a:ext cx="7431087" cy="871538"/>
            <a:chOff x="503" y="1680"/>
            <a:chExt cx="4681" cy="549"/>
          </a:xfrm>
        </p:grpSpPr>
        <p:grpSp>
          <p:nvGrpSpPr>
            <p:cNvPr id="19460" name="Group 5">
              <a:extLst>
                <a:ext uri="{FF2B5EF4-FFF2-40B4-BE49-F238E27FC236}">
                  <a16:creationId xmlns:a16="http://schemas.microsoft.com/office/drawing/2014/main" id="{835F184F-A9B7-1144-9204-3083CD8C1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728"/>
              <a:ext cx="2880" cy="144"/>
              <a:chOff x="1776" y="1728"/>
              <a:chExt cx="2880" cy="144"/>
            </a:xfrm>
          </p:grpSpPr>
          <p:sp>
            <p:nvSpPr>
              <p:cNvPr id="19474" name="Rectangle 6">
                <a:extLst>
                  <a:ext uri="{FF2B5EF4-FFF2-40B4-BE49-F238E27FC236}">
                    <a16:creationId xmlns:a16="http://schemas.microsoft.com/office/drawing/2014/main" id="{2A3C2682-5533-DF4E-9C10-7A01EDC40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9475" name="Rectangle 7">
                <a:extLst>
                  <a:ext uri="{FF2B5EF4-FFF2-40B4-BE49-F238E27FC236}">
                    <a16:creationId xmlns:a16="http://schemas.microsoft.com/office/drawing/2014/main" id="{65477FDA-9B90-6F46-BBB9-915B90713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9476" name="Rectangle 8">
                <a:extLst>
                  <a:ext uri="{FF2B5EF4-FFF2-40B4-BE49-F238E27FC236}">
                    <a16:creationId xmlns:a16="http://schemas.microsoft.com/office/drawing/2014/main" id="{98A178EF-E8DC-3741-A482-EA1BF25D6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19477" name="Rectangle 9">
                <a:extLst>
                  <a:ext uri="{FF2B5EF4-FFF2-40B4-BE49-F238E27FC236}">
                    <a16:creationId xmlns:a16="http://schemas.microsoft.com/office/drawing/2014/main" id="{50AE078C-BE9E-0844-9102-E166D1057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9478" name="Rectangle 10">
                <a:extLst>
                  <a:ext uri="{FF2B5EF4-FFF2-40B4-BE49-F238E27FC236}">
                    <a16:creationId xmlns:a16="http://schemas.microsoft.com/office/drawing/2014/main" id="{90D16502-9426-EB49-BD77-A92B779EB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</a:t>
                </a:r>
              </a:p>
            </p:txBody>
          </p:sp>
        </p:grpSp>
        <p:sp>
          <p:nvSpPr>
            <p:cNvPr id="19461" name="Text Box 11">
              <a:extLst>
                <a:ext uri="{FF2B5EF4-FFF2-40B4-BE49-F238E27FC236}">
                  <a16:creationId xmlns:a16="http://schemas.microsoft.com/office/drawing/2014/main" id="{6AB5025E-C258-A94D-97CD-0282512AF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1680"/>
              <a:ext cx="11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2000">
                  <a:latin typeface="Courier New" panose="02070309020205020404" pitchFamily="49" charset="0"/>
                </a:rPr>
                <a:t>int val[5];</a:t>
              </a:r>
            </a:p>
          </p:txBody>
        </p:sp>
        <p:sp>
          <p:nvSpPr>
            <p:cNvPr id="19462" name="Text Box 12">
              <a:extLst>
                <a:ext uri="{FF2B5EF4-FFF2-40B4-BE49-F238E27FC236}">
                  <a16:creationId xmlns:a16="http://schemas.microsoft.com/office/drawing/2014/main" id="{702832CC-5B71-7C40-B9FA-5C41CB135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968"/>
              <a:ext cx="25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 i="1">
                  <a:latin typeface="Helvetica" pitchFamily="2" charset="0"/>
                </a:rPr>
                <a:t>x</a:t>
              </a:r>
            </a:p>
          </p:txBody>
        </p:sp>
        <p:sp>
          <p:nvSpPr>
            <p:cNvPr id="19463" name="Text Box 13">
              <a:extLst>
                <a:ext uri="{FF2B5EF4-FFF2-40B4-BE49-F238E27FC236}">
                  <a16:creationId xmlns:a16="http://schemas.microsoft.com/office/drawing/2014/main" id="{1C7BB360-F3DB-744D-89F2-5DECB77A6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+ 4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9464" name="Line 14">
              <a:extLst>
                <a:ext uri="{FF2B5EF4-FFF2-40B4-BE49-F238E27FC236}">
                  <a16:creationId xmlns:a16="http://schemas.microsoft.com/office/drawing/2014/main" id="{67A7BF2E-AF3C-1C4D-A3A3-0FE377195B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863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5" name="Line 15">
              <a:extLst>
                <a:ext uri="{FF2B5EF4-FFF2-40B4-BE49-F238E27FC236}">
                  <a16:creationId xmlns:a16="http://schemas.microsoft.com/office/drawing/2014/main" id="{68A39251-7D32-D742-AFE2-2EF7783B1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Text Box 16">
              <a:extLst>
                <a:ext uri="{FF2B5EF4-FFF2-40B4-BE49-F238E27FC236}">
                  <a16:creationId xmlns:a16="http://schemas.microsoft.com/office/drawing/2014/main" id="{09D51CD6-EF66-2644-9EC6-E16463179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+ 8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9467" name="Line 17">
              <a:extLst>
                <a:ext uri="{FF2B5EF4-FFF2-40B4-BE49-F238E27FC236}">
                  <a16:creationId xmlns:a16="http://schemas.microsoft.com/office/drawing/2014/main" id="{E29C8A48-CF8C-3848-8551-7654F710F0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8" name="Text Box 18">
              <a:extLst>
                <a:ext uri="{FF2B5EF4-FFF2-40B4-BE49-F238E27FC236}">
                  <a16:creationId xmlns:a16="http://schemas.microsoft.com/office/drawing/2014/main" id="{078AE350-AE9A-9F49-AB90-22B42B409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+ 12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9469" name="Line 19">
              <a:extLst>
                <a:ext uri="{FF2B5EF4-FFF2-40B4-BE49-F238E27FC236}">
                  <a16:creationId xmlns:a16="http://schemas.microsoft.com/office/drawing/2014/main" id="{BB4249E4-69B2-2A46-8B38-52F84A5F3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0" name="Text Box 20">
              <a:extLst>
                <a:ext uri="{FF2B5EF4-FFF2-40B4-BE49-F238E27FC236}">
                  <a16:creationId xmlns:a16="http://schemas.microsoft.com/office/drawing/2014/main" id="{1B8A5358-656F-2B41-B195-9D2623648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+ 16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9471" name="Line 21">
              <a:extLst>
                <a:ext uri="{FF2B5EF4-FFF2-40B4-BE49-F238E27FC236}">
                  <a16:creationId xmlns:a16="http://schemas.microsoft.com/office/drawing/2014/main" id="{3E519147-B72C-EC4F-8CE5-F6BFD859B6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2" name="Text Box 22">
              <a:extLst>
                <a:ext uri="{FF2B5EF4-FFF2-40B4-BE49-F238E27FC236}">
                  <a16:creationId xmlns:a16="http://schemas.microsoft.com/office/drawing/2014/main" id="{57DC35E4-A5F5-0843-A9DF-36E62E1D2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+ 20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19473" name="Line 23">
              <a:extLst>
                <a:ext uri="{FF2B5EF4-FFF2-40B4-BE49-F238E27FC236}">
                  <a16:creationId xmlns:a16="http://schemas.microsoft.com/office/drawing/2014/main" id="{50CDFFE9-D69F-7E4B-B1FB-97EED07BA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112C4C6-9F46-8F4C-88E1-6F9070102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5562600" cy="573088"/>
          </a:xfrm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Array Access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B06AC658-11FA-5F47-82E5-8404F4A3E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743200"/>
            <a:ext cx="8064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36607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Reference	Type	Value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val[4]	int	3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	int *	</a:t>
            </a:r>
            <a:r>
              <a:rPr lang="en-US" altLang="en-US" sz="2000" b="0" i="1">
                <a:latin typeface="Calibri" panose="020F0502020204030204" pitchFamily="34" charset="0"/>
              </a:rPr>
              <a:t>x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val+1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 *	</a:t>
            </a:r>
            <a:r>
              <a:rPr lang="en-US" altLang="en-US" sz="2000" b="0" i="1">
                <a:latin typeface="Calibri" panose="020F0502020204030204" pitchFamily="34" charset="0"/>
              </a:rPr>
              <a:t>x</a:t>
            </a:r>
            <a:r>
              <a:rPr lang="en-US" altLang="en-US" sz="2000" b="0">
                <a:latin typeface="Calibri" panose="020F0502020204030204" pitchFamily="34" charset="0"/>
              </a:rPr>
              <a:t> + 4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&amp;val[2]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 *	</a:t>
            </a:r>
            <a:r>
              <a:rPr lang="en-US" altLang="en-US" sz="2000" b="0" i="1">
                <a:latin typeface="Calibri" panose="020F0502020204030204" pitchFamily="34" charset="0"/>
              </a:rPr>
              <a:t>x</a:t>
            </a:r>
            <a:r>
              <a:rPr lang="en-US" altLang="en-US" sz="2000" b="0">
                <a:latin typeface="Calibri" panose="020F0502020204030204" pitchFamily="34" charset="0"/>
              </a:rPr>
              <a:t> + 8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val[5]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	</a:t>
            </a:r>
            <a:r>
              <a:rPr lang="en-US" altLang="en-US" sz="2000" b="0">
                <a:latin typeface="Calibri" panose="020F0502020204030204" pitchFamily="34" charset="0"/>
              </a:rPr>
              <a:t>??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*(val+1)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	5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val + </a:t>
            </a:r>
            <a:r>
              <a:rPr lang="en-US" altLang="en-US" sz="2000" b="0" i="1">
                <a:latin typeface="Calibri" panose="020F0502020204030204" pitchFamily="34" charset="0"/>
              </a:rPr>
              <a:t>i</a:t>
            </a:r>
            <a:r>
              <a:rPr lang="en-US" altLang="en-US" sz="2000" b="0">
                <a:latin typeface="Calibri" panose="020F0502020204030204" pitchFamily="34" charset="0"/>
              </a:rPr>
              <a:t>	</a:t>
            </a:r>
            <a:r>
              <a:rPr lang="en-US" altLang="en-US" sz="2000" b="0">
                <a:latin typeface="Courier New" panose="02070309020205020404" pitchFamily="49" charset="0"/>
              </a:rPr>
              <a:t>int *	</a:t>
            </a:r>
            <a:r>
              <a:rPr lang="en-US" altLang="en-US" sz="2000" b="0" i="1">
                <a:latin typeface="Calibri" panose="020F0502020204030204" pitchFamily="34" charset="0"/>
              </a:rPr>
              <a:t>x </a:t>
            </a:r>
            <a:r>
              <a:rPr lang="en-US" altLang="en-US" sz="2000" b="0">
                <a:latin typeface="Calibri" panose="020F0502020204030204" pitchFamily="34" charset="0"/>
              </a:rPr>
              <a:t>+ 4</a:t>
            </a:r>
            <a:r>
              <a:rPr lang="en-US" altLang="en-US" sz="2000" b="0" i="1">
                <a:latin typeface="Calibri" panose="020F0502020204030204" pitchFamily="34" charset="0"/>
              </a:rPr>
              <a:t> i</a:t>
            </a: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E4D62E48-4615-B54F-99DF-87C81A4B5B7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447800"/>
            <a:ext cx="7431088" cy="871538"/>
            <a:chOff x="503" y="1680"/>
            <a:chExt cx="4681" cy="549"/>
          </a:xfrm>
        </p:grpSpPr>
        <p:grpSp>
          <p:nvGrpSpPr>
            <p:cNvPr id="20484" name="Group 5">
              <a:extLst>
                <a:ext uri="{FF2B5EF4-FFF2-40B4-BE49-F238E27FC236}">
                  <a16:creationId xmlns:a16="http://schemas.microsoft.com/office/drawing/2014/main" id="{D9F16C92-BCA4-4F41-B3EF-A91E21A57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728"/>
              <a:ext cx="2880" cy="144"/>
              <a:chOff x="1776" y="1728"/>
              <a:chExt cx="2880" cy="144"/>
            </a:xfrm>
          </p:grpSpPr>
          <p:sp>
            <p:nvSpPr>
              <p:cNvPr id="20498" name="Rectangle 6">
                <a:extLst>
                  <a:ext uri="{FF2B5EF4-FFF2-40B4-BE49-F238E27FC236}">
                    <a16:creationId xmlns:a16="http://schemas.microsoft.com/office/drawing/2014/main" id="{57B11A21-39CD-2C44-8753-FA5A3E347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20499" name="Rectangle 7">
                <a:extLst>
                  <a:ext uri="{FF2B5EF4-FFF2-40B4-BE49-F238E27FC236}">
                    <a16:creationId xmlns:a16="http://schemas.microsoft.com/office/drawing/2014/main" id="{2AC2DA23-E810-1E4D-BC56-6C3A0F072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20500" name="Rectangle 8">
                <a:extLst>
                  <a:ext uri="{FF2B5EF4-FFF2-40B4-BE49-F238E27FC236}">
                    <a16:creationId xmlns:a16="http://schemas.microsoft.com/office/drawing/2014/main" id="{E1680D83-E06D-1747-960A-7554EE575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20501" name="Rectangle 9">
                <a:extLst>
                  <a:ext uri="{FF2B5EF4-FFF2-40B4-BE49-F238E27FC236}">
                    <a16:creationId xmlns:a16="http://schemas.microsoft.com/office/drawing/2014/main" id="{55771076-FF82-534D-BE90-26CEF8994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20502" name="Rectangle 10">
                <a:extLst>
                  <a:ext uri="{FF2B5EF4-FFF2-40B4-BE49-F238E27FC236}">
                    <a16:creationId xmlns:a16="http://schemas.microsoft.com/office/drawing/2014/main" id="{CB2DD29E-0A47-874E-A1AD-5EA6C0640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728"/>
                <a:ext cx="576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</a:t>
                </a:r>
              </a:p>
            </p:txBody>
          </p:sp>
        </p:grpSp>
        <p:sp>
          <p:nvSpPr>
            <p:cNvPr id="20485" name="Text Box 11">
              <a:extLst>
                <a:ext uri="{FF2B5EF4-FFF2-40B4-BE49-F238E27FC236}">
                  <a16:creationId xmlns:a16="http://schemas.microsoft.com/office/drawing/2014/main" id="{F23C408A-BE40-D243-9770-AFD4F30E9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1680"/>
              <a:ext cx="11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2000">
                  <a:latin typeface="Courier New" panose="02070309020205020404" pitchFamily="49" charset="0"/>
                </a:rPr>
                <a:t>int val[5];</a:t>
              </a:r>
            </a:p>
          </p:txBody>
        </p:sp>
        <p:sp>
          <p:nvSpPr>
            <p:cNvPr id="20486" name="Text Box 12">
              <a:extLst>
                <a:ext uri="{FF2B5EF4-FFF2-40B4-BE49-F238E27FC236}">
                  <a16:creationId xmlns:a16="http://schemas.microsoft.com/office/drawing/2014/main" id="{3CC0E679-FCB2-6E4B-A7E1-4454952EF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968"/>
              <a:ext cx="25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 i="1">
                  <a:latin typeface="Helvetica" pitchFamily="2" charset="0"/>
                </a:rPr>
                <a:t>x</a:t>
              </a:r>
            </a:p>
          </p:txBody>
        </p:sp>
        <p:sp>
          <p:nvSpPr>
            <p:cNvPr id="20487" name="Text Box 13">
              <a:extLst>
                <a:ext uri="{FF2B5EF4-FFF2-40B4-BE49-F238E27FC236}">
                  <a16:creationId xmlns:a16="http://schemas.microsoft.com/office/drawing/2014/main" id="{E1DE8E4D-6DAF-8C44-AF49-9B34E564D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+ 4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20488" name="Line 14">
              <a:extLst>
                <a:ext uri="{FF2B5EF4-FFF2-40B4-BE49-F238E27FC236}">
                  <a16:creationId xmlns:a16="http://schemas.microsoft.com/office/drawing/2014/main" id="{B843842E-C675-F24B-9848-AFF849E51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863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15">
              <a:extLst>
                <a:ext uri="{FF2B5EF4-FFF2-40B4-BE49-F238E27FC236}">
                  <a16:creationId xmlns:a16="http://schemas.microsoft.com/office/drawing/2014/main" id="{263DBA6E-A957-264A-9F8C-9C024F64DD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Text Box 16">
              <a:extLst>
                <a:ext uri="{FF2B5EF4-FFF2-40B4-BE49-F238E27FC236}">
                  <a16:creationId xmlns:a16="http://schemas.microsoft.com/office/drawing/2014/main" id="{A1014918-F73A-1748-9A36-7478E9E5A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+ 8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20491" name="Line 17">
              <a:extLst>
                <a:ext uri="{FF2B5EF4-FFF2-40B4-BE49-F238E27FC236}">
                  <a16:creationId xmlns:a16="http://schemas.microsoft.com/office/drawing/2014/main" id="{55255D79-9587-1D4F-AF45-9D74CBC567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Text Box 18">
              <a:extLst>
                <a:ext uri="{FF2B5EF4-FFF2-40B4-BE49-F238E27FC236}">
                  <a16:creationId xmlns:a16="http://schemas.microsoft.com/office/drawing/2014/main" id="{1F9A178F-797E-AE49-A110-04FD1A6A3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+ 12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20493" name="Line 19">
              <a:extLst>
                <a:ext uri="{FF2B5EF4-FFF2-40B4-BE49-F238E27FC236}">
                  <a16:creationId xmlns:a16="http://schemas.microsoft.com/office/drawing/2014/main" id="{4FD05E4E-1595-D54A-B826-5E98CF186A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4" name="Text Box 20">
              <a:extLst>
                <a:ext uri="{FF2B5EF4-FFF2-40B4-BE49-F238E27FC236}">
                  <a16:creationId xmlns:a16="http://schemas.microsoft.com/office/drawing/2014/main" id="{C5380EF4-757B-2C4E-89B7-E369046AF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+ 16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20495" name="Line 21">
              <a:extLst>
                <a:ext uri="{FF2B5EF4-FFF2-40B4-BE49-F238E27FC236}">
                  <a16:creationId xmlns:a16="http://schemas.microsoft.com/office/drawing/2014/main" id="{ED846C8B-713F-7C4E-88DE-9C8F05B7B1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Text Box 22">
              <a:extLst>
                <a:ext uri="{FF2B5EF4-FFF2-40B4-BE49-F238E27FC236}">
                  <a16:creationId xmlns:a16="http://schemas.microsoft.com/office/drawing/2014/main" id="{3720D82A-CE42-B04D-A645-B09BA5C24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977"/>
              <a:ext cx="6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i="1">
                  <a:latin typeface="Helvetica" pitchFamily="2" charset="0"/>
                </a:rPr>
                <a:t>x </a:t>
              </a:r>
              <a:r>
                <a:rPr lang="en-US" altLang="en-US" sz="2000" b="0">
                  <a:latin typeface="Helvetica" pitchFamily="2" charset="0"/>
                </a:rPr>
                <a:t>+ 20</a:t>
              </a:r>
              <a:endParaRPr lang="en-US" altLang="en-US" sz="2000" b="0" i="1">
                <a:latin typeface="Helvetica" pitchFamily="2" charset="0"/>
              </a:endParaRPr>
            </a:p>
          </p:txBody>
        </p:sp>
        <p:sp>
          <p:nvSpPr>
            <p:cNvPr id="20497" name="Line 23">
              <a:extLst>
                <a:ext uri="{FF2B5EF4-FFF2-40B4-BE49-F238E27FC236}">
                  <a16:creationId xmlns:a16="http://schemas.microsoft.com/office/drawing/2014/main" id="{CB7D8991-EC5A-5B47-8B96-254D21F695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87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4D6B3106-7982-AC41-BA85-D569A743F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5473700" cy="573088"/>
          </a:xfrm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Array Example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7D7C21B2-DB6B-A14F-9BFA-16FCAD6F8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029200"/>
            <a:ext cx="838200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Notes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Declaration </a:t>
            </a:r>
            <a:r>
              <a:rPr lang="ja-JP" altLang="en-US" sz="2000" b="0">
                <a:latin typeface="Calibri" panose="020F0502020204030204" pitchFamily="34" charset="0"/>
              </a:rPr>
              <a:t>“</a:t>
            </a:r>
            <a:r>
              <a:rPr lang="en-US" altLang="ja-JP" sz="2000" b="0">
                <a:latin typeface="Courier New" panose="02070309020205020404" pitchFamily="49" charset="0"/>
              </a:rPr>
              <a:t>zip_dig cmu</a:t>
            </a:r>
            <a:r>
              <a:rPr lang="ja-JP" altLang="en-US" sz="2000" b="0">
                <a:latin typeface="Calibri" panose="020F0502020204030204" pitchFamily="34" charset="0"/>
              </a:rPr>
              <a:t>”</a:t>
            </a:r>
            <a:r>
              <a:rPr lang="en-US" altLang="ja-JP" sz="2000" b="0">
                <a:latin typeface="Calibri" panose="020F0502020204030204" pitchFamily="34" charset="0"/>
              </a:rPr>
              <a:t> equivalent to </a:t>
            </a:r>
            <a:r>
              <a:rPr lang="ja-JP" altLang="en-US" sz="2000" b="0">
                <a:latin typeface="Calibri" panose="020F0502020204030204" pitchFamily="34" charset="0"/>
              </a:rPr>
              <a:t>“</a:t>
            </a:r>
            <a:r>
              <a:rPr lang="en-US" altLang="ja-JP" sz="2000" b="0">
                <a:latin typeface="Courier New" panose="02070309020205020404" pitchFamily="49" charset="0"/>
              </a:rPr>
              <a:t>int cmu[5]</a:t>
            </a:r>
            <a:r>
              <a:rPr lang="ja-JP" altLang="en-US" sz="2000" b="0">
                <a:latin typeface="Calibri" panose="020F0502020204030204" pitchFamily="34" charset="0"/>
              </a:rPr>
              <a:t>”</a:t>
            </a:r>
            <a:endParaRPr lang="en-US" altLang="ja-JP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Example arrays were allocated in successive 20 byte blocks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Not guaranteed to happen in general</a:t>
            </a:r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6CAF16C3-F7DB-6E40-BB59-A5EDA3BE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838200"/>
            <a:ext cx="4924425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typedef int zip_dig[5];</a:t>
            </a:r>
          </a:p>
          <a:p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1800">
                <a:latin typeface="Courier New" panose="02070309020205020404" pitchFamily="49" charset="0"/>
              </a:rPr>
              <a:t>zip_dig cmu = { 1, 5, 2, 1, 3 };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zip_dig mit = { 0, 2, 1, 3, 9 };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zip_dig ucb = { 9, 4, 7, 2, 0 };</a:t>
            </a:r>
          </a:p>
        </p:txBody>
      </p:sp>
      <p:grpSp>
        <p:nvGrpSpPr>
          <p:cNvPr id="21508" name="Group 5">
            <a:extLst>
              <a:ext uri="{FF2B5EF4-FFF2-40B4-BE49-F238E27FC236}">
                <a16:creationId xmlns:a16="http://schemas.microsoft.com/office/drawing/2014/main" id="{1EA3E774-AF3D-3243-993D-F02AB72AE656}"/>
              </a:ext>
            </a:extLst>
          </p:cNvPr>
          <p:cNvGrpSpPr>
            <a:grpSpLocks/>
          </p:cNvGrpSpPr>
          <p:nvPr/>
        </p:nvGrpSpPr>
        <p:grpSpPr bwMode="auto">
          <a:xfrm>
            <a:off x="1127125" y="2667000"/>
            <a:ext cx="7102475" cy="2395538"/>
            <a:chOff x="396" y="1680"/>
            <a:chExt cx="4474" cy="1509"/>
          </a:xfrm>
        </p:grpSpPr>
        <p:grpSp>
          <p:nvGrpSpPr>
            <p:cNvPr id="21509" name="Group 6">
              <a:extLst>
                <a:ext uri="{FF2B5EF4-FFF2-40B4-BE49-F238E27FC236}">
                  <a16:creationId xmlns:a16="http://schemas.microsoft.com/office/drawing/2014/main" id="{F2B363C7-5544-5744-A182-A2D1965B11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" y="1680"/>
              <a:ext cx="4464" cy="540"/>
              <a:chOff x="406" y="1680"/>
              <a:chExt cx="4464" cy="540"/>
            </a:xfrm>
          </p:grpSpPr>
          <p:sp>
            <p:nvSpPr>
              <p:cNvPr id="21552" name="Text Box 7">
                <a:extLst>
                  <a:ext uri="{FF2B5EF4-FFF2-40B4-BE49-F238E27FC236}">
                    <a16:creationId xmlns:a16="http://schemas.microsoft.com/office/drawing/2014/main" id="{56A5F872-698D-3140-8C4B-6BD7584B7C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" y="1680"/>
                <a:ext cx="128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2000">
                    <a:latin typeface="Courier New" panose="02070309020205020404" pitchFamily="49" charset="0"/>
                  </a:rPr>
                  <a:t>zip_dig cmu;</a:t>
                </a:r>
              </a:p>
            </p:txBody>
          </p:sp>
          <p:grpSp>
            <p:nvGrpSpPr>
              <p:cNvPr id="21553" name="Group 8">
                <a:extLst>
                  <a:ext uri="{FF2B5EF4-FFF2-40B4-BE49-F238E27FC236}">
                    <a16:creationId xmlns:a16="http://schemas.microsoft.com/office/drawing/2014/main" id="{54E6983F-A3C2-0840-B400-2FC2EBE38F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728"/>
                <a:ext cx="3190" cy="492"/>
                <a:chOff x="1680" y="1728"/>
                <a:chExt cx="3190" cy="492"/>
              </a:xfrm>
            </p:grpSpPr>
            <p:grpSp>
              <p:nvGrpSpPr>
                <p:cNvPr id="21554" name="Group 9">
                  <a:extLst>
                    <a:ext uri="{FF2B5EF4-FFF2-40B4-BE49-F238E27FC236}">
                      <a16:creationId xmlns:a16="http://schemas.microsoft.com/office/drawing/2014/main" id="{D13359A3-B4CF-4445-BD7F-DB6DD29D86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1728"/>
                  <a:ext cx="2880" cy="144"/>
                  <a:chOff x="1776" y="1728"/>
                  <a:chExt cx="2880" cy="144"/>
                </a:xfrm>
              </p:grpSpPr>
              <p:sp>
                <p:nvSpPr>
                  <p:cNvPr id="21567" name="Rectangle 10">
                    <a:extLst>
                      <a:ext uri="{FF2B5EF4-FFF2-40B4-BE49-F238E27FC236}">
                        <a16:creationId xmlns:a16="http://schemas.microsoft.com/office/drawing/2014/main" id="{17136490-581B-5A42-9B6B-E83D4ECA52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1568" name="Rectangle 11">
                    <a:extLst>
                      <a:ext uri="{FF2B5EF4-FFF2-40B4-BE49-F238E27FC236}">
                        <a16:creationId xmlns:a16="http://schemas.microsoft.com/office/drawing/2014/main" id="{E81EAEDF-23F8-454A-862E-6B3F19B0F2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5</a:t>
                    </a:r>
                  </a:p>
                </p:txBody>
              </p:sp>
              <p:sp>
                <p:nvSpPr>
                  <p:cNvPr id="21569" name="Rectangle 12">
                    <a:extLst>
                      <a:ext uri="{FF2B5EF4-FFF2-40B4-BE49-F238E27FC236}">
                        <a16:creationId xmlns:a16="http://schemas.microsoft.com/office/drawing/2014/main" id="{4C60B9D1-70AC-7849-99FB-F480035937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1570" name="Rectangle 13">
                    <a:extLst>
                      <a:ext uri="{FF2B5EF4-FFF2-40B4-BE49-F238E27FC236}">
                        <a16:creationId xmlns:a16="http://schemas.microsoft.com/office/drawing/2014/main" id="{2ED2DC25-1DE1-7B47-BF67-A98AACB79B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1571" name="Rectangle 14">
                    <a:extLst>
                      <a:ext uri="{FF2B5EF4-FFF2-40B4-BE49-F238E27FC236}">
                        <a16:creationId xmlns:a16="http://schemas.microsoft.com/office/drawing/2014/main" id="{24FCA6C6-FCA4-6F43-A93C-944919FDA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3</a:t>
                    </a:r>
                  </a:p>
                </p:txBody>
              </p:sp>
            </p:grpSp>
            <p:sp>
              <p:nvSpPr>
                <p:cNvPr id="21555" name="Line 15">
                  <a:extLst>
                    <a:ext uri="{FF2B5EF4-FFF2-40B4-BE49-F238E27FC236}">
                      <a16:creationId xmlns:a16="http://schemas.microsoft.com/office/drawing/2014/main" id="{453FC5AE-62F0-FC46-A152-C8793F5473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2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56" name="Text Box 16">
                  <a:extLst>
                    <a:ext uri="{FF2B5EF4-FFF2-40B4-BE49-F238E27FC236}">
                      <a16:creationId xmlns:a16="http://schemas.microsoft.com/office/drawing/2014/main" id="{8995A2F9-5B26-4E47-8DD2-71A1DA4F0C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16</a:t>
                  </a:r>
                </a:p>
              </p:txBody>
            </p:sp>
            <p:sp>
              <p:nvSpPr>
                <p:cNvPr id="21557" name="Line 17">
                  <a:extLst>
                    <a:ext uri="{FF2B5EF4-FFF2-40B4-BE49-F238E27FC236}">
                      <a16:creationId xmlns:a16="http://schemas.microsoft.com/office/drawing/2014/main" id="{7697B501-B680-DF4D-981D-B90E7E90FD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58" name="Text Box 18">
                  <a:extLst>
                    <a:ext uri="{FF2B5EF4-FFF2-40B4-BE49-F238E27FC236}">
                      <a16:creationId xmlns:a16="http://schemas.microsoft.com/office/drawing/2014/main" id="{D729BF4B-C556-F641-8E3E-1F4045A801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21559" name="Line 19">
                  <a:extLst>
                    <a:ext uri="{FF2B5EF4-FFF2-40B4-BE49-F238E27FC236}">
                      <a16:creationId xmlns:a16="http://schemas.microsoft.com/office/drawing/2014/main" id="{515716F2-5787-C343-8963-823FB5C15A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6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60" name="Text Box 20">
                  <a:extLst>
                    <a:ext uri="{FF2B5EF4-FFF2-40B4-BE49-F238E27FC236}">
                      <a16:creationId xmlns:a16="http://schemas.microsoft.com/office/drawing/2014/main" id="{0A9A74ED-1992-AC40-A17B-A2474DC066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24</a:t>
                  </a:r>
                </a:p>
              </p:txBody>
            </p:sp>
            <p:sp>
              <p:nvSpPr>
                <p:cNvPr id="21561" name="Line 21">
                  <a:extLst>
                    <a:ext uri="{FF2B5EF4-FFF2-40B4-BE49-F238E27FC236}">
                      <a16:creationId xmlns:a16="http://schemas.microsoft.com/office/drawing/2014/main" id="{872BBD89-BBB8-004E-9745-A7BA2E4BA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62" name="Text Box 22">
                  <a:extLst>
                    <a:ext uri="{FF2B5EF4-FFF2-40B4-BE49-F238E27FC236}">
                      <a16:creationId xmlns:a16="http://schemas.microsoft.com/office/drawing/2014/main" id="{663313B4-3823-564C-AC19-F2BB27F701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28</a:t>
                  </a:r>
                </a:p>
              </p:txBody>
            </p:sp>
            <p:sp>
              <p:nvSpPr>
                <p:cNvPr id="21563" name="Line 23">
                  <a:extLst>
                    <a:ext uri="{FF2B5EF4-FFF2-40B4-BE49-F238E27FC236}">
                      <a16:creationId xmlns:a16="http://schemas.microsoft.com/office/drawing/2014/main" id="{727AC0DD-F1DE-0D44-B592-B9CBFE65A2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64" name="Text Box 24">
                  <a:extLst>
                    <a:ext uri="{FF2B5EF4-FFF2-40B4-BE49-F238E27FC236}">
                      <a16:creationId xmlns:a16="http://schemas.microsoft.com/office/drawing/2014/main" id="{0827A0E1-A112-964B-A145-707E13AE8F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32</a:t>
                  </a:r>
                </a:p>
              </p:txBody>
            </p:sp>
            <p:sp>
              <p:nvSpPr>
                <p:cNvPr id="21565" name="Line 25">
                  <a:extLst>
                    <a:ext uri="{FF2B5EF4-FFF2-40B4-BE49-F238E27FC236}">
                      <a16:creationId xmlns:a16="http://schemas.microsoft.com/office/drawing/2014/main" id="{38B78B67-8833-4548-BC8F-6B4E8F4F7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66" name="Text Box 26">
                  <a:extLst>
                    <a:ext uri="{FF2B5EF4-FFF2-40B4-BE49-F238E27FC236}">
                      <a16:creationId xmlns:a16="http://schemas.microsoft.com/office/drawing/2014/main" id="{27C287A7-A616-9B41-8660-48ACE62F11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36</a:t>
                  </a:r>
                </a:p>
              </p:txBody>
            </p:sp>
          </p:grpSp>
        </p:grpSp>
        <p:grpSp>
          <p:nvGrpSpPr>
            <p:cNvPr id="21510" name="Group 27">
              <a:extLst>
                <a:ext uri="{FF2B5EF4-FFF2-40B4-BE49-F238E27FC236}">
                  <a16:creationId xmlns:a16="http://schemas.microsoft.com/office/drawing/2014/main" id="{B77CFF54-8F11-8B49-9A2D-53F01DE08F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2169"/>
              <a:ext cx="4464" cy="540"/>
              <a:chOff x="406" y="1680"/>
              <a:chExt cx="4464" cy="540"/>
            </a:xfrm>
          </p:grpSpPr>
          <p:sp>
            <p:nvSpPr>
              <p:cNvPr id="21532" name="Text Box 28">
                <a:extLst>
                  <a:ext uri="{FF2B5EF4-FFF2-40B4-BE49-F238E27FC236}">
                    <a16:creationId xmlns:a16="http://schemas.microsoft.com/office/drawing/2014/main" id="{989E3355-7DA1-5C45-9669-5F36396BA1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" y="1680"/>
                <a:ext cx="128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2000">
                    <a:latin typeface="Courier New" panose="02070309020205020404" pitchFamily="49" charset="0"/>
                  </a:rPr>
                  <a:t>zip_dig mit;</a:t>
                </a:r>
              </a:p>
            </p:txBody>
          </p:sp>
          <p:grpSp>
            <p:nvGrpSpPr>
              <p:cNvPr id="21533" name="Group 34">
                <a:extLst>
                  <a:ext uri="{FF2B5EF4-FFF2-40B4-BE49-F238E27FC236}">
                    <a16:creationId xmlns:a16="http://schemas.microsoft.com/office/drawing/2014/main" id="{CF42D1C1-1FA8-D142-B1B4-A5862E265B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728"/>
                <a:ext cx="3190" cy="492"/>
                <a:chOff x="1680" y="1728"/>
                <a:chExt cx="3190" cy="492"/>
              </a:xfrm>
            </p:grpSpPr>
            <p:grpSp>
              <p:nvGrpSpPr>
                <p:cNvPr id="21534" name="Group 35">
                  <a:extLst>
                    <a:ext uri="{FF2B5EF4-FFF2-40B4-BE49-F238E27FC236}">
                      <a16:creationId xmlns:a16="http://schemas.microsoft.com/office/drawing/2014/main" id="{1B8052D3-67D4-2640-BF8D-92D258C7B6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1728"/>
                  <a:ext cx="2880" cy="144"/>
                  <a:chOff x="1776" y="1728"/>
                  <a:chExt cx="2880" cy="144"/>
                </a:xfrm>
              </p:grpSpPr>
              <p:sp>
                <p:nvSpPr>
                  <p:cNvPr id="21547" name="Rectangle 31">
                    <a:extLst>
                      <a:ext uri="{FF2B5EF4-FFF2-40B4-BE49-F238E27FC236}">
                        <a16:creationId xmlns:a16="http://schemas.microsoft.com/office/drawing/2014/main" id="{AF824567-4D56-BB48-A1F3-56CAF42A2F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0</a:t>
                    </a:r>
                  </a:p>
                </p:txBody>
              </p:sp>
              <p:sp>
                <p:nvSpPr>
                  <p:cNvPr id="21548" name="Rectangle 32">
                    <a:extLst>
                      <a:ext uri="{FF2B5EF4-FFF2-40B4-BE49-F238E27FC236}">
                        <a16:creationId xmlns:a16="http://schemas.microsoft.com/office/drawing/2014/main" id="{2CB94177-E18C-334A-B32E-52236B3197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1549" name="Rectangle 33">
                    <a:extLst>
                      <a:ext uri="{FF2B5EF4-FFF2-40B4-BE49-F238E27FC236}">
                        <a16:creationId xmlns:a16="http://schemas.microsoft.com/office/drawing/2014/main" id="{90A4A370-C648-9E4C-AAD6-C794B447E7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1550" name="Rectangle 34">
                    <a:extLst>
                      <a:ext uri="{FF2B5EF4-FFF2-40B4-BE49-F238E27FC236}">
                        <a16:creationId xmlns:a16="http://schemas.microsoft.com/office/drawing/2014/main" id="{5A3C31E2-4843-6F44-B43F-CBBBB9689A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3</a:t>
                    </a:r>
                  </a:p>
                </p:txBody>
              </p:sp>
              <p:sp>
                <p:nvSpPr>
                  <p:cNvPr id="21551" name="Rectangle 35">
                    <a:extLst>
                      <a:ext uri="{FF2B5EF4-FFF2-40B4-BE49-F238E27FC236}">
                        <a16:creationId xmlns:a16="http://schemas.microsoft.com/office/drawing/2014/main" id="{E02E625C-C084-D64F-80EF-502F9ADAD0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9</a:t>
                    </a:r>
                  </a:p>
                </p:txBody>
              </p:sp>
            </p:grpSp>
            <p:sp>
              <p:nvSpPr>
                <p:cNvPr id="21535" name="Line 36">
                  <a:extLst>
                    <a:ext uri="{FF2B5EF4-FFF2-40B4-BE49-F238E27FC236}">
                      <a16:creationId xmlns:a16="http://schemas.microsoft.com/office/drawing/2014/main" id="{4DABC354-FCCE-0449-9DF6-BD42B7CC5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2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36" name="Text Box 37">
                  <a:extLst>
                    <a:ext uri="{FF2B5EF4-FFF2-40B4-BE49-F238E27FC236}">
                      <a16:creationId xmlns:a16="http://schemas.microsoft.com/office/drawing/2014/main" id="{DFB5F7BF-72CF-E049-83EB-039ADF10D5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36</a:t>
                  </a:r>
                </a:p>
              </p:txBody>
            </p:sp>
            <p:sp>
              <p:nvSpPr>
                <p:cNvPr id="21537" name="Line 38">
                  <a:extLst>
                    <a:ext uri="{FF2B5EF4-FFF2-40B4-BE49-F238E27FC236}">
                      <a16:creationId xmlns:a16="http://schemas.microsoft.com/office/drawing/2014/main" id="{D7E50B89-95A0-F64F-B4F2-B52F992FB6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38" name="Text Box 39">
                  <a:extLst>
                    <a:ext uri="{FF2B5EF4-FFF2-40B4-BE49-F238E27FC236}">
                      <a16:creationId xmlns:a16="http://schemas.microsoft.com/office/drawing/2014/main" id="{94E6189C-5C68-1F4C-8FF1-55E667C087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40</a:t>
                  </a:r>
                </a:p>
              </p:txBody>
            </p:sp>
            <p:sp>
              <p:nvSpPr>
                <p:cNvPr id="21539" name="Line 40">
                  <a:extLst>
                    <a:ext uri="{FF2B5EF4-FFF2-40B4-BE49-F238E27FC236}">
                      <a16:creationId xmlns:a16="http://schemas.microsoft.com/office/drawing/2014/main" id="{A2A9B8C1-D68C-EC41-9ACF-2058932451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6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40" name="Text Box 41">
                  <a:extLst>
                    <a:ext uri="{FF2B5EF4-FFF2-40B4-BE49-F238E27FC236}">
                      <a16:creationId xmlns:a16="http://schemas.microsoft.com/office/drawing/2014/main" id="{DCDE079A-9346-5540-B577-2AFC3357B8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44</a:t>
                  </a:r>
                </a:p>
              </p:txBody>
            </p:sp>
            <p:sp>
              <p:nvSpPr>
                <p:cNvPr id="21541" name="Line 42">
                  <a:extLst>
                    <a:ext uri="{FF2B5EF4-FFF2-40B4-BE49-F238E27FC236}">
                      <a16:creationId xmlns:a16="http://schemas.microsoft.com/office/drawing/2014/main" id="{6AE0EE09-80AB-4C40-B4C1-58308046B4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42" name="Text Box 43">
                  <a:extLst>
                    <a:ext uri="{FF2B5EF4-FFF2-40B4-BE49-F238E27FC236}">
                      <a16:creationId xmlns:a16="http://schemas.microsoft.com/office/drawing/2014/main" id="{C090E181-C847-EF4E-BAD3-6ECE115159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48</a:t>
                  </a:r>
                </a:p>
              </p:txBody>
            </p:sp>
            <p:sp>
              <p:nvSpPr>
                <p:cNvPr id="21543" name="Line 44">
                  <a:extLst>
                    <a:ext uri="{FF2B5EF4-FFF2-40B4-BE49-F238E27FC236}">
                      <a16:creationId xmlns:a16="http://schemas.microsoft.com/office/drawing/2014/main" id="{F6DCB0B0-4B97-FB45-A4B4-630A294F42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44" name="Text Box 45">
                  <a:extLst>
                    <a:ext uri="{FF2B5EF4-FFF2-40B4-BE49-F238E27FC236}">
                      <a16:creationId xmlns:a16="http://schemas.microsoft.com/office/drawing/2014/main" id="{2CECD76A-E3CB-244E-B21E-729623A27E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52</a:t>
                  </a:r>
                </a:p>
              </p:txBody>
            </p:sp>
            <p:sp>
              <p:nvSpPr>
                <p:cNvPr id="21545" name="Line 46">
                  <a:extLst>
                    <a:ext uri="{FF2B5EF4-FFF2-40B4-BE49-F238E27FC236}">
                      <a16:creationId xmlns:a16="http://schemas.microsoft.com/office/drawing/2014/main" id="{37D06101-F6D5-134F-BDFA-50DB2CB518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46" name="Text Box 47">
                  <a:extLst>
                    <a:ext uri="{FF2B5EF4-FFF2-40B4-BE49-F238E27FC236}">
                      <a16:creationId xmlns:a16="http://schemas.microsoft.com/office/drawing/2014/main" id="{5E0EA66E-D64D-2B44-9124-95B074154F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56</a:t>
                  </a:r>
                </a:p>
              </p:txBody>
            </p:sp>
          </p:grpSp>
        </p:grpSp>
        <p:grpSp>
          <p:nvGrpSpPr>
            <p:cNvPr id="21511" name="Group 48">
              <a:extLst>
                <a:ext uri="{FF2B5EF4-FFF2-40B4-BE49-F238E27FC236}">
                  <a16:creationId xmlns:a16="http://schemas.microsoft.com/office/drawing/2014/main" id="{F6D94DBC-9993-D04B-B299-6A69AABC8A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2649"/>
              <a:ext cx="4464" cy="540"/>
              <a:chOff x="406" y="1680"/>
              <a:chExt cx="4464" cy="540"/>
            </a:xfrm>
          </p:grpSpPr>
          <p:sp>
            <p:nvSpPr>
              <p:cNvPr id="21512" name="Text Box 49">
                <a:extLst>
                  <a:ext uri="{FF2B5EF4-FFF2-40B4-BE49-F238E27FC236}">
                    <a16:creationId xmlns:a16="http://schemas.microsoft.com/office/drawing/2014/main" id="{17A1A6D2-978C-2A4D-BF1D-038B99E47D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" y="1680"/>
                <a:ext cx="128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2000">
                    <a:latin typeface="Courier New" panose="02070309020205020404" pitchFamily="49" charset="0"/>
                  </a:rPr>
                  <a:t>zip_dig ucb;</a:t>
                </a:r>
              </a:p>
            </p:txBody>
          </p:sp>
          <p:grpSp>
            <p:nvGrpSpPr>
              <p:cNvPr id="21513" name="Group 50">
                <a:extLst>
                  <a:ext uri="{FF2B5EF4-FFF2-40B4-BE49-F238E27FC236}">
                    <a16:creationId xmlns:a16="http://schemas.microsoft.com/office/drawing/2014/main" id="{8B4CD64C-E8D3-1B44-B34F-5C8756E6D4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728"/>
                <a:ext cx="3190" cy="492"/>
                <a:chOff x="1680" y="1728"/>
                <a:chExt cx="3190" cy="492"/>
              </a:xfrm>
            </p:grpSpPr>
            <p:grpSp>
              <p:nvGrpSpPr>
                <p:cNvPr id="21514" name="Group 51">
                  <a:extLst>
                    <a:ext uri="{FF2B5EF4-FFF2-40B4-BE49-F238E27FC236}">
                      <a16:creationId xmlns:a16="http://schemas.microsoft.com/office/drawing/2014/main" id="{557406AE-2A16-3A4D-9A07-9D1FD1F94C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1728"/>
                  <a:ext cx="2880" cy="144"/>
                  <a:chOff x="1776" y="1728"/>
                  <a:chExt cx="2880" cy="144"/>
                </a:xfrm>
              </p:grpSpPr>
              <p:sp>
                <p:nvSpPr>
                  <p:cNvPr id="21527" name="Rectangle 52">
                    <a:extLst>
                      <a:ext uri="{FF2B5EF4-FFF2-40B4-BE49-F238E27FC236}">
                        <a16:creationId xmlns:a16="http://schemas.microsoft.com/office/drawing/2014/main" id="{29F34F94-9048-9149-9D74-5C174773DB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9</a:t>
                    </a:r>
                  </a:p>
                </p:txBody>
              </p:sp>
              <p:sp>
                <p:nvSpPr>
                  <p:cNvPr id="21528" name="Rectangle 53">
                    <a:extLst>
                      <a:ext uri="{FF2B5EF4-FFF2-40B4-BE49-F238E27FC236}">
                        <a16:creationId xmlns:a16="http://schemas.microsoft.com/office/drawing/2014/main" id="{E2E6CB9E-4491-B24B-9809-6330705B84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4</a:t>
                    </a:r>
                  </a:p>
                </p:txBody>
              </p:sp>
              <p:sp>
                <p:nvSpPr>
                  <p:cNvPr id="21529" name="Rectangle 54">
                    <a:extLst>
                      <a:ext uri="{FF2B5EF4-FFF2-40B4-BE49-F238E27FC236}">
                        <a16:creationId xmlns:a16="http://schemas.microsoft.com/office/drawing/2014/main" id="{128B14AE-0EF2-384E-BFB1-729E666910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7</a:t>
                    </a:r>
                  </a:p>
                </p:txBody>
              </p:sp>
              <p:sp>
                <p:nvSpPr>
                  <p:cNvPr id="21530" name="Rectangle 55">
                    <a:extLst>
                      <a:ext uri="{FF2B5EF4-FFF2-40B4-BE49-F238E27FC236}">
                        <a16:creationId xmlns:a16="http://schemas.microsoft.com/office/drawing/2014/main" id="{954EAA65-585F-0546-8750-9E8F04B3E1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1531" name="Rectangle 56">
                    <a:extLst>
                      <a:ext uri="{FF2B5EF4-FFF2-40B4-BE49-F238E27FC236}">
                        <a16:creationId xmlns:a16="http://schemas.microsoft.com/office/drawing/2014/main" id="{E9B5912C-18DD-F944-8852-42F34FC25D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21515" name="Line 57">
                  <a:extLst>
                    <a:ext uri="{FF2B5EF4-FFF2-40B4-BE49-F238E27FC236}">
                      <a16:creationId xmlns:a16="http://schemas.microsoft.com/office/drawing/2014/main" id="{EF82C7AC-4116-B94A-9FBC-C5930DF4B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2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16" name="Text Box 58">
                  <a:extLst>
                    <a:ext uri="{FF2B5EF4-FFF2-40B4-BE49-F238E27FC236}">
                      <a16:creationId xmlns:a16="http://schemas.microsoft.com/office/drawing/2014/main" id="{CB8148C9-2053-7446-AEDE-26F878469C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56</a:t>
                  </a:r>
                </a:p>
              </p:txBody>
            </p:sp>
            <p:sp>
              <p:nvSpPr>
                <p:cNvPr id="21517" name="Line 59">
                  <a:extLst>
                    <a:ext uri="{FF2B5EF4-FFF2-40B4-BE49-F238E27FC236}">
                      <a16:creationId xmlns:a16="http://schemas.microsoft.com/office/drawing/2014/main" id="{5EA58551-4508-C949-8253-66682A8F4E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18" name="Text Box 60">
                  <a:extLst>
                    <a:ext uri="{FF2B5EF4-FFF2-40B4-BE49-F238E27FC236}">
                      <a16:creationId xmlns:a16="http://schemas.microsoft.com/office/drawing/2014/main" id="{3DB3E212-FF0B-9948-B249-843A74C776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60</a:t>
                  </a:r>
                </a:p>
              </p:txBody>
            </p:sp>
            <p:sp>
              <p:nvSpPr>
                <p:cNvPr id="21519" name="Line 61">
                  <a:extLst>
                    <a:ext uri="{FF2B5EF4-FFF2-40B4-BE49-F238E27FC236}">
                      <a16:creationId xmlns:a16="http://schemas.microsoft.com/office/drawing/2014/main" id="{15730622-1556-BE4C-B3C0-E67D035CE7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6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20" name="Text Box 62">
                  <a:extLst>
                    <a:ext uri="{FF2B5EF4-FFF2-40B4-BE49-F238E27FC236}">
                      <a16:creationId xmlns:a16="http://schemas.microsoft.com/office/drawing/2014/main" id="{0DBFCB51-5921-AB4B-BD61-949943AD72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64</a:t>
                  </a:r>
                </a:p>
              </p:txBody>
            </p:sp>
            <p:sp>
              <p:nvSpPr>
                <p:cNvPr id="21521" name="Line 63">
                  <a:extLst>
                    <a:ext uri="{FF2B5EF4-FFF2-40B4-BE49-F238E27FC236}">
                      <a16:creationId xmlns:a16="http://schemas.microsoft.com/office/drawing/2014/main" id="{E1BEC6AB-CF38-D64C-9B29-35FF8C8C78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22" name="Text Box 64">
                  <a:extLst>
                    <a:ext uri="{FF2B5EF4-FFF2-40B4-BE49-F238E27FC236}">
                      <a16:creationId xmlns:a16="http://schemas.microsoft.com/office/drawing/2014/main" id="{E1E1F4E7-059E-AC47-99C8-F76F30E6AA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68</a:t>
                  </a:r>
                </a:p>
              </p:txBody>
            </p:sp>
            <p:sp>
              <p:nvSpPr>
                <p:cNvPr id="21523" name="Line 65">
                  <a:extLst>
                    <a:ext uri="{FF2B5EF4-FFF2-40B4-BE49-F238E27FC236}">
                      <a16:creationId xmlns:a16="http://schemas.microsoft.com/office/drawing/2014/main" id="{0C215FED-C13E-BD4A-878E-97FF107F58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24" name="Text Box 66">
                  <a:extLst>
                    <a:ext uri="{FF2B5EF4-FFF2-40B4-BE49-F238E27FC236}">
                      <a16:creationId xmlns:a16="http://schemas.microsoft.com/office/drawing/2014/main" id="{09B0D569-E148-F448-A410-8C8F1FFE9C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72</a:t>
                  </a:r>
                </a:p>
              </p:txBody>
            </p:sp>
            <p:sp>
              <p:nvSpPr>
                <p:cNvPr id="21525" name="Line 67">
                  <a:extLst>
                    <a:ext uri="{FF2B5EF4-FFF2-40B4-BE49-F238E27FC236}">
                      <a16:creationId xmlns:a16="http://schemas.microsoft.com/office/drawing/2014/main" id="{177D8BF0-DDC9-E743-B501-5C427E634A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26" name="Text Box 68">
                  <a:extLst>
                    <a:ext uri="{FF2B5EF4-FFF2-40B4-BE49-F238E27FC236}">
                      <a16:creationId xmlns:a16="http://schemas.microsoft.com/office/drawing/2014/main" id="{55B4E7D9-C50C-6C46-94CF-1BE6E2AA43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76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696CB29-3CF4-764C-9271-8B753B8D6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6680200" cy="573088"/>
          </a:xfrm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Array Accessing Example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320EC68-C7EA-A04A-918B-98A47B344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91000"/>
            <a:ext cx="56388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+mn-lt"/>
                <a:ea typeface="+mn-ea"/>
                <a:cs typeface="ＭＳ Ｐゴシック" charset="0"/>
              </a:rPr>
              <a:t>Memory Reference Code</a:t>
            </a:r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7F466E2E-B208-EF4B-92C1-E734A7CE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524000"/>
            <a:ext cx="3886200" cy="162877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latin typeface="Courier New" panose="02070309020205020404" pitchFamily="49" charset="0"/>
              </a:rPr>
              <a:t>int get_digit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  (zip_dig z, int dig){</a:t>
            </a:r>
          </a:p>
          <a:p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000">
                <a:latin typeface="Courier New" panose="02070309020205020404" pitchFamily="49" charset="0"/>
              </a:rPr>
              <a:t>  return z[dig];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B1B019B3-0E4B-904C-A40C-9636F762A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876800"/>
            <a:ext cx="5638800" cy="107473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sz="2000">
                <a:latin typeface="Courier New" panose="02070309020205020404" pitchFamily="49" charset="0"/>
              </a:rPr>
              <a:t> # %edx = z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  # %eax = dig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	movl (%edx,%eax,4),%eax # z[dig]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F006200B-C385-6D4C-83CB-95DD9BB26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66800"/>
            <a:ext cx="4876800" cy="297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385763" indent="-38576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charset="0"/>
              <a:buNone/>
              <a:defRPr/>
            </a:pPr>
            <a:r>
              <a:rPr 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  <a:ea typeface="ＭＳ Ｐゴシック" charset="0"/>
                <a:cs typeface="ＭＳ Ｐゴシック" charset="0"/>
              </a:rPr>
              <a:t>Computation</a:t>
            </a:r>
          </a:p>
          <a:p>
            <a:pPr marL="744538" lvl="1" indent="-246063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defRPr/>
            </a:pPr>
            <a:r>
              <a:rPr lang="en-US" sz="2000" b="0">
                <a:latin typeface="Times" charset="0"/>
                <a:ea typeface="ＭＳ Ｐゴシック" charset="0"/>
                <a:cs typeface="ＭＳ Ｐゴシック" charset="0"/>
              </a:rPr>
              <a:t>Register </a:t>
            </a:r>
            <a:r>
              <a:rPr lang="en-US" sz="2000" b="0">
                <a:latin typeface="Courier New" charset="0"/>
                <a:ea typeface="ＭＳ Ｐゴシック" charset="0"/>
                <a:cs typeface="ＭＳ Ｐゴシック" charset="0"/>
              </a:rPr>
              <a:t>%edx</a:t>
            </a:r>
            <a:r>
              <a:rPr lang="en-US" sz="2000" b="0">
                <a:latin typeface="Times" charset="0"/>
                <a:ea typeface="ＭＳ Ｐゴシック" charset="0"/>
                <a:cs typeface="ＭＳ Ｐゴシック" charset="0"/>
              </a:rPr>
              <a:t> contains starting address of array</a:t>
            </a:r>
          </a:p>
          <a:p>
            <a:pPr marL="744538" lvl="1" indent="-246063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defRPr/>
            </a:pPr>
            <a:r>
              <a:rPr lang="en-US" sz="2000" b="0">
                <a:latin typeface="Times" charset="0"/>
                <a:ea typeface="ＭＳ Ｐゴシック" charset="0"/>
                <a:cs typeface="ＭＳ Ｐゴシック" charset="0"/>
              </a:rPr>
              <a:t>Register </a:t>
            </a:r>
            <a:r>
              <a:rPr lang="en-US" sz="2000" b="0">
                <a:latin typeface="Courier New" charset="0"/>
                <a:ea typeface="ＭＳ Ｐゴシック" charset="0"/>
                <a:cs typeface="ＭＳ Ｐゴシック" charset="0"/>
              </a:rPr>
              <a:t>%eax</a:t>
            </a:r>
            <a:r>
              <a:rPr lang="en-US" sz="2000" b="0">
                <a:latin typeface="Times" charset="0"/>
                <a:ea typeface="ＭＳ Ｐゴシック" charset="0"/>
                <a:cs typeface="ＭＳ Ｐゴシック" charset="0"/>
              </a:rPr>
              <a:t> contains array index</a:t>
            </a:r>
          </a:p>
          <a:p>
            <a:pPr marL="744538" lvl="1" indent="-246063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defRPr/>
            </a:pPr>
            <a:r>
              <a:rPr lang="en-US" sz="2000" b="0">
                <a:latin typeface="Times" charset="0"/>
                <a:ea typeface="ＭＳ Ｐゴシック" charset="0"/>
                <a:cs typeface="ＭＳ Ｐゴシック" charset="0"/>
              </a:rPr>
              <a:t>Desired digit at </a:t>
            </a:r>
            <a:r>
              <a:rPr lang="en-US" sz="2000" b="0">
                <a:latin typeface="Courier New" charset="0"/>
                <a:ea typeface="ＭＳ Ｐゴシック" charset="0"/>
                <a:cs typeface="ＭＳ Ｐゴシック" charset="0"/>
              </a:rPr>
              <a:t>4*%eax + %edx</a:t>
            </a:r>
            <a:endParaRPr lang="en-US" sz="2000" b="0">
              <a:latin typeface="Times" charset="0"/>
              <a:ea typeface="ＭＳ Ｐゴシック" charset="0"/>
              <a:cs typeface="ＭＳ Ｐゴシック" charset="0"/>
            </a:endParaRPr>
          </a:p>
          <a:p>
            <a:pPr marL="744538" lvl="1" indent="-246063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defRPr/>
            </a:pPr>
            <a:r>
              <a:rPr lang="en-US" sz="2000" b="0">
                <a:latin typeface="Times" charset="0"/>
                <a:ea typeface="ＭＳ Ｐゴシック" charset="0"/>
                <a:cs typeface="ＭＳ Ｐゴシック" charset="0"/>
              </a:rPr>
              <a:t>Use memory reference </a:t>
            </a:r>
            <a:r>
              <a:rPr lang="en-US" sz="2000" b="0">
                <a:latin typeface="Courier New" charset="0"/>
                <a:ea typeface="ＭＳ Ｐゴシック" charset="0"/>
                <a:cs typeface="ＭＳ Ｐゴシック" charset="0"/>
              </a:rPr>
              <a:t>(%edx,%eax,4)</a:t>
            </a:r>
            <a:endParaRPr lang="en-US" sz="2000" b="0">
              <a:latin typeface="Times" charset="0"/>
              <a:ea typeface="ＭＳ Ｐゴシック" charset="0"/>
              <a:cs typeface="ＭＳ Ｐゴシック" charset="0"/>
            </a:endParaRPr>
          </a:p>
          <a:p>
            <a:pPr marL="385763" indent="-38576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charset="0"/>
              <a:buNone/>
              <a:defRPr/>
            </a:pPr>
            <a:endParaRPr lang="en-US"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81BD1ED-5602-3C43-A375-A04FC6BB3CB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228600"/>
            <a:ext cx="6248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Referencing Examples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CEDBC04-4648-A24E-AB75-0372266B5A3C}"/>
              </a:ext>
            </a:extLst>
          </p:cNvPr>
          <p:cNvSpPr txBox="1">
            <a:spLocks noChangeArrowheads="1"/>
          </p:cNvSpPr>
          <p:nvPr/>
        </p:nvSpPr>
        <p:spPr>
          <a:xfrm>
            <a:off x="290513" y="3429000"/>
            <a:ext cx="8853487" cy="3016250"/>
          </a:xfrm>
          <a:prstGeom prst="rect">
            <a:avLst/>
          </a:prstGeom>
        </p:spPr>
        <p:txBody>
          <a:bodyPr/>
          <a:lstStyle/>
          <a:p>
            <a:pPr marL="223838" indent="-223838" defTabSz="895350">
              <a:spcBef>
                <a:spcPct val="20000"/>
              </a:spcBef>
              <a:buFont typeface="Arial" charset="0"/>
              <a:buChar char="•"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Code Does Not Do Any Bounds Checking!</a:t>
            </a:r>
          </a:p>
          <a:p>
            <a:pPr marL="223838" indent="-223838" defTabSz="895350">
              <a:spcBef>
                <a:spcPct val="20000"/>
              </a:spcBef>
              <a:buFont typeface="Arial" charset="0"/>
              <a:buChar char="•"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Reference	Address	Value	Guaranteed?</a:t>
            </a:r>
          </a:p>
          <a:p>
            <a:pPr marL="560388" lvl="1" indent="-222250" defTabSz="895350">
              <a:spcBef>
                <a:spcPct val="20000"/>
              </a:spcBef>
              <a:buFont typeface="Wingdings" pitchFamily="2" charset="2"/>
              <a:buNone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sz="2000" b="0" dirty="0" err="1">
                <a:latin typeface="Courier New" pitchFamily="49" charset="0"/>
                <a:ea typeface="+mn-ea"/>
                <a:cs typeface="ＭＳ Ｐゴシック" charset="0"/>
              </a:rPr>
              <a:t>mit</a:t>
            </a:r>
            <a:r>
              <a:rPr lang="en-US" sz="2000" b="0" dirty="0">
                <a:latin typeface="Courier New" pitchFamily="49" charset="0"/>
                <a:ea typeface="+mn-ea"/>
                <a:cs typeface="ＭＳ Ｐゴシック" charset="0"/>
              </a:rPr>
              <a:t>[3]	36 + 4* 3 = 48	3	</a:t>
            </a:r>
          </a:p>
          <a:p>
            <a:pPr marL="560388" lvl="1" indent="-222250" defTabSz="895350">
              <a:spcBef>
                <a:spcPct val="20000"/>
              </a:spcBef>
              <a:buFont typeface="Wingdings" pitchFamily="2" charset="2"/>
              <a:buNone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sz="2000" b="0" dirty="0" err="1">
                <a:latin typeface="Courier New" pitchFamily="49" charset="0"/>
                <a:ea typeface="+mn-ea"/>
                <a:cs typeface="ＭＳ Ｐゴシック" charset="0"/>
              </a:rPr>
              <a:t>mit</a:t>
            </a:r>
            <a:r>
              <a:rPr lang="en-US" sz="2000" b="0" dirty="0">
                <a:latin typeface="Courier New" pitchFamily="49" charset="0"/>
                <a:ea typeface="+mn-ea"/>
                <a:cs typeface="ＭＳ Ｐゴシック" charset="0"/>
              </a:rPr>
              <a:t>[5]	36 + 4* 5 = 56	9	</a:t>
            </a:r>
          </a:p>
          <a:p>
            <a:pPr marL="560388" lvl="1" indent="-222250" defTabSz="895350">
              <a:spcBef>
                <a:spcPct val="20000"/>
              </a:spcBef>
              <a:buFont typeface="Wingdings" pitchFamily="2" charset="2"/>
              <a:buNone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sz="2000" b="0" dirty="0" err="1">
                <a:latin typeface="Courier New" pitchFamily="49" charset="0"/>
                <a:ea typeface="+mn-ea"/>
                <a:cs typeface="ＭＳ Ｐゴシック" charset="0"/>
              </a:rPr>
              <a:t>mit</a:t>
            </a:r>
            <a:r>
              <a:rPr lang="en-US" sz="2000" b="0" dirty="0">
                <a:latin typeface="Courier New" pitchFamily="49" charset="0"/>
                <a:ea typeface="+mn-ea"/>
                <a:cs typeface="ＭＳ Ｐゴシック" charset="0"/>
              </a:rPr>
              <a:t>[-1]	36 + 4*-1 = 32	3	</a:t>
            </a:r>
          </a:p>
          <a:p>
            <a:pPr marL="560388" lvl="1" indent="-222250" defTabSz="895350">
              <a:spcBef>
                <a:spcPct val="20000"/>
              </a:spcBef>
              <a:buFont typeface="Wingdings" pitchFamily="2" charset="2"/>
              <a:buNone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sz="2000" b="0" dirty="0" err="1">
                <a:latin typeface="Courier New" pitchFamily="49" charset="0"/>
                <a:ea typeface="+mn-ea"/>
                <a:cs typeface="ＭＳ Ｐゴシック" charset="0"/>
              </a:rPr>
              <a:t>cmu</a:t>
            </a:r>
            <a:r>
              <a:rPr lang="en-US" sz="2000" b="0" dirty="0">
                <a:latin typeface="Courier New" pitchFamily="49" charset="0"/>
                <a:ea typeface="+mn-ea"/>
                <a:cs typeface="ＭＳ Ｐゴシック" charset="0"/>
              </a:rPr>
              <a:t>[15]	16 + 4*15 = 76	?? 	</a:t>
            </a:r>
          </a:p>
          <a:p>
            <a:pPr marL="560388" lvl="1" indent="-222250" defTabSz="895350">
              <a:spcBef>
                <a:spcPct val="20000"/>
              </a:spcBef>
              <a:buFont typeface="Arial" charset="0"/>
              <a:buChar char="–"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Out of range behavior implementation-dependent</a:t>
            </a:r>
          </a:p>
          <a:p>
            <a:pPr marL="839788" lvl="2" indent="-165100" defTabSz="895350">
              <a:spcBef>
                <a:spcPct val="20000"/>
              </a:spcBef>
              <a:buFont typeface="Arial" charset="0"/>
              <a:buChar char="•"/>
              <a:tabLst>
                <a:tab pos="2235200" algn="l"/>
                <a:tab pos="4686300" algn="l"/>
                <a:tab pos="5943600" algn="l"/>
              </a:tabLst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No guaranteed relative allocation of different arrays </a:t>
            </a:r>
          </a:p>
        </p:txBody>
      </p:sp>
      <p:sp>
        <p:nvSpPr>
          <p:cNvPr id="72" name="Rectangle 68">
            <a:extLst>
              <a:ext uri="{FF2B5EF4-FFF2-40B4-BE49-F238E27FC236}">
                <a16:creationId xmlns:a16="http://schemas.microsoft.com/office/drawing/2014/main" id="{711B251C-1119-254C-9646-74103969B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267200"/>
            <a:ext cx="544513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</a:t>
            </a:r>
          </a:p>
        </p:txBody>
      </p:sp>
      <p:sp>
        <p:nvSpPr>
          <p:cNvPr id="73" name="Rectangle 69">
            <a:extLst>
              <a:ext uri="{FF2B5EF4-FFF2-40B4-BE49-F238E27FC236}">
                <a16:creationId xmlns:a16="http://schemas.microsoft.com/office/drawing/2014/main" id="{B5445C81-38A7-4844-BB33-B8570B4D7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648200"/>
            <a:ext cx="431800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  <p:sp>
        <p:nvSpPr>
          <p:cNvPr id="74" name="Rectangle 70">
            <a:extLst>
              <a:ext uri="{FF2B5EF4-FFF2-40B4-BE49-F238E27FC236}">
                <a16:creationId xmlns:a16="http://schemas.microsoft.com/office/drawing/2014/main" id="{443B369B-F639-1A4E-B83D-5633C8E94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953000"/>
            <a:ext cx="431800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  <p:sp>
        <p:nvSpPr>
          <p:cNvPr id="75" name="Rectangle 71">
            <a:extLst>
              <a:ext uri="{FF2B5EF4-FFF2-40B4-BE49-F238E27FC236}">
                <a16:creationId xmlns:a16="http://schemas.microsoft.com/office/drawing/2014/main" id="{51A745CB-E32B-FB4F-A99E-FB20A0F4D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257800"/>
            <a:ext cx="431800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  <p:grpSp>
        <p:nvGrpSpPr>
          <p:cNvPr id="23559" name="Group 5">
            <a:extLst>
              <a:ext uri="{FF2B5EF4-FFF2-40B4-BE49-F238E27FC236}">
                <a16:creationId xmlns:a16="http://schemas.microsoft.com/office/drawing/2014/main" id="{3A662099-8FC5-9F47-BBE0-D97F7398854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066800"/>
            <a:ext cx="7102475" cy="2395538"/>
            <a:chOff x="396" y="1680"/>
            <a:chExt cx="4474" cy="1509"/>
          </a:xfrm>
        </p:grpSpPr>
        <p:grpSp>
          <p:nvGrpSpPr>
            <p:cNvPr id="23560" name="Group 6">
              <a:extLst>
                <a:ext uri="{FF2B5EF4-FFF2-40B4-BE49-F238E27FC236}">
                  <a16:creationId xmlns:a16="http://schemas.microsoft.com/office/drawing/2014/main" id="{E5FE117C-DE3B-1346-80C8-245941CFD1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" y="1680"/>
              <a:ext cx="4464" cy="540"/>
              <a:chOff x="406" y="1680"/>
              <a:chExt cx="4464" cy="540"/>
            </a:xfrm>
          </p:grpSpPr>
          <p:sp>
            <p:nvSpPr>
              <p:cNvPr id="23603" name="Text Box 7">
                <a:extLst>
                  <a:ext uri="{FF2B5EF4-FFF2-40B4-BE49-F238E27FC236}">
                    <a16:creationId xmlns:a16="http://schemas.microsoft.com/office/drawing/2014/main" id="{A7BBC3A1-C505-B44E-8C2E-E60DF1860D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" y="1680"/>
                <a:ext cx="128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2000">
                    <a:latin typeface="Courier New" panose="02070309020205020404" pitchFamily="49" charset="0"/>
                  </a:rPr>
                  <a:t>zip_dig cmu;</a:t>
                </a:r>
              </a:p>
            </p:txBody>
          </p:sp>
          <p:grpSp>
            <p:nvGrpSpPr>
              <p:cNvPr id="23604" name="Group 8">
                <a:extLst>
                  <a:ext uri="{FF2B5EF4-FFF2-40B4-BE49-F238E27FC236}">
                    <a16:creationId xmlns:a16="http://schemas.microsoft.com/office/drawing/2014/main" id="{7C6DEF69-5B91-894A-B4B5-62A67C27DF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728"/>
                <a:ext cx="3190" cy="492"/>
                <a:chOff x="1680" y="1728"/>
                <a:chExt cx="3190" cy="492"/>
              </a:xfrm>
            </p:grpSpPr>
            <p:grpSp>
              <p:nvGrpSpPr>
                <p:cNvPr id="23605" name="Group 9">
                  <a:extLst>
                    <a:ext uri="{FF2B5EF4-FFF2-40B4-BE49-F238E27FC236}">
                      <a16:creationId xmlns:a16="http://schemas.microsoft.com/office/drawing/2014/main" id="{5F4D0665-EFC7-FB49-86DB-18B05D96E4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1728"/>
                  <a:ext cx="2880" cy="144"/>
                  <a:chOff x="1776" y="1728"/>
                  <a:chExt cx="2880" cy="144"/>
                </a:xfrm>
              </p:grpSpPr>
              <p:sp>
                <p:nvSpPr>
                  <p:cNvPr id="23618" name="Rectangle 10">
                    <a:extLst>
                      <a:ext uri="{FF2B5EF4-FFF2-40B4-BE49-F238E27FC236}">
                        <a16:creationId xmlns:a16="http://schemas.microsoft.com/office/drawing/2014/main" id="{F4AB534C-506B-1F4F-A432-EBEF2334A8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3619" name="Rectangle 11">
                    <a:extLst>
                      <a:ext uri="{FF2B5EF4-FFF2-40B4-BE49-F238E27FC236}">
                        <a16:creationId xmlns:a16="http://schemas.microsoft.com/office/drawing/2014/main" id="{AA006F80-156A-9F46-9C6E-C3024EE390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5</a:t>
                    </a:r>
                  </a:p>
                </p:txBody>
              </p:sp>
              <p:sp>
                <p:nvSpPr>
                  <p:cNvPr id="23620" name="Rectangle 12">
                    <a:extLst>
                      <a:ext uri="{FF2B5EF4-FFF2-40B4-BE49-F238E27FC236}">
                        <a16:creationId xmlns:a16="http://schemas.microsoft.com/office/drawing/2014/main" id="{91B34A50-CC29-B849-9EC8-AE5D42379D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3621" name="Rectangle 13">
                    <a:extLst>
                      <a:ext uri="{FF2B5EF4-FFF2-40B4-BE49-F238E27FC236}">
                        <a16:creationId xmlns:a16="http://schemas.microsoft.com/office/drawing/2014/main" id="{D5FF7F88-A173-F842-8772-4AF54150A9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3622" name="Rectangle 14">
                    <a:extLst>
                      <a:ext uri="{FF2B5EF4-FFF2-40B4-BE49-F238E27FC236}">
                        <a16:creationId xmlns:a16="http://schemas.microsoft.com/office/drawing/2014/main" id="{6AF4C572-BE37-6B43-ACC8-AE77466117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3</a:t>
                    </a:r>
                  </a:p>
                </p:txBody>
              </p:sp>
            </p:grpSp>
            <p:sp>
              <p:nvSpPr>
                <p:cNvPr id="23606" name="Line 15">
                  <a:extLst>
                    <a:ext uri="{FF2B5EF4-FFF2-40B4-BE49-F238E27FC236}">
                      <a16:creationId xmlns:a16="http://schemas.microsoft.com/office/drawing/2014/main" id="{F5235953-66D5-B64B-9DE2-783B8A4008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2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7" name="Text Box 16">
                  <a:extLst>
                    <a:ext uri="{FF2B5EF4-FFF2-40B4-BE49-F238E27FC236}">
                      <a16:creationId xmlns:a16="http://schemas.microsoft.com/office/drawing/2014/main" id="{02FE6820-905F-9E47-BD40-9D79B79170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16</a:t>
                  </a:r>
                </a:p>
              </p:txBody>
            </p:sp>
            <p:sp>
              <p:nvSpPr>
                <p:cNvPr id="23608" name="Line 17">
                  <a:extLst>
                    <a:ext uri="{FF2B5EF4-FFF2-40B4-BE49-F238E27FC236}">
                      <a16:creationId xmlns:a16="http://schemas.microsoft.com/office/drawing/2014/main" id="{FCE95BB1-10E0-204F-B15E-FE4DE09CD8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9" name="Text Box 18">
                  <a:extLst>
                    <a:ext uri="{FF2B5EF4-FFF2-40B4-BE49-F238E27FC236}">
                      <a16:creationId xmlns:a16="http://schemas.microsoft.com/office/drawing/2014/main" id="{86561579-8724-5549-B95C-8517588A70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23610" name="Line 19">
                  <a:extLst>
                    <a:ext uri="{FF2B5EF4-FFF2-40B4-BE49-F238E27FC236}">
                      <a16:creationId xmlns:a16="http://schemas.microsoft.com/office/drawing/2014/main" id="{52CEE6CF-9DC6-F044-86A9-744F96C8C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6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1" name="Text Box 20">
                  <a:extLst>
                    <a:ext uri="{FF2B5EF4-FFF2-40B4-BE49-F238E27FC236}">
                      <a16:creationId xmlns:a16="http://schemas.microsoft.com/office/drawing/2014/main" id="{16BE5136-66FC-0D42-A928-0C282733FE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24</a:t>
                  </a:r>
                </a:p>
              </p:txBody>
            </p:sp>
            <p:sp>
              <p:nvSpPr>
                <p:cNvPr id="23612" name="Line 21">
                  <a:extLst>
                    <a:ext uri="{FF2B5EF4-FFF2-40B4-BE49-F238E27FC236}">
                      <a16:creationId xmlns:a16="http://schemas.microsoft.com/office/drawing/2014/main" id="{89EAC74A-2815-354D-AB27-13DAD5BC8A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3" name="Text Box 22">
                  <a:extLst>
                    <a:ext uri="{FF2B5EF4-FFF2-40B4-BE49-F238E27FC236}">
                      <a16:creationId xmlns:a16="http://schemas.microsoft.com/office/drawing/2014/main" id="{38BF1BE4-46F5-2D4D-869C-8A43F7552C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28</a:t>
                  </a:r>
                </a:p>
              </p:txBody>
            </p:sp>
            <p:sp>
              <p:nvSpPr>
                <p:cNvPr id="23614" name="Line 23">
                  <a:extLst>
                    <a:ext uri="{FF2B5EF4-FFF2-40B4-BE49-F238E27FC236}">
                      <a16:creationId xmlns:a16="http://schemas.microsoft.com/office/drawing/2014/main" id="{08981B3A-9602-E94E-A035-F58786E3A7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5" name="Text Box 24">
                  <a:extLst>
                    <a:ext uri="{FF2B5EF4-FFF2-40B4-BE49-F238E27FC236}">
                      <a16:creationId xmlns:a16="http://schemas.microsoft.com/office/drawing/2014/main" id="{40820919-FBAF-8448-8326-6FF959A4F4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32</a:t>
                  </a:r>
                </a:p>
              </p:txBody>
            </p:sp>
            <p:sp>
              <p:nvSpPr>
                <p:cNvPr id="23616" name="Line 25">
                  <a:extLst>
                    <a:ext uri="{FF2B5EF4-FFF2-40B4-BE49-F238E27FC236}">
                      <a16:creationId xmlns:a16="http://schemas.microsoft.com/office/drawing/2014/main" id="{E352ADCA-F64B-3644-A938-56B545E20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7" name="Text Box 26">
                  <a:extLst>
                    <a:ext uri="{FF2B5EF4-FFF2-40B4-BE49-F238E27FC236}">
                      <a16:creationId xmlns:a16="http://schemas.microsoft.com/office/drawing/2014/main" id="{44958E24-F0E2-E84B-AF77-A66C92D161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36</a:t>
                  </a:r>
                </a:p>
              </p:txBody>
            </p:sp>
          </p:grpSp>
        </p:grpSp>
        <p:grpSp>
          <p:nvGrpSpPr>
            <p:cNvPr id="23561" name="Group 27">
              <a:extLst>
                <a:ext uri="{FF2B5EF4-FFF2-40B4-BE49-F238E27FC236}">
                  <a16:creationId xmlns:a16="http://schemas.microsoft.com/office/drawing/2014/main" id="{27AD2CA7-462B-2546-8290-79B049B7EF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2169"/>
              <a:ext cx="4464" cy="540"/>
              <a:chOff x="406" y="1680"/>
              <a:chExt cx="4464" cy="540"/>
            </a:xfrm>
          </p:grpSpPr>
          <p:sp>
            <p:nvSpPr>
              <p:cNvPr id="23583" name="Text Box 28">
                <a:extLst>
                  <a:ext uri="{FF2B5EF4-FFF2-40B4-BE49-F238E27FC236}">
                    <a16:creationId xmlns:a16="http://schemas.microsoft.com/office/drawing/2014/main" id="{337E7511-865F-5849-BFEA-DA04C34B9B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" y="1680"/>
                <a:ext cx="128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2000">
                    <a:latin typeface="Courier New" panose="02070309020205020404" pitchFamily="49" charset="0"/>
                  </a:rPr>
                  <a:t>zip_dig mit;</a:t>
                </a:r>
              </a:p>
            </p:txBody>
          </p:sp>
          <p:grpSp>
            <p:nvGrpSpPr>
              <p:cNvPr id="23584" name="Group 34">
                <a:extLst>
                  <a:ext uri="{FF2B5EF4-FFF2-40B4-BE49-F238E27FC236}">
                    <a16:creationId xmlns:a16="http://schemas.microsoft.com/office/drawing/2014/main" id="{7D646835-DB6B-8843-BF41-2C37C98161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728"/>
                <a:ext cx="3190" cy="492"/>
                <a:chOff x="1680" y="1728"/>
                <a:chExt cx="3190" cy="492"/>
              </a:xfrm>
            </p:grpSpPr>
            <p:grpSp>
              <p:nvGrpSpPr>
                <p:cNvPr id="23585" name="Group 35">
                  <a:extLst>
                    <a:ext uri="{FF2B5EF4-FFF2-40B4-BE49-F238E27FC236}">
                      <a16:creationId xmlns:a16="http://schemas.microsoft.com/office/drawing/2014/main" id="{75DC98B0-F450-E940-ABA9-83A07D2528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1728"/>
                  <a:ext cx="2880" cy="144"/>
                  <a:chOff x="1776" y="1728"/>
                  <a:chExt cx="2880" cy="144"/>
                </a:xfrm>
              </p:grpSpPr>
              <p:sp>
                <p:nvSpPr>
                  <p:cNvPr id="23598" name="Rectangle 31">
                    <a:extLst>
                      <a:ext uri="{FF2B5EF4-FFF2-40B4-BE49-F238E27FC236}">
                        <a16:creationId xmlns:a16="http://schemas.microsoft.com/office/drawing/2014/main" id="{E0B743E7-8BF8-6D40-ACF2-CAB575041A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0</a:t>
                    </a:r>
                  </a:p>
                </p:txBody>
              </p:sp>
              <p:sp>
                <p:nvSpPr>
                  <p:cNvPr id="23599" name="Rectangle 32">
                    <a:extLst>
                      <a:ext uri="{FF2B5EF4-FFF2-40B4-BE49-F238E27FC236}">
                        <a16:creationId xmlns:a16="http://schemas.microsoft.com/office/drawing/2014/main" id="{FF04F76A-447D-8244-A33F-A8DB33469A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3600" name="Rectangle 33">
                    <a:extLst>
                      <a:ext uri="{FF2B5EF4-FFF2-40B4-BE49-F238E27FC236}">
                        <a16:creationId xmlns:a16="http://schemas.microsoft.com/office/drawing/2014/main" id="{A50AD333-F37E-0B46-8B4E-32A7264A07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3601" name="Rectangle 34">
                    <a:extLst>
                      <a:ext uri="{FF2B5EF4-FFF2-40B4-BE49-F238E27FC236}">
                        <a16:creationId xmlns:a16="http://schemas.microsoft.com/office/drawing/2014/main" id="{1E52F8E1-0F4D-E243-8509-CC8564198A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3</a:t>
                    </a:r>
                  </a:p>
                </p:txBody>
              </p:sp>
              <p:sp>
                <p:nvSpPr>
                  <p:cNvPr id="23602" name="Rectangle 35">
                    <a:extLst>
                      <a:ext uri="{FF2B5EF4-FFF2-40B4-BE49-F238E27FC236}">
                        <a16:creationId xmlns:a16="http://schemas.microsoft.com/office/drawing/2014/main" id="{D2F6AB9E-B0B6-9944-90AC-B0AC8D2590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9</a:t>
                    </a:r>
                  </a:p>
                </p:txBody>
              </p:sp>
            </p:grpSp>
            <p:sp>
              <p:nvSpPr>
                <p:cNvPr id="23586" name="Line 36">
                  <a:extLst>
                    <a:ext uri="{FF2B5EF4-FFF2-40B4-BE49-F238E27FC236}">
                      <a16:creationId xmlns:a16="http://schemas.microsoft.com/office/drawing/2014/main" id="{790D0638-2F51-1145-B3AF-AAAE19BD35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2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7" name="Text Box 37">
                  <a:extLst>
                    <a:ext uri="{FF2B5EF4-FFF2-40B4-BE49-F238E27FC236}">
                      <a16:creationId xmlns:a16="http://schemas.microsoft.com/office/drawing/2014/main" id="{C8D2898A-632E-2749-931A-2556B5779F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36</a:t>
                  </a:r>
                </a:p>
              </p:txBody>
            </p:sp>
            <p:sp>
              <p:nvSpPr>
                <p:cNvPr id="23588" name="Line 38">
                  <a:extLst>
                    <a:ext uri="{FF2B5EF4-FFF2-40B4-BE49-F238E27FC236}">
                      <a16:creationId xmlns:a16="http://schemas.microsoft.com/office/drawing/2014/main" id="{AF5E4E1C-33BB-B846-8736-F33A99E7A6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9" name="Text Box 39">
                  <a:extLst>
                    <a:ext uri="{FF2B5EF4-FFF2-40B4-BE49-F238E27FC236}">
                      <a16:creationId xmlns:a16="http://schemas.microsoft.com/office/drawing/2014/main" id="{50E9E589-75E8-574D-9D4F-07DDF937E3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40</a:t>
                  </a:r>
                </a:p>
              </p:txBody>
            </p:sp>
            <p:sp>
              <p:nvSpPr>
                <p:cNvPr id="23590" name="Line 40">
                  <a:extLst>
                    <a:ext uri="{FF2B5EF4-FFF2-40B4-BE49-F238E27FC236}">
                      <a16:creationId xmlns:a16="http://schemas.microsoft.com/office/drawing/2014/main" id="{37B604EF-846F-964E-A5D5-E236210624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6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1" name="Text Box 41">
                  <a:extLst>
                    <a:ext uri="{FF2B5EF4-FFF2-40B4-BE49-F238E27FC236}">
                      <a16:creationId xmlns:a16="http://schemas.microsoft.com/office/drawing/2014/main" id="{A8F869DF-D0C4-1641-95F3-5AF7C639A6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44</a:t>
                  </a:r>
                </a:p>
              </p:txBody>
            </p:sp>
            <p:sp>
              <p:nvSpPr>
                <p:cNvPr id="23592" name="Line 42">
                  <a:extLst>
                    <a:ext uri="{FF2B5EF4-FFF2-40B4-BE49-F238E27FC236}">
                      <a16:creationId xmlns:a16="http://schemas.microsoft.com/office/drawing/2014/main" id="{7A837547-47AE-9243-A122-080267AC56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3" name="Text Box 43">
                  <a:extLst>
                    <a:ext uri="{FF2B5EF4-FFF2-40B4-BE49-F238E27FC236}">
                      <a16:creationId xmlns:a16="http://schemas.microsoft.com/office/drawing/2014/main" id="{CD917C58-0E96-E742-8AAB-E3FF5C02B3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48</a:t>
                  </a:r>
                </a:p>
              </p:txBody>
            </p:sp>
            <p:sp>
              <p:nvSpPr>
                <p:cNvPr id="23594" name="Line 44">
                  <a:extLst>
                    <a:ext uri="{FF2B5EF4-FFF2-40B4-BE49-F238E27FC236}">
                      <a16:creationId xmlns:a16="http://schemas.microsoft.com/office/drawing/2014/main" id="{1DF9ACF4-283A-1A4C-A7CE-69E500B6D6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5" name="Text Box 45">
                  <a:extLst>
                    <a:ext uri="{FF2B5EF4-FFF2-40B4-BE49-F238E27FC236}">
                      <a16:creationId xmlns:a16="http://schemas.microsoft.com/office/drawing/2014/main" id="{0AE2EC07-9376-434A-A0C0-44456A7C94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52</a:t>
                  </a:r>
                </a:p>
              </p:txBody>
            </p:sp>
            <p:sp>
              <p:nvSpPr>
                <p:cNvPr id="23596" name="Line 46">
                  <a:extLst>
                    <a:ext uri="{FF2B5EF4-FFF2-40B4-BE49-F238E27FC236}">
                      <a16:creationId xmlns:a16="http://schemas.microsoft.com/office/drawing/2014/main" id="{B7C56024-66C9-6B44-BD9E-CBC54AFEAD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7" name="Text Box 47">
                  <a:extLst>
                    <a:ext uri="{FF2B5EF4-FFF2-40B4-BE49-F238E27FC236}">
                      <a16:creationId xmlns:a16="http://schemas.microsoft.com/office/drawing/2014/main" id="{3880F7B7-562A-2444-92EA-DF538378D6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56</a:t>
                  </a:r>
                </a:p>
              </p:txBody>
            </p:sp>
          </p:grpSp>
        </p:grpSp>
        <p:grpSp>
          <p:nvGrpSpPr>
            <p:cNvPr id="23562" name="Group 48">
              <a:extLst>
                <a:ext uri="{FF2B5EF4-FFF2-40B4-BE49-F238E27FC236}">
                  <a16:creationId xmlns:a16="http://schemas.microsoft.com/office/drawing/2014/main" id="{F86C6AE0-9770-9847-9BCE-A9F637B6A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2649"/>
              <a:ext cx="4464" cy="540"/>
              <a:chOff x="406" y="1680"/>
              <a:chExt cx="4464" cy="540"/>
            </a:xfrm>
          </p:grpSpPr>
          <p:sp>
            <p:nvSpPr>
              <p:cNvPr id="23563" name="Text Box 49">
                <a:extLst>
                  <a:ext uri="{FF2B5EF4-FFF2-40B4-BE49-F238E27FC236}">
                    <a16:creationId xmlns:a16="http://schemas.microsoft.com/office/drawing/2014/main" id="{BEB82473-7D46-6249-B62E-9872A06A3B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" y="1680"/>
                <a:ext cx="128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2000">
                    <a:latin typeface="Courier New" panose="02070309020205020404" pitchFamily="49" charset="0"/>
                  </a:rPr>
                  <a:t>zip_dig ucb;</a:t>
                </a:r>
              </a:p>
            </p:txBody>
          </p:sp>
          <p:grpSp>
            <p:nvGrpSpPr>
              <p:cNvPr id="23564" name="Group 50">
                <a:extLst>
                  <a:ext uri="{FF2B5EF4-FFF2-40B4-BE49-F238E27FC236}">
                    <a16:creationId xmlns:a16="http://schemas.microsoft.com/office/drawing/2014/main" id="{515EA8E0-CDB5-1244-86BA-218760BA61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728"/>
                <a:ext cx="3190" cy="492"/>
                <a:chOff x="1680" y="1728"/>
                <a:chExt cx="3190" cy="492"/>
              </a:xfrm>
            </p:grpSpPr>
            <p:grpSp>
              <p:nvGrpSpPr>
                <p:cNvPr id="23565" name="Group 51">
                  <a:extLst>
                    <a:ext uri="{FF2B5EF4-FFF2-40B4-BE49-F238E27FC236}">
                      <a16:creationId xmlns:a16="http://schemas.microsoft.com/office/drawing/2014/main" id="{087F5BF2-765F-1647-9DCB-8AED4F4510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1728"/>
                  <a:ext cx="2880" cy="144"/>
                  <a:chOff x="1776" y="1728"/>
                  <a:chExt cx="2880" cy="144"/>
                </a:xfrm>
              </p:grpSpPr>
              <p:sp>
                <p:nvSpPr>
                  <p:cNvPr id="23578" name="Rectangle 52">
                    <a:extLst>
                      <a:ext uri="{FF2B5EF4-FFF2-40B4-BE49-F238E27FC236}">
                        <a16:creationId xmlns:a16="http://schemas.microsoft.com/office/drawing/2014/main" id="{E6F83658-86A5-D24A-9052-3FCE5DECB5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9</a:t>
                    </a:r>
                  </a:p>
                </p:txBody>
              </p:sp>
              <p:sp>
                <p:nvSpPr>
                  <p:cNvPr id="23579" name="Rectangle 53">
                    <a:extLst>
                      <a:ext uri="{FF2B5EF4-FFF2-40B4-BE49-F238E27FC236}">
                        <a16:creationId xmlns:a16="http://schemas.microsoft.com/office/drawing/2014/main" id="{AB57E5D8-618C-EE46-B09F-DF6B315DB4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4</a:t>
                    </a:r>
                  </a:p>
                </p:txBody>
              </p:sp>
              <p:sp>
                <p:nvSpPr>
                  <p:cNvPr id="23580" name="Rectangle 54">
                    <a:extLst>
                      <a:ext uri="{FF2B5EF4-FFF2-40B4-BE49-F238E27FC236}">
                        <a16:creationId xmlns:a16="http://schemas.microsoft.com/office/drawing/2014/main" id="{1110B353-6DE0-6B4F-8AED-737730E3C4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7</a:t>
                    </a:r>
                  </a:p>
                </p:txBody>
              </p:sp>
              <p:sp>
                <p:nvSpPr>
                  <p:cNvPr id="23581" name="Rectangle 55">
                    <a:extLst>
                      <a:ext uri="{FF2B5EF4-FFF2-40B4-BE49-F238E27FC236}">
                        <a16:creationId xmlns:a16="http://schemas.microsoft.com/office/drawing/2014/main" id="{E24F29AD-27A6-9648-B672-EE1624941E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3582" name="Rectangle 56">
                    <a:extLst>
                      <a:ext uri="{FF2B5EF4-FFF2-40B4-BE49-F238E27FC236}">
                        <a16:creationId xmlns:a16="http://schemas.microsoft.com/office/drawing/2014/main" id="{403BB342-3DFB-F140-BB00-9F3AF753A2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728"/>
                    <a:ext cx="576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23566" name="Line 57">
                  <a:extLst>
                    <a:ext uri="{FF2B5EF4-FFF2-40B4-BE49-F238E27FC236}">
                      <a16:creationId xmlns:a16="http://schemas.microsoft.com/office/drawing/2014/main" id="{E9D5822F-7C50-E647-8923-D01D633DC4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2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7" name="Text Box 58">
                  <a:extLst>
                    <a:ext uri="{FF2B5EF4-FFF2-40B4-BE49-F238E27FC236}">
                      <a16:creationId xmlns:a16="http://schemas.microsoft.com/office/drawing/2014/main" id="{3CC98FDA-B465-E343-B55C-F7C7E0B26B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56</a:t>
                  </a:r>
                </a:p>
              </p:txBody>
            </p:sp>
            <p:sp>
              <p:nvSpPr>
                <p:cNvPr id="23568" name="Line 59">
                  <a:extLst>
                    <a:ext uri="{FF2B5EF4-FFF2-40B4-BE49-F238E27FC236}">
                      <a16:creationId xmlns:a16="http://schemas.microsoft.com/office/drawing/2014/main" id="{D87B2EE5-8559-B84A-B207-893E32B671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9" name="Text Box 60">
                  <a:extLst>
                    <a:ext uri="{FF2B5EF4-FFF2-40B4-BE49-F238E27FC236}">
                      <a16:creationId xmlns:a16="http://schemas.microsoft.com/office/drawing/2014/main" id="{23093907-4BA5-0C4F-BF16-83D825F310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60</a:t>
                  </a:r>
                </a:p>
              </p:txBody>
            </p:sp>
            <p:sp>
              <p:nvSpPr>
                <p:cNvPr id="23570" name="Line 61">
                  <a:extLst>
                    <a:ext uri="{FF2B5EF4-FFF2-40B4-BE49-F238E27FC236}">
                      <a16:creationId xmlns:a16="http://schemas.microsoft.com/office/drawing/2014/main" id="{41B28528-51E4-5D40-A85C-512224AA92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6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1" name="Text Box 62">
                  <a:extLst>
                    <a:ext uri="{FF2B5EF4-FFF2-40B4-BE49-F238E27FC236}">
                      <a16:creationId xmlns:a16="http://schemas.microsoft.com/office/drawing/2014/main" id="{9C7917F9-CCDA-014A-B97D-A72EAB1C69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64</a:t>
                  </a:r>
                </a:p>
              </p:txBody>
            </p:sp>
            <p:sp>
              <p:nvSpPr>
                <p:cNvPr id="23572" name="Line 63">
                  <a:extLst>
                    <a:ext uri="{FF2B5EF4-FFF2-40B4-BE49-F238E27FC236}">
                      <a16:creationId xmlns:a16="http://schemas.microsoft.com/office/drawing/2014/main" id="{B65671DF-9162-274D-A02F-AB67DE567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3" name="Text Box 64">
                  <a:extLst>
                    <a:ext uri="{FF2B5EF4-FFF2-40B4-BE49-F238E27FC236}">
                      <a16:creationId xmlns:a16="http://schemas.microsoft.com/office/drawing/2014/main" id="{C948B9EB-73F2-0D43-B953-9BF099E759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68</a:t>
                  </a:r>
                </a:p>
              </p:txBody>
            </p:sp>
            <p:sp>
              <p:nvSpPr>
                <p:cNvPr id="23574" name="Line 65">
                  <a:extLst>
                    <a:ext uri="{FF2B5EF4-FFF2-40B4-BE49-F238E27FC236}">
                      <a16:creationId xmlns:a16="http://schemas.microsoft.com/office/drawing/2014/main" id="{AD5427A8-E6AE-D24D-9E55-C55D062A5C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5" name="Text Box 66">
                  <a:extLst>
                    <a:ext uri="{FF2B5EF4-FFF2-40B4-BE49-F238E27FC236}">
                      <a16:creationId xmlns:a16="http://schemas.microsoft.com/office/drawing/2014/main" id="{148661FF-76F2-A94E-9EA0-0079D102B4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72</a:t>
                  </a:r>
                </a:p>
              </p:txBody>
            </p:sp>
            <p:sp>
              <p:nvSpPr>
                <p:cNvPr id="23576" name="Line 67">
                  <a:extLst>
                    <a:ext uri="{FF2B5EF4-FFF2-40B4-BE49-F238E27FC236}">
                      <a16:creationId xmlns:a16="http://schemas.microsoft.com/office/drawing/2014/main" id="{8BC4C268-4316-3F4A-B69C-C9B850B7CA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4" y="1872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7" name="Text Box 68">
                  <a:extLst>
                    <a:ext uri="{FF2B5EF4-FFF2-40B4-BE49-F238E27FC236}">
                      <a16:creationId xmlns:a16="http://schemas.microsoft.com/office/drawing/2014/main" id="{E32FEDBE-1484-0045-8F49-2B6E27953F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968"/>
                  <a:ext cx="31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latin typeface="Courier New" panose="02070309020205020404" pitchFamily="49" charset="0"/>
                    </a:rPr>
                    <a:t>76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uild="p" autoUpdateAnimBg="0"/>
      <p:bldP spid="73" grpId="0" build="p" autoUpdateAnimBg="0"/>
      <p:bldP spid="74" grpId="0" build="p" autoUpdateAnimBg="0"/>
      <p:bldP spid="7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90D3BDB-7E34-9C48-A562-4196AAE56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219200"/>
            <a:ext cx="4191000" cy="20288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zd2int(zip_dig z){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zi = 0;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for (i = 0; i &lt; 5; i++)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zi = 10 * zi + z[i];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zi;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278A73B-CCC3-C140-87C6-D23ECD9F1A6D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228600"/>
            <a:ext cx="7112000" cy="5619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Array Loop Example</a:t>
            </a: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5FD950A8-7CEA-F540-B2E6-F8B923632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00200"/>
            <a:ext cx="3733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Original Source</a:t>
            </a:r>
          </a:p>
          <a:p>
            <a:pPr lvl="1">
              <a:buFont typeface="Wingdings" pitchFamily="2" charset="2"/>
              <a:buNone/>
            </a:pPr>
            <a:endParaRPr lang="en-US" altLang="en-US" sz="2800" b="0">
              <a:latin typeface="Courier New" panose="02070309020205020404" pitchFamily="49" charset="0"/>
            </a:endParaRP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EE2F4622-6FB6-5C49-8087-AD555DF7D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505200"/>
            <a:ext cx="4191000" cy="2582863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zd2int(zip_dig z){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zi = 0;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*zend = z + 4;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while(z &lt;= zend){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zi = 10 * zi + *z;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z++;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}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zi;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94BFA3CA-687F-5741-A06B-E3A4943DD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00400"/>
            <a:ext cx="3959225" cy="27638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charset="0"/>
              <a:buNone/>
              <a:tabLst>
                <a:tab pos="1143000" algn="l"/>
              </a:tabLst>
              <a:defRPr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  <a:ea typeface="ＭＳ Ｐゴシック" charset="0"/>
                <a:cs typeface="ＭＳ Ｐゴシック" charset="0"/>
              </a:rPr>
              <a:t>Transformed Version</a:t>
            </a:r>
          </a:p>
          <a:p>
            <a:pPr marL="560388" lvl="1" indent="-222250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tabLst>
                <a:tab pos="1143000" algn="l"/>
              </a:tabLst>
              <a:defRPr/>
            </a:pPr>
            <a:r>
              <a:rPr lang="en-US" sz="2000" b="0" dirty="0">
                <a:latin typeface="Times" charset="0"/>
                <a:ea typeface="ＭＳ Ｐゴシック" charset="0"/>
                <a:cs typeface="ＭＳ Ｐゴシック" charset="0"/>
              </a:rPr>
              <a:t>As generated by GCC</a:t>
            </a:r>
          </a:p>
          <a:p>
            <a:pPr marL="560388" lvl="1" indent="-222250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tabLst>
                <a:tab pos="1143000" algn="l"/>
              </a:tabLst>
              <a:defRPr/>
            </a:pPr>
            <a:r>
              <a:rPr lang="en-US" sz="2000" b="0" dirty="0">
                <a:latin typeface="Times" charset="0"/>
                <a:ea typeface="ＭＳ Ｐゴシック" charset="0"/>
                <a:cs typeface="ＭＳ Ｐゴシック" charset="0"/>
              </a:rPr>
              <a:t>Eliminate loop variable </a:t>
            </a:r>
            <a:r>
              <a:rPr lang="en-US" sz="2000" b="0" dirty="0" err="1">
                <a:latin typeface="Courier New" charset="0"/>
                <a:ea typeface="ＭＳ Ｐゴシック" charset="0"/>
                <a:cs typeface="ＭＳ Ｐゴシック" charset="0"/>
              </a:rPr>
              <a:t>i</a:t>
            </a:r>
            <a:endParaRPr lang="en-US" sz="2000" b="0" dirty="0">
              <a:latin typeface="Times" charset="0"/>
              <a:ea typeface="ＭＳ Ｐゴシック" charset="0"/>
              <a:cs typeface="ＭＳ Ｐゴシック" charset="0"/>
            </a:endParaRPr>
          </a:p>
          <a:p>
            <a:pPr marL="560388" lvl="1" indent="-222250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tabLst>
                <a:tab pos="1143000" algn="l"/>
              </a:tabLst>
              <a:defRPr/>
            </a:pPr>
            <a:r>
              <a:rPr lang="en-US" sz="2000" b="0" dirty="0">
                <a:latin typeface="Times" charset="0"/>
                <a:ea typeface="ＭＳ Ｐゴシック" charset="0"/>
                <a:cs typeface="ＭＳ Ｐゴシック" charset="0"/>
              </a:rPr>
              <a:t>Convert array code to pointer code</a:t>
            </a:r>
          </a:p>
          <a:p>
            <a:pPr marL="560388" lvl="1" indent="-222250" eaLnBrk="1" hangingPunct="1">
              <a:spcBef>
                <a:spcPct val="25000"/>
              </a:spcBef>
              <a:buClr>
                <a:schemeClr val="hlink"/>
              </a:buClr>
              <a:buSzPct val="75000"/>
              <a:buFont typeface="Wingdings" charset="0"/>
              <a:buChar char="n"/>
              <a:tabLst>
                <a:tab pos="1143000" algn="l"/>
              </a:tabLst>
              <a:defRPr/>
            </a:pPr>
            <a:r>
              <a:rPr lang="en-US" sz="2000" b="0" dirty="0">
                <a:latin typeface="Times" charset="0"/>
                <a:ea typeface="ＭＳ Ｐゴシック" charset="0"/>
                <a:cs typeface="ＭＳ Ｐゴシック" charset="0"/>
              </a:rPr>
              <a:t>Express in while form</a:t>
            </a:r>
          </a:p>
          <a:p>
            <a:pPr marL="560388" lvl="1" indent="-222250" eaLnBrk="1" hangingPunct="1">
              <a:buClr>
                <a:schemeClr val="hlink"/>
              </a:buClr>
              <a:buFont typeface="Wingdings" charset="0"/>
              <a:buNone/>
              <a:tabLst>
                <a:tab pos="1143000" algn="l"/>
              </a:tabLst>
              <a:defRPr/>
            </a:pPr>
            <a:endParaRPr lang="en-US" sz="2000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098AC792-EEE2-FE40-B451-5EDE4B958527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228600"/>
            <a:ext cx="83820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Array Loop Implementation</a:t>
            </a:r>
          </a:p>
        </p:txBody>
      </p:sp>
      <p:sp>
        <p:nvSpPr>
          <p:cNvPr id="25602" name="Rectangle 4">
            <a:extLst>
              <a:ext uri="{FF2B5EF4-FFF2-40B4-BE49-F238E27FC236}">
                <a16:creationId xmlns:a16="http://schemas.microsoft.com/office/drawing/2014/main" id="{3562C270-BCB2-3340-B3AB-A3BFB9C33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38200"/>
            <a:ext cx="4343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Registers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%ecx	z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%eax	zi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%ebx	zend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Computations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8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10*zi + *z</a:t>
            </a:r>
            <a:r>
              <a:rPr lang="en-US" altLang="en-US" sz="2000" b="0">
                <a:latin typeface="Calibri" panose="020F0502020204030204" pitchFamily="34" charset="0"/>
              </a:rPr>
              <a:t>  implemented as     </a:t>
            </a:r>
            <a:r>
              <a:rPr lang="en-US" altLang="en-US" sz="2000" b="0">
                <a:latin typeface="Courier New" panose="02070309020205020404" pitchFamily="49" charset="0"/>
              </a:rPr>
              <a:t>*z + 2*(zi+4*zi)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z++</a:t>
            </a:r>
            <a:r>
              <a:rPr lang="en-US" altLang="en-US" sz="2000" b="0">
                <a:latin typeface="Calibri" panose="020F0502020204030204" pitchFamily="34" charset="0"/>
              </a:rPr>
              <a:t> increments by 4</a:t>
            </a:r>
            <a:endParaRPr lang="en-US" altLang="en-US" sz="2000" b="0">
              <a:latin typeface="Courier New" panose="02070309020205020404" pitchFamily="49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A6CE4364-CF69-4B46-90DD-43CB9AD5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905250"/>
            <a:ext cx="6705600" cy="29527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	# %ecx = z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xorl %eax,%eax	# zi = 0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16(%ecx),%ebx	# zend  = z+4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.L59:</a:t>
            </a:r>
          </a:p>
          <a:p>
            <a:r>
              <a:rPr lang="en-US" altLang="en-US" sz="1800" i="1">
                <a:latin typeface="Courier New" panose="02070309020205020404" pitchFamily="49" charset="0"/>
              </a:rPr>
              <a:t>	leal (%eax,%eax,4),%edx	# 5*zi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(%ecx),%eax	# *z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addl $4,%ecx	# z++</a:t>
            </a:r>
          </a:p>
          <a:p>
            <a:r>
              <a:rPr lang="en-US" altLang="en-US" sz="1800" i="1">
                <a:latin typeface="Courier New" panose="02070309020205020404" pitchFamily="49" charset="0"/>
              </a:rPr>
              <a:t>	leal (%eax,%edx,2),%eax	# zi = *z + 2*(5*zi)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</a:t>
            </a:r>
            <a:r>
              <a:rPr lang="en-US" altLang="en-US" sz="1800" u="sng">
                <a:latin typeface="Courier New" panose="02070309020205020404" pitchFamily="49" charset="0"/>
              </a:rPr>
              <a:t>cmpl %ebx,%ecx</a:t>
            </a:r>
            <a:r>
              <a:rPr lang="en-US" altLang="en-US" sz="1800">
                <a:latin typeface="Courier New" panose="02070309020205020404" pitchFamily="49" charset="0"/>
              </a:rPr>
              <a:t>	# z : zend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</a:t>
            </a:r>
            <a:r>
              <a:rPr lang="en-US" altLang="en-US" sz="1800" u="sng">
                <a:latin typeface="Courier New" panose="02070309020205020404" pitchFamily="49" charset="0"/>
              </a:rPr>
              <a:t>jle .L59</a:t>
            </a:r>
            <a:r>
              <a:rPr lang="en-US" altLang="en-US" sz="1800">
                <a:latin typeface="Courier New" panose="02070309020205020404" pitchFamily="49" charset="0"/>
              </a:rPr>
              <a:t>	# if &lt;= goto loop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879E6311-0D98-EC46-8BDD-25DACCE05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066800"/>
            <a:ext cx="4038600" cy="2582863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zd2int(zip_dig z)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zi = 0;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*zend = z + 4;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zi = 10 * zi + *z;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z++;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} </a:t>
            </a:r>
            <a:r>
              <a:rPr lang="en-US" altLang="en-US" sz="1800" u="sng">
                <a:latin typeface="Courier New" panose="02070309020205020404" pitchFamily="49" charset="0"/>
              </a:rPr>
              <a:t>while(z &lt;= zend);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zi;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  <p:bldP spid="1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5CEF537F-D2D2-4C4C-994F-B58F11E10504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28600"/>
            <a:ext cx="6375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Nested Array Example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84C3E113-4F16-8E48-A867-7FA7E382F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14800"/>
            <a:ext cx="9144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Declaration </a:t>
            </a:r>
            <a:r>
              <a:rPr lang="ja-JP" altLang="en-US" b="0">
                <a:latin typeface="Calibri" panose="020F0502020204030204" pitchFamily="34" charset="0"/>
              </a:rPr>
              <a:t>“</a:t>
            </a:r>
            <a:r>
              <a:rPr lang="en-US" altLang="ja-JP" sz="2000" b="0">
                <a:latin typeface="Courier New" panose="02070309020205020404" pitchFamily="49" charset="0"/>
              </a:rPr>
              <a:t>zip_dig pgh[4]</a:t>
            </a:r>
            <a:r>
              <a:rPr lang="ja-JP" altLang="en-US" sz="2000" b="0">
                <a:latin typeface="Calibri" panose="020F0502020204030204" pitchFamily="34" charset="0"/>
              </a:rPr>
              <a:t>”</a:t>
            </a:r>
            <a:r>
              <a:rPr lang="en-US" altLang="ja-JP" sz="2000" b="0">
                <a:latin typeface="Calibri" panose="020F0502020204030204" pitchFamily="34" charset="0"/>
              </a:rPr>
              <a:t> </a:t>
            </a:r>
            <a:r>
              <a:rPr lang="en-US" altLang="ja-JP" b="0">
                <a:latin typeface="Calibri" panose="020F0502020204030204" pitchFamily="34" charset="0"/>
              </a:rPr>
              <a:t>equivalent to </a:t>
            </a:r>
            <a:r>
              <a:rPr lang="ja-JP" altLang="en-US" sz="2000" b="0">
                <a:latin typeface="Calibri" panose="020F0502020204030204" pitchFamily="34" charset="0"/>
              </a:rPr>
              <a:t>“</a:t>
            </a:r>
            <a:r>
              <a:rPr lang="en-US" altLang="ja-JP" sz="2000" b="0">
                <a:latin typeface="Courier New" panose="02070309020205020404" pitchFamily="49" charset="0"/>
              </a:rPr>
              <a:t>int pgh[4][5]</a:t>
            </a:r>
            <a:r>
              <a:rPr lang="ja-JP" altLang="en-US" sz="2000" b="0">
                <a:latin typeface="Calibri" panose="020F0502020204030204" pitchFamily="34" charset="0"/>
              </a:rPr>
              <a:t>”</a:t>
            </a:r>
            <a:endParaRPr lang="en-US" altLang="ja-JP" sz="2000" b="0">
              <a:latin typeface="Calibri" panose="020F0502020204030204" pitchFamily="34" charset="0"/>
            </a:endParaRP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Variable </a:t>
            </a:r>
            <a:r>
              <a:rPr lang="en-US" altLang="en-US" sz="2000" b="0">
                <a:latin typeface="Courier New" panose="02070309020205020404" pitchFamily="49" charset="0"/>
              </a:rPr>
              <a:t>pgh</a:t>
            </a:r>
            <a:r>
              <a:rPr lang="en-US" altLang="en-US" sz="2000" b="0">
                <a:latin typeface="Calibri" panose="020F0502020204030204" pitchFamily="34" charset="0"/>
              </a:rPr>
              <a:t> denotes  array of 4 elements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Allocated contiguously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Each element is an array of 5 </a:t>
            </a:r>
            <a:r>
              <a:rPr lang="en-US" altLang="en-US" sz="2000" b="0">
                <a:latin typeface="Courier New" panose="02070309020205020404" pitchFamily="49" charset="0"/>
              </a:rPr>
              <a:t>int</a:t>
            </a:r>
            <a:r>
              <a:rPr lang="ja-JP" altLang="en-US" sz="2000" b="0">
                <a:latin typeface="Calibri" panose="020F0502020204030204" pitchFamily="34" charset="0"/>
              </a:rPr>
              <a:t>’</a:t>
            </a:r>
            <a:r>
              <a:rPr lang="en-US" altLang="ja-JP" sz="2000" b="0">
                <a:latin typeface="Calibri" panose="020F0502020204030204" pitchFamily="34" charset="0"/>
              </a:rPr>
              <a:t>s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Allocated contiguously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ja-JP" altLang="en-US" b="0">
                <a:latin typeface="Calibri" panose="020F0502020204030204" pitchFamily="34" charset="0"/>
              </a:rPr>
              <a:t>“</a:t>
            </a:r>
            <a:r>
              <a:rPr lang="en-US" altLang="ja-JP" b="0">
                <a:latin typeface="Calibri" panose="020F0502020204030204" pitchFamily="34" charset="0"/>
              </a:rPr>
              <a:t>Row-Major</a:t>
            </a:r>
            <a:r>
              <a:rPr lang="ja-JP" altLang="en-US" b="0">
                <a:latin typeface="Calibri" panose="020F0502020204030204" pitchFamily="34" charset="0"/>
              </a:rPr>
              <a:t>”</a:t>
            </a:r>
            <a:r>
              <a:rPr lang="en-US" altLang="ja-JP" b="0">
                <a:latin typeface="Calibri" panose="020F0502020204030204" pitchFamily="34" charset="0"/>
              </a:rPr>
              <a:t> ordering of all elements guaranteed</a:t>
            </a:r>
            <a:endParaRPr lang="en-US" altLang="en-US" b="0">
              <a:latin typeface="Calibri" panose="020F0502020204030204" pitchFamily="34" charset="0"/>
            </a:endParaRPr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E039168B-A47A-B449-987F-7E41F9018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14400"/>
            <a:ext cx="4924425" cy="17494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#define PCOUNT 4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zip_dig pgh[PCOUNT] = 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{{1, 5, 2, 0, 6},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{1, 5, 2, 1, 3 },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{1, 5, 2, 1, 7 },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{1, 5, 2, 2, 1 }};</a:t>
            </a:r>
          </a:p>
        </p:txBody>
      </p:sp>
      <p:grpSp>
        <p:nvGrpSpPr>
          <p:cNvPr id="26628" name="Group 5">
            <a:extLst>
              <a:ext uri="{FF2B5EF4-FFF2-40B4-BE49-F238E27FC236}">
                <a16:creationId xmlns:a16="http://schemas.microsoft.com/office/drawing/2014/main" id="{B5A81DF2-8045-D441-A1AE-21A63792FB5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19400"/>
            <a:ext cx="7916863" cy="1281113"/>
            <a:chOff x="576" y="2112"/>
            <a:chExt cx="4987" cy="807"/>
          </a:xfrm>
        </p:grpSpPr>
        <p:sp>
          <p:nvSpPr>
            <p:cNvPr id="26629" name="Text Box 6">
              <a:extLst>
                <a:ext uri="{FF2B5EF4-FFF2-40B4-BE49-F238E27FC236}">
                  <a16:creationId xmlns:a16="http://schemas.microsoft.com/office/drawing/2014/main" id="{CD26D169-2E15-734E-BB45-07D903476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160"/>
              <a:ext cx="7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zip_dig</a:t>
              </a:r>
            </a:p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pgh[4];</a:t>
              </a:r>
            </a:p>
          </p:txBody>
        </p:sp>
        <p:grpSp>
          <p:nvGrpSpPr>
            <p:cNvPr id="26630" name="Group 7">
              <a:extLst>
                <a:ext uri="{FF2B5EF4-FFF2-40B4-BE49-F238E27FC236}">
                  <a16:creationId xmlns:a16="http://schemas.microsoft.com/office/drawing/2014/main" id="{5A0AA673-D38A-5146-A8E0-DAF82B416B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112"/>
              <a:ext cx="4171" cy="807"/>
              <a:chOff x="720" y="2640"/>
              <a:chExt cx="4171" cy="807"/>
            </a:xfrm>
          </p:grpSpPr>
          <p:sp>
            <p:nvSpPr>
              <p:cNvPr id="26631" name="Line 8">
                <a:extLst>
                  <a:ext uri="{FF2B5EF4-FFF2-40B4-BE49-F238E27FC236}">
                    <a16:creationId xmlns:a16="http://schemas.microsoft.com/office/drawing/2014/main" id="{59A80CAB-A554-A241-9EAC-B51A5A4F2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312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2" name="Text Box 9">
                <a:extLst>
                  <a:ext uri="{FF2B5EF4-FFF2-40B4-BE49-F238E27FC236}">
                    <a16:creationId xmlns:a16="http://schemas.microsoft.com/office/drawing/2014/main" id="{3BDAEDCB-2027-9B42-A006-64116F2F0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321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76</a:t>
                </a:r>
              </a:p>
            </p:txBody>
          </p:sp>
          <p:sp>
            <p:nvSpPr>
              <p:cNvPr id="26633" name="Line 10">
                <a:extLst>
                  <a:ext uri="{FF2B5EF4-FFF2-40B4-BE49-F238E27FC236}">
                    <a16:creationId xmlns:a16="http://schemas.microsoft.com/office/drawing/2014/main" id="{34DE650E-0635-E346-B836-95799A953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312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4" name="Text Box 11">
                <a:extLst>
                  <a:ext uri="{FF2B5EF4-FFF2-40B4-BE49-F238E27FC236}">
                    <a16:creationId xmlns:a16="http://schemas.microsoft.com/office/drawing/2014/main" id="{E7014A28-5A65-4F48-AE3A-38ADBF705D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321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96</a:t>
                </a:r>
              </a:p>
            </p:txBody>
          </p:sp>
          <p:sp>
            <p:nvSpPr>
              <p:cNvPr id="26635" name="Line 12">
                <a:extLst>
                  <a:ext uri="{FF2B5EF4-FFF2-40B4-BE49-F238E27FC236}">
                    <a16:creationId xmlns:a16="http://schemas.microsoft.com/office/drawing/2014/main" id="{C0972CC6-6F74-3B47-A804-2DEBD127F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84" y="312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6" name="Text Box 13">
                <a:extLst>
                  <a:ext uri="{FF2B5EF4-FFF2-40B4-BE49-F238E27FC236}">
                    <a16:creationId xmlns:a16="http://schemas.microsoft.com/office/drawing/2014/main" id="{6E89F5AB-14A5-A54B-AA21-597600C6D6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7" y="3216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116</a:t>
                </a:r>
              </a:p>
            </p:txBody>
          </p:sp>
          <p:sp>
            <p:nvSpPr>
              <p:cNvPr id="26637" name="Line 14">
                <a:extLst>
                  <a:ext uri="{FF2B5EF4-FFF2-40B4-BE49-F238E27FC236}">
                    <a16:creationId xmlns:a16="http://schemas.microsoft.com/office/drawing/2014/main" id="{655F7EB9-ACDF-3349-8E17-FC3478233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312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8" name="Text Box 15">
                <a:extLst>
                  <a:ext uri="{FF2B5EF4-FFF2-40B4-BE49-F238E27FC236}">
                    <a16:creationId xmlns:a16="http://schemas.microsoft.com/office/drawing/2014/main" id="{81203E81-082E-2C43-952B-3212A47132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7" y="3216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136</a:t>
                </a:r>
              </a:p>
            </p:txBody>
          </p:sp>
          <p:sp>
            <p:nvSpPr>
              <p:cNvPr id="26639" name="Line 16">
                <a:extLst>
                  <a:ext uri="{FF2B5EF4-FFF2-40B4-BE49-F238E27FC236}">
                    <a16:creationId xmlns:a16="http://schemas.microsoft.com/office/drawing/2014/main" id="{710C133D-62FE-6149-A047-2D65E8408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120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0" name="Text Box 17">
                <a:extLst>
                  <a:ext uri="{FF2B5EF4-FFF2-40B4-BE49-F238E27FC236}">
                    <a16:creationId xmlns:a16="http://schemas.microsoft.com/office/drawing/2014/main" id="{791E136D-034E-C943-BB16-03121C0966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7" y="3216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156</a:t>
                </a:r>
              </a:p>
            </p:txBody>
          </p:sp>
          <p:grpSp>
            <p:nvGrpSpPr>
              <p:cNvPr id="26641" name="Group 18">
                <a:extLst>
                  <a:ext uri="{FF2B5EF4-FFF2-40B4-BE49-F238E27FC236}">
                    <a16:creationId xmlns:a16="http://schemas.microsoft.com/office/drawing/2014/main" id="{21E7C9DE-AC60-E34E-B754-8D6F2A28F9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2640"/>
                <a:ext cx="3840" cy="480"/>
                <a:chOff x="816" y="2640"/>
                <a:chExt cx="3840" cy="480"/>
              </a:xfrm>
            </p:grpSpPr>
            <p:grpSp>
              <p:nvGrpSpPr>
                <p:cNvPr id="26642" name="Group 19">
                  <a:extLst>
                    <a:ext uri="{FF2B5EF4-FFF2-40B4-BE49-F238E27FC236}">
                      <a16:creationId xmlns:a16="http://schemas.microsoft.com/office/drawing/2014/main" id="{0162CA18-D7C3-F74C-A558-B8B0A85AF5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6" y="2640"/>
                  <a:ext cx="960" cy="480"/>
                  <a:chOff x="816" y="2640"/>
                  <a:chExt cx="960" cy="480"/>
                </a:xfrm>
              </p:grpSpPr>
              <p:sp>
                <p:nvSpPr>
                  <p:cNvPr id="26665" name="Rectangle 20">
                    <a:extLst>
                      <a:ext uri="{FF2B5EF4-FFF2-40B4-BE49-F238E27FC236}">
                        <a16:creationId xmlns:a16="http://schemas.microsoft.com/office/drawing/2014/main" id="{45CC89F9-EEA0-6341-BEFF-10F8B2DBCA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6666" name="Rectangle 21">
                    <a:extLst>
                      <a:ext uri="{FF2B5EF4-FFF2-40B4-BE49-F238E27FC236}">
                        <a16:creationId xmlns:a16="http://schemas.microsoft.com/office/drawing/2014/main" id="{0DEB9CFB-490F-A64E-831F-56FD9C4606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5</a:t>
                    </a:r>
                  </a:p>
                </p:txBody>
              </p:sp>
              <p:sp>
                <p:nvSpPr>
                  <p:cNvPr id="26667" name="Rectangle 22">
                    <a:extLst>
                      <a:ext uri="{FF2B5EF4-FFF2-40B4-BE49-F238E27FC236}">
                        <a16:creationId xmlns:a16="http://schemas.microsoft.com/office/drawing/2014/main" id="{B3387F49-4D43-484F-A371-CB98A866D1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6668" name="Rectangle 23">
                    <a:extLst>
                      <a:ext uri="{FF2B5EF4-FFF2-40B4-BE49-F238E27FC236}">
                        <a16:creationId xmlns:a16="http://schemas.microsoft.com/office/drawing/2014/main" id="{9C2604FC-7A1A-D240-A64B-718B819EF9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92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0</a:t>
                    </a:r>
                  </a:p>
                </p:txBody>
              </p:sp>
              <p:sp>
                <p:nvSpPr>
                  <p:cNvPr id="26669" name="Rectangle 24">
                    <a:extLst>
                      <a:ext uri="{FF2B5EF4-FFF2-40B4-BE49-F238E27FC236}">
                        <a16:creationId xmlns:a16="http://schemas.microsoft.com/office/drawing/2014/main" id="{DBED4257-CAD2-F84C-993B-90204E12C7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6</a:t>
                    </a:r>
                  </a:p>
                </p:txBody>
              </p:sp>
            </p:grpSp>
            <p:grpSp>
              <p:nvGrpSpPr>
                <p:cNvPr id="26643" name="Group 25">
                  <a:extLst>
                    <a:ext uri="{FF2B5EF4-FFF2-40B4-BE49-F238E27FC236}">
                      <a16:creationId xmlns:a16="http://schemas.microsoft.com/office/drawing/2014/main" id="{625E4470-9B83-804A-BC0E-EBAE47550D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2640"/>
                  <a:ext cx="960" cy="480"/>
                  <a:chOff x="816" y="2640"/>
                  <a:chExt cx="960" cy="480"/>
                </a:xfrm>
              </p:grpSpPr>
              <p:sp>
                <p:nvSpPr>
                  <p:cNvPr id="26660" name="Rectangle 26">
                    <a:extLst>
                      <a:ext uri="{FF2B5EF4-FFF2-40B4-BE49-F238E27FC236}">
                        <a16:creationId xmlns:a16="http://schemas.microsoft.com/office/drawing/2014/main" id="{FC240C50-EED8-1A43-BC8F-758D7CC52B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6661" name="Rectangle 27">
                    <a:extLst>
                      <a:ext uri="{FF2B5EF4-FFF2-40B4-BE49-F238E27FC236}">
                        <a16:creationId xmlns:a16="http://schemas.microsoft.com/office/drawing/2014/main" id="{A5EE038C-6CE9-3E46-8132-2F76D5E0CE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5</a:t>
                    </a:r>
                  </a:p>
                </p:txBody>
              </p:sp>
              <p:sp>
                <p:nvSpPr>
                  <p:cNvPr id="26662" name="Rectangle 28">
                    <a:extLst>
                      <a:ext uri="{FF2B5EF4-FFF2-40B4-BE49-F238E27FC236}">
                        <a16:creationId xmlns:a16="http://schemas.microsoft.com/office/drawing/2014/main" id="{D5AFF3E3-EB0C-4441-997E-28DD1A9835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6663" name="Rectangle 29">
                    <a:extLst>
                      <a:ext uri="{FF2B5EF4-FFF2-40B4-BE49-F238E27FC236}">
                        <a16:creationId xmlns:a16="http://schemas.microsoft.com/office/drawing/2014/main" id="{7AFA8F24-B53E-7D49-80BF-7120451C1F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92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6664" name="Rectangle 30">
                    <a:extLst>
                      <a:ext uri="{FF2B5EF4-FFF2-40B4-BE49-F238E27FC236}">
                        <a16:creationId xmlns:a16="http://schemas.microsoft.com/office/drawing/2014/main" id="{CA8686B5-D516-4448-B77F-D84DBD5BD8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26644" name="Group 31">
                  <a:extLst>
                    <a:ext uri="{FF2B5EF4-FFF2-40B4-BE49-F238E27FC236}">
                      <a16:creationId xmlns:a16="http://schemas.microsoft.com/office/drawing/2014/main" id="{2DC8CBF0-326F-E040-A3C6-9CBCA332D8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36" y="2640"/>
                  <a:ext cx="960" cy="480"/>
                  <a:chOff x="816" y="2640"/>
                  <a:chExt cx="960" cy="480"/>
                </a:xfrm>
              </p:grpSpPr>
              <p:sp>
                <p:nvSpPr>
                  <p:cNvPr id="26655" name="Rectangle 32">
                    <a:extLst>
                      <a:ext uri="{FF2B5EF4-FFF2-40B4-BE49-F238E27FC236}">
                        <a16:creationId xmlns:a16="http://schemas.microsoft.com/office/drawing/2014/main" id="{8A97053C-6763-3845-AD01-C61C315A9C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6656" name="Rectangle 33">
                    <a:extLst>
                      <a:ext uri="{FF2B5EF4-FFF2-40B4-BE49-F238E27FC236}">
                        <a16:creationId xmlns:a16="http://schemas.microsoft.com/office/drawing/2014/main" id="{B3225F3C-E27D-E145-8DE6-DA021F4BCC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5</a:t>
                    </a:r>
                  </a:p>
                </p:txBody>
              </p:sp>
              <p:sp>
                <p:nvSpPr>
                  <p:cNvPr id="26657" name="Rectangle 34">
                    <a:extLst>
                      <a:ext uri="{FF2B5EF4-FFF2-40B4-BE49-F238E27FC236}">
                        <a16:creationId xmlns:a16="http://schemas.microsoft.com/office/drawing/2014/main" id="{87B56512-A5A1-D447-AF03-3FA776CA95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6658" name="Rectangle 35">
                    <a:extLst>
                      <a:ext uri="{FF2B5EF4-FFF2-40B4-BE49-F238E27FC236}">
                        <a16:creationId xmlns:a16="http://schemas.microsoft.com/office/drawing/2014/main" id="{7F4ED0B1-41B2-1D4E-9249-7C31E67039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92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6659" name="Rectangle 36">
                    <a:extLst>
                      <a:ext uri="{FF2B5EF4-FFF2-40B4-BE49-F238E27FC236}">
                        <a16:creationId xmlns:a16="http://schemas.microsoft.com/office/drawing/2014/main" id="{F18DEF43-715E-B84F-8F7E-8507650FC5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7</a:t>
                    </a:r>
                  </a:p>
                </p:txBody>
              </p:sp>
            </p:grpSp>
            <p:grpSp>
              <p:nvGrpSpPr>
                <p:cNvPr id="26645" name="Group 37">
                  <a:extLst>
                    <a:ext uri="{FF2B5EF4-FFF2-40B4-BE49-F238E27FC236}">
                      <a16:creationId xmlns:a16="http://schemas.microsoft.com/office/drawing/2014/main" id="{DB24A0DB-E4EE-654A-863A-193EF13563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96" y="2640"/>
                  <a:ext cx="960" cy="480"/>
                  <a:chOff x="816" y="2640"/>
                  <a:chExt cx="960" cy="480"/>
                </a:xfrm>
              </p:grpSpPr>
              <p:sp>
                <p:nvSpPr>
                  <p:cNvPr id="26650" name="Rectangle 38">
                    <a:extLst>
                      <a:ext uri="{FF2B5EF4-FFF2-40B4-BE49-F238E27FC236}">
                        <a16:creationId xmlns:a16="http://schemas.microsoft.com/office/drawing/2014/main" id="{8DF3A4C6-365E-104B-B376-68DB266DD0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  <p:sp>
                <p:nvSpPr>
                  <p:cNvPr id="26651" name="Rectangle 39">
                    <a:extLst>
                      <a:ext uri="{FF2B5EF4-FFF2-40B4-BE49-F238E27FC236}">
                        <a16:creationId xmlns:a16="http://schemas.microsoft.com/office/drawing/2014/main" id="{3844F4EA-63DD-044C-8F15-F939DA1FE6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5</a:t>
                    </a:r>
                  </a:p>
                </p:txBody>
              </p:sp>
              <p:sp>
                <p:nvSpPr>
                  <p:cNvPr id="26652" name="Rectangle 40">
                    <a:extLst>
                      <a:ext uri="{FF2B5EF4-FFF2-40B4-BE49-F238E27FC236}">
                        <a16:creationId xmlns:a16="http://schemas.microsoft.com/office/drawing/2014/main" id="{1C010328-2B92-B241-9376-3458CA2CED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6653" name="Rectangle 41">
                    <a:extLst>
                      <a:ext uri="{FF2B5EF4-FFF2-40B4-BE49-F238E27FC236}">
                        <a16:creationId xmlns:a16="http://schemas.microsoft.com/office/drawing/2014/main" id="{80868373-776F-6F49-B3D9-F1B8B7D8FD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92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2</a:t>
                    </a:r>
                  </a:p>
                </p:txBody>
              </p:sp>
              <p:sp>
                <p:nvSpPr>
                  <p:cNvPr id="26654" name="Rectangle 42">
                    <a:extLst>
                      <a:ext uri="{FF2B5EF4-FFF2-40B4-BE49-F238E27FC236}">
                        <a16:creationId xmlns:a16="http://schemas.microsoft.com/office/drawing/2014/main" id="{0328160F-5488-944A-BA37-10C51DCAE4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2640"/>
                    <a:ext cx="192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itchFamily="2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>
                        <a:latin typeface="Courier New" panose="02070309020205020404" pitchFamily="49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26646" name="Rectangle 43">
                  <a:extLst>
                    <a:ext uri="{FF2B5EF4-FFF2-40B4-BE49-F238E27FC236}">
                      <a16:creationId xmlns:a16="http://schemas.microsoft.com/office/drawing/2014/main" id="{986FA0DF-FA33-054A-873B-5AA2D2020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640"/>
                  <a:ext cx="960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6647" name="Rectangle 44">
                  <a:extLst>
                    <a:ext uri="{FF2B5EF4-FFF2-40B4-BE49-F238E27FC236}">
                      <a16:creationId xmlns:a16="http://schemas.microsoft.com/office/drawing/2014/main" id="{D8D297C9-67C8-7B4A-81E4-61FF7BFE2B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640"/>
                  <a:ext cx="960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6648" name="Rectangle 45">
                  <a:extLst>
                    <a:ext uri="{FF2B5EF4-FFF2-40B4-BE49-F238E27FC236}">
                      <a16:creationId xmlns:a16="http://schemas.microsoft.com/office/drawing/2014/main" id="{AB11AD79-D37C-A746-9FC9-9583F6E039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6" y="2640"/>
                  <a:ext cx="960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6649" name="Rectangle 46">
                  <a:extLst>
                    <a:ext uri="{FF2B5EF4-FFF2-40B4-BE49-F238E27FC236}">
                      <a16:creationId xmlns:a16="http://schemas.microsoft.com/office/drawing/2014/main" id="{5700B53B-18BC-3F4D-AC3F-DAA92E8AAF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2640"/>
                  <a:ext cx="960" cy="48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E786AE29-24BB-094B-8028-F18884C0750F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66929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Nested Array Allocation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AA525B0A-4824-044F-86E6-67483F1BB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762000"/>
            <a:ext cx="4267200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Declaration 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r>
              <a:rPr lang="en-US" altLang="en-US" sz="2000" b="0">
                <a:latin typeface="Calibri" panose="020F0502020204030204" pitchFamily="34" charset="0"/>
              </a:rPr>
              <a:t>  </a:t>
            </a:r>
            <a:r>
              <a:rPr lang="en-US" altLang="en-US" sz="2000" b="0">
                <a:latin typeface="Courier New" panose="02070309020205020404" pitchFamily="49" charset="0"/>
              </a:rPr>
              <a:t>A[</a:t>
            </a:r>
            <a:r>
              <a:rPr lang="en-US" altLang="en-US" sz="2000" b="0" i="1">
                <a:latin typeface="Calibri" panose="020F0502020204030204" pitchFamily="34" charset="0"/>
              </a:rPr>
              <a:t>R</a:t>
            </a:r>
            <a:r>
              <a:rPr lang="en-US" altLang="en-US" sz="2000" b="0">
                <a:latin typeface="Courier New" panose="02070309020205020404" pitchFamily="49" charset="0"/>
              </a:rPr>
              <a:t>][</a:t>
            </a:r>
            <a:r>
              <a:rPr lang="en-US" altLang="en-US" sz="2000" b="0" i="1">
                <a:latin typeface="Calibri" panose="020F0502020204030204" pitchFamily="34" charset="0"/>
              </a:rPr>
              <a:t>C</a:t>
            </a:r>
            <a:r>
              <a:rPr lang="en-US" altLang="en-US" sz="2000" b="0">
                <a:latin typeface="Courier New" panose="02070309020205020404" pitchFamily="49" charset="0"/>
              </a:rPr>
              <a:t>];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Array of data type 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 i="1">
                <a:latin typeface="Calibri" panose="020F0502020204030204" pitchFamily="34" charset="0"/>
              </a:rPr>
              <a:t>R</a:t>
            </a:r>
            <a:r>
              <a:rPr lang="en-US" altLang="en-US" sz="2000" b="0">
                <a:latin typeface="Calibri" panose="020F0502020204030204" pitchFamily="34" charset="0"/>
              </a:rPr>
              <a:t> rows, </a:t>
            </a:r>
            <a:r>
              <a:rPr lang="en-US" altLang="en-US" sz="2000" b="0" i="1">
                <a:latin typeface="Calibri" panose="020F0502020204030204" pitchFamily="34" charset="0"/>
              </a:rPr>
              <a:t>C</a:t>
            </a:r>
            <a:r>
              <a:rPr lang="en-US" altLang="en-US" sz="2000" b="0">
                <a:latin typeface="Calibri" panose="020F0502020204030204" pitchFamily="34" charset="0"/>
              </a:rPr>
              <a:t> columns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Type 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r>
              <a:rPr lang="en-US" altLang="en-US" sz="2000" b="0">
                <a:latin typeface="Calibri" panose="020F0502020204030204" pitchFamily="34" charset="0"/>
              </a:rPr>
              <a:t> element requires </a:t>
            </a:r>
            <a:r>
              <a:rPr lang="en-US" altLang="en-US" sz="2000" b="0" i="1">
                <a:latin typeface="Calibri" panose="020F0502020204030204" pitchFamily="34" charset="0"/>
              </a:rPr>
              <a:t>K</a:t>
            </a:r>
            <a:r>
              <a:rPr lang="en-US" altLang="en-US" sz="2000" b="0">
                <a:latin typeface="Calibri" panose="020F0502020204030204" pitchFamily="34" charset="0"/>
              </a:rPr>
              <a:t> bytes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Array Size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 i="1">
                <a:latin typeface="Calibri" panose="020F0502020204030204" pitchFamily="34" charset="0"/>
              </a:rPr>
              <a:t>R</a:t>
            </a:r>
            <a:r>
              <a:rPr lang="en-US" altLang="en-US" sz="2000" b="0">
                <a:latin typeface="Calibri" panose="020F0502020204030204" pitchFamily="34" charset="0"/>
              </a:rPr>
              <a:t> * </a:t>
            </a:r>
            <a:r>
              <a:rPr lang="en-US" altLang="en-US" sz="2000" b="0" i="1">
                <a:latin typeface="Calibri" panose="020F0502020204030204" pitchFamily="34" charset="0"/>
              </a:rPr>
              <a:t>C </a:t>
            </a:r>
            <a:r>
              <a:rPr lang="en-US" altLang="en-US" sz="2000" b="0">
                <a:latin typeface="Calibri" panose="020F0502020204030204" pitchFamily="34" charset="0"/>
              </a:rPr>
              <a:t>* </a:t>
            </a:r>
            <a:r>
              <a:rPr lang="en-US" altLang="en-US" sz="2000" b="0" i="1">
                <a:latin typeface="Calibri" panose="020F0502020204030204" pitchFamily="34" charset="0"/>
              </a:rPr>
              <a:t>K </a:t>
            </a:r>
            <a:r>
              <a:rPr lang="en-US" altLang="en-US" sz="2000" b="0">
                <a:latin typeface="Calibri" panose="020F0502020204030204" pitchFamily="34" charset="0"/>
              </a:rPr>
              <a:t>bytes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Arrangement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Row-Major Ordering</a:t>
            </a:r>
          </a:p>
        </p:txBody>
      </p:sp>
      <p:grpSp>
        <p:nvGrpSpPr>
          <p:cNvPr id="27651" name="Group 4">
            <a:extLst>
              <a:ext uri="{FF2B5EF4-FFF2-40B4-BE49-F238E27FC236}">
                <a16:creationId xmlns:a16="http://schemas.microsoft.com/office/drawing/2014/main" id="{B18B3A6D-7BD0-9644-A465-6A2316C5E8C9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990600"/>
            <a:ext cx="4038600" cy="2209800"/>
            <a:chOff x="2208" y="2688"/>
            <a:chExt cx="2544" cy="1392"/>
          </a:xfrm>
        </p:grpSpPr>
        <p:sp>
          <p:nvSpPr>
            <p:cNvPr id="27671" name="Rectangle 5">
              <a:extLst>
                <a:ext uri="{FF2B5EF4-FFF2-40B4-BE49-F238E27FC236}">
                  <a16:creationId xmlns:a16="http://schemas.microsoft.com/office/drawing/2014/main" id="{30140B5A-E69E-944B-82CD-855083B0B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84"/>
              <a:ext cx="76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Courier New" panose="02070309020205020404" pitchFamily="49" charset="0"/>
                </a:rPr>
                <a:t>A[0][0]</a:t>
              </a:r>
            </a:p>
          </p:txBody>
        </p:sp>
        <p:sp>
          <p:nvSpPr>
            <p:cNvPr id="27672" name="Rectangle 6">
              <a:extLst>
                <a:ext uri="{FF2B5EF4-FFF2-40B4-BE49-F238E27FC236}">
                  <a16:creationId xmlns:a16="http://schemas.microsoft.com/office/drawing/2014/main" id="{375E5C8D-2E55-784B-A74F-B5CE77AE6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784"/>
              <a:ext cx="100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800">
                  <a:latin typeface="Courier New" panose="02070309020205020404" pitchFamily="49" charset="0"/>
                </a:rPr>
                <a:t>A[0][C-1]</a:t>
              </a:r>
            </a:p>
          </p:txBody>
        </p:sp>
        <p:sp>
          <p:nvSpPr>
            <p:cNvPr id="27673" name="Rectangle 7">
              <a:extLst>
                <a:ext uri="{FF2B5EF4-FFF2-40B4-BE49-F238E27FC236}">
                  <a16:creationId xmlns:a16="http://schemas.microsoft.com/office/drawing/2014/main" id="{2D51AD5B-FCE2-164D-A5A3-6CE78FAC0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744"/>
              <a:ext cx="76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Courier New" panose="02070309020205020404" pitchFamily="49" charset="0"/>
                </a:rPr>
                <a:t>A[R-1][0]</a:t>
              </a:r>
            </a:p>
          </p:txBody>
        </p:sp>
        <p:sp>
          <p:nvSpPr>
            <p:cNvPr id="27674" name="Rectangle 8">
              <a:extLst>
                <a:ext uri="{FF2B5EF4-FFF2-40B4-BE49-F238E27FC236}">
                  <a16:creationId xmlns:a16="http://schemas.microsoft.com/office/drawing/2014/main" id="{067A3F7A-3676-BF49-B9C0-8F487C922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84"/>
              <a:ext cx="57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• • •</a:t>
              </a:r>
            </a:p>
          </p:txBody>
        </p:sp>
        <p:sp>
          <p:nvSpPr>
            <p:cNvPr id="27675" name="Rectangle 9">
              <a:extLst>
                <a:ext uri="{FF2B5EF4-FFF2-40B4-BE49-F238E27FC236}">
                  <a16:creationId xmlns:a16="http://schemas.microsoft.com/office/drawing/2014/main" id="{BE684645-8909-8841-ACAB-415A58D73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744"/>
              <a:ext cx="57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• • •</a:t>
              </a:r>
            </a:p>
          </p:txBody>
        </p:sp>
        <p:sp>
          <p:nvSpPr>
            <p:cNvPr id="27676" name="Rectangle 10">
              <a:extLst>
                <a:ext uri="{FF2B5EF4-FFF2-40B4-BE49-F238E27FC236}">
                  <a16:creationId xmlns:a16="http://schemas.microsoft.com/office/drawing/2014/main" id="{6C8C2E6A-E956-264A-A097-BA69E8EB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744"/>
              <a:ext cx="1056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800">
                  <a:latin typeface="Courier New" panose="02070309020205020404" pitchFamily="49" charset="0"/>
                </a:rPr>
                <a:t>A[R-1][C-1]</a:t>
              </a:r>
            </a:p>
          </p:txBody>
        </p:sp>
        <p:sp>
          <p:nvSpPr>
            <p:cNvPr id="27677" name="Rectangle 11">
              <a:extLst>
                <a:ext uri="{FF2B5EF4-FFF2-40B4-BE49-F238E27FC236}">
                  <a16:creationId xmlns:a16="http://schemas.microsoft.com/office/drawing/2014/main" id="{C211C990-AEBF-134F-B8B2-E0DC8AD95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168"/>
              <a:ext cx="288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•</a:t>
              </a:r>
            </a:p>
            <a:p>
              <a:r>
                <a:rPr lang="en-US" altLang="en-US">
                  <a:latin typeface="Courier New" panose="02070309020205020404" pitchFamily="49" charset="0"/>
                </a:rPr>
                <a:t>•</a:t>
              </a:r>
            </a:p>
            <a:p>
              <a:r>
                <a:rPr lang="en-US" altLang="en-US">
                  <a:latin typeface="Courier New" panose="02070309020205020404" pitchFamily="49" charset="0"/>
                </a:rPr>
                <a:t>•</a:t>
              </a:r>
            </a:p>
          </p:txBody>
        </p:sp>
        <p:sp>
          <p:nvSpPr>
            <p:cNvPr id="27678" name="Rectangle 12">
              <a:extLst>
                <a:ext uri="{FF2B5EF4-FFF2-40B4-BE49-F238E27FC236}">
                  <a16:creationId xmlns:a16="http://schemas.microsoft.com/office/drawing/2014/main" id="{C8674222-67D4-A24F-B416-A9D7DAE9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168"/>
              <a:ext cx="288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•</a:t>
              </a:r>
            </a:p>
            <a:p>
              <a:r>
                <a:rPr lang="en-US" altLang="en-US">
                  <a:latin typeface="Courier New" panose="02070309020205020404" pitchFamily="49" charset="0"/>
                </a:rPr>
                <a:t>•</a:t>
              </a:r>
            </a:p>
            <a:p>
              <a:r>
                <a:rPr lang="en-US" altLang="en-US">
                  <a:latin typeface="Courier New" panose="02070309020205020404" pitchFamily="49" charset="0"/>
                </a:rPr>
                <a:t>•</a:t>
              </a:r>
            </a:p>
          </p:txBody>
        </p:sp>
        <p:sp>
          <p:nvSpPr>
            <p:cNvPr id="27679" name="Freeform 13">
              <a:extLst>
                <a:ext uri="{FF2B5EF4-FFF2-40B4-BE49-F238E27FC236}">
                  <a16:creationId xmlns:a16="http://schemas.microsoft.com/office/drawing/2014/main" id="{A7C1A175-D13C-CE4E-8FEC-35B5703DB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0" name="Freeform 14">
              <a:extLst>
                <a:ext uri="{FF2B5EF4-FFF2-40B4-BE49-F238E27FC236}">
                  <a16:creationId xmlns:a16="http://schemas.microsoft.com/office/drawing/2014/main" id="{D0691433-CA30-A74A-BFFC-41E33E8A32B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56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Text Box 15">
            <a:extLst>
              <a:ext uri="{FF2B5EF4-FFF2-40B4-BE49-F238E27FC236}">
                <a16:creationId xmlns:a16="http://schemas.microsoft.com/office/drawing/2014/main" id="{C114458D-A0A2-5445-A55E-7D2F4A5B0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343400"/>
            <a:ext cx="182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>
                <a:latin typeface="Courier New" panose="02070309020205020404" pitchFamily="49" charset="0"/>
              </a:rPr>
              <a:t>int A[R][C];</a:t>
            </a:r>
          </a:p>
        </p:txBody>
      </p:sp>
      <p:grpSp>
        <p:nvGrpSpPr>
          <p:cNvPr id="27653" name="Group 16">
            <a:extLst>
              <a:ext uri="{FF2B5EF4-FFF2-40B4-BE49-F238E27FC236}">
                <a16:creationId xmlns:a16="http://schemas.microsoft.com/office/drawing/2014/main" id="{31F41D8A-B198-6C4B-BDC2-AA961AB0AB5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800600"/>
            <a:ext cx="8229600" cy="1066800"/>
            <a:chOff x="336" y="3408"/>
            <a:chExt cx="5184" cy="624"/>
          </a:xfrm>
        </p:grpSpPr>
        <p:grpSp>
          <p:nvGrpSpPr>
            <p:cNvPr id="27658" name="Group 17">
              <a:extLst>
                <a:ext uri="{FF2B5EF4-FFF2-40B4-BE49-F238E27FC236}">
                  <a16:creationId xmlns:a16="http://schemas.microsoft.com/office/drawing/2014/main" id="{B1A87DF8-70CB-B64C-8364-AAF1886523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3408"/>
              <a:ext cx="1344" cy="624"/>
              <a:chOff x="1488" y="3504"/>
              <a:chExt cx="1344" cy="624"/>
            </a:xfrm>
          </p:grpSpPr>
          <p:sp>
            <p:nvSpPr>
              <p:cNvPr id="27668" name="Rectangle 18">
                <a:extLst>
                  <a:ext uri="{FF2B5EF4-FFF2-40B4-BE49-F238E27FC236}">
                    <a16:creationId xmlns:a16="http://schemas.microsoft.com/office/drawing/2014/main" id="{F28122A2-E96A-3549-948D-AB5C31D9B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[0]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[0]</a:t>
                </a:r>
              </a:p>
            </p:txBody>
          </p:sp>
          <p:sp>
            <p:nvSpPr>
              <p:cNvPr id="27669" name="Rectangle 19">
                <a:extLst>
                  <a:ext uri="{FF2B5EF4-FFF2-40B4-BE49-F238E27FC236}">
                    <a16:creationId xmlns:a16="http://schemas.microsoft.com/office/drawing/2014/main" id="{CA0B66C4-0356-6043-BEDF-77103070F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[0]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[C-1</a:t>
                </a:r>
                <a:r>
                  <a:rPr lang="en-US" altLang="en-US">
                    <a:latin typeface="Courier New" panose="02070309020205020404" pitchFamily="49" charset="0"/>
                  </a:rPr>
                  <a:t>]</a:t>
                </a:r>
              </a:p>
            </p:txBody>
          </p:sp>
          <p:sp>
            <p:nvSpPr>
              <p:cNvPr id="27670" name="Rectangle 20">
                <a:extLst>
                  <a:ext uri="{FF2B5EF4-FFF2-40B4-BE49-F238E27FC236}">
                    <a16:creationId xmlns:a16="http://schemas.microsoft.com/office/drawing/2014/main" id="{BA2AF97F-EEB6-1F40-88FE-544922062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b="0">
                    <a:latin typeface="Courier New" panose="02070309020205020404" pitchFamily="49" charset="0"/>
                  </a:rPr>
                  <a:t>• • •</a:t>
                </a:r>
              </a:p>
            </p:txBody>
          </p:sp>
        </p:grpSp>
        <p:grpSp>
          <p:nvGrpSpPr>
            <p:cNvPr id="27659" name="Group 21">
              <a:extLst>
                <a:ext uri="{FF2B5EF4-FFF2-40B4-BE49-F238E27FC236}">
                  <a16:creationId xmlns:a16="http://schemas.microsoft.com/office/drawing/2014/main" id="{7DF02649-16E2-8B48-9A6A-5B028D32C0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3408"/>
              <a:ext cx="1728" cy="624"/>
              <a:chOff x="1488" y="3504"/>
              <a:chExt cx="1728" cy="624"/>
            </a:xfrm>
          </p:grpSpPr>
          <p:sp>
            <p:nvSpPr>
              <p:cNvPr id="27665" name="Rectangle 22">
                <a:extLst>
                  <a:ext uri="{FF2B5EF4-FFF2-40B4-BE49-F238E27FC236}">
                    <a16:creationId xmlns:a16="http://schemas.microsoft.com/office/drawing/2014/main" id="{CC7A27FB-2132-7947-AC90-003996281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[1]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[0]</a:t>
                </a:r>
              </a:p>
            </p:txBody>
          </p:sp>
          <p:sp>
            <p:nvSpPr>
              <p:cNvPr id="27666" name="Rectangle 23">
                <a:extLst>
                  <a:ext uri="{FF2B5EF4-FFF2-40B4-BE49-F238E27FC236}">
                    <a16:creationId xmlns:a16="http://schemas.microsoft.com/office/drawing/2014/main" id="{2E336860-D4CA-AE4B-85D2-0121855AB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[1]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[C-1</a:t>
                </a:r>
                <a:r>
                  <a:rPr lang="en-US" altLang="en-US" sz="1800">
                    <a:latin typeface="Courier New" panose="02070309020205020404" pitchFamily="49" charset="0"/>
                  </a:rPr>
                  <a:t>]</a:t>
                </a:r>
              </a:p>
            </p:txBody>
          </p:sp>
          <p:sp>
            <p:nvSpPr>
              <p:cNvPr id="27667" name="Rectangle 24">
                <a:extLst>
                  <a:ext uri="{FF2B5EF4-FFF2-40B4-BE49-F238E27FC236}">
                    <a16:creationId xmlns:a16="http://schemas.microsoft.com/office/drawing/2014/main" id="{A971033E-6413-E446-8818-644A5747C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134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b="0">
                    <a:latin typeface="Courier New" panose="02070309020205020404" pitchFamily="49" charset="0"/>
                  </a:rPr>
                  <a:t>• • •</a:t>
                </a:r>
              </a:p>
            </p:txBody>
          </p:sp>
        </p:grpSp>
        <p:grpSp>
          <p:nvGrpSpPr>
            <p:cNvPr id="27660" name="Group 25">
              <a:extLst>
                <a:ext uri="{FF2B5EF4-FFF2-40B4-BE49-F238E27FC236}">
                  <a16:creationId xmlns:a16="http://schemas.microsoft.com/office/drawing/2014/main" id="{D7B7DFF9-C089-624A-9B23-3F8436C84B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3408"/>
              <a:ext cx="1344" cy="624"/>
              <a:chOff x="1488" y="3504"/>
              <a:chExt cx="1344" cy="624"/>
            </a:xfrm>
          </p:grpSpPr>
          <p:sp>
            <p:nvSpPr>
              <p:cNvPr id="27662" name="Rectangle 26">
                <a:extLst>
                  <a:ext uri="{FF2B5EF4-FFF2-40B4-BE49-F238E27FC236}">
                    <a16:creationId xmlns:a16="http://schemas.microsoft.com/office/drawing/2014/main" id="{DF17CF24-2159-5641-8270-798FDA8B9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[R-1]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[0]</a:t>
                </a:r>
              </a:p>
            </p:txBody>
          </p:sp>
          <p:sp>
            <p:nvSpPr>
              <p:cNvPr id="27663" name="Rectangle 27">
                <a:extLst>
                  <a:ext uri="{FF2B5EF4-FFF2-40B4-BE49-F238E27FC236}">
                    <a16:creationId xmlns:a16="http://schemas.microsoft.com/office/drawing/2014/main" id="{78FF1F11-95BA-0D44-9023-E2CF16D4E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[R-1]</a:t>
                </a:r>
              </a:p>
              <a:p>
                <a:r>
                  <a:rPr lang="en-US" altLang="en-US" sz="1600">
                    <a:latin typeface="Courier New" panose="02070309020205020404" pitchFamily="49" charset="0"/>
                  </a:rPr>
                  <a:t>[C-1]</a:t>
                </a:r>
              </a:p>
            </p:txBody>
          </p:sp>
          <p:sp>
            <p:nvSpPr>
              <p:cNvPr id="27664" name="Rectangle 28">
                <a:extLst>
                  <a:ext uri="{FF2B5EF4-FFF2-40B4-BE49-F238E27FC236}">
                    <a16:creationId xmlns:a16="http://schemas.microsoft.com/office/drawing/2014/main" id="{89B929E7-AB6A-444C-BAEC-20C736BB0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960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b="0">
                    <a:latin typeface="Courier New" panose="02070309020205020404" pitchFamily="49" charset="0"/>
                  </a:rPr>
                  <a:t>• • •</a:t>
                </a:r>
              </a:p>
            </p:txBody>
          </p:sp>
        </p:grpSp>
        <p:sp>
          <p:nvSpPr>
            <p:cNvPr id="27661" name="Rectangle 29">
              <a:extLst>
                <a:ext uri="{FF2B5EF4-FFF2-40B4-BE49-F238E27FC236}">
                  <a16:creationId xmlns:a16="http://schemas.microsoft.com/office/drawing/2014/main" id="{2FF523AC-0044-F647-B86B-64B7D1755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408"/>
              <a:ext cx="1152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b="0">
                  <a:latin typeface="Courier New" panose="02070309020205020404" pitchFamily="49" charset="0"/>
                </a:rPr>
                <a:t>•  •  •</a:t>
              </a:r>
            </a:p>
          </p:txBody>
        </p:sp>
      </p:grpSp>
      <p:sp>
        <p:nvSpPr>
          <p:cNvPr id="27654" name="Line 30">
            <a:extLst>
              <a:ext uri="{FF2B5EF4-FFF2-40B4-BE49-F238E27FC236}">
                <a16:creationId xmlns:a16="http://schemas.microsoft.com/office/drawing/2014/main" id="{7051AE48-1795-E24F-9E37-F80FCE253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5867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Line 31">
            <a:extLst>
              <a:ext uri="{FF2B5EF4-FFF2-40B4-BE49-F238E27FC236}">
                <a16:creationId xmlns:a16="http://schemas.microsoft.com/office/drawing/2014/main" id="{67E3FFAA-EEF7-804E-AB66-183EF38A5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867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32">
            <a:extLst>
              <a:ext uri="{FF2B5EF4-FFF2-40B4-BE49-F238E27FC236}">
                <a16:creationId xmlns:a16="http://schemas.microsoft.com/office/drawing/2014/main" id="{10A22FF6-577D-6E46-BAC1-988C6187B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019800"/>
            <a:ext cx="822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Rectangle 33">
            <a:extLst>
              <a:ext uri="{FF2B5EF4-FFF2-40B4-BE49-F238E27FC236}">
                <a16:creationId xmlns:a16="http://schemas.microsoft.com/office/drawing/2014/main" id="{1578B5C5-5612-E747-9884-66424662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447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4*R*C</a:t>
            </a:r>
            <a:r>
              <a:rPr lang="en-US" altLang="en-US" sz="1800" b="0"/>
              <a:t>  Bytes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8F1E13D7-39AE-2847-B7B1-793B69DB9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267200"/>
            <a:ext cx="9906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•  •  •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8C68E9D4-5176-8A40-8845-D74BE90C7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934200" cy="573088"/>
          </a:xfrm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Nested Array Row Access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41F080E9-75A9-5E4A-8746-60FDF7E07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1220788"/>
            <a:ext cx="6262687" cy="167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Row Vectors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8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A[i]</a:t>
            </a:r>
            <a:r>
              <a:rPr lang="en-US" altLang="en-US" sz="2000" b="0">
                <a:latin typeface="Calibri" panose="020F0502020204030204" pitchFamily="34" charset="0"/>
              </a:rPr>
              <a:t> is array of </a:t>
            </a:r>
            <a:r>
              <a:rPr lang="en-US" altLang="en-US" sz="2000" b="0" i="1">
                <a:latin typeface="Calibri" panose="020F0502020204030204" pitchFamily="34" charset="0"/>
              </a:rPr>
              <a:t>C</a:t>
            </a:r>
            <a:r>
              <a:rPr lang="en-US" altLang="en-US" sz="2000" b="0">
                <a:latin typeface="Calibri" panose="020F0502020204030204" pitchFamily="34" charset="0"/>
              </a:rPr>
              <a:t> elements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Each element of type 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Starting address </a:t>
            </a:r>
            <a:r>
              <a:rPr lang="en-US" altLang="en-US" sz="2000" b="0">
                <a:latin typeface="Courier New" panose="02070309020205020404" pitchFamily="49" charset="0"/>
              </a:rPr>
              <a:t>A + </a:t>
            </a:r>
            <a:r>
              <a:rPr lang="en-US" altLang="en-US" sz="2000" b="0">
                <a:latin typeface="Calibri" panose="020F0502020204030204" pitchFamily="34" charset="0"/>
              </a:rPr>
              <a:t> </a:t>
            </a:r>
            <a:r>
              <a:rPr lang="en-US" altLang="en-US" sz="2000" b="0" i="1">
                <a:latin typeface="Calibri" panose="020F0502020204030204" pitchFamily="34" charset="0"/>
              </a:rPr>
              <a:t>i</a:t>
            </a:r>
            <a:r>
              <a:rPr lang="en-US" altLang="en-US" sz="2000" b="0">
                <a:latin typeface="Calibri" panose="020F0502020204030204" pitchFamily="34" charset="0"/>
              </a:rPr>
              <a:t> * </a:t>
            </a:r>
            <a:r>
              <a:rPr lang="en-US" altLang="en-US" sz="2000" b="0" i="1">
                <a:latin typeface="Calibri" panose="020F0502020204030204" pitchFamily="34" charset="0"/>
              </a:rPr>
              <a:t>C </a:t>
            </a:r>
            <a:r>
              <a:rPr lang="en-US" altLang="en-US" sz="2000" b="0">
                <a:latin typeface="Calibri" panose="020F0502020204030204" pitchFamily="34" charset="0"/>
              </a:rPr>
              <a:t>* </a:t>
            </a:r>
            <a:r>
              <a:rPr lang="en-US" altLang="en-US" sz="2000" b="0" i="1">
                <a:latin typeface="Calibri" panose="020F0502020204030204" pitchFamily="34" charset="0"/>
              </a:rPr>
              <a:t>K</a:t>
            </a:r>
          </a:p>
        </p:txBody>
      </p:sp>
      <p:grpSp>
        <p:nvGrpSpPr>
          <p:cNvPr id="28676" name="Group 5">
            <a:extLst>
              <a:ext uri="{FF2B5EF4-FFF2-40B4-BE49-F238E27FC236}">
                <a16:creationId xmlns:a16="http://schemas.microsoft.com/office/drawing/2014/main" id="{23EC31B6-A318-0D4C-A7ED-BAD7C800E465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733800"/>
            <a:ext cx="2743200" cy="1524000"/>
            <a:chOff x="1680" y="2064"/>
            <a:chExt cx="1728" cy="960"/>
          </a:xfrm>
        </p:grpSpPr>
        <p:grpSp>
          <p:nvGrpSpPr>
            <p:cNvPr id="28703" name="Group 6">
              <a:extLst>
                <a:ext uri="{FF2B5EF4-FFF2-40B4-BE49-F238E27FC236}">
                  <a16:creationId xmlns:a16="http://schemas.microsoft.com/office/drawing/2014/main" id="{1712B0B8-46AB-0A43-9D3A-B16E1961D0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2400"/>
              <a:ext cx="1728" cy="624"/>
              <a:chOff x="1488" y="3504"/>
              <a:chExt cx="1728" cy="624"/>
            </a:xfrm>
          </p:grpSpPr>
          <p:sp>
            <p:nvSpPr>
              <p:cNvPr id="28709" name="Rectangle 7">
                <a:extLst>
                  <a:ext uri="{FF2B5EF4-FFF2-40B4-BE49-F238E27FC236}">
                    <a16:creationId xmlns:a16="http://schemas.microsoft.com/office/drawing/2014/main" id="{AFC46789-DD9D-8E42-A522-0537A076E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[i]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</p:txBody>
          </p:sp>
          <p:sp>
            <p:nvSpPr>
              <p:cNvPr id="28710" name="Rectangle 8">
                <a:extLst>
                  <a:ext uri="{FF2B5EF4-FFF2-40B4-BE49-F238E27FC236}">
                    <a16:creationId xmlns:a16="http://schemas.microsoft.com/office/drawing/2014/main" id="{4D839CAA-8CE0-E647-B0D3-A0922B250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[i]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[C-1]</a:t>
                </a:r>
              </a:p>
            </p:txBody>
          </p:sp>
          <p:sp>
            <p:nvSpPr>
              <p:cNvPr id="28711" name="Rectangle 9">
                <a:extLst>
                  <a:ext uri="{FF2B5EF4-FFF2-40B4-BE49-F238E27FC236}">
                    <a16:creationId xmlns:a16="http://schemas.microsoft.com/office/drawing/2014/main" id="{033F36BA-47B4-104A-AA96-C2C85601D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134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/>
                  <a:t>• • •</a:t>
                </a:r>
              </a:p>
            </p:txBody>
          </p:sp>
        </p:grpSp>
        <p:sp>
          <p:nvSpPr>
            <p:cNvPr id="28704" name="Line 10">
              <a:extLst>
                <a:ext uri="{FF2B5EF4-FFF2-40B4-BE49-F238E27FC236}">
                  <a16:creationId xmlns:a16="http://schemas.microsoft.com/office/drawing/2014/main" id="{C39053EA-5F81-BF44-8306-4E49E2D81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5" name="Line 11">
              <a:extLst>
                <a:ext uri="{FF2B5EF4-FFF2-40B4-BE49-F238E27FC236}">
                  <a16:creationId xmlns:a16="http://schemas.microsoft.com/office/drawing/2014/main" id="{89FD46CD-3AD7-E547-8296-0BC245B79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6" name="Line 12">
              <a:extLst>
                <a:ext uri="{FF2B5EF4-FFF2-40B4-BE49-F238E27FC236}">
                  <a16:creationId xmlns:a16="http://schemas.microsoft.com/office/drawing/2014/main" id="{AA88CA60-9665-6C43-ABD7-3EC3FFBF6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7" name="Line 13">
              <a:extLst>
                <a:ext uri="{FF2B5EF4-FFF2-40B4-BE49-F238E27FC236}">
                  <a16:creationId xmlns:a16="http://schemas.microsoft.com/office/drawing/2014/main" id="{D2307510-EAEB-3640-992A-FD5B98AC7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8" name="Rectangle 14">
              <a:extLst>
                <a:ext uri="{FF2B5EF4-FFF2-40B4-BE49-F238E27FC236}">
                  <a16:creationId xmlns:a16="http://schemas.microsoft.com/office/drawing/2014/main" id="{5A8A7FD0-12DA-2641-96C7-6EDE49750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064"/>
              <a:ext cx="528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A[i]</a:t>
              </a:r>
              <a:endParaRPr lang="en-US" altLang="en-US" b="0"/>
            </a:p>
          </p:txBody>
        </p:sp>
      </p:grpSp>
      <p:grpSp>
        <p:nvGrpSpPr>
          <p:cNvPr id="28677" name="Group 15">
            <a:extLst>
              <a:ext uri="{FF2B5EF4-FFF2-40B4-BE49-F238E27FC236}">
                <a16:creationId xmlns:a16="http://schemas.microsoft.com/office/drawing/2014/main" id="{19FD4F59-213A-C945-8550-5BB0269FF0F8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733800"/>
            <a:ext cx="2133600" cy="1524000"/>
            <a:chOff x="4176" y="2064"/>
            <a:chExt cx="1344" cy="960"/>
          </a:xfrm>
        </p:grpSpPr>
        <p:grpSp>
          <p:nvGrpSpPr>
            <p:cNvPr id="28695" name="Group 16">
              <a:extLst>
                <a:ext uri="{FF2B5EF4-FFF2-40B4-BE49-F238E27FC236}">
                  <a16:creationId xmlns:a16="http://schemas.microsoft.com/office/drawing/2014/main" id="{8DC0DB94-7864-BB4C-B135-44AEEC68A8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400"/>
              <a:ext cx="1344" cy="624"/>
              <a:chOff x="1488" y="3504"/>
              <a:chExt cx="1344" cy="624"/>
            </a:xfrm>
          </p:grpSpPr>
          <p:sp>
            <p:nvSpPr>
              <p:cNvPr id="28700" name="Rectangle 17">
                <a:extLst>
                  <a:ext uri="{FF2B5EF4-FFF2-40B4-BE49-F238E27FC236}">
                    <a16:creationId xmlns:a16="http://schemas.microsoft.com/office/drawing/2014/main" id="{0F21F134-7891-0644-90AE-F7A838715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[R-1]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</p:txBody>
          </p:sp>
          <p:sp>
            <p:nvSpPr>
              <p:cNvPr id="28701" name="Rectangle 18">
                <a:extLst>
                  <a:ext uri="{FF2B5EF4-FFF2-40B4-BE49-F238E27FC236}">
                    <a16:creationId xmlns:a16="http://schemas.microsoft.com/office/drawing/2014/main" id="{A744CFDF-F41A-E140-A9BC-FD1C87AAC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[R-1]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[C-1]</a:t>
                </a:r>
              </a:p>
            </p:txBody>
          </p:sp>
          <p:sp>
            <p:nvSpPr>
              <p:cNvPr id="28702" name="Rectangle 19">
                <a:extLst>
                  <a:ext uri="{FF2B5EF4-FFF2-40B4-BE49-F238E27FC236}">
                    <a16:creationId xmlns:a16="http://schemas.microsoft.com/office/drawing/2014/main" id="{FDADDE2B-694D-D346-947D-E8810B518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960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/>
                  <a:t>• • •</a:t>
                </a:r>
              </a:p>
            </p:txBody>
          </p:sp>
        </p:grpSp>
        <p:sp>
          <p:nvSpPr>
            <p:cNvPr id="28696" name="Line 20">
              <a:extLst>
                <a:ext uri="{FF2B5EF4-FFF2-40B4-BE49-F238E27FC236}">
                  <a16:creationId xmlns:a16="http://schemas.microsoft.com/office/drawing/2014/main" id="{1F0B9D09-DF49-0C40-A2F3-9577452EC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7" name="Line 21">
              <a:extLst>
                <a:ext uri="{FF2B5EF4-FFF2-40B4-BE49-F238E27FC236}">
                  <a16:creationId xmlns:a16="http://schemas.microsoft.com/office/drawing/2014/main" id="{5B8E2B9D-0C04-9A48-BB40-20A9ECB73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8" name="Line 22">
              <a:extLst>
                <a:ext uri="{FF2B5EF4-FFF2-40B4-BE49-F238E27FC236}">
                  <a16:creationId xmlns:a16="http://schemas.microsoft.com/office/drawing/2014/main" id="{54CF023F-7B46-7645-A1F2-53E00BFA6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Rectangle 23">
              <a:extLst>
                <a:ext uri="{FF2B5EF4-FFF2-40B4-BE49-F238E27FC236}">
                  <a16:creationId xmlns:a16="http://schemas.microsoft.com/office/drawing/2014/main" id="{817CD2A2-A5F7-9645-9EDE-101540DAE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064"/>
              <a:ext cx="528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A[R-1]</a:t>
              </a:r>
              <a:endParaRPr lang="en-US" altLang="en-US" b="0"/>
            </a:p>
          </p:txBody>
        </p:sp>
      </p:grpSp>
      <p:sp>
        <p:nvSpPr>
          <p:cNvPr id="28678" name="Rectangle 24">
            <a:extLst>
              <a:ext uri="{FF2B5EF4-FFF2-40B4-BE49-F238E27FC236}">
                <a16:creationId xmlns:a16="http://schemas.microsoft.com/office/drawing/2014/main" id="{B61CC1F5-4D4F-9E47-95B2-AFD8BBB03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267200"/>
            <a:ext cx="9906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•  •  •</a:t>
            </a:r>
          </a:p>
        </p:txBody>
      </p:sp>
      <p:sp>
        <p:nvSpPr>
          <p:cNvPr id="28679" name="Text Box 25">
            <a:extLst>
              <a:ext uri="{FF2B5EF4-FFF2-40B4-BE49-F238E27FC236}">
                <a16:creationId xmlns:a16="http://schemas.microsoft.com/office/drawing/2014/main" id="{3889A16A-0CE4-AE41-9DD0-7561B7931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86400"/>
            <a:ext cx="396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8680" name="Line 26">
            <a:extLst>
              <a:ext uri="{FF2B5EF4-FFF2-40B4-BE49-F238E27FC236}">
                <a16:creationId xmlns:a16="http://schemas.microsoft.com/office/drawing/2014/main" id="{F99058C8-F7E7-534E-BB2C-4DB667981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5243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27">
            <a:extLst>
              <a:ext uri="{FF2B5EF4-FFF2-40B4-BE49-F238E27FC236}">
                <a16:creationId xmlns:a16="http://schemas.microsoft.com/office/drawing/2014/main" id="{F83AB43F-81FC-014C-AD97-5B566B56C2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52578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682" name="Group 28">
            <a:extLst>
              <a:ext uri="{FF2B5EF4-FFF2-40B4-BE49-F238E27FC236}">
                <a16:creationId xmlns:a16="http://schemas.microsoft.com/office/drawing/2014/main" id="{B7A605D4-62D2-6A4F-9A17-5C794BDF13C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733800"/>
            <a:ext cx="2133600" cy="1524000"/>
            <a:chOff x="336" y="2064"/>
            <a:chExt cx="1344" cy="960"/>
          </a:xfrm>
        </p:grpSpPr>
        <p:grpSp>
          <p:nvGrpSpPr>
            <p:cNvPr id="28687" name="Group 29">
              <a:extLst>
                <a:ext uri="{FF2B5EF4-FFF2-40B4-BE49-F238E27FC236}">
                  <a16:creationId xmlns:a16="http://schemas.microsoft.com/office/drawing/2014/main" id="{049160DD-55D7-C84A-B3C0-21181FF82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400"/>
              <a:ext cx="1344" cy="624"/>
              <a:chOff x="1488" y="3504"/>
              <a:chExt cx="1344" cy="624"/>
            </a:xfrm>
          </p:grpSpPr>
          <p:sp>
            <p:nvSpPr>
              <p:cNvPr id="28692" name="Rectangle 30">
                <a:extLst>
                  <a:ext uri="{FF2B5EF4-FFF2-40B4-BE49-F238E27FC236}">
                    <a16:creationId xmlns:a16="http://schemas.microsoft.com/office/drawing/2014/main" id="{CFFEA3FC-B88F-B643-BDD4-CF18A1BC2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</p:txBody>
          </p:sp>
          <p:sp>
            <p:nvSpPr>
              <p:cNvPr id="28693" name="Rectangle 31">
                <a:extLst>
                  <a:ext uri="{FF2B5EF4-FFF2-40B4-BE49-F238E27FC236}">
                    <a16:creationId xmlns:a16="http://schemas.microsoft.com/office/drawing/2014/main" id="{FD04D63A-D677-2944-BE29-B0B9E308C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[C-1]</a:t>
                </a:r>
              </a:p>
            </p:txBody>
          </p:sp>
          <p:sp>
            <p:nvSpPr>
              <p:cNvPr id="28694" name="Rectangle 32">
                <a:extLst>
                  <a:ext uri="{FF2B5EF4-FFF2-40B4-BE49-F238E27FC236}">
                    <a16:creationId xmlns:a16="http://schemas.microsoft.com/office/drawing/2014/main" id="{8C2B88B7-E138-3F44-8F56-F7C5234BD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960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b="0"/>
                  <a:t>• • •</a:t>
                </a:r>
              </a:p>
            </p:txBody>
          </p:sp>
        </p:grpSp>
        <p:sp>
          <p:nvSpPr>
            <p:cNvPr id="28688" name="Line 33">
              <a:extLst>
                <a:ext uri="{FF2B5EF4-FFF2-40B4-BE49-F238E27FC236}">
                  <a16:creationId xmlns:a16="http://schemas.microsoft.com/office/drawing/2014/main" id="{78B0C17D-5507-E545-80A1-356014A0B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Line 34">
              <a:extLst>
                <a:ext uri="{FF2B5EF4-FFF2-40B4-BE49-F238E27FC236}">
                  <a16:creationId xmlns:a16="http://schemas.microsoft.com/office/drawing/2014/main" id="{F7290280-CB24-9146-B6DB-5543BD28C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Rectangle 35">
              <a:extLst>
                <a:ext uri="{FF2B5EF4-FFF2-40B4-BE49-F238E27FC236}">
                  <a16:creationId xmlns:a16="http://schemas.microsoft.com/office/drawing/2014/main" id="{EF88B4BA-DDC7-A748-BA3C-DD7A71EEF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064"/>
              <a:ext cx="528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A[0]</a:t>
              </a:r>
              <a:endParaRPr lang="en-US" altLang="en-US" b="0"/>
            </a:p>
          </p:txBody>
        </p:sp>
        <p:sp>
          <p:nvSpPr>
            <p:cNvPr id="28691" name="Line 36">
              <a:extLst>
                <a:ext uri="{FF2B5EF4-FFF2-40B4-BE49-F238E27FC236}">
                  <a16:creationId xmlns:a16="http://schemas.microsoft.com/office/drawing/2014/main" id="{717C6A3E-DD9C-6140-AE8E-B3608F357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83" name="Text Box 37">
            <a:extLst>
              <a:ext uri="{FF2B5EF4-FFF2-40B4-BE49-F238E27FC236}">
                <a16:creationId xmlns:a16="http://schemas.microsoft.com/office/drawing/2014/main" id="{4DF3FBC6-6DE2-DE42-8812-692532ABC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00400"/>
            <a:ext cx="182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>
                <a:latin typeface="Courier New" panose="02070309020205020404" pitchFamily="49" charset="0"/>
              </a:rPr>
              <a:t>int A[R][C];</a:t>
            </a:r>
          </a:p>
        </p:txBody>
      </p:sp>
      <p:sp>
        <p:nvSpPr>
          <p:cNvPr id="28684" name="Text Box 38">
            <a:extLst>
              <a:ext uri="{FF2B5EF4-FFF2-40B4-BE49-F238E27FC236}">
                <a16:creationId xmlns:a16="http://schemas.microsoft.com/office/drawing/2014/main" id="{E6929AE6-D139-2042-8FBF-011C0CFC4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A+i*C*4</a:t>
            </a:r>
          </a:p>
        </p:txBody>
      </p:sp>
      <p:sp>
        <p:nvSpPr>
          <p:cNvPr id="28685" name="Text Box 39">
            <a:extLst>
              <a:ext uri="{FF2B5EF4-FFF2-40B4-BE49-F238E27FC236}">
                <a16:creationId xmlns:a16="http://schemas.microsoft.com/office/drawing/2014/main" id="{BC18BB70-A861-FD4E-8E41-ED7EEF09E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562600"/>
            <a:ext cx="175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A+(R-1)*C*4</a:t>
            </a:r>
          </a:p>
        </p:txBody>
      </p:sp>
      <p:sp>
        <p:nvSpPr>
          <p:cNvPr id="28686" name="Line 40">
            <a:extLst>
              <a:ext uri="{FF2B5EF4-FFF2-40B4-BE49-F238E27FC236}">
                <a16:creationId xmlns:a16="http://schemas.microsoft.com/office/drawing/2014/main" id="{76E5AE83-FC2F-1E42-82A8-85135EDE1C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52578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6E60019E-589E-6949-9069-5F8C132DB1FE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28600"/>
            <a:ext cx="8534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Nested Array Row Access Code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00E0DD27-4BDA-7344-86E9-6AAA615CC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0"/>
            <a:ext cx="740410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Row Vector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pgh[index]</a:t>
            </a:r>
            <a:r>
              <a:rPr lang="en-US" altLang="en-US" sz="2000" b="0">
                <a:latin typeface="Calibri" panose="020F0502020204030204" pitchFamily="34" charset="0"/>
              </a:rPr>
              <a:t> is array of 5 </a:t>
            </a:r>
            <a:r>
              <a:rPr lang="en-US" altLang="en-US" sz="2000" b="0">
                <a:latin typeface="Courier New" panose="02070309020205020404" pitchFamily="49" charset="0"/>
              </a:rPr>
              <a:t>int</a:t>
            </a:r>
            <a:r>
              <a:rPr lang="ja-JP" altLang="en-US" sz="2000" b="0">
                <a:latin typeface="Calibri" panose="020F0502020204030204" pitchFamily="34" charset="0"/>
              </a:rPr>
              <a:t>’</a:t>
            </a:r>
            <a:r>
              <a:rPr lang="en-US" altLang="ja-JP" sz="2000" b="0">
                <a:latin typeface="Calibri" panose="020F0502020204030204" pitchFamily="34" charset="0"/>
              </a:rPr>
              <a:t>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Starting address </a:t>
            </a:r>
            <a:r>
              <a:rPr lang="en-US" altLang="en-US" sz="2000" b="0">
                <a:latin typeface="Courier New" panose="02070309020205020404" pitchFamily="49" charset="0"/>
              </a:rPr>
              <a:t>pgh+20*index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Code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Computes and returns address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Compute as </a:t>
            </a:r>
            <a:r>
              <a:rPr lang="en-US" altLang="en-US" sz="2000" b="0">
                <a:latin typeface="Courier New" panose="02070309020205020404" pitchFamily="49" charset="0"/>
              </a:rPr>
              <a:t>pgh + 4*(index+4*index)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 b="0" i="1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 b="0">
              <a:latin typeface="Calibri" panose="020F0502020204030204" pitchFamily="34" charset="0"/>
            </a:endParaRPr>
          </a:p>
        </p:txBody>
      </p:sp>
      <p:sp>
        <p:nvSpPr>
          <p:cNvPr id="29699" name="Rectangle 4">
            <a:extLst>
              <a:ext uri="{FF2B5EF4-FFF2-40B4-BE49-F238E27FC236}">
                <a16:creationId xmlns:a16="http://schemas.microsoft.com/office/drawing/2014/main" id="{A4EC2EAC-92FF-2047-AC72-88A85F002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066800"/>
            <a:ext cx="4114800" cy="120015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*get_pgh_zip(int index)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pgh[index];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9700" name="Rectangle 5">
            <a:extLst>
              <a:ext uri="{FF2B5EF4-FFF2-40B4-BE49-F238E27FC236}">
                <a16:creationId xmlns:a16="http://schemas.microsoft.com/office/drawing/2014/main" id="{3B024CF3-996D-0A44-9D0E-254E7CDAF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029200"/>
            <a:ext cx="6781800" cy="92551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2628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  # %eax = index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(%eax,%eax,4),%eax	# 5 * index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pgh(,%eax,4),%eax	# pgh + (20 * index)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9">
            <a:extLst>
              <a:ext uri="{FF2B5EF4-FFF2-40B4-BE49-F238E27FC236}">
                <a16:creationId xmlns:a16="http://schemas.microsoft.com/office/drawing/2014/main" id="{D4D3E251-0223-1245-8E52-F76F2677B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2133600" cy="9906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b="0"/>
              <a:t>• • • 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D81B6AB-9B2A-5C40-86CD-E7A8982D4C6D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28600"/>
            <a:ext cx="8534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Nested Array Element Access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8C0F6F4-8AEE-6344-8C4E-D7BDF9017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1220788"/>
            <a:ext cx="452437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latin typeface="Calibri" panose="020F0502020204030204" pitchFamily="34" charset="0"/>
              </a:rPr>
              <a:t> </a:t>
            </a:r>
            <a:r>
              <a:rPr lang="en-US" altLang="en-US" b="0">
                <a:latin typeface="Calibri" panose="020F0502020204030204" pitchFamily="34" charset="0"/>
              </a:rPr>
              <a:t>Array Elements </a:t>
            </a:r>
            <a:endParaRPr lang="en-US" altLang="en-US" b="0">
              <a:latin typeface="Courier New" panose="02070309020205020404" pitchFamily="49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8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A[i][j]</a:t>
            </a:r>
            <a:r>
              <a:rPr lang="en-US" altLang="en-US" sz="2000" b="0">
                <a:latin typeface="Calibri" panose="020F0502020204030204" pitchFamily="34" charset="0"/>
              </a:rPr>
              <a:t> is element of type </a:t>
            </a:r>
            <a:r>
              <a:rPr lang="en-US" altLang="en-US" sz="2000" b="0" i="1">
                <a:latin typeface="Calibri" panose="020F0502020204030204" pitchFamily="34" charset="0"/>
              </a:rPr>
              <a:t>T</a:t>
            </a:r>
            <a:endParaRPr lang="en-US" altLang="en-US" sz="2000" b="0">
              <a:latin typeface="Courier New" panose="02070309020205020404" pitchFamily="49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Address  </a:t>
            </a:r>
            <a:r>
              <a:rPr lang="en-US" altLang="en-US" sz="2000" b="0">
                <a:latin typeface="Courier New" panose="02070309020205020404" pitchFamily="49" charset="0"/>
              </a:rPr>
              <a:t>A + </a:t>
            </a:r>
            <a:r>
              <a:rPr lang="en-US" altLang="en-US" sz="2000" b="0">
                <a:latin typeface="Calibri" panose="020F0502020204030204" pitchFamily="34" charset="0"/>
              </a:rPr>
              <a:t>(</a:t>
            </a:r>
            <a:r>
              <a:rPr lang="en-US" altLang="en-US" sz="2000" b="0" i="1">
                <a:latin typeface="Calibri" panose="020F0502020204030204" pitchFamily="34" charset="0"/>
              </a:rPr>
              <a:t>i </a:t>
            </a:r>
            <a:r>
              <a:rPr lang="en-US" altLang="en-US" sz="2000" b="0">
                <a:latin typeface="Calibri" panose="020F0502020204030204" pitchFamily="34" charset="0"/>
              </a:rPr>
              <a:t>* </a:t>
            </a:r>
            <a:r>
              <a:rPr lang="en-US" altLang="en-US" sz="2000" b="0" i="1">
                <a:latin typeface="Calibri" panose="020F0502020204030204" pitchFamily="34" charset="0"/>
              </a:rPr>
              <a:t>C </a:t>
            </a:r>
            <a:r>
              <a:rPr lang="en-US" altLang="en-US" sz="2000" b="0">
                <a:latin typeface="Calibri" panose="020F0502020204030204" pitchFamily="34" charset="0"/>
              </a:rPr>
              <a:t>+  </a:t>
            </a:r>
            <a:r>
              <a:rPr lang="en-US" altLang="en-US" sz="2000" b="0" i="1">
                <a:latin typeface="Calibri" panose="020F0502020204030204" pitchFamily="34" charset="0"/>
              </a:rPr>
              <a:t>j</a:t>
            </a:r>
            <a:r>
              <a:rPr lang="en-US" altLang="en-US" sz="2000" b="0">
                <a:latin typeface="Calibri" panose="020F0502020204030204" pitchFamily="34" charset="0"/>
              </a:rPr>
              <a:t>) * </a:t>
            </a:r>
            <a:r>
              <a:rPr lang="en-US" altLang="en-US" sz="2000" b="0" i="1">
                <a:latin typeface="Calibri" panose="020F0502020204030204" pitchFamily="34" charset="0"/>
              </a:rPr>
              <a:t>K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sz="2000" b="0" i="1">
              <a:latin typeface="Calibri" panose="020F0502020204030204" pitchFamily="34" charset="0"/>
            </a:endParaRP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F21DE92C-137C-BA49-99FB-37E165DB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810000"/>
            <a:ext cx="9906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/>
              <a:t>•  •  •</a:t>
            </a: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70CB29AD-6768-3F47-9488-FBE22D2DB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810000"/>
            <a:ext cx="609600" cy="990600"/>
          </a:xfrm>
          <a:prstGeom prst="rect">
            <a:avLst/>
          </a:prstGeom>
          <a:solidFill>
            <a:srgbClr val="99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A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[i]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[j]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3733ABC9-BD3D-2548-A56B-D886CCF7F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400"/>
            <a:ext cx="609600" cy="990600"/>
          </a:xfrm>
          <a:prstGeom prst="rect">
            <a:avLst/>
          </a:prstGeom>
          <a:solidFill>
            <a:srgbClr val="99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A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[i]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[j]</a:t>
            </a:r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EEF03545-6074-F34E-8D53-E6CFBDE77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2133600" cy="990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/>
              <a:t> • • •</a:t>
            </a:r>
          </a:p>
        </p:txBody>
      </p:sp>
      <p:sp>
        <p:nvSpPr>
          <p:cNvPr id="30728" name="Line 8">
            <a:extLst>
              <a:ext uri="{FF2B5EF4-FFF2-40B4-BE49-F238E27FC236}">
                <a16:creationId xmlns:a16="http://schemas.microsoft.com/office/drawing/2014/main" id="{461E8A1F-164C-BA4E-9687-F9C97608E7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429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B37F13C5-483B-5145-B8A2-2DA08ECA0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429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Line 10">
            <a:extLst>
              <a:ext uri="{FF2B5EF4-FFF2-40B4-BE49-F238E27FC236}">
                <a16:creationId xmlns:a16="http://schemas.microsoft.com/office/drawing/2014/main" id="{D30F44A4-860B-7D4F-8C3F-AE6998631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429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Line 11">
            <a:extLst>
              <a:ext uri="{FF2B5EF4-FFF2-40B4-BE49-F238E27FC236}">
                <a16:creationId xmlns:a16="http://schemas.microsoft.com/office/drawing/2014/main" id="{5F2993C6-EBC6-D24C-BF68-53A78CCCE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505200"/>
            <a:ext cx="213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Rectangle 12">
            <a:extLst>
              <a:ext uri="{FF2B5EF4-FFF2-40B4-BE49-F238E27FC236}">
                <a16:creationId xmlns:a16="http://schemas.microsoft.com/office/drawing/2014/main" id="{9CD315C8-1AD7-D64A-8BF7-9C3ADCD2E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2766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A[i]</a:t>
            </a:r>
            <a:endParaRPr lang="en-US" altLang="en-US" b="0"/>
          </a:p>
        </p:txBody>
      </p:sp>
      <p:grpSp>
        <p:nvGrpSpPr>
          <p:cNvPr id="30733" name="Group 13">
            <a:extLst>
              <a:ext uri="{FF2B5EF4-FFF2-40B4-BE49-F238E27FC236}">
                <a16:creationId xmlns:a16="http://schemas.microsoft.com/office/drawing/2014/main" id="{8A843EAD-FBAE-1146-91FB-6B4C07401411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276600"/>
            <a:ext cx="2133600" cy="1524000"/>
            <a:chOff x="4176" y="2064"/>
            <a:chExt cx="1344" cy="960"/>
          </a:xfrm>
        </p:grpSpPr>
        <p:grpSp>
          <p:nvGrpSpPr>
            <p:cNvPr id="30753" name="Group 27">
              <a:extLst>
                <a:ext uri="{FF2B5EF4-FFF2-40B4-BE49-F238E27FC236}">
                  <a16:creationId xmlns:a16="http://schemas.microsoft.com/office/drawing/2014/main" id="{EED33AD4-E6CF-9048-9543-D148F6407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400"/>
              <a:ext cx="1344" cy="624"/>
              <a:chOff x="1488" y="3504"/>
              <a:chExt cx="1344" cy="624"/>
            </a:xfrm>
          </p:grpSpPr>
          <p:sp>
            <p:nvSpPr>
              <p:cNvPr id="30758" name="Rectangle 15">
                <a:extLst>
                  <a:ext uri="{FF2B5EF4-FFF2-40B4-BE49-F238E27FC236}">
                    <a16:creationId xmlns:a16="http://schemas.microsoft.com/office/drawing/2014/main" id="{23F78F7E-DD6F-4748-AF4C-852019F4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[R-1]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</p:txBody>
          </p:sp>
          <p:sp>
            <p:nvSpPr>
              <p:cNvPr id="30759" name="Rectangle 16">
                <a:extLst>
                  <a:ext uri="{FF2B5EF4-FFF2-40B4-BE49-F238E27FC236}">
                    <a16:creationId xmlns:a16="http://schemas.microsoft.com/office/drawing/2014/main" id="{9B5E0A7F-1500-4047-8A20-248BDA431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[R-1]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[C-1]</a:t>
                </a:r>
              </a:p>
            </p:txBody>
          </p:sp>
          <p:sp>
            <p:nvSpPr>
              <p:cNvPr id="30760" name="Rectangle 17">
                <a:extLst>
                  <a:ext uri="{FF2B5EF4-FFF2-40B4-BE49-F238E27FC236}">
                    <a16:creationId xmlns:a16="http://schemas.microsoft.com/office/drawing/2014/main" id="{50513B97-2CE7-954D-A250-37C07F8A1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/>
                  <a:t>• • •</a:t>
                </a:r>
              </a:p>
            </p:txBody>
          </p:sp>
        </p:grpSp>
        <p:sp>
          <p:nvSpPr>
            <p:cNvPr id="30754" name="Line 18">
              <a:extLst>
                <a:ext uri="{FF2B5EF4-FFF2-40B4-BE49-F238E27FC236}">
                  <a16:creationId xmlns:a16="http://schemas.microsoft.com/office/drawing/2014/main" id="{951CDF5E-A04C-3F43-A06F-0DB9E71B4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Line 19">
              <a:extLst>
                <a:ext uri="{FF2B5EF4-FFF2-40B4-BE49-F238E27FC236}">
                  <a16:creationId xmlns:a16="http://schemas.microsoft.com/office/drawing/2014/main" id="{74B70606-4196-8D4A-879B-402E76024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20">
              <a:extLst>
                <a:ext uri="{FF2B5EF4-FFF2-40B4-BE49-F238E27FC236}">
                  <a16:creationId xmlns:a16="http://schemas.microsoft.com/office/drawing/2014/main" id="{D1934C07-F1FB-4442-BAB2-527FF6CBE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7" name="Rectangle 21">
              <a:extLst>
                <a:ext uri="{FF2B5EF4-FFF2-40B4-BE49-F238E27FC236}">
                  <a16:creationId xmlns:a16="http://schemas.microsoft.com/office/drawing/2014/main" id="{D5DE7B2B-CF4B-5948-8050-77E98A6F3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064"/>
              <a:ext cx="528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A[R-1]</a:t>
              </a:r>
              <a:endParaRPr lang="en-US" altLang="en-US" b="0"/>
            </a:p>
          </p:txBody>
        </p:sp>
      </p:grpSp>
      <p:sp>
        <p:nvSpPr>
          <p:cNvPr id="30734" name="Rectangle 22">
            <a:extLst>
              <a:ext uri="{FF2B5EF4-FFF2-40B4-BE49-F238E27FC236}">
                <a16:creationId xmlns:a16="http://schemas.microsoft.com/office/drawing/2014/main" id="{6D95F0DC-BB85-D94B-8667-0DDC8CF4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810000"/>
            <a:ext cx="9906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/>
              <a:t>•  •  •</a:t>
            </a:r>
          </a:p>
        </p:txBody>
      </p:sp>
      <p:sp>
        <p:nvSpPr>
          <p:cNvPr id="30735" name="Text Box 23">
            <a:extLst>
              <a:ext uri="{FF2B5EF4-FFF2-40B4-BE49-F238E27FC236}">
                <a16:creationId xmlns:a16="http://schemas.microsoft.com/office/drawing/2014/main" id="{DB29ED8E-E992-FD4E-A396-F0B3ED0DE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29200"/>
            <a:ext cx="396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0736" name="Line 24">
            <a:extLst>
              <a:ext uri="{FF2B5EF4-FFF2-40B4-BE49-F238E27FC236}">
                <a16:creationId xmlns:a16="http://schemas.microsoft.com/office/drawing/2014/main" id="{C049985C-281F-2F46-BBD3-FE6484603B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47863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Line 25">
            <a:extLst>
              <a:ext uri="{FF2B5EF4-FFF2-40B4-BE49-F238E27FC236}">
                <a16:creationId xmlns:a16="http://schemas.microsoft.com/office/drawing/2014/main" id="{0439CB5E-4EF3-B24F-A9B9-9B0B94650E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4800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738" name="Group 26">
            <a:extLst>
              <a:ext uri="{FF2B5EF4-FFF2-40B4-BE49-F238E27FC236}">
                <a16:creationId xmlns:a16="http://schemas.microsoft.com/office/drawing/2014/main" id="{B0321455-8DA8-9045-A052-B21B654159C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276600"/>
            <a:ext cx="2133600" cy="1524000"/>
            <a:chOff x="336" y="2064"/>
            <a:chExt cx="1344" cy="960"/>
          </a:xfrm>
        </p:grpSpPr>
        <p:grpSp>
          <p:nvGrpSpPr>
            <p:cNvPr id="30745" name="Group 40">
              <a:extLst>
                <a:ext uri="{FF2B5EF4-FFF2-40B4-BE49-F238E27FC236}">
                  <a16:creationId xmlns:a16="http://schemas.microsoft.com/office/drawing/2014/main" id="{580141DE-D104-6E44-9D60-022CF1C52F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400"/>
              <a:ext cx="1344" cy="624"/>
              <a:chOff x="1488" y="3504"/>
              <a:chExt cx="1344" cy="624"/>
            </a:xfrm>
          </p:grpSpPr>
          <p:sp>
            <p:nvSpPr>
              <p:cNvPr id="30750" name="Rectangle 28">
                <a:extLst>
                  <a:ext uri="{FF2B5EF4-FFF2-40B4-BE49-F238E27FC236}">
                    <a16:creationId xmlns:a16="http://schemas.microsoft.com/office/drawing/2014/main" id="{273D6BFC-BD79-974C-BF07-9D64C60A3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</a:t>
                </a:r>
                <a:r>
                  <a:rPr lang="en-US" altLang="en-US">
                    <a:latin typeface="Courier New" panose="02070309020205020404" pitchFamily="49" charset="0"/>
                  </a:rPr>
                  <a:t>]</a:t>
                </a:r>
              </a:p>
            </p:txBody>
          </p:sp>
          <p:sp>
            <p:nvSpPr>
              <p:cNvPr id="30751" name="Rectangle 29">
                <a:extLst>
                  <a:ext uri="{FF2B5EF4-FFF2-40B4-BE49-F238E27FC236}">
                    <a16:creationId xmlns:a16="http://schemas.microsoft.com/office/drawing/2014/main" id="{690FBC70-A0AD-884A-9329-BB667039A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ourier New" panose="02070309020205020404" pitchFamily="49" charset="0"/>
                  </a:rPr>
                  <a:t>A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[0]</a:t>
                </a:r>
              </a:p>
              <a:p>
                <a:r>
                  <a:rPr lang="en-US" altLang="en-US" sz="1800">
                    <a:latin typeface="Courier New" panose="02070309020205020404" pitchFamily="49" charset="0"/>
                  </a:rPr>
                  <a:t>[C-1]</a:t>
                </a:r>
              </a:p>
            </p:txBody>
          </p:sp>
          <p:sp>
            <p:nvSpPr>
              <p:cNvPr id="30752" name="Rectangle 30">
                <a:extLst>
                  <a:ext uri="{FF2B5EF4-FFF2-40B4-BE49-F238E27FC236}">
                    <a16:creationId xmlns:a16="http://schemas.microsoft.com/office/drawing/2014/main" id="{245D0CD5-348A-A345-ABB2-AD8BAD53D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/>
                  <a:t>• • •</a:t>
                </a:r>
              </a:p>
            </p:txBody>
          </p:sp>
        </p:grpSp>
        <p:sp>
          <p:nvSpPr>
            <p:cNvPr id="30746" name="Line 31">
              <a:extLst>
                <a:ext uri="{FF2B5EF4-FFF2-40B4-BE49-F238E27FC236}">
                  <a16:creationId xmlns:a16="http://schemas.microsoft.com/office/drawing/2014/main" id="{8F0D6633-31C9-1C4F-BB04-198C1008F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7" name="Line 32">
              <a:extLst>
                <a:ext uri="{FF2B5EF4-FFF2-40B4-BE49-F238E27FC236}">
                  <a16:creationId xmlns:a16="http://schemas.microsoft.com/office/drawing/2014/main" id="{5115CFE0-A8F6-ED45-962C-73532F09A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Rectangle 33">
              <a:extLst>
                <a:ext uri="{FF2B5EF4-FFF2-40B4-BE49-F238E27FC236}">
                  <a16:creationId xmlns:a16="http://schemas.microsoft.com/office/drawing/2014/main" id="{49F67408-DC2E-5941-9C7D-DBD13BEFA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064"/>
              <a:ext cx="528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A[0]</a:t>
              </a:r>
              <a:endParaRPr lang="en-US" altLang="en-US" b="0"/>
            </a:p>
          </p:txBody>
        </p:sp>
        <p:sp>
          <p:nvSpPr>
            <p:cNvPr id="30749" name="Line 34">
              <a:extLst>
                <a:ext uri="{FF2B5EF4-FFF2-40B4-BE49-F238E27FC236}">
                  <a16:creationId xmlns:a16="http://schemas.microsoft.com/office/drawing/2014/main" id="{3DD0F856-A280-B64B-B827-767FA824A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39" name="Text Box 35">
            <a:extLst>
              <a:ext uri="{FF2B5EF4-FFF2-40B4-BE49-F238E27FC236}">
                <a16:creationId xmlns:a16="http://schemas.microsoft.com/office/drawing/2014/main" id="{FB2C0C23-E84B-2341-B0CF-F95BA10F4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297180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2000">
                <a:latin typeface="Courier New" panose="02070309020205020404" pitchFamily="49" charset="0"/>
              </a:rPr>
              <a:t>int A[R][C];</a:t>
            </a:r>
          </a:p>
        </p:txBody>
      </p:sp>
      <p:sp>
        <p:nvSpPr>
          <p:cNvPr id="30740" name="Text Box 36">
            <a:extLst>
              <a:ext uri="{FF2B5EF4-FFF2-40B4-BE49-F238E27FC236}">
                <a16:creationId xmlns:a16="http://schemas.microsoft.com/office/drawing/2014/main" id="{0446ACC6-4D2F-B344-A79F-C0B58D705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1054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A+i*C*4</a:t>
            </a:r>
          </a:p>
        </p:txBody>
      </p:sp>
      <p:sp>
        <p:nvSpPr>
          <p:cNvPr id="30741" name="Text Box 37">
            <a:extLst>
              <a:ext uri="{FF2B5EF4-FFF2-40B4-BE49-F238E27FC236}">
                <a16:creationId xmlns:a16="http://schemas.microsoft.com/office/drawing/2014/main" id="{EB59D587-893B-6E4C-BD47-133BACB94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10540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A+(R-1)*C*4</a:t>
            </a:r>
          </a:p>
        </p:txBody>
      </p:sp>
      <p:sp>
        <p:nvSpPr>
          <p:cNvPr id="30742" name="Line 38">
            <a:extLst>
              <a:ext uri="{FF2B5EF4-FFF2-40B4-BE49-F238E27FC236}">
                <a16:creationId xmlns:a16="http://schemas.microsoft.com/office/drawing/2014/main" id="{EB0D2D0A-D937-BE40-9640-D1AFD8FAAE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4800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3" name="Line 40">
            <a:extLst>
              <a:ext uri="{FF2B5EF4-FFF2-40B4-BE49-F238E27FC236}">
                <a16:creationId xmlns:a16="http://schemas.microsoft.com/office/drawing/2014/main" id="{E3A64FA0-3F2B-B24B-9541-43F46625D0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8006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4" name="Text Box 41">
            <a:extLst>
              <a:ext uri="{FF2B5EF4-FFF2-40B4-BE49-F238E27FC236}">
                <a16:creationId xmlns:a16="http://schemas.microsoft.com/office/drawing/2014/main" id="{94F7281E-12CA-DD49-9822-14BB9A8E1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486400"/>
            <a:ext cx="190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A+(i*C+j)*4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D017347C-B2C4-8F4D-9B62-01B84D0D834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228600"/>
            <a:ext cx="9677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000" b="0" dirty="0">
                <a:latin typeface="+mj-lt"/>
                <a:ea typeface="+mj-ea"/>
                <a:cs typeface="+mj-cs"/>
              </a:rPr>
              <a:t>Nested Array Element Access Code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6AAF14B-3E84-4E4A-9EF7-2F155510B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1220788"/>
            <a:ext cx="6186487" cy="335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Array Elements </a:t>
            </a:r>
            <a:endParaRPr lang="en-US" altLang="en-US" b="0">
              <a:latin typeface="Courier New" panose="02070309020205020404" pitchFamily="49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8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pgh[index][dig]</a:t>
            </a:r>
            <a:r>
              <a:rPr lang="en-US" altLang="en-US" sz="2000" b="0">
                <a:latin typeface="Calibri" panose="020F0502020204030204" pitchFamily="34" charset="0"/>
              </a:rPr>
              <a:t> is </a:t>
            </a:r>
            <a:r>
              <a:rPr lang="en-US" altLang="en-US" sz="2000" b="0">
                <a:latin typeface="Courier New" panose="02070309020205020404" pitchFamily="49" charset="0"/>
              </a:rPr>
              <a:t>int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Address: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alibri" panose="020F0502020204030204" pitchFamily="34" charset="0"/>
              </a:rPr>
              <a:t>  </a:t>
            </a:r>
            <a:r>
              <a:rPr lang="en-US" altLang="en-US" sz="2000" b="0">
                <a:latin typeface="Courier New" panose="02070309020205020404" pitchFamily="49" charset="0"/>
              </a:rPr>
              <a:t>pgh + 20*index + 4*dig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Code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Computes address</a:t>
            </a: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pgh + 4*dig + 4*(index+4*index)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8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movl</a:t>
            </a:r>
            <a:r>
              <a:rPr lang="en-US" altLang="en-US" sz="2000" b="0">
                <a:latin typeface="Calibri" panose="020F0502020204030204" pitchFamily="34" charset="0"/>
              </a:rPr>
              <a:t> performs memory reference</a:t>
            </a:r>
            <a:endParaRPr lang="en-US" altLang="en-US" sz="2000" b="0">
              <a:latin typeface="Courier New" panose="02070309020205020404" pitchFamily="49" charset="0"/>
            </a:endParaRPr>
          </a:p>
          <a:p>
            <a:pPr lvl="2">
              <a:spcBef>
                <a:spcPct val="20000"/>
              </a:spcBef>
              <a:buFont typeface="Wingdings" pitchFamily="2" charset="2"/>
              <a:buNone/>
            </a:pPr>
            <a:endParaRPr lang="en-US" altLang="en-US" b="0" i="1">
              <a:latin typeface="Calibri" panose="020F0502020204030204" pitchFamily="34" charset="0"/>
            </a:endParaRPr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BA668F58-2E53-0645-BF61-BDCBB7334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752600"/>
            <a:ext cx="3733800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get_pgh_digit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(int index, int dig)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pgh[index][dig];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1748" name="Rectangle 5">
            <a:extLst>
              <a:ext uri="{FF2B5EF4-FFF2-40B4-BE49-F238E27FC236}">
                <a16:creationId xmlns:a16="http://schemas.microsoft.com/office/drawing/2014/main" id="{045BB51A-6A50-E444-9692-0399D0957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724400"/>
            <a:ext cx="8001000" cy="147478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40005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	# %ecx = dig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# %eax = index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0(,%ecx,4),%edx	# 4*dig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(%eax,%eax,4),%eax	# 5*index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pgh(%edx,%eax,4),%eax	# *(pgh + 4*dig + 20*index)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680407C9-62BD-9F4B-A3A2-264AE7A33E3E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28600"/>
            <a:ext cx="82296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Strange Referencing Examples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579DA699-4742-CA49-9D57-311137E3C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2743200"/>
            <a:ext cx="8472487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 defTabSz="895350"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 defTabSz="895350"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978400" algn="l"/>
                <a:tab pos="5943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Reference	Address	Value	Guaranteed?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pgh[3][3]	76+20*3+4*3 = 148	2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pgh[2][5]	76+20*2+4*5 = 136	1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pgh[2][-1]	76+20*2+4*-1 = 112	3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pgh[4][-1]	76+20*4+4*-1 = 152	1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pgh[0][19]	76+20*0+4*19 = 152	1 	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2000" b="0">
                <a:latin typeface="Courier New" panose="02070309020205020404" pitchFamily="49" charset="0"/>
              </a:rPr>
              <a:t>pgh[0][-1]	76+20*0+4*-1 = 72	?? 	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Code does not do any bounds checking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Ordering of elements within array guaranteed</a:t>
            </a:r>
          </a:p>
        </p:txBody>
      </p:sp>
      <p:sp>
        <p:nvSpPr>
          <p:cNvPr id="32771" name="Text Box 5">
            <a:extLst>
              <a:ext uri="{FF2B5EF4-FFF2-40B4-BE49-F238E27FC236}">
                <a16:creationId xmlns:a16="http://schemas.microsoft.com/office/drawing/2014/main" id="{BDF06745-D77A-964B-A26B-AC5A46E91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3000"/>
            <a:ext cx="1139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>
                <a:latin typeface="Courier New" panose="02070309020205020404" pitchFamily="49" charset="0"/>
              </a:rPr>
              <a:t>zip_dig</a:t>
            </a:r>
          </a:p>
          <a:p>
            <a:pPr algn="r"/>
            <a:r>
              <a:rPr lang="en-US" altLang="en-US">
                <a:latin typeface="Courier New" panose="02070309020205020404" pitchFamily="49" charset="0"/>
              </a:rPr>
              <a:t>pgh[4];</a:t>
            </a:r>
          </a:p>
        </p:txBody>
      </p:sp>
      <p:grpSp>
        <p:nvGrpSpPr>
          <p:cNvPr id="32772" name="Group 6">
            <a:extLst>
              <a:ext uri="{FF2B5EF4-FFF2-40B4-BE49-F238E27FC236}">
                <a16:creationId xmlns:a16="http://schemas.microsoft.com/office/drawing/2014/main" id="{B83C262B-33A1-7646-92E4-29FB8A29FB7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066800"/>
            <a:ext cx="6621463" cy="1281113"/>
            <a:chOff x="720" y="2640"/>
            <a:chExt cx="4171" cy="807"/>
          </a:xfrm>
        </p:grpSpPr>
        <p:sp>
          <p:nvSpPr>
            <p:cNvPr id="32779" name="Line 7">
              <a:extLst>
                <a:ext uri="{FF2B5EF4-FFF2-40B4-BE49-F238E27FC236}">
                  <a16:creationId xmlns:a16="http://schemas.microsoft.com/office/drawing/2014/main" id="{41455403-7B89-C548-B010-D4AB309CED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312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Text Box 8">
              <a:extLst>
                <a:ext uri="{FF2B5EF4-FFF2-40B4-BE49-F238E27FC236}">
                  <a16:creationId xmlns:a16="http://schemas.microsoft.com/office/drawing/2014/main" id="{B5E615A8-C178-614C-84E3-02FFF2395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21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76</a:t>
              </a:r>
            </a:p>
          </p:txBody>
        </p:sp>
        <p:sp>
          <p:nvSpPr>
            <p:cNvPr id="32781" name="Line 9">
              <a:extLst>
                <a:ext uri="{FF2B5EF4-FFF2-40B4-BE49-F238E27FC236}">
                  <a16:creationId xmlns:a16="http://schemas.microsoft.com/office/drawing/2014/main" id="{0FFC0845-2E5D-1D42-AEE0-D9B597340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312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2" name="Text Box 10">
              <a:extLst>
                <a:ext uri="{FF2B5EF4-FFF2-40B4-BE49-F238E27FC236}">
                  <a16:creationId xmlns:a16="http://schemas.microsoft.com/office/drawing/2014/main" id="{6854BA61-0E66-3A4F-B932-E5BA40E50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21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96</a:t>
              </a:r>
            </a:p>
          </p:txBody>
        </p:sp>
        <p:sp>
          <p:nvSpPr>
            <p:cNvPr id="32783" name="Line 11">
              <a:extLst>
                <a:ext uri="{FF2B5EF4-FFF2-40B4-BE49-F238E27FC236}">
                  <a16:creationId xmlns:a16="http://schemas.microsoft.com/office/drawing/2014/main" id="{E5550291-6217-134D-A566-8081A7F85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312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4" name="Text Box 12">
              <a:extLst>
                <a:ext uri="{FF2B5EF4-FFF2-40B4-BE49-F238E27FC236}">
                  <a16:creationId xmlns:a16="http://schemas.microsoft.com/office/drawing/2014/main" id="{61B280C4-15DA-9940-8A3F-E17848B6B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3216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116</a:t>
              </a:r>
            </a:p>
          </p:txBody>
        </p:sp>
        <p:sp>
          <p:nvSpPr>
            <p:cNvPr id="32785" name="Line 13">
              <a:extLst>
                <a:ext uri="{FF2B5EF4-FFF2-40B4-BE49-F238E27FC236}">
                  <a16:creationId xmlns:a16="http://schemas.microsoft.com/office/drawing/2014/main" id="{772311FC-8E5E-B742-8985-6E30C7C10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12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6" name="Text Box 14">
              <a:extLst>
                <a:ext uri="{FF2B5EF4-FFF2-40B4-BE49-F238E27FC236}">
                  <a16:creationId xmlns:a16="http://schemas.microsoft.com/office/drawing/2014/main" id="{574D454C-5BF7-3F41-BEFE-C82181A5D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3216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136</a:t>
              </a:r>
            </a:p>
          </p:txBody>
        </p:sp>
        <p:sp>
          <p:nvSpPr>
            <p:cNvPr id="32787" name="Line 15">
              <a:extLst>
                <a:ext uri="{FF2B5EF4-FFF2-40B4-BE49-F238E27FC236}">
                  <a16:creationId xmlns:a16="http://schemas.microsoft.com/office/drawing/2014/main" id="{15DDA5FA-4DA4-174F-8EF8-28C0A1CEDC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8" name="Text Box 16">
              <a:extLst>
                <a:ext uri="{FF2B5EF4-FFF2-40B4-BE49-F238E27FC236}">
                  <a16:creationId xmlns:a16="http://schemas.microsoft.com/office/drawing/2014/main" id="{60013EBC-9682-C440-89ED-263030F65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7" y="3216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156</a:t>
              </a:r>
            </a:p>
          </p:txBody>
        </p:sp>
        <p:grpSp>
          <p:nvGrpSpPr>
            <p:cNvPr id="32789" name="Group 17">
              <a:extLst>
                <a:ext uri="{FF2B5EF4-FFF2-40B4-BE49-F238E27FC236}">
                  <a16:creationId xmlns:a16="http://schemas.microsoft.com/office/drawing/2014/main" id="{E09EAA31-107E-254F-A0DC-65D7D77CA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640"/>
              <a:ext cx="3840" cy="480"/>
              <a:chOff x="816" y="2640"/>
              <a:chExt cx="3840" cy="480"/>
            </a:xfrm>
          </p:grpSpPr>
          <p:grpSp>
            <p:nvGrpSpPr>
              <p:cNvPr id="32790" name="Group 18">
                <a:extLst>
                  <a:ext uri="{FF2B5EF4-FFF2-40B4-BE49-F238E27FC236}">
                    <a16:creationId xmlns:a16="http://schemas.microsoft.com/office/drawing/2014/main" id="{C0C992AE-FD19-F748-A5B0-789F12484C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2640"/>
                <a:ext cx="960" cy="480"/>
                <a:chOff x="816" y="2640"/>
                <a:chExt cx="960" cy="480"/>
              </a:xfrm>
            </p:grpSpPr>
            <p:sp>
              <p:nvSpPr>
                <p:cNvPr id="32813" name="Rectangle 19">
                  <a:extLst>
                    <a:ext uri="{FF2B5EF4-FFF2-40B4-BE49-F238E27FC236}">
                      <a16:creationId xmlns:a16="http://schemas.microsoft.com/office/drawing/2014/main" id="{1521D647-9260-2841-A2A5-2881801287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2814" name="Rectangle 20">
                  <a:extLst>
                    <a:ext uri="{FF2B5EF4-FFF2-40B4-BE49-F238E27FC236}">
                      <a16:creationId xmlns:a16="http://schemas.microsoft.com/office/drawing/2014/main" id="{34062CCA-548A-0E4E-8FD7-2E401FD79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  <p:sp>
              <p:nvSpPr>
                <p:cNvPr id="32815" name="Rectangle 21">
                  <a:extLst>
                    <a:ext uri="{FF2B5EF4-FFF2-40B4-BE49-F238E27FC236}">
                      <a16:creationId xmlns:a16="http://schemas.microsoft.com/office/drawing/2014/main" id="{BF914BEC-D649-3640-82EB-BCF3CB4F03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2816" name="Rectangle 22">
                  <a:extLst>
                    <a:ext uri="{FF2B5EF4-FFF2-40B4-BE49-F238E27FC236}">
                      <a16:creationId xmlns:a16="http://schemas.microsoft.com/office/drawing/2014/main" id="{27954F0A-63BD-0A4A-A94D-E5652DA3A4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32817" name="Rectangle 23">
                  <a:extLst>
                    <a:ext uri="{FF2B5EF4-FFF2-40B4-BE49-F238E27FC236}">
                      <a16:creationId xmlns:a16="http://schemas.microsoft.com/office/drawing/2014/main" id="{71CE4C2C-BDB0-6647-85D1-2488AD01FF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6</a:t>
                  </a:r>
                </a:p>
              </p:txBody>
            </p:sp>
          </p:grpSp>
          <p:grpSp>
            <p:nvGrpSpPr>
              <p:cNvPr id="32791" name="Group 24">
                <a:extLst>
                  <a:ext uri="{FF2B5EF4-FFF2-40B4-BE49-F238E27FC236}">
                    <a16:creationId xmlns:a16="http://schemas.microsoft.com/office/drawing/2014/main" id="{782D8452-632D-974A-AB84-82548B0F4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2640"/>
                <a:ext cx="960" cy="480"/>
                <a:chOff x="816" y="2640"/>
                <a:chExt cx="960" cy="480"/>
              </a:xfrm>
            </p:grpSpPr>
            <p:sp>
              <p:nvSpPr>
                <p:cNvPr id="32808" name="Rectangle 25">
                  <a:extLst>
                    <a:ext uri="{FF2B5EF4-FFF2-40B4-BE49-F238E27FC236}">
                      <a16:creationId xmlns:a16="http://schemas.microsoft.com/office/drawing/2014/main" id="{C5EB9101-85FF-BC46-9A27-14EC6ABB5C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2809" name="Rectangle 26">
                  <a:extLst>
                    <a:ext uri="{FF2B5EF4-FFF2-40B4-BE49-F238E27FC236}">
                      <a16:creationId xmlns:a16="http://schemas.microsoft.com/office/drawing/2014/main" id="{126B5D5E-7EA6-BE47-AEC2-15DC597408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  <p:sp>
              <p:nvSpPr>
                <p:cNvPr id="32810" name="Rectangle 27">
                  <a:extLst>
                    <a:ext uri="{FF2B5EF4-FFF2-40B4-BE49-F238E27FC236}">
                      <a16:creationId xmlns:a16="http://schemas.microsoft.com/office/drawing/2014/main" id="{7BE9A385-4CE2-C449-BFF0-265B4F4906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2811" name="Rectangle 28">
                  <a:extLst>
                    <a:ext uri="{FF2B5EF4-FFF2-40B4-BE49-F238E27FC236}">
                      <a16:creationId xmlns:a16="http://schemas.microsoft.com/office/drawing/2014/main" id="{7E04A25B-AF39-894F-8478-BAEFE0D36B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2812" name="Rectangle 29">
                  <a:extLst>
                    <a:ext uri="{FF2B5EF4-FFF2-40B4-BE49-F238E27FC236}">
                      <a16:creationId xmlns:a16="http://schemas.microsoft.com/office/drawing/2014/main" id="{D08CA8EF-F31D-5D45-9414-B0E31149C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</p:grpSp>
          <p:grpSp>
            <p:nvGrpSpPr>
              <p:cNvPr id="32792" name="Group 30">
                <a:extLst>
                  <a:ext uri="{FF2B5EF4-FFF2-40B4-BE49-F238E27FC236}">
                    <a16:creationId xmlns:a16="http://schemas.microsoft.com/office/drawing/2014/main" id="{46CE0C3E-ED0B-D341-B04D-878E4C5C9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2640"/>
                <a:ext cx="960" cy="480"/>
                <a:chOff x="816" y="2640"/>
                <a:chExt cx="960" cy="480"/>
              </a:xfrm>
            </p:grpSpPr>
            <p:sp>
              <p:nvSpPr>
                <p:cNvPr id="32803" name="Rectangle 31">
                  <a:extLst>
                    <a:ext uri="{FF2B5EF4-FFF2-40B4-BE49-F238E27FC236}">
                      <a16:creationId xmlns:a16="http://schemas.microsoft.com/office/drawing/2014/main" id="{FC199A89-BFF7-7449-A8DC-4E01C52310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2804" name="Rectangle 32">
                  <a:extLst>
                    <a:ext uri="{FF2B5EF4-FFF2-40B4-BE49-F238E27FC236}">
                      <a16:creationId xmlns:a16="http://schemas.microsoft.com/office/drawing/2014/main" id="{1D9FD3AF-BE6B-DD44-A685-A8A3D88E36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  <p:sp>
              <p:nvSpPr>
                <p:cNvPr id="32805" name="Rectangle 33">
                  <a:extLst>
                    <a:ext uri="{FF2B5EF4-FFF2-40B4-BE49-F238E27FC236}">
                      <a16:creationId xmlns:a16="http://schemas.microsoft.com/office/drawing/2014/main" id="{7B0FD5A6-1D30-A34D-96CE-D8A1B588F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2806" name="Rectangle 34">
                  <a:extLst>
                    <a:ext uri="{FF2B5EF4-FFF2-40B4-BE49-F238E27FC236}">
                      <a16:creationId xmlns:a16="http://schemas.microsoft.com/office/drawing/2014/main" id="{A3CF3BAD-0B94-5A42-BA07-DCF5D5F459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2807" name="Rectangle 35">
                  <a:extLst>
                    <a:ext uri="{FF2B5EF4-FFF2-40B4-BE49-F238E27FC236}">
                      <a16:creationId xmlns:a16="http://schemas.microsoft.com/office/drawing/2014/main" id="{CE4D3511-8D97-5D42-9431-4EF25ED9E0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7</a:t>
                  </a:r>
                </a:p>
              </p:txBody>
            </p:sp>
          </p:grpSp>
          <p:grpSp>
            <p:nvGrpSpPr>
              <p:cNvPr id="32793" name="Group 36">
                <a:extLst>
                  <a:ext uri="{FF2B5EF4-FFF2-40B4-BE49-F238E27FC236}">
                    <a16:creationId xmlns:a16="http://schemas.microsoft.com/office/drawing/2014/main" id="{EBCF6C08-C4F3-6946-8067-42891EFA86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2640"/>
                <a:ext cx="960" cy="480"/>
                <a:chOff x="816" y="2640"/>
                <a:chExt cx="960" cy="480"/>
              </a:xfrm>
            </p:grpSpPr>
            <p:sp>
              <p:nvSpPr>
                <p:cNvPr id="32798" name="Rectangle 37">
                  <a:extLst>
                    <a:ext uri="{FF2B5EF4-FFF2-40B4-BE49-F238E27FC236}">
                      <a16:creationId xmlns:a16="http://schemas.microsoft.com/office/drawing/2014/main" id="{2C5DEDF9-8B9E-E849-9F14-9DC5FDDECC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2799" name="Rectangle 38">
                  <a:extLst>
                    <a:ext uri="{FF2B5EF4-FFF2-40B4-BE49-F238E27FC236}">
                      <a16:creationId xmlns:a16="http://schemas.microsoft.com/office/drawing/2014/main" id="{CBEEACAB-434A-6246-980C-73B03D8EAB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  <p:sp>
              <p:nvSpPr>
                <p:cNvPr id="32800" name="Rectangle 39">
                  <a:extLst>
                    <a:ext uri="{FF2B5EF4-FFF2-40B4-BE49-F238E27FC236}">
                      <a16:creationId xmlns:a16="http://schemas.microsoft.com/office/drawing/2014/main" id="{A48BAD0C-E605-9640-85AC-27C4F005B4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2801" name="Rectangle 40">
                  <a:extLst>
                    <a:ext uri="{FF2B5EF4-FFF2-40B4-BE49-F238E27FC236}">
                      <a16:creationId xmlns:a16="http://schemas.microsoft.com/office/drawing/2014/main" id="{99CA18D9-CABB-2C4C-B63D-CFBA4759C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2802" name="Rectangle 41">
                  <a:extLst>
                    <a:ext uri="{FF2B5EF4-FFF2-40B4-BE49-F238E27FC236}">
                      <a16:creationId xmlns:a16="http://schemas.microsoft.com/office/drawing/2014/main" id="{D27BD9DA-6A5F-B44A-BBDD-CD611FCBB2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2640"/>
                  <a:ext cx="192" cy="48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</p:grpSp>
          <p:sp>
            <p:nvSpPr>
              <p:cNvPr id="32794" name="Rectangle 42">
                <a:extLst>
                  <a:ext uri="{FF2B5EF4-FFF2-40B4-BE49-F238E27FC236}">
                    <a16:creationId xmlns:a16="http://schemas.microsoft.com/office/drawing/2014/main" id="{6F38DCDD-8AE7-E745-B3FE-05368AD30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960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2795" name="Rectangle 43">
                <a:extLst>
                  <a:ext uri="{FF2B5EF4-FFF2-40B4-BE49-F238E27FC236}">
                    <a16:creationId xmlns:a16="http://schemas.microsoft.com/office/drawing/2014/main" id="{C03673A0-711A-AD49-9C92-2202F4F8B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640"/>
                <a:ext cx="960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2796" name="Rectangle 44">
                <a:extLst>
                  <a:ext uri="{FF2B5EF4-FFF2-40B4-BE49-F238E27FC236}">
                    <a16:creationId xmlns:a16="http://schemas.microsoft.com/office/drawing/2014/main" id="{88BB92DE-F4CF-8E48-AC3A-E30C14A9C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40"/>
                <a:ext cx="960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2797" name="Rectangle 45">
                <a:extLst>
                  <a:ext uri="{FF2B5EF4-FFF2-40B4-BE49-F238E27FC236}">
                    <a16:creationId xmlns:a16="http://schemas.microsoft.com/office/drawing/2014/main" id="{A09461B2-C060-0F4E-A64C-5B3F73C5A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640"/>
                <a:ext cx="960" cy="48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sp>
        <p:nvSpPr>
          <p:cNvPr id="52" name="Rectangle 46">
            <a:extLst>
              <a:ext uri="{FF2B5EF4-FFF2-40B4-BE49-F238E27FC236}">
                <a16:creationId xmlns:a16="http://schemas.microsoft.com/office/drawing/2014/main" id="{61EC7E6E-B33F-9540-BF87-59B36A743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136900"/>
            <a:ext cx="544513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</a:t>
            </a:r>
          </a:p>
        </p:txBody>
      </p:sp>
      <p:sp>
        <p:nvSpPr>
          <p:cNvPr id="53" name="Rectangle 47">
            <a:extLst>
              <a:ext uri="{FF2B5EF4-FFF2-40B4-BE49-F238E27FC236}">
                <a16:creationId xmlns:a16="http://schemas.microsoft.com/office/drawing/2014/main" id="{2423C557-C288-4840-9212-B6B2C4E0B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532188"/>
            <a:ext cx="544513" cy="3667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</a:t>
            </a:r>
          </a:p>
        </p:txBody>
      </p:sp>
      <p:sp>
        <p:nvSpPr>
          <p:cNvPr id="54" name="Rectangle 48">
            <a:extLst>
              <a:ext uri="{FF2B5EF4-FFF2-40B4-BE49-F238E27FC236}">
                <a16:creationId xmlns:a16="http://schemas.microsoft.com/office/drawing/2014/main" id="{1D7665A6-0118-5245-B7D1-9EFDBB8D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927475"/>
            <a:ext cx="544513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</a:t>
            </a:r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CA2D3157-EEE8-584E-B74C-505F7FCE2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322763"/>
            <a:ext cx="544513" cy="3667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</a:t>
            </a:r>
          </a:p>
        </p:txBody>
      </p:sp>
      <p:sp>
        <p:nvSpPr>
          <p:cNvPr id="56" name="Rectangle 50">
            <a:extLst>
              <a:ext uri="{FF2B5EF4-FFF2-40B4-BE49-F238E27FC236}">
                <a16:creationId xmlns:a16="http://schemas.microsoft.com/office/drawing/2014/main" id="{EF08A326-83A0-C14E-97A4-36E5B6A09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718050"/>
            <a:ext cx="544513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</a:t>
            </a:r>
          </a:p>
        </p:txBody>
      </p:sp>
      <p:sp>
        <p:nvSpPr>
          <p:cNvPr id="57" name="Rectangle 51">
            <a:extLst>
              <a:ext uri="{FF2B5EF4-FFF2-40B4-BE49-F238E27FC236}">
                <a16:creationId xmlns:a16="http://schemas.microsoft.com/office/drawing/2014/main" id="{28B199A4-2838-BC41-90A0-34ABD843B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5113338"/>
            <a:ext cx="431800" cy="36671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utoUpdateAnimBg="0"/>
      <p:bldP spid="53" grpId="0" build="p" autoUpdateAnimBg="0"/>
      <p:bldP spid="54" grpId="0" build="p" autoUpdateAnimBg="0"/>
      <p:bldP spid="55" grpId="0" build="p" autoUpdateAnimBg="0"/>
      <p:bldP spid="56" grpId="0" build="p" autoUpdateAnimBg="0"/>
      <p:bldP spid="5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B17EE9BC-FCA3-0945-BFB6-C9D42772AC41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28600"/>
            <a:ext cx="71120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Multi-Level Array Example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94D71CF7-3503-A443-A5D0-607CA7088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90600"/>
            <a:ext cx="3505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Variable </a:t>
            </a:r>
            <a:r>
              <a:rPr lang="en-US" altLang="en-US" b="0">
                <a:latin typeface="Courier New" panose="02070309020205020404" pitchFamily="49" charset="0"/>
              </a:rPr>
              <a:t>univ</a:t>
            </a:r>
            <a:r>
              <a:rPr lang="en-US" altLang="en-US" b="0">
                <a:latin typeface="Calibri" panose="020F0502020204030204" pitchFamily="34" charset="0"/>
              </a:rPr>
              <a:t> denotes array of 3 elements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Each element is a pointer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4 bytes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Each pointer points to array of </a:t>
            </a:r>
            <a:r>
              <a:rPr lang="en-US" altLang="en-US" b="0">
                <a:latin typeface="Courier New" panose="02070309020205020404" pitchFamily="49" charset="0"/>
              </a:rPr>
              <a:t>int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>
                <a:latin typeface="Calibri" panose="020F0502020204030204" pitchFamily="34" charset="0"/>
              </a:rPr>
              <a:t>s </a:t>
            </a:r>
            <a:endParaRPr lang="en-US" altLang="en-US" b="0">
              <a:latin typeface="Calibri" panose="020F0502020204030204" pitchFamily="34" charset="0"/>
            </a:endParaRPr>
          </a:p>
        </p:txBody>
      </p:sp>
      <p:sp>
        <p:nvSpPr>
          <p:cNvPr id="33795" name="Rectangle 4">
            <a:extLst>
              <a:ext uri="{FF2B5EF4-FFF2-40B4-BE49-F238E27FC236}">
                <a16:creationId xmlns:a16="http://schemas.microsoft.com/office/drawing/2014/main" id="{CF18378E-0CED-3546-9EDF-194656317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447800"/>
            <a:ext cx="5257800" cy="925513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zip_dig cmu = { 1, 5, 2, 1, 3 };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zip_dig mit = { 0, 2, 1, 3, 9 };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zip_dig ucb = { 9, 4, 7, 2, 0 };</a:t>
            </a:r>
          </a:p>
        </p:txBody>
      </p:sp>
      <p:sp>
        <p:nvSpPr>
          <p:cNvPr id="33796" name="Rectangle 5">
            <a:extLst>
              <a:ext uri="{FF2B5EF4-FFF2-40B4-BE49-F238E27FC236}">
                <a16:creationId xmlns:a16="http://schemas.microsoft.com/office/drawing/2014/main" id="{EBC757D3-E542-024A-B5EC-783FFDB10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90800"/>
            <a:ext cx="5257800" cy="65087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#define UCOUNT 3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int *univ[UCOUNT] = {mit, cmu, ucb};</a:t>
            </a:r>
          </a:p>
        </p:txBody>
      </p:sp>
      <p:grpSp>
        <p:nvGrpSpPr>
          <p:cNvPr id="33797" name="Group 6">
            <a:extLst>
              <a:ext uri="{FF2B5EF4-FFF2-40B4-BE49-F238E27FC236}">
                <a16:creationId xmlns:a16="http://schemas.microsoft.com/office/drawing/2014/main" id="{C3A14AF1-B0BE-FD45-8C8C-E26B43E86D3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886200"/>
            <a:ext cx="8305800" cy="2590800"/>
            <a:chOff x="192" y="1824"/>
            <a:chExt cx="5232" cy="1632"/>
          </a:xfrm>
        </p:grpSpPr>
        <p:grpSp>
          <p:nvGrpSpPr>
            <p:cNvPr id="33798" name="Group 7">
              <a:extLst>
                <a:ext uri="{FF2B5EF4-FFF2-40B4-BE49-F238E27FC236}">
                  <a16:creationId xmlns:a16="http://schemas.microsoft.com/office/drawing/2014/main" id="{9AE45FA1-EBFF-7C40-B392-87FF313958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112"/>
              <a:ext cx="1248" cy="960"/>
              <a:chOff x="192" y="2112"/>
              <a:chExt cx="1248" cy="960"/>
            </a:xfrm>
          </p:grpSpPr>
          <p:sp>
            <p:nvSpPr>
              <p:cNvPr id="33862" name="Rectangle 8">
                <a:extLst>
                  <a:ext uri="{FF2B5EF4-FFF2-40B4-BE49-F238E27FC236}">
                    <a16:creationId xmlns:a16="http://schemas.microsoft.com/office/drawing/2014/main" id="{9315690D-6E41-0242-A477-DB3798BF7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52"/>
                <a:ext cx="576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36</a:t>
                </a:r>
              </a:p>
            </p:txBody>
          </p:sp>
          <p:sp>
            <p:nvSpPr>
              <p:cNvPr id="33863" name="Line 9">
                <a:extLst>
                  <a:ext uri="{FF2B5EF4-FFF2-40B4-BE49-F238E27FC236}">
                    <a16:creationId xmlns:a16="http://schemas.microsoft.com/office/drawing/2014/main" id="{3B87B8E3-9008-FF49-B649-54FC762A7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44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4" name="Text Box 10">
                <a:extLst>
                  <a:ext uri="{FF2B5EF4-FFF2-40B4-BE49-F238E27FC236}">
                    <a16:creationId xmlns:a16="http://schemas.microsoft.com/office/drawing/2014/main" id="{50772C1F-C92F-5845-9ABD-F41D4B56E3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" y="2313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160</a:t>
                </a:r>
              </a:p>
            </p:txBody>
          </p:sp>
          <p:sp>
            <p:nvSpPr>
              <p:cNvPr id="33865" name="Rectangle 11">
                <a:extLst>
                  <a:ext uri="{FF2B5EF4-FFF2-40B4-BE49-F238E27FC236}">
                    <a16:creationId xmlns:a16="http://schemas.microsoft.com/office/drawing/2014/main" id="{8B56B9F2-D7FA-3F42-A60B-506D35F6F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592"/>
                <a:ext cx="576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16</a:t>
                </a:r>
              </a:p>
            </p:txBody>
          </p:sp>
          <p:sp>
            <p:nvSpPr>
              <p:cNvPr id="33866" name="Rectangle 12">
                <a:extLst>
                  <a:ext uri="{FF2B5EF4-FFF2-40B4-BE49-F238E27FC236}">
                    <a16:creationId xmlns:a16="http://schemas.microsoft.com/office/drawing/2014/main" id="{2B02C5B6-03AB-F143-9EF2-34129DC97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832"/>
                <a:ext cx="576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56</a:t>
                </a:r>
              </a:p>
            </p:txBody>
          </p:sp>
          <p:sp>
            <p:nvSpPr>
              <p:cNvPr id="33867" name="Line 13">
                <a:extLst>
                  <a:ext uri="{FF2B5EF4-FFF2-40B4-BE49-F238E27FC236}">
                    <a16:creationId xmlns:a16="http://schemas.microsoft.com/office/drawing/2014/main" id="{A962EA43-DFC9-FC49-82A1-E2BFB94D79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68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8" name="Line 14">
                <a:extLst>
                  <a:ext uri="{FF2B5EF4-FFF2-40B4-BE49-F238E27FC236}">
                    <a16:creationId xmlns:a16="http://schemas.microsoft.com/office/drawing/2014/main" id="{A2A3EFD4-13BF-BD47-BEBA-866DA7142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92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9" name="Text Box 15">
                <a:extLst>
                  <a:ext uri="{FF2B5EF4-FFF2-40B4-BE49-F238E27FC236}">
                    <a16:creationId xmlns:a16="http://schemas.microsoft.com/office/drawing/2014/main" id="{5398FED4-2716-AF4E-8492-A9ED2D499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544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164</a:t>
                </a:r>
              </a:p>
            </p:txBody>
          </p:sp>
          <p:sp>
            <p:nvSpPr>
              <p:cNvPr id="33870" name="Text Box 16">
                <a:extLst>
                  <a:ext uri="{FF2B5EF4-FFF2-40B4-BE49-F238E27FC236}">
                    <a16:creationId xmlns:a16="http://schemas.microsoft.com/office/drawing/2014/main" id="{208331C8-B585-0D48-AC50-AF6CA1655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832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168</a:t>
                </a:r>
              </a:p>
            </p:txBody>
          </p:sp>
          <p:sp>
            <p:nvSpPr>
              <p:cNvPr id="33871" name="Text Box 17">
                <a:extLst>
                  <a:ext uri="{FF2B5EF4-FFF2-40B4-BE49-F238E27FC236}">
                    <a16:creationId xmlns:a16="http://schemas.microsoft.com/office/drawing/2014/main" id="{54F2484D-5B6C-4E44-882E-A47662B6F6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112"/>
                <a:ext cx="4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univ</a:t>
                </a:r>
              </a:p>
            </p:txBody>
          </p:sp>
          <p:sp>
            <p:nvSpPr>
              <p:cNvPr id="33872" name="Oval 18">
                <a:extLst>
                  <a:ext uri="{FF2B5EF4-FFF2-40B4-BE49-F238E27FC236}">
                    <a16:creationId xmlns:a16="http://schemas.microsoft.com/office/drawing/2014/main" id="{F32E31B8-D316-E94E-AA74-E2657FA29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73" name="Oval 19">
                <a:extLst>
                  <a:ext uri="{FF2B5EF4-FFF2-40B4-BE49-F238E27FC236}">
                    <a16:creationId xmlns:a16="http://schemas.microsoft.com/office/drawing/2014/main" id="{70FD9DCA-6D55-294A-A5CE-B14FD9954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74" name="Oval 20">
                <a:extLst>
                  <a:ext uri="{FF2B5EF4-FFF2-40B4-BE49-F238E27FC236}">
                    <a16:creationId xmlns:a16="http://schemas.microsoft.com/office/drawing/2014/main" id="{BBF9556E-0680-FF40-8F3B-1BE15292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3799" name="Text Box 21">
              <a:extLst>
                <a:ext uri="{FF2B5EF4-FFF2-40B4-BE49-F238E27FC236}">
                  <a16:creationId xmlns:a16="http://schemas.microsoft.com/office/drawing/2014/main" id="{22193365-B5C7-CC40-A0DE-3B24A4C9E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824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cmu</a:t>
              </a:r>
            </a:p>
          </p:txBody>
        </p:sp>
        <p:grpSp>
          <p:nvGrpSpPr>
            <p:cNvPr id="33800" name="Group 22">
              <a:extLst>
                <a:ext uri="{FF2B5EF4-FFF2-40B4-BE49-F238E27FC236}">
                  <a16:creationId xmlns:a16="http://schemas.microsoft.com/office/drawing/2014/main" id="{C75021E8-D6D3-6449-99DF-5DC67FFEBC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016"/>
              <a:ext cx="3168" cy="471"/>
              <a:chOff x="1680" y="1728"/>
              <a:chExt cx="3168" cy="471"/>
            </a:xfrm>
          </p:grpSpPr>
          <p:grpSp>
            <p:nvGrpSpPr>
              <p:cNvPr id="33844" name="Group 23">
                <a:extLst>
                  <a:ext uri="{FF2B5EF4-FFF2-40B4-BE49-F238E27FC236}">
                    <a16:creationId xmlns:a16="http://schemas.microsoft.com/office/drawing/2014/main" id="{B4F4117E-0C34-7741-8448-EBBF927BE7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2880" cy="144"/>
                <a:chOff x="1776" y="1728"/>
                <a:chExt cx="2880" cy="144"/>
              </a:xfrm>
            </p:grpSpPr>
            <p:sp>
              <p:nvSpPr>
                <p:cNvPr id="33857" name="Rectangle 24">
                  <a:extLst>
                    <a:ext uri="{FF2B5EF4-FFF2-40B4-BE49-F238E27FC236}">
                      <a16:creationId xmlns:a16="http://schemas.microsoft.com/office/drawing/2014/main" id="{1EB4AE05-4A0B-F045-97F5-7817EE2B0C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3858" name="Rectangle 25">
                  <a:extLst>
                    <a:ext uri="{FF2B5EF4-FFF2-40B4-BE49-F238E27FC236}">
                      <a16:creationId xmlns:a16="http://schemas.microsoft.com/office/drawing/2014/main" id="{F1863A19-7C78-044B-9B44-86FFCBD98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  <p:sp>
              <p:nvSpPr>
                <p:cNvPr id="33859" name="Rectangle 26">
                  <a:extLst>
                    <a:ext uri="{FF2B5EF4-FFF2-40B4-BE49-F238E27FC236}">
                      <a16:creationId xmlns:a16="http://schemas.microsoft.com/office/drawing/2014/main" id="{87F70BBF-60A8-2342-9E02-44D924EF8D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3860" name="Rectangle 27">
                  <a:extLst>
                    <a:ext uri="{FF2B5EF4-FFF2-40B4-BE49-F238E27FC236}">
                      <a16:creationId xmlns:a16="http://schemas.microsoft.com/office/drawing/2014/main" id="{4762C346-8551-E349-A696-B3496DCCE7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3861" name="Rectangle 28">
                  <a:extLst>
                    <a:ext uri="{FF2B5EF4-FFF2-40B4-BE49-F238E27FC236}">
                      <a16:creationId xmlns:a16="http://schemas.microsoft.com/office/drawing/2014/main" id="{81BA5C33-FF1E-7342-994D-E51CFB734D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</p:grpSp>
          <p:sp>
            <p:nvSpPr>
              <p:cNvPr id="33845" name="Line 29">
                <a:extLst>
                  <a:ext uri="{FF2B5EF4-FFF2-40B4-BE49-F238E27FC236}">
                    <a16:creationId xmlns:a16="http://schemas.microsoft.com/office/drawing/2014/main" id="{4DF575ED-CE01-8547-A86C-1C759D5C4F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6" name="Text Box 30">
                <a:extLst>
                  <a:ext uri="{FF2B5EF4-FFF2-40B4-BE49-F238E27FC236}">
                    <a16:creationId xmlns:a16="http://schemas.microsoft.com/office/drawing/2014/main" id="{BABBB677-DB36-0646-83EE-FC8230B03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16</a:t>
                </a:r>
              </a:p>
            </p:txBody>
          </p:sp>
          <p:sp>
            <p:nvSpPr>
              <p:cNvPr id="33847" name="Line 31">
                <a:extLst>
                  <a:ext uri="{FF2B5EF4-FFF2-40B4-BE49-F238E27FC236}">
                    <a16:creationId xmlns:a16="http://schemas.microsoft.com/office/drawing/2014/main" id="{96C70B87-6260-D446-8661-70E9D5B88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8" name="Text Box 32">
                <a:extLst>
                  <a:ext uri="{FF2B5EF4-FFF2-40B4-BE49-F238E27FC236}">
                    <a16:creationId xmlns:a16="http://schemas.microsoft.com/office/drawing/2014/main" id="{EC6D7C80-24E8-FF47-ADAB-02C4D9E021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33849" name="Line 33">
                <a:extLst>
                  <a:ext uri="{FF2B5EF4-FFF2-40B4-BE49-F238E27FC236}">
                    <a16:creationId xmlns:a16="http://schemas.microsoft.com/office/drawing/2014/main" id="{DCFF4BB4-A80C-8A46-95F3-87C60AA89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50" name="Text Box 34">
                <a:extLst>
                  <a:ext uri="{FF2B5EF4-FFF2-40B4-BE49-F238E27FC236}">
                    <a16:creationId xmlns:a16="http://schemas.microsoft.com/office/drawing/2014/main" id="{BFCAA83F-030B-504A-91FF-FA3444400C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24</a:t>
                </a:r>
              </a:p>
            </p:txBody>
          </p:sp>
          <p:sp>
            <p:nvSpPr>
              <p:cNvPr id="33851" name="Line 35">
                <a:extLst>
                  <a:ext uri="{FF2B5EF4-FFF2-40B4-BE49-F238E27FC236}">
                    <a16:creationId xmlns:a16="http://schemas.microsoft.com/office/drawing/2014/main" id="{665DEB3A-3D8E-624A-82E0-729E3DA61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52" name="Text Box 36">
                <a:extLst>
                  <a:ext uri="{FF2B5EF4-FFF2-40B4-BE49-F238E27FC236}">
                    <a16:creationId xmlns:a16="http://schemas.microsoft.com/office/drawing/2014/main" id="{97D20C90-B430-DD40-ACB6-EBEF4A6D9F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28</a:t>
                </a:r>
              </a:p>
            </p:txBody>
          </p:sp>
          <p:sp>
            <p:nvSpPr>
              <p:cNvPr id="33853" name="Line 37">
                <a:extLst>
                  <a:ext uri="{FF2B5EF4-FFF2-40B4-BE49-F238E27FC236}">
                    <a16:creationId xmlns:a16="http://schemas.microsoft.com/office/drawing/2014/main" id="{D57BCF85-9428-314C-818D-EB4FE08C1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54" name="Text Box 38">
                <a:extLst>
                  <a:ext uri="{FF2B5EF4-FFF2-40B4-BE49-F238E27FC236}">
                    <a16:creationId xmlns:a16="http://schemas.microsoft.com/office/drawing/2014/main" id="{FAC44096-77C9-6C44-8296-BDC9D3EC61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32</a:t>
                </a:r>
              </a:p>
            </p:txBody>
          </p:sp>
          <p:sp>
            <p:nvSpPr>
              <p:cNvPr id="33855" name="Line 39">
                <a:extLst>
                  <a:ext uri="{FF2B5EF4-FFF2-40B4-BE49-F238E27FC236}">
                    <a16:creationId xmlns:a16="http://schemas.microsoft.com/office/drawing/2014/main" id="{707FE075-45DC-ED44-9738-B95D7C35E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56" name="Text Box 40">
                <a:extLst>
                  <a:ext uri="{FF2B5EF4-FFF2-40B4-BE49-F238E27FC236}">
                    <a16:creationId xmlns:a16="http://schemas.microsoft.com/office/drawing/2014/main" id="{1D934318-BB22-9145-AE22-5F5CA85F0D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36</a:t>
                </a:r>
              </a:p>
            </p:txBody>
          </p:sp>
        </p:grpSp>
        <p:sp>
          <p:nvSpPr>
            <p:cNvPr id="33801" name="Text Box 41">
              <a:extLst>
                <a:ext uri="{FF2B5EF4-FFF2-40B4-BE49-F238E27FC236}">
                  <a16:creationId xmlns:a16="http://schemas.microsoft.com/office/drawing/2014/main" id="{6D490923-D0DC-C549-A227-2912BF1F0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52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mit</a:t>
              </a:r>
            </a:p>
          </p:txBody>
        </p:sp>
        <p:grpSp>
          <p:nvGrpSpPr>
            <p:cNvPr id="33802" name="Group 42">
              <a:extLst>
                <a:ext uri="{FF2B5EF4-FFF2-40B4-BE49-F238E27FC236}">
                  <a16:creationId xmlns:a16="http://schemas.microsoft.com/office/drawing/2014/main" id="{A31CE72D-33AF-8744-815B-3491F964D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6" y="2505"/>
              <a:ext cx="3168" cy="471"/>
              <a:chOff x="1680" y="1728"/>
              <a:chExt cx="3168" cy="471"/>
            </a:xfrm>
          </p:grpSpPr>
          <p:grpSp>
            <p:nvGrpSpPr>
              <p:cNvPr id="33826" name="Group 43">
                <a:extLst>
                  <a:ext uri="{FF2B5EF4-FFF2-40B4-BE49-F238E27FC236}">
                    <a16:creationId xmlns:a16="http://schemas.microsoft.com/office/drawing/2014/main" id="{FF2F50F0-C7A0-9844-A937-4C07F5B95D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2880" cy="144"/>
                <a:chOff x="1776" y="1728"/>
                <a:chExt cx="2880" cy="144"/>
              </a:xfrm>
            </p:grpSpPr>
            <p:sp>
              <p:nvSpPr>
                <p:cNvPr id="33839" name="Rectangle 44">
                  <a:extLst>
                    <a:ext uri="{FF2B5EF4-FFF2-40B4-BE49-F238E27FC236}">
                      <a16:creationId xmlns:a16="http://schemas.microsoft.com/office/drawing/2014/main" id="{1B973FBB-3559-3748-AF38-AE13302B7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33840" name="Rectangle 45">
                  <a:extLst>
                    <a:ext uri="{FF2B5EF4-FFF2-40B4-BE49-F238E27FC236}">
                      <a16:creationId xmlns:a16="http://schemas.microsoft.com/office/drawing/2014/main" id="{69A42508-0A83-5B4B-B14D-A1B57C242C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3841" name="Rectangle 46">
                  <a:extLst>
                    <a:ext uri="{FF2B5EF4-FFF2-40B4-BE49-F238E27FC236}">
                      <a16:creationId xmlns:a16="http://schemas.microsoft.com/office/drawing/2014/main" id="{3B36E79B-6D23-EB4D-808D-D59EE23FF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3842" name="Rectangle 47">
                  <a:extLst>
                    <a:ext uri="{FF2B5EF4-FFF2-40B4-BE49-F238E27FC236}">
                      <a16:creationId xmlns:a16="http://schemas.microsoft.com/office/drawing/2014/main" id="{2E9643DD-7CA4-5C42-A63D-8536ED5F95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  <p:sp>
              <p:nvSpPr>
                <p:cNvPr id="33843" name="Rectangle 48">
                  <a:extLst>
                    <a:ext uri="{FF2B5EF4-FFF2-40B4-BE49-F238E27FC236}">
                      <a16:creationId xmlns:a16="http://schemas.microsoft.com/office/drawing/2014/main" id="{EE54512C-E2D3-DF43-AB05-23D3C493B3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9</a:t>
                  </a:r>
                </a:p>
              </p:txBody>
            </p:sp>
          </p:grpSp>
          <p:sp>
            <p:nvSpPr>
              <p:cNvPr id="33827" name="Line 49">
                <a:extLst>
                  <a:ext uri="{FF2B5EF4-FFF2-40B4-BE49-F238E27FC236}">
                    <a16:creationId xmlns:a16="http://schemas.microsoft.com/office/drawing/2014/main" id="{DD1A26DF-B083-1349-8E62-839C4E0B90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8" name="Text Box 50">
                <a:extLst>
                  <a:ext uri="{FF2B5EF4-FFF2-40B4-BE49-F238E27FC236}">
                    <a16:creationId xmlns:a16="http://schemas.microsoft.com/office/drawing/2014/main" id="{E6886E78-8B2E-9347-8FA2-1F77F6CD3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36</a:t>
                </a:r>
              </a:p>
            </p:txBody>
          </p:sp>
          <p:sp>
            <p:nvSpPr>
              <p:cNvPr id="33829" name="Line 51">
                <a:extLst>
                  <a:ext uri="{FF2B5EF4-FFF2-40B4-BE49-F238E27FC236}">
                    <a16:creationId xmlns:a16="http://schemas.microsoft.com/office/drawing/2014/main" id="{D5DC8A46-363C-354D-920A-94B4030D0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0" name="Text Box 52">
                <a:extLst>
                  <a:ext uri="{FF2B5EF4-FFF2-40B4-BE49-F238E27FC236}">
                    <a16:creationId xmlns:a16="http://schemas.microsoft.com/office/drawing/2014/main" id="{4C79CB4B-974F-DB4A-B081-65E1A112F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40</a:t>
                </a:r>
              </a:p>
            </p:txBody>
          </p:sp>
          <p:sp>
            <p:nvSpPr>
              <p:cNvPr id="33831" name="Line 53">
                <a:extLst>
                  <a:ext uri="{FF2B5EF4-FFF2-40B4-BE49-F238E27FC236}">
                    <a16:creationId xmlns:a16="http://schemas.microsoft.com/office/drawing/2014/main" id="{FC701F93-D6F7-EA46-BFDD-EBFD0D7CE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2" name="Text Box 54">
                <a:extLst>
                  <a:ext uri="{FF2B5EF4-FFF2-40B4-BE49-F238E27FC236}">
                    <a16:creationId xmlns:a16="http://schemas.microsoft.com/office/drawing/2014/main" id="{4002CAEC-2417-FF42-A411-601287F6A9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44</a:t>
                </a:r>
              </a:p>
            </p:txBody>
          </p:sp>
          <p:sp>
            <p:nvSpPr>
              <p:cNvPr id="33833" name="Line 55">
                <a:extLst>
                  <a:ext uri="{FF2B5EF4-FFF2-40B4-BE49-F238E27FC236}">
                    <a16:creationId xmlns:a16="http://schemas.microsoft.com/office/drawing/2014/main" id="{58532A36-F572-5E47-AB84-AEB4C4B96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4" name="Text Box 56">
                <a:extLst>
                  <a:ext uri="{FF2B5EF4-FFF2-40B4-BE49-F238E27FC236}">
                    <a16:creationId xmlns:a16="http://schemas.microsoft.com/office/drawing/2014/main" id="{E76652B1-2A2D-B247-BD84-ACE5ED04D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48</a:t>
                </a:r>
              </a:p>
            </p:txBody>
          </p:sp>
          <p:sp>
            <p:nvSpPr>
              <p:cNvPr id="33835" name="Line 57">
                <a:extLst>
                  <a:ext uri="{FF2B5EF4-FFF2-40B4-BE49-F238E27FC236}">
                    <a16:creationId xmlns:a16="http://schemas.microsoft.com/office/drawing/2014/main" id="{64DEC9B5-B56B-6F46-9885-0EF8AABBD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6" name="Text Box 58">
                <a:extLst>
                  <a:ext uri="{FF2B5EF4-FFF2-40B4-BE49-F238E27FC236}">
                    <a16:creationId xmlns:a16="http://schemas.microsoft.com/office/drawing/2014/main" id="{05A7195F-93CA-9F4D-91D4-2FED3E528F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52</a:t>
                </a:r>
              </a:p>
            </p:txBody>
          </p:sp>
          <p:sp>
            <p:nvSpPr>
              <p:cNvPr id="33837" name="Line 59">
                <a:extLst>
                  <a:ext uri="{FF2B5EF4-FFF2-40B4-BE49-F238E27FC236}">
                    <a16:creationId xmlns:a16="http://schemas.microsoft.com/office/drawing/2014/main" id="{0EC7B2F4-EFC7-FB4F-BCD1-6EFCAAA27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8" name="Text Box 60">
                <a:extLst>
                  <a:ext uri="{FF2B5EF4-FFF2-40B4-BE49-F238E27FC236}">
                    <a16:creationId xmlns:a16="http://schemas.microsoft.com/office/drawing/2014/main" id="{F7E77276-E03E-9845-85E7-01D3C72001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56</a:t>
                </a:r>
              </a:p>
            </p:txBody>
          </p:sp>
        </p:grpSp>
        <p:sp>
          <p:nvSpPr>
            <p:cNvPr id="33803" name="Text Box 61">
              <a:extLst>
                <a:ext uri="{FF2B5EF4-FFF2-40B4-BE49-F238E27FC236}">
                  <a16:creationId xmlns:a16="http://schemas.microsoft.com/office/drawing/2014/main" id="{626F957A-D0AF-1A40-A6AD-F7663E87C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793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ucb</a:t>
              </a:r>
            </a:p>
          </p:txBody>
        </p:sp>
        <p:grpSp>
          <p:nvGrpSpPr>
            <p:cNvPr id="33804" name="Group 62">
              <a:extLst>
                <a:ext uri="{FF2B5EF4-FFF2-40B4-BE49-F238E27FC236}">
                  <a16:creationId xmlns:a16="http://schemas.microsoft.com/office/drawing/2014/main" id="{0C60099C-EC41-3747-BCDD-3DF4BB43A8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6" y="2985"/>
              <a:ext cx="3168" cy="471"/>
              <a:chOff x="1680" y="1728"/>
              <a:chExt cx="3168" cy="471"/>
            </a:xfrm>
          </p:grpSpPr>
          <p:grpSp>
            <p:nvGrpSpPr>
              <p:cNvPr id="33808" name="Group 63">
                <a:extLst>
                  <a:ext uri="{FF2B5EF4-FFF2-40B4-BE49-F238E27FC236}">
                    <a16:creationId xmlns:a16="http://schemas.microsoft.com/office/drawing/2014/main" id="{524B11D3-5D2F-C24A-B529-2B838E0803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2880" cy="144"/>
                <a:chOff x="1776" y="1728"/>
                <a:chExt cx="2880" cy="144"/>
              </a:xfrm>
            </p:grpSpPr>
            <p:sp>
              <p:nvSpPr>
                <p:cNvPr id="33821" name="Rectangle 64">
                  <a:extLst>
                    <a:ext uri="{FF2B5EF4-FFF2-40B4-BE49-F238E27FC236}">
                      <a16:creationId xmlns:a16="http://schemas.microsoft.com/office/drawing/2014/main" id="{4791AC9B-577E-AA45-B1BD-BF2A03811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9</a:t>
                  </a:r>
                </a:p>
              </p:txBody>
            </p:sp>
            <p:sp>
              <p:nvSpPr>
                <p:cNvPr id="33822" name="Rectangle 65">
                  <a:extLst>
                    <a:ext uri="{FF2B5EF4-FFF2-40B4-BE49-F238E27FC236}">
                      <a16:creationId xmlns:a16="http://schemas.microsoft.com/office/drawing/2014/main" id="{D6DC6966-BACF-6244-88A7-378B0E7791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4</a:t>
                  </a:r>
                </a:p>
              </p:txBody>
            </p:sp>
            <p:sp>
              <p:nvSpPr>
                <p:cNvPr id="33823" name="Rectangle 66">
                  <a:extLst>
                    <a:ext uri="{FF2B5EF4-FFF2-40B4-BE49-F238E27FC236}">
                      <a16:creationId xmlns:a16="http://schemas.microsoft.com/office/drawing/2014/main" id="{7C6A4084-D86F-6C45-A5F3-512D8DAD7B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7</a:t>
                  </a:r>
                </a:p>
              </p:txBody>
            </p:sp>
            <p:sp>
              <p:nvSpPr>
                <p:cNvPr id="33824" name="Rectangle 67">
                  <a:extLst>
                    <a:ext uri="{FF2B5EF4-FFF2-40B4-BE49-F238E27FC236}">
                      <a16:creationId xmlns:a16="http://schemas.microsoft.com/office/drawing/2014/main" id="{F47ACE74-EC87-4A4A-A959-71A8333B76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3825" name="Rectangle 68">
                  <a:extLst>
                    <a:ext uri="{FF2B5EF4-FFF2-40B4-BE49-F238E27FC236}">
                      <a16:creationId xmlns:a16="http://schemas.microsoft.com/office/drawing/2014/main" id="{77D33706-C2AA-1F44-B761-E3D85A9A8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</p:grpSp>
          <p:sp>
            <p:nvSpPr>
              <p:cNvPr id="33809" name="Line 69">
                <a:extLst>
                  <a:ext uri="{FF2B5EF4-FFF2-40B4-BE49-F238E27FC236}">
                    <a16:creationId xmlns:a16="http://schemas.microsoft.com/office/drawing/2014/main" id="{DCE44CBF-28A0-A94D-BEB9-43BA8C73C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0" name="Text Box 70">
                <a:extLst>
                  <a:ext uri="{FF2B5EF4-FFF2-40B4-BE49-F238E27FC236}">
                    <a16:creationId xmlns:a16="http://schemas.microsoft.com/office/drawing/2014/main" id="{6BF307C4-017F-CD4E-AD6E-E4B96DAD4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56</a:t>
                </a:r>
              </a:p>
            </p:txBody>
          </p:sp>
          <p:sp>
            <p:nvSpPr>
              <p:cNvPr id="33811" name="Line 71">
                <a:extLst>
                  <a:ext uri="{FF2B5EF4-FFF2-40B4-BE49-F238E27FC236}">
                    <a16:creationId xmlns:a16="http://schemas.microsoft.com/office/drawing/2014/main" id="{3DE75134-5711-2542-B8C8-54AB33657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2" name="Text Box 72">
                <a:extLst>
                  <a:ext uri="{FF2B5EF4-FFF2-40B4-BE49-F238E27FC236}">
                    <a16:creationId xmlns:a16="http://schemas.microsoft.com/office/drawing/2014/main" id="{96F463E0-0937-B44C-BD62-AFCD28DB92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60</a:t>
                </a:r>
              </a:p>
            </p:txBody>
          </p:sp>
          <p:sp>
            <p:nvSpPr>
              <p:cNvPr id="33813" name="Line 73">
                <a:extLst>
                  <a:ext uri="{FF2B5EF4-FFF2-40B4-BE49-F238E27FC236}">
                    <a16:creationId xmlns:a16="http://schemas.microsoft.com/office/drawing/2014/main" id="{9396E460-0E8C-C044-A30B-30E785371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" name="Text Box 74">
                <a:extLst>
                  <a:ext uri="{FF2B5EF4-FFF2-40B4-BE49-F238E27FC236}">
                    <a16:creationId xmlns:a16="http://schemas.microsoft.com/office/drawing/2014/main" id="{CB908DE2-B2DE-9B43-A383-8ECACF3CEE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64</a:t>
                </a:r>
              </a:p>
            </p:txBody>
          </p:sp>
          <p:sp>
            <p:nvSpPr>
              <p:cNvPr id="33815" name="Line 75">
                <a:extLst>
                  <a:ext uri="{FF2B5EF4-FFF2-40B4-BE49-F238E27FC236}">
                    <a16:creationId xmlns:a16="http://schemas.microsoft.com/office/drawing/2014/main" id="{BA87CF5F-3A42-A34E-87C1-3C46750D1E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6" name="Text Box 76">
                <a:extLst>
                  <a:ext uri="{FF2B5EF4-FFF2-40B4-BE49-F238E27FC236}">
                    <a16:creationId xmlns:a16="http://schemas.microsoft.com/office/drawing/2014/main" id="{A302E13E-3032-4A47-80C6-7FFB21F358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68</a:t>
                </a:r>
              </a:p>
            </p:txBody>
          </p:sp>
          <p:sp>
            <p:nvSpPr>
              <p:cNvPr id="33817" name="Line 77">
                <a:extLst>
                  <a:ext uri="{FF2B5EF4-FFF2-40B4-BE49-F238E27FC236}">
                    <a16:creationId xmlns:a16="http://schemas.microsoft.com/office/drawing/2014/main" id="{90579DC1-05EC-2F46-829B-51841EC04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8" name="Text Box 78">
                <a:extLst>
                  <a:ext uri="{FF2B5EF4-FFF2-40B4-BE49-F238E27FC236}">
                    <a16:creationId xmlns:a16="http://schemas.microsoft.com/office/drawing/2014/main" id="{7891E713-E2CE-EA40-AB52-839960DFFC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72</a:t>
                </a:r>
              </a:p>
            </p:txBody>
          </p:sp>
          <p:sp>
            <p:nvSpPr>
              <p:cNvPr id="33819" name="Line 79">
                <a:extLst>
                  <a:ext uri="{FF2B5EF4-FFF2-40B4-BE49-F238E27FC236}">
                    <a16:creationId xmlns:a16="http://schemas.microsoft.com/office/drawing/2014/main" id="{69D5373C-5C6D-3B45-B52D-9F989248C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Text Box 80">
                <a:extLst>
                  <a:ext uri="{FF2B5EF4-FFF2-40B4-BE49-F238E27FC236}">
                    <a16:creationId xmlns:a16="http://schemas.microsoft.com/office/drawing/2014/main" id="{C8A514C4-7196-9545-8A74-0EB3D98CA9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76</a:t>
                </a:r>
              </a:p>
            </p:txBody>
          </p:sp>
        </p:grpSp>
        <p:cxnSp>
          <p:nvCxnSpPr>
            <p:cNvPr id="33805" name="AutoShape 81">
              <a:extLst>
                <a:ext uri="{FF2B5EF4-FFF2-40B4-BE49-F238E27FC236}">
                  <a16:creationId xmlns:a16="http://schemas.microsoft.com/office/drawing/2014/main" id="{1B2C516B-6090-B240-92F5-CA44103F03DB}"/>
                </a:ext>
              </a:extLst>
            </p:cNvPr>
            <p:cNvCxnSpPr>
              <a:cxnSpLocks noChangeShapeType="1"/>
              <a:stCxn id="33873" idx="0"/>
              <a:endCxn id="33857" idx="1"/>
            </p:cNvCxnSpPr>
            <p:nvPr/>
          </p:nvCxnSpPr>
          <p:spPr bwMode="auto">
            <a:xfrm rot="-5400000">
              <a:off x="1500" y="1836"/>
              <a:ext cx="592" cy="10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6" name="AutoShape 82">
              <a:extLst>
                <a:ext uri="{FF2B5EF4-FFF2-40B4-BE49-F238E27FC236}">
                  <a16:creationId xmlns:a16="http://schemas.microsoft.com/office/drawing/2014/main" id="{3CB853C2-2FA9-0D4D-AA30-F6E2C06FBA16}"/>
                </a:ext>
              </a:extLst>
            </p:cNvPr>
            <p:cNvCxnSpPr>
              <a:cxnSpLocks noChangeShapeType="1"/>
              <a:stCxn id="33872" idx="6"/>
              <a:endCxn id="33839" idx="1"/>
            </p:cNvCxnSpPr>
            <p:nvPr/>
          </p:nvCxnSpPr>
          <p:spPr bwMode="auto">
            <a:xfrm>
              <a:off x="1304" y="2496"/>
              <a:ext cx="1030" cy="81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7" name="AutoShape 83">
              <a:extLst>
                <a:ext uri="{FF2B5EF4-FFF2-40B4-BE49-F238E27FC236}">
                  <a16:creationId xmlns:a16="http://schemas.microsoft.com/office/drawing/2014/main" id="{1823D6EB-21F1-2F45-AF56-055A75BC3B1A}"/>
                </a:ext>
              </a:extLst>
            </p:cNvPr>
            <p:cNvCxnSpPr>
              <a:cxnSpLocks noChangeShapeType="1"/>
              <a:stCxn id="33874" idx="0"/>
              <a:endCxn id="33821" idx="1"/>
            </p:cNvCxnSpPr>
            <p:nvPr/>
          </p:nvCxnSpPr>
          <p:spPr bwMode="auto">
            <a:xfrm rot="5400000" flipV="1">
              <a:off x="1722" y="2446"/>
              <a:ext cx="137" cy="1086"/>
            </a:xfrm>
            <a:prstGeom prst="curvedConnector4">
              <a:avLst>
                <a:gd name="adj1" fmla="val -99269"/>
                <a:gd name="adj2" fmla="val 5257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C59E18F2-5281-DA4E-AB8C-FA67AEBB7C13}"/>
              </a:ext>
            </a:extLst>
          </p:cNvPr>
          <p:cNvSpPr txBox="1">
            <a:spLocks noChangeArrowheads="1"/>
          </p:cNvSpPr>
          <p:nvPr/>
        </p:nvSpPr>
        <p:spPr>
          <a:xfrm>
            <a:off x="233363" y="228600"/>
            <a:ext cx="8910637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Element Access in Multi-Level Array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0C14C66-FF9B-8849-A7A3-ADA1384F40F7}"/>
              </a:ext>
            </a:extLst>
          </p:cNvPr>
          <p:cNvSpPr txBox="1">
            <a:spLocks noChangeArrowheads="1"/>
          </p:cNvSpPr>
          <p:nvPr/>
        </p:nvSpPr>
        <p:spPr>
          <a:xfrm>
            <a:off x="290513" y="2220913"/>
            <a:ext cx="6719887" cy="3265487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Computation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Element access </a:t>
            </a:r>
            <a:r>
              <a:rPr lang="en-US" sz="2000" b="0" dirty="0" err="1">
                <a:latin typeface="Courier New" pitchFamily="49" charset="0"/>
                <a:ea typeface="+mn-ea"/>
                <a:cs typeface="ＭＳ Ｐゴシック" charset="0"/>
              </a:rPr>
              <a:t>Mem</a:t>
            </a:r>
            <a:r>
              <a:rPr lang="en-US" sz="2000" b="0" dirty="0">
                <a:latin typeface="Courier New" pitchFamily="49" charset="0"/>
                <a:ea typeface="+mn-ea"/>
                <a:cs typeface="ＭＳ Ｐゴシック" charset="0"/>
              </a:rPr>
              <a:t>[</a:t>
            </a:r>
            <a:r>
              <a:rPr lang="en-US" sz="2000" b="0" dirty="0" err="1">
                <a:latin typeface="Courier New" pitchFamily="49" charset="0"/>
                <a:ea typeface="+mn-ea"/>
                <a:cs typeface="ＭＳ Ｐゴシック" charset="0"/>
              </a:rPr>
              <a:t>Mem</a:t>
            </a:r>
            <a:r>
              <a:rPr lang="en-US" sz="2000" b="0" dirty="0">
                <a:latin typeface="Courier New" pitchFamily="49" charset="0"/>
                <a:ea typeface="+mn-ea"/>
                <a:cs typeface="ＭＳ Ｐゴシック" charset="0"/>
              </a:rPr>
              <a:t>[univ+4*index]+4*dig]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Must do two memory reads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First get pointer to row array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Then access element within array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D822D3FE-6FAD-044B-8ABD-6FC7941A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724400"/>
            <a:ext cx="7239000" cy="147478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36576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	# %ecx = index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# %eax = dig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0(,%ecx,4),%edx	# 4*index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univ(%edx),%edx	# Mem[univ+4*index]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(%edx,%eax,4),%eax	# Mem[...+4*dig]</a:t>
            </a:r>
          </a:p>
        </p:txBody>
      </p:sp>
      <p:sp>
        <p:nvSpPr>
          <p:cNvPr id="34820" name="Rectangle 5">
            <a:extLst>
              <a:ext uri="{FF2B5EF4-FFF2-40B4-BE49-F238E27FC236}">
                <a16:creationId xmlns:a16="http://schemas.microsoft.com/office/drawing/2014/main" id="{9D58A0B1-51A1-0743-A618-F6E73EDE7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219200"/>
            <a:ext cx="3886200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get_univ_digit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(int index, int dig)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univ[index][dig];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97A45BC5-FB65-EF4C-BC1B-7E55CDF0A7D0}"/>
              </a:ext>
            </a:extLst>
          </p:cNvPr>
          <p:cNvSpPr txBox="1">
            <a:spLocks noChangeArrowheads="1"/>
          </p:cNvSpPr>
          <p:nvPr/>
        </p:nvSpPr>
        <p:spPr>
          <a:xfrm>
            <a:off x="404813" y="247650"/>
            <a:ext cx="8716962" cy="7810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Array Element Accesses</a:t>
            </a:r>
          </a:p>
        </p:txBody>
      </p:sp>
      <p:sp>
        <p:nvSpPr>
          <p:cNvPr id="35842" name="Rectangle 6">
            <a:extLst>
              <a:ext uri="{FF2B5EF4-FFF2-40B4-BE49-F238E27FC236}">
                <a16:creationId xmlns:a16="http://schemas.microsoft.com/office/drawing/2014/main" id="{A8C703C0-E6B9-224E-A0E7-787B097D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20788"/>
            <a:ext cx="4214813" cy="522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Similar C references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Nested Array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Element at</a:t>
            </a:r>
            <a:endParaRPr lang="en-US" altLang="en-US" sz="18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Mem[pgh+20*index+4*dig]</a:t>
            </a:r>
          </a:p>
        </p:txBody>
      </p:sp>
      <p:sp>
        <p:nvSpPr>
          <p:cNvPr id="35843" name="Rectangle 7">
            <a:extLst>
              <a:ext uri="{FF2B5EF4-FFF2-40B4-BE49-F238E27FC236}">
                <a16:creationId xmlns:a16="http://schemas.microsoft.com/office/drawing/2014/main" id="{8CB5CE5F-A053-5647-A0B9-D2031213C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220788"/>
            <a:ext cx="4572000" cy="522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Different address computation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Multi-Level Array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Element at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Mem[Mem[univ+4*index]+4*dig]</a:t>
            </a:r>
            <a:endParaRPr lang="en-US" altLang="en-US" sz="18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b="0">
              <a:latin typeface="Calibri" panose="020F0502020204030204" pitchFamily="34" charset="0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B9E3FDEA-F099-AC41-8318-65B9DE4BD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90800"/>
            <a:ext cx="3733800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get_pgh_digit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(int index, int dig)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pgh[index][dig];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5845" name="Rectangle 8">
            <a:extLst>
              <a:ext uri="{FF2B5EF4-FFF2-40B4-BE49-F238E27FC236}">
                <a16:creationId xmlns:a16="http://schemas.microsoft.com/office/drawing/2014/main" id="{5B2BA413-9A87-4345-B098-294B5C4EB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590800"/>
            <a:ext cx="3886200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get_univ_digit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(int index, int dig)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univ[index][dig];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35846" name="Picture 87">
            <a:extLst>
              <a:ext uri="{FF2B5EF4-FFF2-40B4-BE49-F238E27FC236}">
                <a16:creationId xmlns:a16="http://schemas.microsoft.com/office/drawing/2014/main" id="{52339CBB-ECE7-094E-91BA-012A33BE1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257800"/>
            <a:ext cx="4176713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</p:pic>
      <p:pic>
        <p:nvPicPr>
          <p:cNvPr id="35847" name="Picture 88">
            <a:extLst>
              <a:ext uri="{FF2B5EF4-FFF2-40B4-BE49-F238E27FC236}">
                <a16:creationId xmlns:a16="http://schemas.microsoft.com/office/drawing/2014/main" id="{B9326DA6-1997-4E49-8FD1-02340CD5D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0"/>
            <a:ext cx="3344863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40AB5D3-D871-E04F-9108-08F7139C4D95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28600"/>
            <a:ext cx="88392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Strange Referencing Examples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E8156E46-7914-E14C-9534-A141B28AC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3614738"/>
            <a:ext cx="8307387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 defTabSz="895350"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 defTabSz="895350"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tabLst>
                <a:tab pos="1943100" algn="l"/>
                <a:tab pos="4229100" algn="l"/>
                <a:tab pos="622935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Reference	Address	Value	Guaranteed?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univ[2][3]	56+4*3  = 68	2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univ[1][5]	16+4*5  = 36	0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univ[2][-1]	56+4*-1 = 52	9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univ[3][-1]	??	??	</a:t>
            </a:r>
          </a:p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univ[1][12]	16+4*12 = 64	7 </a:t>
            </a:r>
            <a:r>
              <a:rPr lang="en-US" altLang="en-US" b="0">
                <a:latin typeface="Courier New" panose="02070309020205020404" pitchFamily="49" charset="0"/>
              </a:rPr>
              <a:t>	</a:t>
            </a:r>
            <a:endParaRPr lang="en-US" altLang="en-US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Code does not do any bounds checking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>
                <a:latin typeface="Calibri" panose="020F0502020204030204" pitchFamily="34" charset="0"/>
              </a:rPr>
              <a:t>Ordering of elements in different arrays not guaranteed</a:t>
            </a:r>
          </a:p>
        </p:txBody>
      </p:sp>
      <p:grpSp>
        <p:nvGrpSpPr>
          <p:cNvPr id="36867" name="Group 4">
            <a:extLst>
              <a:ext uri="{FF2B5EF4-FFF2-40B4-BE49-F238E27FC236}">
                <a16:creationId xmlns:a16="http://schemas.microsoft.com/office/drawing/2014/main" id="{DA8E25E5-CCD7-8D40-BC7A-E0F35F76588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838200"/>
            <a:ext cx="8305800" cy="2590800"/>
            <a:chOff x="192" y="1824"/>
            <a:chExt cx="5232" cy="1632"/>
          </a:xfrm>
        </p:grpSpPr>
        <p:grpSp>
          <p:nvGrpSpPr>
            <p:cNvPr id="36873" name="Group 5">
              <a:extLst>
                <a:ext uri="{FF2B5EF4-FFF2-40B4-BE49-F238E27FC236}">
                  <a16:creationId xmlns:a16="http://schemas.microsoft.com/office/drawing/2014/main" id="{FE27D2D7-D0DF-F146-A6A7-BD2C12F5EA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112"/>
              <a:ext cx="1248" cy="960"/>
              <a:chOff x="192" y="2112"/>
              <a:chExt cx="1248" cy="960"/>
            </a:xfrm>
          </p:grpSpPr>
          <p:sp>
            <p:nvSpPr>
              <p:cNvPr id="36937" name="Rectangle 6">
                <a:extLst>
                  <a:ext uri="{FF2B5EF4-FFF2-40B4-BE49-F238E27FC236}">
                    <a16:creationId xmlns:a16="http://schemas.microsoft.com/office/drawing/2014/main" id="{16FCBBF6-32C6-0544-A92F-108C13262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52"/>
                <a:ext cx="576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36</a:t>
                </a:r>
              </a:p>
            </p:txBody>
          </p:sp>
          <p:sp>
            <p:nvSpPr>
              <p:cNvPr id="36938" name="Line 7">
                <a:extLst>
                  <a:ext uri="{FF2B5EF4-FFF2-40B4-BE49-F238E27FC236}">
                    <a16:creationId xmlns:a16="http://schemas.microsoft.com/office/drawing/2014/main" id="{9C01FCDC-6B00-CE43-9B03-AA1134AA4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44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39" name="Text Box 8">
                <a:extLst>
                  <a:ext uri="{FF2B5EF4-FFF2-40B4-BE49-F238E27FC236}">
                    <a16:creationId xmlns:a16="http://schemas.microsoft.com/office/drawing/2014/main" id="{E974778C-742B-9046-A24F-CA33982382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" y="2313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160</a:t>
                </a:r>
              </a:p>
            </p:txBody>
          </p:sp>
          <p:sp>
            <p:nvSpPr>
              <p:cNvPr id="36940" name="Rectangle 9">
                <a:extLst>
                  <a:ext uri="{FF2B5EF4-FFF2-40B4-BE49-F238E27FC236}">
                    <a16:creationId xmlns:a16="http://schemas.microsoft.com/office/drawing/2014/main" id="{84988BE8-AC1D-2F4C-B43E-753CC239D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592"/>
                <a:ext cx="576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16</a:t>
                </a:r>
              </a:p>
            </p:txBody>
          </p:sp>
          <p:sp>
            <p:nvSpPr>
              <p:cNvPr id="36941" name="Rectangle 10">
                <a:extLst>
                  <a:ext uri="{FF2B5EF4-FFF2-40B4-BE49-F238E27FC236}">
                    <a16:creationId xmlns:a16="http://schemas.microsoft.com/office/drawing/2014/main" id="{23F8DF40-5BF4-2F46-BA2B-C1E976102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832"/>
                <a:ext cx="576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56</a:t>
                </a:r>
              </a:p>
            </p:txBody>
          </p:sp>
          <p:sp>
            <p:nvSpPr>
              <p:cNvPr id="36942" name="Line 11">
                <a:extLst>
                  <a:ext uri="{FF2B5EF4-FFF2-40B4-BE49-F238E27FC236}">
                    <a16:creationId xmlns:a16="http://schemas.microsoft.com/office/drawing/2014/main" id="{C25A3B92-18D1-5048-ACE0-9A98C1516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68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43" name="Line 12">
                <a:extLst>
                  <a:ext uri="{FF2B5EF4-FFF2-40B4-BE49-F238E27FC236}">
                    <a16:creationId xmlns:a16="http://schemas.microsoft.com/office/drawing/2014/main" id="{EEADE9E5-660A-5346-9407-0206E62D5C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92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44" name="Text Box 13">
                <a:extLst>
                  <a:ext uri="{FF2B5EF4-FFF2-40B4-BE49-F238E27FC236}">
                    <a16:creationId xmlns:a16="http://schemas.microsoft.com/office/drawing/2014/main" id="{A6203D5C-FF1F-0E4D-AC97-97E5901F33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544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164</a:t>
                </a:r>
              </a:p>
            </p:txBody>
          </p:sp>
          <p:sp>
            <p:nvSpPr>
              <p:cNvPr id="36945" name="Text Box 14">
                <a:extLst>
                  <a:ext uri="{FF2B5EF4-FFF2-40B4-BE49-F238E27FC236}">
                    <a16:creationId xmlns:a16="http://schemas.microsoft.com/office/drawing/2014/main" id="{B32339F7-35F9-1D4A-AC9B-1990AFF7A3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832"/>
                <a:ext cx="3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168</a:t>
                </a:r>
              </a:p>
            </p:txBody>
          </p:sp>
          <p:sp>
            <p:nvSpPr>
              <p:cNvPr id="36946" name="Text Box 15">
                <a:extLst>
                  <a:ext uri="{FF2B5EF4-FFF2-40B4-BE49-F238E27FC236}">
                    <a16:creationId xmlns:a16="http://schemas.microsoft.com/office/drawing/2014/main" id="{3DB2A576-14B7-4941-AEE8-E01F9C61F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112"/>
                <a:ext cx="4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univ</a:t>
                </a:r>
              </a:p>
            </p:txBody>
          </p:sp>
          <p:sp>
            <p:nvSpPr>
              <p:cNvPr id="36947" name="Oval 16">
                <a:extLst>
                  <a:ext uri="{FF2B5EF4-FFF2-40B4-BE49-F238E27FC236}">
                    <a16:creationId xmlns:a16="http://schemas.microsoft.com/office/drawing/2014/main" id="{88EEF648-A984-E043-A0CD-6B769055D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948" name="Oval 17">
                <a:extLst>
                  <a:ext uri="{FF2B5EF4-FFF2-40B4-BE49-F238E27FC236}">
                    <a16:creationId xmlns:a16="http://schemas.microsoft.com/office/drawing/2014/main" id="{F506E898-EAD8-C04C-A151-5441322B7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949" name="Oval 18">
                <a:extLst>
                  <a:ext uri="{FF2B5EF4-FFF2-40B4-BE49-F238E27FC236}">
                    <a16:creationId xmlns:a16="http://schemas.microsoft.com/office/drawing/2014/main" id="{AEED9BB8-43CA-2942-B86C-029E7D5EC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6874" name="Text Box 19">
              <a:extLst>
                <a:ext uri="{FF2B5EF4-FFF2-40B4-BE49-F238E27FC236}">
                  <a16:creationId xmlns:a16="http://schemas.microsoft.com/office/drawing/2014/main" id="{67AE6586-0AEE-A84C-B098-4FDCDD42D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824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cmu</a:t>
              </a:r>
            </a:p>
          </p:txBody>
        </p:sp>
        <p:grpSp>
          <p:nvGrpSpPr>
            <p:cNvPr id="36875" name="Group 20">
              <a:extLst>
                <a:ext uri="{FF2B5EF4-FFF2-40B4-BE49-F238E27FC236}">
                  <a16:creationId xmlns:a16="http://schemas.microsoft.com/office/drawing/2014/main" id="{CCDAF6F7-44B8-EE48-A23B-FB971F740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016"/>
              <a:ext cx="3168" cy="471"/>
              <a:chOff x="1680" y="1728"/>
              <a:chExt cx="3168" cy="471"/>
            </a:xfrm>
          </p:grpSpPr>
          <p:grpSp>
            <p:nvGrpSpPr>
              <p:cNvPr id="36919" name="Group 21">
                <a:extLst>
                  <a:ext uri="{FF2B5EF4-FFF2-40B4-BE49-F238E27FC236}">
                    <a16:creationId xmlns:a16="http://schemas.microsoft.com/office/drawing/2014/main" id="{31C02E2B-ED01-C845-8644-B977A9DC4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2880" cy="144"/>
                <a:chOff x="1776" y="1728"/>
                <a:chExt cx="2880" cy="144"/>
              </a:xfrm>
            </p:grpSpPr>
            <p:sp>
              <p:nvSpPr>
                <p:cNvPr id="36932" name="Rectangle 22">
                  <a:extLst>
                    <a:ext uri="{FF2B5EF4-FFF2-40B4-BE49-F238E27FC236}">
                      <a16:creationId xmlns:a16="http://schemas.microsoft.com/office/drawing/2014/main" id="{05C9D069-F5B9-CB49-B5B8-1698AFD85B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6933" name="Rectangle 23">
                  <a:extLst>
                    <a:ext uri="{FF2B5EF4-FFF2-40B4-BE49-F238E27FC236}">
                      <a16:creationId xmlns:a16="http://schemas.microsoft.com/office/drawing/2014/main" id="{1798C5FD-F8A7-DA4A-BA7B-C318ACCCD3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  <p:sp>
              <p:nvSpPr>
                <p:cNvPr id="36934" name="Rectangle 24">
                  <a:extLst>
                    <a:ext uri="{FF2B5EF4-FFF2-40B4-BE49-F238E27FC236}">
                      <a16:creationId xmlns:a16="http://schemas.microsoft.com/office/drawing/2014/main" id="{449CEEF3-AD1D-F64F-AFED-C28B51423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6935" name="Rectangle 25">
                  <a:extLst>
                    <a:ext uri="{FF2B5EF4-FFF2-40B4-BE49-F238E27FC236}">
                      <a16:creationId xmlns:a16="http://schemas.microsoft.com/office/drawing/2014/main" id="{CF7A6F7E-05C5-4241-A439-EE13DBE3E8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6936" name="Rectangle 26">
                  <a:extLst>
                    <a:ext uri="{FF2B5EF4-FFF2-40B4-BE49-F238E27FC236}">
                      <a16:creationId xmlns:a16="http://schemas.microsoft.com/office/drawing/2014/main" id="{6D1D9ED6-21F5-EB4B-84A9-3F70199021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</p:grpSp>
          <p:sp>
            <p:nvSpPr>
              <p:cNvPr id="36920" name="Line 27">
                <a:extLst>
                  <a:ext uri="{FF2B5EF4-FFF2-40B4-BE49-F238E27FC236}">
                    <a16:creationId xmlns:a16="http://schemas.microsoft.com/office/drawing/2014/main" id="{CBDA86C8-5D6C-2841-91B1-B202BFF80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21" name="Text Box 28">
                <a:extLst>
                  <a:ext uri="{FF2B5EF4-FFF2-40B4-BE49-F238E27FC236}">
                    <a16:creationId xmlns:a16="http://schemas.microsoft.com/office/drawing/2014/main" id="{49FAC0B4-EB63-954A-8DC7-0435EAA56E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16</a:t>
                </a:r>
              </a:p>
            </p:txBody>
          </p:sp>
          <p:sp>
            <p:nvSpPr>
              <p:cNvPr id="36922" name="Line 29">
                <a:extLst>
                  <a:ext uri="{FF2B5EF4-FFF2-40B4-BE49-F238E27FC236}">
                    <a16:creationId xmlns:a16="http://schemas.microsoft.com/office/drawing/2014/main" id="{FFA22546-FF0E-8946-9CB5-023754AFA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23" name="Text Box 30">
                <a:extLst>
                  <a:ext uri="{FF2B5EF4-FFF2-40B4-BE49-F238E27FC236}">
                    <a16:creationId xmlns:a16="http://schemas.microsoft.com/office/drawing/2014/main" id="{A2AB4278-577A-4848-91BC-CA7DC1A042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36924" name="Line 31">
                <a:extLst>
                  <a:ext uri="{FF2B5EF4-FFF2-40B4-BE49-F238E27FC236}">
                    <a16:creationId xmlns:a16="http://schemas.microsoft.com/office/drawing/2014/main" id="{AD9D5473-169A-2246-8441-127A464B1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25" name="Text Box 32">
                <a:extLst>
                  <a:ext uri="{FF2B5EF4-FFF2-40B4-BE49-F238E27FC236}">
                    <a16:creationId xmlns:a16="http://schemas.microsoft.com/office/drawing/2014/main" id="{8689104B-0985-3145-B68C-F88E0A6668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24</a:t>
                </a:r>
              </a:p>
            </p:txBody>
          </p:sp>
          <p:sp>
            <p:nvSpPr>
              <p:cNvPr id="36926" name="Line 33">
                <a:extLst>
                  <a:ext uri="{FF2B5EF4-FFF2-40B4-BE49-F238E27FC236}">
                    <a16:creationId xmlns:a16="http://schemas.microsoft.com/office/drawing/2014/main" id="{7E3534C7-2504-A347-890E-B38EEA31B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27" name="Text Box 34">
                <a:extLst>
                  <a:ext uri="{FF2B5EF4-FFF2-40B4-BE49-F238E27FC236}">
                    <a16:creationId xmlns:a16="http://schemas.microsoft.com/office/drawing/2014/main" id="{A09C503F-08E6-F647-B30A-A619F2F1CA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28</a:t>
                </a:r>
              </a:p>
            </p:txBody>
          </p:sp>
          <p:sp>
            <p:nvSpPr>
              <p:cNvPr id="36928" name="Line 35">
                <a:extLst>
                  <a:ext uri="{FF2B5EF4-FFF2-40B4-BE49-F238E27FC236}">
                    <a16:creationId xmlns:a16="http://schemas.microsoft.com/office/drawing/2014/main" id="{F248C126-B6D7-E940-8625-8AF90B535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29" name="Text Box 36">
                <a:extLst>
                  <a:ext uri="{FF2B5EF4-FFF2-40B4-BE49-F238E27FC236}">
                    <a16:creationId xmlns:a16="http://schemas.microsoft.com/office/drawing/2014/main" id="{9D63DC53-1229-AE4A-8AD3-5E7500800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32</a:t>
                </a:r>
              </a:p>
            </p:txBody>
          </p:sp>
          <p:sp>
            <p:nvSpPr>
              <p:cNvPr id="36930" name="Line 37">
                <a:extLst>
                  <a:ext uri="{FF2B5EF4-FFF2-40B4-BE49-F238E27FC236}">
                    <a16:creationId xmlns:a16="http://schemas.microsoft.com/office/drawing/2014/main" id="{884E63D6-A839-9B44-8F54-B71843052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31" name="Text Box 38">
                <a:extLst>
                  <a:ext uri="{FF2B5EF4-FFF2-40B4-BE49-F238E27FC236}">
                    <a16:creationId xmlns:a16="http://schemas.microsoft.com/office/drawing/2014/main" id="{B61F1A6C-177C-9A4E-8816-0A0267F78E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36</a:t>
                </a:r>
              </a:p>
            </p:txBody>
          </p:sp>
        </p:grpSp>
        <p:sp>
          <p:nvSpPr>
            <p:cNvPr id="36876" name="Text Box 39">
              <a:extLst>
                <a:ext uri="{FF2B5EF4-FFF2-40B4-BE49-F238E27FC236}">
                  <a16:creationId xmlns:a16="http://schemas.microsoft.com/office/drawing/2014/main" id="{7BE1BA5F-6BF4-204B-ADFD-ACF8FB0C6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52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mit</a:t>
              </a:r>
            </a:p>
          </p:txBody>
        </p:sp>
        <p:grpSp>
          <p:nvGrpSpPr>
            <p:cNvPr id="36877" name="Group 40">
              <a:extLst>
                <a:ext uri="{FF2B5EF4-FFF2-40B4-BE49-F238E27FC236}">
                  <a16:creationId xmlns:a16="http://schemas.microsoft.com/office/drawing/2014/main" id="{3348EA5B-3C12-D04A-BBA3-F62D7EA9C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6" y="2505"/>
              <a:ext cx="3168" cy="471"/>
              <a:chOff x="1680" y="1728"/>
              <a:chExt cx="3168" cy="471"/>
            </a:xfrm>
          </p:grpSpPr>
          <p:grpSp>
            <p:nvGrpSpPr>
              <p:cNvPr id="36901" name="Group 41">
                <a:extLst>
                  <a:ext uri="{FF2B5EF4-FFF2-40B4-BE49-F238E27FC236}">
                    <a16:creationId xmlns:a16="http://schemas.microsoft.com/office/drawing/2014/main" id="{87B4A49C-48A4-2346-9B9D-1A4FC89254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2880" cy="144"/>
                <a:chOff x="1776" y="1728"/>
                <a:chExt cx="2880" cy="144"/>
              </a:xfrm>
            </p:grpSpPr>
            <p:sp>
              <p:nvSpPr>
                <p:cNvPr id="36914" name="Rectangle 42">
                  <a:extLst>
                    <a:ext uri="{FF2B5EF4-FFF2-40B4-BE49-F238E27FC236}">
                      <a16:creationId xmlns:a16="http://schemas.microsoft.com/office/drawing/2014/main" id="{B9546A83-B276-964D-9618-20A1C6935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36915" name="Rectangle 43">
                  <a:extLst>
                    <a:ext uri="{FF2B5EF4-FFF2-40B4-BE49-F238E27FC236}">
                      <a16:creationId xmlns:a16="http://schemas.microsoft.com/office/drawing/2014/main" id="{3185E2B9-DA8B-1C41-9511-83C20426F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6916" name="Rectangle 44">
                  <a:extLst>
                    <a:ext uri="{FF2B5EF4-FFF2-40B4-BE49-F238E27FC236}">
                      <a16:creationId xmlns:a16="http://schemas.microsoft.com/office/drawing/2014/main" id="{76F82CBD-09C0-6643-B813-49244E17B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  <p:sp>
              <p:nvSpPr>
                <p:cNvPr id="36917" name="Rectangle 45">
                  <a:extLst>
                    <a:ext uri="{FF2B5EF4-FFF2-40B4-BE49-F238E27FC236}">
                      <a16:creationId xmlns:a16="http://schemas.microsoft.com/office/drawing/2014/main" id="{29508059-6775-AF4F-8BD2-E0C7C92B6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3</a:t>
                  </a:r>
                </a:p>
              </p:txBody>
            </p:sp>
            <p:sp>
              <p:nvSpPr>
                <p:cNvPr id="36918" name="Rectangle 46">
                  <a:extLst>
                    <a:ext uri="{FF2B5EF4-FFF2-40B4-BE49-F238E27FC236}">
                      <a16:creationId xmlns:a16="http://schemas.microsoft.com/office/drawing/2014/main" id="{DD2D2FCB-3518-AC4F-A087-D3273FE9F4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9</a:t>
                  </a:r>
                </a:p>
              </p:txBody>
            </p:sp>
          </p:grpSp>
          <p:sp>
            <p:nvSpPr>
              <p:cNvPr id="36902" name="Line 47">
                <a:extLst>
                  <a:ext uri="{FF2B5EF4-FFF2-40B4-BE49-F238E27FC236}">
                    <a16:creationId xmlns:a16="http://schemas.microsoft.com/office/drawing/2014/main" id="{06898AEE-33F1-5645-806C-900F337A0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3" name="Text Box 48">
                <a:extLst>
                  <a:ext uri="{FF2B5EF4-FFF2-40B4-BE49-F238E27FC236}">
                    <a16:creationId xmlns:a16="http://schemas.microsoft.com/office/drawing/2014/main" id="{63211064-8ACA-6B4A-93C3-2DC3B9AF1D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36</a:t>
                </a:r>
              </a:p>
            </p:txBody>
          </p:sp>
          <p:sp>
            <p:nvSpPr>
              <p:cNvPr id="36904" name="Line 49">
                <a:extLst>
                  <a:ext uri="{FF2B5EF4-FFF2-40B4-BE49-F238E27FC236}">
                    <a16:creationId xmlns:a16="http://schemas.microsoft.com/office/drawing/2014/main" id="{C65D922B-6DB1-6E48-8B7F-369869309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5" name="Text Box 50">
                <a:extLst>
                  <a:ext uri="{FF2B5EF4-FFF2-40B4-BE49-F238E27FC236}">
                    <a16:creationId xmlns:a16="http://schemas.microsoft.com/office/drawing/2014/main" id="{CC10EE21-EED2-6D4E-9710-8A5C185B16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40</a:t>
                </a:r>
              </a:p>
            </p:txBody>
          </p:sp>
          <p:sp>
            <p:nvSpPr>
              <p:cNvPr id="36906" name="Line 51">
                <a:extLst>
                  <a:ext uri="{FF2B5EF4-FFF2-40B4-BE49-F238E27FC236}">
                    <a16:creationId xmlns:a16="http://schemas.microsoft.com/office/drawing/2014/main" id="{3F9CA7D0-D2EE-C84A-85D0-48AF3103EB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7" name="Text Box 52">
                <a:extLst>
                  <a:ext uri="{FF2B5EF4-FFF2-40B4-BE49-F238E27FC236}">
                    <a16:creationId xmlns:a16="http://schemas.microsoft.com/office/drawing/2014/main" id="{D263555D-44A6-4549-AF75-8688925186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44</a:t>
                </a:r>
              </a:p>
            </p:txBody>
          </p:sp>
          <p:sp>
            <p:nvSpPr>
              <p:cNvPr id="36908" name="Line 53">
                <a:extLst>
                  <a:ext uri="{FF2B5EF4-FFF2-40B4-BE49-F238E27FC236}">
                    <a16:creationId xmlns:a16="http://schemas.microsoft.com/office/drawing/2014/main" id="{4F3FB01E-4E3C-E54D-A57E-A6B0D03D27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9" name="Text Box 54">
                <a:extLst>
                  <a:ext uri="{FF2B5EF4-FFF2-40B4-BE49-F238E27FC236}">
                    <a16:creationId xmlns:a16="http://schemas.microsoft.com/office/drawing/2014/main" id="{359D7F53-9005-FA40-9A6E-D7838CFAF4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48</a:t>
                </a:r>
              </a:p>
            </p:txBody>
          </p:sp>
          <p:sp>
            <p:nvSpPr>
              <p:cNvPr id="36910" name="Line 55">
                <a:extLst>
                  <a:ext uri="{FF2B5EF4-FFF2-40B4-BE49-F238E27FC236}">
                    <a16:creationId xmlns:a16="http://schemas.microsoft.com/office/drawing/2014/main" id="{3C061CED-B59C-F34B-B813-4E8A2F801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1" name="Text Box 56">
                <a:extLst>
                  <a:ext uri="{FF2B5EF4-FFF2-40B4-BE49-F238E27FC236}">
                    <a16:creationId xmlns:a16="http://schemas.microsoft.com/office/drawing/2014/main" id="{550373C8-142D-8840-A032-4110206DD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52</a:t>
                </a:r>
              </a:p>
            </p:txBody>
          </p:sp>
          <p:sp>
            <p:nvSpPr>
              <p:cNvPr id="36912" name="Line 57">
                <a:extLst>
                  <a:ext uri="{FF2B5EF4-FFF2-40B4-BE49-F238E27FC236}">
                    <a16:creationId xmlns:a16="http://schemas.microsoft.com/office/drawing/2014/main" id="{BA75E85D-B72E-E649-A2BA-A73B6E8CE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3" name="Text Box 58">
                <a:extLst>
                  <a:ext uri="{FF2B5EF4-FFF2-40B4-BE49-F238E27FC236}">
                    <a16:creationId xmlns:a16="http://schemas.microsoft.com/office/drawing/2014/main" id="{1068F580-B504-DF4C-8A08-51A96ADA15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56</a:t>
                </a:r>
              </a:p>
            </p:txBody>
          </p:sp>
        </p:grpSp>
        <p:sp>
          <p:nvSpPr>
            <p:cNvPr id="36878" name="Text Box 59">
              <a:extLst>
                <a:ext uri="{FF2B5EF4-FFF2-40B4-BE49-F238E27FC236}">
                  <a16:creationId xmlns:a16="http://schemas.microsoft.com/office/drawing/2014/main" id="{9C1414D2-CBED-F747-9C5C-2C5D528C9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793"/>
              <a:ext cx="3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ucb</a:t>
              </a:r>
            </a:p>
          </p:txBody>
        </p:sp>
        <p:grpSp>
          <p:nvGrpSpPr>
            <p:cNvPr id="36879" name="Group 60">
              <a:extLst>
                <a:ext uri="{FF2B5EF4-FFF2-40B4-BE49-F238E27FC236}">
                  <a16:creationId xmlns:a16="http://schemas.microsoft.com/office/drawing/2014/main" id="{9912091C-AD60-5B43-AD38-8FB1296A1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6" y="2985"/>
              <a:ext cx="3168" cy="471"/>
              <a:chOff x="1680" y="1728"/>
              <a:chExt cx="3168" cy="471"/>
            </a:xfrm>
          </p:grpSpPr>
          <p:grpSp>
            <p:nvGrpSpPr>
              <p:cNvPr id="36883" name="Group 61">
                <a:extLst>
                  <a:ext uri="{FF2B5EF4-FFF2-40B4-BE49-F238E27FC236}">
                    <a16:creationId xmlns:a16="http://schemas.microsoft.com/office/drawing/2014/main" id="{0B64AEC2-4B68-B349-82DF-0004EF59A3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2880" cy="144"/>
                <a:chOff x="1776" y="1728"/>
                <a:chExt cx="2880" cy="144"/>
              </a:xfrm>
            </p:grpSpPr>
            <p:sp>
              <p:nvSpPr>
                <p:cNvPr id="36896" name="Rectangle 62">
                  <a:extLst>
                    <a:ext uri="{FF2B5EF4-FFF2-40B4-BE49-F238E27FC236}">
                      <a16:creationId xmlns:a16="http://schemas.microsoft.com/office/drawing/2014/main" id="{F828E8BA-00D1-134F-A53D-3D449F2239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9</a:t>
                  </a:r>
                </a:p>
              </p:txBody>
            </p:sp>
            <p:sp>
              <p:nvSpPr>
                <p:cNvPr id="36897" name="Rectangle 63">
                  <a:extLst>
                    <a:ext uri="{FF2B5EF4-FFF2-40B4-BE49-F238E27FC236}">
                      <a16:creationId xmlns:a16="http://schemas.microsoft.com/office/drawing/2014/main" id="{9905C062-FFBD-2F47-ACFD-056099E949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4</a:t>
                  </a:r>
                </a:p>
              </p:txBody>
            </p:sp>
            <p:sp>
              <p:nvSpPr>
                <p:cNvPr id="36898" name="Rectangle 64">
                  <a:extLst>
                    <a:ext uri="{FF2B5EF4-FFF2-40B4-BE49-F238E27FC236}">
                      <a16:creationId xmlns:a16="http://schemas.microsoft.com/office/drawing/2014/main" id="{374BC31E-C52D-B949-B730-33E27E0C96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7</a:t>
                  </a:r>
                </a:p>
              </p:txBody>
            </p:sp>
            <p:sp>
              <p:nvSpPr>
                <p:cNvPr id="36899" name="Rectangle 65">
                  <a:extLst>
                    <a:ext uri="{FF2B5EF4-FFF2-40B4-BE49-F238E27FC236}">
                      <a16:creationId xmlns:a16="http://schemas.microsoft.com/office/drawing/2014/main" id="{90564BE9-F73B-DB44-B356-D4794A579D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  <p:sp>
              <p:nvSpPr>
                <p:cNvPr id="36900" name="Rectangle 66">
                  <a:extLst>
                    <a:ext uri="{FF2B5EF4-FFF2-40B4-BE49-F238E27FC236}">
                      <a16:creationId xmlns:a16="http://schemas.microsoft.com/office/drawing/2014/main" id="{D3B43ECD-D9B7-F647-A08A-192A97D24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itchFamily="2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>
                      <a:latin typeface="Courier New" panose="02070309020205020404" pitchFamily="49" charset="0"/>
                    </a:rPr>
                    <a:t>0</a:t>
                  </a:r>
                </a:p>
              </p:txBody>
            </p:sp>
          </p:grpSp>
          <p:sp>
            <p:nvSpPr>
              <p:cNvPr id="36884" name="Line 67">
                <a:extLst>
                  <a:ext uri="{FF2B5EF4-FFF2-40B4-BE49-F238E27FC236}">
                    <a16:creationId xmlns:a16="http://schemas.microsoft.com/office/drawing/2014/main" id="{7CD8E037-0089-B047-8A59-291D0579C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5" name="Text Box 68">
                <a:extLst>
                  <a:ext uri="{FF2B5EF4-FFF2-40B4-BE49-F238E27FC236}">
                    <a16:creationId xmlns:a16="http://schemas.microsoft.com/office/drawing/2014/main" id="{E28DF6EE-79D1-4F4A-BAB4-57CF12ECF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56</a:t>
                </a:r>
              </a:p>
            </p:txBody>
          </p:sp>
          <p:sp>
            <p:nvSpPr>
              <p:cNvPr id="36886" name="Line 69">
                <a:extLst>
                  <a:ext uri="{FF2B5EF4-FFF2-40B4-BE49-F238E27FC236}">
                    <a16:creationId xmlns:a16="http://schemas.microsoft.com/office/drawing/2014/main" id="{BF50AF2D-0951-104F-B46A-D4961070B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7" name="Text Box 70">
                <a:extLst>
                  <a:ext uri="{FF2B5EF4-FFF2-40B4-BE49-F238E27FC236}">
                    <a16:creationId xmlns:a16="http://schemas.microsoft.com/office/drawing/2014/main" id="{9D42A82A-3A0F-984D-8CCB-0DBCA184A8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60</a:t>
                </a:r>
              </a:p>
            </p:txBody>
          </p:sp>
          <p:sp>
            <p:nvSpPr>
              <p:cNvPr id="36888" name="Line 71">
                <a:extLst>
                  <a:ext uri="{FF2B5EF4-FFF2-40B4-BE49-F238E27FC236}">
                    <a16:creationId xmlns:a16="http://schemas.microsoft.com/office/drawing/2014/main" id="{5CEBA9FE-1F79-3A46-9751-2F468B561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9" name="Text Box 72">
                <a:extLst>
                  <a:ext uri="{FF2B5EF4-FFF2-40B4-BE49-F238E27FC236}">
                    <a16:creationId xmlns:a16="http://schemas.microsoft.com/office/drawing/2014/main" id="{2C2E9815-8BEA-BA4C-A941-BDB4740342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64</a:t>
                </a:r>
              </a:p>
            </p:txBody>
          </p:sp>
          <p:sp>
            <p:nvSpPr>
              <p:cNvPr id="36890" name="Line 73">
                <a:extLst>
                  <a:ext uri="{FF2B5EF4-FFF2-40B4-BE49-F238E27FC236}">
                    <a16:creationId xmlns:a16="http://schemas.microsoft.com/office/drawing/2014/main" id="{FE0E9713-1384-CA4A-9FDD-82C65B70D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1" name="Text Box 74">
                <a:extLst>
                  <a:ext uri="{FF2B5EF4-FFF2-40B4-BE49-F238E27FC236}">
                    <a16:creationId xmlns:a16="http://schemas.microsoft.com/office/drawing/2014/main" id="{B40FDEF7-CD65-9F41-81FA-72CCA64A6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68</a:t>
                </a:r>
              </a:p>
            </p:txBody>
          </p:sp>
          <p:sp>
            <p:nvSpPr>
              <p:cNvPr id="36892" name="Line 75">
                <a:extLst>
                  <a:ext uri="{FF2B5EF4-FFF2-40B4-BE49-F238E27FC236}">
                    <a16:creationId xmlns:a16="http://schemas.microsoft.com/office/drawing/2014/main" id="{50741A8C-17C6-3440-8270-9EF1F576B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3" name="Text Box 76">
                <a:extLst>
                  <a:ext uri="{FF2B5EF4-FFF2-40B4-BE49-F238E27FC236}">
                    <a16:creationId xmlns:a16="http://schemas.microsoft.com/office/drawing/2014/main" id="{C514F70E-5BDD-C042-A529-C8BDBFC385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72</a:t>
                </a:r>
              </a:p>
            </p:txBody>
          </p:sp>
          <p:sp>
            <p:nvSpPr>
              <p:cNvPr id="36894" name="Line 77">
                <a:extLst>
                  <a:ext uri="{FF2B5EF4-FFF2-40B4-BE49-F238E27FC236}">
                    <a16:creationId xmlns:a16="http://schemas.microsoft.com/office/drawing/2014/main" id="{D21B1BF6-5815-C949-B754-65A52D8AB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872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5" name="Text Box 78">
                <a:extLst>
                  <a:ext uri="{FF2B5EF4-FFF2-40B4-BE49-F238E27FC236}">
                    <a16:creationId xmlns:a16="http://schemas.microsoft.com/office/drawing/2014/main" id="{E1DCDD9E-F53C-6945-B379-19A80708E4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96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76</a:t>
                </a:r>
              </a:p>
            </p:txBody>
          </p:sp>
        </p:grpSp>
        <p:cxnSp>
          <p:nvCxnSpPr>
            <p:cNvPr id="36880" name="AutoShape 79">
              <a:extLst>
                <a:ext uri="{FF2B5EF4-FFF2-40B4-BE49-F238E27FC236}">
                  <a16:creationId xmlns:a16="http://schemas.microsoft.com/office/drawing/2014/main" id="{8B263A31-E621-D045-A5C7-0CD0E8B48560}"/>
                </a:ext>
              </a:extLst>
            </p:cNvPr>
            <p:cNvCxnSpPr>
              <a:cxnSpLocks noChangeShapeType="1"/>
              <a:stCxn id="36948" idx="0"/>
              <a:endCxn id="36932" idx="1"/>
            </p:cNvCxnSpPr>
            <p:nvPr/>
          </p:nvCxnSpPr>
          <p:spPr bwMode="auto">
            <a:xfrm rot="-5400000">
              <a:off x="1500" y="1836"/>
              <a:ext cx="592" cy="10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1" name="AutoShape 80">
              <a:extLst>
                <a:ext uri="{FF2B5EF4-FFF2-40B4-BE49-F238E27FC236}">
                  <a16:creationId xmlns:a16="http://schemas.microsoft.com/office/drawing/2014/main" id="{9A2FC091-B7A6-474A-8E66-5B1E8A0F93C7}"/>
                </a:ext>
              </a:extLst>
            </p:cNvPr>
            <p:cNvCxnSpPr>
              <a:cxnSpLocks noChangeShapeType="1"/>
              <a:stCxn id="36947" idx="6"/>
              <a:endCxn id="36914" idx="1"/>
            </p:cNvCxnSpPr>
            <p:nvPr/>
          </p:nvCxnSpPr>
          <p:spPr bwMode="auto">
            <a:xfrm>
              <a:off x="1304" y="2496"/>
              <a:ext cx="1030" cy="81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2" name="AutoShape 81">
              <a:extLst>
                <a:ext uri="{FF2B5EF4-FFF2-40B4-BE49-F238E27FC236}">
                  <a16:creationId xmlns:a16="http://schemas.microsoft.com/office/drawing/2014/main" id="{777C1CDF-D771-5B4B-9E55-DFBABD40F21B}"/>
                </a:ext>
              </a:extLst>
            </p:cNvPr>
            <p:cNvCxnSpPr>
              <a:cxnSpLocks noChangeShapeType="1"/>
              <a:stCxn id="36949" idx="0"/>
              <a:endCxn id="36896" idx="1"/>
            </p:cNvCxnSpPr>
            <p:nvPr/>
          </p:nvCxnSpPr>
          <p:spPr bwMode="auto">
            <a:xfrm rot="5400000" flipV="1">
              <a:off x="1722" y="2446"/>
              <a:ext cx="137" cy="1086"/>
            </a:xfrm>
            <a:prstGeom prst="curvedConnector4">
              <a:avLst>
                <a:gd name="adj1" fmla="val -99269"/>
                <a:gd name="adj2" fmla="val 52579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5" name="Rectangle 82">
            <a:extLst>
              <a:ext uri="{FF2B5EF4-FFF2-40B4-BE49-F238E27FC236}">
                <a16:creationId xmlns:a16="http://schemas.microsoft.com/office/drawing/2014/main" id="{2B14A012-D09C-0E4D-949A-523348CBA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325" y="4038600"/>
            <a:ext cx="4984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</a:t>
            </a:r>
          </a:p>
        </p:txBody>
      </p:sp>
      <p:sp>
        <p:nvSpPr>
          <p:cNvPr id="86" name="Rectangle 83">
            <a:extLst>
              <a:ext uri="{FF2B5EF4-FFF2-40B4-BE49-F238E27FC236}">
                <a16:creationId xmlns:a16="http://schemas.microsoft.com/office/drawing/2014/main" id="{5D68155D-2390-4F4D-912F-9B8817EF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4384675"/>
            <a:ext cx="3968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  <p:sp>
        <p:nvSpPr>
          <p:cNvPr id="87" name="Rectangle 85">
            <a:extLst>
              <a:ext uri="{FF2B5EF4-FFF2-40B4-BE49-F238E27FC236}">
                <a16:creationId xmlns:a16="http://schemas.microsoft.com/office/drawing/2014/main" id="{AAB439C3-4DE1-3646-95BE-8F154672C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724400"/>
            <a:ext cx="3968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  <p:sp>
        <p:nvSpPr>
          <p:cNvPr id="88" name="Rectangle 86">
            <a:extLst>
              <a:ext uri="{FF2B5EF4-FFF2-40B4-BE49-F238E27FC236}">
                <a16:creationId xmlns:a16="http://schemas.microsoft.com/office/drawing/2014/main" id="{957F59EC-123D-964C-A09B-7A2D46D26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7075" y="5070475"/>
            <a:ext cx="3968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  <p:sp>
        <p:nvSpPr>
          <p:cNvPr id="89" name="Rectangle 87">
            <a:extLst>
              <a:ext uri="{FF2B5EF4-FFF2-40B4-BE49-F238E27FC236}">
                <a16:creationId xmlns:a16="http://schemas.microsoft.com/office/drawing/2014/main" id="{5C2BCAC5-A642-4844-82A6-A8DBC45F3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7550" y="5410200"/>
            <a:ext cx="3968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build="p" autoUpdateAnimBg="0"/>
      <p:bldP spid="86" grpId="0" build="p" autoUpdateAnimBg="0"/>
      <p:bldP spid="87" grpId="0" build="p" autoUpdateAnimBg="0"/>
      <p:bldP spid="88" grpId="0" build="p" autoUpdateAnimBg="0"/>
      <p:bldP spid="89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E1E3B5D-662A-0345-9964-00C20D347E18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63500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Using Nested Arrays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D8D544E-123B-2449-BD46-B55DAB6B80C8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220788"/>
            <a:ext cx="4114800" cy="5224462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Strengths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C compiler handles doubly subscripted arrays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Generates very efficient code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Avoids multiply in index computation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Limitation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Only works if have fixed array size</a:t>
            </a:r>
          </a:p>
        </p:txBody>
      </p:sp>
      <p:sp>
        <p:nvSpPr>
          <p:cNvPr id="37891" name="Rectangle 4">
            <a:extLst>
              <a:ext uri="{FF2B5EF4-FFF2-40B4-BE49-F238E27FC236}">
                <a16:creationId xmlns:a16="http://schemas.microsoft.com/office/drawing/2014/main" id="{AD825172-1E10-0D41-9E96-A74503960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19200"/>
            <a:ext cx="4238625" cy="6445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#define N 16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typedef int fix_matrix[N][N];</a:t>
            </a:r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8B307F9B-67FF-F448-97DC-426DA6D0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33600"/>
            <a:ext cx="4343400" cy="339725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/* Compute element i,k of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fixed matrix product */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int fix_prod_ele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(fix_matrix a, fix_matrix b,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int i, int k)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result = 0;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for (j = 0; j &lt; N; j++)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result += a[i][j]*b[j][k];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result;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37893" name="Group 6">
            <a:extLst>
              <a:ext uri="{FF2B5EF4-FFF2-40B4-BE49-F238E27FC236}">
                <a16:creationId xmlns:a16="http://schemas.microsoft.com/office/drawing/2014/main" id="{0797D320-0812-A24B-B188-C9F31FDFDBB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818063"/>
            <a:ext cx="3454400" cy="1658937"/>
            <a:chOff x="720" y="2448"/>
            <a:chExt cx="2176" cy="1045"/>
          </a:xfrm>
        </p:grpSpPr>
        <p:sp>
          <p:nvSpPr>
            <p:cNvPr id="37894" name="Rectangle 7">
              <a:extLst>
                <a:ext uri="{FF2B5EF4-FFF2-40B4-BE49-F238E27FC236}">
                  <a16:creationId xmlns:a16="http://schemas.microsoft.com/office/drawing/2014/main" id="{2923B8C2-5AF0-4549-89BA-77A805F66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658"/>
              <a:ext cx="376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895" name="Rectangle 8">
              <a:extLst>
                <a:ext uri="{FF2B5EF4-FFF2-40B4-BE49-F238E27FC236}">
                  <a16:creationId xmlns:a16="http://schemas.microsoft.com/office/drawing/2014/main" id="{E110E09B-0C22-3748-87C8-BECF93BD0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24"/>
              <a:ext cx="2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/>
                <a:t>A</a:t>
              </a:r>
            </a:p>
          </p:txBody>
        </p:sp>
        <p:sp>
          <p:nvSpPr>
            <p:cNvPr id="37896" name="Line 9">
              <a:extLst>
                <a:ext uri="{FF2B5EF4-FFF2-40B4-BE49-F238E27FC236}">
                  <a16:creationId xmlns:a16="http://schemas.microsoft.com/office/drawing/2014/main" id="{784C6340-EE68-F649-9E2A-A225AA445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2894"/>
              <a:ext cx="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Rectangle 10">
              <a:extLst>
                <a:ext uri="{FF2B5EF4-FFF2-40B4-BE49-F238E27FC236}">
                  <a16:creationId xmlns:a16="http://schemas.microsoft.com/office/drawing/2014/main" id="{239503C4-0DA5-6B42-A71A-B8B7E11DE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784"/>
              <a:ext cx="8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b="0">
                  <a:latin typeface="Courier New" panose="02070309020205020404" pitchFamily="49" charset="0"/>
                </a:rPr>
                <a:t>(i,*)</a:t>
              </a:r>
            </a:p>
          </p:txBody>
        </p:sp>
        <p:grpSp>
          <p:nvGrpSpPr>
            <p:cNvPr id="37898" name="Group 11">
              <a:extLst>
                <a:ext uri="{FF2B5EF4-FFF2-40B4-BE49-F238E27FC236}">
                  <a16:creationId xmlns:a16="http://schemas.microsoft.com/office/drawing/2014/main" id="{E397BEED-2B40-A14E-A2A6-EB27FAB7CF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48"/>
              <a:ext cx="544" cy="805"/>
              <a:chOff x="2352" y="2448"/>
              <a:chExt cx="544" cy="805"/>
            </a:xfrm>
          </p:grpSpPr>
          <p:sp>
            <p:nvSpPr>
              <p:cNvPr id="37903" name="Rectangle 12">
                <a:extLst>
                  <a:ext uri="{FF2B5EF4-FFF2-40B4-BE49-F238E27FC236}">
                    <a16:creationId xmlns:a16="http://schemas.microsoft.com/office/drawing/2014/main" id="{4E5C2080-491D-8940-80F7-49091E190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658"/>
                <a:ext cx="376" cy="3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904" name="Rectangle 13">
                <a:extLst>
                  <a:ext uri="{FF2B5EF4-FFF2-40B4-BE49-F238E27FC236}">
                    <a16:creationId xmlns:a16="http://schemas.microsoft.com/office/drawing/2014/main" id="{7A00B899-FC2E-3947-B74B-D43F57079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10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/>
                  <a:t>B</a:t>
                </a:r>
              </a:p>
            </p:txBody>
          </p:sp>
          <p:sp>
            <p:nvSpPr>
              <p:cNvPr id="37905" name="Line 14">
                <a:extLst>
                  <a:ext uri="{FF2B5EF4-FFF2-40B4-BE49-F238E27FC236}">
                    <a16:creationId xmlns:a16="http://schemas.microsoft.com/office/drawing/2014/main" id="{FFD70408-B3A3-7C4D-A411-0958EAA95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5" y="2662"/>
                <a:ext cx="0" cy="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06" name="Rectangle 15">
                <a:extLst>
                  <a:ext uri="{FF2B5EF4-FFF2-40B4-BE49-F238E27FC236}">
                    <a16:creationId xmlns:a16="http://schemas.microsoft.com/office/drawing/2014/main" id="{12A30DB8-D62D-684B-8A67-5A06965D1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448"/>
                <a:ext cx="544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>
                    <a:latin typeface="Courier New" panose="02070309020205020404" pitchFamily="49" charset="0"/>
                  </a:rPr>
                  <a:t>(*,k)</a:t>
                </a:r>
              </a:p>
            </p:txBody>
          </p:sp>
        </p:grpSp>
        <p:sp>
          <p:nvSpPr>
            <p:cNvPr id="37899" name="Rectangle 16">
              <a:extLst>
                <a:ext uri="{FF2B5EF4-FFF2-40B4-BE49-F238E27FC236}">
                  <a16:creationId xmlns:a16="http://schemas.microsoft.com/office/drawing/2014/main" id="{083E209B-7AA2-9147-82C0-0B09E0EB6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64"/>
              <a:ext cx="94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/>
                <a:t>Column-wise</a:t>
              </a:r>
            </a:p>
          </p:txBody>
        </p:sp>
        <p:sp>
          <p:nvSpPr>
            <p:cNvPr id="37900" name="Line 17">
              <a:extLst>
                <a:ext uri="{FF2B5EF4-FFF2-40B4-BE49-F238E27FC236}">
                  <a16:creationId xmlns:a16="http://schemas.microsoft.com/office/drawing/2014/main" id="{808D882B-A6DE-7844-A9A8-8810EB2C91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3024"/>
              <a:ext cx="192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Rectangle 18">
              <a:extLst>
                <a:ext uri="{FF2B5EF4-FFF2-40B4-BE49-F238E27FC236}">
                  <a16:creationId xmlns:a16="http://schemas.microsoft.com/office/drawing/2014/main" id="{3E4C5D37-0FA4-F141-A6AA-1411B1BB1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024"/>
              <a:ext cx="73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/>
                <a:t>Row-wise</a:t>
              </a:r>
            </a:p>
          </p:txBody>
        </p:sp>
        <p:sp>
          <p:nvSpPr>
            <p:cNvPr id="37902" name="Line 19">
              <a:extLst>
                <a:ext uri="{FF2B5EF4-FFF2-40B4-BE49-F238E27FC236}">
                  <a16:creationId xmlns:a16="http://schemas.microsoft.com/office/drawing/2014/main" id="{F4415EA1-AE6F-F94C-AB48-FDDFBFA829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206" y="2826"/>
              <a:ext cx="144" cy="2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8F7DFC1-0C33-5744-9E1C-096FA67E3CB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8600"/>
            <a:ext cx="67437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Dynamic Nested Arrays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6A6682-9A83-8541-9ED5-596E0412A99A}"/>
              </a:ext>
            </a:extLst>
          </p:cNvPr>
          <p:cNvSpPr txBox="1">
            <a:spLocks noChangeArrowheads="1"/>
          </p:cNvSpPr>
          <p:nvPr/>
        </p:nvSpPr>
        <p:spPr>
          <a:xfrm>
            <a:off x="290513" y="914400"/>
            <a:ext cx="4281487" cy="3733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Strength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Can create matrix of arbitrary size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Programming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Must do index computation explicitly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Performance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Accessing single element costly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Must do multiplication</a:t>
            </a:r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C3D77240-76AB-0E44-8339-5C6F66C5F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990600"/>
            <a:ext cx="4191000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* new_var_matrix(int n)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(int *) 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calloc(sizeof(int), n*n);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1DA1C404-1BB1-3546-8D9C-317EE3E31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819400"/>
            <a:ext cx="4191000" cy="17494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var_ele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(int *a, int i,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int j, int n)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a[i*n+j];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0515376F-C46B-C241-96C4-B7509CB7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953000"/>
            <a:ext cx="6553200" cy="147478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429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	movl 12(%ebp),%eax	# i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8(%ebp),%edx	# a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imull 20(%ebp),%eax	# n*i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addl 16(%ebp),%eax	# n*i+j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(%edx,%eax,4),%eax	# Mem[a+4*(i*n+j)]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">
            <a:extLst>
              <a:ext uri="{FF2B5EF4-FFF2-40B4-BE49-F238E27FC236}">
                <a16:creationId xmlns:a16="http://schemas.microsoft.com/office/drawing/2014/main" id="{1392F0FB-1760-BE42-A744-1B43EB8D173E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28600"/>
            <a:ext cx="82296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Dynamic Array Multiplication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04C2349E-166B-D549-AB78-F9FDCF960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1220788"/>
            <a:ext cx="3987800" cy="268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Without Optimizations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Multiplies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2 for subscripts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1 for data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Adds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4 for array indexing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1 for loop index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1 for data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 b="0">
              <a:latin typeface="Calibri" panose="020F0502020204030204" pitchFamily="34" charset="0"/>
            </a:endParaRPr>
          </a:p>
        </p:txBody>
      </p:sp>
      <p:sp>
        <p:nvSpPr>
          <p:cNvPr id="39939" name="Rectangle 4">
            <a:extLst>
              <a:ext uri="{FF2B5EF4-FFF2-40B4-BE49-F238E27FC236}">
                <a16:creationId xmlns:a16="http://schemas.microsoft.com/office/drawing/2014/main" id="{CD83589B-DB50-B846-A94B-32A3B42E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219200"/>
            <a:ext cx="4238625" cy="36718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/* Compute element i,k of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variable matrix product */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int var_prod_ele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(int *a, int *b,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int i, int k, int n)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result = 0;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for (j = 0; j &lt; n; j++)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result +=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a[i*n+j] * b[j*n+k];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result;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39940" name="Group 5">
            <a:extLst>
              <a:ext uri="{FF2B5EF4-FFF2-40B4-BE49-F238E27FC236}">
                <a16:creationId xmlns:a16="http://schemas.microsoft.com/office/drawing/2014/main" id="{63E8DBB6-FEFC-E84B-BB9A-E31C32B2FDF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572000"/>
            <a:ext cx="3454400" cy="1658938"/>
            <a:chOff x="720" y="2448"/>
            <a:chExt cx="2176" cy="1045"/>
          </a:xfrm>
        </p:grpSpPr>
        <p:sp>
          <p:nvSpPr>
            <p:cNvPr id="39941" name="Rectangle 6">
              <a:extLst>
                <a:ext uri="{FF2B5EF4-FFF2-40B4-BE49-F238E27FC236}">
                  <a16:creationId xmlns:a16="http://schemas.microsoft.com/office/drawing/2014/main" id="{677403D0-11C2-404E-A215-0A8168ACA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658"/>
              <a:ext cx="376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42" name="Rectangle 7">
              <a:extLst>
                <a:ext uri="{FF2B5EF4-FFF2-40B4-BE49-F238E27FC236}">
                  <a16:creationId xmlns:a16="http://schemas.microsoft.com/office/drawing/2014/main" id="{25642525-F30C-1440-BB0E-E539BE07F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24"/>
              <a:ext cx="2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/>
                <a:t>A</a:t>
              </a:r>
            </a:p>
          </p:txBody>
        </p:sp>
        <p:sp>
          <p:nvSpPr>
            <p:cNvPr id="39943" name="Line 8">
              <a:extLst>
                <a:ext uri="{FF2B5EF4-FFF2-40B4-BE49-F238E27FC236}">
                  <a16:creationId xmlns:a16="http://schemas.microsoft.com/office/drawing/2014/main" id="{A6EEACAD-CBAA-384D-8C76-2F9CCF65D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2894"/>
              <a:ext cx="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4" name="Rectangle 9">
              <a:extLst>
                <a:ext uri="{FF2B5EF4-FFF2-40B4-BE49-F238E27FC236}">
                  <a16:creationId xmlns:a16="http://schemas.microsoft.com/office/drawing/2014/main" id="{9F4331CA-74B9-3A4A-A50A-1FA40D645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784"/>
              <a:ext cx="8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b="0">
                  <a:latin typeface="Courier New" panose="02070309020205020404" pitchFamily="49" charset="0"/>
                </a:rPr>
                <a:t>(i,*)</a:t>
              </a:r>
            </a:p>
          </p:txBody>
        </p:sp>
        <p:grpSp>
          <p:nvGrpSpPr>
            <p:cNvPr id="39945" name="Group 10">
              <a:extLst>
                <a:ext uri="{FF2B5EF4-FFF2-40B4-BE49-F238E27FC236}">
                  <a16:creationId xmlns:a16="http://schemas.microsoft.com/office/drawing/2014/main" id="{CBDD49CB-62B5-D14B-B76B-873CFDF256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48"/>
              <a:ext cx="544" cy="805"/>
              <a:chOff x="2352" y="2448"/>
              <a:chExt cx="544" cy="805"/>
            </a:xfrm>
          </p:grpSpPr>
          <p:sp>
            <p:nvSpPr>
              <p:cNvPr id="39950" name="Rectangle 11">
                <a:extLst>
                  <a:ext uri="{FF2B5EF4-FFF2-40B4-BE49-F238E27FC236}">
                    <a16:creationId xmlns:a16="http://schemas.microsoft.com/office/drawing/2014/main" id="{A985406F-91FC-2A4D-AFC6-9CDC91975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658"/>
                <a:ext cx="376" cy="3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951" name="Rectangle 12">
                <a:extLst>
                  <a:ext uri="{FF2B5EF4-FFF2-40B4-BE49-F238E27FC236}">
                    <a16:creationId xmlns:a16="http://schemas.microsoft.com/office/drawing/2014/main" id="{89956752-B921-7741-9E1A-CB49C33A0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10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/>
                  <a:t>B</a:t>
                </a:r>
              </a:p>
            </p:txBody>
          </p:sp>
          <p:sp>
            <p:nvSpPr>
              <p:cNvPr id="39952" name="Line 13">
                <a:extLst>
                  <a:ext uri="{FF2B5EF4-FFF2-40B4-BE49-F238E27FC236}">
                    <a16:creationId xmlns:a16="http://schemas.microsoft.com/office/drawing/2014/main" id="{9D93023E-8F9A-9D4F-A861-7FB856DE2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5" y="2662"/>
                <a:ext cx="0" cy="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3" name="Rectangle 14">
                <a:extLst>
                  <a:ext uri="{FF2B5EF4-FFF2-40B4-BE49-F238E27FC236}">
                    <a16:creationId xmlns:a16="http://schemas.microsoft.com/office/drawing/2014/main" id="{F4E4244E-404F-F145-8937-C87D40A0C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448"/>
                <a:ext cx="544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b="0">
                    <a:latin typeface="Courier New" panose="02070309020205020404" pitchFamily="49" charset="0"/>
                  </a:rPr>
                  <a:t>(*,k)</a:t>
                </a:r>
              </a:p>
            </p:txBody>
          </p:sp>
        </p:grpSp>
        <p:sp>
          <p:nvSpPr>
            <p:cNvPr id="39946" name="Rectangle 15">
              <a:extLst>
                <a:ext uri="{FF2B5EF4-FFF2-40B4-BE49-F238E27FC236}">
                  <a16:creationId xmlns:a16="http://schemas.microsoft.com/office/drawing/2014/main" id="{C6B87203-7779-A44B-8B6A-D90B24E57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64"/>
              <a:ext cx="94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/>
                <a:t>Column-wise</a:t>
              </a:r>
            </a:p>
          </p:txBody>
        </p:sp>
        <p:sp>
          <p:nvSpPr>
            <p:cNvPr id="39947" name="Line 16">
              <a:extLst>
                <a:ext uri="{FF2B5EF4-FFF2-40B4-BE49-F238E27FC236}">
                  <a16:creationId xmlns:a16="http://schemas.microsoft.com/office/drawing/2014/main" id="{C062A214-9343-A843-9AB5-238C14A0A1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3024"/>
              <a:ext cx="192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8" name="Rectangle 17">
              <a:extLst>
                <a:ext uri="{FF2B5EF4-FFF2-40B4-BE49-F238E27FC236}">
                  <a16:creationId xmlns:a16="http://schemas.microsoft.com/office/drawing/2014/main" id="{3BA72A49-F507-574A-B12C-89F45ED61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024"/>
              <a:ext cx="73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/>
                <a:t>Row-wise</a:t>
              </a:r>
            </a:p>
          </p:txBody>
        </p:sp>
        <p:sp>
          <p:nvSpPr>
            <p:cNvPr id="39949" name="Line 18">
              <a:extLst>
                <a:ext uri="{FF2B5EF4-FFF2-40B4-BE49-F238E27FC236}">
                  <a16:creationId xmlns:a16="http://schemas.microsoft.com/office/drawing/2014/main" id="{14A1BE0C-59B6-C84A-B439-9C07F0B0B9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206" y="2826"/>
              <a:ext cx="144" cy="2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42AA9115-D2D1-8546-956E-EFDFF70827FD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" y="228600"/>
            <a:ext cx="8915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Optimizing Dynamic Array Mult.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24029CC1-D3DF-6C46-8410-B7B11F519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20788"/>
            <a:ext cx="4343400" cy="522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Optimizations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Performed when set optimization level to </a:t>
            </a:r>
            <a:r>
              <a:rPr lang="en-US" altLang="en-US" sz="2000" b="0">
                <a:latin typeface="Courier New" panose="02070309020205020404" pitchFamily="49" charset="0"/>
              </a:rPr>
              <a:t>-O2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Code Motion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Expression </a:t>
            </a:r>
            <a:r>
              <a:rPr lang="en-US" altLang="en-US" sz="2000" b="0">
                <a:latin typeface="Courier New" panose="02070309020205020404" pitchFamily="49" charset="0"/>
              </a:rPr>
              <a:t>i*n</a:t>
            </a:r>
            <a:r>
              <a:rPr lang="en-US" altLang="en-US" sz="2000" b="0">
                <a:latin typeface="Calibri" panose="020F0502020204030204" pitchFamily="34" charset="0"/>
              </a:rPr>
              <a:t> can be computed outside loop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Strength Reduction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Incrementing </a:t>
            </a:r>
            <a:r>
              <a:rPr lang="en-US" altLang="en-US" sz="2000" b="0">
                <a:latin typeface="Courier New" panose="02070309020205020404" pitchFamily="49" charset="0"/>
              </a:rPr>
              <a:t>j</a:t>
            </a:r>
            <a:r>
              <a:rPr lang="en-US" altLang="en-US" sz="2000" b="0">
                <a:latin typeface="Calibri" panose="020F0502020204030204" pitchFamily="34" charset="0"/>
              </a:rPr>
              <a:t> has effect of incrementing </a:t>
            </a:r>
            <a:r>
              <a:rPr lang="en-US" altLang="en-US" sz="2000" b="0">
                <a:latin typeface="Courier New" panose="02070309020205020404" pitchFamily="49" charset="0"/>
              </a:rPr>
              <a:t>j*n+k</a:t>
            </a:r>
            <a:r>
              <a:rPr lang="en-US" altLang="en-US" sz="2000" b="0">
                <a:latin typeface="Calibri" panose="020F0502020204030204" pitchFamily="34" charset="0"/>
              </a:rPr>
              <a:t> by </a:t>
            </a:r>
            <a:r>
              <a:rPr lang="en-US" altLang="en-US" sz="2000" b="0">
                <a:latin typeface="Courier New" panose="02070309020205020404" pitchFamily="49" charset="0"/>
              </a:rPr>
              <a:t>n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Performance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Compiler can optimize regular access patterns</a:t>
            </a:r>
          </a:p>
        </p:txBody>
      </p:sp>
      <p:sp>
        <p:nvSpPr>
          <p:cNvPr id="40963" name="Rectangle 4">
            <a:extLst>
              <a:ext uri="{FF2B5EF4-FFF2-40B4-BE49-F238E27FC236}">
                <a16:creationId xmlns:a16="http://schemas.microsoft.com/office/drawing/2014/main" id="{2DE422E7-8970-FE4C-B3DC-4BBBAA9B5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46150"/>
            <a:ext cx="4238625" cy="2490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result = 0;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for (j = 0; j &lt; n; j++)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result +=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a[i*n+j] * b[j*n+k];</a:t>
            </a:r>
          </a:p>
          <a:p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sz="1800">
                <a:latin typeface="Courier New" panose="02070309020205020404" pitchFamily="49" charset="0"/>
              </a:rPr>
              <a:t> return result;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964" name="Rectangle 5">
            <a:extLst>
              <a:ext uri="{FF2B5EF4-FFF2-40B4-BE49-F238E27FC236}">
                <a16:creationId xmlns:a16="http://schemas.microsoft.com/office/drawing/2014/main" id="{866F19B8-A8C4-A040-AF0F-8BF2E52B4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32150"/>
            <a:ext cx="4238625" cy="33972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result = 0;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iTn = i*n;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jTnPk = k;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for (j = 0; j &lt; n; j++)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result +=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a[iTn+j] * b[jTnPk];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jTnPk += n;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}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result;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DD054035-9B35-3746-94F8-DC14E6F49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40013"/>
            <a:ext cx="2971800" cy="1474787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rec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a[3];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*p;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74FE7F3B-3240-BC4A-A5F2-6EA797507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648200"/>
            <a:ext cx="33655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Assembly</a:t>
            </a:r>
          </a:p>
        </p:txBody>
      </p:sp>
      <p:sp>
        <p:nvSpPr>
          <p:cNvPr id="41987" name="Rectangle 4">
            <a:extLst>
              <a:ext uri="{FF2B5EF4-FFF2-40B4-BE49-F238E27FC236}">
                <a16:creationId xmlns:a16="http://schemas.microsoft.com/office/drawing/2014/main" id="{81CDDF6A-0AF1-C140-918B-F3676B937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181600"/>
            <a:ext cx="4876800" cy="925513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	# %eax = val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# %edx = r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%eax,(%edx)	# Mem[r] = val</a:t>
            </a:r>
          </a:p>
        </p:txBody>
      </p:sp>
      <p:sp>
        <p:nvSpPr>
          <p:cNvPr id="41988" name="Rectangle 5">
            <a:extLst>
              <a:ext uri="{FF2B5EF4-FFF2-40B4-BE49-F238E27FC236}">
                <a16:creationId xmlns:a16="http://schemas.microsoft.com/office/drawing/2014/main" id="{C30D86C4-19E9-624A-8DFD-DC76F8D4F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651375"/>
            <a:ext cx="2968625" cy="17494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void 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set_i(struct rec *r,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int val)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r-&gt;i = val;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201133F-22B8-0847-8255-8E9EC01A6832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52451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Structures</a:t>
            </a:r>
          </a:p>
        </p:txBody>
      </p:sp>
      <p:sp>
        <p:nvSpPr>
          <p:cNvPr id="41990" name="Rectangle 7">
            <a:extLst>
              <a:ext uri="{FF2B5EF4-FFF2-40B4-BE49-F238E27FC236}">
                <a16:creationId xmlns:a16="http://schemas.microsoft.com/office/drawing/2014/main" id="{EF84D399-5537-5944-9102-D94B89CF5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14400"/>
            <a:ext cx="7515225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Concept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Contiguously-allocated region of memory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Refer to members within structure by names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Members may be of different types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Accessing Structure Member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sz="2800" b="0">
              <a:latin typeface="Calibri" panose="020F0502020204030204" pitchFamily="34" charset="0"/>
            </a:endParaRPr>
          </a:p>
        </p:txBody>
      </p:sp>
      <p:sp>
        <p:nvSpPr>
          <p:cNvPr id="41991" name="Rectangle 8">
            <a:extLst>
              <a:ext uri="{FF2B5EF4-FFF2-40B4-BE49-F238E27FC236}">
                <a16:creationId xmlns:a16="http://schemas.microsoft.com/office/drawing/2014/main" id="{489AA5A1-EA95-AB47-9193-611A47DDC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667000"/>
            <a:ext cx="33655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Memory Layout</a:t>
            </a:r>
          </a:p>
        </p:txBody>
      </p:sp>
      <p:grpSp>
        <p:nvGrpSpPr>
          <p:cNvPr id="41992" name="Group 17">
            <a:extLst>
              <a:ext uri="{FF2B5EF4-FFF2-40B4-BE49-F238E27FC236}">
                <a16:creationId xmlns:a16="http://schemas.microsoft.com/office/drawing/2014/main" id="{84C17466-FD18-B641-9C7A-A866D93FE6DA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276600"/>
            <a:ext cx="2740025" cy="779463"/>
            <a:chOff x="3120" y="2064"/>
            <a:chExt cx="1726" cy="491"/>
          </a:xfrm>
        </p:grpSpPr>
        <p:sp>
          <p:nvSpPr>
            <p:cNvPr id="41993" name="Rectangle 10">
              <a:extLst>
                <a:ext uri="{FF2B5EF4-FFF2-40B4-BE49-F238E27FC236}">
                  <a16:creationId xmlns:a16="http://schemas.microsoft.com/office/drawing/2014/main" id="{2D0B45F9-1DCD-2942-B1AE-5B6794C71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2064"/>
              <a:ext cx="272" cy="272"/>
            </a:xfrm>
            <a:prstGeom prst="rect">
              <a:avLst/>
            </a:prstGeom>
            <a:solidFill>
              <a:srgbClr val="FFC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41994" name="Rectangle 11">
              <a:extLst>
                <a:ext uri="{FF2B5EF4-FFF2-40B4-BE49-F238E27FC236}">
                  <a16:creationId xmlns:a16="http://schemas.microsoft.com/office/drawing/2014/main" id="{0CBCAECE-BC27-8644-A079-65E71E875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064"/>
              <a:ext cx="848" cy="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995" name="Rectangle 12">
              <a:extLst>
                <a:ext uri="{FF2B5EF4-FFF2-40B4-BE49-F238E27FC236}">
                  <a16:creationId xmlns:a16="http://schemas.microsoft.com/office/drawing/2014/main" id="{17063673-AE34-8E4F-ADB2-E04227149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" y="2064"/>
              <a:ext cx="272" cy="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p</a:t>
              </a:r>
            </a:p>
          </p:txBody>
        </p:sp>
        <p:sp>
          <p:nvSpPr>
            <p:cNvPr id="41996" name="Rectangle 13">
              <a:extLst>
                <a:ext uri="{FF2B5EF4-FFF2-40B4-BE49-F238E27FC236}">
                  <a16:creationId xmlns:a16="http://schemas.microsoft.com/office/drawing/2014/main" id="{B952471F-2CA4-304D-BB33-D8B2CBF28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326"/>
              <a:ext cx="20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41997" name="Rectangle 14">
              <a:extLst>
                <a:ext uri="{FF2B5EF4-FFF2-40B4-BE49-F238E27FC236}">
                  <a16:creationId xmlns:a16="http://schemas.microsoft.com/office/drawing/2014/main" id="{96B5BD7B-89E1-3B42-B8A5-87D0337E8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326"/>
              <a:ext cx="20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41998" name="Rectangle 15">
              <a:extLst>
                <a:ext uri="{FF2B5EF4-FFF2-40B4-BE49-F238E27FC236}">
                  <a16:creationId xmlns:a16="http://schemas.microsoft.com/office/drawing/2014/main" id="{CD84AD5C-9F7E-3042-B6B3-87BDC74A6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326"/>
              <a:ext cx="28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16</a:t>
              </a:r>
            </a:p>
          </p:txBody>
        </p:sp>
        <p:sp>
          <p:nvSpPr>
            <p:cNvPr id="41999" name="Rectangle 16">
              <a:extLst>
                <a:ext uri="{FF2B5EF4-FFF2-40B4-BE49-F238E27FC236}">
                  <a16:creationId xmlns:a16="http://schemas.microsoft.com/office/drawing/2014/main" id="{696C089C-F3E1-8E4F-94E4-192815236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315"/>
              <a:ext cx="28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8FA37034-26F3-9E47-A0ED-F8E6A3074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6800"/>
            <a:ext cx="3133725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rec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a[3];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*p;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D8436CEB-96CB-6043-89A1-76B8C030A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029200"/>
            <a:ext cx="5089525" cy="1200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	# %ecx = idx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# %edx = r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0(,%ecx,4),%eax	# 4*idx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4(%eax,%edx),%eax	# r+4*idx+4</a:t>
            </a:r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215A83DC-4362-6C44-BC87-BCD6CBC56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3200400"/>
            <a:ext cx="5334000" cy="119697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*find_a(struct rec *r, int idx){</a:t>
            </a:r>
          </a:p>
          <a:p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1800">
                <a:latin typeface="Courier New" panose="02070309020205020404" pitchFamily="49" charset="0"/>
              </a:rPr>
              <a:t>  return &amp;r-&gt;a[idx];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B06D467-C608-A64A-A8F1-DEF270FFF3A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228600"/>
            <a:ext cx="9296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Generating </a:t>
            </a:r>
            <a:r>
              <a:rPr lang="en-US" sz="4400" b="0" dirty="0" err="1">
                <a:latin typeface="+mj-lt"/>
                <a:ea typeface="+mj-ea"/>
                <a:cs typeface="+mj-cs"/>
              </a:rPr>
              <a:t>Ptr</a:t>
            </a:r>
            <a:r>
              <a:rPr lang="en-US" sz="4400" b="0" dirty="0">
                <a:latin typeface="+mj-lt"/>
                <a:ea typeface="+mj-ea"/>
                <a:cs typeface="+mj-cs"/>
              </a:rPr>
              <a:t> to </a:t>
            </a:r>
            <a:r>
              <a:rPr lang="en-US" sz="4400" b="0" dirty="0" err="1">
                <a:latin typeface="+mj-lt"/>
                <a:ea typeface="+mj-ea"/>
                <a:cs typeface="+mj-cs"/>
              </a:rPr>
              <a:t>Struct</a:t>
            </a:r>
            <a:r>
              <a:rPr lang="en-US" sz="4400" b="0" dirty="0">
                <a:latin typeface="+mj-lt"/>
                <a:ea typeface="+mj-ea"/>
                <a:cs typeface="+mj-cs"/>
              </a:rPr>
              <a:t>. Member</a:t>
            </a:r>
          </a:p>
        </p:txBody>
      </p:sp>
      <p:sp>
        <p:nvSpPr>
          <p:cNvPr id="43013" name="Rectangle 6">
            <a:extLst>
              <a:ext uri="{FF2B5EF4-FFF2-40B4-BE49-F238E27FC236}">
                <a16:creationId xmlns:a16="http://schemas.microsoft.com/office/drawing/2014/main" id="{DB869AE5-4CFA-8247-BE6B-DE2BCC3A7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2889250"/>
            <a:ext cx="39243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Generating Pointer to Array Element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Offset of each structure member determined at compile time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en-US" sz="2800" b="0">
              <a:latin typeface="Calibri" panose="020F0502020204030204" pitchFamily="34" charset="0"/>
            </a:endParaRPr>
          </a:p>
        </p:txBody>
      </p:sp>
      <p:sp>
        <p:nvSpPr>
          <p:cNvPr id="43014" name="Rectangle 8">
            <a:extLst>
              <a:ext uri="{FF2B5EF4-FFF2-40B4-BE49-F238E27FC236}">
                <a16:creationId xmlns:a16="http://schemas.microsoft.com/office/drawing/2014/main" id="{1B547C24-4146-DC46-A54D-D27EA7F8A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188" y="1447800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43015" name="Rectangle 9">
            <a:extLst>
              <a:ext uri="{FF2B5EF4-FFF2-40B4-BE49-F238E27FC236}">
                <a16:creationId xmlns:a16="http://schemas.microsoft.com/office/drawing/2014/main" id="{303B8201-92F0-4348-83AD-2FEF36B5D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388" y="1447800"/>
            <a:ext cx="1346200" cy="431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3016" name="Rectangle 10">
            <a:extLst>
              <a:ext uri="{FF2B5EF4-FFF2-40B4-BE49-F238E27FC236}">
                <a16:creationId xmlns:a16="http://schemas.microsoft.com/office/drawing/2014/main" id="{633D6B1D-1401-F744-8534-652E89899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1447800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43017" name="Rectangle 11">
            <a:extLst>
              <a:ext uri="{FF2B5EF4-FFF2-40B4-BE49-F238E27FC236}">
                <a16:creationId xmlns:a16="http://schemas.microsoft.com/office/drawing/2014/main" id="{CEAEFBAA-BDC8-1441-B3F4-3E40BC4ED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863725"/>
            <a:ext cx="3175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43018" name="Rectangle 12">
            <a:extLst>
              <a:ext uri="{FF2B5EF4-FFF2-40B4-BE49-F238E27FC236}">
                <a16:creationId xmlns:a16="http://schemas.microsoft.com/office/drawing/2014/main" id="{94F5EAF4-AA56-A942-9108-0D65C5207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863725"/>
            <a:ext cx="3175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43019" name="Rectangle 13">
            <a:extLst>
              <a:ext uri="{FF2B5EF4-FFF2-40B4-BE49-F238E27FC236}">
                <a16:creationId xmlns:a16="http://schemas.microsoft.com/office/drawing/2014/main" id="{3294157E-1C88-A948-85BC-DCFB61AAB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863725"/>
            <a:ext cx="4540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43020" name="Line 14">
            <a:extLst>
              <a:ext uri="{FF2B5EF4-FFF2-40B4-BE49-F238E27FC236}">
                <a16:creationId xmlns:a16="http://schemas.microsoft.com/office/drawing/2014/main" id="{45F1EFBD-35CA-3D49-B52E-5404022172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19050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1" name="Rectangle 15">
            <a:extLst>
              <a:ext uri="{FF2B5EF4-FFF2-40B4-BE49-F238E27FC236}">
                <a16:creationId xmlns:a16="http://schemas.microsoft.com/office/drawing/2014/main" id="{F8EF2B4E-F5AD-5C49-9605-403369F77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286000"/>
            <a:ext cx="1958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r + 4 + 4*idx</a:t>
            </a:r>
          </a:p>
        </p:txBody>
      </p:sp>
      <p:sp>
        <p:nvSpPr>
          <p:cNvPr id="43022" name="Line 16">
            <a:extLst>
              <a:ext uri="{FF2B5EF4-FFF2-40B4-BE49-F238E27FC236}">
                <a16:creationId xmlns:a16="http://schemas.microsoft.com/office/drawing/2014/main" id="{B2C56C13-1E9E-9C46-B1F5-82C745DB7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0668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3" name="Rectangle 17">
            <a:extLst>
              <a:ext uri="{FF2B5EF4-FFF2-40B4-BE49-F238E27FC236}">
                <a16:creationId xmlns:a16="http://schemas.microsoft.com/office/drawing/2014/main" id="{3BC8F2A0-DB18-1645-B9EB-58407EA9B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68580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43024" name="Rectangle 18">
            <a:extLst>
              <a:ext uri="{FF2B5EF4-FFF2-40B4-BE49-F238E27FC236}">
                <a16:creationId xmlns:a16="http://schemas.microsoft.com/office/drawing/2014/main" id="{38DA43DC-9D6C-3840-93FF-5BF02DD1E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447800"/>
            <a:ext cx="431800" cy="431800"/>
          </a:xfrm>
          <a:prstGeom prst="rect">
            <a:avLst/>
          </a:prstGeom>
          <a:solidFill>
            <a:srgbClr val="9999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latin typeface="Courier New" panose="02070309020205020404" pitchFamily="49" charset="0"/>
            </a:endParaRPr>
          </a:p>
        </p:txBody>
      </p:sp>
      <p:sp>
        <p:nvSpPr>
          <p:cNvPr id="43025" name="Rectangle 19">
            <a:extLst>
              <a:ext uri="{FF2B5EF4-FFF2-40B4-BE49-F238E27FC236}">
                <a16:creationId xmlns:a16="http://schemas.microsoft.com/office/drawing/2014/main" id="{84AF0D73-61DD-264E-AF1E-BB211B279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447800"/>
            <a:ext cx="1346200" cy="43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9326DC31-18C1-9B45-B35A-8839CBBC1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55775"/>
            <a:ext cx="2971800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rec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a[3];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*p;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E1F69CC9-AFD3-4547-A102-2C660BF60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114800"/>
            <a:ext cx="5410200" cy="147478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  <a:tab pos="32639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 # %edx = r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(%edx),%ecx	# r-&gt;i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0(,%ecx,4),%eax	# 4*(r-&gt;i)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4(%edx,%eax),%eax	# r+4+4*(r-&gt;i)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movl %eax,16(%edx)	# Update r-&gt;p</a:t>
            </a:r>
          </a:p>
        </p:txBody>
      </p:sp>
      <p:sp>
        <p:nvSpPr>
          <p:cNvPr id="44035" name="Rectangle 4">
            <a:extLst>
              <a:ext uri="{FF2B5EF4-FFF2-40B4-BE49-F238E27FC236}">
                <a16:creationId xmlns:a16="http://schemas.microsoft.com/office/drawing/2014/main" id="{EAC295E0-EC7A-4F40-BE0A-BB4BB4217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432175"/>
            <a:ext cx="2968625" cy="17494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void 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set_p(struct rec *r)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r-&gt;p =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&amp;r-&gt;a[r-&gt;i];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EAAB61B-2044-E74A-BF95-20984AE76C83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28600"/>
            <a:ext cx="87630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Structure Referencing (Cont.)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43152EA-7DA9-2B41-B3A8-2F335B5B4B0A}"/>
              </a:ext>
            </a:extLst>
          </p:cNvPr>
          <p:cNvSpPr txBox="1">
            <a:spLocks noChangeArrowheads="1"/>
          </p:cNvSpPr>
          <p:nvPr/>
        </p:nvSpPr>
        <p:spPr>
          <a:xfrm>
            <a:off x="290513" y="990600"/>
            <a:ext cx="8307387" cy="545465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+mn-lt"/>
                <a:ea typeface="+mn-ea"/>
                <a:cs typeface="ＭＳ Ｐゴシック" charset="0"/>
              </a:rPr>
              <a:t>C Code</a:t>
            </a:r>
          </a:p>
        </p:txBody>
      </p:sp>
      <p:grpSp>
        <p:nvGrpSpPr>
          <p:cNvPr id="44038" name="Group 7">
            <a:extLst>
              <a:ext uri="{FF2B5EF4-FFF2-40B4-BE49-F238E27FC236}">
                <a16:creationId xmlns:a16="http://schemas.microsoft.com/office/drawing/2014/main" id="{2D2AE51C-1C02-AA4D-A097-12B83C91E84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057400"/>
            <a:ext cx="2439988" cy="1447800"/>
            <a:chOff x="2880" y="1296"/>
            <a:chExt cx="1537" cy="912"/>
          </a:xfrm>
        </p:grpSpPr>
        <p:grpSp>
          <p:nvGrpSpPr>
            <p:cNvPr id="44046" name="Group 8">
              <a:extLst>
                <a:ext uri="{FF2B5EF4-FFF2-40B4-BE49-F238E27FC236}">
                  <a16:creationId xmlns:a16="http://schemas.microsoft.com/office/drawing/2014/main" id="{86CF6E39-A717-8847-BAC1-9751B7B55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440"/>
              <a:ext cx="1537" cy="491"/>
              <a:chOff x="3120" y="2064"/>
              <a:chExt cx="1537" cy="491"/>
            </a:xfrm>
          </p:grpSpPr>
          <p:sp>
            <p:nvSpPr>
              <p:cNvPr id="44051" name="Rectangle 9">
                <a:extLst>
                  <a:ext uri="{FF2B5EF4-FFF2-40B4-BE49-F238E27FC236}">
                    <a16:creationId xmlns:a16="http://schemas.microsoft.com/office/drawing/2014/main" id="{B547DE79-FF3D-7D43-B1BD-81EBFCD73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3" y="2064"/>
                <a:ext cx="272" cy="27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i</a:t>
                </a:r>
              </a:p>
            </p:txBody>
          </p:sp>
          <p:sp>
            <p:nvSpPr>
              <p:cNvPr id="44052" name="Rectangle 10">
                <a:extLst>
                  <a:ext uri="{FF2B5EF4-FFF2-40B4-BE49-F238E27FC236}">
                    <a16:creationId xmlns:a16="http://schemas.microsoft.com/office/drawing/2014/main" id="{13288B10-8355-A142-9A4C-D9EF2D912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1" y="2064"/>
                <a:ext cx="848" cy="27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44053" name="Rectangle 11">
                <a:extLst>
                  <a:ext uri="{FF2B5EF4-FFF2-40B4-BE49-F238E27FC236}">
                    <a16:creationId xmlns:a16="http://schemas.microsoft.com/office/drawing/2014/main" id="{2D200AF8-31DD-2C47-ADBB-7E2D23E25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2064"/>
                <a:ext cx="272" cy="27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Courier New" panose="02070309020205020404" pitchFamily="49" charset="0"/>
                </a:endParaRPr>
              </a:p>
            </p:txBody>
          </p:sp>
          <p:sp>
            <p:nvSpPr>
              <p:cNvPr id="44054" name="Rectangle 12">
                <a:extLst>
                  <a:ext uri="{FF2B5EF4-FFF2-40B4-BE49-F238E27FC236}">
                    <a16:creationId xmlns:a16="http://schemas.microsoft.com/office/drawing/2014/main" id="{CB799AE8-0045-654F-ABB7-16F5D38CB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326"/>
                <a:ext cx="200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44055" name="Rectangle 13">
                <a:extLst>
                  <a:ext uri="{FF2B5EF4-FFF2-40B4-BE49-F238E27FC236}">
                    <a16:creationId xmlns:a16="http://schemas.microsoft.com/office/drawing/2014/main" id="{5EEC4395-94E4-7D45-BF35-953450445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326"/>
                <a:ext cx="200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4056" name="Rectangle 14">
                <a:extLst>
                  <a:ext uri="{FF2B5EF4-FFF2-40B4-BE49-F238E27FC236}">
                    <a16:creationId xmlns:a16="http://schemas.microsoft.com/office/drawing/2014/main" id="{304C244B-93C4-EE40-A177-0EE259DDA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326"/>
                <a:ext cx="2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16</a:t>
                </a:r>
              </a:p>
            </p:txBody>
          </p:sp>
        </p:grpSp>
        <p:sp>
          <p:nvSpPr>
            <p:cNvPr id="44047" name="Oval 15">
              <a:extLst>
                <a:ext uri="{FF2B5EF4-FFF2-40B4-BE49-F238E27FC236}">
                  <a16:creationId xmlns:a16="http://schemas.microsoft.com/office/drawing/2014/main" id="{AB968F72-C8F9-2542-9DAD-1538A3A5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53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048" name="Freeform 16">
              <a:extLst>
                <a:ext uri="{FF2B5EF4-FFF2-40B4-BE49-F238E27FC236}">
                  <a16:creationId xmlns:a16="http://schemas.microsoft.com/office/drawing/2014/main" id="{F3754ECE-50CD-B44E-83CA-57D78256D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1296"/>
              <a:ext cx="624" cy="288"/>
            </a:xfrm>
            <a:custGeom>
              <a:avLst/>
              <a:gdLst>
                <a:gd name="T0" fmla="*/ 624 w 624"/>
                <a:gd name="T1" fmla="*/ 288 h 288"/>
                <a:gd name="T2" fmla="*/ 576 w 624"/>
                <a:gd name="T3" fmla="*/ 0 h 288"/>
                <a:gd name="T4" fmla="*/ 96 w 624"/>
                <a:gd name="T5" fmla="*/ 0 h 288"/>
                <a:gd name="T6" fmla="*/ 0 w 624"/>
                <a:gd name="T7" fmla="*/ 144 h 2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288"/>
                <a:gd name="T14" fmla="*/ 624 w 624"/>
                <a:gd name="T15" fmla="*/ 288 h 2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288">
                  <a:moveTo>
                    <a:pt x="624" y="288"/>
                  </a:moveTo>
                  <a:lnTo>
                    <a:pt x="576" y="0"/>
                  </a:lnTo>
                  <a:lnTo>
                    <a:pt x="96" y="0"/>
                  </a:lnTo>
                  <a:lnTo>
                    <a:pt x="0" y="14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9" name="Line 17">
              <a:extLst>
                <a:ext uri="{FF2B5EF4-FFF2-40B4-BE49-F238E27FC236}">
                  <a16:creationId xmlns:a16="http://schemas.microsoft.com/office/drawing/2014/main" id="{C6D59BB0-C718-E842-B9C1-EFDBC80A05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728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0" name="Rectangle 18">
              <a:extLst>
                <a:ext uri="{FF2B5EF4-FFF2-40B4-BE49-F238E27FC236}">
                  <a16:creationId xmlns:a16="http://schemas.microsoft.com/office/drawing/2014/main" id="{018CCB9C-EDFE-AE43-A7D0-9521F22C3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968"/>
              <a:ext cx="96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Element </a:t>
              </a:r>
              <a:r>
                <a:rPr lang="en-US" altLang="en-US">
                  <a:latin typeface="Courier New" panose="02070309020205020404" pitchFamily="49" charset="0"/>
                </a:rPr>
                <a:t>i</a:t>
              </a:r>
              <a:endParaRPr lang="en-US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4039" name="Group 19">
            <a:extLst>
              <a:ext uri="{FF2B5EF4-FFF2-40B4-BE49-F238E27FC236}">
                <a16:creationId xmlns:a16="http://schemas.microsoft.com/office/drawing/2014/main" id="{916FFBBB-A69C-664C-A665-2B31488895A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219200"/>
            <a:ext cx="2439988" cy="779463"/>
            <a:chOff x="3120" y="2064"/>
            <a:chExt cx="1537" cy="491"/>
          </a:xfrm>
        </p:grpSpPr>
        <p:sp>
          <p:nvSpPr>
            <p:cNvPr id="44040" name="Rectangle 20">
              <a:extLst>
                <a:ext uri="{FF2B5EF4-FFF2-40B4-BE49-F238E27FC236}">
                  <a16:creationId xmlns:a16="http://schemas.microsoft.com/office/drawing/2014/main" id="{EC59A623-3152-8943-AF2D-1B70733E2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2064"/>
              <a:ext cx="272" cy="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44041" name="Rectangle 21">
              <a:extLst>
                <a:ext uri="{FF2B5EF4-FFF2-40B4-BE49-F238E27FC236}">
                  <a16:creationId xmlns:a16="http://schemas.microsoft.com/office/drawing/2014/main" id="{3148AF1A-0EF4-9E44-96A8-0D9698933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064"/>
              <a:ext cx="848" cy="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042" name="Rectangle 22">
              <a:extLst>
                <a:ext uri="{FF2B5EF4-FFF2-40B4-BE49-F238E27FC236}">
                  <a16:creationId xmlns:a16="http://schemas.microsoft.com/office/drawing/2014/main" id="{FE0A95EE-3CB4-6F4E-8B8E-07996663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" y="2064"/>
              <a:ext cx="272" cy="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p</a:t>
              </a:r>
            </a:p>
          </p:txBody>
        </p:sp>
        <p:sp>
          <p:nvSpPr>
            <p:cNvPr id="44043" name="Rectangle 23">
              <a:extLst>
                <a:ext uri="{FF2B5EF4-FFF2-40B4-BE49-F238E27FC236}">
                  <a16:creationId xmlns:a16="http://schemas.microsoft.com/office/drawing/2014/main" id="{A257DE4F-97A7-D049-BA3E-2E7B2E74E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326"/>
              <a:ext cx="20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44044" name="Rectangle 24">
              <a:extLst>
                <a:ext uri="{FF2B5EF4-FFF2-40B4-BE49-F238E27FC236}">
                  <a16:creationId xmlns:a16="http://schemas.microsoft.com/office/drawing/2014/main" id="{BC981FF4-EB1B-8044-ABA5-76E61FBEA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326"/>
              <a:ext cx="20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44045" name="Rectangle 25">
              <a:extLst>
                <a:ext uri="{FF2B5EF4-FFF2-40B4-BE49-F238E27FC236}">
                  <a16:creationId xmlns:a16="http://schemas.microsoft.com/office/drawing/2014/main" id="{F3951432-AC62-F84C-B893-BABF39E20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326"/>
              <a:ext cx="28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9CFA3B6-E5FB-B04B-B76A-BAB1A06CC037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5170488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Alignment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F302EC7-4BE9-834A-9A92-926BB9101287}"/>
              </a:ext>
            </a:extLst>
          </p:cNvPr>
          <p:cNvSpPr txBox="1">
            <a:spLocks noChangeArrowheads="1"/>
          </p:cNvSpPr>
          <p:nvPr/>
        </p:nvSpPr>
        <p:spPr>
          <a:xfrm>
            <a:off x="290513" y="1220788"/>
            <a:ext cx="8307387" cy="5224462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+mn-lt"/>
                <a:ea typeface="+mn-ea"/>
                <a:cs typeface="ＭＳ Ｐゴシック" charset="0"/>
              </a:rPr>
              <a:t>Aligned Data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Primitive data type requires K bytes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Address must be multiple of K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Required on some machines; advised on IA32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treated differently by Linux and Windows!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+mn-lt"/>
                <a:ea typeface="+mn-ea"/>
                <a:cs typeface="ＭＳ Ｐゴシック" charset="0"/>
              </a:rPr>
              <a:t>Motivation for Aligning Data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Memory accessed by (aligned) double or quad-words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Inefficient to load or store datum that spans quad word boundaries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Virtual memory very tricky when datum spans 2 pages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+mn-lt"/>
                <a:ea typeface="+mn-ea"/>
                <a:cs typeface="ＭＳ Ｐゴシック" charset="0"/>
              </a:rPr>
              <a:t>Compiler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Inserts gaps in structure to ensure correct alignment of fields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9C8A97C-842E-4649-B09E-FB049D47F42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8600"/>
            <a:ext cx="86868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Specific Cases of Alignment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104FE61B-FA2D-744A-A1BD-1D4F19ACA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914400"/>
            <a:ext cx="5729287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971550" indent="-296863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252538" indent="-16668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Size of Primitive Data Type: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 u="sng">
                <a:latin typeface="Calibri" panose="020F0502020204030204" pitchFamily="34" charset="0"/>
              </a:rPr>
              <a:t>1 byte</a:t>
            </a:r>
            <a:r>
              <a:rPr lang="en-US" altLang="en-US" sz="2000" b="0">
                <a:latin typeface="Calibri" panose="020F0502020204030204" pitchFamily="34" charset="0"/>
              </a:rPr>
              <a:t> (e.g., </a:t>
            </a:r>
            <a:r>
              <a:rPr lang="en-US" altLang="en-US" sz="2000" b="0">
                <a:latin typeface="Courier New" panose="02070309020205020404" pitchFamily="49" charset="0"/>
              </a:rPr>
              <a:t>char)</a:t>
            </a:r>
          </a:p>
          <a:p>
            <a:pPr lvl="2">
              <a:lnSpc>
                <a:spcPct val="97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no restrictions on address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 u="sng">
                <a:latin typeface="Calibri" panose="020F0502020204030204" pitchFamily="34" charset="0"/>
              </a:rPr>
              <a:t>2 bytes</a:t>
            </a:r>
            <a:r>
              <a:rPr lang="en-US" altLang="en-US" sz="2000" b="0">
                <a:latin typeface="Calibri" panose="020F0502020204030204" pitchFamily="34" charset="0"/>
              </a:rPr>
              <a:t> (e.g., </a:t>
            </a:r>
            <a:r>
              <a:rPr lang="en-US" altLang="en-US" sz="2000" b="0">
                <a:latin typeface="Courier New" panose="02070309020205020404" pitchFamily="49" charset="0"/>
              </a:rPr>
              <a:t>short</a:t>
            </a:r>
            <a:r>
              <a:rPr lang="en-US" altLang="en-US" sz="2000" b="0">
                <a:latin typeface="Calibri" panose="020F0502020204030204" pitchFamily="34" charset="0"/>
              </a:rPr>
              <a:t>)</a:t>
            </a:r>
          </a:p>
          <a:p>
            <a:pPr lvl="2">
              <a:lnSpc>
                <a:spcPct val="97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lowest 1 bit of address must be 0</a:t>
            </a:r>
            <a:r>
              <a:rPr lang="en-US" altLang="en-US" sz="2000" b="0" baseline="-25000">
                <a:latin typeface="Calibri" panose="020F0502020204030204" pitchFamily="34" charset="0"/>
              </a:rPr>
              <a:t>2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 u="sng">
                <a:latin typeface="Calibri" panose="020F0502020204030204" pitchFamily="34" charset="0"/>
              </a:rPr>
              <a:t>4 bytes</a:t>
            </a:r>
            <a:r>
              <a:rPr lang="en-US" altLang="en-US" sz="2000" b="0">
                <a:latin typeface="Calibri" panose="020F0502020204030204" pitchFamily="34" charset="0"/>
              </a:rPr>
              <a:t> (e.g., </a:t>
            </a:r>
            <a:r>
              <a:rPr lang="en-US" altLang="en-US" sz="2000" b="0">
                <a:latin typeface="Courier New" panose="02070309020205020404" pitchFamily="49" charset="0"/>
              </a:rPr>
              <a:t>int</a:t>
            </a:r>
            <a:r>
              <a:rPr lang="en-US" altLang="en-US" sz="2000" b="0">
                <a:latin typeface="Calibri" panose="020F0502020204030204" pitchFamily="34" charset="0"/>
              </a:rPr>
              <a:t>, </a:t>
            </a:r>
            <a:r>
              <a:rPr lang="en-US" altLang="en-US" sz="2000" b="0">
                <a:latin typeface="Courier New" panose="02070309020205020404" pitchFamily="49" charset="0"/>
              </a:rPr>
              <a:t>float</a:t>
            </a:r>
            <a:r>
              <a:rPr lang="en-US" altLang="en-US" sz="2000" b="0">
                <a:latin typeface="Calibri" panose="020F0502020204030204" pitchFamily="34" charset="0"/>
              </a:rPr>
              <a:t>, </a:t>
            </a:r>
            <a:r>
              <a:rPr lang="en-US" altLang="en-US" sz="2000" b="0">
                <a:latin typeface="Courier New" panose="02070309020205020404" pitchFamily="49" charset="0"/>
              </a:rPr>
              <a:t>char *</a:t>
            </a:r>
            <a:r>
              <a:rPr lang="en-US" altLang="en-US" sz="2000" b="0">
                <a:latin typeface="Calibri" panose="020F0502020204030204" pitchFamily="34" charset="0"/>
              </a:rPr>
              <a:t>, etc.)</a:t>
            </a:r>
          </a:p>
          <a:p>
            <a:pPr lvl="2">
              <a:lnSpc>
                <a:spcPct val="97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lowest 2 bits of address must be 00</a:t>
            </a:r>
            <a:r>
              <a:rPr lang="en-US" altLang="en-US" sz="2000" b="0" baseline="-25000">
                <a:latin typeface="Calibri" panose="020F0502020204030204" pitchFamily="34" charset="0"/>
              </a:rPr>
              <a:t>2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 u="sng">
                <a:latin typeface="Calibri" panose="020F0502020204030204" pitchFamily="34" charset="0"/>
              </a:rPr>
              <a:t>8 bytes</a:t>
            </a:r>
            <a:r>
              <a:rPr lang="en-US" altLang="en-US" sz="2000" b="0">
                <a:latin typeface="Calibri" panose="020F0502020204030204" pitchFamily="34" charset="0"/>
              </a:rPr>
              <a:t> (e.g., </a:t>
            </a:r>
            <a:r>
              <a:rPr lang="en-US" altLang="en-US" sz="2000" b="0">
                <a:latin typeface="Courier New" panose="02070309020205020404" pitchFamily="49" charset="0"/>
              </a:rPr>
              <a:t>double</a:t>
            </a:r>
            <a:r>
              <a:rPr lang="en-US" altLang="en-US" sz="2000" b="0">
                <a:latin typeface="Calibri" panose="020F0502020204030204" pitchFamily="34" charset="0"/>
              </a:rPr>
              <a:t>)</a:t>
            </a:r>
          </a:p>
          <a:p>
            <a:pPr lvl="2">
              <a:lnSpc>
                <a:spcPct val="97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Windows (and most other OS</a:t>
            </a:r>
            <a:r>
              <a:rPr lang="ja-JP" altLang="en-US" sz="2000" b="0">
                <a:latin typeface="Calibri" panose="020F0502020204030204" pitchFamily="34" charset="0"/>
              </a:rPr>
              <a:t>’</a:t>
            </a:r>
            <a:r>
              <a:rPr lang="en-US" altLang="ja-JP" sz="2000" b="0">
                <a:latin typeface="Calibri" panose="020F0502020204030204" pitchFamily="34" charset="0"/>
              </a:rPr>
              <a:t>s &amp; instruction sets):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lowest 3 bits of address must be 000</a:t>
            </a:r>
            <a:r>
              <a:rPr lang="en-US" altLang="en-US" sz="2000" b="0" baseline="-25000">
                <a:latin typeface="Calibri" panose="020F0502020204030204" pitchFamily="34" charset="0"/>
              </a:rPr>
              <a:t>2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 u="sng">
                <a:latin typeface="Calibri" panose="020F0502020204030204" pitchFamily="34" charset="0"/>
              </a:rPr>
              <a:t>12 bytes</a:t>
            </a:r>
            <a:r>
              <a:rPr lang="en-US" altLang="en-US" sz="2000" b="0">
                <a:latin typeface="Calibri" panose="020F0502020204030204" pitchFamily="34" charset="0"/>
              </a:rPr>
              <a:t> (</a:t>
            </a:r>
            <a:r>
              <a:rPr lang="en-US" altLang="en-US" sz="2000" b="0">
                <a:latin typeface="Courier New" panose="02070309020205020404" pitchFamily="49" charset="0"/>
              </a:rPr>
              <a:t>long double</a:t>
            </a:r>
            <a:r>
              <a:rPr lang="en-US" altLang="en-US" sz="2000" b="0">
                <a:latin typeface="Calibri" panose="020F0502020204030204" pitchFamily="34" charset="0"/>
              </a:rPr>
              <a:t>)</a:t>
            </a:r>
          </a:p>
          <a:p>
            <a:pPr lvl="2">
              <a:lnSpc>
                <a:spcPct val="97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Linux: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lowest 2 bits of address must be 00</a:t>
            </a:r>
            <a:r>
              <a:rPr lang="en-US" altLang="en-US" sz="2000" b="0" baseline="-25000">
                <a:latin typeface="Calibri" panose="020F0502020204030204" pitchFamily="34" charset="0"/>
              </a:rPr>
              <a:t>2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i.e., treated the same as a 4-byte primitive data type</a:t>
            </a:r>
            <a:endParaRPr lang="en-US" altLang="en-US" sz="2000" b="0" baseline="-25000">
              <a:latin typeface="Calibri" panose="020F0502020204030204" pitchFamily="34" charset="0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57AB52B-A31C-1D49-AE7C-2F5E42E00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657600"/>
            <a:ext cx="3733800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60388" indent="-2222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7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Linux: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lowest 2 bits of address must be 00</a:t>
            </a:r>
            <a:r>
              <a:rPr lang="en-US" altLang="en-US" sz="2000" b="0" baseline="-25000">
                <a:latin typeface="Calibri" panose="020F0502020204030204" pitchFamily="34" charset="0"/>
              </a:rPr>
              <a:t>2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i.e., treated the same as a 4-byte primitive data type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602776E8-65FB-4A45-85D6-6ED8FB025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810000"/>
            <a:ext cx="2286000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S1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double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*p;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05A681A-05B0-7146-A05C-F84299C09B3A}"/>
              </a:ext>
            </a:extLst>
          </p:cNvPr>
          <p:cNvSpPr txBox="1">
            <a:spLocks noChangeArrowheads="1"/>
          </p:cNvSpPr>
          <p:nvPr/>
        </p:nvSpPr>
        <p:spPr>
          <a:xfrm>
            <a:off x="376238" y="228600"/>
            <a:ext cx="9529762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Alignment with Structures</a:t>
            </a:r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2A398CAF-AEBA-C84B-BA5D-78CA1FF7A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7100888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Offsets Within Structure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Must satisfy element</a:t>
            </a:r>
            <a:r>
              <a:rPr lang="ja-JP" altLang="en-US" sz="2000" b="0">
                <a:latin typeface="Calibri" panose="020F0502020204030204" pitchFamily="34" charset="0"/>
              </a:rPr>
              <a:t>’</a:t>
            </a:r>
            <a:r>
              <a:rPr lang="en-US" altLang="ja-JP" sz="2000" b="0">
                <a:latin typeface="Calibri" panose="020F0502020204030204" pitchFamily="34" charset="0"/>
              </a:rPr>
              <a:t>s alignment requirement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Overall Structure Placement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Each structure has alignment requirement K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Largest alignment of any element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Initial address &amp; structure length must be multiples of 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66A1B36-C947-3C47-BA9A-4AA6120B19E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28600"/>
            <a:ext cx="6092825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Linux vs. Windows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08B7691B-439C-DC4E-AD1E-93D0E8EF3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1220788"/>
            <a:ext cx="8307387" cy="522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3200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Windows (including Cygwin):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K = 8, due to </a:t>
            </a:r>
            <a:r>
              <a:rPr lang="en-US" altLang="en-US" sz="2000" b="0">
                <a:latin typeface="Courier New" panose="02070309020205020404" pitchFamily="49" charset="0"/>
              </a:rPr>
              <a:t>double</a:t>
            </a:r>
            <a:r>
              <a:rPr lang="en-US" altLang="en-US" sz="2000" b="0">
                <a:latin typeface="Calibri" panose="020F0502020204030204" pitchFamily="34" charset="0"/>
              </a:rPr>
              <a:t> element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b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Linux: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K = 4; </a:t>
            </a:r>
            <a:r>
              <a:rPr lang="en-US" altLang="en-US" sz="2000" b="0">
                <a:latin typeface="Courier New" panose="02070309020205020404" pitchFamily="49" charset="0"/>
              </a:rPr>
              <a:t>double</a:t>
            </a:r>
            <a:r>
              <a:rPr lang="en-US" altLang="en-US" sz="2000" b="0">
                <a:latin typeface="Calibri" panose="020F0502020204030204" pitchFamily="34" charset="0"/>
              </a:rPr>
              <a:t> treated like a 4-byte data type</a:t>
            </a:r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404EF113-EC36-3848-9E59-4E31D51CF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838200"/>
            <a:ext cx="2214563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S1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double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*p;</a:t>
            </a:r>
          </a:p>
        </p:txBody>
      </p:sp>
      <p:grpSp>
        <p:nvGrpSpPr>
          <p:cNvPr id="48132" name="Group 47">
            <a:extLst>
              <a:ext uri="{FF2B5EF4-FFF2-40B4-BE49-F238E27FC236}">
                <a16:creationId xmlns:a16="http://schemas.microsoft.com/office/drawing/2014/main" id="{7D4AC614-B308-0F49-83D0-917C7A6DCCD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667000"/>
            <a:ext cx="8045450" cy="1524000"/>
            <a:chOff x="452" y="1680"/>
            <a:chExt cx="5068" cy="960"/>
          </a:xfrm>
        </p:grpSpPr>
        <p:sp>
          <p:nvSpPr>
            <p:cNvPr id="48152" name="Rectangle 7">
              <a:extLst>
                <a:ext uri="{FF2B5EF4-FFF2-40B4-BE49-F238E27FC236}">
                  <a16:creationId xmlns:a16="http://schemas.microsoft.com/office/drawing/2014/main" id="{BE3ABD15-7865-184B-A6E2-A1D41B8C6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" y="1680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48153" name="Rectangle 8">
              <a:extLst>
                <a:ext uri="{FF2B5EF4-FFF2-40B4-BE49-F238E27FC236}">
                  <a16:creationId xmlns:a16="http://schemas.microsoft.com/office/drawing/2014/main" id="{D72DE7D6-650D-6941-ACEC-8533A0AA0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" y="1680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48154" name="Rectangle 9">
              <a:extLst>
                <a:ext uri="{FF2B5EF4-FFF2-40B4-BE49-F238E27FC236}">
                  <a16:creationId xmlns:a16="http://schemas.microsoft.com/office/drawing/2014/main" id="{DCA9655E-C392-8740-B2C2-65FBCB309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" y="1680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48155" name="Rectangle 10">
              <a:extLst>
                <a:ext uri="{FF2B5EF4-FFF2-40B4-BE49-F238E27FC236}">
                  <a16:creationId xmlns:a16="http://schemas.microsoft.com/office/drawing/2014/main" id="{BE2F0DBF-DEA5-3941-A715-07FE1C5CD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" y="1680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v</a:t>
              </a:r>
            </a:p>
          </p:txBody>
        </p:sp>
        <p:sp>
          <p:nvSpPr>
            <p:cNvPr id="48156" name="Rectangle 11">
              <a:extLst>
                <a:ext uri="{FF2B5EF4-FFF2-40B4-BE49-F238E27FC236}">
                  <a16:creationId xmlns:a16="http://schemas.microsoft.com/office/drawing/2014/main" id="{AF5B5DDA-B205-3E4F-8062-A71474F1D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1680"/>
              <a:ext cx="560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57" name="Rectangle 12">
              <a:extLst>
                <a:ext uri="{FF2B5EF4-FFF2-40B4-BE49-F238E27FC236}">
                  <a16:creationId xmlns:a16="http://schemas.microsoft.com/office/drawing/2014/main" id="{B9F60B3D-0D2C-6541-A89A-EE0414BA9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80"/>
              <a:ext cx="752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58" name="Rectangle 13">
              <a:extLst>
                <a:ext uri="{FF2B5EF4-FFF2-40B4-BE49-F238E27FC236}">
                  <a16:creationId xmlns:a16="http://schemas.microsoft.com/office/drawing/2014/main" id="{C8EF7060-AE96-B444-965F-37FFA9BAF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" y="1872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p+0</a:t>
              </a:r>
            </a:p>
          </p:txBody>
        </p:sp>
        <p:sp>
          <p:nvSpPr>
            <p:cNvPr id="48159" name="Rectangle 14">
              <a:extLst>
                <a:ext uri="{FF2B5EF4-FFF2-40B4-BE49-F238E27FC236}">
                  <a16:creationId xmlns:a16="http://schemas.microsoft.com/office/drawing/2014/main" id="{D217DA49-A492-6C45-BF6D-DBC2B1426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872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p+4</a:t>
              </a:r>
            </a:p>
          </p:txBody>
        </p:sp>
        <p:sp>
          <p:nvSpPr>
            <p:cNvPr id="48160" name="Rectangle 15">
              <a:extLst>
                <a:ext uri="{FF2B5EF4-FFF2-40B4-BE49-F238E27FC236}">
                  <a16:creationId xmlns:a16="http://schemas.microsoft.com/office/drawing/2014/main" id="{08DBB7D7-49DD-3040-878E-74108861F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872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p+8</a:t>
              </a:r>
            </a:p>
          </p:txBody>
        </p:sp>
        <p:sp>
          <p:nvSpPr>
            <p:cNvPr id="48161" name="Rectangle 16">
              <a:extLst>
                <a:ext uri="{FF2B5EF4-FFF2-40B4-BE49-F238E27FC236}">
                  <a16:creationId xmlns:a16="http://schemas.microsoft.com/office/drawing/2014/main" id="{5E1FC60C-3EDE-5A4A-A880-0AB041E07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6" y="1872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p+16</a:t>
              </a:r>
            </a:p>
          </p:txBody>
        </p:sp>
        <p:sp>
          <p:nvSpPr>
            <p:cNvPr id="48162" name="Rectangle 17">
              <a:extLst>
                <a:ext uri="{FF2B5EF4-FFF2-40B4-BE49-F238E27FC236}">
                  <a16:creationId xmlns:a16="http://schemas.microsoft.com/office/drawing/2014/main" id="{014181B8-6E8F-F34E-BC2B-74F2031B8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1872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p+24</a:t>
              </a:r>
            </a:p>
          </p:txBody>
        </p:sp>
        <p:sp>
          <p:nvSpPr>
            <p:cNvPr id="48163" name="Line 18">
              <a:extLst>
                <a:ext uri="{FF2B5EF4-FFF2-40B4-BE49-F238E27FC236}">
                  <a16:creationId xmlns:a16="http://schemas.microsoft.com/office/drawing/2014/main" id="{BF0C4437-EC1F-E44D-AD5D-10BE15712F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064"/>
              <a:ext cx="9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4" name="Rectangle 19">
              <a:extLst>
                <a:ext uri="{FF2B5EF4-FFF2-40B4-BE49-F238E27FC236}">
                  <a16:creationId xmlns:a16="http://schemas.microsoft.com/office/drawing/2014/main" id="{D0DDF005-E406-9048-8153-159A2B4B4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208"/>
              <a:ext cx="129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Multiple of 4</a:t>
              </a:r>
            </a:p>
          </p:txBody>
        </p:sp>
        <p:sp>
          <p:nvSpPr>
            <p:cNvPr id="48165" name="Rectangle 20">
              <a:extLst>
                <a:ext uri="{FF2B5EF4-FFF2-40B4-BE49-F238E27FC236}">
                  <a16:creationId xmlns:a16="http://schemas.microsoft.com/office/drawing/2014/main" id="{A068185E-9496-0440-B031-BA299E4AA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" y="2352"/>
              <a:ext cx="115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en-US" sz="2000">
                  <a:solidFill>
                    <a:schemeClr val="tx2"/>
                  </a:solidFill>
                </a:rPr>
                <a:t>Multiple of 8</a:t>
              </a:r>
            </a:p>
          </p:txBody>
        </p:sp>
        <p:sp>
          <p:nvSpPr>
            <p:cNvPr id="48166" name="Line 21">
              <a:extLst>
                <a:ext uri="{FF2B5EF4-FFF2-40B4-BE49-F238E27FC236}">
                  <a16:creationId xmlns:a16="http://schemas.microsoft.com/office/drawing/2014/main" id="{48E98035-1C53-DB48-8E22-74035C6AF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6" y="2208"/>
              <a:ext cx="9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7" name="Rectangle 22">
              <a:extLst>
                <a:ext uri="{FF2B5EF4-FFF2-40B4-BE49-F238E27FC236}">
                  <a16:creationId xmlns:a16="http://schemas.microsoft.com/office/drawing/2014/main" id="{E36F5E09-2162-CD4F-9C4A-FD5AE067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4" y="2352"/>
              <a:ext cx="115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en-US" sz="2000">
                  <a:solidFill>
                    <a:schemeClr val="tx2"/>
                  </a:solidFill>
                </a:rPr>
                <a:t>Multiple of 8</a:t>
              </a:r>
            </a:p>
          </p:txBody>
        </p:sp>
        <p:sp>
          <p:nvSpPr>
            <p:cNvPr id="48168" name="Line 23">
              <a:extLst>
                <a:ext uri="{FF2B5EF4-FFF2-40B4-BE49-F238E27FC236}">
                  <a16:creationId xmlns:a16="http://schemas.microsoft.com/office/drawing/2014/main" id="{41C5476B-0288-2944-A1D8-FF21626A8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0" y="2208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9" name="Rectangle 24">
              <a:extLst>
                <a:ext uri="{FF2B5EF4-FFF2-40B4-BE49-F238E27FC236}">
                  <a16:creationId xmlns:a16="http://schemas.microsoft.com/office/drawing/2014/main" id="{26204F90-57A5-B546-B52F-F8238A2E0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400"/>
              <a:ext cx="10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30000"/>
                </a:spcBef>
              </a:pPr>
              <a:r>
                <a:rPr lang="en-US" altLang="en-US" sz="2000">
                  <a:solidFill>
                    <a:schemeClr val="tx2"/>
                  </a:solidFill>
                </a:rPr>
                <a:t>Multiple of 8</a:t>
              </a:r>
            </a:p>
          </p:txBody>
        </p:sp>
        <p:sp>
          <p:nvSpPr>
            <p:cNvPr id="48170" name="Line 25">
              <a:extLst>
                <a:ext uri="{FF2B5EF4-FFF2-40B4-BE49-F238E27FC236}">
                  <a16:creationId xmlns:a16="http://schemas.microsoft.com/office/drawing/2014/main" id="{5F352422-04D3-1441-AD63-1BAE5C0FF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2" y="2160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8133" name="Group 48">
            <a:extLst>
              <a:ext uri="{FF2B5EF4-FFF2-40B4-BE49-F238E27FC236}">
                <a16:creationId xmlns:a16="http://schemas.microsoft.com/office/drawing/2014/main" id="{964D0424-0538-2C4A-A175-BF4E8E402206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5105400"/>
            <a:ext cx="6867525" cy="1447800"/>
            <a:chOff x="528" y="3216"/>
            <a:chExt cx="4326" cy="912"/>
          </a:xfrm>
        </p:grpSpPr>
        <p:sp>
          <p:nvSpPr>
            <p:cNvPr id="48134" name="Rectangle 26">
              <a:extLst>
                <a:ext uri="{FF2B5EF4-FFF2-40B4-BE49-F238E27FC236}">
                  <a16:creationId xmlns:a16="http://schemas.microsoft.com/office/drawing/2014/main" id="{174ECA42-A1F6-0941-84EA-960AE6745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3216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48135" name="Rectangle 27">
              <a:extLst>
                <a:ext uri="{FF2B5EF4-FFF2-40B4-BE49-F238E27FC236}">
                  <a16:creationId xmlns:a16="http://schemas.microsoft.com/office/drawing/2014/main" id="{2B8A955F-3D25-194E-B42B-D9D185A7C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1" y="321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48136" name="Rectangle 28">
              <a:extLst>
                <a:ext uri="{FF2B5EF4-FFF2-40B4-BE49-F238E27FC236}">
                  <a16:creationId xmlns:a16="http://schemas.microsoft.com/office/drawing/2014/main" id="{6DC1AFFF-A03B-8F4C-B8BD-44C29F6FA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" y="321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48137" name="Rectangle 29">
              <a:extLst>
                <a:ext uri="{FF2B5EF4-FFF2-40B4-BE49-F238E27FC236}">
                  <a16:creationId xmlns:a16="http://schemas.microsoft.com/office/drawing/2014/main" id="{A5C2F5AC-E24B-8A46-8233-9DF48F1FA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3216"/>
              <a:ext cx="560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38" name="Rectangle 30">
              <a:extLst>
                <a:ext uri="{FF2B5EF4-FFF2-40B4-BE49-F238E27FC236}">
                  <a16:creationId xmlns:a16="http://schemas.microsoft.com/office/drawing/2014/main" id="{A901DBEF-CC10-9B49-A8E3-64AAC62E4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400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p+0</a:t>
              </a:r>
            </a:p>
          </p:txBody>
        </p:sp>
        <p:sp>
          <p:nvSpPr>
            <p:cNvPr id="48139" name="Rectangle 31">
              <a:extLst>
                <a:ext uri="{FF2B5EF4-FFF2-40B4-BE49-F238E27FC236}">
                  <a16:creationId xmlns:a16="http://schemas.microsoft.com/office/drawing/2014/main" id="{B972C6A6-B80F-8E49-9C18-4CCC27F24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400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p+4</a:t>
              </a:r>
            </a:p>
          </p:txBody>
        </p:sp>
        <p:sp>
          <p:nvSpPr>
            <p:cNvPr id="48140" name="Rectangle 32">
              <a:extLst>
                <a:ext uri="{FF2B5EF4-FFF2-40B4-BE49-F238E27FC236}">
                  <a16:creationId xmlns:a16="http://schemas.microsoft.com/office/drawing/2014/main" id="{6CE54E89-A9EC-A248-AF99-6EFDBB25A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0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p+8</a:t>
              </a:r>
            </a:p>
          </p:txBody>
        </p:sp>
        <p:sp>
          <p:nvSpPr>
            <p:cNvPr id="48141" name="Line 33">
              <a:extLst>
                <a:ext uri="{FF2B5EF4-FFF2-40B4-BE49-F238E27FC236}">
                  <a16:creationId xmlns:a16="http://schemas.microsoft.com/office/drawing/2014/main" id="{E6055960-745C-D643-9A1C-F7A6911CF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552"/>
              <a:ext cx="9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2" name="Rectangle 34">
              <a:extLst>
                <a:ext uri="{FF2B5EF4-FFF2-40B4-BE49-F238E27FC236}">
                  <a16:creationId xmlns:a16="http://schemas.microsoft.com/office/drawing/2014/main" id="{649C302C-6AF9-274A-A77D-10CAB5FC0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696"/>
              <a:ext cx="129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Multiple of 4</a:t>
              </a:r>
            </a:p>
          </p:txBody>
        </p:sp>
        <p:sp>
          <p:nvSpPr>
            <p:cNvPr id="48143" name="Rectangle 35">
              <a:extLst>
                <a:ext uri="{FF2B5EF4-FFF2-40B4-BE49-F238E27FC236}">
                  <a16:creationId xmlns:a16="http://schemas.microsoft.com/office/drawing/2014/main" id="{648C47F8-D6FB-A84D-A418-5B8E9B014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696"/>
              <a:ext cx="163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Multiple of 4</a:t>
              </a:r>
            </a:p>
          </p:txBody>
        </p:sp>
        <p:sp>
          <p:nvSpPr>
            <p:cNvPr id="48144" name="Rectangle 36">
              <a:extLst>
                <a:ext uri="{FF2B5EF4-FFF2-40B4-BE49-F238E27FC236}">
                  <a16:creationId xmlns:a16="http://schemas.microsoft.com/office/drawing/2014/main" id="{7BCBEBF5-EB69-894E-8A6F-EA7060E5D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888"/>
              <a:ext cx="163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Multiple of 4</a:t>
              </a:r>
            </a:p>
          </p:txBody>
        </p:sp>
        <p:sp>
          <p:nvSpPr>
            <p:cNvPr id="48145" name="Line 37">
              <a:extLst>
                <a:ext uri="{FF2B5EF4-FFF2-40B4-BE49-F238E27FC236}">
                  <a16:creationId xmlns:a16="http://schemas.microsoft.com/office/drawing/2014/main" id="{504B38B0-B350-6342-9541-A2D960CB25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3600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6" name="Rectangle 39">
              <a:extLst>
                <a:ext uri="{FF2B5EF4-FFF2-40B4-BE49-F238E27FC236}">
                  <a16:creationId xmlns:a16="http://schemas.microsoft.com/office/drawing/2014/main" id="{035C0636-9CE2-E647-8DB4-67105852E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7" y="3216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v</a:t>
              </a:r>
            </a:p>
          </p:txBody>
        </p:sp>
        <p:sp>
          <p:nvSpPr>
            <p:cNvPr id="48147" name="Rectangle 40">
              <a:extLst>
                <a:ext uri="{FF2B5EF4-FFF2-40B4-BE49-F238E27FC236}">
                  <a16:creationId xmlns:a16="http://schemas.microsoft.com/office/drawing/2014/main" id="{9A7F85E0-ED5D-BF4A-B36A-DD47F9817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" y="3400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p+12</a:t>
              </a:r>
            </a:p>
          </p:txBody>
        </p:sp>
        <p:sp>
          <p:nvSpPr>
            <p:cNvPr id="48148" name="Rectangle 41">
              <a:extLst>
                <a:ext uri="{FF2B5EF4-FFF2-40B4-BE49-F238E27FC236}">
                  <a16:creationId xmlns:a16="http://schemas.microsoft.com/office/drawing/2014/main" id="{5B977A81-F916-0848-9134-A63770310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3400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p+20</a:t>
              </a:r>
            </a:p>
          </p:txBody>
        </p:sp>
        <p:sp>
          <p:nvSpPr>
            <p:cNvPr id="48149" name="Line 42">
              <a:extLst>
                <a:ext uri="{FF2B5EF4-FFF2-40B4-BE49-F238E27FC236}">
                  <a16:creationId xmlns:a16="http://schemas.microsoft.com/office/drawing/2014/main" id="{A7B1D52D-5CDB-7441-867E-849609323A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0" y="3552"/>
              <a:ext cx="9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0" name="Rectangle 43">
              <a:extLst>
                <a:ext uri="{FF2B5EF4-FFF2-40B4-BE49-F238E27FC236}">
                  <a16:creationId xmlns:a16="http://schemas.microsoft.com/office/drawing/2014/main" id="{4953E805-4940-9A4D-AD69-4757F2467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3840"/>
              <a:ext cx="163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/>
            <a:lstStyle>
              <a:lvl1pPr marL="223838" indent="-223838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 defTabSz="8953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3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Multiple of 4</a:t>
              </a:r>
            </a:p>
          </p:txBody>
        </p:sp>
        <p:sp>
          <p:nvSpPr>
            <p:cNvPr id="48151" name="Line 44">
              <a:extLst>
                <a:ext uri="{FF2B5EF4-FFF2-40B4-BE49-F238E27FC236}">
                  <a16:creationId xmlns:a16="http://schemas.microsoft.com/office/drawing/2014/main" id="{D027CB0A-D561-6B4E-BCEC-C14FBC41AD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6" y="3600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E88B1F5D-6CDA-3541-BE2D-5CBD5A6992F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228600"/>
            <a:ext cx="9247188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Overall Alignment Requirement</a:t>
            </a:r>
          </a:p>
        </p:txBody>
      </p:sp>
      <p:sp>
        <p:nvSpPr>
          <p:cNvPr id="49154" name="Rectangle 14">
            <a:extLst>
              <a:ext uri="{FF2B5EF4-FFF2-40B4-BE49-F238E27FC236}">
                <a16:creationId xmlns:a16="http://schemas.microsoft.com/office/drawing/2014/main" id="{C4FD683D-2BE3-974F-AE34-793AAF5B2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066800"/>
            <a:ext cx="2214563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S2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double x;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*p;</a:t>
            </a:r>
          </a:p>
        </p:txBody>
      </p:sp>
      <p:sp>
        <p:nvSpPr>
          <p:cNvPr id="49155" name="Rectangle 15">
            <a:extLst>
              <a:ext uri="{FF2B5EF4-FFF2-40B4-BE49-F238E27FC236}">
                <a16:creationId xmlns:a16="http://schemas.microsoft.com/office/drawing/2014/main" id="{4E1D8AB3-CB50-4747-AA9C-E00646EBD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33800"/>
            <a:ext cx="2214563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S3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float x[2];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*p;</a:t>
            </a:r>
          </a:p>
        </p:txBody>
      </p:sp>
      <p:grpSp>
        <p:nvGrpSpPr>
          <p:cNvPr id="49156" name="Group 32">
            <a:extLst>
              <a:ext uri="{FF2B5EF4-FFF2-40B4-BE49-F238E27FC236}">
                <a16:creationId xmlns:a16="http://schemas.microsoft.com/office/drawing/2014/main" id="{BF230158-91A5-5A49-B0F2-7B4E9BC3C97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19400"/>
            <a:ext cx="7899400" cy="1019175"/>
            <a:chOff x="384" y="1776"/>
            <a:chExt cx="4976" cy="642"/>
          </a:xfrm>
        </p:grpSpPr>
        <p:sp>
          <p:nvSpPr>
            <p:cNvPr id="49172" name="Rectangle 9">
              <a:extLst>
                <a:ext uri="{FF2B5EF4-FFF2-40B4-BE49-F238E27FC236}">
                  <a16:creationId xmlns:a16="http://schemas.microsoft.com/office/drawing/2014/main" id="{96BABF0B-0A7F-B24C-AFCB-50729CC09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016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p+0</a:t>
              </a:r>
            </a:p>
          </p:txBody>
        </p:sp>
        <p:sp>
          <p:nvSpPr>
            <p:cNvPr id="49173" name="Rectangle 10">
              <a:extLst>
                <a:ext uri="{FF2B5EF4-FFF2-40B4-BE49-F238E27FC236}">
                  <a16:creationId xmlns:a16="http://schemas.microsoft.com/office/drawing/2014/main" id="{E0E25EF5-95F5-D046-9066-6EB75E590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016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p+12</a:t>
              </a:r>
            </a:p>
          </p:txBody>
        </p:sp>
        <p:sp>
          <p:nvSpPr>
            <p:cNvPr id="49174" name="Rectangle 11">
              <a:extLst>
                <a:ext uri="{FF2B5EF4-FFF2-40B4-BE49-F238E27FC236}">
                  <a16:creationId xmlns:a16="http://schemas.microsoft.com/office/drawing/2014/main" id="{2634B9FA-5096-5B4F-9C1B-233F88A4A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p+8</a:t>
              </a:r>
            </a:p>
          </p:txBody>
        </p:sp>
        <p:sp>
          <p:nvSpPr>
            <p:cNvPr id="49175" name="Rectangle 12">
              <a:extLst>
                <a:ext uri="{FF2B5EF4-FFF2-40B4-BE49-F238E27FC236}">
                  <a16:creationId xmlns:a16="http://schemas.microsoft.com/office/drawing/2014/main" id="{829BB7CA-5D55-2E4E-B50A-D12EA6476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2016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p+16</a:t>
              </a:r>
            </a:p>
          </p:txBody>
        </p:sp>
        <p:sp>
          <p:nvSpPr>
            <p:cNvPr id="49176" name="Rectangle 13">
              <a:extLst>
                <a:ext uri="{FF2B5EF4-FFF2-40B4-BE49-F238E27FC236}">
                  <a16:creationId xmlns:a16="http://schemas.microsoft.com/office/drawing/2014/main" id="{B7994DBF-C2F1-9D4D-908F-354377436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2016"/>
              <a:ext cx="1265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/>
                <a:t>Windows</a:t>
              </a:r>
              <a:r>
                <a:rPr lang="en-US" altLang="en-US">
                  <a:latin typeface="Courier New" panose="02070309020205020404" pitchFamily="49" charset="0"/>
                </a:rPr>
                <a:t>: p+24</a:t>
              </a:r>
            </a:p>
            <a:p>
              <a:pPr algn="r"/>
              <a:r>
                <a:rPr lang="en-US" altLang="en-US"/>
                <a:t>Linux</a:t>
              </a:r>
              <a:r>
                <a:rPr lang="en-US" altLang="en-US">
                  <a:latin typeface="Courier New" panose="02070309020205020404" pitchFamily="49" charset="0"/>
                </a:rPr>
                <a:t>: p+20</a:t>
              </a:r>
            </a:p>
          </p:txBody>
        </p:sp>
        <p:sp>
          <p:nvSpPr>
            <p:cNvPr id="49177" name="Rectangle 4">
              <a:extLst>
                <a:ext uri="{FF2B5EF4-FFF2-40B4-BE49-F238E27FC236}">
                  <a16:creationId xmlns:a16="http://schemas.microsoft.com/office/drawing/2014/main" id="{83B0C6DF-314D-2A4A-AC90-3F22BD25B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776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49178" name="Rectangle 5">
              <a:extLst>
                <a:ext uri="{FF2B5EF4-FFF2-40B4-BE49-F238E27FC236}">
                  <a16:creationId xmlns:a16="http://schemas.microsoft.com/office/drawing/2014/main" id="{A6D6B8E9-E2BC-0145-AAC6-6E92A885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77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49179" name="Rectangle 6">
              <a:extLst>
                <a:ext uri="{FF2B5EF4-FFF2-40B4-BE49-F238E27FC236}">
                  <a16:creationId xmlns:a16="http://schemas.microsoft.com/office/drawing/2014/main" id="{79E03AA7-BB63-F345-A767-E99AD0FA0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77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49180" name="Rectangle 7">
              <a:extLst>
                <a:ext uri="{FF2B5EF4-FFF2-40B4-BE49-F238E27FC236}">
                  <a16:creationId xmlns:a16="http://schemas.microsoft.com/office/drawing/2014/main" id="{A8B97038-4F9D-6647-B131-762F71AA5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776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49181" name="Rectangle 8">
              <a:extLst>
                <a:ext uri="{FF2B5EF4-FFF2-40B4-BE49-F238E27FC236}">
                  <a16:creationId xmlns:a16="http://schemas.microsoft.com/office/drawing/2014/main" id="{9BE6DED3-61EB-9848-9B3E-DC9BE760D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776"/>
              <a:ext cx="1344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9157" name="Group 33">
            <a:extLst>
              <a:ext uri="{FF2B5EF4-FFF2-40B4-BE49-F238E27FC236}">
                <a16:creationId xmlns:a16="http://schemas.microsoft.com/office/drawing/2014/main" id="{22E2DCA3-E7A7-D44B-B29E-E009C3D007E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410200"/>
            <a:ext cx="6746875" cy="744538"/>
            <a:chOff x="384" y="3408"/>
            <a:chExt cx="4250" cy="469"/>
          </a:xfrm>
        </p:grpSpPr>
        <p:sp>
          <p:nvSpPr>
            <p:cNvPr id="49160" name="Rectangle 17">
              <a:extLst>
                <a:ext uri="{FF2B5EF4-FFF2-40B4-BE49-F238E27FC236}">
                  <a16:creationId xmlns:a16="http://schemas.microsoft.com/office/drawing/2014/main" id="{968CE940-E560-3242-8A98-1B087D570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408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49161" name="Rectangle 18">
              <a:extLst>
                <a:ext uri="{FF2B5EF4-FFF2-40B4-BE49-F238E27FC236}">
                  <a16:creationId xmlns:a16="http://schemas.microsoft.com/office/drawing/2014/main" id="{E030CC55-B4F7-324D-99C2-77DEFF1D1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408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49162" name="Rectangle 19">
              <a:extLst>
                <a:ext uri="{FF2B5EF4-FFF2-40B4-BE49-F238E27FC236}">
                  <a16:creationId xmlns:a16="http://schemas.microsoft.com/office/drawing/2014/main" id="{3E50CC42-4022-DE49-8900-A0F6B7160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408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49163" name="Rectangle 20">
              <a:extLst>
                <a:ext uri="{FF2B5EF4-FFF2-40B4-BE49-F238E27FC236}">
                  <a16:creationId xmlns:a16="http://schemas.microsoft.com/office/drawing/2014/main" id="{CBA60E91-A92F-0F44-A924-A404F212C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408"/>
              <a:ext cx="576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164" name="Rectangle 21">
              <a:extLst>
                <a:ext uri="{FF2B5EF4-FFF2-40B4-BE49-F238E27FC236}">
                  <a16:creationId xmlns:a16="http://schemas.microsoft.com/office/drawing/2014/main" id="{4E444C93-7A9E-B944-A6AC-18FF09B61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648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p+0</a:t>
              </a:r>
            </a:p>
          </p:txBody>
        </p:sp>
        <p:sp>
          <p:nvSpPr>
            <p:cNvPr id="49165" name="Rectangle 22">
              <a:extLst>
                <a:ext uri="{FF2B5EF4-FFF2-40B4-BE49-F238E27FC236}">
                  <a16:creationId xmlns:a16="http://schemas.microsoft.com/office/drawing/2014/main" id="{6A8D2E34-7D7C-C241-A574-DD58FC0AD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64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p+12</a:t>
              </a:r>
            </a:p>
          </p:txBody>
        </p:sp>
        <p:sp>
          <p:nvSpPr>
            <p:cNvPr id="49166" name="Rectangle 23">
              <a:extLst>
                <a:ext uri="{FF2B5EF4-FFF2-40B4-BE49-F238E27FC236}">
                  <a16:creationId xmlns:a16="http://schemas.microsoft.com/office/drawing/2014/main" id="{EEE69C0C-E5F1-EB48-898B-F54E42BA1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648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p+8</a:t>
              </a:r>
            </a:p>
          </p:txBody>
        </p:sp>
        <p:sp>
          <p:nvSpPr>
            <p:cNvPr id="49167" name="Rectangle 24">
              <a:extLst>
                <a:ext uri="{FF2B5EF4-FFF2-40B4-BE49-F238E27FC236}">
                  <a16:creationId xmlns:a16="http://schemas.microsoft.com/office/drawing/2014/main" id="{A3DBF242-EAB1-2143-B43C-77C6F123B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364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p+16</a:t>
              </a:r>
            </a:p>
          </p:txBody>
        </p:sp>
        <p:sp>
          <p:nvSpPr>
            <p:cNvPr id="49168" name="Rectangle 25">
              <a:extLst>
                <a:ext uri="{FF2B5EF4-FFF2-40B4-BE49-F238E27FC236}">
                  <a16:creationId xmlns:a16="http://schemas.microsoft.com/office/drawing/2014/main" id="{16E933C0-AAAA-4E4C-935C-13F8E5F3E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64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p+20</a:t>
              </a:r>
            </a:p>
          </p:txBody>
        </p:sp>
        <p:sp>
          <p:nvSpPr>
            <p:cNvPr id="49169" name="Rectangle 26">
              <a:extLst>
                <a:ext uri="{FF2B5EF4-FFF2-40B4-BE49-F238E27FC236}">
                  <a16:creationId xmlns:a16="http://schemas.microsoft.com/office/drawing/2014/main" id="{8ABF1E28-FA23-F043-82E5-F3E251F4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408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x[0]</a:t>
              </a:r>
            </a:p>
          </p:txBody>
        </p:sp>
        <p:sp>
          <p:nvSpPr>
            <p:cNvPr id="49170" name="Rectangle 27">
              <a:extLst>
                <a:ext uri="{FF2B5EF4-FFF2-40B4-BE49-F238E27FC236}">
                  <a16:creationId xmlns:a16="http://schemas.microsoft.com/office/drawing/2014/main" id="{5FC8615B-3CDA-D143-BD19-E5ED064DD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408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x[1]</a:t>
              </a:r>
            </a:p>
          </p:txBody>
        </p:sp>
        <p:sp>
          <p:nvSpPr>
            <p:cNvPr id="49171" name="Rectangle 28">
              <a:extLst>
                <a:ext uri="{FF2B5EF4-FFF2-40B4-BE49-F238E27FC236}">
                  <a16:creationId xmlns:a16="http://schemas.microsoft.com/office/drawing/2014/main" id="{658778BA-CD93-8342-A92F-865F99CF6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648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p+4</a:t>
              </a:r>
            </a:p>
          </p:txBody>
        </p:sp>
      </p:grpSp>
      <p:sp>
        <p:nvSpPr>
          <p:cNvPr id="49158" name="Text Box 29">
            <a:extLst>
              <a:ext uri="{FF2B5EF4-FFF2-40B4-BE49-F238E27FC236}">
                <a16:creationId xmlns:a16="http://schemas.microsoft.com/office/drawing/2014/main" id="{B4D3B7A0-8312-1542-A6A0-45282B911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271588"/>
            <a:ext cx="28844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latin typeface="Courier New" panose="02070309020205020404" pitchFamily="49" charset="0"/>
              </a:rPr>
              <a:t>p</a:t>
            </a:r>
            <a:r>
              <a:rPr lang="en-US" altLang="en-US" sz="2000">
                <a:latin typeface="Helvetica" pitchFamily="2" charset="0"/>
              </a:rPr>
              <a:t> must be multiple of: </a:t>
            </a:r>
          </a:p>
          <a:p>
            <a:r>
              <a:rPr lang="en-US" altLang="en-US" sz="2000">
                <a:latin typeface="Helvetica" pitchFamily="2" charset="0"/>
              </a:rPr>
              <a:t>	8 for Windows</a:t>
            </a:r>
          </a:p>
          <a:p>
            <a:r>
              <a:rPr lang="en-US" altLang="en-US" sz="2000">
                <a:latin typeface="Helvetica" pitchFamily="2" charset="0"/>
              </a:rPr>
              <a:t>	4 for Linux</a:t>
            </a:r>
          </a:p>
        </p:txBody>
      </p:sp>
      <p:sp>
        <p:nvSpPr>
          <p:cNvPr id="49159" name="Text Box 30">
            <a:extLst>
              <a:ext uri="{FF2B5EF4-FFF2-40B4-BE49-F238E27FC236}">
                <a16:creationId xmlns:a16="http://schemas.microsoft.com/office/drawing/2014/main" id="{990FDDC3-1E0C-E946-AE82-6AC3BA6BE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395788"/>
            <a:ext cx="460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latin typeface="Courier New" panose="02070309020205020404" pitchFamily="49" charset="0"/>
              </a:rPr>
              <a:t>p</a:t>
            </a:r>
            <a:r>
              <a:rPr lang="en-US" altLang="en-US" sz="2000">
                <a:latin typeface="Helvetica" pitchFamily="2" charset="0"/>
              </a:rPr>
              <a:t> must be multiple of 4 (in either OS)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55B0D1E-ED91-054E-82D8-61B78A4781FF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228600"/>
            <a:ext cx="89154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3600" b="0" dirty="0">
                <a:latin typeface="+mj-lt"/>
                <a:ea typeface="+mj-ea"/>
                <a:cs typeface="+mj-cs"/>
              </a:rPr>
              <a:t>Ordering Elements Within Structure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2602AD77-AA1D-EB42-BE3F-2D1294625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914400"/>
            <a:ext cx="2216150" cy="17494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S4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c1;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double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c2;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*p;</a:t>
            </a:r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A22C2416-7626-3E42-B323-51A1FE473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581400"/>
            <a:ext cx="2216150" cy="17494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S5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double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c1;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c2;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*p;</a:t>
            </a:r>
          </a:p>
        </p:txBody>
      </p:sp>
      <p:grpSp>
        <p:nvGrpSpPr>
          <p:cNvPr id="50180" name="Group 30">
            <a:extLst>
              <a:ext uri="{FF2B5EF4-FFF2-40B4-BE49-F238E27FC236}">
                <a16:creationId xmlns:a16="http://schemas.microsoft.com/office/drawing/2014/main" id="{69FF821A-6845-E443-9733-1E5CC1655260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2819400"/>
            <a:ext cx="7818437" cy="668338"/>
            <a:chOff x="336" y="1776"/>
            <a:chExt cx="4922" cy="421"/>
          </a:xfrm>
        </p:grpSpPr>
        <p:sp>
          <p:nvSpPr>
            <p:cNvPr id="50193" name="Rectangle 6">
              <a:extLst>
                <a:ext uri="{FF2B5EF4-FFF2-40B4-BE49-F238E27FC236}">
                  <a16:creationId xmlns:a16="http://schemas.microsoft.com/office/drawing/2014/main" id="{40601D8A-AF28-7546-A4B7-1AAAC9355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776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c1</a:t>
              </a:r>
            </a:p>
          </p:txBody>
        </p:sp>
        <p:sp>
          <p:nvSpPr>
            <p:cNvPr id="50194" name="Rectangle 7">
              <a:extLst>
                <a:ext uri="{FF2B5EF4-FFF2-40B4-BE49-F238E27FC236}">
                  <a16:creationId xmlns:a16="http://schemas.microsoft.com/office/drawing/2014/main" id="{28C828CA-DDB9-314F-84B5-1C831E575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77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50195" name="Rectangle 8">
              <a:extLst>
                <a:ext uri="{FF2B5EF4-FFF2-40B4-BE49-F238E27FC236}">
                  <a16:creationId xmlns:a16="http://schemas.microsoft.com/office/drawing/2014/main" id="{9BBF2798-D787-0942-BBFD-1D9C839B5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76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v</a:t>
              </a:r>
            </a:p>
          </p:txBody>
        </p:sp>
        <p:sp>
          <p:nvSpPr>
            <p:cNvPr id="50196" name="Rectangle 9">
              <a:extLst>
                <a:ext uri="{FF2B5EF4-FFF2-40B4-BE49-F238E27FC236}">
                  <a16:creationId xmlns:a16="http://schemas.microsoft.com/office/drawing/2014/main" id="{C73C3883-902E-3945-AE4F-DAF7B3008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776"/>
              <a:ext cx="1344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0197" name="Rectangle 10">
              <a:extLst>
                <a:ext uri="{FF2B5EF4-FFF2-40B4-BE49-F238E27FC236}">
                  <a16:creationId xmlns:a16="http://schemas.microsoft.com/office/drawing/2014/main" id="{5F45E9E9-3402-294E-9122-C3D793AC7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68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p+0</a:t>
              </a:r>
            </a:p>
          </p:txBody>
        </p:sp>
        <p:sp>
          <p:nvSpPr>
            <p:cNvPr id="50198" name="Rectangle 11">
              <a:extLst>
                <a:ext uri="{FF2B5EF4-FFF2-40B4-BE49-F238E27FC236}">
                  <a16:creationId xmlns:a16="http://schemas.microsoft.com/office/drawing/2014/main" id="{F4AE4B61-F71D-7E45-A332-F95DA9898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96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p+20</a:t>
              </a:r>
            </a:p>
          </p:txBody>
        </p:sp>
        <p:sp>
          <p:nvSpPr>
            <p:cNvPr id="50199" name="Rectangle 12">
              <a:extLst>
                <a:ext uri="{FF2B5EF4-FFF2-40B4-BE49-F238E27FC236}">
                  <a16:creationId xmlns:a16="http://schemas.microsoft.com/office/drawing/2014/main" id="{99B54438-D3B7-DF44-B21C-03DD2EBC9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968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p+8</a:t>
              </a:r>
            </a:p>
          </p:txBody>
        </p:sp>
        <p:sp>
          <p:nvSpPr>
            <p:cNvPr id="50200" name="Rectangle 13">
              <a:extLst>
                <a:ext uri="{FF2B5EF4-FFF2-40B4-BE49-F238E27FC236}">
                  <a16:creationId xmlns:a16="http://schemas.microsoft.com/office/drawing/2014/main" id="{0EE5DF34-AE7E-6C4E-9377-4EBBCD3D0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196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p+16</a:t>
              </a:r>
            </a:p>
          </p:txBody>
        </p:sp>
        <p:sp>
          <p:nvSpPr>
            <p:cNvPr id="50201" name="Rectangle 14">
              <a:extLst>
                <a:ext uri="{FF2B5EF4-FFF2-40B4-BE49-F238E27FC236}">
                  <a16:creationId xmlns:a16="http://schemas.microsoft.com/office/drawing/2014/main" id="{524114C9-F97E-1942-B6CF-164B893A8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96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p+24</a:t>
              </a:r>
            </a:p>
          </p:txBody>
        </p:sp>
        <p:sp>
          <p:nvSpPr>
            <p:cNvPr id="50202" name="Rectangle 15">
              <a:extLst>
                <a:ext uri="{FF2B5EF4-FFF2-40B4-BE49-F238E27FC236}">
                  <a16:creationId xmlns:a16="http://schemas.microsoft.com/office/drawing/2014/main" id="{682CB834-E785-1E4A-9655-EE156D049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776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c2</a:t>
              </a:r>
            </a:p>
          </p:txBody>
        </p:sp>
        <p:sp>
          <p:nvSpPr>
            <p:cNvPr id="50203" name="Rectangle 16">
              <a:extLst>
                <a:ext uri="{FF2B5EF4-FFF2-40B4-BE49-F238E27FC236}">
                  <a16:creationId xmlns:a16="http://schemas.microsoft.com/office/drawing/2014/main" id="{E6FADE66-3196-D242-88F0-93E0151FD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776"/>
              <a:ext cx="576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0181" name="Group 29">
            <a:extLst>
              <a:ext uri="{FF2B5EF4-FFF2-40B4-BE49-F238E27FC236}">
                <a16:creationId xmlns:a16="http://schemas.microsoft.com/office/drawing/2014/main" id="{776BA707-5BFB-EC4B-9A63-966182D750FC}"/>
              </a:ext>
            </a:extLst>
          </p:cNvPr>
          <p:cNvGrpSpPr>
            <a:grpSpLocks/>
          </p:cNvGrpSpPr>
          <p:nvPr/>
        </p:nvGrpSpPr>
        <p:grpSpPr bwMode="auto">
          <a:xfrm>
            <a:off x="682625" y="5486400"/>
            <a:ext cx="5565775" cy="668338"/>
            <a:chOff x="432" y="3456"/>
            <a:chExt cx="3504" cy="421"/>
          </a:xfrm>
        </p:grpSpPr>
        <p:sp>
          <p:nvSpPr>
            <p:cNvPr id="50184" name="Rectangle 18">
              <a:extLst>
                <a:ext uri="{FF2B5EF4-FFF2-40B4-BE49-F238E27FC236}">
                  <a16:creationId xmlns:a16="http://schemas.microsoft.com/office/drawing/2014/main" id="{1ED7C4FD-7160-0347-B308-6C5C999D9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456"/>
              <a:ext cx="384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0185" name="Rectangle 19">
              <a:extLst>
                <a:ext uri="{FF2B5EF4-FFF2-40B4-BE49-F238E27FC236}">
                  <a16:creationId xmlns:a16="http://schemas.microsoft.com/office/drawing/2014/main" id="{424018FE-C2A3-DA41-8001-07A92D65F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456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c1</a:t>
              </a:r>
            </a:p>
          </p:txBody>
        </p:sp>
        <p:sp>
          <p:nvSpPr>
            <p:cNvPr id="50186" name="Rectangle 20">
              <a:extLst>
                <a:ext uri="{FF2B5EF4-FFF2-40B4-BE49-F238E27FC236}">
                  <a16:creationId xmlns:a16="http://schemas.microsoft.com/office/drawing/2014/main" id="{CA29C617-2265-B241-B0C8-19836DF2D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45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</a:t>
              </a:r>
            </a:p>
          </p:txBody>
        </p:sp>
        <p:sp>
          <p:nvSpPr>
            <p:cNvPr id="50187" name="Rectangle 21">
              <a:extLst>
                <a:ext uri="{FF2B5EF4-FFF2-40B4-BE49-F238E27FC236}">
                  <a16:creationId xmlns:a16="http://schemas.microsoft.com/office/drawing/2014/main" id="{52606489-D9DF-C841-944F-AEC808EE7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456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v</a:t>
              </a:r>
            </a:p>
          </p:txBody>
        </p:sp>
        <p:sp>
          <p:nvSpPr>
            <p:cNvPr id="50188" name="Rectangle 22">
              <a:extLst>
                <a:ext uri="{FF2B5EF4-FFF2-40B4-BE49-F238E27FC236}">
                  <a16:creationId xmlns:a16="http://schemas.microsoft.com/office/drawing/2014/main" id="{56B5D7E4-32B1-5A4A-B5EF-544FA29E2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648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p+0</a:t>
              </a:r>
            </a:p>
          </p:txBody>
        </p:sp>
        <p:sp>
          <p:nvSpPr>
            <p:cNvPr id="50189" name="Rectangle 23">
              <a:extLst>
                <a:ext uri="{FF2B5EF4-FFF2-40B4-BE49-F238E27FC236}">
                  <a16:creationId xmlns:a16="http://schemas.microsoft.com/office/drawing/2014/main" id="{B14FFD5F-92DD-D04D-AB77-7A0650152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64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p+12</a:t>
              </a:r>
            </a:p>
          </p:txBody>
        </p:sp>
        <p:sp>
          <p:nvSpPr>
            <p:cNvPr id="50190" name="Rectangle 24">
              <a:extLst>
                <a:ext uri="{FF2B5EF4-FFF2-40B4-BE49-F238E27FC236}">
                  <a16:creationId xmlns:a16="http://schemas.microsoft.com/office/drawing/2014/main" id="{78C4B872-88B9-7E44-A476-130D2F98A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648"/>
              <a:ext cx="3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p+8</a:t>
              </a:r>
            </a:p>
          </p:txBody>
        </p:sp>
        <p:sp>
          <p:nvSpPr>
            <p:cNvPr id="50191" name="Rectangle 25">
              <a:extLst>
                <a:ext uri="{FF2B5EF4-FFF2-40B4-BE49-F238E27FC236}">
                  <a16:creationId xmlns:a16="http://schemas.microsoft.com/office/drawing/2014/main" id="{C89BBE09-9848-B748-8269-35C433EEC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" y="364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p+16</a:t>
              </a:r>
            </a:p>
          </p:txBody>
        </p:sp>
        <p:sp>
          <p:nvSpPr>
            <p:cNvPr id="50192" name="Rectangle 26">
              <a:extLst>
                <a:ext uri="{FF2B5EF4-FFF2-40B4-BE49-F238E27FC236}">
                  <a16:creationId xmlns:a16="http://schemas.microsoft.com/office/drawing/2014/main" id="{E056D66B-6512-F24E-8B96-9AEB65019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c2</a:t>
              </a:r>
            </a:p>
          </p:txBody>
        </p:sp>
      </p:grpSp>
      <p:sp>
        <p:nvSpPr>
          <p:cNvPr id="50182" name="Text Box 27">
            <a:extLst>
              <a:ext uri="{FF2B5EF4-FFF2-40B4-BE49-F238E27FC236}">
                <a16:creationId xmlns:a16="http://schemas.microsoft.com/office/drawing/2014/main" id="{A185DC92-1523-594C-AF27-DEA078425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25" y="1422400"/>
            <a:ext cx="4414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latin typeface="Helvetica" pitchFamily="2" charset="0"/>
              </a:rPr>
              <a:t>10 bytes wasted space in Windows</a:t>
            </a:r>
          </a:p>
        </p:txBody>
      </p:sp>
      <p:sp>
        <p:nvSpPr>
          <p:cNvPr id="50183" name="Text Box 28">
            <a:extLst>
              <a:ext uri="{FF2B5EF4-FFF2-40B4-BE49-F238E27FC236}">
                <a16:creationId xmlns:a16="http://schemas.microsoft.com/office/drawing/2014/main" id="{0DEE9037-9466-4A4B-962B-FB1B7016A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4394200"/>
            <a:ext cx="2784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latin typeface="Helvetica" pitchFamily="2" charset="0"/>
              </a:rPr>
              <a:t>2 bytes wasted space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051FD72-D93F-D940-8CD9-D4E2422D820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04800"/>
            <a:ext cx="6538913" cy="57308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Arrays of Structures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000316-92B8-3046-BF1C-BBE76F516C3C}"/>
              </a:ext>
            </a:extLst>
          </p:cNvPr>
          <p:cNvSpPr txBox="1">
            <a:spLocks noChangeArrowheads="1"/>
          </p:cNvSpPr>
          <p:nvPr/>
        </p:nvSpPr>
        <p:spPr>
          <a:xfrm>
            <a:off x="290513" y="1220788"/>
            <a:ext cx="5303837" cy="5224462"/>
          </a:xfrm>
          <a:prstGeom prst="rect">
            <a:avLst/>
          </a:prstGeom>
          <a:noFill/>
          <a:ln/>
        </p:spPr>
        <p:txBody>
          <a:bodyPr lIns="90487" tIns="44450" rIns="90487" bIns="44450"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+mn-lt"/>
                <a:ea typeface="+mn-ea"/>
                <a:cs typeface="ＭＳ Ｐゴシック" charset="0"/>
              </a:rPr>
              <a:t>Principle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Allocated by repeating allocation for array type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In general, may nest arrays &amp; structures to arbitrary depth</a:t>
            </a:r>
          </a:p>
        </p:txBody>
      </p:sp>
      <p:grpSp>
        <p:nvGrpSpPr>
          <p:cNvPr id="51203" name="Group 26">
            <a:extLst>
              <a:ext uri="{FF2B5EF4-FFF2-40B4-BE49-F238E27FC236}">
                <a16:creationId xmlns:a16="http://schemas.microsoft.com/office/drawing/2014/main" id="{7EDEDE0D-2048-BB4C-9AF2-039895B3183D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257800"/>
            <a:ext cx="6611938" cy="660400"/>
            <a:chOff x="816" y="3312"/>
            <a:chExt cx="4165" cy="416"/>
          </a:xfrm>
        </p:grpSpPr>
        <p:sp>
          <p:nvSpPr>
            <p:cNvPr id="51217" name="Rectangle 5">
              <a:extLst>
                <a:ext uri="{FF2B5EF4-FFF2-40B4-BE49-F238E27FC236}">
                  <a16:creationId xmlns:a16="http://schemas.microsoft.com/office/drawing/2014/main" id="{62DE6871-2E08-A645-B85A-C1B8499C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3334"/>
              <a:ext cx="113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a[0]</a:t>
              </a:r>
            </a:p>
          </p:txBody>
        </p:sp>
        <p:sp>
          <p:nvSpPr>
            <p:cNvPr id="51218" name="Rectangle 6">
              <a:extLst>
                <a:ext uri="{FF2B5EF4-FFF2-40B4-BE49-F238E27FC236}">
                  <a16:creationId xmlns:a16="http://schemas.microsoft.com/office/drawing/2014/main" id="{B9088D87-19E0-4047-B953-8638614ED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18"/>
              <a:ext cx="34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600">
                  <a:latin typeface="Courier New" panose="02070309020205020404" pitchFamily="49" charset="0"/>
                </a:rPr>
                <a:t>a+0</a:t>
              </a:r>
            </a:p>
          </p:txBody>
        </p:sp>
        <p:sp>
          <p:nvSpPr>
            <p:cNvPr id="51219" name="Rectangle 7">
              <a:extLst>
                <a:ext uri="{FF2B5EF4-FFF2-40B4-BE49-F238E27FC236}">
                  <a16:creationId xmlns:a16="http://schemas.microsoft.com/office/drawing/2014/main" id="{53629A05-1DD4-154B-AB7F-3022C03F1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" y="3334"/>
              <a:ext cx="1136" cy="176"/>
            </a:xfrm>
            <a:prstGeom prst="rect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a[1]</a:t>
              </a:r>
            </a:p>
          </p:txBody>
        </p:sp>
        <p:sp>
          <p:nvSpPr>
            <p:cNvPr id="51220" name="Rectangle 8">
              <a:extLst>
                <a:ext uri="{FF2B5EF4-FFF2-40B4-BE49-F238E27FC236}">
                  <a16:creationId xmlns:a16="http://schemas.microsoft.com/office/drawing/2014/main" id="{15A784B4-D8DE-1F41-A850-2122373B6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3334"/>
              <a:ext cx="113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a[2]</a:t>
              </a:r>
            </a:p>
          </p:txBody>
        </p:sp>
        <p:sp>
          <p:nvSpPr>
            <p:cNvPr id="51221" name="Rectangle 9">
              <a:extLst>
                <a:ext uri="{FF2B5EF4-FFF2-40B4-BE49-F238E27FC236}">
                  <a16:creationId xmlns:a16="http://schemas.microsoft.com/office/drawing/2014/main" id="{5F696DBB-CAB6-5B42-9B8A-DEB6D24D1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" y="3518"/>
              <a:ext cx="42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600">
                  <a:latin typeface="Courier New" panose="02070309020205020404" pitchFamily="49" charset="0"/>
                </a:rPr>
                <a:t>a+12</a:t>
              </a:r>
            </a:p>
          </p:txBody>
        </p:sp>
        <p:sp>
          <p:nvSpPr>
            <p:cNvPr id="51222" name="Rectangle 10">
              <a:extLst>
                <a:ext uri="{FF2B5EF4-FFF2-40B4-BE49-F238E27FC236}">
                  <a16:creationId xmlns:a16="http://schemas.microsoft.com/office/drawing/2014/main" id="{AA7555B7-5685-2F4B-B4E1-81D5B900F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" y="3518"/>
              <a:ext cx="42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600">
                  <a:latin typeface="Courier New" panose="02070309020205020404" pitchFamily="49" charset="0"/>
                </a:rPr>
                <a:t>a+24</a:t>
              </a:r>
            </a:p>
          </p:txBody>
        </p:sp>
        <p:sp>
          <p:nvSpPr>
            <p:cNvPr id="51223" name="Rectangle 11">
              <a:extLst>
                <a:ext uri="{FF2B5EF4-FFF2-40B4-BE49-F238E27FC236}">
                  <a16:creationId xmlns:a16="http://schemas.microsoft.com/office/drawing/2014/main" id="{29A15D53-A35D-0A42-89BC-F1793C2CB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3" y="3518"/>
              <a:ext cx="42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600">
                  <a:latin typeface="Courier New" panose="02070309020205020404" pitchFamily="49" charset="0"/>
                </a:rPr>
                <a:t>a+36</a:t>
              </a:r>
            </a:p>
          </p:txBody>
        </p:sp>
        <p:sp>
          <p:nvSpPr>
            <p:cNvPr id="51224" name="Rectangle 12">
              <a:extLst>
                <a:ext uri="{FF2B5EF4-FFF2-40B4-BE49-F238E27FC236}">
                  <a16:creationId xmlns:a16="http://schemas.microsoft.com/office/drawing/2014/main" id="{7AFA11BC-F64B-3247-9963-F7FFB2ABE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7" y="3312"/>
              <a:ext cx="34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b="0"/>
                <a:t>• • •</a:t>
              </a:r>
            </a:p>
          </p:txBody>
        </p:sp>
      </p:grpSp>
      <p:sp>
        <p:nvSpPr>
          <p:cNvPr id="51204" name="Line 13">
            <a:extLst>
              <a:ext uri="{FF2B5EF4-FFF2-40B4-BE49-F238E27FC236}">
                <a16:creationId xmlns:a16="http://schemas.microsoft.com/office/drawing/2014/main" id="{0298F632-6297-6D42-ABA6-4279E85EF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114800"/>
            <a:ext cx="2209800" cy="114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Line 14">
            <a:extLst>
              <a:ext uri="{FF2B5EF4-FFF2-40B4-BE49-F238E27FC236}">
                <a16:creationId xmlns:a16="http://schemas.microsoft.com/office/drawing/2014/main" id="{39DD0247-ACB3-A04E-BBE8-E4417F2B38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114800"/>
            <a:ext cx="3124200" cy="114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Rectangle 15">
            <a:extLst>
              <a:ext uri="{FF2B5EF4-FFF2-40B4-BE49-F238E27FC236}">
                <a16:creationId xmlns:a16="http://schemas.microsoft.com/office/drawing/2014/main" id="{25EA755D-6A15-3D47-AD52-E76179219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91000"/>
            <a:ext cx="7270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a+12</a:t>
            </a:r>
          </a:p>
        </p:txBody>
      </p:sp>
      <p:sp>
        <p:nvSpPr>
          <p:cNvPr id="51207" name="Rectangle 16">
            <a:extLst>
              <a:ext uri="{FF2B5EF4-FFF2-40B4-BE49-F238E27FC236}">
                <a16:creationId xmlns:a16="http://schemas.microsoft.com/office/drawing/2014/main" id="{4E52A010-53D4-E349-93DA-D89064A8D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191000"/>
            <a:ext cx="7270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a+20</a:t>
            </a:r>
          </a:p>
        </p:txBody>
      </p:sp>
      <p:sp>
        <p:nvSpPr>
          <p:cNvPr id="51208" name="Rectangle 17">
            <a:extLst>
              <a:ext uri="{FF2B5EF4-FFF2-40B4-BE49-F238E27FC236}">
                <a16:creationId xmlns:a16="http://schemas.microsoft.com/office/drawing/2014/main" id="{0841835F-BD51-244D-9550-25509DD2E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191000"/>
            <a:ext cx="7270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a+16</a:t>
            </a:r>
          </a:p>
        </p:txBody>
      </p:sp>
      <p:sp>
        <p:nvSpPr>
          <p:cNvPr id="51209" name="Rectangle 18">
            <a:extLst>
              <a:ext uri="{FF2B5EF4-FFF2-40B4-BE49-F238E27FC236}">
                <a16:creationId xmlns:a16="http://schemas.microsoft.com/office/drawing/2014/main" id="{4061CD35-3146-C143-93E3-1FDD76D80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191000"/>
            <a:ext cx="7270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a+24</a:t>
            </a:r>
          </a:p>
        </p:txBody>
      </p:sp>
      <p:sp>
        <p:nvSpPr>
          <p:cNvPr id="51210" name="Rectangle 19">
            <a:extLst>
              <a:ext uri="{FF2B5EF4-FFF2-40B4-BE49-F238E27FC236}">
                <a16:creationId xmlns:a16="http://schemas.microsoft.com/office/drawing/2014/main" id="{BB4B481F-983C-2D46-844E-8B210548B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752600"/>
            <a:ext cx="2214563" cy="1566863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S6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short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float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short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a[10]</a:t>
            </a:r>
            <a:r>
              <a:rPr lang="en-US" altLang="en-US">
                <a:latin typeface="Courier New" panose="02070309020205020404" pitchFamily="49" charset="0"/>
              </a:rPr>
              <a:t>;</a:t>
            </a:r>
          </a:p>
        </p:txBody>
      </p:sp>
      <p:grpSp>
        <p:nvGrpSpPr>
          <p:cNvPr id="51211" name="Group 27">
            <a:extLst>
              <a:ext uri="{FF2B5EF4-FFF2-40B4-BE49-F238E27FC236}">
                <a16:creationId xmlns:a16="http://schemas.microsoft.com/office/drawing/2014/main" id="{5E671F9D-5DBC-8E45-9627-0894D78FD7CA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810000"/>
            <a:ext cx="7315200" cy="279400"/>
            <a:chOff x="672" y="2400"/>
            <a:chExt cx="4608" cy="176"/>
          </a:xfrm>
        </p:grpSpPr>
        <p:sp>
          <p:nvSpPr>
            <p:cNvPr id="51212" name="Rectangle 21">
              <a:extLst>
                <a:ext uri="{FF2B5EF4-FFF2-40B4-BE49-F238E27FC236}">
                  <a16:creationId xmlns:a16="http://schemas.microsoft.com/office/drawing/2014/main" id="{91ACA0B7-E11A-0A48-A8E3-CBBA45A2E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a[1].i</a:t>
              </a:r>
            </a:p>
          </p:txBody>
        </p:sp>
        <p:sp>
          <p:nvSpPr>
            <p:cNvPr id="51213" name="Rectangle 22">
              <a:extLst>
                <a:ext uri="{FF2B5EF4-FFF2-40B4-BE49-F238E27FC236}">
                  <a16:creationId xmlns:a16="http://schemas.microsoft.com/office/drawing/2014/main" id="{5A6AD5A3-3816-5340-910F-6F86A8BC0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00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a[1].j</a:t>
              </a:r>
            </a:p>
          </p:txBody>
        </p:sp>
        <p:sp>
          <p:nvSpPr>
            <p:cNvPr id="51214" name="Rectangle 23">
              <a:extLst>
                <a:ext uri="{FF2B5EF4-FFF2-40B4-BE49-F238E27FC236}">
                  <a16:creationId xmlns:a16="http://schemas.microsoft.com/office/drawing/2014/main" id="{7242B172-DF58-AC43-AEFA-BE0B39642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400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a[1].v</a:t>
              </a:r>
            </a:p>
          </p:txBody>
        </p:sp>
        <p:sp>
          <p:nvSpPr>
            <p:cNvPr id="51215" name="Rectangle 24">
              <a:extLst>
                <a:ext uri="{FF2B5EF4-FFF2-40B4-BE49-F238E27FC236}">
                  <a16:creationId xmlns:a16="http://schemas.microsoft.com/office/drawing/2014/main" id="{38806A9D-172D-5142-B7A1-B5E798F79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00"/>
              <a:ext cx="768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16" name="Rectangle 25">
              <a:extLst>
                <a:ext uri="{FF2B5EF4-FFF2-40B4-BE49-F238E27FC236}">
                  <a16:creationId xmlns:a16="http://schemas.microsoft.com/office/drawing/2014/main" id="{A1228D34-9738-304B-B8C3-F6095B297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400"/>
              <a:ext cx="768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2">
            <a:extLst>
              <a:ext uri="{FF2B5EF4-FFF2-40B4-BE49-F238E27FC236}">
                <a16:creationId xmlns:a16="http://schemas.microsoft.com/office/drawing/2014/main" id="{17D2E18A-3531-0241-A6A8-B35D1AE1CA4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8600"/>
            <a:ext cx="8915400" cy="57308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Accessing Element within Array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00A181C0-73A6-894D-B168-55FCD570FBF3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990600"/>
            <a:ext cx="6019800" cy="2189163"/>
          </a:xfrm>
          <a:prstGeom prst="rect">
            <a:avLst/>
          </a:prstGeom>
          <a:noFill/>
          <a:ln/>
        </p:spPr>
        <p:txBody>
          <a:bodyPr lIns="90487" tIns="44450" rIns="90487" bIns="44450"/>
          <a:lstStyle/>
          <a:p>
            <a:pPr marL="560388" lvl="1" indent="-222250" defTabSz="8953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Compute offset to start of structure</a:t>
            </a:r>
          </a:p>
          <a:p>
            <a:pPr lvl="2" indent="-239713" defTabSz="895350">
              <a:lnSpc>
                <a:spcPct val="97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Compute 12*</a:t>
            </a:r>
            <a:r>
              <a:rPr lang="en-US" sz="2000" b="0" i="1" dirty="0" err="1">
                <a:latin typeface="+mn-lt"/>
                <a:ea typeface="+mn-ea"/>
                <a:cs typeface="ＭＳ Ｐゴシック" charset="0"/>
              </a:rPr>
              <a:t>i</a:t>
            </a: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 as 4*(</a:t>
            </a:r>
            <a:r>
              <a:rPr lang="en-US" sz="2000" b="0" i="1" dirty="0">
                <a:latin typeface="+mn-lt"/>
                <a:ea typeface="+mn-ea"/>
                <a:cs typeface="ＭＳ Ｐゴシック" charset="0"/>
              </a:rPr>
              <a:t>i</a:t>
            </a: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+2</a:t>
            </a:r>
            <a:r>
              <a:rPr lang="en-US" sz="2000" b="0" i="1" dirty="0">
                <a:latin typeface="+mn-lt"/>
                <a:ea typeface="+mn-ea"/>
                <a:cs typeface="ＭＳ Ｐゴシック" charset="0"/>
              </a:rPr>
              <a:t>i</a:t>
            </a: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)</a:t>
            </a:r>
          </a:p>
          <a:p>
            <a:pPr marL="560388" lvl="1" indent="-222250" defTabSz="8953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Access element according to its offset within structure</a:t>
            </a:r>
          </a:p>
          <a:p>
            <a:pPr lvl="2" indent="-239713" defTabSz="895350">
              <a:lnSpc>
                <a:spcPct val="97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Offset by 8</a:t>
            </a:r>
          </a:p>
          <a:p>
            <a:pPr lvl="2" indent="-239713" defTabSz="895350">
              <a:lnSpc>
                <a:spcPct val="97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Assembler gives displacement as a + 8</a:t>
            </a:r>
          </a:p>
          <a:p>
            <a:pPr marL="1252538" lvl="3" indent="-166688" defTabSz="8953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Linker must set actual value</a:t>
            </a:r>
          </a:p>
        </p:txBody>
      </p:sp>
      <p:sp>
        <p:nvSpPr>
          <p:cNvPr id="52227" name="Line 4">
            <a:extLst>
              <a:ext uri="{FF2B5EF4-FFF2-40B4-BE49-F238E27FC236}">
                <a16:creationId xmlns:a16="http://schemas.microsoft.com/office/drawing/2014/main" id="{3C02DCB7-0A35-134D-904A-016077EAFD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5334000"/>
            <a:ext cx="3581400" cy="6096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8" name="Line 5">
            <a:extLst>
              <a:ext uri="{FF2B5EF4-FFF2-40B4-BE49-F238E27FC236}">
                <a16:creationId xmlns:a16="http://schemas.microsoft.com/office/drawing/2014/main" id="{D11B16BE-ECC9-2245-887C-1E85A1D5AC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53200" y="5334000"/>
            <a:ext cx="1981200" cy="6096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9" name="Group 6">
            <a:extLst>
              <a:ext uri="{FF2B5EF4-FFF2-40B4-BE49-F238E27FC236}">
                <a16:creationId xmlns:a16="http://schemas.microsoft.com/office/drawing/2014/main" id="{EFE7AA6E-0BDE-6647-BC1A-F0EB9B54B05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029200"/>
            <a:ext cx="7162800" cy="685800"/>
            <a:chOff x="842" y="3648"/>
            <a:chExt cx="4512" cy="432"/>
          </a:xfrm>
        </p:grpSpPr>
        <p:sp>
          <p:nvSpPr>
            <p:cNvPr id="52241" name="Rectangle 7">
              <a:extLst>
                <a:ext uri="{FF2B5EF4-FFF2-40B4-BE49-F238E27FC236}">
                  <a16:creationId xmlns:a16="http://schemas.microsoft.com/office/drawing/2014/main" id="{0BF704D6-A30F-CF4A-85AA-17ABE20D6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3648"/>
              <a:ext cx="113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a[0]</a:t>
              </a:r>
            </a:p>
          </p:txBody>
        </p:sp>
        <p:sp>
          <p:nvSpPr>
            <p:cNvPr id="52242" name="Rectangle 8">
              <a:extLst>
                <a:ext uri="{FF2B5EF4-FFF2-40B4-BE49-F238E27FC236}">
                  <a16:creationId xmlns:a16="http://schemas.microsoft.com/office/drawing/2014/main" id="{807A4CFF-19C4-2C4C-A110-B78A30FD7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" y="3870"/>
              <a:ext cx="34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600">
                  <a:latin typeface="Courier New" panose="02070309020205020404" pitchFamily="49" charset="0"/>
                </a:rPr>
                <a:t>a+0</a:t>
              </a:r>
            </a:p>
          </p:txBody>
        </p:sp>
        <p:sp>
          <p:nvSpPr>
            <p:cNvPr id="52243" name="Rectangle 9">
              <a:extLst>
                <a:ext uri="{FF2B5EF4-FFF2-40B4-BE49-F238E27FC236}">
                  <a16:creationId xmlns:a16="http://schemas.microsoft.com/office/drawing/2014/main" id="{7855F0F2-DDDC-8A40-913C-E1D9435AE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3648"/>
              <a:ext cx="113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a[i]</a:t>
              </a:r>
            </a:p>
          </p:txBody>
        </p:sp>
        <p:sp>
          <p:nvSpPr>
            <p:cNvPr id="52244" name="Rectangle 10">
              <a:extLst>
                <a:ext uri="{FF2B5EF4-FFF2-40B4-BE49-F238E27FC236}">
                  <a16:creationId xmlns:a16="http://schemas.microsoft.com/office/drawing/2014/main" id="{FAEB0A9F-C027-DE48-884B-F5B64F363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856"/>
              <a:ext cx="49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600">
                  <a:latin typeface="Courier New" panose="02070309020205020404" pitchFamily="49" charset="0"/>
                </a:rPr>
                <a:t>a+12i</a:t>
              </a:r>
            </a:p>
          </p:txBody>
        </p:sp>
        <p:sp>
          <p:nvSpPr>
            <p:cNvPr id="52245" name="Rectangle 11">
              <a:extLst>
                <a:ext uri="{FF2B5EF4-FFF2-40B4-BE49-F238E27FC236}">
                  <a16:creationId xmlns:a16="http://schemas.microsoft.com/office/drawing/2014/main" id="{A60A9CA8-A102-624E-833E-3418C403C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6" y="3648"/>
              <a:ext cx="100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• • •</a:t>
              </a:r>
            </a:p>
          </p:txBody>
        </p:sp>
        <p:sp>
          <p:nvSpPr>
            <p:cNvPr id="52246" name="Rectangle 12">
              <a:extLst>
                <a:ext uri="{FF2B5EF4-FFF2-40B4-BE49-F238E27FC236}">
                  <a16:creationId xmlns:a16="http://schemas.microsoft.com/office/drawing/2014/main" id="{4A137490-39F5-AD40-A4A7-534CDBF3A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3648"/>
              <a:ext cx="100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• • •</a:t>
              </a:r>
            </a:p>
          </p:txBody>
        </p:sp>
      </p:grpSp>
      <p:sp>
        <p:nvSpPr>
          <p:cNvPr id="52230" name="Rectangle 13">
            <a:extLst>
              <a:ext uri="{FF2B5EF4-FFF2-40B4-BE49-F238E27FC236}">
                <a16:creationId xmlns:a16="http://schemas.microsoft.com/office/drawing/2014/main" id="{94F0E219-8382-264C-B4F8-7DDA567BD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657600"/>
            <a:ext cx="3276600" cy="120015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short get_j(int idx)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a[idx].j;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2231" name="Rectangle 14">
            <a:extLst>
              <a:ext uri="{FF2B5EF4-FFF2-40B4-BE49-F238E27FC236}">
                <a16:creationId xmlns:a16="http://schemas.microsoft.com/office/drawing/2014/main" id="{6579FB36-3ADD-4F44-98ED-E9054E4DF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657600"/>
            <a:ext cx="4648200" cy="101282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sz="1800">
                <a:latin typeface="Courier New" panose="02070309020205020404" pitchFamily="49" charset="0"/>
              </a:rPr>
              <a:t># %eax = idx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leal (%eax,%eax,2),%eax # 3*idx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	movswl a+8(,%eax,4),%eax</a:t>
            </a:r>
          </a:p>
        </p:txBody>
      </p:sp>
      <p:sp>
        <p:nvSpPr>
          <p:cNvPr id="52232" name="Rectangle 15">
            <a:extLst>
              <a:ext uri="{FF2B5EF4-FFF2-40B4-BE49-F238E27FC236}">
                <a16:creationId xmlns:a16="http://schemas.microsoft.com/office/drawing/2014/main" id="{CAB88B65-9647-194A-B6D6-96C993BD0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6324600"/>
            <a:ext cx="8636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a+12i</a:t>
            </a:r>
          </a:p>
        </p:txBody>
      </p:sp>
      <p:sp>
        <p:nvSpPr>
          <p:cNvPr id="52233" name="Rectangle 16">
            <a:extLst>
              <a:ext uri="{FF2B5EF4-FFF2-40B4-BE49-F238E27FC236}">
                <a16:creationId xmlns:a16="http://schemas.microsoft.com/office/drawing/2014/main" id="{313D5E9B-4BEB-C243-9689-920AC32D1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6324600"/>
            <a:ext cx="11366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a+12i+8</a:t>
            </a:r>
          </a:p>
        </p:txBody>
      </p:sp>
      <p:sp>
        <p:nvSpPr>
          <p:cNvPr id="52234" name="Rectangle 17">
            <a:extLst>
              <a:ext uri="{FF2B5EF4-FFF2-40B4-BE49-F238E27FC236}">
                <a16:creationId xmlns:a16="http://schemas.microsoft.com/office/drawing/2014/main" id="{90FB8876-AB65-6E4D-8C19-6D118013F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447800"/>
            <a:ext cx="2214563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S6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short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float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short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a[10];</a:t>
            </a:r>
          </a:p>
        </p:txBody>
      </p:sp>
      <p:grpSp>
        <p:nvGrpSpPr>
          <p:cNvPr id="52235" name="Group 25">
            <a:extLst>
              <a:ext uri="{FF2B5EF4-FFF2-40B4-BE49-F238E27FC236}">
                <a16:creationId xmlns:a16="http://schemas.microsoft.com/office/drawing/2014/main" id="{07B53F51-DDAA-B543-8109-00E3B23D72B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943600"/>
            <a:ext cx="7315200" cy="279400"/>
            <a:chOff x="768" y="3600"/>
            <a:chExt cx="4608" cy="176"/>
          </a:xfrm>
        </p:grpSpPr>
        <p:sp>
          <p:nvSpPr>
            <p:cNvPr id="52236" name="Rectangle 19">
              <a:extLst>
                <a:ext uri="{FF2B5EF4-FFF2-40B4-BE49-F238E27FC236}">
                  <a16:creationId xmlns:a16="http://schemas.microsoft.com/office/drawing/2014/main" id="{CB32F957-383F-314D-AC63-882400F32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600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a[i].i</a:t>
              </a:r>
            </a:p>
          </p:txBody>
        </p:sp>
        <p:sp>
          <p:nvSpPr>
            <p:cNvPr id="52237" name="Rectangle 20">
              <a:extLst>
                <a:ext uri="{FF2B5EF4-FFF2-40B4-BE49-F238E27FC236}">
                  <a16:creationId xmlns:a16="http://schemas.microsoft.com/office/drawing/2014/main" id="{5376A9FE-DC7F-5C42-B487-3398151F9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600"/>
              <a:ext cx="752" cy="176"/>
            </a:xfrm>
            <a:prstGeom prst="rect">
              <a:avLst/>
            </a:prstGeom>
            <a:solidFill>
              <a:srgbClr val="CCC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a[i].j</a:t>
              </a:r>
            </a:p>
          </p:txBody>
        </p:sp>
        <p:sp>
          <p:nvSpPr>
            <p:cNvPr id="52238" name="Rectangle 21">
              <a:extLst>
                <a:ext uri="{FF2B5EF4-FFF2-40B4-BE49-F238E27FC236}">
                  <a16:creationId xmlns:a16="http://schemas.microsoft.com/office/drawing/2014/main" id="{ACA0E7FE-2827-D744-8F48-5C02D1178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600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a[i].v</a:t>
              </a:r>
            </a:p>
          </p:txBody>
        </p:sp>
        <p:sp>
          <p:nvSpPr>
            <p:cNvPr id="52239" name="Rectangle 22">
              <a:extLst>
                <a:ext uri="{FF2B5EF4-FFF2-40B4-BE49-F238E27FC236}">
                  <a16:creationId xmlns:a16="http://schemas.microsoft.com/office/drawing/2014/main" id="{D90239BD-FFE1-BE42-B77C-0D384D14E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600"/>
              <a:ext cx="768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240" name="Rectangle 23">
              <a:extLst>
                <a:ext uri="{FF2B5EF4-FFF2-40B4-BE49-F238E27FC236}">
                  <a16:creationId xmlns:a16="http://schemas.microsoft.com/office/drawing/2014/main" id="{698E45FC-CEDE-0B4B-99C7-221676C48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600"/>
              <a:ext cx="768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A3F64AF-8EDA-C746-A1FC-282D80CD1713}"/>
              </a:ext>
            </a:extLst>
          </p:cNvPr>
          <p:cNvSpPr txBox="1">
            <a:spLocks noChangeArrowheads="1"/>
          </p:cNvSpPr>
          <p:nvPr/>
        </p:nvSpPr>
        <p:spPr>
          <a:xfrm>
            <a:off x="176213" y="228600"/>
            <a:ext cx="8815387" cy="57308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Alignment within Structure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716B4C6A-4C97-6D40-9633-756D714E8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14400"/>
            <a:ext cx="6781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>
                <a:latin typeface="Calibri" panose="020F0502020204030204" pitchFamily="34" charset="0"/>
              </a:rPr>
              <a:t>Achieving Alignment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Starting address of structure array must be multiple of worst-case alignment for any element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a</a:t>
            </a:r>
            <a:r>
              <a:rPr lang="en-US" altLang="en-US" sz="2000" b="0">
                <a:latin typeface="Calibri" panose="020F0502020204030204" pitchFamily="34" charset="0"/>
              </a:rPr>
              <a:t> must be multiple of 4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Offset of element within structure must be multiple of element</a:t>
            </a:r>
            <a:r>
              <a:rPr lang="ja-JP" altLang="en-US" sz="2000" b="0">
                <a:latin typeface="Calibri" panose="020F0502020204030204" pitchFamily="34" charset="0"/>
              </a:rPr>
              <a:t>’</a:t>
            </a:r>
            <a:r>
              <a:rPr lang="en-US" altLang="ja-JP" sz="2000" b="0">
                <a:latin typeface="Calibri" panose="020F0502020204030204" pitchFamily="34" charset="0"/>
              </a:rPr>
              <a:t>s alignment requirement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 </a:t>
            </a:r>
            <a:r>
              <a:rPr lang="en-US" altLang="en-US" sz="2000" b="0">
                <a:latin typeface="Courier New" panose="02070309020205020404" pitchFamily="49" charset="0"/>
              </a:rPr>
              <a:t>v</a:t>
            </a:r>
            <a:r>
              <a:rPr lang="ja-JP" altLang="en-US" sz="2000" b="0">
                <a:latin typeface="Calibri" panose="020F0502020204030204" pitchFamily="34" charset="0"/>
              </a:rPr>
              <a:t>’</a:t>
            </a:r>
            <a:r>
              <a:rPr lang="en-US" altLang="ja-JP" sz="2000" b="0">
                <a:latin typeface="Calibri" panose="020F0502020204030204" pitchFamily="34" charset="0"/>
              </a:rPr>
              <a:t>s offset of 4 is a multiple of 4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Overall size of structure must be multiple of worst-case alignment for any element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Structure padded with unused space to be 12 bytes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b="0">
              <a:latin typeface="Calibri" panose="020F0502020204030204" pitchFamily="34" charset="0"/>
            </a:endParaRPr>
          </a:p>
        </p:txBody>
      </p:sp>
      <p:sp>
        <p:nvSpPr>
          <p:cNvPr id="53251" name="Rectangle 4">
            <a:extLst>
              <a:ext uri="{FF2B5EF4-FFF2-40B4-BE49-F238E27FC236}">
                <a16:creationId xmlns:a16="http://schemas.microsoft.com/office/drawing/2014/main" id="{0F801C01-6F18-A545-A206-11F202163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133600"/>
            <a:ext cx="2214563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S6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short i;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float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short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a[10];</a:t>
            </a:r>
          </a:p>
        </p:txBody>
      </p:sp>
      <p:grpSp>
        <p:nvGrpSpPr>
          <p:cNvPr id="53252" name="Group 30">
            <a:extLst>
              <a:ext uri="{FF2B5EF4-FFF2-40B4-BE49-F238E27FC236}">
                <a16:creationId xmlns:a16="http://schemas.microsoft.com/office/drawing/2014/main" id="{910A12CD-E5AA-E045-9BE0-4DE9189D9B1C}"/>
              </a:ext>
            </a:extLst>
          </p:cNvPr>
          <p:cNvGrpSpPr>
            <a:grpSpLocks/>
          </p:cNvGrpSpPr>
          <p:nvPr/>
        </p:nvGrpSpPr>
        <p:grpSpPr bwMode="auto">
          <a:xfrm>
            <a:off x="1328738" y="4665663"/>
            <a:ext cx="7510462" cy="1658937"/>
            <a:chOff x="768" y="2640"/>
            <a:chExt cx="4731" cy="1045"/>
          </a:xfrm>
        </p:grpSpPr>
        <p:sp>
          <p:nvSpPr>
            <p:cNvPr id="53258" name="Line 6">
              <a:extLst>
                <a:ext uri="{FF2B5EF4-FFF2-40B4-BE49-F238E27FC236}">
                  <a16:creationId xmlns:a16="http://schemas.microsoft.com/office/drawing/2014/main" id="{FF2832C4-69B5-AA45-BCEB-1107F14F6F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91" y="2832"/>
              <a:ext cx="2256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9" name="Line 7">
              <a:extLst>
                <a:ext uri="{FF2B5EF4-FFF2-40B4-BE49-F238E27FC236}">
                  <a16:creationId xmlns:a16="http://schemas.microsoft.com/office/drawing/2014/main" id="{29836760-B1A8-914E-A683-B91C944A3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51" y="2832"/>
              <a:ext cx="124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260" name="Group 29">
              <a:extLst>
                <a:ext uri="{FF2B5EF4-FFF2-40B4-BE49-F238E27FC236}">
                  <a16:creationId xmlns:a16="http://schemas.microsoft.com/office/drawing/2014/main" id="{DD88E7F3-92F9-F845-AEDB-CF8D87D27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640"/>
              <a:ext cx="4539" cy="451"/>
              <a:chOff x="768" y="2640"/>
              <a:chExt cx="4539" cy="451"/>
            </a:xfrm>
          </p:grpSpPr>
          <p:sp>
            <p:nvSpPr>
              <p:cNvPr id="53269" name="Rectangle 9">
                <a:extLst>
                  <a:ext uri="{FF2B5EF4-FFF2-40B4-BE49-F238E27FC236}">
                    <a16:creationId xmlns:a16="http://schemas.microsoft.com/office/drawing/2014/main" id="{4372E71D-12E3-3A4E-B985-FC35E2130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" y="2640"/>
                <a:ext cx="1136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a[0]</a:t>
                </a:r>
              </a:p>
            </p:txBody>
          </p:sp>
          <p:sp>
            <p:nvSpPr>
              <p:cNvPr id="53270" name="Rectangle 10">
                <a:extLst>
                  <a:ext uri="{FF2B5EF4-FFF2-40B4-BE49-F238E27FC236}">
                    <a16:creationId xmlns:a16="http://schemas.microsoft.com/office/drawing/2014/main" id="{033D1C34-C063-9444-925C-3F7AD56E3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862"/>
                <a:ext cx="372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a+0</a:t>
                </a:r>
              </a:p>
            </p:txBody>
          </p:sp>
          <p:sp>
            <p:nvSpPr>
              <p:cNvPr id="53271" name="Rectangle 11">
                <a:extLst>
                  <a:ext uri="{FF2B5EF4-FFF2-40B4-BE49-F238E27FC236}">
                    <a16:creationId xmlns:a16="http://schemas.microsoft.com/office/drawing/2014/main" id="{2A3CAE5E-EF6B-9F49-9651-AEAA1AF77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" y="2640"/>
                <a:ext cx="1136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a[i]</a:t>
                </a:r>
              </a:p>
            </p:txBody>
          </p:sp>
          <p:sp>
            <p:nvSpPr>
              <p:cNvPr id="53272" name="Rectangle 12">
                <a:extLst>
                  <a:ext uri="{FF2B5EF4-FFF2-40B4-BE49-F238E27FC236}">
                    <a16:creationId xmlns:a16="http://schemas.microsoft.com/office/drawing/2014/main" id="{8B25AE02-8C05-E94C-9940-2311A5F56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0" y="2848"/>
                <a:ext cx="544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>
                    <a:latin typeface="Courier New" panose="02070309020205020404" pitchFamily="49" charset="0"/>
                  </a:rPr>
                  <a:t>a+12i</a:t>
                </a:r>
              </a:p>
            </p:txBody>
          </p:sp>
          <p:sp>
            <p:nvSpPr>
              <p:cNvPr id="53273" name="Rectangle 13">
                <a:extLst>
                  <a:ext uri="{FF2B5EF4-FFF2-40B4-BE49-F238E27FC236}">
                    <a16:creationId xmlns:a16="http://schemas.microsoft.com/office/drawing/2014/main" id="{E9DAF62D-7B7C-F445-9DA7-579EC7449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9" y="2640"/>
                <a:ext cx="100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• • •</a:t>
                </a:r>
              </a:p>
            </p:txBody>
          </p:sp>
          <p:sp>
            <p:nvSpPr>
              <p:cNvPr id="53274" name="Rectangle 14">
                <a:extLst>
                  <a:ext uri="{FF2B5EF4-FFF2-40B4-BE49-F238E27FC236}">
                    <a16:creationId xmlns:a16="http://schemas.microsoft.com/office/drawing/2014/main" id="{92A514C8-0A64-DE46-A1A2-96C368123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9" y="2640"/>
                <a:ext cx="100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• • •</a:t>
                </a:r>
              </a:p>
            </p:txBody>
          </p:sp>
        </p:grpSp>
        <p:sp>
          <p:nvSpPr>
            <p:cNvPr id="53261" name="Rectangle 15">
              <a:extLst>
                <a:ext uri="{FF2B5EF4-FFF2-40B4-BE49-F238E27FC236}">
                  <a16:creationId xmlns:a16="http://schemas.microsoft.com/office/drawing/2014/main" id="{D077A0D4-4AFB-7741-B7AF-9A5A15858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456"/>
              <a:ext cx="54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a+12i</a:t>
              </a:r>
            </a:p>
          </p:txBody>
        </p:sp>
        <p:sp>
          <p:nvSpPr>
            <p:cNvPr id="53262" name="Rectangle 16">
              <a:extLst>
                <a:ext uri="{FF2B5EF4-FFF2-40B4-BE49-F238E27FC236}">
                  <a16:creationId xmlns:a16="http://schemas.microsoft.com/office/drawing/2014/main" id="{E28C330F-6762-A64B-B174-5CD1075BD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3456"/>
              <a:ext cx="71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a+12i+4</a:t>
              </a:r>
            </a:p>
          </p:txBody>
        </p:sp>
        <p:grpSp>
          <p:nvGrpSpPr>
            <p:cNvPr id="53263" name="Group 28">
              <a:extLst>
                <a:ext uri="{FF2B5EF4-FFF2-40B4-BE49-F238E27FC236}">
                  <a16:creationId xmlns:a16="http://schemas.microsoft.com/office/drawing/2014/main" id="{9B009781-5B83-6041-9D89-E258988149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1" y="3216"/>
              <a:ext cx="4608" cy="176"/>
              <a:chOff x="891" y="3216"/>
              <a:chExt cx="4608" cy="176"/>
            </a:xfrm>
          </p:grpSpPr>
          <p:sp>
            <p:nvSpPr>
              <p:cNvPr id="53264" name="Rectangle 18">
                <a:extLst>
                  <a:ext uri="{FF2B5EF4-FFF2-40B4-BE49-F238E27FC236}">
                    <a16:creationId xmlns:a16="http://schemas.microsoft.com/office/drawing/2014/main" id="{3F2B3B94-386A-F54C-B813-83493B31F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" y="3216"/>
                <a:ext cx="752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a[1].i</a:t>
                </a:r>
              </a:p>
            </p:txBody>
          </p:sp>
          <p:sp>
            <p:nvSpPr>
              <p:cNvPr id="53265" name="Rectangle 19">
                <a:extLst>
                  <a:ext uri="{FF2B5EF4-FFF2-40B4-BE49-F238E27FC236}">
                    <a16:creationId xmlns:a16="http://schemas.microsoft.com/office/drawing/2014/main" id="{DDD35120-B6FE-A041-8884-452930CCB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3" y="3216"/>
                <a:ext cx="752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a[1].j</a:t>
                </a:r>
              </a:p>
            </p:txBody>
          </p:sp>
          <p:sp>
            <p:nvSpPr>
              <p:cNvPr id="53266" name="Rectangle 20">
                <a:extLst>
                  <a:ext uri="{FF2B5EF4-FFF2-40B4-BE49-F238E27FC236}">
                    <a16:creationId xmlns:a16="http://schemas.microsoft.com/office/drawing/2014/main" id="{B9992F7D-E71C-944E-A2ED-A2A06B65E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" y="3216"/>
                <a:ext cx="1520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>
                    <a:latin typeface="Courier New" panose="02070309020205020404" pitchFamily="49" charset="0"/>
                  </a:rPr>
                  <a:t>a[1].v</a:t>
                </a:r>
              </a:p>
            </p:txBody>
          </p:sp>
          <p:sp>
            <p:nvSpPr>
              <p:cNvPr id="53267" name="Rectangle 21">
                <a:extLst>
                  <a:ext uri="{FF2B5EF4-FFF2-40B4-BE49-F238E27FC236}">
                    <a16:creationId xmlns:a16="http://schemas.microsoft.com/office/drawing/2014/main" id="{9ED209D0-19FF-DD4B-96B2-D7F40E0FA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3216"/>
                <a:ext cx="768" cy="176"/>
              </a:xfrm>
              <a:prstGeom prst="rect">
                <a:avLst/>
              </a:prstGeom>
              <a:solidFill>
                <a:srgbClr val="B2B2B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3268" name="Rectangle 22">
                <a:extLst>
                  <a:ext uri="{FF2B5EF4-FFF2-40B4-BE49-F238E27FC236}">
                    <a16:creationId xmlns:a16="http://schemas.microsoft.com/office/drawing/2014/main" id="{35B9E6F4-6B3A-734A-B906-14BDAE9C5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1" y="3216"/>
                <a:ext cx="768" cy="176"/>
              </a:xfrm>
              <a:prstGeom prst="rect">
                <a:avLst/>
              </a:prstGeom>
              <a:solidFill>
                <a:srgbClr val="B2B2B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sp>
        <p:nvSpPr>
          <p:cNvPr id="53253" name="Line 23">
            <a:extLst>
              <a:ext uri="{FF2B5EF4-FFF2-40B4-BE49-F238E27FC236}">
                <a16:creationId xmlns:a16="http://schemas.microsoft.com/office/drawing/2014/main" id="{7CEF6FC7-E208-1F45-9FB6-AC35E6E0F46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6477000"/>
            <a:ext cx="762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Text Box 24">
            <a:extLst>
              <a:ext uri="{FF2B5EF4-FFF2-40B4-BE49-F238E27FC236}">
                <a16:creationId xmlns:a16="http://schemas.microsoft.com/office/drawing/2014/main" id="{FA05DB70-0FCA-B243-B177-BB7934500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6491288"/>
            <a:ext cx="1416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>
                <a:latin typeface="Helvetica" pitchFamily="2" charset="0"/>
              </a:rPr>
              <a:t>Multiple of 4</a:t>
            </a:r>
          </a:p>
        </p:txBody>
      </p:sp>
      <p:sp>
        <p:nvSpPr>
          <p:cNvPr id="53255" name="Line 25">
            <a:extLst>
              <a:ext uri="{FF2B5EF4-FFF2-40B4-BE49-F238E27FC236}">
                <a16:creationId xmlns:a16="http://schemas.microsoft.com/office/drawing/2014/main" id="{3FE88DF0-7322-C148-9AB5-A394DCE2F5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6800" y="5334000"/>
            <a:ext cx="4572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Text Box 26">
            <a:extLst>
              <a:ext uri="{FF2B5EF4-FFF2-40B4-BE49-F238E27FC236}">
                <a16:creationId xmlns:a16="http://schemas.microsoft.com/office/drawing/2014/main" id="{07BF5733-97CD-2A47-A6FF-F9EF99FDF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91200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>
                <a:latin typeface="Helvetica" pitchFamily="2" charset="0"/>
              </a:rPr>
              <a:t>Multiple of 4</a:t>
            </a:r>
          </a:p>
        </p:txBody>
      </p:sp>
      <p:sp>
        <p:nvSpPr>
          <p:cNvPr id="53257" name="AutoShape 27">
            <a:extLst>
              <a:ext uri="{FF2B5EF4-FFF2-40B4-BE49-F238E27FC236}">
                <a16:creationId xmlns:a16="http://schemas.microsoft.com/office/drawing/2014/main" id="{E81DB0B6-AAD5-E24F-818B-0CCC4D8E5052}"/>
              </a:ext>
            </a:extLst>
          </p:cNvPr>
          <p:cNvSpPr>
            <a:spLocks/>
          </p:cNvSpPr>
          <p:nvPr/>
        </p:nvSpPr>
        <p:spPr bwMode="auto">
          <a:xfrm rot="-5400000">
            <a:off x="4191000" y="5791200"/>
            <a:ext cx="228600" cy="1143000"/>
          </a:xfrm>
          <a:prstGeom prst="leftBrace">
            <a:avLst>
              <a:gd name="adj1" fmla="val 41667"/>
              <a:gd name="adj2" fmla="val 49866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2DA8211-6E27-5641-99C4-548C6BD0A152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304800"/>
            <a:ext cx="5837238" cy="57308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Union Allocation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3B73E2B-E7AD-D546-B0B6-D3B866772B92}"/>
              </a:ext>
            </a:extLst>
          </p:cNvPr>
          <p:cNvSpPr txBox="1">
            <a:spLocks noChangeArrowheads="1"/>
          </p:cNvSpPr>
          <p:nvPr/>
        </p:nvSpPr>
        <p:spPr>
          <a:xfrm>
            <a:off x="290513" y="990600"/>
            <a:ext cx="8015287" cy="1676400"/>
          </a:xfrm>
          <a:prstGeom prst="rect">
            <a:avLst/>
          </a:prstGeom>
          <a:noFill/>
          <a:ln/>
        </p:spPr>
        <p:txBody>
          <a:bodyPr lIns="90487" tIns="44450" rIns="90487" bIns="44450"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Principles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Overlay union elements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Allocate according to largest element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Can only use one field at a time</a:t>
            </a:r>
          </a:p>
        </p:txBody>
      </p:sp>
      <p:sp>
        <p:nvSpPr>
          <p:cNvPr id="54275" name="Rectangle 4">
            <a:extLst>
              <a:ext uri="{FF2B5EF4-FFF2-40B4-BE49-F238E27FC236}">
                <a16:creationId xmlns:a16="http://schemas.microsoft.com/office/drawing/2014/main" id="{242F528F-BA44-5A4C-A427-173CEACD5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792413"/>
            <a:ext cx="2209800" cy="1474787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union U1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double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*up;</a:t>
            </a:r>
          </a:p>
        </p:txBody>
      </p:sp>
      <p:grpSp>
        <p:nvGrpSpPr>
          <p:cNvPr id="54276" name="Group 5">
            <a:extLst>
              <a:ext uri="{FF2B5EF4-FFF2-40B4-BE49-F238E27FC236}">
                <a16:creationId xmlns:a16="http://schemas.microsoft.com/office/drawing/2014/main" id="{54F58E2B-26F9-8544-8D44-DA385B4FC888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971800"/>
            <a:ext cx="3165475" cy="1243013"/>
            <a:chOff x="233" y="3128"/>
            <a:chExt cx="1994" cy="783"/>
          </a:xfrm>
        </p:grpSpPr>
        <p:sp>
          <p:nvSpPr>
            <p:cNvPr id="54291" name="Rectangle 6">
              <a:extLst>
                <a:ext uri="{FF2B5EF4-FFF2-40B4-BE49-F238E27FC236}">
                  <a16:creationId xmlns:a16="http://schemas.microsoft.com/office/drawing/2014/main" id="{CAB7F308-2B73-1E49-8641-387D2D7AC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" y="3128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54292" name="Rectangle 7">
              <a:extLst>
                <a:ext uri="{FF2B5EF4-FFF2-40B4-BE49-F238E27FC236}">
                  <a16:creationId xmlns:a16="http://schemas.microsoft.com/office/drawing/2014/main" id="{D35FDECA-5B49-3F4D-964D-F7A26D762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" y="3320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54293" name="Rectangle 8">
              <a:extLst>
                <a:ext uri="{FF2B5EF4-FFF2-40B4-BE49-F238E27FC236}">
                  <a16:creationId xmlns:a16="http://schemas.microsoft.com/office/drawing/2014/main" id="{8F5F7413-AA61-D046-871E-713EAEA4A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320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54294" name="Rectangle 9">
              <a:extLst>
                <a:ext uri="{FF2B5EF4-FFF2-40B4-BE49-F238E27FC236}">
                  <a16:creationId xmlns:a16="http://schemas.microsoft.com/office/drawing/2014/main" id="{CF0D8FF6-8461-A14A-947E-5E3CE9DEA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" y="3512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v</a:t>
              </a:r>
            </a:p>
          </p:txBody>
        </p:sp>
        <p:sp>
          <p:nvSpPr>
            <p:cNvPr id="54295" name="Rectangle 10">
              <a:extLst>
                <a:ext uri="{FF2B5EF4-FFF2-40B4-BE49-F238E27FC236}">
                  <a16:creationId xmlns:a16="http://schemas.microsoft.com/office/drawing/2014/main" id="{C420216E-6469-524C-9F28-1E8E52724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" y="3682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up+0</a:t>
              </a:r>
            </a:p>
          </p:txBody>
        </p:sp>
        <p:sp>
          <p:nvSpPr>
            <p:cNvPr id="54296" name="Rectangle 11">
              <a:extLst>
                <a:ext uri="{FF2B5EF4-FFF2-40B4-BE49-F238E27FC236}">
                  <a16:creationId xmlns:a16="http://schemas.microsoft.com/office/drawing/2014/main" id="{94935746-19F7-8949-8C86-A14796B04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" y="3682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up+4</a:t>
              </a:r>
            </a:p>
          </p:txBody>
        </p:sp>
        <p:sp>
          <p:nvSpPr>
            <p:cNvPr id="54297" name="Rectangle 12">
              <a:extLst>
                <a:ext uri="{FF2B5EF4-FFF2-40B4-BE49-F238E27FC236}">
                  <a16:creationId xmlns:a16="http://schemas.microsoft.com/office/drawing/2014/main" id="{ED2EB086-EC03-984C-A586-067C064AD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3682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up+8</a:t>
              </a:r>
            </a:p>
          </p:txBody>
        </p:sp>
      </p:grpSp>
      <p:sp>
        <p:nvSpPr>
          <p:cNvPr id="54277" name="Rectangle 13">
            <a:extLst>
              <a:ext uri="{FF2B5EF4-FFF2-40B4-BE49-F238E27FC236}">
                <a16:creationId xmlns:a16="http://schemas.microsoft.com/office/drawing/2014/main" id="{75012D3E-591A-3446-98E6-8D028B6A8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962400"/>
            <a:ext cx="2214563" cy="14747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struct S1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char c;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int i[2];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double v;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*sp;</a:t>
            </a:r>
          </a:p>
        </p:txBody>
      </p:sp>
      <p:grpSp>
        <p:nvGrpSpPr>
          <p:cNvPr id="54278" name="Group 27">
            <a:extLst>
              <a:ext uri="{FF2B5EF4-FFF2-40B4-BE49-F238E27FC236}">
                <a16:creationId xmlns:a16="http://schemas.microsoft.com/office/drawing/2014/main" id="{B18EC2E8-43DF-1849-BC7E-6D0F2242567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715000"/>
            <a:ext cx="8118475" cy="655638"/>
            <a:chOff x="384" y="3504"/>
            <a:chExt cx="5114" cy="413"/>
          </a:xfrm>
        </p:grpSpPr>
        <p:sp>
          <p:nvSpPr>
            <p:cNvPr id="54280" name="Rectangle 15">
              <a:extLst>
                <a:ext uri="{FF2B5EF4-FFF2-40B4-BE49-F238E27FC236}">
                  <a16:creationId xmlns:a16="http://schemas.microsoft.com/office/drawing/2014/main" id="{456ECB53-B29E-4D4A-9079-5FB329623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3504"/>
              <a:ext cx="17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54281" name="Rectangle 16">
              <a:extLst>
                <a:ext uri="{FF2B5EF4-FFF2-40B4-BE49-F238E27FC236}">
                  <a16:creationId xmlns:a16="http://schemas.microsoft.com/office/drawing/2014/main" id="{2D90D831-B312-6D48-901B-E140B3D8D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3504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54282" name="Rectangle 17">
              <a:extLst>
                <a:ext uri="{FF2B5EF4-FFF2-40B4-BE49-F238E27FC236}">
                  <a16:creationId xmlns:a16="http://schemas.microsoft.com/office/drawing/2014/main" id="{A7246170-E6C3-534F-8758-7D96F51BC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3504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54283" name="Rectangle 18">
              <a:extLst>
                <a:ext uri="{FF2B5EF4-FFF2-40B4-BE49-F238E27FC236}">
                  <a16:creationId xmlns:a16="http://schemas.microsoft.com/office/drawing/2014/main" id="{81DB5D82-E6B8-A44C-890B-CEFE43D96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504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latin typeface="Courier New" panose="02070309020205020404" pitchFamily="49" charset="0"/>
                </a:rPr>
                <a:t>v</a:t>
              </a:r>
            </a:p>
          </p:txBody>
        </p:sp>
        <p:sp>
          <p:nvSpPr>
            <p:cNvPr id="54284" name="Rectangle 19">
              <a:extLst>
                <a:ext uri="{FF2B5EF4-FFF2-40B4-BE49-F238E27FC236}">
                  <a16:creationId xmlns:a16="http://schemas.microsoft.com/office/drawing/2014/main" id="{8B58DD8F-AD83-024A-A280-B8437B1D1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" y="3504"/>
              <a:ext cx="560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285" name="Rectangle 20">
              <a:extLst>
                <a:ext uri="{FF2B5EF4-FFF2-40B4-BE49-F238E27FC236}">
                  <a16:creationId xmlns:a16="http://schemas.microsoft.com/office/drawing/2014/main" id="{F30F5D3B-A36A-6948-8C88-F63D2E0EB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9" y="3504"/>
              <a:ext cx="752" cy="176"/>
            </a:xfrm>
            <a:prstGeom prst="rect">
              <a:avLst/>
            </a:prstGeom>
            <a:solidFill>
              <a:srgbClr val="B2B2B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286" name="Rectangle 21">
              <a:extLst>
                <a:ext uri="{FF2B5EF4-FFF2-40B4-BE49-F238E27FC236}">
                  <a16:creationId xmlns:a16="http://schemas.microsoft.com/office/drawing/2014/main" id="{8FDA46AD-66E1-1C4D-8FF7-8ADB6CC4E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68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sp+0</a:t>
              </a:r>
            </a:p>
          </p:txBody>
        </p:sp>
        <p:sp>
          <p:nvSpPr>
            <p:cNvPr id="54287" name="Rectangle 22">
              <a:extLst>
                <a:ext uri="{FF2B5EF4-FFF2-40B4-BE49-F238E27FC236}">
                  <a16:creationId xmlns:a16="http://schemas.microsoft.com/office/drawing/2014/main" id="{F7C6C8F7-4903-3E45-9B2D-1A6875368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68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sp+4</a:t>
              </a:r>
            </a:p>
          </p:txBody>
        </p:sp>
        <p:sp>
          <p:nvSpPr>
            <p:cNvPr id="54288" name="Rectangle 23">
              <a:extLst>
                <a:ext uri="{FF2B5EF4-FFF2-40B4-BE49-F238E27FC236}">
                  <a16:creationId xmlns:a16="http://schemas.microsoft.com/office/drawing/2014/main" id="{D9B617F0-5E82-B54D-A8C2-2232A9E54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688"/>
              <a:ext cx="45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sp+8</a:t>
              </a:r>
            </a:p>
          </p:txBody>
        </p:sp>
        <p:sp>
          <p:nvSpPr>
            <p:cNvPr id="54289" name="Rectangle 24">
              <a:extLst>
                <a:ext uri="{FF2B5EF4-FFF2-40B4-BE49-F238E27FC236}">
                  <a16:creationId xmlns:a16="http://schemas.microsoft.com/office/drawing/2014/main" id="{2B1731F4-8798-C042-87C2-5670C95E3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8" y="3688"/>
              <a:ext cx="54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sp+16</a:t>
              </a:r>
            </a:p>
          </p:txBody>
        </p:sp>
        <p:sp>
          <p:nvSpPr>
            <p:cNvPr id="54290" name="Rectangle 25">
              <a:extLst>
                <a:ext uri="{FF2B5EF4-FFF2-40B4-BE49-F238E27FC236}">
                  <a16:creationId xmlns:a16="http://schemas.microsoft.com/office/drawing/2014/main" id="{F1BC746C-2A5C-0841-9221-74B0F40A6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4" y="3688"/>
              <a:ext cx="54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>
                  <a:latin typeface="Courier New" panose="02070309020205020404" pitchFamily="49" charset="0"/>
                </a:rPr>
                <a:t>sp+24</a:t>
              </a:r>
            </a:p>
          </p:txBody>
        </p:sp>
      </p:grpSp>
      <p:sp>
        <p:nvSpPr>
          <p:cNvPr id="54279" name="Text Box 26">
            <a:extLst>
              <a:ext uri="{FF2B5EF4-FFF2-40B4-BE49-F238E27FC236}">
                <a16:creationId xmlns:a16="http://schemas.microsoft.com/office/drawing/2014/main" id="{FF260D53-5602-C443-8E91-75B68F7DA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5222875"/>
            <a:ext cx="2378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 i="1">
                <a:latin typeface="Helvetica" pitchFamily="2" charset="0"/>
              </a:rPr>
              <a:t>(Windows alignment)</a:t>
            </a:r>
            <a:endParaRPr lang="en-US" altLang="en-US" b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645EA563-0083-7646-B7D5-EAD8F936D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985838"/>
            <a:ext cx="2519362" cy="120015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typedef union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float f;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unsigned u;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 bit_float_t;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A16941D2-AB5F-D24E-9C56-E1C65FDF3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066800"/>
            <a:ext cx="3883025" cy="1751013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float bit2float(unsigned u)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bit_float_t arg;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arg.u = u;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arg.f;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5299" name="Rectangle 5">
            <a:extLst>
              <a:ext uri="{FF2B5EF4-FFF2-40B4-BE49-F238E27FC236}">
                <a16:creationId xmlns:a16="http://schemas.microsoft.com/office/drawing/2014/main" id="{A66E7255-F9A3-FC4C-BEF8-84CCF34E5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2527300"/>
            <a:ext cx="11938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u</a:t>
            </a: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BECCB0FC-A811-DE4D-9781-FD6157516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2832100"/>
            <a:ext cx="11938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506D75DB-BBAF-CB43-BECA-9281AAEF9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3" y="3101975"/>
            <a:ext cx="3175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55302" name="Rectangle 8">
            <a:extLst>
              <a:ext uri="{FF2B5EF4-FFF2-40B4-BE49-F238E27FC236}">
                <a16:creationId xmlns:a16="http://schemas.microsoft.com/office/drawing/2014/main" id="{4AE74E57-A03E-2F42-AD66-51BE5C4B7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3" y="3101975"/>
            <a:ext cx="3175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55303" name="Rectangle 9">
            <a:extLst>
              <a:ext uri="{FF2B5EF4-FFF2-40B4-BE49-F238E27FC236}">
                <a16:creationId xmlns:a16="http://schemas.microsoft.com/office/drawing/2014/main" id="{3A3353EB-6242-9C42-95F7-88CD4AA5B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971800"/>
            <a:ext cx="3883025" cy="1751013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unsigned float2bit(float f)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bit_float_t arg;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arg.f = f;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return arg.u;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6B424571-24C1-E24E-B2FF-11992E6D34A0}"/>
              </a:ext>
            </a:extLst>
          </p:cNvPr>
          <p:cNvSpPr txBox="1">
            <a:spLocks noChangeArrowheads="1"/>
          </p:cNvSpPr>
          <p:nvPr/>
        </p:nvSpPr>
        <p:spPr>
          <a:xfrm>
            <a:off x="606425" y="228600"/>
            <a:ext cx="9147175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Union to Access Bit Patterns</a:t>
            </a:r>
          </a:p>
        </p:txBody>
      </p:sp>
      <p:sp>
        <p:nvSpPr>
          <p:cNvPr id="55305" name="Rectangle 11">
            <a:extLst>
              <a:ext uri="{FF2B5EF4-FFF2-40B4-BE49-F238E27FC236}">
                <a16:creationId xmlns:a16="http://schemas.microsoft.com/office/drawing/2014/main" id="{BEB0AECF-27E2-CF4D-A1AB-9185B2F52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33800"/>
            <a:ext cx="5029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Get direct access to bit representation of float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ourier New" panose="02070309020205020404" pitchFamily="49" charset="0"/>
              </a:rPr>
              <a:t>bit2float</a:t>
            </a:r>
            <a:r>
              <a:rPr lang="en-US" altLang="en-US" sz="2000" b="0">
                <a:latin typeface="Calibri" panose="020F0502020204030204" pitchFamily="34" charset="0"/>
              </a:rPr>
              <a:t> generates float with given bit pattern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NOT the same as </a:t>
            </a:r>
            <a:r>
              <a:rPr lang="en-US" altLang="en-US" sz="2000" b="0">
                <a:latin typeface="Courier New" panose="02070309020205020404" pitchFamily="49" charset="0"/>
              </a:rPr>
              <a:t>(float) u</a:t>
            </a:r>
            <a:endParaRPr lang="en-US" altLang="en-US" sz="2000" b="0">
              <a:latin typeface="Calibri" panose="020F050202020403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ourier New" panose="02070309020205020404" pitchFamily="49" charset="0"/>
              </a:rPr>
              <a:t>float2bit</a:t>
            </a:r>
            <a:r>
              <a:rPr lang="en-US" altLang="en-US" sz="2000" b="0">
                <a:latin typeface="Calibri" panose="020F0502020204030204" pitchFamily="34" charset="0"/>
              </a:rPr>
              <a:t> generates bit pattern from float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Calibri" panose="020F0502020204030204" pitchFamily="34" charset="0"/>
              </a:rPr>
              <a:t>NOT the same as </a:t>
            </a:r>
            <a:r>
              <a:rPr lang="en-US" altLang="en-US" sz="2000" b="0">
                <a:latin typeface="Courier New" panose="02070309020205020404" pitchFamily="49" charset="0"/>
              </a:rPr>
              <a:t>(unsigned) f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9911E96-8B29-B341-99A8-8015548124A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20700"/>
            <a:ext cx="7467600" cy="555625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Byte Ordering Revisited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B221192-7930-524B-89B3-E328A9DB254A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295400"/>
            <a:ext cx="8307388" cy="4789488"/>
          </a:xfrm>
          <a:prstGeom prst="rect">
            <a:avLst/>
          </a:prstGeom>
          <a:noFill/>
          <a:ln/>
        </p:spPr>
        <p:txBody>
          <a:bodyPr lIns="90487" tIns="44450" rIns="90487" bIns="44450"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Idea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Short/long/quad words stored in memory as 2/4/8 consecutive bytes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Which is most (least) significant?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Can cause problems when exchanging binary data between machines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Big </a:t>
            </a:r>
            <a:r>
              <a:rPr lang="en-US" b="0" dirty="0" err="1">
                <a:latin typeface="+mn-lt"/>
                <a:ea typeface="+mn-ea"/>
                <a:cs typeface="ＭＳ Ｐゴシック" charset="0"/>
              </a:rPr>
              <a:t>Endian</a:t>
            </a:r>
            <a:endParaRPr lang="en-US" b="0" dirty="0">
              <a:latin typeface="+mn-lt"/>
              <a:ea typeface="+mn-ea"/>
              <a:cs typeface="ＭＳ Ｐゴシック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Most significant byte has lowest address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PowerPC, </a:t>
            </a:r>
            <a:r>
              <a:rPr lang="en-US" sz="2000" b="0" dirty="0" err="1">
                <a:latin typeface="+mn-lt"/>
                <a:ea typeface="+mn-ea"/>
                <a:cs typeface="ＭＳ Ｐゴシック" charset="0"/>
              </a:rPr>
              <a:t>Sparc</a:t>
            </a:r>
            <a:endParaRPr lang="en-US" sz="2000" b="0" dirty="0">
              <a:latin typeface="+mn-lt"/>
              <a:ea typeface="+mn-ea"/>
              <a:cs typeface="ＭＳ Ｐゴシック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b="0" dirty="0">
                <a:latin typeface="+mn-lt"/>
                <a:ea typeface="+mn-ea"/>
                <a:cs typeface="ＭＳ Ｐゴシック" charset="0"/>
              </a:rPr>
              <a:t>Little </a:t>
            </a:r>
            <a:r>
              <a:rPr lang="en-US" b="0" dirty="0" err="1">
                <a:latin typeface="+mn-lt"/>
                <a:ea typeface="+mn-ea"/>
                <a:cs typeface="ＭＳ Ｐゴシック" charset="0"/>
              </a:rPr>
              <a:t>Endian</a:t>
            </a:r>
            <a:endParaRPr lang="en-US" b="0" dirty="0">
              <a:latin typeface="+mn-lt"/>
              <a:ea typeface="+mn-ea"/>
              <a:cs typeface="ＭＳ Ｐゴシック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Least significant byte has lowest address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0" dirty="0">
                <a:latin typeface="+mn-lt"/>
                <a:ea typeface="+mn-ea"/>
                <a:cs typeface="ＭＳ Ｐゴシック" charset="0"/>
              </a:rPr>
              <a:t>Intel x86, Alpha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714DF42-4E26-1949-ADA6-B80D27FE7B4A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520700"/>
            <a:ext cx="6650038" cy="57308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Byte Ordering Example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86614792-9F45-404A-895D-63092693F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600200"/>
            <a:ext cx="4035425" cy="1751013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    union 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unsigned char c[8];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unsigned short s[4];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unsigned int i[2];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  unsigned long l[1];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} dw;</a:t>
            </a:r>
          </a:p>
        </p:txBody>
      </p:sp>
      <p:sp>
        <p:nvSpPr>
          <p:cNvPr id="57347" name="Rectangle 4">
            <a:extLst>
              <a:ext uri="{FF2B5EF4-FFF2-40B4-BE49-F238E27FC236}">
                <a16:creationId xmlns:a16="http://schemas.microsoft.com/office/drawing/2014/main" id="{14F9EFBD-B141-824E-995A-E86A9CF6A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c[3]</a:t>
            </a:r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CFA9867E-4037-D945-903B-3B794CBC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3975100"/>
            <a:ext cx="11938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s[1]</a:t>
            </a:r>
          </a:p>
        </p:txBody>
      </p:sp>
      <p:sp>
        <p:nvSpPr>
          <p:cNvPr id="57349" name="Rectangle 6">
            <a:extLst>
              <a:ext uri="{FF2B5EF4-FFF2-40B4-BE49-F238E27FC236}">
                <a16:creationId xmlns:a16="http://schemas.microsoft.com/office/drawing/2014/main" id="{5D899E60-4D4A-1D43-A5C4-1D350009E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279900"/>
            <a:ext cx="24130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i[0]</a:t>
            </a:r>
          </a:p>
        </p:txBody>
      </p:sp>
      <p:sp>
        <p:nvSpPr>
          <p:cNvPr id="57350" name="Rectangle 7">
            <a:extLst>
              <a:ext uri="{FF2B5EF4-FFF2-40B4-BE49-F238E27FC236}">
                <a16:creationId xmlns:a16="http://schemas.microsoft.com/office/drawing/2014/main" id="{56160916-4D62-7940-AA0F-E98DE5D25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c[2]</a:t>
            </a:r>
          </a:p>
        </p:txBody>
      </p:sp>
      <p:sp>
        <p:nvSpPr>
          <p:cNvPr id="57351" name="Rectangle 8">
            <a:extLst>
              <a:ext uri="{FF2B5EF4-FFF2-40B4-BE49-F238E27FC236}">
                <a16:creationId xmlns:a16="http://schemas.microsoft.com/office/drawing/2014/main" id="{49CD436D-9DE5-5843-9417-C672E68DD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c[1]</a:t>
            </a:r>
          </a:p>
        </p:txBody>
      </p:sp>
      <p:sp>
        <p:nvSpPr>
          <p:cNvPr id="57352" name="Rectangle 9">
            <a:extLst>
              <a:ext uri="{FF2B5EF4-FFF2-40B4-BE49-F238E27FC236}">
                <a16:creationId xmlns:a16="http://schemas.microsoft.com/office/drawing/2014/main" id="{10A0E05F-2B07-FA43-9B83-E35143495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3975100"/>
            <a:ext cx="11938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s[0]</a:t>
            </a:r>
          </a:p>
        </p:txBody>
      </p:sp>
      <p:sp>
        <p:nvSpPr>
          <p:cNvPr id="57353" name="Rectangle 10">
            <a:extLst>
              <a:ext uri="{FF2B5EF4-FFF2-40B4-BE49-F238E27FC236}">
                <a16:creationId xmlns:a16="http://schemas.microsoft.com/office/drawing/2014/main" id="{15F41305-D55F-5844-B682-B0EF6AAE9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c[0]</a:t>
            </a:r>
          </a:p>
        </p:txBody>
      </p:sp>
      <p:sp>
        <p:nvSpPr>
          <p:cNvPr id="57354" name="Rectangle 11">
            <a:extLst>
              <a:ext uri="{FF2B5EF4-FFF2-40B4-BE49-F238E27FC236}">
                <a16:creationId xmlns:a16="http://schemas.microsoft.com/office/drawing/2014/main" id="{5B5A8A9B-ACE6-FC4D-BCA4-C8C5D8E5C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c[7]</a:t>
            </a:r>
          </a:p>
        </p:txBody>
      </p:sp>
      <p:sp>
        <p:nvSpPr>
          <p:cNvPr id="57355" name="Rectangle 12">
            <a:extLst>
              <a:ext uri="{FF2B5EF4-FFF2-40B4-BE49-F238E27FC236}">
                <a16:creationId xmlns:a16="http://schemas.microsoft.com/office/drawing/2014/main" id="{25E88638-6D6E-CD43-9D5C-F131D27EB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3975100"/>
            <a:ext cx="11938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s[3]</a:t>
            </a:r>
          </a:p>
        </p:txBody>
      </p:sp>
      <p:sp>
        <p:nvSpPr>
          <p:cNvPr id="57356" name="Rectangle 13">
            <a:extLst>
              <a:ext uri="{FF2B5EF4-FFF2-40B4-BE49-F238E27FC236}">
                <a16:creationId xmlns:a16="http://schemas.microsoft.com/office/drawing/2014/main" id="{A04501C9-F8D9-B24C-8D49-196EAABA3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0" y="4279900"/>
            <a:ext cx="24130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i[1]</a:t>
            </a:r>
          </a:p>
        </p:txBody>
      </p:sp>
      <p:sp>
        <p:nvSpPr>
          <p:cNvPr id="57357" name="Rectangle 14">
            <a:extLst>
              <a:ext uri="{FF2B5EF4-FFF2-40B4-BE49-F238E27FC236}">
                <a16:creationId xmlns:a16="http://schemas.microsoft.com/office/drawing/2014/main" id="{07B37EB7-CC50-1346-9754-7C57A38E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c[6]</a:t>
            </a:r>
          </a:p>
        </p:txBody>
      </p:sp>
      <p:sp>
        <p:nvSpPr>
          <p:cNvPr id="57358" name="Rectangle 15">
            <a:extLst>
              <a:ext uri="{FF2B5EF4-FFF2-40B4-BE49-F238E27FC236}">
                <a16:creationId xmlns:a16="http://schemas.microsoft.com/office/drawing/2014/main" id="{259A9E4F-FCE2-2E46-8401-9225E75A1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c[5]</a:t>
            </a:r>
          </a:p>
        </p:txBody>
      </p:sp>
      <p:sp>
        <p:nvSpPr>
          <p:cNvPr id="57359" name="Rectangle 16">
            <a:extLst>
              <a:ext uri="{FF2B5EF4-FFF2-40B4-BE49-F238E27FC236}">
                <a16:creationId xmlns:a16="http://schemas.microsoft.com/office/drawing/2014/main" id="{18C8B4C3-7662-9F4D-8BA0-D040CB5F7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0" y="3975100"/>
            <a:ext cx="11938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s[2]</a:t>
            </a:r>
          </a:p>
        </p:txBody>
      </p:sp>
      <p:sp>
        <p:nvSpPr>
          <p:cNvPr id="57360" name="Rectangle 17">
            <a:extLst>
              <a:ext uri="{FF2B5EF4-FFF2-40B4-BE49-F238E27FC236}">
                <a16:creationId xmlns:a16="http://schemas.microsoft.com/office/drawing/2014/main" id="{917F8C8D-A2BF-D748-BC8E-721614DC4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0" y="3670300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c[4]</a:t>
            </a:r>
          </a:p>
        </p:txBody>
      </p:sp>
      <p:sp>
        <p:nvSpPr>
          <p:cNvPr id="57361" name="Rectangle 18">
            <a:extLst>
              <a:ext uri="{FF2B5EF4-FFF2-40B4-BE49-F238E27FC236}">
                <a16:creationId xmlns:a16="http://schemas.microsoft.com/office/drawing/2014/main" id="{BA7F13CC-024D-184F-9AC3-CAFDE416F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584700"/>
            <a:ext cx="24257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Courier New" panose="02070309020205020404" pitchFamily="49" charset="0"/>
              </a:rPr>
              <a:t>l[0]</a:t>
            </a:r>
          </a:p>
        </p:txBody>
      </p:sp>
      <p:sp>
        <p:nvSpPr>
          <p:cNvPr id="57362" name="Rectangle 19">
            <a:extLst>
              <a:ext uri="{FF2B5EF4-FFF2-40B4-BE49-F238E27FC236}">
                <a16:creationId xmlns:a16="http://schemas.microsoft.com/office/drawing/2014/main" id="{23D4CA55-800C-B44B-81EF-ACDBE6BBD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572000"/>
            <a:ext cx="2425700" cy="279400"/>
          </a:xfrm>
          <a:prstGeom prst="rect">
            <a:avLst/>
          </a:prstGeom>
          <a:solidFill>
            <a:srgbClr val="B2B2B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8A45CA2-5E0D-6A4B-A843-4D7483732477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304800"/>
            <a:ext cx="8763000" cy="57308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 dirty="0">
                <a:latin typeface="+mj-lt"/>
                <a:ea typeface="+mj-ea"/>
                <a:cs typeface="+mj-cs"/>
              </a:rPr>
              <a:t>Byte Ordering Example (</a:t>
            </a:r>
            <a:r>
              <a:rPr lang="en-US" sz="4400" b="0" dirty="0" err="1">
                <a:latin typeface="+mj-lt"/>
                <a:ea typeface="+mj-ea"/>
                <a:cs typeface="+mj-cs"/>
              </a:rPr>
              <a:t>Cont</a:t>
            </a:r>
            <a:r>
              <a:rPr lang="en-US" sz="4400" b="0" dirty="0">
                <a:latin typeface="+mj-lt"/>
                <a:ea typeface="+mj-ea"/>
                <a:cs typeface="+mj-cs"/>
              </a:rPr>
              <a:t>).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357D0CCF-BD8A-3545-BE89-658A31816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6629400" cy="507523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int j;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for (j = 0; j &lt; 8; j++)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dw.c[j] = 0xf0 + j;</a:t>
            </a:r>
          </a:p>
          <a:p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1800">
                <a:latin typeface="Courier New" panose="02070309020205020404" pitchFamily="49" charset="0"/>
              </a:rPr>
              <a:t>printf("Characters 0-7 ==  [0x%x,0x%x,0x%x,0x%x,0x%x,0x%x,0x%x,0x%x]\n",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dw.c[0], dw.c[1], dw.c[2], dw.c[3],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dw.c[4], dw.c[5], dw.c[6], dw.c[7]);</a:t>
            </a:r>
          </a:p>
          <a:p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1800">
                <a:latin typeface="Courier New" panose="02070309020205020404" pitchFamily="49" charset="0"/>
              </a:rPr>
              <a:t>printf("Shorts 0-3 == [0x%x,0x%x,0x%x,0x%x]\n",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dw.s[0], dw.s[1], dw.s[2], dw.s[3]);</a:t>
            </a:r>
          </a:p>
          <a:p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1800">
                <a:latin typeface="Courier New" panose="02070309020205020404" pitchFamily="49" charset="0"/>
              </a:rPr>
              <a:t>printf("Ints 0-1 == [0x%x,0x%x]\n",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dw.i[0], dw.i[1]);</a:t>
            </a:r>
          </a:p>
          <a:p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1800">
                <a:latin typeface="Courier New" panose="02070309020205020404" pitchFamily="49" charset="0"/>
              </a:rPr>
              <a:t>printf("Long 0 == [0x%lx]\n",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dw.l[0]);</a:t>
            </a:r>
          </a:p>
          <a:p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AC5D747-5077-7043-BC30-2020CFAA7FA1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304800"/>
            <a:ext cx="6273800" cy="555625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Byte Ordering on x86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A363FF0F-B22C-0941-A48C-5AC56FB68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26035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Little Endian</a:t>
            </a:r>
          </a:p>
        </p:txBody>
      </p:sp>
      <p:sp>
        <p:nvSpPr>
          <p:cNvPr id="59395" name="Rectangle 4">
            <a:extLst>
              <a:ext uri="{FF2B5EF4-FFF2-40B4-BE49-F238E27FC236}">
                <a16:creationId xmlns:a16="http://schemas.microsoft.com/office/drawing/2014/main" id="{BE48A190-2331-1141-B514-925DAAED5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105400"/>
            <a:ext cx="835501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Characters 0-7 == [0xf0,0xf1,0xf2,0xf3,0xf4,0xf5,0xf6,0xf7]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Shorts     0-3 == [0xf1f0,0xf3f2,0xf5f4,0xf7f6]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Ints       0-1 == [0xf3f2f1f0,0xf7f6f5f4]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Long       0   == [f3f2f1f0]</a:t>
            </a:r>
          </a:p>
        </p:txBody>
      </p:sp>
      <p:sp>
        <p:nvSpPr>
          <p:cNvPr id="59396" name="Rectangle 5">
            <a:extLst>
              <a:ext uri="{FF2B5EF4-FFF2-40B4-BE49-F238E27FC236}">
                <a16:creationId xmlns:a16="http://schemas.microsoft.com/office/drawing/2014/main" id="{98AFE507-BBB4-9D4B-81B4-039CBE0F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40263"/>
            <a:ext cx="36576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Output on Pentium:</a:t>
            </a:r>
          </a:p>
        </p:txBody>
      </p:sp>
      <p:grpSp>
        <p:nvGrpSpPr>
          <p:cNvPr id="59397" name="Group 6">
            <a:extLst>
              <a:ext uri="{FF2B5EF4-FFF2-40B4-BE49-F238E27FC236}">
                <a16:creationId xmlns:a16="http://schemas.microsoft.com/office/drawing/2014/main" id="{C0CF2F67-8396-A74E-88C1-825BBABE24C5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676400"/>
            <a:ext cx="4851400" cy="2892425"/>
            <a:chOff x="1112" y="1159"/>
            <a:chExt cx="3056" cy="1822"/>
          </a:xfrm>
        </p:grpSpPr>
        <p:grpSp>
          <p:nvGrpSpPr>
            <p:cNvPr id="59398" name="Group 7">
              <a:extLst>
                <a:ext uri="{FF2B5EF4-FFF2-40B4-BE49-F238E27FC236}">
                  <a16:creationId xmlns:a16="http://schemas.microsoft.com/office/drawing/2014/main" id="{2193FA1E-0FD3-7742-9EE0-B227D68085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5" y="1159"/>
              <a:ext cx="2990" cy="210"/>
              <a:chOff x="1145" y="1159"/>
              <a:chExt cx="2990" cy="210"/>
            </a:xfrm>
          </p:grpSpPr>
          <p:sp>
            <p:nvSpPr>
              <p:cNvPr id="59431" name="Rectangle 8">
                <a:extLst>
                  <a:ext uri="{FF2B5EF4-FFF2-40B4-BE49-F238E27FC236}">
                    <a16:creationId xmlns:a16="http://schemas.microsoft.com/office/drawing/2014/main" id="{B08DA60A-DE65-6241-9431-259966F13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5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59432" name="Rectangle 9">
                <a:extLst>
                  <a:ext uri="{FF2B5EF4-FFF2-40B4-BE49-F238E27FC236}">
                    <a16:creationId xmlns:a16="http://schemas.microsoft.com/office/drawing/2014/main" id="{875D9FD9-8250-594F-B738-06D44743B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9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f1</a:t>
                </a:r>
              </a:p>
            </p:txBody>
          </p:sp>
          <p:sp>
            <p:nvSpPr>
              <p:cNvPr id="59433" name="Rectangle 10">
                <a:extLst>
                  <a:ext uri="{FF2B5EF4-FFF2-40B4-BE49-F238E27FC236}">
                    <a16:creationId xmlns:a16="http://schemas.microsoft.com/office/drawing/2014/main" id="{AA656754-71F3-CD47-8186-397B4E7D8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3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f2</a:t>
                </a:r>
              </a:p>
            </p:txBody>
          </p:sp>
          <p:sp>
            <p:nvSpPr>
              <p:cNvPr id="59434" name="Rectangle 11">
                <a:extLst>
                  <a:ext uri="{FF2B5EF4-FFF2-40B4-BE49-F238E27FC236}">
                    <a16:creationId xmlns:a16="http://schemas.microsoft.com/office/drawing/2014/main" id="{94B682D4-0BA6-7048-A87A-BA2690012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f3</a:t>
                </a:r>
              </a:p>
            </p:txBody>
          </p:sp>
          <p:sp>
            <p:nvSpPr>
              <p:cNvPr id="59435" name="Rectangle 12">
                <a:extLst>
                  <a:ext uri="{FF2B5EF4-FFF2-40B4-BE49-F238E27FC236}">
                    <a16:creationId xmlns:a16="http://schemas.microsoft.com/office/drawing/2014/main" id="{81E0F732-E9B6-7C41-BBF7-E38FDEE2BF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1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59436" name="Rectangle 13">
                <a:extLst>
                  <a:ext uri="{FF2B5EF4-FFF2-40B4-BE49-F238E27FC236}">
                    <a16:creationId xmlns:a16="http://schemas.microsoft.com/office/drawing/2014/main" id="{7D5A7F9F-8A02-B94A-9AC8-A8E58519B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5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f5</a:t>
                </a:r>
              </a:p>
            </p:txBody>
          </p:sp>
          <p:sp>
            <p:nvSpPr>
              <p:cNvPr id="59437" name="Rectangle 14">
                <a:extLst>
                  <a:ext uri="{FF2B5EF4-FFF2-40B4-BE49-F238E27FC236}">
                    <a16:creationId xmlns:a16="http://schemas.microsoft.com/office/drawing/2014/main" id="{2BAEEA8E-72E8-0B49-9D5C-06D20F465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9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f6</a:t>
                </a:r>
              </a:p>
            </p:txBody>
          </p:sp>
          <p:sp>
            <p:nvSpPr>
              <p:cNvPr id="59438" name="Rectangle 15">
                <a:extLst>
                  <a:ext uri="{FF2B5EF4-FFF2-40B4-BE49-F238E27FC236}">
                    <a16:creationId xmlns:a16="http://schemas.microsoft.com/office/drawing/2014/main" id="{027784A5-9890-204E-AF21-767964853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1159"/>
                <a:ext cx="302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latin typeface="Courier New" panose="02070309020205020404" pitchFamily="49" charset="0"/>
                  </a:rPr>
                  <a:t>f7</a:t>
                </a:r>
              </a:p>
            </p:txBody>
          </p:sp>
        </p:grpSp>
        <p:grpSp>
          <p:nvGrpSpPr>
            <p:cNvPr id="59399" name="Group 16">
              <a:extLst>
                <a:ext uri="{FF2B5EF4-FFF2-40B4-BE49-F238E27FC236}">
                  <a16:creationId xmlns:a16="http://schemas.microsoft.com/office/drawing/2014/main" id="{FF3816AA-3721-464E-B86D-0F65C7E1C8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2" y="1352"/>
              <a:ext cx="3056" cy="1629"/>
              <a:chOff x="1112" y="1352"/>
              <a:chExt cx="3056" cy="1629"/>
            </a:xfrm>
          </p:grpSpPr>
          <p:sp>
            <p:nvSpPr>
              <p:cNvPr id="59400" name="Rectangle 17">
                <a:extLst>
                  <a:ext uri="{FF2B5EF4-FFF2-40B4-BE49-F238E27FC236}">
                    <a16:creationId xmlns:a16="http://schemas.microsoft.com/office/drawing/2014/main" id="{BF573F4D-7D15-4B41-A581-298AA8979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c[3]</a:t>
                </a:r>
              </a:p>
            </p:txBody>
          </p:sp>
          <p:sp>
            <p:nvSpPr>
              <p:cNvPr id="59401" name="Rectangle 18">
                <a:extLst>
                  <a:ext uri="{FF2B5EF4-FFF2-40B4-BE49-F238E27FC236}">
                    <a16:creationId xmlns:a16="http://schemas.microsoft.com/office/drawing/2014/main" id="{DA162FBE-E8C5-654E-BCD4-0BC11F48B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0" y="1736"/>
                <a:ext cx="752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s[1]</a:t>
                </a:r>
              </a:p>
            </p:txBody>
          </p:sp>
          <p:sp>
            <p:nvSpPr>
              <p:cNvPr id="59402" name="Rectangle 19">
                <a:extLst>
                  <a:ext uri="{FF2B5EF4-FFF2-40B4-BE49-F238E27FC236}">
                    <a16:creationId xmlns:a16="http://schemas.microsoft.com/office/drawing/2014/main" id="{032C8787-0A74-214C-B3FE-16F670963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" y="2120"/>
                <a:ext cx="1520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i[0]</a:t>
                </a:r>
              </a:p>
            </p:txBody>
          </p:sp>
          <p:sp>
            <p:nvSpPr>
              <p:cNvPr id="59403" name="Rectangle 20">
                <a:extLst>
                  <a:ext uri="{FF2B5EF4-FFF2-40B4-BE49-F238E27FC236}">
                    <a16:creationId xmlns:a16="http://schemas.microsoft.com/office/drawing/2014/main" id="{D32782BB-7C3C-A248-BF03-3E5FDC20E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1543"/>
                <a:ext cx="33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LSB</a:t>
                </a:r>
              </a:p>
            </p:txBody>
          </p:sp>
          <p:sp>
            <p:nvSpPr>
              <p:cNvPr id="59404" name="Rectangle 21">
                <a:extLst>
                  <a:ext uri="{FF2B5EF4-FFF2-40B4-BE49-F238E27FC236}">
                    <a16:creationId xmlns:a16="http://schemas.microsoft.com/office/drawing/2014/main" id="{DE6995B5-8F83-4C49-A27D-487209958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543"/>
                <a:ext cx="36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MSB</a:t>
                </a:r>
              </a:p>
            </p:txBody>
          </p:sp>
          <p:sp>
            <p:nvSpPr>
              <p:cNvPr id="59405" name="Rectangle 22">
                <a:extLst>
                  <a:ext uri="{FF2B5EF4-FFF2-40B4-BE49-F238E27FC236}">
                    <a16:creationId xmlns:a16="http://schemas.microsoft.com/office/drawing/2014/main" id="{69802428-B4B4-2744-B1FB-6CAA77A65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0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c[2]</a:t>
                </a:r>
              </a:p>
            </p:txBody>
          </p:sp>
          <p:sp>
            <p:nvSpPr>
              <p:cNvPr id="59406" name="Rectangle 23">
                <a:extLst>
                  <a:ext uri="{FF2B5EF4-FFF2-40B4-BE49-F238E27FC236}">
                    <a16:creationId xmlns:a16="http://schemas.microsoft.com/office/drawing/2014/main" id="{5DA99400-F416-A447-9801-6497AD111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6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c[1]</a:t>
                </a:r>
              </a:p>
            </p:txBody>
          </p:sp>
          <p:sp>
            <p:nvSpPr>
              <p:cNvPr id="59407" name="Rectangle 24">
                <a:extLst>
                  <a:ext uri="{FF2B5EF4-FFF2-40B4-BE49-F238E27FC236}">
                    <a16:creationId xmlns:a16="http://schemas.microsoft.com/office/drawing/2014/main" id="{64A7BEC5-967C-9749-B94E-01CFFBC66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" y="1736"/>
                <a:ext cx="752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s[0]</a:t>
                </a:r>
              </a:p>
            </p:txBody>
          </p:sp>
          <p:sp>
            <p:nvSpPr>
              <p:cNvPr id="59408" name="Rectangle 25">
                <a:extLst>
                  <a:ext uri="{FF2B5EF4-FFF2-40B4-BE49-F238E27FC236}">
                    <a16:creationId xmlns:a16="http://schemas.microsoft.com/office/drawing/2014/main" id="{3AA809CE-6AD8-8546-85C9-CF0F3EA41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c[0]</a:t>
                </a:r>
              </a:p>
            </p:txBody>
          </p:sp>
          <p:sp>
            <p:nvSpPr>
              <p:cNvPr id="59409" name="Rectangle 26">
                <a:extLst>
                  <a:ext uri="{FF2B5EF4-FFF2-40B4-BE49-F238E27FC236}">
                    <a16:creationId xmlns:a16="http://schemas.microsoft.com/office/drawing/2014/main" id="{0286C14D-FC6C-1344-A68B-36C10FA701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1927"/>
                <a:ext cx="33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LSB</a:t>
                </a:r>
              </a:p>
            </p:txBody>
          </p:sp>
          <p:sp>
            <p:nvSpPr>
              <p:cNvPr id="59410" name="Rectangle 27">
                <a:extLst>
                  <a:ext uri="{FF2B5EF4-FFF2-40B4-BE49-F238E27FC236}">
                    <a16:creationId xmlns:a16="http://schemas.microsoft.com/office/drawing/2014/main" id="{04299374-B8AF-1840-B61D-705AFDD0E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927"/>
                <a:ext cx="36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MSB</a:t>
                </a:r>
              </a:p>
            </p:txBody>
          </p:sp>
          <p:sp>
            <p:nvSpPr>
              <p:cNvPr id="59411" name="Rectangle 28">
                <a:extLst>
                  <a:ext uri="{FF2B5EF4-FFF2-40B4-BE49-F238E27FC236}">
                    <a16:creationId xmlns:a16="http://schemas.microsoft.com/office/drawing/2014/main" id="{31A4F51E-EBCE-F044-B436-871BB825B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543"/>
                <a:ext cx="33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LSB</a:t>
                </a:r>
              </a:p>
            </p:txBody>
          </p:sp>
          <p:sp>
            <p:nvSpPr>
              <p:cNvPr id="59412" name="Rectangle 29">
                <a:extLst>
                  <a:ext uri="{FF2B5EF4-FFF2-40B4-BE49-F238E27FC236}">
                    <a16:creationId xmlns:a16="http://schemas.microsoft.com/office/drawing/2014/main" id="{0E4A0F60-F59F-E34D-9AAC-C800745A4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543"/>
                <a:ext cx="36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MSB</a:t>
                </a:r>
              </a:p>
            </p:txBody>
          </p:sp>
          <p:sp>
            <p:nvSpPr>
              <p:cNvPr id="59413" name="Rectangle 30">
                <a:extLst>
                  <a:ext uri="{FF2B5EF4-FFF2-40B4-BE49-F238E27FC236}">
                    <a16:creationId xmlns:a16="http://schemas.microsoft.com/office/drawing/2014/main" id="{314AA657-3E46-1D41-B3C1-A2C759A55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c[7]</a:t>
                </a:r>
              </a:p>
            </p:txBody>
          </p:sp>
          <p:sp>
            <p:nvSpPr>
              <p:cNvPr id="59414" name="Rectangle 31">
                <a:extLst>
                  <a:ext uri="{FF2B5EF4-FFF2-40B4-BE49-F238E27FC236}">
                    <a16:creationId xmlns:a16="http://schemas.microsoft.com/office/drawing/2014/main" id="{2C46BD88-B1F7-2549-8F45-1B6DFC3F4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736"/>
                <a:ext cx="752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s[3]</a:t>
                </a:r>
              </a:p>
            </p:txBody>
          </p:sp>
          <p:sp>
            <p:nvSpPr>
              <p:cNvPr id="59415" name="Rectangle 32">
                <a:extLst>
                  <a:ext uri="{FF2B5EF4-FFF2-40B4-BE49-F238E27FC236}">
                    <a16:creationId xmlns:a16="http://schemas.microsoft.com/office/drawing/2014/main" id="{630CF217-06E0-B94E-A28A-CDF2F0F37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2120"/>
                <a:ext cx="1520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i[1]</a:t>
                </a:r>
              </a:p>
            </p:txBody>
          </p:sp>
          <p:sp>
            <p:nvSpPr>
              <p:cNvPr id="59416" name="Rectangle 33">
                <a:extLst>
                  <a:ext uri="{FF2B5EF4-FFF2-40B4-BE49-F238E27FC236}">
                    <a16:creationId xmlns:a16="http://schemas.microsoft.com/office/drawing/2014/main" id="{E609295E-F48D-4644-881F-63FC7E6AB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5" y="1543"/>
                <a:ext cx="33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LSB</a:t>
                </a:r>
              </a:p>
            </p:txBody>
          </p:sp>
          <p:sp>
            <p:nvSpPr>
              <p:cNvPr id="59417" name="Rectangle 34">
                <a:extLst>
                  <a:ext uri="{FF2B5EF4-FFF2-40B4-BE49-F238E27FC236}">
                    <a16:creationId xmlns:a16="http://schemas.microsoft.com/office/drawing/2014/main" id="{E225B553-23EF-B845-8152-C50B0819F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543"/>
                <a:ext cx="36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MSB</a:t>
                </a:r>
              </a:p>
            </p:txBody>
          </p:sp>
          <p:sp>
            <p:nvSpPr>
              <p:cNvPr id="59418" name="Rectangle 35">
                <a:extLst>
                  <a:ext uri="{FF2B5EF4-FFF2-40B4-BE49-F238E27FC236}">
                    <a16:creationId xmlns:a16="http://schemas.microsoft.com/office/drawing/2014/main" id="{9677B5E0-5FDE-F34A-938E-B51534A36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c[6]</a:t>
                </a:r>
              </a:p>
            </p:txBody>
          </p:sp>
          <p:sp>
            <p:nvSpPr>
              <p:cNvPr id="59419" name="Rectangle 36">
                <a:extLst>
                  <a:ext uri="{FF2B5EF4-FFF2-40B4-BE49-F238E27FC236}">
                    <a16:creationId xmlns:a16="http://schemas.microsoft.com/office/drawing/2014/main" id="{02E7CE33-8746-AC43-9FCD-70219793E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2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c[5]</a:t>
                </a:r>
              </a:p>
            </p:txBody>
          </p:sp>
          <p:sp>
            <p:nvSpPr>
              <p:cNvPr id="59420" name="Rectangle 37">
                <a:extLst>
                  <a:ext uri="{FF2B5EF4-FFF2-40B4-BE49-F238E27FC236}">
                    <a16:creationId xmlns:a16="http://schemas.microsoft.com/office/drawing/2014/main" id="{B3CA47BB-1B7C-3242-A017-5D5FCC6C2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1736"/>
                <a:ext cx="752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s[2]</a:t>
                </a:r>
              </a:p>
            </p:txBody>
          </p:sp>
          <p:sp>
            <p:nvSpPr>
              <p:cNvPr id="59421" name="Rectangle 38">
                <a:extLst>
                  <a:ext uri="{FF2B5EF4-FFF2-40B4-BE49-F238E27FC236}">
                    <a16:creationId xmlns:a16="http://schemas.microsoft.com/office/drawing/2014/main" id="{BAD70A5E-41AF-3B42-832B-D27F8F041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1352"/>
                <a:ext cx="368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c[4]</a:t>
                </a:r>
              </a:p>
            </p:txBody>
          </p:sp>
          <p:sp>
            <p:nvSpPr>
              <p:cNvPr id="59422" name="Rectangle 39">
                <a:extLst>
                  <a:ext uri="{FF2B5EF4-FFF2-40B4-BE49-F238E27FC236}">
                    <a16:creationId xmlns:a16="http://schemas.microsoft.com/office/drawing/2014/main" id="{75A4C9FA-BB68-4C43-9FC2-63499AED6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5" y="1927"/>
                <a:ext cx="33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LSB</a:t>
                </a:r>
              </a:p>
            </p:txBody>
          </p:sp>
          <p:sp>
            <p:nvSpPr>
              <p:cNvPr id="59423" name="Rectangle 40">
                <a:extLst>
                  <a:ext uri="{FF2B5EF4-FFF2-40B4-BE49-F238E27FC236}">
                    <a16:creationId xmlns:a16="http://schemas.microsoft.com/office/drawing/2014/main" id="{CCDE160F-D4E7-6E46-AF96-230C74525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927"/>
                <a:ext cx="36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MSB</a:t>
                </a:r>
              </a:p>
            </p:txBody>
          </p:sp>
          <p:sp>
            <p:nvSpPr>
              <p:cNvPr id="59424" name="Rectangle 41">
                <a:extLst>
                  <a:ext uri="{FF2B5EF4-FFF2-40B4-BE49-F238E27FC236}">
                    <a16:creationId xmlns:a16="http://schemas.microsoft.com/office/drawing/2014/main" id="{62944780-C084-954B-8D85-7ABE6DF293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3" y="1543"/>
                <a:ext cx="33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LSB</a:t>
                </a:r>
              </a:p>
            </p:txBody>
          </p:sp>
          <p:sp>
            <p:nvSpPr>
              <p:cNvPr id="59425" name="Rectangle 42">
                <a:extLst>
                  <a:ext uri="{FF2B5EF4-FFF2-40B4-BE49-F238E27FC236}">
                    <a16:creationId xmlns:a16="http://schemas.microsoft.com/office/drawing/2014/main" id="{D95F151A-5C01-2843-96E4-AD97960DD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543"/>
                <a:ext cx="36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MSB</a:t>
                </a:r>
              </a:p>
            </p:txBody>
          </p:sp>
          <p:sp>
            <p:nvSpPr>
              <p:cNvPr id="59426" name="Line 43">
                <a:extLst>
                  <a:ext uri="{FF2B5EF4-FFF2-40B4-BE49-F238E27FC236}">
                    <a16:creationId xmlns:a16="http://schemas.microsoft.com/office/drawing/2014/main" id="{B5057DF0-71BB-8D4C-8543-B67569F7A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2784"/>
                <a:ext cx="13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27" name="Rectangle 44">
                <a:extLst>
                  <a:ext uri="{FF2B5EF4-FFF2-40B4-BE49-F238E27FC236}">
                    <a16:creationId xmlns:a16="http://schemas.microsoft.com/office/drawing/2014/main" id="{9BEC3712-C1C4-E24D-B464-F6A6682B3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9" y="2791"/>
                <a:ext cx="369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400"/>
                  <a:t>Print</a:t>
                </a:r>
              </a:p>
            </p:txBody>
          </p:sp>
          <p:sp>
            <p:nvSpPr>
              <p:cNvPr id="59428" name="Rectangle 45">
                <a:extLst>
                  <a:ext uri="{FF2B5EF4-FFF2-40B4-BE49-F238E27FC236}">
                    <a16:creationId xmlns:a16="http://schemas.microsoft.com/office/drawing/2014/main" id="{180CA177-1790-234A-A9B4-A42EC96B4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" y="2504"/>
                <a:ext cx="1520" cy="17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latin typeface="Courier New" panose="02070309020205020404" pitchFamily="49" charset="0"/>
                  </a:rPr>
                  <a:t>l[0]</a:t>
                </a:r>
              </a:p>
            </p:txBody>
          </p:sp>
          <p:sp>
            <p:nvSpPr>
              <p:cNvPr id="59429" name="Rectangle 46">
                <a:extLst>
                  <a:ext uri="{FF2B5EF4-FFF2-40B4-BE49-F238E27FC236}">
                    <a16:creationId xmlns:a16="http://schemas.microsoft.com/office/drawing/2014/main" id="{1D6F648D-8BB1-D04D-B34C-274EE153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2311"/>
                <a:ext cx="33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LSB</a:t>
                </a:r>
              </a:p>
            </p:txBody>
          </p:sp>
          <p:sp>
            <p:nvSpPr>
              <p:cNvPr id="59430" name="Rectangle 47">
                <a:extLst>
                  <a:ext uri="{FF2B5EF4-FFF2-40B4-BE49-F238E27FC236}">
                    <a16:creationId xmlns:a16="http://schemas.microsoft.com/office/drawing/2014/main" id="{EB4F63EF-AC9D-344F-92DC-4E66528CC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311"/>
                <a:ext cx="36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itchFamily="2" charset="0"/>
                    <a:ea typeface="ＭＳ Ｐゴシック" panose="020B0600070205080204" pitchFamily="34" charset="-128"/>
                  </a:defRPr>
                </a:lvl9pPr>
              </a:lstStyle>
              <a:p>
                <a:pPr algn="r"/>
                <a:r>
                  <a:rPr lang="en-US" altLang="en-US" sz="1400"/>
                  <a:t>MSB</a:t>
                </a: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7212E7F-66F0-EA49-BCB0-B13C70F02D67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304800"/>
            <a:ext cx="6223000" cy="555625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Byte Ordering on Sun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C88F1A2B-6BE1-FC43-A5F3-456E2576A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26035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Big Endian</a:t>
            </a:r>
          </a:p>
        </p:txBody>
      </p:sp>
      <p:sp>
        <p:nvSpPr>
          <p:cNvPr id="60419" name="Rectangle 4">
            <a:extLst>
              <a:ext uri="{FF2B5EF4-FFF2-40B4-BE49-F238E27FC236}">
                <a16:creationId xmlns:a16="http://schemas.microsoft.com/office/drawing/2014/main" id="{1A809A1D-5E5B-A947-8362-B5EDCE3C6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835501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Characters 0-7 == [0xf0,0xf1,0xf2,0xf3,0xf4,0xf5,0xf6,0xf7]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Shorts     0-3 == [0xf0f1,0xf2f3,0xf4f5,0xf6f7]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Ints       0-1 == [0xf0f1f2f3,0xf4f5f6f7]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Long       0   == [0xf0f1f2f3]</a:t>
            </a:r>
          </a:p>
        </p:txBody>
      </p:sp>
      <p:sp>
        <p:nvSpPr>
          <p:cNvPr id="60420" name="Rectangle 5">
            <a:extLst>
              <a:ext uri="{FF2B5EF4-FFF2-40B4-BE49-F238E27FC236}">
                <a16:creationId xmlns:a16="http://schemas.microsoft.com/office/drawing/2014/main" id="{45AD7A14-229F-B74F-AF6D-ECCCA6A48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95800"/>
            <a:ext cx="365760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Output on Sun:</a:t>
            </a:r>
          </a:p>
        </p:txBody>
      </p:sp>
      <p:grpSp>
        <p:nvGrpSpPr>
          <p:cNvPr id="60421" name="Group 6">
            <a:extLst>
              <a:ext uri="{FF2B5EF4-FFF2-40B4-BE49-F238E27FC236}">
                <a16:creationId xmlns:a16="http://schemas.microsoft.com/office/drawing/2014/main" id="{BA0C8C6F-0344-5D4A-AE04-CE13FA177AFE}"/>
              </a:ext>
            </a:extLst>
          </p:cNvPr>
          <p:cNvGrpSpPr>
            <a:grpSpLocks/>
          </p:cNvGrpSpPr>
          <p:nvPr/>
        </p:nvGrpSpPr>
        <p:grpSpPr bwMode="auto">
          <a:xfrm>
            <a:off x="1778000" y="1676400"/>
            <a:ext cx="4919663" cy="2892425"/>
            <a:chOff x="1104" y="1159"/>
            <a:chExt cx="3099" cy="1822"/>
          </a:xfrm>
        </p:grpSpPr>
        <p:sp>
          <p:nvSpPr>
            <p:cNvPr id="60422" name="Rectangle 7">
              <a:extLst>
                <a:ext uri="{FF2B5EF4-FFF2-40B4-BE49-F238E27FC236}">
                  <a16:creationId xmlns:a16="http://schemas.microsoft.com/office/drawing/2014/main" id="{F586B3FB-BC78-6648-828E-0F4EAE44D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c[3]</a:t>
              </a:r>
            </a:p>
          </p:txBody>
        </p:sp>
        <p:sp>
          <p:nvSpPr>
            <p:cNvPr id="60423" name="Rectangle 8">
              <a:extLst>
                <a:ext uri="{FF2B5EF4-FFF2-40B4-BE49-F238E27FC236}">
                  <a16:creationId xmlns:a16="http://schemas.microsoft.com/office/drawing/2014/main" id="{9E5BF8CD-A02A-064E-A7B7-FBCD9EC5B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s[1]</a:t>
              </a:r>
            </a:p>
          </p:txBody>
        </p:sp>
        <p:sp>
          <p:nvSpPr>
            <p:cNvPr id="60424" name="Rectangle 9">
              <a:extLst>
                <a:ext uri="{FF2B5EF4-FFF2-40B4-BE49-F238E27FC236}">
                  <a16:creationId xmlns:a16="http://schemas.microsoft.com/office/drawing/2014/main" id="{86F460CB-5279-C649-B6D3-125BE8CD9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2120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60425" name="Rectangle 10">
              <a:extLst>
                <a:ext uri="{FF2B5EF4-FFF2-40B4-BE49-F238E27FC236}">
                  <a16:creationId xmlns:a16="http://schemas.microsoft.com/office/drawing/2014/main" id="{A5F0E649-0E3F-A34E-A65C-46EA64E1C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1543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0426" name="Rectangle 11">
              <a:extLst>
                <a:ext uri="{FF2B5EF4-FFF2-40B4-BE49-F238E27FC236}">
                  <a16:creationId xmlns:a16="http://schemas.microsoft.com/office/drawing/2014/main" id="{5BD8F337-C98D-6941-8C4E-85AFAF8F2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543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0427" name="Rectangle 12">
              <a:extLst>
                <a:ext uri="{FF2B5EF4-FFF2-40B4-BE49-F238E27FC236}">
                  <a16:creationId xmlns:a16="http://schemas.microsoft.com/office/drawing/2014/main" id="{3948E9ED-B1FB-0349-AAD5-EF74E9EBD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c[2]</a:t>
              </a:r>
            </a:p>
          </p:txBody>
        </p:sp>
        <p:sp>
          <p:nvSpPr>
            <p:cNvPr id="60428" name="Rectangle 13">
              <a:extLst>
                <a:ext uri="{FF2B5EF4-FFF2-40B4-BE49-F238E27FC236}">
                  <a16:creationId xmlns:a16="http://schemas.microsoft.com/office/drawing/2014/main" id="{65AE8ADA-03C4-D246-9116-DEC97B308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c[1]</a:t>
              </a:r>
            </a:p>
          </p:txBody>
        </p:sp>
        <p:sp>
          <p:nvSpPr>
            <p:cNvPr id="60429" name="Rectangle 14">
              <a:extLst>
                <a:ext uri="{FF2B5EF4-FFF2-40B4-BE49-F238E27FC236}">
                  <a16:creationId xmlns:a16="http://schemas.microsoft.com/office/drawing/2014/main" id="{6A63EAEA-F955-8046-BB2E-D73EEA9CD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s[0]</a:t>
              </a:r>
            </a:p>
          </p:txBody>
        </p:sp>
        <p:sp>
          <p:nvSpPr>
            <p:cNvPr id="60430" name="Rectangle 15">
              <a:extLst>
                <a:ext uri="{FF2B5EF4-FFF2-40B4-BE49-F238E27FC236}">
                  <a16:creationId xmlns:a16="http://schemas.microsoft.com/office/drawing/2014/main" id="{B79E32A2-E644-BF43-8328-2B9229220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c[0]</a:t>
              </a:r>
            </a:p>
          </p:txBody>
        </p:sp>
        <p:sp>
          <p:nvSpPr>
            <p:cNvPr id="60431" name="Rectangle 16">
              <a:extLst>
                <a:ext uri="{FF2B5EF4-FFF2-40B4-BE49-F238E27FC236}">
                  <a16:creationId xmlns:a16="http://schemas.microsoft.com/office/drawing/2014/main" id="{7897EA06-F6D5-EA44-AC7D-8FC3720C5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927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0432" name="Rectangle 17">
              <a:extLst>
                <a:ext uri="{FF2B5EF4-FFF2-40B4-BE49-F238E27FC236}">
                  <a16:creationId xmlns:a16="http://schemas.microsoft.com/office/drawing/2014/main" id="{1D8C890E-953E-144B-B577-8F54C507E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1" y="1927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0433" name="Rectangle 18">
              <a:extLst>
                <a:ext uri="{FF2B5EF4-FFF2-40B4-BE49-F238E27FC236}">
                  <a16:creationId xmlns:a16="http://schemas.microsoft.com/office/drawing/2014/main" id="{1BA4C240-4D30-2446-A545-33F00E93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3" y="1543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0434" name="Rectangle 19">
              <a:extLst>
                <a:ext uri="{FF2B5EF4-FFF2-40B4-BE49-F238E27FC236}">
                  <a16:creationId xmlns:a16="http://schemas.microsoft.com/office/drawing/2014/main" id="{4098E457-22BD-9B4C-B8CF-425184460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43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0435" name="Rectangle 20">
              <a:extLst>
                <a:ext uri="{FF2B5EF4-FFF2-40B4-BE49-F238E27FC236}">
                  <a16:creationId xmlns:a16="http://schemas.microsoft.com/office/drawing/2014/main" id="{DEBE6C36-F94E-5D4D-B971-C3BA36F36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c[7]</a:t>
              </a:r>
            </a:p>
          </p:txBody>
        </p:sp>
        <p:sp>
          <p:nvSpPr>
            <p:cNvPr id="60436" name="Rectangle 21">
              <a:extLst>
                <a:ext uri="{FF2B5EF4-FFF2-40B4-BE49-F238E27FC236}">
                  <a16:creationId xmlns:a16="http://schemas.microsoft.com/office/drawing/2014/main" id="{F2D5659A-C943-DD4E-92B0-269E54989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s[3]</a:t>
              </a:r>
            </a:p>
          </p:txBody>
        </p:sp>
        <p:sp>
          <p:nvSpPr>
            <p:cNvPr id="60437" name="Rectangle 22">
              <a:extLst>
                <a:ext uri="{FF2B5EF4-FFF2-40B4-BE49-F238E27FC236}">
                  <a16:creationId xmlns:a16="http://schemas.microsoft.com/office/drawing/2014/main" id="{4DCF48EF-BC33-8840-ADB7-7CC7F6567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120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60438" name="Rectangle 23">
              <a:extLst>
                <a:ext uri="{FF2B5EF4-FFF2-40B4-BE49-F238E27FC236}">
                  <a16:creationId xmlns:a16="http://schemas.microsoft.com/office/drawing/2014/main" id="{70220C59-AE58-944C-A000-FFA215894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1" y="1543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0439" name="Rectangle 24">
              <a:extLst>
                <a:ext uri="{FF2B5EF4-FFF2-40B4-BE49-F238E27FC236}">
                  <a16:creationId xmlns:a16="http://schemas.microsoft.com/office/drawing/2014/main" id="{1E117AE7-97D3-D941-B16C-18BEA63D3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543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0440" name="Rectangle 25">
              <a:extLst>
                <a:ext uri="{FF2B5EF4-FFF2-40B4-BE49-F238E27FC236}">
                  <a16:creationId xmlns:a16="http://schemas.microsoft.com/office/drawing/2014/main" id="{8C167CCA-E69B-BE4F-A28A-0939A039C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c[6]</a:t>
              </a:r>
            </a:p>
          </p:txBody>
        </p:sp>
        <p:sp>
          <p:nvSpPr>
            <p:cNvPr id="60441" name="Rectangle 26">
              <a:extLst>
                <a:ext uri="{FF2B5EF4-FFF2-40B4-BE49-F238E27FC236}">
                  <a16:creationId xmlns:a16="http://schemas.microsoft.com/office/drawing/2014/main" id="{E68C8F97-34F5-4B4B-B7D5-9F2FE254E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c[5]</a:t>
              </a:r>
            </a:p>
          </p:txBody>
        </p:sp>
        <p:sp>
          <p:nvSpPr>
            <p:cNvPr id="60442" name="Rectangle 27">
              <a:extLst>
                <a:ext uri="{FF2B5EF4-FFF2-40B4-BE49-F238E27FC236}">
                  <a16:creationId xmlns:a16="http://schemas.microsoft.com/office/drawing/2014/main" id="{F71D27A1-98DB-484B-9CD1-DF4B80904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s[2]</a:t>
              </a:r>
            </a:p>
          </p:txBody>
        </p:sp>
        <p:sp>
          <p:nvSpPr>
            <p:cNvPr id="60443" name="Rectangle 28">
              <a:extLst>
                <a:ext uri="{FF2B5EF4-FFF2-40B4-BE49-F238E27FC236}">
                  <a16:creationId xmlns:a16="http://schemas.microsoft.com/office/drawing/2014/main" id="{A466C3EA-99DC-D64D-A249-E8B5C90AC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c[4]</a:t>
              </a:r>
            </a:p>
          </p:txBody>
        </p:sp>
        <p:sp>
          <p:nvSpPr>
            <p:cNvPr id="60444" name="Rectangle 29">
              <a:extLst>
                <a:ext uri="{FF2B5EF4-FFF2-40B4-BE49-F238E27FC236}">
                  <a16:creationId xmlns:a16="http://schemas.microsoft.com/office/drawing/2014/main" id="{F6EE70BB-D0D2-FE4D-B32D-1B4B4276B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927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0445" name="Rectangle 30">
              <a:extLst>
                <a:ext uri="{FF2B5EF4-FFF2-40B4-BE49-F238E27FC236}">
                  <a16:creationId xmlns:a16="http://schemas.microsoft.com/office/drawing/2014/main" id="{7D2B8894-025C-274E-9B22-55F6244AE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1927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0446" name="Rectangle 31">
              <a:extLst>
                <a:ext uri="{FF2B5EF4-FFF2-40B4-BE49-F238E27FC236}">
                  <a16:creationId xmlns:a16="http://schemas.microsoft.com/office/drawing/2014/main" id="{C6B98DBC-F222-F747-BFA7-EA7248C5D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" y="1543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0447" name="Rectangle 32">
              <a:extLst>
                <a:ext uri="{FF2B5EF4-FFF2-40B4-BE49-F238E27FC236}">
                  <a16:creationId xmlns:a16="http://schemas.microsoft.com/office/drawing/2014/main" id="{2E38CAE7-6B2F-2040-8516-51EA2F3B9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43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0448" name="Rectangle 33">
              <a:extLst>
                <a:ext uri="{FF2B5EF4-FFF2-40B4-BE49-F238E27FC236}">
                  <a16:creationId xmlns:a16="http://schemas.microsoft.com/office/drawing/2014/main" id="{41F3EC06-8238-CD49-B612-45E1B3F96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60449" name="Rectangle 34">
              <a:extLst>
                <a:ext uri="{FF2B5EF4-FFF2-40B4-BE49-F238E27FC236}">
                  <a16:creationId xmlns:a16="http://schemas.microsoft.com/office/drawing/2014/main" id="{BE960226-F0D7-8148-A954-E9E8C1703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f1</a:t>
              </a:r>
            </a:p>
          </p:txBody>
        </p:sp>
        <p:sp>
          <p:nvSpPr>
            <p:cNvPr id="60450" name="Rectangle 35">
              <a:extLst>
                <a:ext uri="{FF2B5EF4-FFF2-40B4-BE49-F238E27FC236}">
                  <a16:creationId xmlns:a16="http://schemas.microsoft.com/office/drawing/2014/main" id="{360F9DF8-6EAE-0248-AD2E-42CFE00A1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3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60451" name="Rectangle 36">
              <a:extLst>
                <a:ext uri="{FF2B5EF4-FFF2-40B4-BE49-F238E27FC236}">
                  <a16:creationId xmlns:a16="http://schemas.microsoft.com/office/drawing/2014/main" id="{B6A0ECD9-05FA-2C48-94CB-32E329807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7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f3</a:t>
              </a:r>
            </a:p>
          </p:txBody>
        </p:sp>
        <p:sp>
          <p:nvSpPr>
            <p:cNvPr id="60452" name="Rectangle 37">
              <a:extLst>
                <a:ext uri="{FF2B5EF4-FFF2-40B4-BE49-F238E27FC236}">
                  <a16:creationId xmlns:a16="http://schemas.microsoft.com/office/drawing/2014/main" id="{E3645126-24B7-D546-9D55-8AFE3FB84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f4</a:t>
              </a:r>
            </a:p>
          </p:txBody>
        </p:sp>
        <p:sp>
          <p:nvSpPr>
            <p:cNvPr id="60453" name="Rectangle 38">
              <a:extLst>
                <a:ext uri="{FF2B5EF4-FFF2-40B4-BE49-F238E27FC236}">
                  <a16:creationId xmlns:a16="http://schemas.microsoft.com/office/drawing/2014/main" id="{7ECBF1B3-E210-C842-B53B-3D39C941A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f5</a:t>
              </a:r>
            </a:p>
          </p:txBody>
        </p:sp>
        <p:sp>
          <p:nvSpPr>
            <p:cNvPr id="60454" name="Rectangle 39">
              <a:extLst>
                <a:ext uri="{FF2B5EF4-FFF2-40B4-BE49-F238E27FC236}">
                  <a16:creationId xmlns:a16="http://schemas.microsoft.com/office/drawing/2014/main" id="{065CD4E7-73A5-0146-B61B-13C4152D2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60455" name="Rectangle 40">
              <a:extLst>
                <a:ext uri="{FF2B5EF4-FFF2-40B4-BE49-F238E27FC236}">
                  <a16:creationId xmlns:a16="http://schemas.microsoft.com/office/drawing/2014/main" id="{D567BA16-E9D2-944B-BB34-2FFF2FEFB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159"/>
              <a:ext cx="30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f7</a:t>
              </a:r>
            </a:p>
          </p:txBody>
        </p:sp>
        <p:sp>
          <p:nvSpPr>
            <p:cNvPr id="60456" name="Line 41">
              <a:extLst>
                <a:ext uri="{FF2B5EF4-FFF2-40B4-BE49-F238E27FC236}">
                  <a16:creationId xmlns:a16="http://schemas.microsoft.com/office/drawing/2014/main" id="{2A8F9416-5CC3-6C4A-8EE6-C60928B60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784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57" name="Rectangle 42">
              <a:extLst>
                <a:ext uri="{FF2B5EF4-FFF2-40B4-BE49-F238E27FC236}">
                  <a16:creationId xmlns:a16="http://schemas.microsoft.com/office/drawing/2014/main" id="{1145B191-C8CB-634C-8F75-8BA40A42C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2791"/>
              <a:ext cx="36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/>
                <a:t>Print</a:t>
              </a:r>
            </a:p>
          </p:txBody>
        </p:sp>
        <p:sp>
          <p:nvSpPr>
            <p:cNvPr id="60458" name="Rectangle 43">
              <a:extLst>
                <a:ext uri="{FF2B5EF4-FFF2-40B4-BE49-F238E27FC236}">
                  <a16:creationId xmlns:a16="http://schemas.microsoft.com/office/drawing/2014/main" id="{6E7F8F5F-7607-0144-BA0E-375D90F21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2504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l[0]</a:t>
              </a:r>
            </a:p>
          </p:txBody>
        </p:sp>
        <p:sp>
          <p:nvSpPr>
            <p:cNvPr id="60459" name="Rectangle 44">
              <a:extLst>
                <a:ext uri="{FF2B5EF4-FFF2-40B4-BE49-F238E27FC236}">
                  <a16:creationId xmlns:a16="http://schemas.microsoft.com/office/drawing/2014/main" id="{E65AC1AF-C5A4-2048-98CA-0B700ED90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311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0460" name="Rectangle 45">
              <a:extLst>
                <a:ext uri="{FF2B5EF4-FFF2-40B4-BE49-F238E27FC236}">
                  <a16:creationId xmlns:a16="http://schemas.microsoft.com/office/drawing/2014/main" id="{EF89F318-8AD1-5F4D-A895-5B2D9E0CA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2311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4F9033E-4E09-6644-B86D-676FF014A0BA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304800"/>
            <a:ext cx="6477000" cy="555625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Byte Ordering on Alpha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D2951176-583F-CE4A-ACAD-40F2F6895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6800"/>
            <a:ext cx="26035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Little Endian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6121A681-8CF8-5447-BC31-93E360FE3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105400"/>
            <a:ext cx="835501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Characters 0-7 == [0xf0,0xf1,0xf2,0xf3,0xf4,0xf5,0xf6,0xf7]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Shorts     0-3 == [0xf1f0,0xf3f2,0xf5f4,0xf7f6]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Ints       0-1 == [0xf3f2f1f0,0xf7f6f5f4]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Long       0   == [0xf7f6f5f4f3f2f1f0]</a:t>
            </a:r>
          </a:p>
        </p:txBody>
      </p:sp>
      <p:sp>
        <p:nvSpPr>
          <p:cNvPr id="61444" name="Rectangle 5">
            <a:extLst>
              <a:ext uri="{FF2B5EF4-FFF2-40B4-BE49-F238E27FC236}">
                <a16:creationId xmlns:a16="http://schemas.microsoft.com/office/drawing/2014/main" id="{9A00FDED-148B-D34D-AEBA-A923DF7A0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40263"/>
            <a:ext cx="36576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 defTabSz="8953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en-US">
                <a:solidFill>
                  <a:schemeClr val="tx2"/>
                </a:solidFill>
              </a:rPr>
              <a:t>Output on Alpha:</a:t>
            </a:r>
          </a:p>
        </p:txBody>
      </p:sp>
      <p:grpSp>
        <p:nvGrpSpPr>
          <p:cNvPr id="61445" name="Group 6">
            <a:extLst>
              <a:ext uri="{FF2B5EF4-FFF2-40B4-BE49-F238E27FC236}">
                <a16:creationId xmlns:a16="http://schemas.microsoft.com/office/drawing/2014/main" id="{2012B4F6-6D43-B948-A239-5D47366601AF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600200"/>
            <a:ext cx="4851400" cy="2892425"/>
            <a:chOff x="1112" y="1167"/>
            <a:chExt cx="3056" cy="1822"/>
          </a:xfrm>
        </p:grpSpPr>
        <p:sp>
          <p:nvSpPr>
            <p:cNvPr id="61446" name="Rectangle 7">
              <a:extLst>
                <a:ext uri="{FF2B5EF4-FFF2-40B4-BE49-F238E27FC236}">
                  <a16:creationId xmlns:a16="http://schemas.microsoft.com/office/drawing/2014/main" id="{B7D3606C-9E11-294F-A2D8-20E3BB3B4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c[3]</a:t>
              </a:r>
            </a:p>
          </p:txBody>
        </p:sp>
        <p:sp>
          <p:nvSpPr>
            <p:cNvPr id="61447" name="Rectangle 8">
              <a:extLst>
                <a:ext uri="{FF2B5EF4-FFF2-40B4-BE49-F238E27FC236}">
                  <a16:creationId xmlns:a16="http://schemas.microsoft.com/office/drawing/2014/main" id="{97CF25FA-905B-664C-8B51-6E63082F8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s[1]</a:t>
              </a:r>
            </a:p>
          </p:txBody>
        </p:sp>
        <p:sp>
          <p:nvSpPr>
            <p:cNvPr id="61448" name="Rectangle 9">
              <a:extLst>
                <a:ext uri="{FF2B5EF4-FFF2-40B4-BE49-F238E27FC236}">
                  <a16:creationId xmlns:a16="http://schemas.microsoft.com/office/drawing/2014/main" id="{6E4AF521-9373-4F40-84D7-CF1347D02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2120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i[0]</a:t>
              </a:r>
            </a:p>
          </p:txBody>
        </p:sp>
        <p:sp>
          <p:nvSpPr>
            <p:cNvPr id="61449" name="Rectangle 10">
              <a:extLst>
                <a:ext uri="{FF2B5EF4-FFF2-40B4-BE49-F238E27FC236}">
                  <a16:creationId xmlns:a16="http://schemas.microsoft.com/office/drawing/2014/main" id="{9EE6352E-E92E-5447-BE7B-1D7E3E915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" y="1551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1450" name="Rectangle 11">
              <a:extLst>
                <a:ext uri="{FF2B5EF4-FFF2-40B4-BE49-F238E27FC236}">
                  <a16:creationId xmlns:a16="http://schemas.microsoft.com/office/drawing/2014/main" id="{859AA22F-BE88-5A4D-83AD-A5289738A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1551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1451" name="Rectangle 12">
              <a:extLst>
                <a:ext uri="{FF2B5EF4-FFF2-40B4-BE49-F238E27FC236}">
                  <a16:creationId xmlns:a16="http://schemas.microsoft.com/office/drawing/2014/main" id="{E5113F34-0A51-CD4E-A613-380B2358A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c[2]</a:t>
              </a:r>
            </a:p>
          </p:txBody>
        </p:sp>
        <p:sp>
          <p:nvSpPr>
            <p:cNvPr id="61452" name="Rectangle 13">
              <a:extLst>
                <a:ext uri="{FF2B5EF4-FFF2-40B4-BE49-F238E27FC236}">
                  <a16:creationId xmlns:a16="http://schemas.microsoft.com/office/drawing/2014/main" id="{312FF8ED-02A4-7C41-852C-DCB283C45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c[1]</a:t>
              </a:r>
            </a:p>
          </p:txBody>
        </p:sp>
        <p:sp>
          <p:nvSpPr>
            <p:cNvPr id="61453" name="Rectangle 14">
              <a:extLst>
                <a:ext uri="{FF2B5EF4-FFF2-40B4-BE49-F238E27FC236}">
                  <a16:creationId xmlns:a16="http://schemas.microsoft.com/office/drawing/2014/main" id="{72A67C02-85F4-5742-83A6-72620AD19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s[0]</a:t>
              </a:r>
            </a:p>
          </p:txBody>
        </p:sp>
        <p:sp>
          <p:nvSpPr>
            <p:cNvPr id="61454" name="Rectangle 15">
              <a:extLst>
                <a:ext uri="{FF2B5EF4-FFF2-40B4-BE49-F238E27FC236}">
                  <a16:creationId xmlns:a16="http://schemas.microsoft.com/office/drawing/2014/main" id="{82734683-0512-674B-8DC0-261BB5825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c[0]</a:t>
              </a:r>
            </a:p>
          </p:txBody>
        </p:sp>
        <p:sp>
          <p:nvSpPr>
            <p:cNvPr id="61455" name="Rectangle 16">
              <a:extLst>
                <a:ext uri="{FF2B5EF4-FFF2-40B4-BE49-F238E27FC236}">
                  <a16:creationId xmlns:a16="http://schemas.microsoft.com/office/drawing/2014/main" id="{51E27967-2778-834D-BD7F-4AA304E34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" y="1935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1456" name="Rectangle 17">
              <a:extLst>
                <a:ext uri="{FF2B5EF4-FFF2-40B4-BE49-F238E27FC236}">
                  <a16:creationId xmlns:a16="http://schemas.microsoft.com/office/drawing/2014/main" id="{AB126865-5041-6C4A-ADEE-AC4E2CF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1935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1457" name="Rectangle 18">
              <a:extLst>
                <a:ext uri="{FF2B5EF4-FFF2-40B4-BE49-F238E27FC236}">
                  <a16:creationId xmlns:a16="http://schemas.microsoft.com/office/drawing/2014/main" id="{D3DD8932-3578-774F-B9DC-96B704109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9" y="1551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1458" name="Rectangle 19">
              <a:extLst>
                <a:ext uri="{FF2B5EF4-FFF2-40B4-BE49-F238E27FC236}">
                  <a16:creationId xmlns:a16="http://schemas.microsoft.com/office/drawing/2014/main" id="{80C7973A-252C-304F-A354-91711FF72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1551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1459" name="Rectangle 20">
              <a:extLst>
                <a:ext uri="{FF2B5EF4-FFF2-40B4-BE49-F238E27FC236}">
                  <a16:creationId xmlns:a16="http://schemas.microsoft.com/office/drawing/2014/main" id="{4E832139-46DF-5441-ACF2-7E4E15E23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c[7]</a:t>
              </a:r>
            </a:p>
          </p:txBody>
        </p:sp>
        <p:sp>
          <p:nvSpPr>
            <p:cNvPr id="61460" name="Rectangle 21">
              <a:extLst>
                <a:ext uri="{FF2B5EF4-FFF2-40B4-BE49-F238E27FC236}">
                  <a16:creationId xmlns:a16="http://schemas.microsoft.com/office/drawing/2014/main" id="{6301D7D3-5D11-2A47-AD19-0A52BFD4D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s[3]</a:t>
              </a:r>
            </a:p>
          </p:txBody>
        </p:sp>
        <p:sp>
          <p:nvSpPr>
            <p:cNvPr id="61461" name="Rectangle 22">
              <a:extLst>
                <a:ext uri="{FF2B5EF4-FFF2-40B4-BE49-F238E27FC236}">
                  <a16:creationId xmlns:a16="http://schemas.microsoft.com/office/drawing/2014/main" id="{468F8343-D050-2441-AA34-22F774846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120"/>
              <a:ext cx="152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i[1]</a:t>
              </a:r>
            </a:p>
          </p:txBody>
        </p:sp>
        <p:sp>
          <p:nvSpPr>
            <p:cNvPr id="61462" name="Rectangle 23">
              <a:extLst>
                <a:ext uri="{FF2B5EF4-FFF2-40B4-BE49-F238E27FC236}">
                  <a16:creationId xmlns:a16="http://schemas.microsoft.com/office/drawing/2014/main" id="{56E9E41F-1902-BC4C-8CFD-9079E44F0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" y="1551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1463" name="Rectangle 24">
              <a:extLst>
                <a:ext uri="{FF2B5EF4-FFF2-40B4-BE49-F238E27FC236}">
                  <a16:creationId xmlns:a16="http://schemas.microsoft.com/office/drawing/2014/main" id="{230DDE0C-0100-7944-BC0C-E57C10F9F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551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1464" name="Rectangle 25">
              <a:extLst>
                <a:ext uri="{FF2B5EF4-FFF2-40B4-BE49-F238E27FC236}">
                  <a16:creationId xmlns:a16="http://schemas.microsoft.com/office/drawing/2014/main" id="{2CB06B3E-5D96-F842-A9DE-F2B944905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c[6]</a:t>
              </a:r>
            </a:p>
          </p:txBody>
        </p:sp>
        <p:sp>
          <p:nvSpPr>
            <p:cNvPr id="61465" name="Rectangle 26">
              <a:extLst>
                <a:ext uri="{FF2B5EF4-FFF2-40B4-BE49-F238E27FC236}">
                  <a16:creationId xmlns:a16="http://schemas.microsoft.com/office/drawing/2014/main" id="{D00925E1-559E-FF46-BD74-5318EDB3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c[5]</a:t>
              </a:r>
            </a:p>
          </p:txBody>
        </p:sp>
        <p:sp>
          <p:nvSpPr>
            <p:cNvPr id="61466" name="Rectangle 27">
              <a:extLst>
                <a:ext uri="{FF2B5EF4-FFF2-40B4-BE49-F238E27FC236}">
                  <a16:creationId xmlns:a16="http://schemas.microsoft.com/office/drawing/2014/main" id="{F0E38A1E-3F0E-9D4A-B2BD-5824E57A4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1736"/>
              <a:ext cx="752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s[2]</a:t>
              </a:r>
            </a:p>
          </p:txBody>
        </p:sp>
        <p:sp>
          <p:nvSpPr>
            <p:cNvPr id="61467" name="Rectangle 28">
              <a:extLst>
                <a:ext uri="{FF2B5EF4-FFF2-40B4-BE49-F238E27FC236}">
                  <a16:creationId xmlns:a16="http://schemas.microsoft.com/office/drawing/2014/main" id="{6CF1546E-B687-0848-9522-1107287F8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1352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c[4]</a:t>
              </a:r>
            </a:p>
          </p:txBody>
        </p:sp>
        <p:sp>
          <p:nvSpPr>
            <p:cNvPr id="61468" name="Rectangle 29">
              <a:extLst>
                <a:ext uri="{FF2B5EF4-FFF2-40B4-BE49-F238E27FC236}">
                  <a16:creationId xmlns:a16="http://schemas.microsoft.com/office/drawing/2014/main" id="{EAD6E383-3AB9-B14F-90FD-03CB430A9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" y="1935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1469" name="Rectangle 30">
              <a:extLst>
                <a:ext uri="{FF2B5EF4-FFF2-40B4-BE49-F238E27FC236}">
                  <a16:creationId xmlns:a16="http://schemas.microsoft.com/office/drawing/2014/main" id="{EE021431-F79D-F743-A674-EEB7C699A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1935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1470" name="Rectangle 31">
              <a:extLst>
                <a:ext uri="{FF2B5EF4-FFF2-40B4-BE49-F238E27FC236}">
                  <a16:creationId xmlns:a16="http://schemas.microsoft.com/office/drawing/2014/main" id="{A7464FDE-A988-324C-A3DF-90B39CE3E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" y="1551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1471" name="Rectangle 32">
              <a:extLst>
                <a:ext uri="{FF2B5EF4-FFF2-40B4-BE49-F238E27FC236}">
                  <a16:creationId xmlns:a16="http://schemas.microsoft.com/office/drawing/2014/main" id="{F145A598-B885-B742-B730-F3C42ADC6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1551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  <p:sp>
          <p:nvSpPr>
            <p:cNvPr id="61472" name="Rectangle 33">
              <a:extLst>
                <a:ext uri="{FF2B5EF4-FFF2-40B4-BE49-F238E27FC236}">
                  <a16:creationId xmlns:a16="http://schemas.microsoft.com/office/drawing/2014/main" id="{46997446-6533-D743-A25C-A4D038AB6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61473" name="Rectangle 34">
              <a:extLst>
                <a:ext uri="{FF2B5EF4-FFF2-40B4-BE49-F238E27FC236}">
                  <a16:creationId xmlns:a16="http://schemas.microsoft.com/office/drawing/2014/main" id="{BDC1788B-A4F5-534B-8ABE-DF6501602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f1</a:t>
              </a:r>
            </a:p>
          </p:txBody>
        </p:sp>
        <p:sp>
          <p:nvSpPr>
            <p:cNvPr id="61474" name="Rectangle 35">
              <a:extLst>
                <a:ext uri="{FF2B5EF4-FFF2-40B4-BE49-F238E27FC236}">
                  <a16:creationId xmlns:a16="http://schemas.microsoft.com/office/drawing/2014/main" id="{725E15A7-4525-444C-A20C-6609EF983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61475" name="Rectangle 36">
              <a:extLst>
                <a:ext uri="{FF2B5EF4-FFF2-40B4-BE49-F238E27FC236}">
                  <a16:creationId xmlns:a16="http://schemas.microsoft.com/office/drawing/2014/main" id="{665E1E84-BE3C-ED4A-B3C1-98890FCFB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f3</a:t>
              </a:r>
            </a:p>
          </p:txBody>
        </p:sp>
        <p:sp>
          <p:nvSpPr>
            <p:cNvPr id="61476" name="Rectangle 37">
              <a:extLst>
                <a:ext uri="{FF2B5EF4-FFF2-40B4-BE49-F238E27FC236}">
                  <a16:creationId xmlns:a16="http://schemas.microsoft.com/office/drawing/2014/main" id="{69233E09-687B-E64A-919F-6C35BB0F3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f4</a:t>
              </a:r>
            </a:p>
          </p:txBody>
        </p:sp>
        <p:sp>
          <p:nvSpPr>
            <p:cNvPr id="61477" name="Rectangle 38">
              <a:extLst>
                <a:ext uri="{FF2B5EF4-FFF2-40B4-BE49-F238E27FC236}">
                  <a16:creationId xmlns:a16="http://schemas.microsoft.com/office/drawing/2014/main" id="{0CEE968E-E0B3-284B-BF84-EF75D1C15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f5</a:t>
              </a:r>
            </a:p>
          </p:txBody>
        </p:sp>
        <p:sp>
          <p:nvSpPr>
            <p:cNvPr id="61478" name="Rectangle 39">
              <a:extLst>
                <a:ext uri="{FF2B5EF4-FFF2-40B4-BE49-F238E27FC236}">
                  <a16:creationId xmlns:a16="http://schemas.microsoft.com/office/drawing/2014/main" id="{6A52B48B-3F70-8647-A9E6-594EA133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61479" name="Rectangle 40">
              <a:extLst>
                <a:ext uri="{FF2B5EF4-FFF2-40B4-BE49-F238E27FC236}">
                  <a16:creationId xmlns:a16="http://schemas.microsoft.com/office/drawing/2014/main" id="{4FB8C5A4-75CC-9D49-9741-DCD59C807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1" y="1167"/>
              <a:ext cx="2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latin typeface="Courier New" panose="02070309020205020404" pitchFamily="49" charset="0"/>
                </a:rPr>
                <a:t>f7</a:t>
              </a:r>
            </a:p>
          </p:txBody>
        </p:sp>
        <p:sp>
          <p:nvSpPr>
            <p:cNvPr id="61480" name="Line 41">
              <a:extLst>
                <a:ext uri="{FF2B5EF4-FFF2-40B4-BE49-F238E27FC236}">
                  <a16:creationId xmlns:a16="http://schemas.microsoft.com/office/drawing/2014/main" id="{C058FC7D-C260-8A43-A4CE-E555C25B0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784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81" name="Rectangle 42">
              <a:extLst>
                <a:ext uri="{FF2B5EF4-FFF2-40B4-BE49-F238E27FC236}">
                  <a16:creationId xmlns:a16="http://schemas.microsoft.com/office/drawing/2014/main" id="{B3158C32-5BAF-AF4E-9196-83BA80E76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2799"/>
              <a:ext cx="36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/>
                <a:t>Print</a:t>
              </a:r>
            </a:p>
          </p:txBody>
        </p:sp>
        <p:sp>
          <p:nvSpPr>
            <p:cNvPr id="61482" name="Rectangle 43">
              <a:extLst>
                <a:ext uri="{FF2B5EF4-FFF2-40B4-BE49-F238E27FC236}">
                  <a16:creationId xmlns:a16="http://schemas.microsoft.com/office/drawing/2014/main" id="{EDD7D1A3-AAA4-AE43-9CAF-1C5529700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2504"/>
              <a:ext cx="305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latin typeface="Courier New" panose="02070309020205020404" pitchFamily="49" charset="0"/>
                </a:rPr>
                <a:t>l[0]</a:t>
              </a:r>
            </a:p>
          </p:txBody>
        </p:sp>
        <p:sp>
          <p:nvSpPr>
            <p:cNvPr id="61483" name="Rectangle 44">
              <a:extLst>
                <a:ext uri="{FF2B5EF4-FFF2-40B4-BE49-F238E27FC236}">
                  <a16:creationId xmlns:a16="http://schemas.microsoft.com/office/drawing/2014/main" id="{EA8303CA-A171-EB4E-95C5-5F4A40B9B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" y="2319"/>
              <a:ext cx="33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LSB</a:t>
              </a:r>
            </a:p>
          </p:txBody>
        </p:sp>
        <p:sp>
          <p:nvSpPr>
            <p:cNvPr id="61484" name="Rectangle 45">
              <a:extLst>
                <a:ext uri="{FF2B5EF4-FFF2-40B4-BE49-F238E27FC236}">
                  <a16:creationId xmlns:a16="http://schemas.microsoft.com/office/drawing/2014/main" id="{15984412-6CD7-E14C-BC5D-FB778A5D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2319"/>
              <a:ext cx="36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400"/>
                <a:t>MSB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69A02D-D802-E449-957F-DE352B9BF9D7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5143500" cy="5730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0">
                <a:latin typeface="+mj-lt"/>
                <a:ea typeface="+mj-ea"/>
                <a:cs typeface="+mj-cs"/>
              </a:rPr>
              <a:t>Summary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3095A5DA-805B-4D49-9263-7F8C424F9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838200"/>
            <a:ext cx="8853487" cy="560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Arrays in C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Contiguous allocation of memory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Pointer to first element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No bounds checking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Compiler Optimizations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Compiler often turns array code into pointer code (</a:t>
            </a:r>
            <a:r>
              <a:rPr lang="en-US" altLang="en-US" sz="2000" b="0">
                <a:latin typeface="Courier New" panose="02070309020205020404" pitchFamily="49" charset="0"/>
              </a:rPr>
              <a:t>zd2int</a:t>
            </a:r>
            <a:r>
              <a:rPr lang="en-US" altLang="en-US" sz="2000" b="0">
                <a:latin typeface="Calibri" panose="020F0502020204030204" pitchFamily="34" charset="0"/>
              </a:rPr>
              <a:t>)</a:t>
            </a:r>
            <a:endParaRPr lang="en-US" altLang="en-US" sz="2000" b="0">
              <a:latin typeface="Courier New" panose="02070309020205020404" pitchFamily="49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Uses addressing modes to scale array indices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Lots of tricks to improve array indexing in loops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Structures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Allocate bytes in order declared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Pad in middle and at end to satisfy alignment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Unions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Overlay declarations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2000" b="0">
                <a:latin typeface="Calibri" panose="020F0502020204030204" pitchFamily="34" charset="0"/>
              </a:rPr>
              <a:t>Way to circumvent type system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1160</TotalTime>
  <Words>4420</Words>
  <Application>Microsoft Macintosh PowerPoint</Application>
  <PresentationFormat>On-screen Show (4:3)</PresentationFormat>
  <Paragraphs>1322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ＭＳ Ｐゴシック</vt:lpstr>
      <vt:lpstr>Arial</vt:lpstr>
      <vt:lpstr>Calibri</vt:lpstr>
      <vt:lpstr>Courier New</vt:lpstr>
      <vt:lpstr>Helvetica</vt:lpstr>
      <vt:lpstr>News Gothic MT</vt:lpstr>
      <vt:lpstr>Times</vt:lpstr>
      <vt:lpstr>Wingdings</vt:lpstr>
      <vt:lpstr>Wingdings 2</vt:lpstr>
      <vt:lpstr>Breeze</vt:lpstr>
      <vt:lpstr>Storage of Data Structures </vt:lpstr>
      <vt:lpstr>3.8. Basic Data Types</vt:lpstr>
      <vt:lpstr>Array Allocation</vt:lpstr>
      <vt:lpstr>Array Access</vt:lpstr>
      <vt:lpstr>Array Access</vt:lpstr>
      <vt:lpstr>Array Example</vt:lpstr>
      <vt:lpstr>Array Accessing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Nested Array Row Access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Georgia Tech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CS1315: Introduction to Media Computation</dc:title>
  <dc:creator>Mark Guzdial</dc:creator>
  <cp:lastModifiedBy>Ryan Balachandran</cp:lastModifiedBy>
  <cp:revision>128</cp:revision>
  <dcterms:created xsi:type="dcterms:W3CDTF">2004-01-20T22:43:44Z</dcterms:created>
  <dcterms:modified xsi:type="dcterms:W3CDTF">2019-11-06T19:27:56Z</dcterms:modified>
</cp:coreProperties>
</file>