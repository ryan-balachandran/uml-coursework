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936" r:id="rId1"/>
  </p:sldMasterIdLst>
  <p:notesMasterIdLst>
    <p:notesMasterId r:id="rId18"/>
  </p:notesMasterIdLst>
  <p:handoutMasterIdLst>
    <p:handoutMasterId r:id="rId19"/>
  </p:handoutMasterIdLst>
  <p:sldIdLst>
    <p:sldId id="556" r:id="rId2"/>
    <p:sldId id="294" r:id="rId3"/>
    <p:sldId id="308" r:id="rId4"/>
    <p:sldId id="305" r:id="rId5"/>
    <p:sldId id="304" r:id="rId6"/>
    <p:sldId id="295" r:id="rId7"/>
    <p:sldId id="296" r:id="rId8"/>
    <p:sldId id="297" r:id="rId9"/>
    <p:sldId id="298" r:id="rId10"/>
    <p:sldId id="299" r:id="rId11"/>
    <p:sldId id="565" r:id="rId12"/>
    <p:sldId id="560" r:id="rId13"/>
    <p:sldId id="561" r:id="rId14"/>
    <p:sldId id="562" r:id="rId15"/>
    <p:sldId id="563" r:id="rId16"/>
    <p:sldId id="564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9"/>
    <p:restoredTop sz="94624"/>
  </p:normalViewPr>
  <p:slideViewPr>
    <p:cSldViewPr>
      <p:cViewPr varScale="1">
        <p:scale>
          <a:sx n="106" d="100"/>
          <a:sy n="106" d="100"/>
        </p:scale>
        <p:origin x="1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A1014D-066E-BA46-A6DF-89A1BC07C4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BE734E-1A9E-A742-A784-5DE20B1C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DF6D575-E14F-8044-AE50-1584BA34F390}" type="datetimeFigureOut">
              <a:rPr lang="en-US" altLang="en-US"/>
              <a:pPr>
                <a:defRPr/>
              </a:pPr>
              <a:t>11/18/19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E6FE3C-3470-B94D-AB0F-8EC5726798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25820-E6D5-B442-852B-A614093C6D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9912715-9252-4645-8222-7A47622083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31EFB5E-126A-9348-B7F8-561E012964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AF3BFE-F959-E64A-AC76-DC3235E3751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2F5EFA0C-0237-4544-9EF5-25DA02E0A4A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494E3FBE-4E85-194C-BFAB-C58C6606E61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984D42E0-3D1D-A84E-80D4-B657D83AC30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AA7A6247-7D47-5F4C-A50F-7BAD47A3D7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363A88F-7ECD-344A-94F7-1A93BDD985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A13A27D-2E1B-FE41-98A3-D359018E477A}"/>
              </a:ext>
            </a:extLst>
          </p:cNvPr>
          <p:cNvSpPr/>
          <p:nvPr/>
        </p:nvSpPr>
        <p:spPr>
          <a:xfrm>
            <a:off x="1328738" y="1295400"/>
            <a:ext cx="6486525" cy="3152775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eaLnBrk="1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3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rtlCol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5ABCA2-D183-864E-9212-1A651E55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9567625-99AE-EB44-859A-59CDB876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D17C9C-4F95-2C48-BBA4-13BC071B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E08ECB-3B5F-334B-83D9-979C0D243D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545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24B93-E5DA-7940-9AB7-65A7C24C1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E600E-FEF7-BD48-87A0-5D69BA28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D9343-21B8-E84C-9E1B-7C31AB81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353A6-30E4-634B-AD98-D0185019E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22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31D747A-45D9-D047-9066-707592D612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78C865-2813-7D42-A897-421230FE20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EA6BFAA-57DB-584E-B737-C04741A500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724C8B-FE21-414C-BDCC-3A9C84C13D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149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/>
          <a:lstStyle>
            <a:lvl1pPr algn="ctr">
              <a:defRPr sz="46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C7846-1682-7640-989E-88D4542B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BE563-04B2-DB40-8971-5B8B86C7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70C7-E94F-424C-AF38-21D859CF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8FD54-9F47-454B-A1BD-6BF2E3F77E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048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474429B-1C5E-594A-A915-DB5938B0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B82380-F306-A641-A677-C9609F40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EA64AFB-C8BB-304A-A7E0-973D68CA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9CDAE-A36A-9E47-85F3-8F0388BC73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2943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A4C4C92-9855-B340-8E0B-D0D9E3E93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CDFCE7F-5A65-654F-9DA9-C9CD54D7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639278A-0F9E-144D-9DAB-202DF5B8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3040F-9E9B-8340-A154-00E6CF7432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29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1DD913A-29C5-DD4E-BCDF-909E7266D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62EA271-E7CA-CF48-B056-949EFE987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33FBB68-E147-CA41-90BB-F9A7A9777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FDC46-D44F-624C-8386-0A188AD431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351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FAD55EF-7B51-4945-AB7B-3098829F7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C35221-9282-EF45-97D8-8F569721C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FCFE490-A7BF-FC45-9E11-D1AC11D9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145B0-3DF4-2149-A49E-AF1DB6412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749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35C8965-84B7-524F-9A9E-69AF8839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70AC90-361B-B549-8A71-7673DF15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0F168AE-8834-C848-B6A0-0B12747D8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A8FC7E-FDF1-1F4B-BA01-867983F9CE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754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  <a:endParaRPr noProof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772BCA2-7A7A-5B48-87AF-A98E8079F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65B6778-BEC1-3341-93FB-1CD8CB03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360EE6-7839-E046-B5B6-FFC6C9886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CB783-9B6B-2849-B0AD-F46681B085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82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91536-71F7-5942-8CC6-C4107AE1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320EE-786F-8B4B-A5FE-8506B832D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4C51B-2A14-C641-81FA-9F49561A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76C19-B7A8-6D46-80BF-71D1C401BD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8102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BB7EC-060F-B848-9EDA-6CFBA7C4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29778-4495-254A-9079-C823E07E1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848F5-04E5-744E-9FC0-AA4CC908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89D76B-CD60-0D48-A5A5-51EBFEC300C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495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13B6500-E577-A44C-BECB-153AD0CDE59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49275" y="107950"/>
            <a:ext cx="8042275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4F1C1638-6B91-BC41-B3CD-3801562316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49275" y="1600200"/>
            <a:ext cx="804227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F9BDF-71BC-2542-9778-D0B6BDF58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29275" y="627538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F3555-B77B-6542-899E-440AC1125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5113" y="6275388"/>
            <a:ext cx="48402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DFE1D-D60F-F845-B42C-756889FA9F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7813" y="6275388"/>
            <a:ext cx="990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389232D-B519-394D-8490-227A732BB4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27" r:id="rId2"/>
    <p:sldLayoutId id="2147484328" r:id="rId3"/>
    <p:sldLayoutId id="2147484329" r:id="rId4"/>
    <p:sldLayoutId id="2147484330" r:id="rId5"/>
    <p:sldLayoutId id="2147484331" r:id="rId6"/>
    <p:sldLayoutId id="2147484332" r:id="rId7"/>
    <p:sldLayoutId id="2147484333" r:id="rId8"/>
    <p:sldLayoutId id="2147484334" r:id="rId9"/>
    <p:sldLayoutId id="2147484335" r:id="rId10"/>
    <p:sldLayoutId id="2147484336" r:id="rId11"/>
    <p:sldLayoutId id="214748433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600">
          <a:solidFill>
            <a:schemeClr val="accent1"/>
          </a:solidFill>
          <a:latin typeface="News Gothic MT" charset="0"/>
          <a:ea typeface="ＭＳ Ｐゴシック" charset="0"/>
          <a:cs typeface="ＭＳ Ｐゴシック" charset="0"/>
        </a:defRPr>
      </a:lvl9pPr>
    </p:titleStyle>
    <p:bodyStyle>
      <a:lvl1pPr marL="349250" indent="-349250" algn="l" rtl="0" eaLnBrk="0" fontAlgn="base" hangingPunct="0">
        <a:spcBef>
          <a:spcPts val="20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400" kern="1200">
          <a:solidFill>
            <a:srgbClr val="595959"/>
          </a:solidFill>
          <a:latin typeface="+mn-lt"/>
          <a:ea typeface="ＭＳ Ｐゴシック" charset="0"/>
          <a:cs typeface="ＭＳ Ｐゴシック" charset="0"/>
        </a:defRPr>
      </a:lvl1pPr>
      <a:lvl2pPr marL="685800" indent="-336550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sz="2200" kern="1200">
          <a:solidFill>
            <a:srgbClr val="595959"/>
          </a:solidFill>
          <a:latin typeface="+mn-lt"/>
          <a:ea typeface="ＭＳ Ｐゴシック" charset="0"/>
          <a:cs typeface="+mn-cs"/>
        </a:defRPr>
      </a:lvl2pPr>
      <a:lvl3pPr marL="96837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sz="2000" kern="1200">
          <a:solidFill>
            <a:srgbClr val="595959"/>
          </a:solidFill>
          <a:latin typeface="+mn-lt"/>
          <a:ea typeface="ＭＳ Ｐゴシック" charset="0"/>
          <a:cs typeface="+mn-cs"/>
        </a:defRPr>
      </a:lvl3pPr>
      <a:lvl4pPr marL="1263650" indent="-295275" algn="l" rtl="0" eaLnBrk="0" fontAlgn="base" hangingPunct="0">
        <a:spcBef>
          <a:spcPts val="600"/>
        </a:spcBef>
        <a:spcAft>
          <a:spcPct val="0"/>
        </a:spcAft>
        <a:buClr>
          <a:srgbClr val="215D7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4pPr>
      <a:lvl5pPr marL="1546225" indent="-282575" algn="l" rtl="0" eaLnBrk="0" fontAlgn="base" hangingPunct="0">
        <a:spcBef>
          <a:spcPts val="600"/>
        </a:spcBef>
        <a:spcAft>
          <a:spcPct val="0"/>
        </a:spcAft>
        <a:buClr>
          <a:srgbClr val="6FB7D7"/>
        </a:buClr>
        <a:buSzPct val="110000"/>
        <a:buFont typeface="Wingdings 2" pitchFamily="2" charset="2"/>
        <a:buChar char=""/>
        <a:defRPr kern="1200">
          <a:solidFill>
            <a:srgbClr val="595959"/>
          </a:solidFill>
          <a:latin typeface="+mn-lt"/>
          <a:ea typeface="ＭＳ Ｐゴシック" charset="0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>
            <a:extLst>
              <a:ext uri="{FF2B5EF4-FFF2-40B4-BE49-F238E27FC236}">
                <a16:creationId xmlns:a16="http://schemas.microsoft.com/office/drawing/2014/main" id="{7B1C1E82-1DC2-D34E-B245-30418E321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1238250"/>
            <a:ext cx="7899400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Combinational vs. Sequential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§"/>
            </a:pPr>
            <a:r>
              <a:rPr lang="en-US" altLang="en-US" sz="2000" b="0">
                <a:latin typeface="Franklin Gothic Book" panose="020B0503020102020204" pitchFamily="34" charset="0"/>
              </a:rPr>
              <a:t>combinational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No memory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Given a set of inputs, unambiguous outputs …</a:t>
            </a:r>
          </a:p>
          <a:p>
            <a:pPr lvl="1">
              <a:spcBef>
                <a:spcPct val="20000"/>
              </a:spcBef>
              <a:buFont typeface="Wingdings" pitchFamily="2" charset="2"/>
              <a:buChar char="§"/>
            </a:pPr>
            <a:r>
              <a:rPr lang="en-US" altLang="en-US" sz="2000" b="0">
                <a:latin typeface="Franklin Gothic Book" panose="020B0503020102020204" pitchFamily="34" charset="0"/>
              </a:rPr>
              <a:t>sequential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Memory + combinational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Memory generates different input depending on past memory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Need clock to determine when memory is updated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Memory =&gt; state of the system</a:t>
            </a: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DCE32326-E62B-E546-B54D-2D5B0722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746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200" u="sng">
                <a:latin typeface="Calibri" panose="020F0502020204030204" pitchFamily="34" charset="0"/>
              </a:rPr>
              <a:t>Sequential Logic</a:t>
            </a:r>
            <a:endParaRPr lang="en-US" altLang="en-US" sz="32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A45AA6A2-29C7-D843-A1BD-B9EE1266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10493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Storing 1 Bit</a:t>
            </a:r>
          </a:p>
        </p:txBody>
      </p:sp>
      <p:sp>
        <p:nvSpPr>
          <p:cNvPr id="304242" name="Text Box 114">
            <a:extLst>
              <a:ext uri="{FF2B5EF4-FFF2-40B4-BE49-F238E27FC236}">
                <a16:creationId xmlns:a16="http://schemas.microsoft.com/office/drawing/2014/main" id="{5A4C136C-2CE5-D34C-AF35-25C2BCFA5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1069975"/>
            <a:ext cx="2325687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 dirty="0" err="1"/>
              <a:t>Bistable</a:t>
            </a:r>
            <a:r>
              <a:rPr lang="en-US" sz="2403" dirty="0"/>
              <a:t> Element</a:t>
            </a:r>
          </a:p>
        </p:txBody>
      </p:sp>
      <p:grpSp>
        <p:nvGrpSpPr>
          <p:cNvPr id="17411" name="Group 120">
            <a:extLst>
              <a:ext uri="{FF2B5EF4-FFF2-40B4-BE49-F238E27FC236}">
                <a16:creationId xmlns:a16="http://schemas.microsoft.com/office/drawing/2014/main" id="{EEE92B0C-682A-9D4E-A811-1CF0062A2329}"/>
              </a:ext>
            </a:extLst>
          </p:cNvPr>
          <p:cNvGrpSpPr>
            <a:grpSpLocks/>
          </p:cNvGrpSpPr>
          <p:nvPr/>
        </p:nvGrpSpPr>
        <p:grpSpPr bwMode="auto">
          <a:xfrm>
            <a:off x="3509963" y="1649413"/>
            <a:ext cx="1976615" cy="1855787"/>
            <a:chOff x="3915" y="1141"/>
            <a:chExt cx="1243" cy="1167"/>
          </a:xfrm>
        </p:grpSpPr>
        <p:sp>
          <p:nvSpPr>
            <p:cNvPr id="304249" name="Line 121">
              <a:extLst>
                <a:ext uri="{FF2B5EF4-FFF2-40B4-BE49-F238E27FC236}">
                  <a16:creationId xmlns:a16="http://schemas.microsoft.com/office/drawing/2014/main" id="{C7202CA0-DF18-0C41-8F63-92135F99A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1" y="1371"/>
              <a:ext cx="433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7433" name="Group 122">
              <a:extLst>
                <a:ext uri="{FF2B5EF4-FFF2-40B4-BE49-F238E27FC236}">
                  <a16:creationId xmlns:a16="http://schemas.microsoft.com/office/drawing/2014/main" id="{C10CF5B1-FC7D-E94C-A793-397A28E943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3" y="1152"/>
              <a:ext cx="311" cy="315"/>
              <a:chOff x="2091" y="1440"/>
              <a:chExt cx="311" cy="315"/>
            </a:xfrm>
          </p:grpSpPr>
          <p:sp>
            <p:nvSpPr>
              <p:cNvPr id="304251" name="Freeform 123">
                <a:extLst>
                  <a:ext uri="{FF2B5EF4-FFF2-40B4-BE49-F238E27FC236}">
                    <a16:creationId xmlns:a16="http://schemas.microsoft.com/office/drawing/2014/main" id="{B3357A94-14A2-484C-AA44-A9DCAF15A8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52" name="Freeform 124">
                <a:extLst>
                  <a:ext uri="{FF2B5EF4-FFF2-40B4-BE49-F238E27FC236}">
                    <a16:creationId xmlns:a16="http://schemas.microsoft.com/office/drawing/2014/main" id="{0418CD35-446A-8E4C-AF3A-E55814CDC4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1571"/>
                <a:ext cx="192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53" name="Freeform 125">
                <a:extLst>
                  <a:ext uri="{FF2B5EF4-FFF2-40B4-BE49-F238E27FC236}">
                    <a16:creationId xmlns:a16="http://schemas.microsoft.com/office/drawing/2014/main" id="{474C8D19-8058-6740-9379-5FC851547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54" name="Freeform 126">
                <a:extLst>
                  <a:ext uri="{FF2B5EF4-FFF2-40B4-BE49-F238E27FC236}">
                    <a16:creationId xmlns:a16="http://schemas.microsoft.com/office/drawing/2014/main" id="{62AE24C5-4156-3D46-B50C-B79544D35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1639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4255" name="Line 127">
              <a:extLst>
                <a:ext uri="{FF2B5EF4-FFF2-40B4-BE49-F238E27FC236}">
                  <a16:creationId xmlns:a16="http://schemas.microsoft.com/office/drawing/2014/main" id="{ED21A5D7-5BB7-A844-A824-CFB537000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0" y="1379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56" name="Line 128">
              <a:extLst>
                <a:ext uri="{FF2B5EF4-FFF2-40B4-BE49-F238E27FC236}">
                  <a16:creationId xmlns:a16="http://schemas.microsoft.com/office/drawing/2014/main" id="{A77CC56C-4458-0E41-835A-160AD1A78F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2" y="1829"/>
              <a:ext cx="433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7436" name="Group 129">
              <a:extLst>
                <a:ext uri="{FF2B5EF4-FFF2-40B4-BE49-F238E27FC236}">
                  <a16:creationId xmlns:a16="http://schemas.microsoft.com/office/drawing/2014/main" id="{3F85C9AA-AA2E-F047-BC60-CD2059B9B996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058" y="1736"/>
              <a:ext cx="316" cy="193"/>
              <a:chOff x="2086" y="1431"/>
              <a:chExt cx="316" cy="193"/>
            </a:xfrm>
          </p:grpSpPr>
          <p:sp>
            <p:nvSpPr>
              <p:cNvPr id="304258" name="Freeform 130">
                <a:extLst>
                  <a:ext uri="{FF2B5EF4-FFF2-40B4-BE49-F238E27FC236}">
                    <a16:creationId xmlns:a16="http://schemas.microsoft.com/office/drawing/2014/main" id="{23573379-FED8-1443-836D-40608ACE7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59" name="Freeform 131">
                <a:extLst>
                  <a:ext uri="{FF2B5EF4-FFF2-40B4-BE49-F238E27FC236}">
                    <a16:creationId xmlns:a16="http://schemas.microsoft.com/office/drawing/2014/main" id="{CD9AA7C6-23C3-E048-A7BB-AC5552C96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6" y="1431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60" name="Freeform 132">
                <a:extLst>
                  <a:ext uri="{FF2B5EF4-FFF2-40B4-BE49-F238E27FC236}">
                    <a16:creationId xmlns:a16="http://schemas.microsoft.com/office/drawing/2014/main" id="{DC38BBAC-878D-504D-9851-D6FF07B6C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61" name="Freeform 133">
                <a:extLst>
                  <a:ext uri="{FF2B5EF4-FFF2-40B4-BE49-F238E27FC236}">
                    <a16:creationId xmlns:a16="http://schemas.microsoft.com/office/drawing/2014/main" id="{2B834A44-9D86-AF40-9E7A-DEA5200E17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497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4262" name="Line 134">
              <a:extLst>
                <a:ext uri="{FF2B5EF4-FFF2-40B4-BE49-F238E27FC236}">
                  <a16:creationId xmlns:a16="http://schemas.microsoft.com/office/drawing/2014/main" id="{A71EF234-C191-B44C-B68C-FD0C9373FC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5" y="1832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63" name="Freeform 135">
              <a:extLst>
                <a:ext uri="{FF2B5EF4-FFF2-40B4-BE49-F238E27FC236}">
                  <a16:creationId xmlns:a16="http://schemas.microsoft.com/office/drawing/2014/main" id="{AA557262-842E-6641-B6CE-9B3131DEB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1390"/>
              <a:ext cx="568" cy="4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64" name="Freeform 136">
              <a:extLst>
                <a:ext uri="{FF2B5EF4-FFF2-40B4-BE49-F238E27FC236}">
                  <a16:creationId xmlns:a16="http://schemas.microsoft.com/office/drawing/2014/main" id="{62AC9D55-E9FF-A94D-AB54-26F595BB176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988" y="1390"/>
              <a:ext cx="528" cy="44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65" name="Text Box 137">
              <a:extLst>
                <a:ext uri="{FF2B5EF4-FFF2-40B4-BE49-F238E27FC236}">
                  <a16:creationId xmlns:a16="http://schemas.microsoft.com/office/drawing/2014/main" id="{49115D13-3440-6C4F-B9AF-6C88C2D237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1152"/>
              <a:ext cx="354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squar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Q+</a:t>
              </a:r>
            </a:p>
          </p:txBody>
        </p:sp>
        <p:sp>
          <p:nvSpPr>
            <p:cNvPr id="304266" name="Text Box 138">
              <a:extLst>
                <a:ext uri="{FF2B5EF4-FFF2-40B4-BE49-F238E27FC236}">
                  <a16:creationId xmlns:a16="http://schemas.microsoft.com/office/drawing/2014/main" id="{011C3682-DE7E-9B49-80F0-C069C0256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1680"/>
              <a:ext cx="354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squar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Q–</a:t>
              </a:r>
            </a:p>
          </p:txBody>
        </p:sp>
        <p:sp>
          <p:nvSpPr>
            <p:cNvPr id="304267" name="Text Box 139">
              <a:extLst>
                <a:ext uri="{FF2B5EF4-FFF2-40B4-BE49-F238E27FC236}">
                  <a16:creationId xmlns:a16="http://schemas.microsoft.com/office/drawing/2014/main" id="{C4E97453-9A23-6F45-B014-C7CC513F6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5" y="1141"/>
              <a:ext cx="240" cy="2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 dirty="0">
                  <a:solidFill>
                    <a:srgbClr val="FF0002"/>
                  </a:solidFill>
                  <a:latin typeface="Courier New" pitchFamily="49" charset="0"/>
                </a:rPr>
                <a:t>q</a:t>
              </a:r>
            </a:p>
          </p:txBody>
        </p:sp>
        <p:sp>
          <p:nvSpPr>
            <p:cNvPr id="304268" name="Text Box 140">
              <a:extLst>
                <a:ext uri="{FF2B5EF4-FFF2-40B4-BE49-F238E27FC236}">
                  <a16:creationId xmlns:a16="http://schemas.microsoft.com/office/drawing/2014/main" id="{02ECC807-CBAA-4D43-AE5A-55C51698A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632"/>
              <a:ext cx="240" cy="2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!q</a:t>
              </a:r>
            </a:p>
          </p:txBody>
        </p:sp>
        <p:sp>
          <p:nvSpPr>
            <p:cNvPr id="304269" name="Text Box 141">
              <a:extLst>
                <a:ext uri="{FF2B5EF4-FFF2-40B4-BE49-F238E27FC236}">
                  <a16:creationId xmlns:a16="http://schemas.microsoft.com/office/drawing/2014/main" id="{A61174D7-0866-E442-A1C2-B6141BCAF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95"/>
              <a:ext cx="1008" cy="2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 </a:t>
              </a:r>
              <a:r>
                <a:rPr lang="en-US" sz="1602"/>
                <a:t>= 0 or 1</a:t>
              </a:r>
            </a:p>
          </p:txBody>
        </p:sp>
      </p:grpSp>
      <p:grpSp>
        <p:nvGrpSpPr>
          <p:cNvPr id="304295" name="Group 167">
            <a:extLst>
              <a:ext uri="{FF2B5EF4-FFF2-40B4-BE49-F238E27FC236}">
                <a16:creationId xmlns:a16="http://schemas.microsoft.com/office/drawing/2014/main" id="{B8E4D105-B410-8845-89A6-CF06F938CF35}"/>
              </a:ext>
            </a:extLst>
          </p:cNvPr>
          <p:cNvGrpSpPr>
            <a:grpSpLocks/>
          </p:cNvGrpSpPr>
          <p:nvPr/>
        </p:nvGrpSpPr>
        <p:grpSpPr bwMode="auto">
          <a:xfrm>
            <a:off x="1068388" y="4275138"/>
            <a:ext cx="1684337" cy="1758950"/>
            <a:chOff x="3696" y="1008"/>
            <a:chExt cx="1060" cy="1107"/>
          </a:xfrm>
        </p:grpSpPr>
        <p:sp>
          <p:nvSpPr>
            <p:cNvPr id="304214" name="Line 86">
              <a:extLst>
                <a:ext uri="{FF2B5EF4-FFF2-40B4-BE49-F238E27FC236}">
                  <a16:creationId xmlns:a16="http://schemas.microsoft.com/office/drawing/2014/main" id="{2D2929FF-00F2-7342-BF6F-9F1855636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1" y="1244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7415" name="Group 87">
              <a:extLst>
                <a:ext uri="{FF2B5EF4-FFF2-40B4-BE49-F238E27FC236}">
                  <a16:creationId xmlns:a16="http://schemas.microsoft.com/office/drawing/2014/main" id="{6B967DC9-99D8-9B4F-ABAF-8E5992C40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1" y="1152"/>
              <a:ext cx="243" cy="184"/>
              <a:chOff x="2159" y="1440"/>
              <a:chExt cx="243" cy="184"/>
            </a:xfrm>
          </p:grpSpPr>
          <p:sp>
            <p:nvSpPr>
              <p:cNvPr id="304216" name="Freeform 88">
                <a:extLst>
                  <a:ext uri="{FF2B5EF4-FFF2-40B4-BE49-F238E27FC236}">
                    <a16:creationId xmlns:a16="http://schemas.microsoft.com/office/drawing/2014/main" id="{C3D942CB-65C1-194A-85AB-3B8C6EB02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17" name="Freeform 89">
                <a:extLst>
                  <a:ext uri="{FF2B5EF4-FFF2-40B4-BE49-F238E27FC236}">
                    <a16:creationId xmlns:a16="http://schemas.microsoft.com/office/drawing/2014/main" id="{462C7A83-1875-7645-A3E7-42A8D4C31B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18" name="Freeform 90">
                <a:extLst>
                  <a:ext uri="{FF2B5EF4-FFF2-40B4-BE49-F238E27FC236}">
                    <a16:creationId xmlns:a16="http://schemas.microsoft.com/office/drawing/2014/main" id="{7AD600DE-2D9F-3042-A79E-5F41139207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19" name="Freeform 91">
                <a:extLst>
                  <a:ext uri="{FF2B5EF4-FFF2-40B4-BE49-F238E27FC236}">
                    <a16:creationId xmlns:a16="http://schemas.microsoft.com/office/drawing/2014/main" id="{B9A6D6F3-00F9-3F44-ABE6-B33A40B4A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4220" name="Line 92">
              <a:extLst>
                <a:ext uri="{FF2B5EF4-FFF2-40B4-BE49-F238E27FC236}">
                  <a16:creationId xmlns:a16="http://schemas.microsoft.com/office/drawing/2014/main" id="{838402C0-D4F5-F540-987C-6DADBEAD1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8" y="1248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26" name="Line 98">
              <a:extLst>
                <a:ext uri="{FF2B5EF4-FFF2-40B4-BE49-F238E27FC236}">
                  <a16:creationId xmlns:a16="http://schemas.microsoft.com/office/drawing/2014/main" id="{5D6CA985-06FD-2E49-B373-8ABBB5945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1" y="1824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7418" name="Group 99">
              <a:extLst>
                <a:ext uri="{FF2B5EF4-FFF2-40B4-BE49-F238E27FC236}">
                  <a16:creationId xmlns:a16="http://schemas.microsoft.com/office/drawing/2014/main" id="{F596152D-63F3-AA4C-9C04-61BD24DC23AF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131" y="1736"/>
              <a:ext cx="243" cy="184"/>
              <a:chOff x="2159" y="1440"/>
              <a:chExt cx="243" cy="184"/>
            </a:xfrm>
          </p:grpSpPr>
          <p:sp>
            <p:nvSpPr>
              <p:cNvPr id="304228" name="Freeform 100">
                <a:extLst>
                  <a:ext uri="{FF2B5EF4-FFF2-40B4-BE49-F238E27FC236}">
                    <a16:creationId xmlns:a16="http://schemas.microsoft.com/office/drawing/2014/main" id="{D14A07BB-5B4B-9B42-9FAF-DB5EB85CC1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29" name="Freeform 101">
                <a:extLst>
                  <a:ext uri="{FF2B5EF4-FFF2-40B4-BE49-F238E27FC236}">
                    <a16:creationId xmlns:a16="http://schemas.microsoft.com/office/drawing/2014/main" id="{1AB92D35-C72C-D84C-9DE9-21072221D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30" name="Freeform 102">
                <a:extLst>
                  <a:ext uri="{FF2B5EF4-FFF2-40B4-BE49-F238E27FC236}">
                    <a16:creationId xmlns:a16="http://schemas.microsoft.com/office/drawing/2014/main" id="{CF5A2963-45F1-4343-9B7E-371B16F391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4231" name="Freeform 103">
                <a:extLst>
                  <a:ext uri="{FF2B5EF4-FFF2-40B4-BE49-F238E27FC236}">
                    <a16:creationId xmlns:a16="http://schemas.microsoft.com/office/drawing/2014/main" id="{52793A72-A56D-434D-B166-847311DD6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4232" name="Line 104">
              <a:extLst>
                <a:ext uri="{FF2B5EF4-FFF2-40B4-BE49-F238E27FC236}">
                  <a16:creationId xmlns:a16="http://schemas.microsoft.com/office/drawing/2014/main" id="{47B66B96-CEAC-4543-B510-8FA93E89DC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8" y="1823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34" name="Freeform 106">
              <a:extLst>
                <a:ext uri="{FF2B5EF4-FFF2-40B4-BE49-F238E27FC236}">
                  <a16:creationId xmlns:a16="http://schemas.microsoft.com/office/drawing/2014/main" id="{CA3692CC-AD25-354C-973B-A4EF29F61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1266"/>
              <a:ext cx="527" cy="57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4288" name="Text Box 160">
              <a:extLst>
                <a:ext uri="{FF2B5EF4-FFF2-40B4-BE49-F238E27FC236}">
                  <a16:creationId xmlns:a16="http://schemas.microsoft.com/office/drawing/2014/main" id="{4B97C19B-A43A-A648-B599-66DCA8C3CF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28"/>
              <a:ext cx="299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in</a:t>
              </a:r>
            </a:p>
          </p:txBody>
        </p:sp>
        <p:sp>
          <p:nvSpPr>
            <p:cNvPr id="304289" name="Text Box 161">
              <a:extLst>
                <a:ext uri="{FF2B5EF4-FFF2-40B4-BE49-F238E27FC236}">
                  <a16:creationId xmlns:a16="http://schemas.microsoft.com/office/drawing/2014/main" id="{9991AF35-99A7-FE4A-A24C-F4FA8114F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1824"/>
              <a:ext cx="26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1</a:t>
              </a:r>
            </a:p>
          </p:txBody>
        </p:sp>
        <p:sp>
          <p:nvSpPr>
            <p:cNvPr id="304290" name="Text Box 162">
              <a:extLst>
                <a:ext uri="{FF2B5EF4-FFF2-40B4-BE49-F238E27FC236}">
                  <a16:creationId xmlns:a16="http://schemas.microsoft.com/office/drawing/2014/main" id="{FEAE9BC5-DB9E-4F4C-88EB-5C143CDCF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008"/>
              <a:ext cx="26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2</a:t>
              </a:r>
            </a:p>
          </p:txBody>
        </p:sp>
      </p:grpSp>
      <p:graphicFrame>
        <p:nvGraphicFramePr>
          <p:cNvPr id="304299" name="Object 171">
            <a:extLst>
              <a:ext uri="{FF2B5EF4-FFF2-40B4-BE49-F238E27FC236}">
                <a16:creationId xmlns:a16="http://schemas.microsoft.com/office/drawing/2014/main" id="{662A53D1-9798-B148-BA64-C9FE8133DE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8188" y="3787775"/>
          <a:ext cx="3606800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6" name="Chart" r:id="rId3" imgW="7442200" imgH="5981700" progId="Excel.Chart.8">
                  <p:embed/>
                </p:oleObj>
              </mc:Choice>
              <mc:Fallback>
                <p:oleObj name="Chart" r:id="rId3" imgW="7442200" imgH="5981700" progId="Excel.Chart.8">
                  <p:embed/>
                  <p:pic>
                    <p:nvPicPr>
                      <p:cNvPr id="0" name="Object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3787775"/>
                        <a:ext cx="3606800" cy="2889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4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042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5634" name="Object 2">
            <a:extLst>
              <a:ext uri="{FF2B5EF4-FFF2-40B4-BE49-F238E27FC236}">
                <a16:creationId xmlns:a16="http://schemas.microsoft.com/office/drawing/2014/main" id="{8E62C572-BA60-174B-89DA-3FDE9EEB8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9963" y="3511550"/>
          <a:ext cx="3979862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3" name="Chart" r:id="rId3" imgW="7454900" imgH="5969000" progId="Excel.Chart.8">
                  <p:embed/>
                </p:oleObj>
              </mc:Choice>
              <mc:Fallback>
                <p:oleObj name="Chart" r:id="rId3" imgW="7454900" imgH="5969000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9963" y="3511550"/>
                        <a:ext cx="3979862" cy="31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35" name="Object 3">
            <a:extLst>
              <a:ext uri="{FF2B5EF4-FFF2-40B4-BE49-F238E27FC236}">
                <a16:creationId xmlns:a16="http://schemas.microsoft.com/office/drawing/2014/main" id="{04A77237-C50C-A144-B7A8-ECFA3FB13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8850" y="3422650"/>
          <a:ext cx="4208463" cy="337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name="Chart" r:id="rId5" imgW="7454900" imgH="5969000" progId="Excel.Chart.8">
                  <p:embed/>
                </p:oleObj>
              </mc:Choice>
              <mc:Fallback>
                <p:oleObj name="Chart" r:id="rId5" imgW="7454900" imgH="5969000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8850" y="3422650"/>
                        <a:ext cx="4208463" cy="3370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5" name="Rectangle 4">
            <a:extLst>
              <a:ext uri="{FF2B5EF4-FFF2-40B4-BE49-F238E27FC236}">
                <a16:creationId xmlns:a16="http://schemas.microsoft.com/office/drawing/2014/main" id="{2F64D344-FF20-864D-8262-84202C599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893763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Storing 1 Bit (cont.)</a:t>
            </a:r>
          </a:p>
        </p:txBody>
      </p:sp>
      <p:sp>
        <p:nvSpPr>
          <p:cNvPr id="325637" name="Text Box 5">
            <a:extLst>
              <a:ext uri="{FF2B5EF4-FFF2-40B4-BE49-F238E27FC236}">
                <a16:creationId xmlns:a16="http://schemas.microsoft.com/office/drawing/2014/main" id="{56095AB6-B8E0-6B47-9296-2F987D8CB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1069975"/>
            <a:ext cx="2325687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Bistable Element</a:t>
            </a:r>
          </a:p>
        </p:txBody>
      </p:sp>
      <p:grpSp>
        <p:nvGrpSpPr>
          <p:cNvPr id="18437" name="Group 6">
            <a:extLst>
              <a:ext uri="{FF2B5EF4-FFF2-40B4-BE49-F238E27FC236}">
                <a16:creationId xmlns:a16="http://schemas.microsoft.com/office/drawing/2014/main" id="{F013AD41-13FB-5B48-B6CE-E8D1CDFAB862}"/>
              </a:ext>
            </a:extLst>
          </p:cNvPr>
          <p:cNvGrpSpPr>
            <a:grpSpLocks/>
          </p:cNvGrpSpPr>
          <p:nvPr/>
        </p:nvGrpSpPr>
        <p:grpSpPr bwMode="auto">
          <a:xfrm>
            <a:off x="3738563" y="1450975"/>
            <a:ext cx="1832113" cy="1789049"/>
            <a:chOff x="3988" y="1056"/>
            <a:chExt cx="1152" cy="1125"/>
          </a:xfrm>
        </p:grpSpPr>
        <p:sp>
          <p:nvSpPr>
            <p:cNvPr id="325639" name="Line 7">
              <a:extLst>
                <a:ext uri="{FF2B5EF4-FFF2-40B4-BE49-F238E27FC236}">
                  <a16:creationId xmlns:a16="http://schemas.microsoft.com/office/drawing/2014/main" id="{6DE94D8A-37B4-C74E-B217-516F8C2C4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1" y="1244"/>
              <a:ext cx="433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8488" name="Group 8">
              <a:extLst>
                <a:ext uri="{FF2B5EF4-FFF2-40B4-BE49-F238E27FC236}">
                  <a16:creationId xmlns:a16="http://schemas.microsoft.com/office/drawing/2014/main" id="{CF76B438-6303-B349-BC81-E3F27461CE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1" y="1152"/>
              <a:ext cx="243" cy="184"/>
              <a:chOff x="2159" y="1440"/>
              <a:chExt cx="243" cy="184"/>
            </a:xfrm>
          </p:grpSpPr>
          <p:sp>
            <p:nvSpPr>
              <p:cNvPr id="325641" name="Freeform 9">
                <a:extLst>
                  <a:ext uri="{FF2B5EF4-FFF2-40B4-BE49-F238E27FC236}">
                    <a16:creationId xmlns:a16="http://schemas.microsoft.com/office/drawing/2014/main" id="{1DA85281-3910-D34A-9335-CD4083278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42" name="Freeform 10">
                <a:extLst>
                  <a:ext uri="{FF2B5EF4-FFF2-40B4-BE49-F238E27FC236}">
                    <a16:creationId xmlns:a16="http://schemas.microsoft.com/office/drawing/2014/main" id="{F3DA51C6-00FC-B444-B9FE-C8126B8B3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43" name="Freeform 11">
                <a:extLst>
                  <a:ext uri="{FF2B5EF4-FFF2-40B4-BE49-F238E27FC236}">
                    <a16:creationId xmlns:a16="http://schemas.microsoft.com/office/drawing/2014/main" id="{64025969-03F7-2045-9CFE-BD4927A73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44" name="Freeform 12">
                <a:extLst>
                  <a:ext uri="{FF2B5EF4-FFF2-40B4-BE49-F238E27FC236}">
                    <a16:creationId xmlns:a16="http://schemas.microsoft.com/office/drawing/2014/main" id="{9DD8C439-9447-E145-8560-F0086D78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5645" name="Line 13">
              <a:extLst>
                <a:ext uri="{FF2B5EF4-FFF2-40B4-BE49-F238E27FC236}">
                  <a16:creationId xmlns:a16="http://schemas.microsoft.com/office/drawing/2014/main" id="{2C0D603C-9225-FF45-ADEA-8B8A1F8B98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8" y="1248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46" name="Line 14">
              <a:extLst>
                <a:ext uri="{FF2B5EF4-FFF2-40B4-BE49-F238E27FC236}">
                  <a16:creationId xmlns:a16="http://schemas.microsoft.com/office/drawing/2014/main" id="{281F9F2D-DE1B-8E4A-8C05-46271556FE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1" y="1824"/>
              <a:ext cx="433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8491" name="Group 15">
              <a:extLst>
                <a:ext uri="{FF2B5EF4-FFF2-40B4-BE49-F238E27FC236}">
                  <a16:creationId xmlns:a16="http://schemas.microsoft.com/office/drawing/2014/main" id="{8900E603-70F2-9140-A939-E04F687192C8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131" y="1736"/>
              <a:ext cx="243" cy="184"/>
              <a:chOff x="2159" y="1440"/>
              <a:chExt cx="243" cy="184"/>
            </a:xfrm>
          </p:grpSpPr>
          <p:sp>
            <p:nvSpPr>
              <p:cNvPr id="325648" name="Freeform 16">
                <a:extLst>
                  <a:ext uri="{FF2B5EF4-FFF2-40B4-BE49-F238E27FC236}">
                    <a16:creationId xmlns:a16="http://schemas.microsoft.com/office/drawing/2014/main" id="{E77A5FD2-0F8D-D042-91D9-A825ECBBB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49" name="Freeform 17">
                <a:extLst>
                  <a:ext uri="{FF2B5EF4-FFF2-40B4-BE49-F238E27FC236}">
                    <a16:creationId xmlns:a16="http://schemas.microsoft.com/office/drawing/2014/main" id="{2CCB1389-9CE2-DE49-9F17-46376B375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50" name="Freeform 18">
                <a:extLst>
                  <a:ext uri="{FF2B5EF4-FFF2-40B4-BE49-F238E27FC236}">
                    <a16:creationId xmlns:a16="http://schemas.microsoft.com/office/drawing/2014/main" id="{4E302A19-8FC3-A54D-B41A-BC993709E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4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51" name="Freeform 19">
                <a:extLst>
                  <a:ext uri="{FF2B5EF4-FFF2-40B4-BE49-F238E27FC236}">
                    <a16:creationId xmlns:a16="http://schemas.microsoft.com/office/drawing/2014/main" id="{84299895-24CD-4449-B2DD-58E7CB288F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4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5652" name="Line 20">
              <a:extLst>
                <a:ext uri="{FF2B5EF4-FFF2-40B4-BE49-F238E27FC236}">
                  <a16:creationId xmlns:a16="http://schemas.microsoft.com/office/drawing/2014/main" id="{41E76913-BBAF-0D40-B63C-EA5B97641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8" y="1823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53" name="Freeform 21">
              <a:extLst>
                <a:ext uri="{FF2B5EF4-FFF2-40B4-BE49-F238E27FC236}">
                  <a16:creationId xmlns:a16="http://schemas.microsoft.com/office/drawing/2014/main" id="{6AAE9F1E-426E-1D4F-B44E-744589A11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1264"/>
              <a:ext cx="620" cy="5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55" name="Text Box 23">
              <a:extLst>
                <a:ext uri="{FF2B5EF4-FFF2-40B4-BE49-F238E27FC236}">
                  <a16:creationId xmlns:a16="http://schemas.microsoft.com/office/drawing/2014/main" id="{16D69915-7854-C64C-86B4-7D2269A5F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1152"/>
              <a:ext cx="336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squar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Q+</a:t>
              </a:r>
            </a:p>
          </p:txBody>
        </p:sp>
        <p:sp>
          <p:nvSpPr>
            <p:cNvPr id="325656" name="Text Box 24">
              <a:extLst>
                <a:ext uri="{FF2B5EF4-FFF2-40B4-BE49-F238E27FC236}">
                  <a16:creationId xmlns:a16="http://schemas.microsoft.com/office/drawing/2014/main" id="{4D77A4EA-19A9-3F47-BF13-FFF6880E7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1680"/>
              <a:ext cx="336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squar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Q–</a:t>
              </a:r>
            </a:p>
          </p:txBody>
        </p:sp>
        <p:sp>
          <p:nvSpPr>
            <p:cNvPr id="325657" name="Text Box 25">
              <a:extLst>
                <a:ext uri="{FF2B5EF4-FFF2-40B4-BE49-F238E27FC236}">
                  <a16:creationId xmlns:a16="http://schemas.microsoft.com/office/drawing/2014/main" id="{B6BC6222-B08C-9541-B4BB-9F5F0476B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056"/>
              <a:ext cx="240" cy="2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</a:t>
              </a:r>
            </a:p>
          </p:txBody>
        </p:sp>
        <p:sp>
          <p:nvSpPr>
            <p:cNvPr id="325658" name="Text Box 26">
              <a:extLst>
                <a:ext uri="{FF2B5EF4-FFF2-40B4-BE49-F238E27FC236}">
                  <a16:creationId xmlns:a16="http://schemas.microsoft.com/office/drawing/2014/main" id="{6D43740C-15E6-4547-85D5-51EE39219E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6" y="1632"/>
              <a:ext cx="240" cy="2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!q</a:t>
              </a:r>
            </a:p>
          </p:txBody>
        </p:sp>
        <p:sp>
          <p:nvSpPr>
            <p:cNvPr id="325659" name="Text Box 27">
              <a:extLst>
                <a:ext uri="{FF2B5EF4-FFF2-40B4-BE49-F238E27FC236}">
                  <a16:creationId xmlns:a16="http://schemas.microsoft.com/office/drawing/2014/main" id="{20C89468-1F80-3947-BD69-ACB2A0F8D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968"/>
              <a:ext cx="1008" cy="21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 </a:t>
              </a:r>
              <a:r>
                <a:rPr lang="en-US" sz="1602"/>
                <a:t>= 0 or 1</a:t>
              </a:r>
            </a:p>
          </p:txBody>
        </p:sp>
      </p:grpSp>
      <p:grpSp>
        <p:nvGrpSpPr>
          <p:cNvPr id="325660" name="Group 28">
            <a:extLst>
              <a:ext uri="{FF2B5EF4-FFF2-40B4-BE49-F238E27FC236}">
                <a16:creationId xmlns:a16="http://schemas.microsoft.com/office/drawing/2014/main" id="{876393AD-52C8-8C4A-A0AE-80BA73285748}"/>
              </a:ext>
            </a:extLst>
          </p:cNvPr>
          <p:cNvGrpSpPr>
            <a:grpSpLocks/>
          </p:cNvGrpSpPr>
          <p:nvPr/>
        </p:nvGrpSpPr>
        <p:grpSpPr bwMode="auto">
          <a:xfrm>
            <a:off x="1068388" y="4275138"/>
            <a:ext cx="1684337" cy="1758950"/>
            <a:chOff x="3696" y="1008"/>
            <a:chExt cx="1060" cy="1107"/>
          </a:xfrm>
        </p:grpSpPr>
        <p:sp>
          <p:nvSpPr>
            <p:cNvPr id="325661" name="Line 29">
              <a:extLst>
                <a:ext uri="{FF2B5EF4-FFF2-40B4-BE49-F238E27FC236}">
                  <a16:creationId xmlns:a16="http://schemas.microsoft.com/office/drawing/2014/main" id="{CCCDBD41-7638-6D4C-9876-068C427EB0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1" y="1244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8471" name="Group 30">
              <a:extLst>
                <a:ext uri="{FF2B5EF4-FFF2-40B4-BE49-F238E27FC236}">
                  <a16:creationId xmlns:a16="http://schemas.microsoft.com/office/drawing/2014/main" id="{FB2B38C8-3E69-434F-914A-6B6045C27A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1" y="1152"/>
              <a:ext cx="243" cy="184"/>
              <a:chOff x="2159" y="1440"/>
              <a:chExt cx="243" cy="184"/>
            </a:xfrm>
          </p:grpSpPr>
          <p:sp>
            <p:nvSpPr>
              <p:cNvPr id="325663" name="Freeform 31">
                <a:extLst>
                  <a:ext uri="{FF2B5EF4-FFF2-40B4-BE49-F238E27FC236}">
                    <a16:creationId xmlns:a16="http://schemas.microsoft.com/office/drawing/2014/main" id="{AACF24CF-C1D9-1346-9683-7D99EE1397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64" name="Freeform 32">
                <a:extLst>
                  <a:ext uri="{FF2B5EF4-FFF2-40B4-BE49-F238E27FC236}">
                    <a16:creationId xmlns:a16="http://schemas.microsoft.com/office/drawing/2014/main" id="{FFAE8556-B0DA-6142-8E73-27499C00E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65" name="Freeform 33">
                <a:extLst>
                  <a:ext uri="{FF2B5EF4-FFF2-40B4-BE49-F238E27FC236}">
                    <a16:creationId xmlns:a16="http://schemas.microsoft.com/office/drawing/2014/main" id="{211CC0F0-7FD2-A540-8E41-C934098D0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66" name="Freeform 34">
                <a:extLst>
                  <a:ext uri="{FF2B5EF4-FFF2-40B4-BE49-F238E27FC236}">
                    <a16:creationId xmlns:a16="http://schemas.microsoft.com/office/drawing/2014/main" id="{B8AF64AF-2E9E-9D49-953D-325ADBB1E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5667" name="Line 35">
              <a:extLst>
                <a:ext uri="{FF2B5EF4-FFF2-40B4-BE49-F238E27FC236}">
                  <a16:creationId xmlns:a16="http://schemas.microsoft.com/office/drawing/2014/main" id="{823E1CE9-0214-1A4E-A238-38623ADC2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8" y="1248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68" name="Line 36">
              <a:extLst>
                <a:ext uri="{FF2B5EF4-FFF2-40B4-BE49-F238E27FC236}">
                  <a16:creationId xmlns:a16="http://schemas.microsoft.com/office/drawing/2014/main" id="{4E37FC7F-10B4-0D49-BC6A-C37462853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1" y="1824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8474" name="Group 37">
              <a:extLst>
                <a:ext uri="{FF2B5EF4-FFF2-40B4-BE49-F238E27FC236}">
                  <a16:creationId xmlns:a16="http://schemas.microsoft.com/office/drawing/2014/main" id="{8F5C84A7-3422-3541-B614-58AC14078BB8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4131" y="1736"/>
              <a:ext cx="243" cy="184"/>
              <a:chOff x="2159" y="1440"/>
              <a:chExt cx="243" cy="184"/>
            </a:xfrm>
          </p:grpSpPr>
          <p:sp>
            <p:nvSpPr>
              <p:cNvPr id="325670" name="Freeform 38">
                <a:extLst>
                  <a:ext uri="{FF2B5EF4-FFF2-40B4-BE49-F238E27FC236}">
                    <a16:creationId xmlns:a16="http://schemas.microsoft.com/office/drawing/2014/main" id="{2CA9411C-E784-7E4C-9B3B-377999AB2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71" name="Freeform 39">
                <a:extLst>
                  <a:ext uri="{FF2B5EF4-FFF2-40B4-BE49-F238E27FC236}">
                    <a16:creationId xmlns:a16="http://schemas.microsoft.com/office/drawing/2014/main" id="{825621EB-3D11-F742-AACD-98CAC9825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72" name="Freeform 40">
                <a:extLst>
                  <a:ext uri="{FF2B5EF4-FFF2-40B4-BE49-F238E27FC236}">
                    <a16:creationId xmlns:a16="http://schemas.microsoft.com/office/drawing/2014/main" id="{871B86B1-A3EA-8243-AB49-B0BA55CD6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73" name="Freeform 41">
                <a:extLst>
                  <a:ext uri="{FF2B5EF4-FFF2-40B4-BE49-F238E27FC236}">
                    <a16:creationId xmlns:a16="http://schemas.microsoft.com/office/drawing/2014/main" id="{6CE4DEA0-9D73-6C4D-A6DF-BD685826A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5674" name="Line 42">
              <a:extLst>
                <a:ext uri="{FF2B5EF4-FFF2-40B4-BE49-F238E27FC236}">
                  <a16:creationId xmlns:a16="http://schemas.microsoft.com/office/drawing/2014/main" id="{C5255E86-1FF4-B847-A9E9-5AB49E990E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8" y="1823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76" name="Text Box 44">
              <a:extLst>
                <a:ext uri="{FF2B5EF4-FFF2-40B4-BE49-F238E27FC236}">
                  <a16:creationId xmlns:a16="http://schemas.microsoft.com/office/drawing/2014/main" id="{FF1BEFB6-0A4A-8F42-A989-323742371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28"/>
              <a:ext cx="299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in</a:t>
              </a:r>
            </a:p>
          </p:txBody>
        </p:sp>
        <p:sp>
          <p:nvSpPr>
            <p:cNvPr id="325677" name="Text Box 45">
              <a:extLst>
                <a:ext uri="{FF2B5EF4-FFF2-40B4-BE49-F238E27FC236}">
                  <a16:creationId xmlns:a16="http://schemas.microsoft.com/office/drawing/2014/main" id="{78716AEC-580D-744B-AD3B-D886D350E9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" y="1824"/>
              <a:ext cx="26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1</a:t>
              </a:r>
            </a:p>
          </p:txBody>
        </p:sp>
        <p:sp>
          <p:nvSpPr>
            <p:cNvPr id="325678" name="Text Box 46">
              <a:extLst>
                <a:ext uri="{FF2B5EF4-FFF2-40B4-BE49-F238E27FC236}">
                  <a16:creationId xmlns:a16="http://schemas.microsoft.com/office/drawing/2014/main" id="{3B2B7F14-DCC9-2142-B9D2-3F11CB3AC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008"/>
              <a:ext cx="26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2</a:t>
              </a:r>
            </a:p>
          </p:txBody>
        </p:sp>
      </p:grpSp>
      <p:grpSp>
        <p:nvGrpSpPr>
          <p:cNvPr id="325679" name="Group 47">
            <a:extLst>
              <a:ext uri="{FF2B5EF4-FFF2-40B4-BE49-F238E27FC236}">
                <a16:creationId xmlns:a16="http://schemas.microsoft.com/office/drawing/2014/main" id="{5832A23F-BAB1-2B4B-A45C-7D587F2B74DA}"/>
              </a:ext>
            </a:extLst>
          </p:cNvPr>
          <p:cNvGrpSpPr>
            <a:grpSpLocks/>
          </p:cNvGrpSpPr>
          <p:nvPr/>
        </p:nvGrpSpPr>
        <p:grpSpPr bwMode="auto">
          <a:xfrm>
            <a:off x="1068388" y="3968750"/>
            <a:ext cx="1679575" cy="2065338"/>
            <a:chOff x="816" y="2256"/>
            <a:chExt cx="1057" cy="1299"/>
          </a:xfrm>
        </p:grpSpPr>
        <p:sp>
          <p:nvSpPr>
            <p:cNvPr id="325680" name="Line 48">
              <a:extLst>
                <a:ext uri="{FF2B5EF4-FFF2-40B4-BE49-F238E27FC236}">
                  <a16:creationId xmlns:a16="http://schemas.microsoft.com/office/drawing/2014/main" id="{47385907-48FB-AB48-A7E4-71753F431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8" y="2684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8451" name="Group 49">
              <a:extLst>
                <a:ext uri="{FF2B5EF4-FFF2-40B4-BE49-F238E27FC236}">
                  <a16:creationId xmlns:a16="http://schemas.microsoft.com/office/drawing/2014/main" id="{2037A616-9BD5-D345-9285-88CD245413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592"/>
              <a:ext cx="243" cy="184"/>
              <a:chOff x="2159" y="1440"/>
              <a:chExt cx="243" cy="184"/>
            </a:xfrm>
          </p:grpSpPr>
          <p:sp>
            <p:nvSpPr>
              <p:cNvPr id="325682" name="Freeform 50">
                <a:extLst>
                  <a:ext uri="{FF2B5EF4-FFF2-40B4-BE49-F238E27FC236}">
                    <a16:creationId xmlns:a16="http://schemas.microsoft.com/office/drawing/2014/main" id="{D7B8A7D5-A80E-7F40-AE6F-8424BF2EB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83" name="Freeform 51">
                <a:extLst>
                  <a:ext uri="{FF2B5EF4-FFF2-40B4-BE49-F238E27FC236}">
                    <a16:creationId xmlns:a16="http://schemas.microsoft.com/office/drawing/2014/main" id="{85CF06E4-61E7-1E4C-88A5-3311B729F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84" name="Freeform 52">
                <a:extLst>
                  <a:ext uri="{FF2B5EF4-FFF2-40B4-BE49-F238E27FC236}">
                    <a16:creationId xmlns:a16="http://schemas.microsoft.com/office/drawing/2014/main" id="{845C8F63-646F-CC46-BBCB-A2436928E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85" name="Freeform 53">
                <a:extLst>
                  <a:ext uri="{FF2B5EF4-FFF2-40B4-BE49-F238E27FC236}">
                    <a16:creationId xmlns:a16="http://schemas.microsoft.com/office/drawing/2014/main" id="{DE310C85-4622-B34F-9AD5-9A9CCFE625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48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5686" name="Line 54">
              <a:extLst>
                <a:ext uri="{FF2B5EF4-FFF2-40B4-BE49-F238E27FC236}">
                  <a16:creationId xmlns:a16="http://schemas.microsoft.com/office/drawing/2014/main" id="{D3D468E0-49A7-5941-B797-FE46CAD54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5" y="2688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87" name="Line 55">
              <a:extLst>
                <a:ext uri="{FF2B5EF4-FFF2-40B4-BE49-F238E27FC236}">
                  <a16:creationId xmlns:a16="http://schemas.microsoft.com/office/drawing/2014/main" id="{205CC625-7E3B-564D-9474-819560BF00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38" y="3264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18454" name="Group 56">
              <a:extLst>
                <a:ext uri="{FF2B5EF4-FFF2-40B4-BE49-F238E27FC236}">
                  <a16:creationId xmlns:a16="http://schemas.microsoft.com/office/drawing/2014/main" id="{ECA496CB-57D1-A244-AC3A-466FE0FFC19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248" y="3176"/>
              <a:ext cx="243" cy="184"/>
              <a:chOff x="2159" y="1440"/>
              <a:chExt cx="243" cy="184"/>
            </a:xfrm>
          </p:grpSpPr>
          <p:sp>
            <p:nvSpPr>
              <p:cNvPr id="325689" name="Freeform 57">
                <a:extLst>
                  <a:ext uri="{FF2B5EF4-FFF2-40B4-BE49-F238E27FC236}">
                    <a16:creationId xmlns:a16="http://schemas.microsoft.com/office/drawing/2014/main" id="{35E283F8-4D2D-7A4E-A827-E6894FDBA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90" name="Freeform 58">
                <a:extLst>
                  <a:ext uri="{FF2B5EF4-FFF2-40B4-BE49-F238E27FC236}">
                    <a16:creationId xmlns:a16="http://schemas.microsoft.com/office/drawing/2014/main" id="{6ABA4740-3E8E-3A48-B951-C7AEB2779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2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91" name="Freeform 59">
                <a:extLst>
                  <a:ext uri="{FF2B5EF4-FFF2-40B4-BE49-F238E27FC236}">
                    <a16:creationId xmlns:a16="http://schemas.microsoft.com/office/drawing/2014/main" id="{8A7CAF63-57B9-744A-83BD-026802C06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5692" name="Freeform 60">
                <a:extLst>
                  <a:ext uri="{FF2B5EF4-FFF2-40B4-BE49-F238E27FC236}">
                    <a16:creationId xmlns:a16="http://schemas.microsoft.com/office/drawing/2014/main" id="{D258E894-19CF-8C44-B394-14D1AE569F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6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5693" name="Line 61">
              <a:extLst>
                <a:ext uri="{FF2B5EF4-FFF2-40B4-BE49-F238E27FC236}">
                  <a16:creationId xmlns:a16="http://schemas.microsoft.com/office/drawing/2014/main" id="{2C0CBA30-92CE-4144-8386-1888942110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5" y="3263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94" name="Freeform 62">
              <a:extLst>
                <a:ext uri="{FF2B5EF4-FFF2-40B4-BE49-F238E27FC236}">
                  <a16:creationId xmlns:a16="http://schemas.microsoft.com/office/drawing/2014/main" id="{158D6435-62A8-B34B-B73B-E661629C6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" y="2710"/>
              <a:ext cx="696" cy="55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95" name="Freeform 63">
              <a:extLst>
                <a:ext uri="{FF2B5EF4-FFF2-40B4-BE49-F238E27FC236}">
                  <a16:creationId xmlns:a16="http://schemas.microsoft.com/office/drawing/2014/main" id="{3E808932-BCDF-754A-8284-27DE0ECACC6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60" y="2684"/>
              <a:ext cx="707" cy="60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ysDot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696" name="Text Box 64">
              <a:extLst>
                <a:ext uri="{FF2B5EF4-FFF2-40B4-BE49-F238E27FC236}">
                  <a16:creationId xmlns:a16="http://schemas.microsoft.com/office/drawing/2014/main" id="{2C00D362-04A0-D648-B14C-666607C93F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168"/>
              <a:ext cx="299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in</a:t>
              </a:r>
            </a:p>
          </p:txBody>
        </p:sp>
        <p:sp>
          <p:nvSpPr>
            <p:cNvPr id="325697" name="Text Box 65">
              <a:extLst>
                <a:ext uri="{FF2B5EF4-FFF2-40B4-BE49-F238E27FC236}">
                  <a16:creationId xmlns:a16="http://schemas.microsoft.com/office/drawing/2014/main" id="{859C19CB-36C6-5544-8ACB-20A09822A7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4" y="3264"/>
              <a:ext cx="26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1</a:t>
              </a:r>
            </a:p>
          </p:txBody>
        </p:sp>
        <p:sp>
          <p:nvSpPr>
            <p:cNvPr id="325698" name="Text Box 66">
              <a:extLst>
                <a:ext uri="{FF2B5EF4-FFF2-40B4-BE49-F238E27FC236}">
                  <a16:creationId xmlns:a16="http://schemas.microsoft.com/office/drawing/2014/main" id="{074D5242-BA68-9547-B84D-39483817D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48"/>
              <a:ext cx="263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2</a:t>
              </a:r>
            </a:p>
          </p:txBody>
        </p:sp>
        <p:sp>
          <p:nvSpPr>
            <p:cNvPr id="325699" name="Text Box 67">
              <a:extLst>
                <a:ext uri="{FF2B5EF4-FFF2-40B4-BE49-F238E27FC236}">
                  <a16:creationId xmlns:a16="http://schemas.microsoft.com/office/drawing/2014/main" id="{CAB7BCA7-7267-504F-A42D-9C38F46AB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256"/>
              <a:ext cx="79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V</a:t>
              </a:r>
              <a:r>
                <a:rPr lang="en-US" sz="2403" baseline="-25000"/>
                <a:t>in</a:t>
              </a:r>
              <a:r>
                <a:rPr lang="en-US" sz="2403"/>
                <a:t> = V</a:t>
              </a:r>
              <a:r>
                <a:rPr lang="en-US" sz="2403" baseline="-25000"/>
                <a:t>2</a:t>
              </a:r>
            </a:p>
          </p:txBody>
        </p:sp>
      </p:grpSp>
      <p:grpSp>
        <p:nvGrpSpPr>
          <p:cNvPr id="325700" name="Group 68">
            <a:extLst>
              <a:ext uri="{FF2B5EF4-FFF2-40B4-BE49-F238E27FC236}">
                <a16:creationId xmlns:a16="http://schemas.microsoft.com/office/drawing/2014/main" id="{9937491E-5913-0C4A-971C-9FAF614BB494}"/>
              </a:ext>
            </a:extLst>
          </p:cNvPr>
          <p:cNvGrpSpPr>
            <a:grpSpLocks/>
          </p:cNvGrpSpPr>
          <p:nvPr/>
        </p:nvGrpSpPr>
        <p:grpSpPr bwMode="auto">
          <a:xfrm>
            <a:off x="2036763" y="6029325"/>
            <a:ext cx="1625600" cy="463550"/>
            <a:chOff x="1281" y="3792"/>
            <a:chExt cx="1023" cy="291"/>
          </a:xfrm>
        </p:grpSpPr>
        <p:sp>
          <p:nvSpPr>
            <p:cNvPr id="325701" name="Line 69">
              <a:extLst>
                <a:ext uri="{FF2B5EF4-FFF2-40B4-BE49-F238E27FC236}">
                  <a16:creationId xmlns:a16="http://schemas.microsoft.com/office/drawing/2014/main" id="{3CB4109F-4B48-4243-ABDF-63C154649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888"/>
              <a:ext cx="288" cy="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702" name="Text Box 70">
              <a:extLst>
                <a:ext uri="{FF2B5EF4-FFF2-40B4-BE49-F238E27FC236}">
                  <a16:creationId xmlns:a16="http://schemas.microsoft.com/office/drawing/2014/main" id="{DCD9770F-1418-794E-9151-8617A57AF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92"/>
              <a:ext cx="721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 algn="r">
                <a:defRPr/>
              </a:pPr>
              <a:r>
                <a:rPr lang="en-US" sz="2403"/>
                <a:t>Stable 0</a:t>
              </a:r>
            </a:p>
          </p:txBody>
        </p:sp>
      </p:grpSp>
      <p:grpSp>
        <p:nvGrpSpPr>
          <p:cNvPr id="325703" name="Group 71">
            <a:extLst>
              <a:ext uri="{FF2B5EF4-FFF2-40B4-BE49-F238E27FC236}">
                <a16:creationId xmlns:a16="http://schemas.microsoft.com/office/drawing/2014/main" id="{65928D5F-A1BD-4340-9E6D-41B9DC27F513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3054350"/>
            <a:ext cx="1450975" cy="461963"/>
            <a:chOff x="4368" y="1920"/>
            <a:chExt cx="913" cy="291"/>
          </a:xfrm>
        </p:grpSpPr>
        <p:sp>
          <p:nvSpPr>
            <p:cNvPr id="325704" name="Line 72">
              <a:extLst>
                <a:ext uri="{FF2B5EF4-FFF2-40B4-BE49-F238E27FC236}">
                  <a16:creationId xmlns:a16="http://schemas.microsoft.com/office/drawing/2014/main" id="{E6D5DC98-637F-B44E-9D2B-22856DB9E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2064"/>
              <a:ext cx="192" cy="1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705" name="Text Box 73">
              <a:extLst>
                <a:ext uri="{FF2B5EF4-FFF2-40B4-BE49-F238E27FC236}">
                  <a16:creationId xmlns:a16="http://schemas.microsoft.com/office/drawing/2014/main" id="{5CA6AA14-333A-4B45-944A-EB4ABD2CB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920"/>
              <a:ext cx="721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Stable 1</a:t>
              </a:r>
            </a:p>
          </p:txBody>
        </p:sp>
      </p:grpSp>
      <p:grpSp>
        <p:nvGrpSpPr>
          <p:cNvPr id="325706" name="Group 74">
            <a:extLst>
              <a:ext uri="{FF2B5EF4-FFF2-40B4-BE49-F238E27FC236}">
                <a16:creationId xmlns:a16="http://schemas.microsoft.com/office/drawing/2014/main" id="{5874CDB5-DC5A-4A44-A7E1-B0E942EE65A5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5037138"/>
            <a:ext cx="1546225" cy="615950"/>
            <a:chOff x="3360" y="3168"/>
            <a:chExt cx="973" cy="387"/>
          </a:xfrm>
        </p:grpSpPr>
        <p:sp>
          <p:nvSpPr>
            <p:cNvPr id="325707" name="Line 75">
              <a:extLst>
                <a:ext uri="{FF2B5EF4-FFF2-40B4-BE49-F238E27FC236}">
                  <a16:creationId xmlns:a16="http://schemas.microsoft.com/office/drawing/2014/main" id="{59FE6F22-83B9-B041-9FC1-53D76BE0D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60" y="3168"/>
              <a:ext cx="144" cy="9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5708" name="Text Box 76">
              <a:extLst>
                <a:ext uri="{FF2B5EF4-FFF2-40B4-BE49-F238E27FC236}">
                  <a16:creationId xmlns:a16="http://schemas.microsoft.com/office/drawing/2014/main" id="{EFD34573-9A6E-BA4E-A259-CB632E29EF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264"/>
              <a:ext cx="973" cy="291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Metastable</a:t>
              </a:r>
            </a:p>
          </p:txBody>
        </p:sp>
      </p:grpSp>
      <p:sp>
        <p:nvSpPr>
          <p:cNvPr id="77" name="Freeform 136">
            <a:extLst>
              <a:ext uri="{FF2B5EF4-FFF2-40B4-BE49-F238E27FC236}">
                <a16:creationId xmlns:a16="http://schemas.microsoft.com/office/drawing/2014/main" id="{E2B4D197-C833-6A49-BCC4-D6D7EBD956F6}"/>
              </a:ext>
            </a:extLst>
          </p:cNvPr>
          <p:cNvSpPr>
            <a:spLocks/>
          </p:cNvSpPr>
          <p:nvPr/>
        </p:nvSpPr>
        <p:spPr bwMode="auto">
          <a:xfrm flipV="1">
            <a:off x="3662363" y="1758950"/>
            <a:ext cx="1071562" cy="958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1152" y="336"/>
              </a:cxn>
              <a:cxn ang="0">
                <a:pos x="1152" y="432"/>
              </a:cxn>
            </a:cxnLst>
            <a:rect l="0" t="0" r="r" b="b"/>
            <a:pathLst>
              <a:path w="1152" h="432">
                <a:moveTo>
                  <a:pt x="0" y="0"/>
                </a:moveTo>
                <a:lnTo>
                  <a:pt x="0" y="96"/>
                </a:lnTo>
                <a:lnTo>
                  <a:pt x="1152" y="336"/>
                </a:lnTo>
                <a:lnTo>
                  <a:pt x="1152" y="432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25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5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325634" grpId="0"/>
      <p:bldOleChart spid="3256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C36748E-8EE1-1845-BB17-F1FCAA8DD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10366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Physical Analogy</a:t>
            </a:r>
          </a:p>
        </p:txBody>
      </p:sp>
      <p:graphicFrame>
        <p:nvGraphicFramePr>
          <p:cNvPr id="19458" name="Object 66">
            <a:extLst>
              <a:ext uri="{FF2B5EF4-FFF2-40B4-BE49-F238E27FC236}">
                <a16:creationId xmlns:a16="http://schemas.microsoft.com/office/drawing/2014/main" id="{17A4EBE4-ECF8-D64D-BEC2-5E45A2F33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1069975"/>
          <a:ext cx="3978275" cy="318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8" name="Chart" r:id="rId3" imgW="7454900" imgH="5969000" progId="Excel.Chart.8">
                  <p:embed/>
                </p:oleObj>
              </mc:Choice>
              <mc:Fallback>
                <p:oleObj name="Chart" r:id="rId3" imgW="7454900" imgH="5969000" progId="Excel.Chart.8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069975"/>
                        <a:ext cx="3978275" cy="318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67">
            <a:extLst>
              <a:ext uri="{FF2B5EF4-FFF2-40B4-BE49-F238E27FC236}">
                <a16:creationId xmlns:a16="http://schemas.microsoft.com/office/drawing/2014/main" id="{91E32385-BF02-AC43-A1AB-FA410B5789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9063" y="1108075"/>
          <a:ext cx="4208462" cy="337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99" name="Chart" r:id="rId5" imgW="7454900" imgH="5969000" progId="Excel.Chart.8">
                  <p:embed/>
                </p:oleObj>
              </mc:Choice>
              <mc:Fallback>
                <p:oleObj name="Chart" r:id="rId5" imgW="7454900" imgH="5969000" progId="Excel.Chart.8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063" y="1108075"/>
                        <a:ext cx="4208462" cy="33702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2628" name="Group 68">
            <a:extLst>
              <a:ext uri="{FF2B5EF4-FFF2-40B4-BE49-F238E27FC236}">
                <a16:creationId xmlns:a16="http://schemas.microsoft.com/office/drawing/2014/main" id="{EE29A10F-75DF-1449-9013-97C0F45E155D}"/>
              </a:ext>
            </a:extLst>
          </p:cNvPr>
          <p:cNvGrpSpPr>
            <a:grpSpLocks/>
          </p:cNvGrpSpPr>
          <p:nvPr/>
        </p:nvGrpSpPr>
        <p:grpSpPr bwMode="auto">
          <a:xfrm>
            <a:off x="1512888" y="3587750"/>
            <a:ext cx="1627187" cy="463550"/>
            <a:chOff x="1281" y="3792"/>
            <a:chExt cx="1023" cy="291"/>
          </a:xfrm>
        </p:grpSpPr>
        <p:sp>
          <p:nvSpPr>
            <p:cNvPr id="322629" name="Line 69">
              <a:extLst>
                <a:ext uri="{FF2B5EF4-FFF2-40B4-BE49-F238E27FC236}">
                  <a16:creationId xmlns:a16="http://schemas.microsoft.com/office/drawing/2014/main" id="{D6C51A62-1CFC-B247-8E8B-5F81387B5B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888"/>
              <a:ext cx="288" cy="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2630" name="Text Box 70">
              <a:extLst>
                <a:ext uri="{FF2B5EF4-FFF2-40B4-BE49-F238E27FC236}">
                  <a16:creationId xmlns:a16="http://schemas.microsoft.com/office/drawing/2014/main" id="{2DADE495-2B4D-D949-9D40-ED0F70751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92"/>
              <a:ext cx="721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 algn="r">
                <a:defRPr/>
              </a:pPr>
              <a:r>
                <a:rPr lang="en-US" sz="2403"/>
                <a:t>Stable 0</a:t>
              </a:r>
            </a:p>
          </p:txBody>
        </p:sp>
      </p:grpSp>
      <p:grpSp>
        <p:nvGrpSpPr>
          <p:cNvPr id="322631" name="Group 71">
            <a:extLst>
              <a:ext uri="{FF2B5EF4-FFF2-40B4-BE49-F238E27FC236}">
                <a16:creationId xmlns:a16="http://schemas.microsoft.com/office/drawing/2014/main" id="{58ED6866-D9E7-CA48-849E-1A3919C6F853}"/>
              </a:ext>
            </a:extLst>
          </p:cNvPr>
          <p:cNvGrpSpPr>
            <a:grpSpLocks/>
          </p:cNvGrpSpPr>
          <p:nvPr/>
        </p:nvGrpSpPr>
        <p:grpSpPr bwMode="auto">
          <a:xfrm>
            <a:off x="4902200" y="1501775"/>
            <a:ext cx="1389063" cy="461963"/>
            <a:chOff x="4894" y="833"/>
            <a:chExt cx="874" cy="291"/>
          </a:xfrm>
        </p:grpSpPr>
        <p:sp>
          <p:nvSpPr>
            <p:cNvPr id="322632" name="Line 72">
              <a:extLst>
                <a:ext uri="{FF2B5EF4-FFF2-40B4-BE49-F238E27FC236}">
                  <a16:creationId xmlns:a16="http://schemas.microsoft.com/office/drawing/2014/main" id="{B9EF6E0E-DF2B-324A-9B56-1CF27E8AF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94" y="913"/>
              <a:ext cx="192" cy="14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2633" name="Text Box 73">
              <a:extLst>
                <a:ext uri="{FF2B5EF4-FFF2-40B4-BE49-F238E27FC236}">
                  <a16:creationId xmlns:a16="http://schemas.microsoft.com/office/drawing/2014/main" id="{81897DE6-4D22-D64B-85EC-BF380D2C34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7" y="833"/>
              <a:ext cx="721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Stable 1</a:t>
              </a:r>
            </a:p>
          </p:txBody>
        </p:sp>
      </p:grpSp>
      <p:grpSp>
        <p:nvGrpSpPr>
          <p:cNvPr id="322634" name="Group 74">
            <a:extLst>
              <a:ext uri="{FF2B5EF4-FFF2-40B4-BE49-F238E27FC236}">
                <a16:creationId xmlns:a16="http://schemas.microsoft.com/office/drawing/2014/main" id="{2F65415E-CBA6-C545-93F0-10110A805CA3}"/>
              </a:ext>
            </a:extLst>
          </p:cNvPr>
          <p:cNvGrpSpPr>
            <a:grpSpLocks/>
          </p:cNvGrpSpPr>
          <p:nvPr/>
        </p:nvGrpSpPr>
        <p:grpSpPr bwMode="auto">
          <a:xfrm>
            <a:off x="4818063" y="2595563"/>
            <a:ext cx="1547812" cy="615950"/>
            <a:chOff x="3360" y="3168"/>
            <a:chExt cx="973" cy="387"/>
          </a:xfrm>
        </p:grpSpPr>
        <p:sp>
          <p:nvSpPr>
            <p:cNvPr id="322635" name="Line 75">
              <a:extLst>
                <a:ext uri="{FF2B5EF4-FFF2-40B4-BE49-F238E27FC236}">
                  <a16:creationId xmlns:a16="http://schemas.microsoft.com/office/drawing/2014/main" id="{A434C490-7DD6-0A4F-B173-6C7DD78C40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60" y="3168"/>
              <a:ext cx="144" cy="9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triangl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22636" name="Text Box 76">
              <a:extLst>
                <a:ext uri="{FF2B5EF4-FFF2-40B4-BE49-F238E27FC236}">
                  <a16:creationId xmlns:a16="http://schemas.microsoft.com/office/drawing/2014/main" id="{FC1A4CC6-95A3-3643-AF85-46FDEB4AC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264"/>
              <a:ext cx="973" cy="291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Metastable</a:t>
              </a:r>
            </a:p>
          </p:txBody>
        </p:sp>
      </p:grpSp>
      <p:sp>
        <p:nvSpPr>
          <p:cNvPr id="322664" name="AutoShape 104">
            <a:extLst>
              <a:ext uri="{FF2B5EF4-FFF2-40B4-BE49-F238E27FC236}">
                <a16:creationId xmlns:a16="http://schemas.microsoft.com/office/drawing/2014/main" id="{77DEDF65-678D-1749-B3E7-D3F1C79DB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2975" y="5961063"/>
            <a:ext cx="1068388" cy="674687"/>
          </a:xfrm>
          <a:prstGeom prst="triangl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602" b="0">
              <a:latin typeface="Arial" charset="0"/>
            </a:endParaRPr>
          </a:p>
        </p:txBody>
      </p:sp>
      <p:grpSp>
        <p:nvGrpSpPr>
          <p:cNvPr id="19464" name="Group 105">
            <a:extLst>
              <a:ext uri="{FF2B5EF4-FFF2-40B4-BE49-F238E27FC236}">
                <a16:creationId xmlns:a16="http://schemas.microsoft.com/office/drawing/2014/main" id="{395779F1-14C7-5B4C-B11F-30D93C2CBDD8}"/>
              </a:ext>
            </a:extLst>
          </p:cNvPr>
          <p:cNvGrpSpPr>
            <a:grpSpLocks/>
          </p:cNvGrpSpPr>
          <p:nvPr/>
        </p:nvGrpSpPr>
        <p:grpSpPr bwMode="auto">
          <a:xfrm rot="-1330056">
            <a:off x="1122363" y="5897563"/>
            <a:ext cx="1809750" cy="706437"/>
            <a:chOff x="1104" y="2400"/>
            <a:chExt cx="1138" cy="444"/>
          </a:xfrm>
        </p:grpSpPr>
        <p:grpSp>
          <p:nvGrpSpPr>
            <p:cNvPr id="19482" name="Group 106">
              <a:extLst>
                <a:ext uri="{FF2B5EF4-FFF2-40B4-BE49-F238E27FC236}">
                  <a16:creationId xmlns:a16="http://schemas.microsoft.com/office/drawing/2014/main" id="{FE19D991-AD18-8443-84CC-C52314DF36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435"/>
              <a:ext cx="1104" cy="409"/>
              <a:chOff x="1104" y="2387"/>
              <a:chExt cx="1104" cy="409"/>
            </a:xfrm>
          </p:grpSpPr>
          <p:sp>
            <p:nvSpPr>
              <p:cNvPr id="322667" name="AutoShape 107">
                <a:extLst>
                  <a:ext uri="{FF2B5EF4-FFF2-40B4-BE49-F238E27FC236}">
                    <a16:creationId xmlns:a16="http://schemas.microsoft.com/office/drawing/2014/main" id="{C2DD29E1-DA40-4744-BB8C-1E7B7A57E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" y="2385"/>
                <a:ext cx="1104" cy="409"/>
              </a:xfrm>
              <a:prstGeom prst="flowChartTerminator">
                <a:avLst/>
              </a:prstGeom>
              <a:solidFill>
                <a:srgbClr val="969696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2668" name="Oval 108">
                <a:extLst>
                  <a:ext uri="{FF2B5EF4-FFF2-40B4-BE49-F238E27FC236}">
                    <a16:creationId xmlns:a16="http://schemas.microsoft.com/office/drawing/2014/main" id="{529C049D-37A3-E345-96A4-411C36B55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" y="2384"/>
                <a:ext cx="164" cy="409"/>
              </a:xfrm>
              <a:prstGeom prst="ellipse">
                <a:avLst/>
              </a:prstGeom>
              <a:solidFill>
                <a:srgbClr val="969696"/>
              </a:soli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2669" name="Text Box 109">
              <a:extLst>
                <a:ext uri="{FF2B5EF4-FFF2-40B4-BE49-F238E27FC236}">
                  <a16:creationId xmlns:a16="http://schemas.microsoft.com/office/drawing/2014/main" id="{279C66F7-8DD2-B044-9163-76B37BAAA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398"/>
              <a:ext cx="178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en-US" sz="2804" b="0">
                  <a:latin typeface="Arial" charset="0"/>
                </a:rPr>
                <a:t>.</a:t>
              </a:r>
            </a:p>
          </p:txBody>
        </p:sp>
      </p:grpSp>
      <p:sp>
        <p:nvSpPr>
          <p:cNvPr id="322670" name="Line 110">
            <a:extLst>
              <a:ext uri="{FF2B5EF4-FFF2-40B4-BE49-F238E27FC236}">
                <a16:creationId xmlns:a16="http://schemas.microsoft.com/office/drawing/2014/main" id="{AE29E9E2-9DD8-1548-9F1F-0D53F6A49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8388" y="67183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322686" name="Text Box 126">
            <a:extLst>
              <a:ext uri="{FF2B5EF4-FFF2-40B4-BE49-F238E27FC236}">
                <a16:creationId xmlns:a16="http://schemas.microsoft.com/office/drawing/2014/main" id="{0B993963-4BAF-2D4A-AE9B-23A0E34ED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3338" y="5541963"/>
            <a:ext cx="10890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2" b="0">
                <a:latin typeface="Arial" charset="0"/>
              </a:rPr>
              <a:t>Stable left</a:t>
            </a:r>
          </a:p>
        </p:txBody>
      </p:sp>
      <p:sp>
        <p:nvSpPr>
          <p:cNvPr id="322672" name="AutoShape 112">
            <a:extLst>
              <a:ext uri="{FF2B5EF4-FFF2-40B4-BE49-F238E27FC236}">
                <a16:creationId xmlns:a16="http://schemas.microsoft.com/office/drawing/2014/main" id="{1F957A1C-FFD3-EF4C-9ECA-ADF1CAEE979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46825" y="5961063"/>
            <a:ext cx="1066800" cy="674687"/>
          </a:xfrm>
          <a:prstGeom prst="triangl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602" b="0">
              <a:latin typeface="Arial" charset="0"/>
            </a:endParaRPr>
          </a:p>
        </p:txBody>
      </p:sp>
      <p:grpSp>
        <p:nvGrpSpPr>
          <p:cNvPr id="19468" name="Group 113">
            <a:extLst>
              <a:ext uri="{FF2B5EF4-FFF2-40B4-BE49-F238E27FC236}">
                <a16:creationId xmlns:a16="http://schemas.microsoft.com/office/drawing/2014/main" id="{67A6E6D5-13EB-B64D-AF3F-30027D7D5244}"/>
              </a:ext>
            </a:extLst>
          </p:cNvPr>
          <p:cNvGrpSpPr>
            <a:grpSpLocks/>
          </p:cNvGrpSpPr>
          <p:nvPr/>
        </p:nvGrpSpPr>
        <p:grpSpPr bwMode="auto">
          <a:xfrm rot="1330056" flipH="1">
            <a:off x="6694488" y="5897563"/>
            <a:ext cx="1809750" cy="706437"/>
            <a:chOff x="1104" y="2400"/>
            <a:chExt cx="1138" cy="444"/>
          </a:xfrm>
        </p:grpSpPr>
        <p:grpSp>
          <p:nvGrpSpPr>
            <p:cNvPr id="19478" name="Group 114">
              <a:extLst>
                <a:ext uri="{FF2B5EF4-FFF2-40B4-BE49-F238E27FC236}">
                  <a16:creationId xmlns:a16="http://schemas.microsoft.com/office/drawing/2014/main" id="{D8B1E092-A912-D54A-9C5A-7DF1214E05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435"/>
              <a:ext cx="1104" cy="409"/>
              <a:chOff x="1104" y="2387"/>
              <a:chExt cx="1104" cy="409"/>
            </a:xfrm>
          </p:grpSpPr>
          <p:sp>
            <p:nvSpPr>
              <p:cNvPr id="322675" name="AutoShape 115">
                <a:extLst>
                  <a:ext uri="{FF2B5EF4-FFF2-40B4-BE49-F238E27FC236}">
                    <a16:creationId xmlns:a16="http://schemas.microsoft.com/office/drawing/2014/main" id="{BDCF423D-03E9-CC4E-918D-8D7E15C44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387"/>
                <a:ext cx="1104" cy="409"/>
              </a:xfrm>
              <a:prstGeom prst="flowChartTerminator">
                <a:avLst/>
              </a:prstGeom>
              <a:solidFill>
                <a:srgbClr val="969696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2676" name="Oval 116">
                <a:extLst>
                  <a:ext uri="{FF2B5EF4-FFF2-40B4-BE49-F238E27FC236}">
                    <a16:creationId xmlns:a16="http://schemas.microsoft.com/office/drawing/2014/main" id="{64A1F3BB-4895-2147-8189-507337DC8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9" y="2387"/>
                <a:ext cx="164" cy="409"/>
              </a:xfrm>
              <a:prstGeom prst="ellipse">
                <a:avLst/>
              </a:prstGeom>
              <a:solidFill>
                <a:srgbClr val="969696"/>
              </a:soli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2677" name="Text Box 117">
              <a:extLst>
                <a:ext uri="{FF2B5EF4-FFF2-40B4-BE49-F238E27FC236}">
                  <a16:creationId xmlns:a16="http://schemas.microsoft.com/office/drawing/2014/main" id="{57F11802-A29B-C64E-B640-60BDBB72D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6" y="2399"/>
              <a:ext cx="178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en-US" sz="2804" b="0">
                  <a:latin typeface="Arial" charset="0"/>
                </a:rPr>
                <a:t>.</a:t>
              </a:r>
            </a:p>
          </p:txBody>
        </p:sp>
      </p:grpSp>
      <p:sp>
        <p:nvSpPr>
          <p:cNvPr id="322678" name="Line 118">
            <a:extLst>
              <a:ext uri="{FF2B5EF4-FFF2-40B4-BE49-F238E27FC236}">
                <a16:creationId xmlns:a16="http://schemas.microsoft.com/office/drawing/2014/main" id="{0420842A-DE96-834A-ACC6-93C65C29FA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48613" y="67183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322687" name="Text Box 127">
            <a:extLst>
              <a:ext uri="{FF2B5EF4-FFF2-40B4-BE49-F238E27FC236}">
                <a16:creationId xmlns:a16="http://schemas.microsoft.com/office/drawing/2014/main" id="{79C6B17A-B5C0-5C43-B9C1-37CB79D9D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6450" y="5545138"/>
            <a:ext cx="1212850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2" b="0">
                <a:latin typeface="Arial" charset="0"/>
              </a:rPr>
              <a:t>Stable right</a:t>
            </a:r>
          </a:p>
        </p:txBody>
      </p:sp>
      <p:sp>
        <p:nvSpPr>
          <p:cNvPr id="322680" name="AutoShape 120">
            <a:extLst>
              <a:ext uri="{FF2B5EF4-FFF2-40B4-BE49-F238E27FC236}">
                <a16:creationId xmlns:a16="http://schemas.microsoft.com/office/drawing/2014/main" id="{82622339-EA58-2447-AE7C-9EA186BBA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5961063"/>
            <a:ext cx="1068388" cy="674687"/>
          </a:xfrm>
          <a:prstGeom prst="triangl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sz="1602" b="0">
              <a:latin typeface="Arial" charset="0"/>
            </a:endParaRPr>
          </a:p>
        </p:txBody>
      </p:sp>
      <p:grpSp>
        <p:nvGrpSpPr>
          <p:cNvPr id="19472" name="Group 121">
            <a:extLst>
              <a:ext uri="{FF2B5EF4-FFF2-40B4-BE49-F238E27FC236}">
                <a16:creationId xmlns:a16="http://schemas.microsoft.com/office/drawing/2014/main" id="{C0B5040C-12EA-D943-8084-1AF44EB23AC5}"/>
              </a:ext>
            </a:extLst>
          </p:cNvPr>
          <p:cNvGrpSpPr>
            <a:grpSpLocks/>
          </p:cNvGrpSpPr>
          <p:nvPr/>
        </p:nvGrpSpPr>
        <p:grpSpPr bwMode="auto">
          <a:xfrm rot="5389053">
            <a:off x="3945732" y="4864894"/>
            <a:ext cx="1809750" cy="706437"/>
            <a:chOff x="1104" y="2400"/>
            <a:chExt cx="1138" cy="444"/>
          </a:xfrm>
        </p:grpSpPr>
        <p:grpSp>
          <p:nvGrpSpPr>
            <p:cNvPr id="19474" name="Group 122">
              <a:extLst>
                <a:ext uri="{FF2B5EF4-FFF2-40B4-BE49-F238E27FC236}">
                  <a16:creationId xmlns:a16="http://schemas.microsoft.com/office/drawing/2014/main" id="{8222EC12-4D5F-3648-A505-E3DF90016B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435"/>
              <a:ext cx="1104" cy="409"/>
              <a:chOff x="1104" y="2387"/>
              <a:chExt cx="1104" cy="409"/>
            </a:xfrm>
          </p:grpSpPr>
          <p:sp>
            <p:nvSpPr>
              <p:cNvPr id="322683" name="AutoShape 123">
                <a:extLst>
                  <a:ext uri="{FF2B5EF4-FFF2-40B4-BE49-F238E27FC236}">
                    <a16:creationId xmlns:a16="http://schemas.microsoft.com/office/drawing/2014/main" id="{BC808560-56D0-4E4E-9A9D-D02CFB534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387"/>
                <a:ext cx="1104" cy="409"/>
              </a:xfrm>
              <a:prstGeom prst="flowChartTerminator">
                <a:avLst/>
              </a:prstGeom>
              <a:solidFill>
                <a:srgbClr val="969696"/>
              </a:solid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2684" name="Oval 124">
                <a:extLst>
                  <a:ext uri="{FF2B5EF4-FFF2-40B4-BE49-F238E27FC236}">
                    <a16:creationId xmlns:a16="http://schemas.microsoft.com/office/drawing/2014/main" id="{71A6FD36-1695-5148-966F-A688582C93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" y="2387"/>
                <a:ext cx="164" cy="409"/>
              </a:xfrm>
              <a:prstGeom prst="ellipse">
                <a:avLst/>
              </a:prstGeom>
              <a:solidFill>
                <a:srgbClr val="969696"/>
              </a:solidFill>
              <a:ln w="12700">
                <a:noFill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22685" name="Text Box 125">
              <a:extLst>
                <a:ext uri="{FF2B5EF4-FFF2-40B4-BE49-F238E27FC236}">
                  <a16:creationId xmlns:a16="http://schemas.microsoft.com/office/drawing/2014/main" id="{C7C77287-3100-9D42-8ACA-8619B6C38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400"/>
              <a:ext cx="178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en-US" sz="2804" b="0">
                  <a:latin typeface="Arial" charset="0"/>
                </a:rPr>
                <a:t>.</a:t>
              </a:r>
            </a:p>
          </p:txBody>
        </p:sp>
      </p:grpSp>
      <p:sp>
        <p:nvSpPr>
          <p:cNvPr id="322688" name="Text Box 128">
            <a:extLst>
              <a:ext uri="{FF2B5EF4-FFF2-40B4-BE49-F238E27FC236}">
                <a16:creationId xmlns:a16="http://schemas.microsoft.com/office/drawing/2014/main" id="{7C3FD5B2-F40F-0C44-9F98-5016C180A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9350" y="4732338"/>
            <a:ext cx="1179513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1602" b="0">
                <a:latin typeface="Arial" charset="0"/>
              </a:rPr>
              <a:t>Metastable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731BE73E-FF07-6045-B5AA-61D9D5580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9398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Storing and Accessing 1 Bit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F99EF4-CFCA-3F4D-852A-FDC2BA769EEA}"/>
              </a:ext>
            </a:extLst>
          </p:cNvPr>
          <p:cNvGrpSpPr>
            <a:grpSpLocks/>
          </p:cNvGrpSpPr>
          <p:nvPr/>
        </p:nvGrpSpPr>
        <p:grpSpPr bwMode="auto">
          <a:xfrm>
            <a:off x="4806950" y="1298575"/>
            <a:ext cx="4007167" cy="1992005"/>
            <a:chOff x="4876800" y="1295400"/>
            <a:chExt cx="4000500" cy="1989139"/>
          </a:xfrm>
        </p:grpSpPr>
        <p:grpSp>
          <p:nvGrpSpPr>
            <p:cNvPr id="20534" name="Group 3">
              <a:extLst>
                <a:ext uri="{FF2B5EF4-FFF2-40B4-BE49-F238E27FC236}">
                  <a16:creationId xmlns:a16="http://schemas.microsoft.com/office/drawing/2014/main" id="{06A771C6-640A-5142-BB29-DFDC92A252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6800" y="1676401"/>
              <a:ext cx="4000500" cy="1608138"/>
              <a:chOff x="720" y="1322"/>
              <a:chExt cx="2520" cy="1013"/>
            </a:xfrm>
          </p:grpSpPr>
          <p:grpSp>
            <p:nvGrpSpPr>
              <p:cNvPr id="20536" name="Group 4">
                <a:extLst>
                  <a:ext uri="{FF2B5EF4-FFF2-40B4-BE49-F238E27FC236}">
                    <a16:creationId xmlns:a16="http://schemas.microsoft.com/office/drawing/2014/main" id="{BB038E12-1217-5C44-908D-2CEE26AB5E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1392"/>
                <a:ext cx="1776" cy="288"/>
                <a:chOff x="1008" y="1392"/>
                <a:chExt cx="1776" cy="288"/>
              </a:xfrm>
            </p:grpSpPr>
            <p:sp>
              <p:nvSpPr>
                <p:cNvPr id="321541" name="Line 5">
                  <a:extLst>
                    <a:ext uri="{FF2B5EF4-FFF2-40B4-BE49-F238E27FC236}">
                      <a16:creationId xmlns:a16="http://schemas.microsoft.com/office/drawing/2014/main" id="{DCD2BBAE-EB66-C74F-81AF-E7FD52D21D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632"/>
                  <a:ext cx="287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42" name="Line 6">
                  <a:extLst>
                    <a:ext uri="{FF2B5EF4-FFF2-40B4-BE49-F238E27FC236}">
                      <a16:creationId xmlns:a16="http://schemas.microsoft.com/office/drawing/2014/main" id="{5A8FE6BD-EE8B-A74D-A555-AEC3956D3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438"/>
                  <a:ext cx="671" cy="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43" name="Freeform 7">
                  <a:extLst>
                    <a:ext uri="{FF2B5EF4-FFF2-40B4-BE49-F238E27FC236}">
                      <a16:creationId xmlns:a16="http://schemas.microsoft.com/office/drawing/2014/main" id="{28A6AC92-5CA9-8E41-AF2C-3B2A3A622A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8" y="1392"/>
                  <a:ext cx="410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0" y="0"/>
                    </a:cxn>
                    <a:cxn ang="0">
                      <a:pos x="190" y="0"/>
                    </a:cxn>
                    <a:cxn ang="0">
                      <a:pos x="227" y="3"/>
                    </a:cxn>
                    <a:cxn ang="0">
                      <a:pos x="262" y="11"/>
                    </a:cxn>
                    <a:cxn ang="0">
                      <a:pos x="292" y="22"/>
                    </a:cxn>
                    <a:cxn ang="0">
                      <a:pos x="322" y="40"/>
                    </a:cxn>
                    <a:cxn ang="0">
                      <a:pos x="372" y="81"/>
                    </a:cxn>
                    <a:cxn ang="0">
                      <a:pos x="410" y="140"/>
                    </a:cxn>
                    <a:cxn ang="0">
                      <a:pos x="410" y="140"/>
                    </a:cxn>
                    <a:cxn ang="0">
                      <a:pos x="372" y="195"/>
                    </a:cxn>
                    <a:cxn ang="0">
                      <a:pos x="322" y="240"/>
                    </a:cxn>
                    <a:cxn ang="0">
                      <a:pos x="292" y="254"/>
                    </a:cxn>
                    <a:cxn ang="0">
                      <a:pos x="262" y="266"/>
                    </a:cxn>
                    <a:cxn ang="0">
                      <a:pos x="227" y="273"/>
                    </a:cxn>
                    <a:cxn ang="0">
                      <a:pos x="190" y="277"/>
                    </a:cxn>
                    <a:cxn ang="0">
                      <a:pos x="19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22" y="247"/>
                    </a:cxn>
                    <a:cxn ang="0">
                      <a:pos x="38" y="214"/>
                    </a:cxn>
                    <a:cxn ang="0">
                      <a:pos x="45" y="177"/>
                    </a:cxn>
                    <a:cxn ang="0">
                      <a:pos x="49" y="140"/>
                    </a:cxn>
                    <a:cxn ang="0">
                      <a:pos x="49" y="140"/>
                    </a:cxn>
                    <a:cxn ang="0">
                      <a:pos x="45" y="99"/>
                    </a:cxn>
                    <a:cxn ang="0">
                      <a:pos x="38" y="66"/>
                    </a:cxn>
                    <a:cxn ang="0">
                      <a:pos x="22" y="3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10" h="277">
                      <a:moveTo>
                        <a:pt x="0" y="0"/>
                      </a:moveTo>
                      <a:lnTo>
                        <a:pt x="190" y="0"/>
                      </a:lnTo>
                      <a:lnTo>
                        <a:pt x="190" y="0"/>
                      </a:lnTo>
                      <a:lnTo>
                        <a:pt x="227" y="3"/>
                      </a:lnTo>
                      <a:lnTo>
                        <a:pt x="262" y="11"/>
                      </a:lnTo>
                      <a:lnTo>
                        <a:pt x="292" y="22"/>
                      </a:lnTo>
                      <a:lnTo>
                        <a:pt x="322" y="40"/>
                      </a:lnTo>
                      <a:lnTo>
                        <a:pt x="372" y="81"/>
                      </a:lnTo>
                      <a:lnTo>
                        <a:pt x="410" y="140"/>
                      </a:lnTo>
                      <a:lnTo>
                        <a:pt x="410" y="140"/>
                      </a:lnTo>
                      <a:lnTo>
                        <a:pt x="372" y="195"/>
                      </a:lnTo>
                      <a:lnTo>
                        <a:pt x="322" y="240"/>
                      </a:lnTo>
                      <a:lnTo>
                        <a:pt x="292" y="254"/>
                      </a:lnTo>
                      <a:lnTo>
                        <a:pt x="262" y="266"/>
                      </a:lnTo>
                      <a:lnTo>
                        <a:pt x="227" y="273"/>
                      </a:lnTo>
                      <a:lnTo>
                        <a:pt x="190" y="277"/>
                      </a:lnTo>
                      <a:lnTo>
                        <a:pt x="19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22" y="247"/>
                      </a:lnTo>
                      <a:lnTo>
                        <a:pt x="38" y="214"/>
                      </a:lnTo>
                      <a:lnTo>
                        <a:pt x="45" y="177"/>
                      </a:lnTo>
                      <a:lnTo>
                        <a:pt x="49" y="140"/>
                      </a:lnTo>
                      <a:lnTo>
                        <a:pt x="49" y="140"/>
                      </a:lnTo>
                      <a:lnTo>
                        <a:pt x="45" y="99"/>
                      </a:lnTo>
                      <a:lnTo>
                        <a:pt x="38" y="66"/>
                      </a:lnTo>
                      <a:lnTo>
                        <a:pt x="22" y="3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44" name="Line 8">
                  <a:extLst>
                    <a:ext uri="{FF2B5EF4-FFF2-40B4-BE49-F238E27FC236}">
                      <a16:creationId xmlns:a16="http://schemas.microsoft.com/office/drawing/2014/main" id="{065ADF07-05CB-834E-9F04-CD85710A37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7" y="1530"/>
                  <a:ext cx="435" cy="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grpSp>
              <p:nvGrpSpPr>
                <p:cNvPr id="20559" name="Group 9">
                  <a:extLst>
                    <a:ext uri="{FF2B5EF4-FFF2-40B4-BE49-F238E27FC236}">
                      <a16:creationId xmlns:a16="http://schemas.microsoft.com/office/drawing/2014/main" id="{70028481-5B32-E04E-BC80-86A626BB01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59" y="1440"/>
                  <a:ext cx="243" cy="184"/>
                  <a:chOff x="2159" y="1440"/>
                  <a:chExt cx="243" cy="184"/>
                </a:xfrm>
              </p:grpSpPr>
              <p:sp>
                <p:nvSpPr>
                  <p:cNvPr id="321546" name="Freeform 10">
                    <a:extLst>
                      <a:ext uri="{FF2B5EF4-FFF2-40B4-BE49-F238E27FC236}">
                        <a16:creationId xmlns:a16="http://schemas.microsoft.com/office/drawing/2014/main" id="{F449BE42-4130-7945-88A2-0C1177A102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9" y="1438"/>
                    <a:ext cx="190" cy="18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84"/>
                      </a:cxn>
                      <a:cxn ang="0">
                        <a:pos x="190" y="9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0" h="184">
                        <a:moveTo>
                          <a:pt x="0" y="0"/>
                        </a:moveTo>
                        <a:lnTo>
                          <a:pt x="0" y="184"/>
                        </a:lnTo>
                        <a:lnTo>
                          <a:pt x="190" y="9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  <p:sp>
                <p:nvSpPr>
                  <p:cNvPr id="321547" name="Freeform 11">
                    <a:extLst>
                      <a:ext uri="{FF2B5EF4-FFF2-40B4-BE49-F238E27FC236}">
                        <a16:creationId xmlns:a16="http://schemas.microsoft.com/office/drawing/2014/main" id="{9F87C97D-ABE2-C94F-AE67-6D36E67705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9" y="1438"/>
                    <a:ext cx="190" cy="18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84"/>
                      </a:cxn>
                      <a:cxn ang="0">
                        <a:pos x="190" y="9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0" h="184">
                        <a:moveTo>
                          <a:pt x="0" y="0"/>
                        </a:moveTo>
                        <a:lnTo>
                          <a:pt x="0" y="184"/>
                        </a:lnTo>
                        <a:lnTo>
                          <a:pt x="190" y="92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CCEC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  <p:sp>
                <p:nvSpPr>
                  <p:cNvPr id="321548" name="Freeform 12">
                    <a:extLst>
                      <a:ext uri="{FF2B5EF4-FFF2-40B4-BE49-F238E27FC236}">
                        <a16:creationId xmlns:a16="http://schemas.microsoft.com/office/drawing/2014/main" id="{2E08CAD8-F2C4-BD4D-863B-0A21AC7E2D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1" y="1504"/>
                    <a:ext cx="49" cy="50"/>
                  </a:xfrm>
                  <a:custGeom>
                    <a:avLst/>
                    <a:gdLst/>
                    <a:ahLst/>
                    <a:cxnLst>
                      <a:cxn ang="0">
                        <a:pos x="49" y="26"/>
                      </a:cxn>
                      <a:cxn ang="0">
                        <a:pos x="42" y="41"/>
                      </a:cxn>
                      <a:cxn ang="0">
                        <a:pos x="23" y="48"/>
                      </a:cxn>
                      <a:cxn ang="0">
                        <a:pos x="23" y="48"/>
                      </a:cxn>
                      <a:cxn ang="0">
                        <a:pos x="8" y="41"/>
                      </a:cxn>
                      <a:cxn ang="0">
                        <a:pos x="0" y="26"/>
                      </a:cxn>
                      <a:cxn ang="0">
                        <a:pos x="0" y="26"/>
                      </a:cxn>
                      <a:cxn ang="0">
                        <a:pos x="8" y="8"/>
                      </a:cxn>
                      <a:cxn ang="0">
                        <a:pos x="23" y="0"/>
                      </a:cxn>
                      <a:cxn ang="0">
                        <a:pos x="23" y="0"/>
                      </a:cxn>
                      <a:cxn ang="0">
                        <a:pos x="42" y="8"/>
                      </a:cxn>
                      <a:cxn ang="0">
                        <a:pos x="49" y="26"/>
                      </a:cxn>
                    </a:cxnLst>
                    <a:rect l="0" t="0" r="r" b="b"/>
                    <a:pathLst>
                      <a:path w="49" h="48">
                        <a:moveTo>
                          <a:pt x="49" y="26"/>
                        </a:moveTo>
                        <a:lnTo>
                          <a:pt x="42" y="41"/>
                        </a:lnTo>
                        <a:lnTo>
                          <a:pt x="23" y="48"/>
                        </a:lnTo>
                        <a:lnTo>
                          <a:pt x="23" y="48"/>
                        </a:lnTo>
                        <a:lnTo>
                          <a:pt x="8" y="41"/>
                        </a:lnTo>
                        <a:lnTo>
                          <a:pt x="0" y="26"/>
                        </a:lnTo>
                        <a:lnTo>
                          <a:pt x="0" y="26"/>
                        </a:lnTo>
                        <a:lnTo>
                          <a:pt x="8" y="8"/>
                        </a:lnTo>
                        <a:lnTo>
                          <a:pt x="23" y="0"/>
                        </a:lnTo>
                        <a:lnTo>
                          <a:pt x="23" y="0"/>
                        </a:lnTo>
                        <a:lnTo>
                          <a:pt x="42" y="8"/>
                        </a:lnTo>
                        <a:lnTo>
                          <a:pt x="49" y="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  <p:sp>
                <p:nvSpPr>
                  <p:cNvPr id="321549" name="Freeform 13">
                    <a:extLst>
                      <a:ext uri="{FF2B5EF4-FFF2-40B4-BE49-F238E27FC236}">
                        <a16:creationId xmlns:a16="http://schemas.microsoft.com/office/drawing/2014/main" id="{18FDAC49-DBD8-D841-B53A-95C31A059D0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1" y="1504"/>
                    <a:ext cx="49" cy="50"/>
                  </a:xfrm>
                  <a:custGeom>
                    <a:avLst/>
                    <a:gdLst/>
                    <a:ahLst/>
                    <a:cxnLst>
                      <a:cxn ang="0">
                        <a:pos x="49" y="26"/>
                      </a:cxn>
                      <a:cxn ang="0">
                        <a:pos x="42" y="41"/>
                      </a:cxn>
                      <a:cxn ang="0">
                        <a:pos x="23" y="48"/>
                      </a:cxn>
                      <a:cxn ang="0">
                        <a:pos x="23" y="48"/>
                      </a:cxn>
                      <a:cxn ang="0">
                        <a:pos x="8" y="41"/>
                      </a:cxn>
                      <a:cxn ang="0">
                        <a:pos x="0" y="26"/>
                      </a:cxn>
                      <a:cxn ang="0">
                        <a:pos x="0" y="26"/>
                      </a:cxn>
                      <a:cxn ang="0">
                        <a:pos x="8" y="8"/>
                      </a:cxn>
                      <a:cxn ang="0">
                        <a:pos x="23" y="0"/>
                      </a:cxn>
                      <a:cxn ang="0">
                        <a:pos x="23" y="0"/>
                      </a:cxn>
                      <a:cxn ang="0">
                        <a:pos x="42" y="8"/>
                      </a:cxn>
                      <a:cxn ang="0">
                        <a:pos x="49" y="26"/>
                      </a:cxn>
                    </a:cxnLst>
                    <a:rect l="0" t="0" r="r" b="b"/>
                    <a:pathLst>
                      <a:path w="49" h="48">
                        <a:moveTo>
                          <a:pt x="49" y="26"/>
                        </a:moveTo>
                        <a:lnTo>
                          <a:pt x="42" y="41"/>
                        </a:lnTo>
                        <a:lnTo>
                          <a:pt x="23" y="48"/>
                        </a:lnTo>
                        <a:lnTo>
                          <a:pt x="23" y="48"/>
                        </a:lnTo>
                        <a:lnTo>
                          <a:pt x="8" y="41"/>
                        </a:lnTo>
                        <a:lnTo>
                          <a:pt x="0" y="26"/>
                        </a:lnTo>
                        <a:lnTo>
                          <a:pt x="0" y="26"/>
                        </a:lnTo>
                        <a:lnTo>
                          <a:pt x="8" y="8"/>
                        </a:lnTo>
                        <a:lnTo>
                          <a:pt x="23" y="0"/>
                        </a:lnTo>
                        <a:lnTo>
                          <a:pt x="23" y="0"/>
                        </a:lnTo>
                        <a:lnTo>
                          <a:pt x="42" y="8"/>
                        </a:lnTo>
                        <a:lnTo>
                          <a:pt x="49" y="26"/>
                        </a:lnTo>
                      </a:path>
                    </a:pathLst>
                  </a:custGeom>
                  <a:solidFill>
                    <a:srgbClr val="CCEC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</p:grpSp>
            <p:sp>
              <p:nvSpPr>
                <p:cNvPr id="321550" name="Line 14">
                  <a:extLst>
                    <a:ext uri="{FF2B5EF4-FFF2-40B4-BE49-F238E27FC236}">
                      <a16:creationId xmlns:a16="http://schemas.microsoft.com/office/drawing/2014/main" id="{327B70A8-7A50-3A41-AAE8-51DA8868D1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1536"/>
                  <a:ext cx="143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51" name="Freeform 15">
                  <a:extLst>
                    <a:ext uri="{FF2B5EF4-FFF2-40B4-BE49-F238E27FC236}">
                      <a16:creationId xmlns:a16="http://schemas.microsoft.com/office/drawing/2014/main" id="{24EE9DA1-5F2C-1F41-B06F-358E8A7A3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8" y="1403"/>
                  <a:ext cx="410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0" y="0"/>
                    </a:cxn>
                    <a:cxn ang="0">
                      <a:pos x="190" y="0"/>
                    </a:cxn>
                    <a:cxn ang="0">
                      <a:pos x="227" y="3"/>
                    </a:cxn>
                    <a:cxn ang="0">
                      <a:pos x="262" y="11"/>
                    </a:cxn>
                    <a:cxn ang="0">
                      <a:pos x="292" y="22"/>
                    </a:cxn>
                    <a:cxn ang="0">
                      <a:pos x="322" y="40"/>
                    </a:cxn>
                    <a:cxn ang="0">
                      <a:pos x="372" y="81"/>
                    </a:cxn>
                    <a:cxn ang="0">
                      <a:pos x="410" y="140"/>
                    </a:cxn>
                    <a:cxn ang="0">
                      <a:pos x="410" y="140"/>
                    </a:cxn>
                    <a:cxn ang="0">
                      <a:pos x="372" y="195"/>
                    </a:cxn>
                    <a:cxn ang="0">
                      <a:pos x="322" y="240"/>
                    </a:cxn>
                    <a:cxn ang="0">
                      <a:pos x="292" y="254"/>
                    </a:cxn>
                    <a:cxn ang="0">
                      <a:pos x="262" y="266"/>
                    </a:cxn>
                    <a:cxn ang="0">
                      <a:pos x="227" y="273"/>
                    </a:cxn>
                    <a:cxn ang="0">
                      <a:pos x="190" y="277"/>
                    </a:cxn>
                    <a:cxn ang="0">
                      <a:pos x="19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22" y="247"/>
                    </a:cxn>
                    <a:cxn ang="0">
                      <a:pos x="38" y="214"/>
                    </a:cxn>
                    <a:cxn ang="0">
                      <a:pos x="45" y="177"/>
                    </a:cxn>
                    <a:cxn ang="0">
                      <a:pos x="49" y="140"/>
                    </a:cxn>
                    <a:cxn ang="0">
                      <a:pos x="49" y="140"/>
                    </a:cxn>
                    <a:cxn ang="0">
                      <a:pos x="45" y="99"/>
                    </a:cxn>
                    <a:cxn ang="0">
                      <a:pos x="38" y="66"/>
                    </a:cxn>
                    <a:cxn ang="0">
                      <a:pos x="22" y="3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10" h="277">
                      <a:moveTo>
                        <a:pt x="0" y="0"/>
                      </a:moveTo>
                      <a:lnTo>
                        <a:pt x="190" y="0"/>
                      </a:lnTo>
                      <a:lnTo>
                        <a:pt x="190" y="0"/>
                      </a:lnTo>
                      <a:lnTo>
                        <a:pt x="227" y="3"/>
                      </a:lnTo>
                      <a:lnTo>
                        <a:pt x="262" y="11"/>
                      </a:lnTo>
                      <a:lnTo>
                        <a:pt x="292" y="22"/>
                      </a:lnTo>
                      <a:lnTo>
                        <a:pt x="322" y="40"/>
                      </a:lnTo>
                      <a:lnTo>
                        <a:pt x="372" y="81"/>
                      </a:lnTo>
                      <a:lnTo>
                        <a:pt x="410" y="140"/>
                      </a:lnTo>
                      <a:lnTo>
                        <a:pt x="410" y="140"/>
                      </a:lnTo>
                      <a:lnTo>
                        <a:pt x="372" y="195"/>
                      </a:lnTo>
                      <a:lnTo>
                        <a:pt x="322" y="240"/>
                      </a:lnTo>
                      <a:lnTo>
                        <a:pt x="292" y="254"/>
                      </a:lnTo>
                      <a:lnTo>
                        <a:pt x="262" y="266"/>
                      </a:lnTo>
                      <a:lnTo>
                        <a:pt x="227" y="273"/>
                      </a:lnTo>
                      <a:lnTo>
                        <a:pt x="190" y="277"/>
                      </a:lnTo>
                      <a:lnTo>
                        <a:pt x="19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22" y="247"/>
                      </a:lnTo>
                      <a:lnTo>
                        <a:pt x="38" y="214"/>
                      </a:lnTo>
                      <a:lnTo>
                        <a:pt x="45" y="177"/>
                      </a:lnTo>
                      <a:lnTo>
                        <a:pt x="49" y="140"/>
                      </a:lnTo>
                      <a:lnTo>
                        <a:pt x="49" y="140"/>
                      </a:lnTo>
                      <a:lnTo>
                        <a:pt x="45" y="99"/>
                      </a:lnTo>
                      <a:lnTo>
                        <a:pt x="38" y="66"/>
                      </a:lnTo>
                      <a:lnTo>
                        <a:pt x="22" y="3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EC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grpSp>
            <p:nvGrpSpPr>
              <p:cNvPr id="20537" name="Group 16">
                <a:extLst>
                  <a:ext uri="{FF2B5EF4-FFF2-40B4-BE49-F238E27FC236}">
                    <a16:creationId xmlns:a16="http://schemas.microsoft.com/office/drawing/2014/main" id="{CDCC19AF-CF7B-EA46-9376-2E0642F388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1008" y="1920"/>
                <a:ext cx="1776" cy="288"/>
                <a:chOff x="1008" y="1392"/>
                <a:chExt cx="1776" cy="288"/>
              </a:xfrm>
            </p:grpSpPr>
            <p:sp>
              <p:nvSpPr>
                <p:cNvPr id="321553" name="Line 17">
                  <a:extLst>
                    <a:ext uri="{FF2B5EF4-FFF2-40B4-BE49-F238E27FC236}">
                      <a16:creationId xmlns:a16="http://schemas.microsoft.com/office/drawing/2014/main" id="{4AF27C56-D50B-0C4A-B16B-7558996EAF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1632"/>
                  <a:ext cx="287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54" name="Line 18">
                  <a:extLst>
                    <a:ext uri="{FF2B5EF4-FFF2-40B4-BE49-F238E27FC236}">
                      <a16:creationId xmlns:a16="http://schemas.microsoft.com/office/drawing/2014/main" id="{F9404CDD-3532-7B43-8989-EF6B07B651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440"/>
                  <a:ext cx="671" cy="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55" name="Freeform 19">
                  <a:extLst>
                    <a:ext uri="{FF2B5EF4-FFF2-40B4-BE49-F238E27FC236}">
                      <a16:creationId xmlns:a16="http://schemas.microsoft.com/office/drawing/2014/main" id="{B3E4B9A2-F6F4-A24C-A918-B4D662EDF8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8" y="1392"/>
                  <a:ext cx="410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0" y="0"/>
                    </a:cxn>
                    <a:cxn ang="0">
                      <a:pos x="190" y="0"/>
                    </a:cxn>
                    <a:cxn ang="0">
                      <a:pos x="227" y="3"/>
                    </a:cxn>
                    <a:cxn ang="0">
                      <a:pos x="262" y="11"/>
                    </a:cxn>
                    <a:cxn ang="0">
                      <a:pos x="292" y="22"/>
                    </a:cxn>
                    <a:cxn ang="0">
                      <a:pos x="322" y="40"/>
                    </a:cxn>
                    <a:cxn ang="0">
                      <a:pos x="372" y="81"/>
                    </a:cxn>
                    <a:cxn ang="0">
                      <a:pos x="410" y="140"/>
                    </a:cxn>
                    <a:cxn ang="0">
                      <a:pos x="410" y="140"/>
                    </a:cxn>
                    <a:cxn ang="0">
                      <a:pos x="372" y="195"/>
                    </a:cxn>
                    <a:cxn ang="0">
                      <a:pos x="322" y="240"/>
                    </a:cxn>
                    <a:cxn ang="0">
                      <a:pos x="292" y="254"/>
                    </a:cxn>
                    <a:cxn ang="0">
                      <a:pos x="262" y="266"/>
                    </a:cxn>
                    <a:cxn ang="0">
                      <a:pos x="227" y="273"/>
                    </a:cxn>
                    <a:cxn ang="0">
                      <a:pos x="190" y="277"/>
                    </a:cxn>
                    <a:cxn ang="0">
                      <a:pos x="19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22" y="247"/>
                    </a:cxn>
                    <a:cxn ang="0">
                      <a:pos x="38" y="214"/>
                    </a:cxn>
                    <a:cxn ang="0">
                      <a:pos x="45" y="177"/>
                    </a:cxn>
                    <a:cxn ang="0">
                      <a:pos x="49" y="140"/>
                    </a:cxn>
                    <a:cxn ang="0">
                      <a:pos x="49" y="140"/>
                    </a:cxn>
                    <a:cxn ang="0">
                      <a:pos x="45" y="99"/>
                    </a:cxn>
                    <a:cxn ang="0">
                      <a:pos x="38" y="66"/>
                    </a:cxn>
                    <a:cxn ang="0">
                      <a:pos x="22" y="3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10" h="277">
                      <a:moveTo>
                        <a:pt x="0" y="0"/>
                      </a:moveTo>
                      <a:lnTo>
                        <a:pt x="190" y="0"/>
                      </a:lnTo>
                      <a:lnTo>
                        <a:pt x="190" y="0"/>
                      </a:lnTo>
                      <a:lnTo>
                        <a:pt x="227" y="3"/>
                      </a:lnTo>
                      <a:lnTo>
                        <a:pt x="262" y="11"/>
                      </a:lnTo>
                      <a:lnTo>
                        <a:pt x="292" y="22"/>
                      </a:lnTo>
                      <a:lnTo>
                        <a:pt x="322" y="40"/>
                      </a:lnTo>
                      <a:lnTo>
                        <a:pt x="372" y="81"/>
                      </a:lnTo>
                      <a:lnTo>
                        <a:pt x="410" y="140"/>
                      </a:lnTo>
                      <a:lnTo>
                        <a:pt x="410" y="140"/>
                      </a:lnTo>
                      <a:lnTo>
                        <a:pt x="372" y="195"/>
                      </a:lnTo>
                      <a:lnTo>
                        <a:pt x="322" y="240"/>
                      </a:lnTo>
                      <a:lnTo>
                        <a:pt x="292" y="254"/>
                      </a:lnTo>
                      <a:lnTo>
                        <a:pt x="262" y="266"/>
                      </a:lnTo>
                      <a:lnTo>
                        <a:pt x="227" y="273"/>
                      </a:lnTo>
                      <a:lnTo>
                        <a:pt x="190" y="277"/>
                      </a:lnTo>
                      <a:lnTo>
                        <a:pt x="19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22" y="247"/>
                      </a:lnTo>
                      <a:lnTo>
                        <a:pt x="38" y="214"/>
                      </a:lnTo>
                      <a:lnTo>
                        <a:pt x="45" y="177"/>
                      </a:lnTo>
                      <a:lnTo>
                        <a:pt x="49" y="140"/>
                      </a:lnTo>
                      <a:lnTo>
                        <a:pt x="49" y="140"/>
                      </a:lnTo>
                      <a:lnTo>
                        <a:pt x="45" y="99"/>
                      </a:lnTo>
                      <a:lnTo>
                        <a:pt x="38" y="66"/>
                      </a:lnTo>
                      <a:lnTo>
                        <a:pt x="22" y="3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56" name="Line 20">
                  <a:extLst>
                    <a:ext uri="{FF2B5EF4-FFF2-40B4-BE49-F238E27FC236}">
                      <a16:creationId xmlns:a16="http://schemas.microsoft.com/office/drawing/2014/main" id="{E647DB34-5656-D94A-B085-EFA5A5B3A5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47" y="1530"/>
                  <a:ext cx="435" cy="4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grpSp>
              <p:nvGrpSpPr>
                <p:cNvPr id="20548" name="Group 21">
                  <a:extLst>
                    <a:ext uri="{FF2B5EF4-FFF2-40B4-BE49-F238E27FC236}">
                      <a16:creationId xmlns:a16="http://schemas.microsoft.com/office/drawing/2014/main" id="{97F27B95-2B70-5945-B3DF-2A1B8F726C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59" y="1440"/>
                  <a:ext cx="243" cy="184"/>
                  <a:chOff x="2159" y="1440"/>
                  <a:chExt cx="243" cy="184"/>
                </a:xfrm>
              </p:grpSpPr>
              <p:sp>
                <p:nvSpPr>
                  <p:cNvPr id="321558" name="Freeform 22">
                    <a:extLst>
                      <a:ext uri="{FF2B5EF4-FFF2-40B4-BE49-F238E27FC236}">
                        <a16:creationId xmlns:a16="http://schemas.microsoft.com/office/drawing/2014/main" id="{F9367EF8-74BF-D14D-830D-A25FC89FE2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9" y="1440"/>
                    <a:ext cx="190" cy="18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84"/>
                      </a:cxn>
                      <a:cxn ang="0">
                        <a:pos x="190" y="9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0" h="184">
                        <a:moveTo>
                          <a:pt x="0" y="0"/>
                        </a:moveTo>
                        <a:lnTo>
                          <a:pt x="0" y="184"/>
                        </a:lnTo>
                        <a:lnTo>
                          <a:pt x="190" y="9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  <p:sp>
                <p:nvSpPr>
                  <p:cNvPr id="321559" name="Freeform 23">
                    <a:extLst>
                      <a:ext uri="{FF2B5EF4-FFF2-40B4-BE49-F238E27FC236}">
                        <a16:creationId xmlns:a16="http://schemas.microsoft.com/office/drawing/2014/main" id="{74948D64-1613-C84F-8243-671A915145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159" y="1440"/>
                    <a:ext cx="190" cy="186"/>
                  </a:xfrm>
                  <a:custGeom>
                    <a:avLst/>
                    <a:gdLst/>
                    <a:ahLst/>
                    <a:cxnLst>
                      <a:cxn ang="0">
                        <a:pos x="0" y="0"/>
                      </a:cxn>
                      <a:cxn ang="0">
                        <a:pos x="0" y="184"/>
                      </a:cxn>
                      <a:cxn ang="0">
                        <a:pos x="190" y="92"/>
                      </a:cxn>
                      <a:cxn ang="0">
                        <a:pos x="0" y="0"/>
                      </a:cxn>
                    </a:cxnLst>
                    <a:rect l="0" t="0" r="r" b="b"/>
                    <a:pathLst>
                      <a:path w="190" h="184">
                        <a:moveTo>
                          <a:pt x="0" y="0"/>
                        </a:moveTo>
                        <a:lnTo>
                          <a:pt x="0" y="184"/>
                        </a:lnTo>
                        <a:lnTo>
                          <a:pt x="190" y="92"/>
                        </a:lnTo>
                        <a:lnTo>
                          <a:pt x="0" y="0"/>
                        </a:lnTo>
                      </a:path>
                    </a:pathLst>
                  </a:custGeom>
                  <a:solidFill>
                    <a:srgbClr val="CCEC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  <p:sp>
                <p:nvSpPr>
                  <p:cNvPr id="321560" name="Freeform 24">
                    <a:extLst>
                      <a:ext uri="{FF2B5EF4-FFF2-40B4-BE49-F238E27FC236}">
                        <a16:creationId xmlns:a16="http://schemas.microsoft.com/office/drawing/2014/main" id="{CBBBD68F-BACA-CA4D-BCF1-5600732DAD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1" y="1504"/>
                    <a:ext cx="49" cy="50"/>
                  </a:xfrm>
                  <a:custGeom>
                    <a:avLst/>
                    <a:gdLst/>
                    <a:ahLst/>
                    <a:cxnLst>
                      <a:cxn ang="0">
                        <a:pos x="49" y="26"/>
                      </a:cxn>
                      <a:cxn ang="0">
                        <a:pos x="42" y="41"/>
                      </a:cxn>
                      <a:cxn ang="0">
                        <a:pos x="23" y="48"/>
                      </a:cxn>
                      <a:cxn ang="0">
                        <a:pos x="23" y="48"/>
                      </a:cxn>
                      <a:cxn ang="0">
                        <a:pos x="8" y="41"/>
                      </a:cxn>
                      <a:cxn ang="0">
                        <a:pos x="0" y="26"/>
                      </a:cxn>
                      <a:cxn ang="0">
                        <a:pos x="0" y="26"/>
                      </a:cxn>
                      <a:cxn ang="0">
                        <a:pos x="8" y="8"/>
                      </a:cxn>
                      <a:cxn ang="0">
                        <a:pos x="23" y="0"/>
                      </a:cxn>
                      <a:cxn ang="0">
                        <a:pos x="23" y="0"/>
                      </a:cxn>
                      <a:cxn ang="0">
                        <a:pos x="42" y="8"/>
                      </a:cxn>
                      <a:cxn ang="0">
                        <a:pos x="49" y="26"/>
                      </a:cxn>
                    </a:cxnLst>
                    <a:rect l="0" t="0" r="r" b="b"/>
                    <a:pathLst>
                      <a:path w="49" h="48">
                        <a:moveTo>
                          <a:pt x="49" y="26"/>
                        </a:moveTo>
                        <a:lnTo>
                          <a:pt x="42" y="41"/>
                        </a:lnTo>
                        <a:lnTo>
                          <a:pt x="23" y="48"/>
                        </a:lnTo>
                        <a:lnTo>
                          <a:pt x="23" y="48"/>
                        </a:lnTo>
                        <a:lnTo>
                          <a:pt x="8" y="41"/>
                        </a:lnTo>
                        <a:lnTo>
                          <a:pt x="0" y="26"/>
                        </a:lnTo>
                        <a:lnTo>
                          <a:pt x="0" y="26"/>
                        </a:lnTo>
                        <a:lnTo>
                          <a:pt x="8" y="8"/>
                        </a:lnTo>
                        <a:lnTo>
                          <a:pt x="23" y="0"/>
                        </a:lnTo>
                        <a:lnTo>
                          <a:pt x="23" y="0"/>
                        </a:lnTo>
                        <a:lnTo>
                          <a:pt x="42" y="8"/>
                        </a:lnTo>
                        <a:lnTo>
                          <a:pt x="49" y="26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  <p:sp>
                <p:nvSpPr>
                  <p:cNvPr id="321561" name="Freeform 25">
                    <a:extLst>
                      <a:ext uri="{FF2B5EF4-FFF2-40B4-BE49-F238E27FC236}">
                        <a16:creationId xmlns:a16="http://schemas.microsoft.com/office/drawing/2014/main" id="{E8D75FD1-C672-FD43-862F-CA2CA9EDDE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51" y="1504"/>
                    <a:ext cx="49" cy="50"/>
                  </a:xfrm>
                  <a:custGeom>
                    <a:avLst/>
                    <a:gdLst/>
                    <a:ahLst/>
                    <a:cxnLst>
                      <a:cxn ang="0">
                        <a:pos x="49" y="26"/>
                      </a:cxn>
                      <a:cxn ang="0">
                        <a:pos x="42" y="41"/>
                      </a:cxn>
                      <a:cxn ang="0">
                        <a:pos x="23" y="48"/>
                      </a:cxn>
                      <a:cxn ang="0">
                        <a:pos x="23" y="48"/>
                      </a:cxn>
                      <a:cxn ang="0">
                        <a:pos x="8" y="41"/>
                      </a:cxn>
                      <a:cxn ang="0">
                        <a:pos x="0" y="26"/>
                      </a:cxn>
                      <a:cxn ang="0">
                        <a:pos x="0" y="26"/>
                      </a:cxn>
                      <a:cxn ang="0">
                        <a:pos x="8" y="8"/>
                      </a:cxn>
                      <a:cxn ang="0">
                        <a:pos x="23" y="0"/>
                      </a:cxn>
                      <a:cxn ang="0">
                        <a:pos x="23" y="0"/>
                      </a:cxn>
                      <a:cxn ang="0">
                        <a:pos x="42" y="8"/>
                      </a:cxn>
                      <a:cxn ang="0">
                        <a:pos x="49" y="26"/>
                      </a:cxn>
                    </a:cxnLst>
                    <a:rect l="0" t="0" r="r" b="b"/>
                    <a:pathLst>
                      <a:path w="49" h="48">
                        <a:moveTo>
                          <a:pt x="49" y="26"/>
                        </a:moveTo>
                        <a:lnTo>
                          <a:pt x="42" y="41"/>
                        </a:lnTo>
                        <a:lnTo>
                          <a:pt x="23" y="48"/>
                        </a:lnTo>
                        <a:lnTo>
                          <a:pt x="23" y="48"/>
                        </a:lnTo>
                        <a:lnTo>
                          <a:pt x="8" y="41"/>
                        </a:lnTo>
                        <a:lnTo>
                          <a:pt x="0" y="26"/>
                        </a:lnTo>
                        <a:lnTo>
                          <a:pt x="0" y="26"/>
                        </a:lnTo>
                        <a:lnTo>
                          <a:pt x="8" y="8"/>
                        </a:lnTo>
                        <a:lnTo>
                          <a:pt x="23" y="0"/>
                        </a:lnTo>
                        <a:lnTo>
                          <a:pt x="23" y="0"/>
                        </a:lnTo>
                        <a:lnTo>
                          <a:pt x="42" y="8"/>
                        </a:lnTo>
                        <a:lnTo>
                          <a:pt x="49" y="26"/>
                        </a:lnTo>
                      </a:path>
                    </a:pathLst>
                  </a:custGeom>
                  <a:solidFill>
                    <a:srgbClr val="CCECFF"/>
                  </a:solidFill>
                  <a:ln w="12700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>
                      <a:defRPr/>
                    </a:pPr>
                    <a:endParaRPr lang="en-US" sz="2403"/>
                  </a:p>
                </p:txBody>
              </p:sp>
            </p:grpSp>
            <p:sp>
              <p:nvSpPr>
                <p:cNvPr id="321562" name="Line 26">
                  <a:extLst>
                    <a:ext uri="{FF2B5EF4-FFF2-40B4-BE49-F238E27FC236}">
                      <a16:creationId xmlns:a16="http://schemas.microsoft.com/office/drawing/2014/main" id="{800B2E1D-10E3-244C-AEC3-0FA111D25E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16" y="1534"/>
                  <a:ext cx="143" cy="3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563" name="Freeform 27">
                  <a:extLst>
                    <a:ext uri="{FF2B5EF4-FFF2-40B4-BE49-F238E27FC236}">
                      <a16:creationId xmlns:a16="http://schemas.microsoft.com/office/drawing/2014/main" id="{5B50C09A-028E-1B4A-930C-F6918B222F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28" y="1403"/>
                  <a:ext cx="410" cy="27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90" y="0"/>
                    </a:cxn>
                    <a:cxn ang="0">
                      <a:pos x="190" y="0"/>
                    </a:cxn>
                    <a:cxn ang="0">
                      <a:pos x="227" y="3"/>
                    </a:cxn>
                    <a:cxn ang="0">
                      <a:pos x="262" y="11"/>
                    </a:cxn>
                    <a:cxn ang="0">
                      <a:pos x="292" y="22"/>
                    </a:cxn>
                    <a:cxn ang="0">
                      <a:pos x="322" y="40"/>
                    </a:cxn>
                    <a:cxn ang="0">
                      <a:pos x="372" y="81"/>
                    </a:cxn>
                    <a:cxn ang="0">
                      <a:pos x="410" y="140"/>
                    </a:cxn>
                    <a:cxn ang="0">
                      <a:pos x="410" y="140"/>
                    </a:cxn>
                    <a:cxn ang="0">
                      <a:pos x="372" y="195"/>
                    </a:cxn>
                    <a:cxn ang="0">
                      <a:pos x="322" y="240"/>
                    </a:cxn>
                    <a:cxn ang="0">
                      <a:pos x="292" y="254"/>
                    </a:cxn>
                    <a:cxn ang="0">
                      <a:pos x="262" y="266"/>
                    </a:cxn>
                    <a:cxn ang="0">
                      <a:pos x="227" y="273"/>
                    </a:cxn>
                    <a:cxn ang="0">
                      <a:pos x="190" y="277"/>
                    </a:cxn>
                    <a:cxn ang="0">
                      <a:pos x="19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0" y="277"/>
                    </a:cxn>
                    <a:cxn ang="0">
                      <a:pos x="22" y="247"/>
                    </a:cxn>
                    <a:cxn ang="0">
                      <a:pos x="38" y="214"/>
                    </a:cxn>
                    <a:cxn ang="0">
                      <a:pos x="45" y="177"/>
                    </a:cxn>
                    <a:cxn ang="0">
                      <a:pos x="49" y="140"/>
                    </a:cxn>
                    <a:cxn ang="0">
                      <a:pos x="49" y="140"/>
                    </a:cxn>
                    <a:cxn ang="0">
                      <a:pos x="45" y="99"/>
                    </a:cxn>
                    <a:cxn ang="0">
                      <a:pos x="38" y="66"/>
                    </a:cxn>
                    <a:cxn ang="0">
                      <a:pos x="22" y="33"/>
                    </a:cxn>
                    <a:cxn ang="0">
                      <a:pos x="0" y="0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410" h="277">
                      <a:moveTo>
                        <a:pt x="0" y="0"/>
                      </a:moveTo>
                      <a:lnTo>
                        <a:pt x="190" y="0"/>
                      </a:lnTo>
                      <a:lnTo>
                        <a:pt x="190" y="0"/>
                      </a:lnTo>
                      <a:lnTo>
                        <a:pt x="227" y="3"/>
                      </a:lnTo>
                      <a:lnTo>
                        <a:pt x="262" y="11"/>
                      </a:lnTo>
                      <a:lnTo>
                        <a:pt x="292" y="22"/>
                      </a:lnTo>
                      <a:lnTo>
                        <a:pt x="322" y="40"/>
                      </a:lnTo>
                      <a:lnTo>
                        <a:pt x="372" y="81"/>
                      </a:lnTo>
                      <a:lnTo>
                        <a:pt x="410" y="140"/>
                      </a:lnTo>
                      <a:lnTo>
                        <a:pt x="410" y="140"/>
                      </a:lnTo>
                      <a:lnTo>
                        <a:pt x="372" y="195"/>
                      </a:lnTo>
                      <a:lnTo>
                        <a:pt x="322" y="240"/>
                      </a:lnTo>
                      <a:lnTo>
                        <a:pt x="292" y="254"/>
                      </a:lnTo>
                      <a:lnTo>
                        <a:pt x="262" y="266"/>
                      </a:lnTo>
                      <a:lnTo>
                        <a:pt x="227" y="273"/>
                      </a:lnTo>
                      <a:lnTo>
                        <a:pt x="190" y="277"/>
                      </a:lnTo>
                      <a:lnTo>
                        <a:pt x="19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0" y="277"/>
                      </a:lnTo>
                      <a:lnTo>
                        <a:pt x="22" y="247"/>
                      </a:lnTo>
                      <a:lnTo>
                        <a:pt x="38" y="214"/>
                      </a:lnTo>
                      <a:lnTo>
                        <a:pt x="45" y="177"/>
                      </a:lnTo>
                      <a:lnTo>
                        <a:pt x="49" y="140"/>
                      </a:lnTo>
                      <a:lnTo>
                        <a:pt x="49" y="140"/>
                      </a:lnTo>
                      <a:lnTo>
                        <a:pt x="45" y="99"/>
                      </a:lnTo>
                      <a:lnTo>
                        <a:pt x="38" y="66"/>
                      </a:lnTo>
                      <a:lnTo>
                        <a:pt x="22" y="33"/>
                      </a:ln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EC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sp>
            <p:nvSpPr>
              <p:cNvPr id="321564" name="Freeform 28">
                <a:extLst>
                  <a:ext uri="{FF2B5EF4-FFF2-40B4-BE49-F238E27FC236}">
                    <a16:creationId xmlns:a16="http://schemas.microsoft.com/office/drawing/2014/main" id="{B25DC4E0-6D7A-FE4E-9347-D2F83F8FF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655"/>
                <a:ext cx="1268" cy="40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6"/>
                  </a:cxn>
                  <a:cxn ang="0">
                    <a:pos x="1152" y="336"/>
                  </a:cxn>
                  <a:cxn ang="0">
                    <a:pos x="1152" y="432"/>
                  </a:cxn>
                </a:cxnLst>
                <a:rect l="0" t="0" r="r" b="b"/>
                <a:pathLst>
                  <a:path w="1152" h="432">
                    <a:moveTo>
                      <a:pt x="0" y="0"/>
                    </a:moveTo>
                    <a:lnTo>
                      <a:pt x="0" y="96"/>
                    </a:lnTo>
                    <a:lnTo>
                      <a:pt x="1152" y="336"/>
                    </a:lnTo>
                    <a:lnTo>
                      <a:pt x="1152" y="432"/>
                    </a:ln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1565" name="Freeform 29">
                <a:extLst>
                  <a:ext uri="{FF2B5EF4-FFF2-40B4-BE49-F238E27FC236}">
                    <a16:creationId xmlns:a16="http://schemas.microsoft.com/office/drawing/2014/main" id="{CEEB90B0-5251-334E-9B4E-92718AA66DC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405" y="1557"/>
                <a:ext cx="1145" cy="44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6"/>
                  </a:cxn>
                  <a:cxn ang="0">
                    <a:pos x="1152" y="336"/>
                  </a:cxn>
                  <a:cxn ang="0">
                    <a:pos x="1152" y="432"/>
                  </a:cxn>
                </a:cxnLst>
                <a:rect l="0" t="0" r="r" b="b"/>
                <a:pathLst>
                  <a:path w="1152" h="432">
                    <a:moveTo>
                      <a:pt x="0" y="0"/>
                    </a:moveTo>
                    <a:lnTo>
                      <a:pt x="0" y="96"/>
                    </a:lnTo>
                    <a:lnTo>
                      <a:pt x="1152" y="336"/>
                    </a:lnTo>
                    <a:lnTo>
                      <a:pt x="1152" y="432"/>
                    </a:ln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1566" name="Text Box 30">
                <a:extLst>
                  <a:ext uri="{FF2B5EF4-FFF2-40B4-BE49-F238E27FC236}">
                    <a16:creationId xmlns:a16="http://schemas.microsoft.com/office/drawing/2014/main" id="{882D08AB-97A0-5A42-A316-917665DE25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418"/>
                <a:ext cx="338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square" lIns="45784" rIns="45784">
                <a:spAutoFit/>
              </a:bodyPr>
              <a:lstStyle/>
              <a:p>
                <a:pPr>
                  <a:defRPr/>
                </a:pPr>
                <a:r>
                  <a:rPr lang="en-US" sz="2403" dirty="0"/>
                  <a:t>Q+</a:t>
                </a:r>
              </a:p>
            </p:txBody>
          </p:sp>
          <p:sp>
            <p:nvSpPr>
              <p:cNvPr id="321567" name="Text Box 31">
                <a:extLst>
                  <a:ext uri="{FF2B5EF4-FFF2-40B4-BE49-F238E27FC236}">
                    <a16:creationId xmlns:a16="http://schemas.microsoft.com/office/drawing/2014/main" id="{F2EDBA00-0A61-B44F-BA54-92FE2CA560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946"/>
                <a:ext cx="408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square" lIns="45784" rIns="45784">
                <a:spAutoFit/>
              </a:bodyPr>
              <a:lstStyle/>
              <a:p>
                <a:pPr>
                  <a:defRPr/>
                </a:pPr>
                <a:r>
                  <a:rPr lang="en-US" sz="2403" dirty="0"/>
                  <a:t>Q–</a:t>
                </a:r>
              </a:p>
            </p:txBody>
          </p:sp>
          <p:sp>
            <p:nvSpPr>
              <p:cNvPr id="321568" name="Text Box 32">
                <a:extLst>
                  <a:ext uri="{FF2B5EF4-FFF2-40B4-BE49-F238E27FC236}">
                    <a16:creationId xmlns:a16="http://schemas.microsoft.com/office/drawing/2014/main" id="{1DF55454-9B16-1C49-A3B1-2929C73A3A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1322"/>
                <a:ext cx="288" cy="29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84" rIns="45784">
                <a:spAutoFit/>
              </a:bodyPr>
              <a:lstStyle/>
              <a:p>
                <a:pPr algn="r">
                  <a:defRPr/>
                </a:pPr>
                <a:r>
                  <a:rPr lang="en-US" sz="2403"/>
                  <a:t>R</a:t>
                </a:r>
              </a:p>
            </p:txBody>
          </p:sp>
          <p:sp>
            <p:nvSpPr>
              <p:cNvPr id="321569" name="Text Box 33">
                <a:extLst>
                  <a:ext uri="{FF2B5EF4-FFF2-40B4-BE49-F238E27FC236}">
                    <a16:creationId xmlns:a16="http://schemas.microsoft.com/office/drawing/2014/main" id="{94D588E1-856C-404F-9C48-872D53D6D8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0" y="2042"/>
                <a:ext cx="288" cy="29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84" rIns="45784">
                <a:spAutoFit/>
              </a:bodyPr>
              <a:lstStyle/>
              <a:p>
                <a:pPr algn="r">
                  <a:defRPr/>
                </a:pPr>
                <a:r>
                  <a:rPr lang="en-US" sz="2403"/>
                  <a:t>S</a:t>
                </a:r>
              </a:p>
            </p:txBody>
          </p:sp>
        </p:grpSp>
        <p:sp>
          <p:nvSpPr>
            <p:cNvPr id="321570" name="Text Box 34">
              <a:extLst>
                <a:ext uri="{FF2B5EF4-FFF2-40B4-BE49-F238E27FC236}">
                  <a16:creationId xmlns:a16="http://schemas.microsoft.com/office/drawing/2014/main" id="{33A2CEC5-AE16-3948-BF5D-67C65BC54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484" y="1295400"/>
              <a:ext cx="1435882" cy="4628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R-S Latch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2480BB3-96A1-6F4A-9294-F2D32587094C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4122738"/>
            <a:ext cx="2671763" cy="1568450"/>
            <a:chOff x="298450" y="4114800"/>
            <a:chExt cx="2667000" cy="1567180"/>
          </a:xfrm>
        </p:grpSpPr>
        <p:pic>
          <p:nvPicPr>
            <p:cNvPr id="20526" name="Picture 1">
              <a:extLst>
                <a:ext uri="{FF2B5EF4-FFF2-40B4-BE49-F238E27FC236}">
                  <a16:creationId xmlns:a16="http://schemas.microsoft.com/office/drawing/2014/main" id="{9FCC4BBC-CB4A-9148-9B5A-C1FFEB2E98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450" y="4641850"/>
              <a:ext cx="2667000" cy="104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1573" name="Text Box 37">
              <a:extLst>
                <a:ext uri="{FF2B5EF4-FFF2-40B4-BE49-F238E27FC236}">
                  <a16:creationId xmlns:a16="http://schemas.microsoft.com/office/drawing/2014/main" id="{644F48FC-68A3-D54E-9FA3-040171E04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853" y="4114800"/>
              <a:ext cx="1323200" cy="4615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Resetting</a:t>
              </a:r>
            </a:p>
          </p:txBody>
        </p:sp>
        <p:sp>
          <p:nvSpPr>
            <p:cNvPr id="321574" name="Text Box 38">
              <a:extLst>
                <a:ext uri="{FF2B5EF4-FFF2-40B4-BE49-F238E27FC236}">
                  <a16:creationId xmlns:a16="http://schemas.microsoft.com/office/drawing/2014/main" id="{463C9B94-B4D4-954A-91AB-D55404566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045" y="4460595"/>
              <a:ext cx="381906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21575" name="Text Box 39">
              <a:extLst>
                <a:ext uri="{FF2B5EF4-FFF2-40B4-BE49-F238E27FC236}">
                  <a16:creationId xmlns:a16="http://schemas.microsoft.com/office/drawing/2014/main" id="{14F76826-510E-1D4D-AE79-C36DCACE9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045" y="5223563"/>
              <a:ext cx="381906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76" name="Text Box 40">
              <a:extLst>
                <a:ext uri="{FF2B5EF4-FFF2-40B4-BE49-F238E27FC236}">
                  <a16:creationId xmlns:a16="http://schemas.microsoft.com/office/drawing/2014/main" id="{F6BC1EAC-E023-6049-8EE6-672EDE70E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465" y="4495491"/>
              <a:ext cx="381905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21577" name="Text Box 41">
              <a:extLst>
                <a:ext uri="{FF2B5EF4-FFF2-40B4-BE49-F238E27FC236}">
                  <a16:creationId xmlns:a16="http://schemas.microsoft.com/office/drawing/2014/main" id="{C1115883-B618-954A-B2EA-6D155B2A5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626" y="4571630"/>
              <a:ext cx="381906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78" name="Text Box 42">
              <a:extLst>
                <a:ext uri="{FF2B5EF4-FFF2-40B4-BE49-F238E27FC236}">
                  <a16:creationId xmlns:a16="http://schemas.microsoft.com/office/drawing/2014/main" id="{4AEC961A-22A1-6945-82E9-FAD9D585E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465" y="5182322"/>
              <a:ext cx="381905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79" name="Text Box 43">
              <a:extLst>
                <a:ext uri="{FF2B5EF4-FFF2-40B4-BE49-F238E27FC236}">
                  <a16:creationId xmlns:a16="http://schemas.microsoft.com/office/drawing/2014/main" id="{309F133C-108D-4B43-8772-B0562222EB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5626" y="5147425"/>
              <a:ext cx="381906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A066CC5-9908-B545-BBE8-90C385F2EF41}"/>
              </a:ext>
            </a:extLst>
          </p:cNvPr>
          <p:cNvGrpSpPr>
            <a:grpSpLocks/>
          </p:cNvGrpSpPr>
          <p:nvPr/>
        </p:nvGrpSpPr>
        <p:grpSpPr bwMode="auto">
          <a:xfrm>
            <a:off x="3351213" y="4122738"/>
            <a:ext cx="2670175" cy="1568450"/>
            <a:chOff x="3346450" y="4114800"/>
            <a:chExt cx="2667000" cy="1567180"/>
          </a:xfrm>
        </p:grpSpPr>
        <p:pic>
          <p:nvPicPr>
            <p:cNvPr id="20518" name="Picture 87">
              <a:extLst>
                <a:ext uri="{FF2B5EF4-FFF2-40B4-BE49-F238E27FC236}">
                  <a16:creationId xmlns:a16="http://schemas.microsoft.com/office/drawing/2014/main" id="{656441CA-2793-3A4E-9DC9-0F41F7DAB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6450" y="4641850"/>
              <a:ext cx="2667000" cy="104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1582" name="Text Box 46">
              <a:extLst>
                <a:ext uri="{FF2B5EF4-FFF2-40B4-BE49-F238E27FC236}">
                  <a16:creationId xmlns:a16="http://schemas.microsoft.com/office/drawing/2014/main" id="{27826FB5-70C2-3F44-8923-878481AA5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8416" y="4114800"/>
              <a:ext cx="1016377" cy="4615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Setting</a:t>
              </a:r>
            </a:p>
          </p:txBody>
        </p:sp>
        <p:sp>
          <p:nvSpPr>
            <p:cNvPr id="321583" name="Text Box 47">
              <a:extLst>
                <a:ext uri="{FF2B5EF4-FFF2-40B4-BE49-F238E27FC236}">
                  <a16:creationId xmlns:a16="http://schemas.microsoft.com/office/drawing/2014/main" id="{0DC6F8DE-2620-4543-87FA-23F1CC445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230" y="4460595"/>
              <a:ext cx="382132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84" name="Text Box 48">
              <a:extLst>
                <a:ext uri="{FF2B5EF4-FFF2-40B4-BE49-F238E27FC236}">
                  <a16:creationId xmlns:a16="http://schemas.microsoft.com/office/drawing/2014/main" id="{55EB57C8-B3D2-8B45-BDAE-D2FB8409E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230" y="5223563"/>
              <a:ext cx="382132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21585" name="Text Box 49">
              <a:extLst>
                <a:ext uri="{FF2B5EF4-FFF2-40B4-BE49-F238E27FC236}">
                  <a16:creationId xmlns:a16="http://schemas.microsoft.com/office/drawing/2014/main" id="{F5176118-ABDA-C041-91CC-176838404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37" y="4495491"/>
              <a:ext cx="380547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86" name="Text Box 50">
              <a:extLst>
                <a:ext uri="{FF2B5EF4-FFF2-40B4-BE49-F238E27FC236}">
                  <a16:creationId xmlns:a16="http://schemas.microsoft.com/office/drawing/2014/main" id="{DF350C4F-7D3B-5748-9894-6F60BC4CA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222" y="4571630"/>
              <a:ext cx="382133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21587" name="Text Box 51">
              <a:extLst>
                <a:ext uri="{FF2B5EF4-FFF2-40B4-BE49-F238E27FC236}">
                  <a16:creationId xmlns:a16="http://schemas.microsoft.com/office/drawing/2014/main" id="{B04A5CAD-556E-5A42-B7F3-8670ED6D8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37" y="5182322"/>
              <a:ext cx="380547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21588" name="Text Box 52">
              <a:extLst>
                <a:ext uri="{FF2B5EF4-FFF2-40B4-BE49-F238E27FC236}">
                  <a16:creationId xmlns:a16="http://schemas.microsoft.com/office/drawing/2014/main" id="{9B706ECB-72C4-3346-ABD4-7AC10AF35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3222" y="5147425"/>
              <a:ext cx="382133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C0C1827F-F392-5C4B-8826-49223FEF6AA3}"/>
              </a:ext>
            </a:extLst>
          </p:cNvPr>
          <p:cNvGrpSpPr>
            <a:grpSpLocks/>
          </p:cNvGrpSpPr>
          <p:nvPr/>
        </p:nvGrpSpPr>
        <p:grpSpPr bwMode="auto">
          <a:xfrm>
            <a:off x="6403975" y="4122738"/>
            <a:ext cx="2670175" cy="1568450"/>
            <a:chOff x="6394450" y="4114800"/>
            <a:chExt cx="2667000" cy="1567180"/>
          </a:xfrm>
        </p:grpSpPr>
        <p:pic>
          <p:nvPicPr>
            <p:cNvPr id="20510" name="Picture 88">
              <a:extLst>
                <a:ext uri="{FF2B5EF4-FFF2-40B4-BE49-F238E27FC236}">
                  <a16:creationId xmlns:a16="http://schemas.microsoft.com/office/drawing/2014/main" id="{74FC5EF2-C5E0-E04A-BF5B-4763198491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94450" y="4641850"/>
              <a:ext cx="2667000" cy="1040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1591" name="Text Box 55">
              <a:extLst>
                <a:ext uri="{FF2B5EF4-FFF2-40B4-BE49-F238E27FC236}">
                  <a16:creationId xmlns:a16="http://schemas.microsoft.com/office/drawing/2014/main" id="{130DC61F-754C-C243-8C81-BDC95B843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95929" y="4114800"/>
              <a:ext cx="1067118" cy="46158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Storing</a:t>
              </a:r>
            </a:p>
          </p:txBody>
        </p:sp>
        <p:sp>
          <p:nvSpPr>
            <p:cNvPr id="321592" name="Text Box 56">
              <a:extLst>
                <a:ext uri="{FF2B5EF4-FFF2-40B4-BE49-F238E27FC236}">
                  <a16:creationId xmlns:a16="http://schemas.microsoft.com/office/drawing/2014/main" id="{57076F4A-303A-9142-A706-AFC0D144C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230" y="4460595"/>
              <a:ext cx="382133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93" name="Text Box 57">
              <a:extLst>
                <a:ext uri="{FF2B5EF4-FFF2-40B4-BE49-F238E27FC236}">
                  <a16:creationId xmlns:a16="http://schemas.microsoft.com/office/drawing/2014/main" id="{EEC88230-3024-804B-95B5-6D221BF7F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230" y="5223563"/>
              <a:ext cx="382133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21594" name="Text Box 58">
              <a:extLst>
                <a:ext uri="{FF2B5EF4-FFF2-40B4-BE49-F238E27FC236}">
                  <a16:creationId xmlns:a16="http://schemas.microsoft.com/office/drawing/2014/main" id="{CE4F2E41-CD72-F341-99CE-A2FEB6844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38" y="4495491"/>
              <a:ext cx="380547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!q</a:t>
              </a:r>
            </a:p>
          </p:txBody>
        </p:sp>
        <p:sp>
          <p:nvSpPr>
            <p:cNvPr id="321595" name="Text Box 59">
              <a:extLst>
                <a:ext uri="{FF2B5EF4-FFF2-40B4-BE49-F238E27FC236}">
                  <a16:creationId xmlns:a16="http://schemas.microsoft.com/office/drawing/2014/main" id="{697EBB09-B283-984E-A136-93E99003C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1223" y="4571630"/>
              <a:ext cx="382132" cy="33945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</a:t>
              </a:r>
            </a:p>
          </p:txBody>
        </p:sp>
        <p:sp>
          <p:nvSpPr>
            <p:cNvPr id="321596" name="Text Box 60">
              <a:extLst>
                <a:ext uri="{FF2B5EF4-FFF2-40B4-BE49-F238E27FC236}">
                  <a16:creationId xmlns:a16="http://schemas.microsoft.com/office/drawing/2014/main" id="{7C552818-2418-4940-BC5A-C114918657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238" y="5182322"/>
              <a:ext cx="380547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</a:t>
              </a:r>
            </a:p>
          </p:txBody>
        </p:sp>
        <p:sp>
          <p:nvSpPr>
            <p:cNvPr id="321597" name="Text Box 61">
              <a:extLst>
                <a:ext uri="{FF2B5EF4-FFF2-40B4-BE49-F238E27FC236}">
                  <a16:creationId xmlns:a16="http://schemas.microsoft.com/office/drawing/2014/main" id="{885EEAA6-82CF-C84B-B251-C95D513A3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1223" y="5147425"/>
              <a:ext cx="382132" cy="33786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!q</a:t>
              </a:r>
            </a:p>
          </p:txBody>
        </p:sp>
      </p:grpSp>
      <p:grpSp>
        <p:nvGrpSpPr>
          <p:cNvPr id="20486" name="Group 85">
            <a:extLst>
              <a:ext uri="{FF2B5EF4-FFF2-40B4-BE49-F238E27FC236}">
                <a16:creationId xmlns:a16="http://schemas.microsoft.com/office/drawing/2014/main" id="{68C30CED-637A-074E-9013-C884D11BD2D5}"/>
              </a:ext>
            </a:extLst>
          </p:cNvPr>
          <p:cNvGrpSpPr>
            <a:grpSpLocks/>
          </p:cNvGrpSpPr>
          <p:nvPr/>
        </p:nvGrpSpPr>
        <p:grpSpPr bwMode="auto">
          <a:xfrm>
            <a:off x="1984375" y="1069975"/>
            <a:ext cx="2325688" cy="2398665"/>
            <a:chOff x="3870" y="672"/>
            <a:chExt cx="1463" cy="1509"/>
          </a:xfrm>
        </p:grpSpPr>
        <p:sp>
          <p:nvSpPr>
            <p:cNvPr id="321618" name="Text Box 82">
              <a:extLst>
                <a:ext uri="{FF2B5EF4-FFF2-40B4-BE49-F238E27FC236}">
                  <a16:creationId xmlns:a16="http://schemas.microsoft.com/office/drawing/2014/main" id="{33190010-6593-7B40-AD15-36810A0EE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0" y="672"/>
              <a:ext cx="146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Bistable Element</a:t>
              </a:r>
            </a:p>
          </p:txBody>
        </p:sp>
        <p:grpSp>
          <p:nvGrpSpPr>
            <p:cNvPr id="20488" name="Group 84">
              <a:extLst>
                <a:ext uri="{FF2B5EF4-FFF2-40B4-BE49-F238E27FC236}">
                  <a16:creationId xmlns:a16="http://schemas.microsoft.com/office/drawing/2014/main" id="{5CAB71FA-9A25-0247-B751-B19911ED8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8" y="1056"/>
              <a:ext cx="1163" cy="1125"/>
              <a:chOff x="3988" y="1056"/>
              <a:chExt cx="1163" cy="1125"/>
            </a:xfrm>
          </p:grpSpPr>
          <p:sp>
            <p:nvSpPr>
              <p:cNvPr id="321598" name="Line 62">
                <a:extLst>
                  <a:ext uri="{FF2B5EF4-FFF2-40B4-BE49-F238E27FC236}">
                    <a16:creationId xmlns:a16="http://schemas.microsoft.com/office/drawing/2014/main" id="{FB673DE2-6FE1-3544-8958-D8C448893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1" y="1244"/>
                <a:ext cx="433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grpSp>
            <p:nvGrpSpPr>
              <p:cNvPr id="20490" name="Group 63">
                <a:extLst>
                  <a:ext uri="{FF2B5EF4-FFF2-40B4-BE49-F238E27FC236}">
                    <a16:creationId xmlns:a16="http://schemas.microsoft.com/office/drawing/2014/main" id="{53E01C2D-77CD-4347-8A3D-707E101EA7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31" y="1152"/>
                <a:ext cx="243" cy="184"/>
                <a:chOff x="2159" y="1440"/>
                <a:chExt cx="243" cy="184"/>
              </a:xfrm>
            </p:grpSpPr>
            <p:sp>
              <p:nvSpPr>
                <p:cNvPr id="321600" name="Freeform 64">
                  <a:extLst>
                    <a:ext uri="{FF2B5EF4-FFF2-40B4-BE49-F238E27FC236}">
                      <a16:creationId xmlns:a16="http://schemas.microsoft.com/office/drawing/2014/main" id="{0B2143D1-86B4-7B41-9D9A-3613AFD20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9" y="1440"/>
                  <a:ext cx="192" cy="1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84"/>
                    </a:cxn>
                    <a:cxn ang="0">
                      <a:pos x="190" y="9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0" h="184">
                      <a:moveTo>
                        <a:pt x="0" y="0"/>
                      </a:moveTo>
                      <a:lnTo>
                        <a:pt x="0" y="184"/>
                      </a:lnTo>
                      <a:lnTo>
                        <a:pt x="190" y="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601" name="Freeform 65">
                  <a:extLst>
                    <a:ext uri="{FF2B5EF4-FFF2-40B4-BE49-F238E27FC236}">
                      <a16:creationId xmlns:a16="http://schemas.microsoft.com/office/drawing/2014/main" id="{E80E4E2F-254A-FA4A-B0CF-69EBF6E68D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9" y="1440"/>
                  <a:ext cx="192" cy="1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84"/>
                    </a:cxn>
                    <a:cxn ang="0">
                      <a:pos x="190" y="9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0" h="184">
                      <a:moveTo>
                        <a:pt x="0" y="0"/>
                      </a:moveTo>
                      <a:lnTo>
                        <a:pt x="0" y="184"/>
                      </a:lnTo>
                      <a:lnTo>
                        <a:pt x="190" y="9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EC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602" name="Freeform 66">
                  <a:extLst>
                    <a:ext uri="{FF2B5EF4-FFF2-40B4-BE49-F238E27FC236}">
                      <a16:creationId xmlns:a16="http://schemas.microsoft.com/office/drawing/2014/main" id="{6C1BB6CD-2005-A94D-BBFB-DB78DB4926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3" y="1506"/>
                  <a:ext cx="49" cy="48"/>
                </a:xfrm>
                <a:custGeom>
                  <a:avLst/>
                  <a:gdLst/>
                  <a:ahLst/>
                  <a:cxnLst>
                    <a:cxn ang="0">
                      <a:pos x="49" y="26"/>
                    </a:cxn>
                    <a:cxn ang="0">
                      <a:pos x="42" y="41"/>
                    </a:cxn>
                    <a:cxn ang="0">
                      <a:pos x="23" y="48"/>
                    </a:cxn>
                    <a:cxn ang="0">
                      <a:pos x="23" y="48"/>
                    </a:cxn>
                    <a:cxn ang="0">
                      <a:pos x="8" y="41"/>
                    </a:cxn>
                    <a:cxn ang="0">
                      <a:pos x="0" y="26"/>
                    </a:cxn>
                    <a:cxn ang="0">
                      <a:pos x="0" y="26"/>
                    </a:cxn>
                    <a:cxn ang="0">
                      <a:pos x="8" y="8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42" y="8"/>
                    </a:cxn>
                    <a:cxn ang="0">
                      <a:pos x="49" y="26"/>
                    </a:cxn>
                  </a:cxnLst>
                  <a:rect l="0" t="0" r="r" b="b"/>
                  <a:pathLst>
                    <a:path w="49" h="48">
                      <a:moveTo>
                        <a:pt x="49" y="26"/>
                      </a:moveTo>
                      <a:lnTo>
                        <a:pt x="42" y="41"/>
                      </a:lnTo>
                      <a:lnTo>
                        <a:pt x="23" y="48"/>
                      </a:lnTo>
                      <a:lnTo>
                        <a:pt x="23" y="48"/>
                      </a:lnTo>
                      <a:lnTo>
                        <a:pt x="8" y="41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8" y="8"/>
                      </a:lnTo>
                      <a:lnTo>
                        <a:pt x="23" y="0"/>
                      </a:lnTo>
                      <a:lnTo>
                        <a:pt x="23" y="0"/>
                      </a:lnTo>
                      <a:lnTo>
                        <a:pt x="42" y="8"/>
                      </a:lnTo>
                      <a:lnTo>
                        <a:pt x="49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603" name="Freeform 67">
                  <a:extLst>
                    <a:ext uri="{FF2B5EF4-FFF2-40B4-BE49-F238E27FC236}">
                      <a16:creationId xmlns:a16="http://schemas.microsoft.com/office/drawing/2014/main" id="{CB000E9E-3FBE-C147-BC23-33BB2EA53C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3" y="1506"/>
                  <a:ext cx="49" cy="48"/>
                </a:xfrm>
                <a:custGeom>
                  <a:avLst/>
                  <a:gdLst/>
                  <a:ahLst/>
                  <a:cxnLst>
                    <a:cxn ang="0">
                      <a:pos x="49" y="26"/>
                    </a:cxn>
                    <a:cxn ang="0">
                      <a:pos x="42" y="41"/>
                    </a:cxn>
                    <a:cxn ang="0">
                      <a:pos x="23" y="48"/>
                    </a:cxn>
                    <a:cxn ang="0">
                      <a:pos x="23" y="48"/>
                    </a:cxn>
                    <a:cxn ang="0">
                      <a:pos x="8" y="41"/>
                    </a:cxn>
                    <a:cxn ang="0">
                      <a:pos x="0" y="26"/>
                    </a:cxn>
                    <a:cxn ang="0">
                      <a:pos x="0" y="26"/>
                    </a:cxn>
                    <a:cxn ang="0">
                      <a:pos x="8" y="8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42" y="8"/>
                    </a:cxn>
                    <a:cxn ang="0">
                      <a:pos x="49" y="26"/>
                    </a:cxn>
                  </a:cxnLst>
                  <a:rect l="0" t="0" r="r" b="b"/>
                  <a:pathLst>
                    <a:path w="49" h="48">
                      <a:moveTo>
                        <a:pt x="49" y="26"/>
                      </a:moveTo>
                      <a:lnTo>
                        <a:pt x="42" y="41"/>
                      </a:lnTo>
                      <a:lnTo>
                        <a:pt x="23" y="48"/>
                      </a:lnTo>
                      <a:lnTo>
                        <a:pt x="23" y="48"/>
                      </a:lnTo>
                      <a:lnTo>
                        <a:pt x="8" y="41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8" y="8"/>
                      </a:lnTo>
                      <a:lnTo>
                        <a:pt x="23" y="0"/>
                      </a:lnTo>
                      <a:lnTo>
                        <a:pt x="23" y="0"/>
                      </a:lnTo>
                      <a:lnTo>
                        <a:pt x="42" y="8"/>
                      </a:lnTo>
                      <a:lnTo>
                        <a:pt x="49" y="26"/>
                      </a:lnTo>
                    </a:path>
                  </a:pathLst>
                </a:custGeom>
                <a:solidFill>
                  <a:srgbClr val="CCEC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sp>
            <p:nvSpPr>
              <p:cNvPr id="321604" name="Line 68">
                <a:extLst>
                  <a:ext uri="{FF2B5EF4-FFF2-40B4-BE49-F238E27FC236}">
                    <a16:creationId xmlns:a16="http://schemas.microsoft.com/office/drawing/2014/main" id="{12D0D66F-3A0C-7943-AFE8-DD4DB47D4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8" y="1248"/>
                <a:ext cx="14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1605" name="Line 69">
                <a:extLst>
                  <a:ext uri="{FF2B5EF4-FFF2-40B4-BE49-F238E27FC236}">
                    <a16:creationId xmlns:a16="http://schemas.microsoft.com/office/drawing/2014/main" id="{7AC4BC20-8FFD-4C49-BD10-D1AF1D477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21" y="1824"/>
                <a:ext cx="433" cy="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grpSp>
            <p:nvGrpSpPr>
              <p:cNvPr id="20493" name="Group 70">
                <a:extLst>
                  <a:ext uri="{FF2B5EF4-FFF2-40B4-BE49-F238E27FC236}">
                    <a16:creationId xmlns:a16="http://schemas.microsoft.com/office/drawing/2014/main" id="{C8F35DF4-E100-F644-BBED-C4B926E8DD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V="1">
                <a:off x="4131" y="1736"/>
                <a:ext cx="243" cy="184"/>
                <a:chOff x="2159" y="1440"/>
                <a:chExt cx="243" cy="184"/>
              </a:xfrm>
            </p:grpSpPr>
            <p:sp>
              <p:nvSpPr>
                <p:cNvPr id="321607" name="Freeform 71">
                  <a:extLst>
                    <a:ext uri="{FF2B5EF4-FFF2-40B4-BE49-F238E27FC236}">
                      <a16:creationId xmlns:a16="http://schemas.microsoft.com/office/drawing/2014/main" id="{E5E9797E-0AB5-6048-AD84-3B68B01D3D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9" y="1440"/>
                  <a:ext cx="192" cy="1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84"/>
                    </a:cxn>
                    <a:cxn ang="0">
                      <a:pos x="190" y="9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0" h="184">
                      <a:moveTo>
                        <a:pt x="0" y="0"/>
                      </a:moveTo>
                      <a:lnTo>
                        <a:pt x="0" y="184"/>
                      </a:lnTo>
                      <a:lnTo>
                        <a:pt x="190" y="9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608" name="Freeform 72">
                  <a:extLst>
                    <a:ext uri="{FF2B5EF4-FFF2-40B4-BE49-F238E27FC236}">
                      <a16:creationId xmlns:a16="http://schemas.microsoft.com/office/drawing/2014/main" id="{C14D9E96-A155-2F4A-8103-06FAFFF112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59" y="1440"/>
                  <a:ext cx="192" cy="18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84"/>
                    </a:cxn>
                    <a:cxn ang="0">
                      <a:pos x="190" y="9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90" h="184">
                      <a:moveTo>
                        <a:pt x="0" y="0"/>
                      </a:moveTo>
                      <a:lnTo>
                        <a:pt x="0" y="184"/>
                      </a:lnTo>
                      <a:lnTo>
                        <a:pt x="190" y="9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CEC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609" name="Freeform 73">
                  <a:extLst>
                    <a:ext uri="{FF2B5EF4-FFF2-40B4-BE49-F238E27FC236}">
                      <a16:creationId xmlns:a16="http://schemas.microsoft.com/office/drawing/2014/main" id="{7550A05E-2547-B74C-B12A-3B8952822A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3" y="1506"/>
                  <a:ext cx="49" cy="48"/>
                </a:xfrm>
                <a:custGeom>
                  <a:avLst/>
                  <a:gdLst/>
                  <a:ahLst/>
                  <a:cxnLst>
                    <a:cxn ang="0">
                      <a:pos x="49" y="26"/>
                    </a:cxn>
                    <a:cxn ang="0">
                      <a:pos x="42" y="41"/>
                    </a:cxn>
                    <a:cxn ang="0">
                      <a:pos x="23" y="48"/>
                    </a:cxn>
                    <a:cxn ang="0">
                      <a:pos x="23" y="48"/>
                    </a:cxn>
                    <a:cxn ang="0">
                      <a:pos x="8" y="41"/>
                    </a:cxn>
                    <a:cxn ang="0">
                      <a:pos x="0" y="26"/>
                    </a:cxn>
                    <a:cxn ang="0">
                      <a:pos x="0" y="26"/>
                    </a:cxn>
                    <a:cxn ang="0">
                      <a:pos x="8" y="8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42" y="8"/>
                    </a:cxn>
                    <a:cxn ang="0">
                      <a:pos x="49" y="26"/>
                    </a:cxn>
                  </a:cxnLst>
                  <a:rect l="0" t="0" r="r" b="b"/>
                  <a:pathLst>
                    <a:path w="49" h="48">
                      <a:moveTo>
                        <a:pt x="49" y="26"/>
                      </a:moveTo>
                      <a:lnTo>
                        <a:pt x="42" y="41"/>
                      </a:lnTo>
                      <a:lnTo>
                        <a:pt x="23" y="48"/>
                      </a:lnTo>
                      <a:lnTo>
                        <a:pt x="23" y="48"/>
                      </a:lnTo>
                      <a:lnTo>
                        <a:pt x="8" y="41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8" y="8"/>
                      </a:lnTo>
                      <a:lnTo>
                        <a:pt x="23" y="0"/>
                      </a:lnTo>
                      <a:lnTo>
                        <a:pt x="23" y="0"/>
                      </a:lnTo>
                      <a:lnTo>
                        <a:pt x="42" y="8"/>
                      </a:lnTo>
                      <a:lnTo>
                        <a:pt x="49" y="2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  <p:sp>
              <p:nvSpPr>
                <p:cNvPr id="321610" name="Freeform 74">
                  <a:extLst>
                    <a:ext uri="{FF2B5EF4-FFF2-40B4-BE49-F238E27FC236}">
                      <a16:creationId xmlns:a16="http://schemas.microsoft.com/office/drawing/2014/main" id="{E6BB975F-F6E2-A446-8BC5-FD6A6DEA8E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53" y="1506"/>
                  <a:ext cx="49" cy="48"/>
                </a:xfrm>
                <a:custGeom>
                  <a:avLst/>
                  <a:gdLst/>
                  <a:ahLst/>
                  <a:cxnLst>
                    <a:cxn ang="0">
                      <a:pos x="49" y="26"/>
                    </a:cxn>
                    <a:cxn ang="0">
                      <a:pos x="42" y="41"/>
                    </a:cxn>
                    <a:cxn ang="0">
                      <a:pos x="23" y="48"/>
                    </a:cxn>
                    <a:cxn ang="0">
                      <a:pos x="23" y="48"/>
                    </a:cxn>
                    <a:cxn ang="0">
                      <a:pos x="8" y="41"/>
                    </a:cxn>
                    <a:cxn ang="0">
                      <a:pos x="0" y="26"/>
                    </a:cxn>
                    <a:cxn ang="0">
                      <a:pos x="0" y="26"/>
                    </a:cxn>
                    <a:cxn ang="0">
                      <a:pos x="8" y="8"/>
                    </a:cxn>
                    <a:cxn ang="0">
                      <a:pos x="23" y="0"/>
                    </a:cxn>
                    <a:cxn ang="0">
                      <a:pos x="23" y="0"/>
                    </a:cxn>
                    <a:cxn ang="0">
                      <a:pos x="42" y="8"/>
                    </a:cxn>
                    <a:cxn ang="0">
                      <a:pos x="49" y="26"/>
                    </a:cxn>
                  </a:cxnLst>
                  <a:rect l="0" t="0" r="r" b="b"/>
                  <a:pathLst>
                    <a:path w="49" h="48">
                      <a:moveTo>
                        <a:pt x="49" y="26"/>
                      </a:moveTo>
                      <a:lnTo>
                        <a:pt x="42" y="41"/>
                      </a:lnTo>
                      <a:lnTo>
                        <a:pt x="23" y="48"/>
                      </a:lnTo>
                      <a:lnTo>
                        <a:pt x="23" y="48"/>
                      </a:lnTo>
                      <a:lnTo>
                        <a:pt x="8" y="41"/>
                      </a:lnTo>
                      <a:lnTo>
                        <a:pt x="0" y="26"/>
                      </a:lnTo>
                      <a:lnTo>
                        <a:pt x="0" y="26"/>
                      </a:lnTo>
                      <a:lnTo>
                        <a:pt x="8" y="8"/>
                      </a:lnTo>
                      <a:lnTo>
                        <a:pt x="23" y="0"/>
                      </a:lnTo>
                      <a:lnTo>
                        <a:pt x="23" y="0"/>
                      </a:lnTo>
                      <a:lnTo>
                        <a:pt x="42" y="8"/>
                      </a:lnTo>
                      <a:lnTo>
                        <a:pt x="49" y="26"/>
                      </a:lnTo>
                    </a:path>
                  </a:pathLst>
                </a:custGeom>
                <a:solidFill>
                  <a:srgbClr val="CCECFF"/>
                </a:solidFill>
                <a:ln w="12700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pPr>
                    <a:defRPr/>
                  </a:pPr>
                  <a:endParaRPr lang="en-US" sz="2403"/>
                </a:p>
              </p:txBody>
            </p:sp>
          </p:grpSp>
          <p:sp>
            <p:nvSpPr>
              <p:cNvPr id="321611" name="Line 75">
                <a:extLst>
                  <a:ext uri="{FF2B5EF4-FFF2-40B4-BE49-F238E27FC236}">
                    <a16:creationId xmlns:a16="http://schemas.microsoft.com/office/drawing/2014/main" id="{7F596BF6-6586-CD44-BA3E-AD5828DF5B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8" y="1823"/>
                <a:ext cx="143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1612" name="Freeform 76">
                <a:extLst>
                  <a:ext uri="{FF2B5EF4-FFF2-40B4-BE49-F238E27FC236}">
                    <a16:creationId xmlns:a16="http://schemas.microsoft.com/office/drawing/2014/main" id="{EE00F033-A6A1-E94E-9FDD-EE2C262B86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3" y="1270"/>
                <a:ext cx="487" cy="55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6"/>
                  </a:cxn>
                  <a:cxn ang="0">
                    <a:pos x="1152" y="336"/>
                  </a:cxn>
                  <a:cxn ang="0">
                    <a:pos x="1152" y="432"/>
                  </a:cxn>
                </a:cxnLst>
                <a:rect l="0" t="0" r="r" b="b"/>
                <a:pathLst>
                  <a:path w="1152" h="432">
                    <a:moveTo>
                      <a:pt x="0" y="0"/>
                    </a:moveTo>
                    <a:lnTo>
                      <a:pt x="0" y="96"/>
                    </a:lnTo>
                    <a:lnTo>
                      <a:pt x="1152" y="336"/>
                    </a:lnTo>
                    <a:lnTo>
                      <a:pt x="1152" y="432"/>
                    </a:ln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1613" name="Freeform 77">
                <a:extLst>
                  <a:ext uri="{FF2B5EF4-FFF2-40B4-BE49-F238E27FC236}">
                    <a16:creationId xmlns:a16="http://schemas.microsoft.com/office/drawing/2014/main" id="{C27EC9D1-00A2-E048-852C-59CE944E2EB4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4012" y="1248"/>
                <a:ext cx="500" cy="60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96"/>
                  </a:cxn>
                  <a:cxn ang="0">
                    <a:pos x="1152" y="336"/>
                  </a:cxn>
                  <a:cxn ang="0">
                    <a:pos x="1152" y="432"/>
                  </a:cxn>
                </a:cxnLst>
                <a:rect l="0" t="0" r="r" b="b"/>
                <a:pathLst>
                  <a:path w="1152" h="432">
                    <a:moveTo>
                      <a:pt x="0" y="0"/>
                    </a:moveTo>
                    <a:lnTo>
                      <a:pt x="0" y="96"/>
                    </a:lnTo>
                    <a:lnTo>
                      <a:pt x="1152" y="336"/>
                    </a:lnTo>
                    <a:lnTo>
                      <a:pt x="1152" y="432"/>
                    </a:lnTo>
                  </a:path>
                </a:pathLst>
              </a:custGeom>
              <a:noFill/>
              <a:ln w="19050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21614" name="Text Box 78">
                <a:extLst>
                  <a:ext uri="{FF2B5EF4-FFF2-40B4-BE49-F238E27FC236}">
                    <a16:creationId xmlns:a16="http://schemas.microsoft.com/office/drawing/2014/main" id="{B11A6927-E08E-1348-9B10-2BA271951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4" y="1152"/>
                <a:ext cx="347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square" lIns="45784" rIns="45784">
                <a:spAutoFit/>
              </a:bodyPr>
              <a:lstStyle/>
              <a:p>
                <a:pPr>
                  <a:defRPr/>
                </a:pPr>
                <a:r>
                  <a:rPr lang="en-US" sz="2403" dirty="0"/>
                  <a:t>Q+</a:t>
                </a:r>
              </a:p>
            </p:txBody>
          </p:sp>
          <p:sp>
            <p:nvSpPr>
              <p:cNvPr id="321615" name="Text Box 79">
                <a:extLst>
                  <a:ext uri="{FF2B5EF4-FFF2-40B4-BE49-F238E27FC236}">
                    <a16:creationId xmlns:a16="http://schemas.microsoft.com/office/drawing/2014/main" id="{3942ACFD-0F69-534F-8F21-E40BC9C1E3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4" y="1682"/>
                <a:ext cx="338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square" lIns="45784" rIns="45784">
                <a:spAutoFit/>
              </a:bodyPr>
              <a:lstStyle/>
              <a:p>
                <a:pPr>
                  <a:defRPr/>
                </a:pPr>
                <a:r>
                  <a:rPr lang="en-US" sz="2403" dirty="0"/>
                  <a:t>Q–</a:t>
                </a:r>
              </a:p>
            </p:txBody>
          </p:sp>
          <p:sp>
            <p:nvSpPr>
              <p:cNvPr id="321616" name="Text Box 80">
                <a:extLst>
                  <a:ext uri="{FF2B5EF4-FFF2-40B4-BE49-F238E27FC236}">
                    <a16:creationId xmlns:a16="http://schemas.microsoft.com/office/drawing/2014/main" id="{616A43B4-015D-1844-AD7E-76A438A33D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6" y="1056"/>
                <a:ext cx="240" cy="21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84" rIns="45784">
                <a:spAutoFit/>
              </a:bodyPr>
              <a:lstStyle/>
              <a:p>
                <a:pPr>
                  <a:defRPr/>
                </a:pPr>
                <a:r>
                  <a:rPr lang="en-US" sz="1602">
                    <a:solidFill>
                      <a:srgbClr val="FF0002"/>
                    </a:solidFill>
                    <a:latin typeface="Courier New" pitchFamily="49" charset="0"/>
                  </a:rPr>
                  <a:t>q</a:t>
                </a:r>
              </a:p>
            </p:txBody>
          </p:sp>
          <p:sp>
            <p:nvSpPr>
              <p:cNvPr id="321617" name="Text Box 81">
                <a:extLst>
                  <a:ext uri="{FF2B5EF4-FFF2-40B4-BE49-F238E27FC236}">
                    <a16:creationId xmlns:a16="http://schemas.microsoft.com/office/drawing/2014/main" id="{EFE1FD32-2316-0142-898B-91CEA7DC4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6" y="1634"/>
                <a:ext cx="240" cy="21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84" rIns="45784">
                <a:spAutoFit/>
              </a:bodyPr>
              <a:lstStyle/>
              <a:p>
                <a:pPr>
                  <a:defRPr/>
                </a:pPr>
                <a:r>
                  <a:rPr lang="en-US" sz="1602">
                    <a:solidFill>
                      <a:srgbClr val="FF0002"/>
                    </a:solidFill>
                    <a:latin typeface="Courier New" pitchFamily="49" charset="0"/>
                  </a:rPr>
                  <a:t>!q</a:t>
                </a:r>
              </a:p>
            </p:txBody>
          </p:sp>
          <p:sp>
            <p:nvSpPr>
              <p:cNvPr id="321619" name="Text Box 83">
                <a:extLst>
                  <a:ext uri="{FF2B5EF4-FFF2-40B4-BE49-F238E27FC236}">
                    <a16:creationId xmlns:a16="http://schemas.microsoft.com/office/drawing/2014/main" id="{626CC0D4-E3A1-D440-B60E-2833229430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968"/>
                <a:ext cx="1010" cy="21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lIns="45784" rIns="45784">
                <a:spAutoFit/>
              </a:bodyPr>
              <a:lstStyle/>
              <a:p>
                <a:pPr>
                  <a:defRPr/>
                </a:pPr>
                <a:r>
                  <a:rPr lang="en-US" sz="1602">
                    <a:solidFill>
                      <a:srgbClr val="FF0002"/>
                    </a:solidFill>
                    <a:latin typeface="Courier New" pitchFamily="49" charset="0"/>
                  </a:rPr>
                  <a:t>q </a:t>
                </a:r>
                <a:r>
                  <a:rPr lang="en-US" sz="1602"/>
                  <a:t>= 0 or 1</a:t>
                </a: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318" name="Rectangle 142">
            <a:extLst>
              <a:ext uri="{FF2B5EF4-FFF2-40B4-BE49-F238E27FC236}">
                <a16:creationId xmlns:a16="http://schemas.microsoft.com/office/drawing/2014/main" id="{5A0E67CE-CE65-7144-A1B0-5CD753E33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1357313"/>
            <a:ext cx="3282950" cy="2130425"/>
          </a:xfrm>
          <a:prstGeom prst="rect">
            <a:avLst/>
          </a:prstGeom>
          <a:solidFill>
            <a:srgbClr val="FFCCFF"/>
          </a:solidFill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 anchor="ctr">
            <a:spAutoFit/>
          </a:bodyPr>
          <a:lstStyle/>
          <a:p>
            <a:pPr>
              <a:defRPr/>
            </a:pPr>
            <a:endParaRPr lang="en-US" sz="2403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D2089ADE-614C-D749-A522-B4EB3BE0F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1008063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1-Bit Latch</a:t>
            </a:r>
          </a:p>
        </p:txBody>
      </p:sp>
      <p:sp>
        <p:nvSpPr>
          <p:cNvPr id="306210" name="Text Box 34">
            <a:extLst>
              <a:ext uri="{FF2B5EF4-FFF2-40B4-BE49-F238E27FC236}">
                <a16:creationId xmlns:a16="http://schemas.microsoft.com/office/drawing/2014/main" id="{3D445D82-F691-AC47-A154-E915537F5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7275" y="993775"/>
            <a:ext cx="1163638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D Latch</a:t>
            </a:r>
          </a:p>
        </p:txBody>
      </p:sp>
      <p:grpSp>
        <p:nvGrpSpPr>
          <p:cNvPr id="21508" name="Group 119">
            <a:extLst>
              <a:ext uri="{FF2B5EF4-FFF2-40B4-BE49-F238E27FC236}">
                <a16:creationId xmlns:a16="http://schemas.microsoft.com/office/drawing/2014/main" id="{E0CD4012-D4BF-3F4A-B4C4-DFAC5233C96C}"/>
              </a:ext>
            </a:extLst>
          </p:cNvPr>
          <p:cNvGrpSpPr>
            <a:grpSpLocks/>
          </p:cNvGrpSpPr>
          <p:nvPr/>
        </p:nvGrpSpPr>
        <p:grpSpPr bwMode="auto">
          <a:xfrm>
            <a:off x="839788" y="1298575"/>
            <a:ext cx="5402521" cy="2089054"/>
            <a:chOff x="528" y="816"/>
            <a:chExt cx="3399" cy="1314"/>
          </a:xfrm>
        </p:grpSpPr>
        <p:sp>
          <p:nvSpPr>
            <p:cNvPr id="306273" name="Line 97">
              <a:extLst>
                <a:ext uri="{FF2B5EF4-FFF2-40B4-BE49-F238E27FC236}">
                  <a16:creationId xmlns:a16="http://schemas.microsoft.com/office/drawing/2014/main" id="{00455DAA-714E-104E-BFF4-E9A30F861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728"/>
              <a:ext cx="57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81" name="Line 5">
              <a:extLst>
                <a:ext uri="{FF2B5EF4-FFF2-40B4-BE49-F238E27FC236}">
                  <a16:creationId xmlns:a16="http://schemas.microsoft.com/office/drawing/2014/main" id="{ADA2C1B6-F272-B64F-B756-BB7900E925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1333"/>
              <a:ext cx="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82" name="Line 6">
              <a:extLst>
                <a:ext uri="{FF2B5EF4-FFF2-40B4-BE49-F238E27FC236}">
                  <a16:creationId xmlns:a16="http://schemas.microsoft.com/office/drawing/2014/main" id="{526C5BE4-9918-A94F-898A-F1F893192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18" y="1167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83" name="Freeform 7">
              <a:extLst>
                <a:ext uri="{FF2B5EF4-FFF2-40B4-BE49-F238E27FC236}">
                  <a16:creationId xmlns:a16="http://schemas.microsoft.com/office/drawing/2014/main" id="{F394326A-1CB1-6040-92CC-67E7A1422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093"/>
              <a:ext cx="410" cy="2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84" name="Line 8">
              <a:extLst>
                <a:ext uri="{FF2B5EF4-FFF2-40B4-BE49-F238E27FC236}">
                  <a16:creationId xmlns:a16="http://schemas.microsoft.com/office/drawing/2014/main" id="{8211932A-DAAD-C040-BD7A-D061C0B7A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3" y="1233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1540" name="Group 9">
              <a:extLst>
                <a:ext uri="{FF2B5EF4-FFF2-40B4-BE49-F238E27FC236}">
                  <a16:creationId xmlns:a16="http://schemas.microsoft.com/office/drawing/2014/main" id="{319AB4FB-39E3-A342-B378-FA28F826C2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3" y="1141"/>
              <a:ext cx="243" cy="184"/>
              <a:chOff x="2159" y="1440"/>
              <a:chExt cx="243" cy="184"/>
            </a:xfrm>
          </p:grpSpPr>
          <p:sp>
            <p:nvSpPr>
              <p:cNvPr id="306186" name="Freeform 10">
                <a:extLst>
                  <a:ext uri="{FF2B5EF4-FFF2-40B4-BE49-F238E27FC236}">
                    <a16:creationId xmlns:a16="http://schemas.microsoft.com/office/drawing/2014/main" id="{38FB2EBD-301B-5144-9801-F163EAD9F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0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187" name="Freeform 11">
                <a:extLst>
                  <a:ext uri="{FF2B5EF4-FFF2-40B4-BE49-F238E27FC236}">
                    <a16:creationId xmlns:a16="http://schemas.microsoft.com/office/drawing/2014/main" id="{1D0B7177-3165-5D46-BE6A-ADEAD7114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0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188" name="Freeform 12">
                <a:extLst>
                  <a:ext uri="{FF2B5EF4-FFF2-40B4-BE49-F238E27FC236}">
                    <a16:creationId xmlns:a16="http://schemas.microsoft.com/office/drawing/2014/main" id="{0B9830B5-2A78-5A4C-A36A-7C50739EE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4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189" name="Freeform 13">
                <a:extLst>
                  <a:ext uri="{FF2B5EF4-FFF2-40B4-BE49-F238E27FC236}">
                    <a16:creationId xmlns:a16="http://schemas.microsoft.com/office/drawing/2014/main" id="{EF08B083-D863-4B40-82D2-27078CD1E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4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6190" name="Line 14">
              <a:extLst>
                <a:ext uri="{FF2B5EF4-FFF2-40B4-BE49-F238E27FC236}">
                  <a16:creationId xmlns:a16="http://schemas.microsoft.com/office/drawing/2014/main" id="{815757E2-F3DB-9E41-86F8-192858F37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0" y="1237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91" name="Freeform 15">
              <a:extLst>
                <a:ext uri="{FF2B5EF4-FFF2-40B4-BE49-F238E27FC236}">
                  <a16:creationId xmlns:a16="http://schemas.microsoft.com/office/drawing/2014/main" id="{2892A09E-9253-5D49-9E31-B5A00FC89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1104"/>
              <a:ext cx="410" cy="2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CCEC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93" name="Line 17">
              <a:extLst>
                <a:ext uri="{FF2B5EF4-FFF2-40B4-BE49-F238E27FC236}">
                  <a16:creationId xmlns:a16="http://schemas.microsoft.com/office/drawing/2014/main" id="{5975E712-C3DD-7044-BAFA-C34EA909C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6" y="1669"/>
              <a:ext cx="28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94" name="Line 18">
              <a:extLst>
                <a:ext uri="{FF2B5EF4-FFF2-40B4-BE49-F238E27FC236}">
                  <a16:creationId xmlns:a16="http://schemas.microsoft.com/office/drawing/2014/main" id="{B3A06BBA-27EB-E847-91A7-727F7A54D7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839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95" name="Freeform 19">
              <a:extLst>
                <a:ext uri="{FF2B5EF4-FFF2-40B4-BE49-F238E27FC236}">
                  <a16:creationId xmlns:a16="http://schemas.microsoft.com/office/drawing/2014/main" id="{52529B0C-2C60-564F-B2D7-CEBD657AFD3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04" y="1632"/>
              <a:ext cx="410" cy="2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196" name="Line 20">
              <a:extLst>
                <a:ext uri="{FF2B5EF4-FFF2-40B4-BE49-F238E27FC236}">
                  <a16:creationId xmlns:a16="http://schemas.microsoft.com/office/drawing/2014/main" id="{67942680-AA04-BE44-A3D6-BE6D52F6EB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3" y="1765"/>
              <a:ext cx="435" cy="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1547" name="Group 21">
              <a:extLst>
                <a:ext uri="{FF2B5EF4-FFF2-40B4-BE49-F238E27FC236}">
                  <a16:creationId xmlns:a16="http://schemas.microsoft.com/office/drawing/2014/main" id="{949D3192-9932-D54C-89D1-A2C26194B062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2833" y="1677"/>
              <a:ext cx="243" cy="184"/>
              <a:chOff x="2159" y="1440"/>
              <a:chExt cx="243" cy="184"/>
            </a:xfrm>
          </p:grpSpPr>
          <p:sp>
            <p:nvSpPr>
              <p:cNvPr id="306198" name="Freeform 22">
                <a:extLst>
                  <a:ext uri="{FF2B5EF4-FFF2-40B4-BE49-F238E27FC236}">
                    <a16:creationId xmlns:a16="http://schemas.microsoft.com/office/drawing/2014/main" id="{3C1469AC-876F-F74D-B813-1F4378809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0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199" name="Freeform 23">
                <a:extLst>
                  <a:ext uri="{FF2B5EF4-FFF2-40B4-BE49-F238E27FC236}">
                    <a16:creationId xmlns:a16="http://schemas.microsoft.com/office/drawing/2014/main" id="{EB9B0F87-230B-4A44-BE1F-11AA1A998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40"/>
                <a:ext cx="190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4"/>
                  </a:cxn>
                  <a:cxn ang="0">
                    <a:pos x="190" y="92"/>
                  </a:cxn>
                  <a:cxn ang="0">
                    <a:pos x="0" y="0"/>
                  </a:cxn>
                </a:cxnLst>
                <a:rect l="0" t="0" r="r" b="b"/>
                <a:pathLst>
                  <a:path w="190" h="184">
                    <a:moveTo>
                      <a:pt x="0" y="0"/>
                    </a:moveTo>
                    <a:lnTo>
                      <a:pt x="0" y="184"/>
                    </a:lnTo>
                    <a:lnTo>
                      <a:pt x="190" y="9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200" name="Freeform 24">
                <a:extLst>
                  <a:ext uri="{FF2B5EF4-FFF2-40B4-BE49-F238E27FC236}">
                    <a16:creationId xmlns:a16="http://schemas.microsoft.com/office/drawing/2014/main" id="{878D6179-84FA-C94E-972A-C1FA52D2A8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4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201" name="Freeform 25">
                <a:extLst>
                  <a:ext uri="{FF2B5EF4-FFF2-40B4-BE49-F238E27FC236}">
                    <a16:creationId xmlns:a16="http://schemas.microsoft.com/office/drawing/2014/main" id="{B104406C-E5F8-0E43-96A4-67841A259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3" y="1504"/>
                <a:ext cx="49" cy="50"/>
              </a:xfrm>
              <a:custGeom>
                <a:avLst/>
                <a:gdLst/>
                <a:ahLst/>
                <a:cxnLst>
                  <a:cxn ang="0">
                    <a:pos x="49" y="26"/>
                  </a:cxn>
                  <a:cxn ang="0">
                    <a:pos x="42" y="41"/>
                  </a:cxn>
                  <a:cxn ang="0">
                    <a:pos x="23" y="48"/>
                  </a:cxn>
                  <a:cxn ang="0">
                    <a:pos x="23" y="48"/>
                  </a:cxn>
                  <a:cxn ang="0">
                    <a:pos x="8" y="41"/>
                  </a:cxn>
                  <a:cxn ang="0">
                    <a:pos x="0" y="26"/>
                  </a:cxn>
                  <a:cxn ang="0">
                    <a:pos x="0" y="26"/>
                  </a:cxn>
                  <a:cxn ang="0">
                    <a:pos x="8" y="8"/>
                  </a:cxn>
                  <a:cxn ang="0">
                    <a:pos x="23" y="0"/>
                  </a:cxn>
                  <a:cxn ang="0">
                    <a:pos x="23" y="0"/>
                  </a:cxn>
                  <a:cxn ang="0">
                    <a:pos x="42" y="8"/>
                  </a:cxn>
                  <a:cxn ang="0">
                    <a:pos x="49" y="26"/>
                  </a:cxn>
                </a:cxnLst>
                <a:rect l="0" t="0" r="r" b="b"/>
                <a:pathLst>
                  <a:path w="49" h="48">
                    <a:moveTo>
                      <a:pt x="49" y="26"/>
                    </a:moveTo>
                    <a:lnTo>
                      <a:pt x="42" y="41"/>
                    </a:lnTo>
                    <a:lnTo>
                      <a:pt x="23" y="48"/>
                    </a:lnTo>
                    <a:lnTo>
                      <a:pt x="23" y="48"/>
                    </a:lnTo>
                    <a:lnTo>
                      <a:pt x="8" y="41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8" y="8"/>
                    </a:lnTo>
                    <a:lnTo>
                      <a:pt x="23" y="0"/>
                    </a:lnTo>
                    <a:lnTo>
                      <a:pt x="23" y="0"/>
                    </a:lnTo>
                    <a:lnTo>
                      <a:pt x="42" y="8"/>
                    </a:lnTo>
                    <a:lnTo>
                      <a:pt x="49" y="26"/>
                    </a:lnTo>
                  </a:path>
                </a:pathLst>
              </a:custGeom>
              <a:solidFill>
                <a:srgbClr val="CCECFF"/>
              </a:solidFill>
              <a:ln w="1270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6202" name="Line 26">
              <a:extLst>
                <a:ext uri="{FF2B5EF4-FFF2-40B4-BE49-F238E27FC236}">
                  <a16:creationId xmlns:a16="http://schemas.microsoft.com/office/drawing/2014/main" id="{1CA22E12-13A9-C945-A820-221FD896E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0" y="1764"/>
              <a:ext cx="14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03" name="Freeform 27">
              <a:extLst>
                <a:ext uri="{FF2B5EF4-FFF2-40B4-BE49-F238E27FC236}">
                  <a16:creationId xmlns:a16="http://schemas.microsoft.com/office/drawing/2014/main" id="{7F137AAC-E403-0E41-97C4-4D3403946C5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04" y="1621"/>
              <a:ext cx="410" cy="2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0" y="0"/>
                </a:cxn>
                <a:cxn ang="0">
                  <a:pos x="190" y="0"/>
                </a:cxn>
                <a:cxn ang="0">
                  <a:pos x="227" y="3"/>
                </a:cxn>
                <a:cxn ang="0">
                  <a:pos x="262" y="11"/>
                </a:cxn>
                <a:cxn ang="0">
                  <a:pos x="292" y="22"/>
                </a:cxn>
                <a:cxn ang="0">
                  <a:pos x="322" y="40"/>
                </a:cxn>
                <a:cxn ang="0">
                  <a:pos x="372" y="81"/>
                </a:cxn>
                <a:cxn ang="0">
                  <a:pos x="410" y="140"/>
                </a:cxn>
                <a:cxn ang="0">
                  <a:pos x="410" y="140"/>
                </a:cxn>
                <a:cxn ang="0">
                  <a:pos x="372" y="195"/>
                </a:cxn>
                <a:cxn ang="0">
                  <a:pos x="322" y="240"/>
                </a:cxn>
                <a:cxn ang="0">
                  <a:pos x="292" y="254"/>
                </a:cxn>
                <a:cxn ang="0">
                  <a:pos x="262" y="266"/>
                </a:cxn>
                <a:cxn ang="0">
                  <a:pos x="227" y="273"/>
                </a:cxn>
                <a:cxn ang="0">
                  <a:pos x="190" y="277"/>
                </a:cxn>
                <a:cxn ang="0">
                  <a:pos x="19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22" y="247"/>
                </a:cxn>
                <a:cxn ang="0">
                  <a:pos x="38" y="214"/>
                </a:cxn>
                <a:cxn ang="0">
                  <a:pos x="45" y="177"/>
                </a:cxn>
                <a:cxn ang="0">
                  <a:pos x="49" y="140"/>
                </a:cxn>
                <a:cxn ang="0">
                  <a:pos x="49" y="140"/>
                </a:cxn>
                <a:cxn ang="0">
                  <a:pos x="45" y="99"/>
                </a:cxn>
                <a:cxn ang="0">
                  <a:pos x="38" y="66"/>
                </a:cxn>
                <a:cxn ang="0">
                  <a:pos x="22" y="33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10" h="277">
                  <a:moveTo>
                    <a:pt x="0" y="0"/>
                  </a:moveTo>
                  <a:lnTo>
                    <a:pt x="190" y="0"/>
                  </a:lnTo>
                  <a:lnTo>
                    <a:pt x="190" y="0"/>
                  </a:lnTo>
                  <a:lnTo>
                    <a:pt x="227" y="3"/>
                  </a:lnTo>
                  <a:lnTo>
                    <a:pt x="262" y="11"/>
                  </a:lnTo>
                  <a:lnTo>
                    <a:pt x="292" y="22"/>
                  </a:lnTo>
                  <a:lnTo>
                    <a:pt x="322" y="40"/>
                  </a:lnTo>
                  <a:lnTo>
                    <a:pt x="372" y="81"/>
                  </a:lnTo>
                  <a:lnTo>
                    <a:pt x="410" y="140"/>
                  </a:lnTo>
                  <a:lnTo>
                    <a:pt x="410" y="140"/>
                  </a:lnTo>
                  <a:lnTo>
                    <a:pt x="372" y="195"/>
                  </a:lnTo>
                  <a:lnTo>
                    <a:pt x="322" y="240"/>
                  </a:lnTo>
                  <a:lnTo>
                    <a:pt x="292" y="254"/>
                  </a:lnTo>
                  <a:lnTo>
                    <a:pt x="262" y="266"/>
                  </a:lnTo>
                  <a:lnTo>
                    <a:pt x="227" y="273"/>
                  </a:lnTo>
                  <a:lnTo>
                    <a:pt x="190" y="277"/>
                  </a:lnTo>
                  <a:lnTo>
                    <a:pt x="19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22" y="247"/>
                  </a:lnTo>
                  <a:lnTo>
                    <a:pt x="38" y="214"/>
                  </a:lnTo>
                  <a:lnTo>
                    <a:pt x="45" y="177"/>
                  </a:lnTo>
                  <a:lnTo>
                    <a:pt x="49" y="140"/>
                  </a:lnTo>
                  <a:lnTo>
                    <a:pt x="49" y="140"/>
                  </a:lnTo>
                  <a:lnTo>
                    <a:pt x="45" y="99"/>
                  </a:lnTo>
                  <a:lnTo>
                    <a:pt x="38" y="66"/>
                  </a:lnTo>
                  <a:lnTo>
                    <a:pt x="22" y="3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solidFill>
              <a:srgbClr val="CCEC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04" name="Freeform 28">
              <a:extLst>
                <a:ext uri="{FF2B5EF4-FFF2-40B4-BE49-F238E27FC236}">
                  <a16:creationId xmlns:a16="http://schemas.microsoft.com/office/drawing/2014/main" id="{6FC8275D-DC4D-1845-991D-98BA7E25C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1337"/>
              <a:ext cx="1054" cy="4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05" name="Freeform 29">
              <a:extLst>
                <a:ext uri="{FF2B5EF4-FFF2-40B4-BE49-F238E27FC236}">
                  <a16:creationId xmlns:a16="http://schemas.microsoft.com/office/drawing/2014/main" id="{76F507E3-3240-104B-B132-131DD3778C2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066" y="1245"/>
              <a:ext cx="1078" cy="47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1152" y="336"/>
                </a:cxn>
                <a:cxn ang="0">
                  <a:pos x="1152" y="432"/>
                </a:cxn>
              </a:cxnLst>
              <a:rect l="0" t="0" r="r" b="b"/>
              <a:pathLst>
                <a:path w="1152" h="432">
                  <a:moveTo>
                    <a:pt x="0" y="0"/>
                  </a:moveTo>
                  <a:lnTo>
                    <a:pt x="0" y="96"/>
                  </a:lnTo>
                  <a:lnTo>
                    <a:pt x="1152" y="336"/>
                  </a:lnTo>
                  <a:lnTo>
                    <a:pt x="1152" y="432"/>
                  </a:ln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06" name="Text Box 30">
              <a:extLst>
                <a:ext uri="{FF2B5EF4-FFF2-40B4-BE49-F238E27FC236}">
                  <a16:creationId xmlns:a16="http://schemas.microsoft.com/office/drawing/2014/main" id="{9D586502-857E-544B-B4B8-B71CFFAE7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119"/>
              <a:ext cx="421" cy="28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squar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Q+</a:t>
              </a:r>
            </a:p>
          </p:txBody>
        </p:sp>
        <p:sp>
          <p:nvSpPr>
            <p:cNvPr id="306207" name="Text Box 31">
              <a:extLst>
                <a:ext uri="{FF2B5EF4-FFF2-40B4-BE49-F238E27FC236}">
                  <a16:creationId xmlns:a16="http://schemas.microsoft.com/office/drawing/2014/main" id="{D198D5AC-C6A7-9643-81F0-646B934CA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1647"/>
              <a:ext cx="421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square" lIns="45784" rIns="45784">
              <a:spAutoFit/>
            </a:bodyPr>
            <a:lstStyle/>
            <a:p>
              <a:pPr>
                <a:defRPr/>
              </a:pPr>
              <a:r>
                <a:rPr lang="en-US" sz="2403" dirty="0"/>
                <a:t>Q–</a:t>
              </a:r>
            </a:p>
          </p:txBody>
        </p:sp>
        <p:sp>
          <p:nvSpPr>
            <p:cNvPr id="306208" name="Text Box 32">
              <a:extLst>
                <a:ext uri="{FF2B5EF4-FFF2-40B4-BE49-F238E27FC236}">
                  <a16:creationId xmlns:a16="http://schemas.microsoft.com/office/drawing/2014/main" id="{259379DF-75DC-2A40-AD34-C42B94AA4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927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defRPr/>
              </a:pPr>
              <a:r>
                <a:rPr lang="en-US" sz="2403"/>
                <a:t>R</a:t>
              </a:r>
            </a:p>
          </p:txBody>
        </p:sp>
        <p:sp>
          <p:nvSpPr>
            <p:cNvPr id="306209" name="Text Box 33">
              <a:extLst>
                <a:ext uri="{FF2B5EF4-FFF2-40B4-BE49-F238E27FC236}">
                  <a16:creationId xmlns:a16="http://schemas.microsoft.com/office/drawing/2014/main" id="{818C83BE-8432-454C-A65E-50396E094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1839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defRPr/>
              </a:pPr>
              <a:r>
                <a:rPr lang="en-US" sz="2403"/>
                <a:t>S</a:t>
              </a:r>
            </a:p>
          </p:txBody>
        </p:sp>
        <p:sp>
          <p:nvSpPr>
            <p:cNvPr id="306268" name="Line 92">
              <a:extLst>
                <a:ext uri="{FF2B5EF4-FFF2-40B4-BE49-F238E27FC236}">
                  <a16:creationId xmlns:a16="http://schemas.microsoft.com/office/drawing/2014/main" id="{EED83253-C196-BC48-B43C-BC1C57DF6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056"/>
              <a:ext cx="9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69" name="Line 93">
              <a:extLst>
                <a:ext uri="{FF2B5EF4-FFF2-40B4-BE49-F238E27FC236}">
                  <a16:creationId xmlns:a16="http://schemas.microsoft.com/office/drawing/2014/main" id="{462033CB-E08D-0D48-AA3C-5AA22CF62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48"/>
              <a:ext cx="9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1" name="Freeform 95">
              <a:extLst>
                <a:ext uri="{FF2B5EF4-FFF2-40B4-BE49-F238E27FC236}">
                  <a16:creationId xmlns:a16="http://schemas.microsoft.com/office/drawing/2014/main" id="{3B182425-6098-3941-8359-150BE250F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023"/>
              <a:ext cx="384" cy="279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CCEC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2" name="Freeform 96">
              <a:extLst>
                <a:ext uri="{FF2B5EF4-FFF2-40B4-BE49-F238E27FC236}">
                  <a16:creationId xmlns:a16="http://schemas.microsoft.com/office/drawing/2014/main" id="{F43F68CE-FDA1-F049-B72E-FB7C78EAA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023"/>
              <a:ext cx="384" cy="279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4" name="Line 98">
              <a:extLst>
                <a:ext uri="{FF2B5EF4-FFF2-40B4-BE49-F238E27FC236}">
                  <a16:creationId xmlns:a16="http://schemas.microsoft.com/office/drawing/2014/main" id="{1EF1C8BD-EC3B-8A4D-A99A-3CD508A93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920"/>
              <a:ext cx="9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5" name="Freeform 99">
              <a:extLst>
                <a:ext uri="{FF2B5EF4-FFF2-40B4-BE49-F238E27FC236}">
                  <a16:creationId xmlns:a16="http://schemas.microsoft.com/office/drawing/2014/main" id="{9108B66A-42D8-3B4E-B432-0C39D0276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1706"/>
              <a:ext cx="384" cy="279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  <a:close/>
                </a:path>
              </a:pathLst>
            </a:custGeom>
            <a:solidFill>
              <a:srgbClr val="CCEC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6" name="Freeform 100">
              <a:extLst>
                <a:ext uri="{FF2B5EF4-FFF2-40B4-BE49-F238E27FC236}">
                  <a16:creationId xmlns:a16="http://schemas.microsoft.com/office/drawing/2014/main" id="{5C203DE6-4BB0-FE43-A8EE-C795368FD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695"/>
              <a:ext cx="384" cy="279"/>
            </a:xfrm>
            <a:custGeom>
              <a:avLst/>
              <a:gdLst/>
              <a:ahLst/>
              <a:cxnLst>
                <a:cxn ang="0">
                  <a:pos x="382" y="140"/>
                </a:cxn>
                <a:cxn ang="0">
                  <a:pos x="378" y="166"/>
                </a:cxn>
                <a:cxn ang="0">
                  <a:pos x="370" y="192"/>
                </a:cxn>
                <a:cxn ang="0">
                  <a:pos x="359" y="214"/>
                </a:cxn>
                <a:cxn ang="0">
                  <a:pos x="340" y="236"/>
                </a:cxn>
                <a:cxn ang="0">
                  <a:pos x="317" y="254"/>
                </a:cxn>
                <a:cxn ang="0">
                  <a:pos x="294" y="266"/>
                </a:cxn>
                <a:cxn ang="0">
                  <a:pos x="267" y="273"/>
                </a:cxn>
                <a:cxn ang="0">
                  <a:pos x="237" y="277"/>
                </a:cxn>
                <a:cxn ang="0">
                  <a:pos x="237" y="277"/>
                </a:cxn>
                <a:cxn ang="0">
                  <a:pos x="0" y="277"/>
                </a:cxn>
                <a:cxn ang="0">
                  <a:pos x="0" y="277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0"/>
                </a:cxn>
                <a:cxn ang="0">
                  <a:pos x="267" y="3"/>
                </a:cxn>
                <a:cxn ang="0">
                  <a:pos x="294" y="11"/>
                </a:cxn>
                <a:cxn ang="0">
                  <a:pos x="317" y="22"/>
                </a:cxn>
                <a:cxn ang="0">
                  <a:pos x="340" y="40"/>
                </a:cxn>
                <a:cxn ang="0">
                  <a:pos x="359" y="62"/>
                </a:cxn>
                <a:cxn ang="0">
                  <a:pos x="370" y="85"/>
                </a:cxn>
                <a:cxn ang="0">
                  <a:pos x="378" y="110"/>
                </a:cxn>
                <a:cxn ang="0">
                  <a:pos x="382" y="140"/>
                </a:cxn>
              </a:cxnLst>
              <a:rect l="0" t="0" r="r" b="b"/>
              <a:pathLst>
                <a:path w="382" h="277">
                  <a:moveTo>
                    <a:pt x="382" y="140"/>
                  </a:moveTo>
                  <a:lnTo>
                    <a:pt x="378" y="166"/>
                  </a:lnTo>
                  <a:lnTo>
                    <a:pt x="370" y="192"/>
                  </a:lnTo>
                  <a:lnTo>
                    <a:pt x="359" y="214"/>
                  </a:lnTo>
                  <a:lnTo>
                    <a:pt x="340" y="236"/>
                  </a:lnTo>
                  <a:lnTo>
                    <a:pt x="317" y="254"/>
                  </a:lnTo>
                  <a:lnTo>
                    <a:pt x="294" y="266"/>
                  </a:lnTo>
                  <a:lnTo>
                    <a:pt x="267" y="273"/>
                  </a:lnTo>
                  <a:lnTo>
                    <a:pt x="237" y="277"/>
                  </a:lnTo>
                  <a:lnTo>
                    <a:pt x="237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37" y="0"/>
                  </a:lnTo>
                  <a:lnTo>
                    <a:pt x="237" y="0"/>
                  </a:lnTo>
                  <a:lnTo>
                    <a:pt x="267" y="3"/>
                  </a:lnTo>
                  <a:lnTo>
                    <a:pt x="294" y="11"/>
                  </a:lnTo>
                  <a:lnTo>
                    <a:pt x="317" y="22"/>
                  </a:lnTo>
                  <a:lnTo>
                    <a:pt x="340" y="40"/>
                  </a:lnTo>
                  <a:lnTo>
                    <a:pt x="359" y="62"/>
                  </a:lnTo>
                  <a:lnTo>
                    <a:pt x="370" y="85"/>
                  </a:lnTo>
                  <a:lnTo>
                    <a:pt x="378" y="110"/>
                  </a:lnTo>
                  <a:lnTo>
                    <a:pt x="382" y="14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7" name="Line 101">
              <a:extLst>
                <a:ext uri="{FF2B5EF4-FFF2-40B4-BE49-F238E27FC236}">
                  <a16:creationId xmlns:a16="http://schemas.microsoft.com/office/drawing/2014/main" id="{A4115FB6-5B28-F647-B423-FE22C9FBB39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200" y="1584"/>
              <a:ext cx="6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78" name="Line 102">
              <a:extLst>
                <a:ext uri="{FF2B5EF4-FFF2-40B4-BE49-F238E27FC236}">
                  <a16:creationId xmlns:a16="http://schemas.microsoft.com/office/drawing/2014/main" id="{DB625B78-CF44-0A4C-8533-A15599CD7B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720" y="1392"/>
              <a:ext cx="6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62" name="Freeform 86">
              <a:extLst>
                <a:ext uri="{FF2B5EF4-FFF2-40B4-BE49-F238E27FC236}">
                  <a16:creationId xmlns:a16="http://schemas.microsoft.com/office/drawing/2014/main" id="{F0330D9C-32FD-B840-98C2-A4AE7389B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960"/>
              <a:ext cx="190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4"/>
                </a:cxn>
                <a:cxn ang="0">
                  <a:pos x="190" y="92"/>
                </a:cxn>
                <a:cxn ang="0">
                  <a:pos x="0" y="0"/>
                </a:cxn>
              </a:cxnLst>
              <a:rect l="0" t="0" r="r" b="b"/>
              <a:pathLst>
                <a:path w="190" h="184">
                  <a:moveTo>
                    <a:pt x="0" y="0"/>
                  </a:moveTo>
                  <a:lnTo>
                    <a:pt x="0" y="184"/>
                  </a:lnTo>
                  <a:lnTo>
                    <a:pt x="190" y="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63" name="Freeform 87">
              <a:extLst>
                <a:ext uri="{FF2B5EF4-FFF2-40B4-BE49-F238E27FC236}">
                  <a16:creationId xmlns:a16="http://schemas.microsoft.com/office/drawing/2014/main" id="{6C734F43-8B88-464D-9656-E59E3D796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960"/>
              <a:ext cx="190" cy="1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84"/>
                </a:cxn>
                <a:cxn ang="0">
                  <a:pos x="190" y="92"/>
                </a:cxn>
                <a:cxn ang="0">
                  <a:pos x="0" y="0"/>
                </a:cxn>
              </a:cxnLst>
              <a:rect l="0" t="0" r="r" b="b"/>
              <a:pathLst>
                <a:path w="190" h="184">
                  <a:moveTo>
                    <a:pt x="0" y="0"/>
                  </a:moveTo>
                  <a:lnTo>
                    <a:pt x="0" y="184"/>
                  </a:lnTo>
                  <a:lnTo>
                    <a:pt x="190" y="92"/>
                  </a:lnTo>
                  <a:lnTo>
                    <a:pt x="0" y="0"/>
                  </a:lnTo>
                </a:path>
              </a:pathLst>
            </a:custGeom>
            <a:solidFill>
              <a:srgbClr val="CCEC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64" name="Freeform 88">
              <a:extLst>
                <a:ext uri="{FF2B5EF4-FFF2-40B4-BE49-F238E27FC236}">
                  <a16:creationId xmlns:a16="http://schemas.microsoft.com/office/drawing/2014/main" id="{48AF35FB-9F92-AB44-A89D-C56BBD1D6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1026"/>
              <a:ext cx="49" cy="48"/>
            </a:xfrm>
            <a:custGeom>
              <a:avLst/>
              <a:gdLst/>
              <a:ahLst/>
              <a:cxnLst>
                <a:cxn ang="0">
                  <a:pos x="49" y="26"/>
                </a:cxn>
                <a:cxn ang="0">
                  <a:pos x="42" y="41"/>
                </a:cxn>
                <a:cxn ang="0">
                  <a:pos x="23" y="48"/>
                </a:cxn>
                <a:cxn ang="0">
                  <a:pos x="23" y="48"/>
                </a:cxn>
                <a:cxn ang="0">
                  <a:pos x="8" y="41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8" y="8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42" y="8"/>
                </a:cxn>
                <a:cxn ang="0">
                  <a:pos x="49" y="26"/>
                </a:cxn>
              </a:cxnLst>
              <a:rect l="0" t="0" r="r" b="b"/>
              <a:pathLst>
                <a:path w="49" h="48">
                  <a:moveTo>
                    <a:pt x="49" y="26"/>
                  </a:moveTo>
                  <a:lnTo>
                    <a:pt x="42" y="41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8" y="41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8" y="8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42" y="8"/>
                  </a:lnTo>
                  <a:lnTo>
                    <a:pt x="49" y="26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06265" name="Freeform 89">
              <a:extLst>
                <a:ext uri="{FF2B5EF4-FFF2-40B4-BE49-F238E27FC236}">
                  <a16:creationId xmlns:a16="http://schemas.microsoft.com/office/drawing/2014/main" id="{8A46E840-E4C7-2B49-8F4A-4D40CE8B3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1026"/>
              <a:ext cx="49" cy="48"/>
            </a:xfrm>
            <a:custGeom>
              <a:avLst/>
              <a:gdLst/>
              <a:ahLst/>
              <a:cxnLst>
                <a:cxn ang="0">
                  <a:pos x="49" y="26"/>
                </a:cxn>
                <a:cxn ang="0">
                  <a:pos x="42" y="41"/>
                </a:cxn>
                <a:cxn ang="0">
                  <a:pos x="23" y="48"/>
                </a:cxn>
                <a:cxn ang="0">
                  <a:pos x="23" y="48"/>
                </a:cxn>
                <a:cxn ang="0">
                  <a:pos x="8" y="41"/>
                </a:cxn>
                <a:cxn ang="0">
                  <a:pos x="0" y="26"/>
                </a:cxn>
                <a:cxn ang="0">
                  <a:pos x="0" y="26"/>
                </a:cxn>
                <a:cxn ang="0">
                  <a:pos x="8" y="8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42" y="8"/>
                </a:cxn>
                <a:cxn ang="0">
                  <a:pos x="49" y="26"/>
                </a:cxn>
              </a:cxnLst>
              <a:rect l="0" t="0" r="r" b="b"/>
              <a:pathLst>
                <a:path w="49" h="48">
                  <a:moveTo>
                    <a:pt x="49" y="26"/>
                  </a:moveTo>
                  <a:lnTo>
                    <a:pt x="42" y="41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8" y="41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8" y="8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42" y="8"/>
                  </a:lnTo>
                  <a:lnTo>
                    <a:pt x="49" y="26"/>
                  </a:lnTo>
                </a:path>
              </a:pathLst>
            </a:custGeom>
            <a:solidFill>
              <a:srgbClr val="CCECFF"/>
            </a:solidFill>
            <a:ln w="1270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2403"/>
            </a:p>
          </p:txBody>
        </p:sp>
        <p:grpSp>
          <p:nvGrpSpPr>
            <p:cNvPr id="21569" name="Group 105">
              <a:extLst>
                <a:ext uri="{FF2B5EF4-FFF2-40B4-BE49-F238E27FC236}">
                  <a16:creationId xmlns:a16="http://schemas.microsoft.com/office/drawing/2014/main" id="{A786E7E8-9386-BD43-A5AB-7A9D580194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6" y="1775"/>
              <a:ext cx="60" cy="291"/>
              <a:chOff x="764" y="2061"/>
              <a:chExt cx="120" cy="582"/>
            </a:xfrm>
          </p:grpSpPr>
          <p:sp>
            <p:nvSpPr>
              <p:cNvPr id="306279" name="Rectangle 103">
                <a:extLst>
                  <a:ext uri="{FF2B5EF4-FFF2-40B4-BE49-F238E27FC236}">
                    <a16:creationId xmlns:a16="http://schemas.microsoft.com/office/drawing/2014/main" id="{559E9C3F-FD0B-5B4E-843D-729B4AE95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58"/>
                <a:ext cx="116" cy="58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280" name="Oval 104">
                <a:extLst>
                  <a:ext uri="{FF2B5EF4-FFF2-40B4-BE49-F238E27FC236}">
                    <a16:creationId xmlns:a16="http://schemas.microsoft.com/office/drawing/2014/main" id="{045ABDE4-E4B2-BD4B-BBD9-9F6FA4445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4" y="2248"/>
                <a:ext cx="118" cy="186"/>
              </a:xfrm>
              <a:prstGeom prst="ellipse">
                <a:avLst/>
              </a:prstGeom>
              <a:solidFill>
                <a:schemeClr val="tx2"/>
              </a:solidFill>
              <a:ln w="19050">
                <a:noFill/>
                <a:round/>
                <a:headEnd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1570" name="Group 106">
              <a:extLst>
                <a:ext uri="{FF2B5EF4-FFF2-40B4-BE49-F238E27FC236}">
                  <a16:creationId xmlns:a16="http://schemas.microsoft.com/office/drawing/2014/main" id="{FF3C1502-AAA0-3D40-BF01-3BA17BA490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10" y="911"/>
              <a:ext cx="60" cy="291"/>
              <a:chOff x="765" y="2061"/>
              <a:chExt cx="119" cy="582"/>
            </a:xfrm>
          </p:grpSpPr>
          <p:sp>
            <p:nvSpPr>
              <p:cNvPr id="306283" name="Rectangle 107">
                <a:extLst>
                  <a:ext uri="{FF2B5EF4-FFF2-40B4-BE49-F238E27FC236}">
                    <a16:creationId xmlns:a16="http://schemas.microsoft.com/office/drawing/2014/main" id="{44A79EBF-398F-DC4B-A39F-69F1E0FA4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2" y="2061"/>
                <a:ext cx="115" cy="58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284" name="Oval 108">
                <a:extLst>
                  <a:ext uri="{FF2B5EF4-FFF2-40B4-BE49-F238E27FC236}">
                    <a16:creationId xmlns:a16="http://schemas.microsoft.com/office/drawing/2014/main" id="{BD5143EC-0B3D-214A-BE23-455191304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94"/>
                <a:ext cx="113" cy="148"/>
              </a:xfrm>
              <a:prstGeom prst="ellipse">
                <a:avLst/>
              </a:prstGeom>
              <a:solidFill>
                <a:schemeClr val="tx2"/>
              </a:solidFill>
              <a:ln w="19050">
                <a:noFill/>
                <a:round/>
                <a:headEnd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1571" name="Group 109">
              <a:extLst>
                <a:ext uri="{FF2B5EF4-FFF2-40B4-BE49-F238E27FC236}">
                  <a16:creationId xmlns:a16="http://schemas.microsoft.com/office/drawing/2014/main" id="{7B6A5785-D4EF-0C4B-BD14-858A5409DF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70" y="1103"/>
              <a:ext cx="82" cy="291"/>
              <a:chOff x="768" y="2061"/>
              <a:chExt cx="163" cy="582"/>
            </a:xfrm>
          </p:grpSpPr>
          <p:sp>
            <p:nvSpPr>
              <p:cNvPr id="306286" name="Rectangle 110">
                <a:extLst>
                  <a:ext uri="{FF2B5EF4-FFF2-40B4-BE49-F238E27FC236}">
                    <a16:creationId xmlns:a16="http://schemas.microsoft.com/office/drawing/2014/main" id="{858D7605-5B67-E043-89DA-CD0A7329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58"/>
                <a:ext cx="115" cy="58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287" name="Oval 111">
                <a:extLst>
                  <a:ext uri="{FF2B5EF4-FFF2-40B4-BE49-F238E27FC236}">
                    <a16:creationId xmlns:a16="http://schemas.microsoft.com/office/drawing/2014/main" id="{F04DB77E-08FA-594F-BB58-68A52B618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" y="2250"/>
                <a:ext cx="73" cy="170"/>
              </a:xfrm>
              <a:prstGeom prst="ellipse">
                <a:avLst/>
              </a:prstGeom>
              <a:solidFill>
                <a:schemeClr val="tx2"/>
              </a:solidFill>
              <a:ln w="19050">
                <a:noFill/>
                <a:round/>
                <a:headEnd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grpSp>
          <p:nvGrpSpPr>
            <p:cNvPr id="21572" name="Group 112">
              <a:extLst>
                <a:ext uri="{FF2B5EF4-FFF2-40B4-BE49-F238E27FC236}">
                  <a16:creationId xmlns:a16="http://schemas.microsoft.com/office/drawing/2014/main" id="{2FF844DA-276C-284B-BB8A-7A8BDBE0AF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631"/>
              <a:ext cx="106" cy="291"/>
              <a:chOff x="768" y="2061"/>
              <a:chExt cx="212" cy="582"/>
            </a:xfrm>
          </p:grpSpPr>
          <p:sp>
            <p:nvSpPr>
              <p:cNvPr id="306289" name="Rectangle 113">
                <a:extLst>
                  <a:ext uri="{FF2B5EF4-FFF2-40B4-BE49-F238E27FC236}">
                    <a16:creationId xmlns:a16="http://schemas.microsoft.com/office/drawing/2014/main" id="{9179B346-4788-A740-B4A3-E8536370F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061"/>
                <a:ext cx="116" cy="585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 type="none" w="sm" len="sm"/>
              </a:ln>
              <a:effectLst/>
            </p:spPr>
            <p:txBody>
              <a:bodyPr wrap="none"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06290" name="Oval 114">
                <a:extLst>
                  <a:ext uri="{FF2B5EF4-FFF2-40B4-BE49-F238E27FC236}">
                    <a16:creationId xmlns:a16="http://schemas.microsoft.com/office/drawing/2014/main" id="{A9CB0483-26D1-354D-A745-61F7F46204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" y="2248"/>
                <a:ext cx="108" cy="170"/>
              </a:xfrm>
              <a:prstGeom prst="ellipse">
                <a:avLst/>
              </a:prstGeom>
              <a:solidFill>
                <a:schemeClr val="tx2"/>
              </a:solidFill>
              <a:ln w="19050">
                <a:noFill/>
                <a:round/>
                <a:headEnd/>
                <a:tailEnd type="none" w="sm" len="sm"/>
              </a:ln>
              <a:effectLst/>
            </p:spPr>
            <p:txBody>
              <a:bodyPr lIns="45784" rIns="45784" anchor="ctr">
                <a:spAutoFit/>
              </a:bodyPr>
              <a:lstStyle/>
              <a:p>
                <a:pPr>
                  <a:defRPr/>
                </a:pPr>
                <a:endParaRPr lang="en-US" sz="2403"/>
              </a:p>
            </p:txBody>
          </p:sp>
        </p:grpSp>
        <p:sp>
          <p:nvSpPr>
            <p:cNvPr id="306291" name="Text Box 115">
              <a:extLst>
                <a:ext uri="{FF2B5EF4-FFF2-40B4-BE49-F238E27FC236}">
                  <a16:creationId xmlns:a16="http://schemas.microsoft.com/office/drawing/2014/main" id="{C5628B94-29B3-714E-90A1-5D3AC2B98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816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defRPr/>
              </a:pPr>
              <a:r>
                <a:rPr lang="en-US" sz="2403"/>
                <a:t>D</a:t>
              </a:r>
            </a:p>
          </p:txBody>
        </p:sp>
        <p:sp>
          <p:nvSpPr>
            <p:cNvPr id="306292" name="Text Box 116">
              <a:extLst>
                <a:ext uri="{FF2B5EF4-FFF2-40B4-BE49-F238E27FC236}">
                  <a16:creationId xmlns:a16="http://schemas.microsoft.com/office/drawing/2014/main" id="{7BCB4D10-4875-974E-939B-3E8CD9D2C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728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defRPr/>
              </a:pPr>
              <a:r>
                <a:rPr lang="en-US" sz="2403"/>
                <a:t>C</a:t>
              </a:r>
            </a:p>
          </p:txBody>
        </p:sp>
      </p:grpSp>
      <p:sp>
        <p:nvSpPr>
          <p:cNvPr id="306293" name="Text Box 117">
            <a:extLst>
              <a:ext uri="{FF2B5EF4-FFF2-40B4-BE49-F238E27FC236}">
                <a16:creationId xmlns:a16="http://schemas.microsoft.com/office/drawing/2014/main" id="{1E10FC2F-C4F0-474C-B5B5-A32DC7CF0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1679575"/>
            <a:ext cx="762000" cy="3095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>
            <a:spAutoFit/>
          </a:bodyPr>
          <a:lstStyle/>
          <a:p>
            <a:pPr>
              <a:defRPr/>
            </a:pPr>
            <a:r>
              <a:rPr lang="en-US" sz="1402">
                <a:solidFill>
                  <a:srgbClr val="0000FF"/>
                </a:solidFill>
              </a:rPr>
              <a:t>Data</a:t>
            </a:r>
          </a:p>
        </p:txBody>
      </p:sp>
      <p:sp>
        <p:nvSpPr>
          <p:cNvPr id="306294" name="Text Box 118">
            <a:extLst>
              <a:ext uri="{FF2B5EF4-FFF2-40B4-BE49-F238E27FC236}">
                <a16:creationId xmlns:a16="http://schemas.microsoft.com/office/drawing/2014/main" id="{02F4EE0C-80C3-A94D-9899-AEB597479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788" y="3054350"/>
            <a:ext cx="762000" cy="307975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lIns="45784" rIns="45784">
            <a:spAutoFit/>
          </a:bodyPr>
          <a:lstStyle/>
          <a:p>
            <a:pPr>
              <a:defRPr/>
            </a:pPr>
            <a:r>
              <a:rPr lang="en-US" sz="1402">
                <a:solidFill>
                  <a:srgbClr val="0000FF"/>
                </a:solidFill>
              </a:rPr>
              <a:t>Clock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4C45B9-7252-3443-9608-C5B44A68C900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4122738"/>
            <a:ext cx="4076700" cy="2093912"/>
            <a:chOff x="381000" y="4114800"/>
            <a:chExt cx="4070054" cy="2091475"/>
          </a:xfrm>
        </p:grpSpPr>
        <p:pic>
          <p:nvPicPr>
            <p:cNvPr id="21524" name="Picture 2">
              <a:extLst>
                <a:ext uri="{FF2B5EF4-FFF2-40B4-BE49-F238E27FC236}">
                  <a16:creationId xmlns:a16="http://schemas.microsoft.com/office/drawing/2014/main" id="{6EC553CE-EA1E-B24C-BA3C-9EE2CBA724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650" y="4794250"/>
              <a:ext cx="3695404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213" name="Text Box 37">
              <a:extLst>
                <a:ext uri="{FF2B5EF4-FFF2-40B4-BE49-F238E27FC236}">
                  <a16:creationId xmlns:a16="http://schemas.microsoft.com/office/drawing/2014/main" id="{DED96459-DD70-1C48-B1D2-BD623147C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114800"/>
              <a:ext cx="1272685" cy="4614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Latching</a:t>
              </a:r>
            </a:p>
          </p:txBody>
        </p:sp>
        <p:sp>
          <p:nvSpPr>
            <p:cNvPr id="306214" name="Text Box 38">
              <a:extLst>
                <a:ext uri="{FF2B5EF4-FFF2-40B4-BE49-F238E27FC236}">
                  <a16:creationId xmlns:a16="http://schemas.microsoft.com/office/drawing/2014/main" id="{30AA8A61-697E-D84B-8244-888B97F86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52" y="5638611"/>
              <a:ext cx="381964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06298" name="Text Box 122">
              <a:extLst>
                <a:ext uri="{FF2B5EF4-FFF2-40B4-BE49-F238E27FC236}">
                  <a16:creationId xmlns:a16="http://schemas.microsoft.com/office/drawing/2014/main" id="{741AA9B6-075E-0249-B898-D94D5B8F61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52" y="4647579"/>
              <a:ext cx="381964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306300" name="Text Box 124">
              <a:extLst>
                <a:ext uri="{FF2B5EF4-FFF2-40B4-BE49-F238E27FC236}">
                  <a16:creationId xmlns:a16="http://schemas.microsoft.com/office/drawing/2014/main" id="{97AA6555-48C1-7C47-B6CF-9D41E4227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798" y="4647579"/>
              <a:ext cx="381963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06301" name="Text Box 125">
              <a:extLst>
                <a:ext uri="{FF2B5EF4-FFF2-40B4-BE49-F238E27FC236}">
                  <a16:creationId xmlns:a16="http://schemas.microsoft.com/office/drawing/2014/main" id="{6D691322-1955-C64A-B221-D3A336199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64" y="4647579"/>
              <a:ext cx="380379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06302" name="Text Box 126">
              <a:extLst>
                <a:ext uri="{FF2B5EF4-FFF2-40B4-BE49-F238E27FC236}">
                  <a16:creationId xmlns:a16="http://schemas.microsoft.com/office/drawing/2014/main" id="{C6D12C6C-D1A4-6147-A9DF-55661C5C7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332" y="4647579"/>
              <a:ext cx="380379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06303" name="Text Box 127">
              <a:extLst>
                <a:ext uri="{FF2B5EF4-FFF2-40B4-BE49-F238E27FC236}">
                  <a16:creationId xmlns:a16="http://schemas.microsoft.com/office/drawing/2014/main" id="{4F1B2BE3-4340-554E-BC37-2F09E2C9E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862" y="4647579"/>
              <a:ext cx="381963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306305" name="Text Box 129">
              <a:extLst>
                <a:ext uri="{FF2B5EF4-FFF2-40B4-BE49-F238E27FC236}">
                  <a16:creationId xmlns:a16="http://schemas.microsoft.com/office/drawing/2014/main" id="{85F97ADC-FB39-9341-8660-141B96D38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64" y="5866945"/>
              <a:ext cx="380379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306306" name="Text Box 130">
              <a:extLst>
                <a:ext uri="{FF2B5EF4-FFF2-40B4-BE49-F238E27FC236}">
                  <a16:creationId xmlns:a16="http://schemas.microsoft.com/office/drawing/2014/main" id="{DB846E98-B2C6-1E47-B417-9A8B090AB7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332" y="5866945"/>
              <a:ext cx="380379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306307" name="Text Box 131">
              <a:extLst>
                <a:ext uri="{FF2B5EF4-FFF2-40B4-BE49-F238E27FC236}">
                  <a16:creationId xmlns:a16="http://schemas.microsoft.com/office/drawing/2014/main" id="{2026348A-6BC4-0847-8BCC-37657EC4ED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862" y="5866945"/>
              <a:ext cx="381963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35DD17F-312B-814A-8FD5-40769DD5899D}"/>
              </a:ext>
            </a:extLst>
          </p:cNvPr>
          <p:cNvGrpSpPr>
            <a:grpSpLocks/>
          </p:cNvGrpSpPr>
          <p:nvPr/>
        </p:nvGrpSpPr>
        <p:grpSpPr bwMode="auto">
          <a:xfrm>
            <a:off x="4806950" y="4122738"/>
            <a:ext cx="3810000" cy="2093912"/>
            <a:chOff x="4800600" y="4114800"/>
            <a:chExt cx="3803650" cy="2091475"/>
          </a:xfrm>
        </p:grpSpPr>
        <p:pic>
          <p:nvPicPr>
            <p:cNvPr id="21513" name="Picture 146">
              <a:extLst>
                <a:ext uri="{FF2B5EF4-FFF2-40B4-BE49-F238E27FC236}">
                  <a16:creationId xmlns:a16="http://schemas.microsoft.com/office/drawing/2014/main" id="{A83D635F-0E53-1D4D-9D21-2429EB8397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2850" y="4870450"/>
              <a:ext cx="3581400" cy="11815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6215" name="Text Box 39">
              <a:extLst>
                <a:ext uri="{FF2B5EF4-FFF2-40B4-BE49-F238E27FC236}">
                  <a16:creationId xmlns:a16="http://schemas.microsoft.com/office/drawing/2014/main" id="{02A511AF-D7AE-0B4F-A92A-F96D1ED0C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5638611"/>
              <a:ext cx="380365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06231" name="Text Box 55">
              <a:extLst>
                <a:ext uri="{FF2B5EF4-FFF2-40B4-BE49-F238E27FC236}">
                  <a16:creationId xmlns:a16="http://schemas.microsoft.com/office/drawing/2014/main" id="{807E76B8-DD31-5544-B335-FCF31EE092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2746" y="4114800"/>
              <a:ext cx="1066607" cy="46142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Storing</a:t>
              </a:r>
            </a:p>
          </p:txBody>
        </p:sp>
        <p:sp>
          <p:nvSpPr>
            <p:cNvPr id="306308" name="Text Box 132">
              <a:extLst>
                <a:ext uri="{FF2B5EF4-FFF2-40B4-BE49-F238E27FC236}">
                  <a16:creationId xmlns:a16="http://schemas.microsoft.com/office/drawing/2014/main" id="{1C442E0A-7A71-5541-8A73-D66548113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600" y="4715762"/>
              <a:ext cx="380365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306309" name="Text Box 133">
              <a:extLst>
                <a:ext uri="{FF2B5EF4-FFF2-40B4-BE49-F238E27FC236}">
                  <a16:creationId xmlns:a16="http://schemas.microsoft.com/office/drawing/2014/main" id="{542C28A6-A5BA-E249-BA2A-ADB4D227E1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207" y="4715762"/>
              <a:ext cx="381949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06310" name="Text Box 134">
              <a:extLst>
                <a:ext uri="{FF2B5EF4-FFF2-40B4-BE49-F238E27FC236}">
                  <a16:creationId xmlns:a16="http://schemas.microsoft.com/office/drawing/2014/main" id="{3516C2EC-728B-2A44-9FFE-E581267D4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129" y="4801387"/>
              <a:ext cx="380365" cy="3377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</a:t>
              </a:r>
            </a:p>
          </p:txBody>
        </p:sp>
        <p:sp>
          <p:nvSpPr>
            <p:cNvPr id="306311" name="Text Box 135">
              <a:extLst>
                <a:ext uri="{FF2B5EF4-FFF2-40B4-BE49-F238E27FC236}">
                  <a16:creationId xmlns:a16="http://schemas.microsoft.com/office/drawing/2014/main" id="{51B7C01C-8658-2A4B-8EE9-F1FEEC5AC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6129" y="5714723"/>
              <a:ext cx="380365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!q</a:t>
              </a:r>
            </a:p>
          </p:txBody>
        </p:sp>
        <p:sp>
          <p:nvSpPr>
            <p:cNvPr id="306312" name="Text Box 136">
              <a:extLst>
                <a:ext uri="{FF2B5EF4-FFF2-40B4-BE49-F238E27FC236}">
                  <a16:creationId xmlns:a16="http://schemas.microsoft.com/office/drawing/2014/main" id="{22BCA213-051D-2244-AC84-68E47DC15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033" y="4801387"/>
              <a:ext cx="381950" cy="3377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!q</a:t>
              </a:r>
            </a:p>
          </p:txBody>
        </p:sp>
        <p:sp>
          <p:nvSpPr>
            <p:cNvPr id="306313" name="Text Box 137">
              <a:extLst>
                <a:ext uri="{FF2B5EF4-FFF2-40B4-BE49-F238E27FC236}">
                  <a16:creationId xmlns:a16="http://schemas.microsoft.com/office/drawing/2014/main" id="{03D22B4B-46F1-954E-A646-8A3EF71CE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2033" y="5782906"/>
              <a:ext cx="381950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q</a:t>
              </a:r>
            </a:p>
          </p:txBody>
        </p:sp>
        <p:sp>
          <p:nvSpPr>
            <p:cNvPr id="306314" name="Text Box 138">
              <a:extLst>
                <a:ext uri="{FF2B5EF4-FFF2-40B4-BE49-F238E27FC236}">
                  <a16:creationId xmlns:a16="http://schemas.microsoft.com/office/drawing/2014/main" id="{BB85C41C-99ED-AF48-A0BD-3A5924658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376" y="5866945"/>
              <a:ext cx="380365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306315" name="Text Box 139">
              <a:extLst>
                <a:ext uri="{FF2B5EF4-FFF2-40B4-BE49-F238E27FC236}">
                  <a16:creationId xmlns:a16="http://schemas.microsoft.com/office/drawing/2014/main" id="{DDF1F893-B0A7-4C4F-8920-5A13A97B9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376" y="4723691"/>
              <a:ext cx="380365" cy="33933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0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B7C75F11-33B7-494C-A97D-F080FD4FF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>
            <a:extLst>
              <a:ext uri="{FF2B5EF4-FFF2-40B4-BE49-F238E27FC236}">
                <a16:creationId xmlns:a16="http://schemas.microsoft.com/office/drawing/2014/main" id="{8D70752E-CC6E-6449-878D-A9FA625F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9096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Transparent 1-Bit Latch</a:t>
            </a:r>
          </a:p>
        </p:txBody>
      </p:sp>
      <p:sp>
        <p:nvSpPr>
          <p:cNvPr id="22530" name="Rectangle 113">
            <a:extLst>
              <a:ext uri="{FF2B5EF4-FFF2-40B4-BE49-F238E27FC236}">
                <a16:creationId xmlns:a16="http://schemas.microsoft.com/office/drawing/2014/main" id="{FE43F428-15AA-2648-88E0-0FF12E7A7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513" y="4046538"/>
            <a:ext cx="8307387" cy="2397125"/>
          </a:xfrm>
        </p:spPr>
        <p:txBody>
          <a:bodyPr/>
          <a:lstStyle/>
          <a:p>
            <a:pPr lvl="1"/>
            <a:r>
              <a:rPr lang="en-US" altLang="en-US">
                <a:ea typeface="ＭＳ Ｐゴシック" panose="020B0600070205080204" pitchFamily="34" charset="-128"/>
              </a:rPr>
              <a:t>When in latching mode, combinational propogation from D to Q+ and Q–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Value latched depends on value of D as C falls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278E7A8-82B1-7343-97DF-EB7C6B7B0DAA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1216025"/>
            <a:ext cx="4076700" cy="2093913"/>
            <a:chOff x="381000" y="4114800"/>
            <a:chExt cx="4070054" cy="2091475"/>
          </a:xfrm>
        </p:grpSpPr>
        <p:pic>
          <p:nvPicPr>
            <p:cNvPr id="22533" name="Picture 31">
              <a:extLst>
                <a:ext uri="{FF2B5EF4-FFF2-40B4-BE49-F238E27FC236}">
                  <a16:creationId xmlns:a16="http://schemas.microsoft.com/office/drawing/2014/main" id="{3A69A434-5A41-F54D-8562-9CABAE511D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5650" y="4794250"/>
              <a:ext cx="3695404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Text Box 37">
              <a:extLst>
                <a:ext uri="{FF2B5EF4-FFF2-40B4-BE49-F238E27FC236}">
                  <a16:creationId xmlns:a16="http://schemas.microsoft.com/office/drawing/2014/main" id="{E8ABAFE2-7EE4-1A41-9A3B-E34DDC4C8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114800"/>
              <a:ext cx="1272685" cy="46142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Latching</a:t>
              </a:r>
            </a:p>
          </p:txBody>
        </p:sp>
        <p:sp>
          <p:nvSpPr>
            <p:cNvPr id="34" name="Text Box 38">
              <a:extLst>
                <a:ext uri="{FF2B5EF4-FFF2-40B4-BE49-F238E27FC236}">
                  <a16:creationId xmlns:a16="http://schemas.microsoft.com/office/drawing/2014/main" id="{5092E8AC-2FA3-6E4F-8658-FFB48FBA1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52" y="5638612"/>
              <a:ext cx="381964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1</a:t>
              </a:r>
            </a:p>
          </p:txBody>
        </p:sp>
        <p:sp>
          <p:nvSpPr>
            <p:cNvPr id="35" name="Text Box 122">
              <a:extLst>
                <a:ext uri="{FF2B5EF4-FFF2-40B4-BE49-F238E27FC236}">
                  <a16:creationId xmlns:a16="http://schemas.microsoft.com/office/drawing/2014/main" id="{4E927C2E-712B-644A-AFF0-05AD9A40E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52" y="4647579"/>
              <a:ext cx="381964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36" name="Text Box 124">
              <a:extLst>
                <a:ext uri="{FF2B5EF4-FFF2-40B4-BE49-F238E27FC236}">
                  <a16:creationId xmlns:a16="http://schemas.microsoft.com/office/drawing/2014/main" id="{F009A7FF-8E7A-D643-B20D-F37537ADB9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9798" y="4647579"/>
              <a:ext cx="381963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7" name="Text Box 125">
              <a:extLst>
                <a:ext uri="{FF2B5EF4-FFF2-40B4-BE49-F238E27FC236}">
                  <a16:creationId xmlns:a16="http://schemas.microsoft.com/office/drawing/2014/main" id="{3FA36EC9-CDE0-654A-90AA-4926A5BB4B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64" y="4647579"/>
              <a:ext cx="380379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8" name="Text Box 126">
              <a:extLst>
                <a:ext uri="{FF2B5EF4-FFF2-40B4-BE49-F238E27FC236}">
                  <a16:creationId xmlns:a16="http://schemas.microsoft.com/office/drawing/2014/main" id="{D8CACA05-4B0E-DC4D-A35D-E7E3300B9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332" y="4647579"/>
              <a:ext cx="380379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  <p:sp>
          <p:nvSpPr>
            <p:cNvPr id="39" name="Text Box 127">
              <a:extLst>
                <a:ext uri="{FF2B5EF4-FFF2-40B4-BE49-F238E27FC236}">
                  <a16:creationId xmlns:a16="http://schemas.microsoft.com/office/drawing/2014/main" id="{9DEA4C5D-7426-E049-8A6A-407A77F6E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862" y="4647579"/>
              <a:ext cx="381963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40" name="Text Box 129">
              <a:extLst>
                <a:ext uri="{FF2B5EF4-FFF2-40B4-BE49-F238E27FC236}">
                  <a16:creationId xmlns:a16="http://schemas.microsoft.com/office/drawing/2014/main" id="{1E7AE1DD-F604-1244-8FC4-5BDB9A5D7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64" y="5866946"/>
              <a:ext cx="380379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41" name="Text Box 130">
              <a:extLst>
                <a:ext uri="{FF2B5EF4-FFF2-40B4-BE49-F238E27FC236}">
                  <a16:creationId xmlns:a16="http://schemas.microsoft.com/office/drawing/2014/main" id="{6BA33134-640A-AD4D-9BCE-D3DCEEDFD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2332" y="5866946"/>
              <a:ext cx="380379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d</a:t>
              </a:r>
            </a:p>
          </p:txBody>
        </p:sp>
        <p:sp>
          <p:nvSpPr>
            <p:cNvPr id="42" name="Text Box 131">
              <a:extLst>
                <a:ext uri="{FF2B5EF4-FFF2-40B4-BE49-F238E27FC236}">
                  <a16:creationId xmlns:a16="http://schemas.microsoft.com/office/drawing/2014/main" id="{B0ED1B3A-6F48-064F-B843-851504AB8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862" y="5866946"/>
              <a:ext cx="381963" cy="33932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defRPr/>
              </a:pPr>
              <a:r>
                <a:rPr lang="en-US" sz="1602">
                  <a:solidFill>
                    <a:srgbClr val="FF0002"/>
                  </a:solidFill>
                  <a:latin typeface="Courier New" pitchFamily="49" charset="0"/>
                </a:rPr>
                <a:t>!d</a:t>
              </a:r>
            </a:p>
          </p:txBody>
        </p:sp>
      </p:grpSp>
      <p:pic>
        <p:nvPicPr>
          <p:cNvPr id="22532" name="Picture 7" descr="dlatch2">
            <a:extLst>
              <a:ext uri="{FF2B5EF4-FFF2-40B4-BE49-F238E27FC236}">
                <a16:creationId xmlns:a16="http://schemas.microsoft.com/office/drawing/2014/main" id="{E47B59F9-142F-A945-B456-C5D13B3C1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550" y="1768475"/>
            <a:ext cx="440848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>
            <a:extLst>
              <a:ext uri="{FF2B5EF4-FFF2-40B4-BE49-F238E27FC236}">
                <a16:creationId xmlns:a16="http://schemas.microsoft.com/office/drawing/2014/main" id="{10AFBDAC-A568-AA46-BCEA-8871B2C7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968375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Edge-Triggered Latch</a:t>
            </a:r>
          </a:p>
        </p:txBody>
      </p:sp>
      <p:sp>
        <p:nvSpPr>
          <p:cNvPr id="23554" name="Rectangle 140">
            <a:extLst>
              <a:ext uri="{FF2B5EF4-FFF2-40B4-BE49-F238E27FC236}">
                <a16:creationId xmlns:a16="http://schemas.microsoft.com/office/drawing/2014/main" id="{70CD7F11-28A1-5049-AD99-93C4CE2C5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4550" y="4046538"/>
            <a:ext cx="3943350" cy="2397125"/>
          </a:xfrm>
        </p:spPr>
        <p:txBody>
          <a:bodyPr/>
          <a:lstStyle/>
          <a:p>
            <a:pPr lvl="1"/>
            <a:r>
              <a:rPr lang="en-US" altLang="en-US">
                <a:ea typeface="ＭＳ Ｐゴシック" panose="020B0600070205080204" pitchFamily="34" charset="-128"/>
              </a:rPr>
              <a:t>Only in latching mode for brief period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Rising clock edge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Value latched depends on data as clock rises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Output remains stable at all other times</a:t>
            </a:r>
          </a:p>
        </p:txBody>
      </p:sp>
      <p:pic>
        <p:nvPicPr>
          <p:cNvPr id="23555" name="Picture 1">
            <a:extLst>
              <a:ext uri="{FF2B5EF4-FFF2-40B4-BE49-F238E27FC236}">
                <a16:creationId xmlns:a16="http://schemas.microsoft.com/office/drawing/2014/main" id="{6342BDDD-89EF-644F-B74B-E41E0A3C5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8900" y="1346200"/>
            <a:ext cx="65913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2">
            <a:extLst>
              <a:ext uri="{FF2B5EF4-FFF2-40B4-BE49-F238E27FC236}">
                <a16:creationId xmlns:a16="http://schemas.microsoft.com/office/drawing/2014/main" id="{A3FBDDF8-855B-2B4A-92EB-341764614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4203700"/>
            <a:ext cx="3479800" cy="208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7288E1F7-15CA-5340-908C-94DC83FA4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107950"/>
            <a:ext cx="8042275" cy="873125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Registers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AFCEFFAF-507B-D54F-A163-5B8B19F86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188" y="4960938"/>
            <a:ext cx="8305800" cy="1100137"/>
          </a:xfrm>
        </p:spPr>
        <p:txBody>
          <a:bodyPr/>
          <a:lstStyle/>
          <a:p>
            <a:pPr lvl="1"/>
            <a:r>
              <a:rPr lang="en-US" altLang="en-US">
                <a:ea typeface="ＭＳ Ｐゴシック" panose="020B0600070205080204" pitchFamily="34" charset="-128"/>
              </a:rPr>
              <a:t>Stores word of data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Different from </a:t>
            </a:r>
            <a:r>
              <a:rPr lang="en-US" altLang="en-US" i="1">
                <a:ea typeface="ＭＳ Ｐゴシック" panose="020B0600070205080204" pitchFamily="34" charset="-128"/>
              </a:rPr>
              <a:t>program registers</a:t>
            </a:r>
            <a:r>
              <a:rPr lang="en-US" altLang="en-US">
                <a:ea typeface="ＭＳ Ｐゴシック" panose="020B0600070205080204" pitchFamily="34" charset="-128"/>
              </a:rPr>
              <a:t> seen in assembly code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Collection of edge-triggered latches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Loads input on rising edge of clock</a:t>
            </a:r>
          </a:p>
        </p:txBody>
      </p:sp>
      <p:grpSp>
        <p:nvGrpSpPr>
          <p:cNvPr id="24579" name="Group 118">
            <a:extLst>
              <a:ext uri="{FF2B5EF4-FFF2-40B4-BE49-F238E27FC236}">
                <a16:creationId xmlns:a16="http://schemas.microsoft.com/office/drawing/2014/main" id="{9C926CDB-C677-7A4D-847A-1DFCBF5FE6E4}"/>
              </a:ext>
            </a:extLst>
          </p:cNvPr>
          <p:cNvGrpSpPr>
            <a:grpSpLocks/>
          </p:cNvGrpSpPr>
          <p:nvPr/>
        </p:nvGrpSpPr>
        <p:grpSpPr bwMode="auto">
          <a:xfrm>
            <a:off x="5570538" y="2062163"/>
            <a:ext cx="2060575" cy="1971675"/>
            <a:chOff x="3504" y="1296"/>
            <a:chExt cx="1296" cy="1240"/>
          </a:xfrm>
        </p:grpSpPr>
        <p:sp>
          <p:nvSpPr>
            <p:cNvPr id="311363" name="Rectangle 67">
              <a:extLst>
                <a:ext uri="{FF2B5EF4-FFF2-40B4-BE49-F238E27FC236}">
                  <a16:creationId xmlns:a16="http://schemas.microsoft.com/office/drawing/2014/main" id="{7DDF1B0D-36B0-DF49-B661-EB0367FBB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296"/>
              <a:ext cx="144" cy="816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en-US" sz="2003" b="0"/>
            </a:p>
          </p:txBody>
        </p:sp>
        <p:sp>
          <p:nvSpPr>
            <p:cNvPr id="311364" name="AutoShape 68">
              <a:extLst>
                <a:ext uri="{FF2B5EF4-FFF2-40B4-BE49-F238E27FC236}">
                  <a16:creationId xmlns:a16="http://schemas.microsoft.com/office/drawing/2014/main" id="{94D4A9EC-5D98-2F4C-90F0-6992AFC18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632"/>
              <a:ext cx="290" cy="144"/>
            </a:xfrm>
            <a:prstGeom prst="rightArrow">
              <a:avLst>
                <a:gd name="adj1" fmla="val 16667"/>
                <a:gd name="adj2" fmla="val 66667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65" name="AutoShape 69">
              <a:extLst>
                <a:ext uri="{FF2B5EF4-FFF2-40B4-BE49-F238E27FC236}">
                  <a16:creationId xmlns:a16="http://schemas.microsoft.com/office/drawing/2014/main" id="{80644B25-C345-034F-B08B-53591C30B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632"/>
              <a:ext cx="290" cy="144"/>
            </a:xfrm>
            <a:prstGeom prst="rightArrow">
              <a:avLst>
                <a:gd name="adj1" fmla="val 16667"/>
                <a:gd name="adj2" fmla="val 66667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407" name="Text Box 111">
              <a:extLst>
                <a:ext uri="{FF2B5EF4-FFF2-40B4-BE49-F238E27FC236}">
                  <a16:creationId xmlns:a16="http://schemas.microsoft.com/office/drawing/2014/main" id="{4B67D704-25C1-C44A-BDD2-9E657FC46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84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endParaRPr lang="en-US" sz="2403" baseline="-25000"/>
            </a:p>
          </p:txBody>
        </p:sp>
        <p:sp>
          <p:nvSpPr>
            <p:cNvPr id="311408" name="Text Box 112">
              <a:extLst>
                <a:ext uri="{FF2B5EF4-FFF2-40B4-BE49-F238E27FC236}">
                  <a16:creationId xmlns:a16="http://schemas.microsoft.com/office/drawing/2014/main" id="{027E9328-276B-6543-B2A8-D5A33A0CE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584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endParaRPr lang="en-US" sz="2403" baseline="-25000"/>
            </a:p>
          </p:txBody>
        </p:sp>
        <p:sp>
          <p:nvSpPr>
            <p:cNvPr id="311409" name="Line 113">
              <a:extLst>
                <a:ext uri="{FF2B5EF4-FFF2-40B4-BE49-F238E27FC236}">
                  <a16:creationId xmlns:a16="http://schemas.microsoft.com/office/drawing/2014/main" id="{3B23D1C1-9372-BB40-BD1D-85C21AAE9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112"/>
              <a:ext cx="0" cy="14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410" name="Text Box 114">
              <a:extLst>
                <a:ext uri="{FF2B5EF4-FFF2-40B4-BE49-F238E27FC236}">
                  <a16:creationId xmlns:a16="http://schemas.microsoft.com/office/drawing/2014/main" id="{B0D7A143-579A-F547-A367-81DAF7A60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" y="2245"/>
              <a:ext cx="541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Clock</a:t>
              </a:r>
            </a:p>
          </p:txBody>
        </p:sp>
      </p:grpSp>
      <p:grpSp>
        <p:nvGrpSpPr>
          <p:cNvPr id="24580" name="Group 116">
            <a:extLst>
              <a:ext uri="{FF2B5EF4-FFF2-40B4-BE49-F238E27FC236}">
                <a16:creationId xmlns:a16="http://schemas.microsoft.com/office/drawing/2014/main" id="{C6B9219E-891F-364D-B4C4-C71051996F5C}"/>
              </a:ext>
            </a:extLst>
          </p:cNvPr>
          <p:cNvGrpSpPr>
            <a:grpSpLocks/>
          </p:cNvGrpSpPr>
          <p:nvPr/>
        </p:nvGrpSpPr>
        <p:grpSpPr bwMode="auto">
          <a:xfrm>
            <a:off x="2136775" y="1222375"/>
            <a:ext cx="3052763" cy="3819525"/>
            <a:chOff x="720" y="768"/>
            <a:chExt cx="1920" cy="2403"/>
          </a:xfrm>
        </p:grpSpPr>
        <p:sp>
          <p:nvSpPr>
            <p:cNvPr id="311300" name="Rectangle 4">
              <a:extLst>
                <a:ext uri="{FF2B5EF4-FFF2-40B4-BE49-F238E27FC236}">
                  <a16:creationId xmlns:a16="http://schemas.microsoft.com/office/drawing/2014/main" id="{BC7CC059-7F1A-F54B-83F4-8D799CCBE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790"/>
              <a:ext cx="576" cy="291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>
                <a:latin typeface="Courier New" pitchFamily="49" charset="0"/>
              </a:endParaRPr>
            </a:p>
          </p:txBody>
        </p:sp>
        <p:sp>
          <p:nvSpPr>
            <p:cNvPr id="311301" name="Rectangle 5">
              <a:extLst>
                <a:ext uri="{FF2B5EF4-FFF2-40B4-BE49-F238E27FC236}">
                  <a16:creationId xmlns:a16="http://schemas.microsoft.com/office/drawing/2014/main" id="{59A5DDE6-3A66-4941-BA99-62129FDA8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030"/>
              <a:ext cx="576" cy="293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2" name="Rectangle 6">
              <a:extLst>
                <a:ext uri="{FF2B5EF4-FFF2-40B4-BE49-F238E27FC236}">
                  <a16:creationId xmlns:a16="http://schemas.microsoft.com/office/drawing/2014/main" id="{62E2C287-D756-DD44-8DE5-D2160F475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270"/>
              <a:ext cx="576" cy="291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3" name="Rectangle 7">
              <a:extLst>
                <a:ext uri="{FF2B5EF4-FFF2-40B4-BE49-F238E27FC236}">
                  <a16:creationId xmlns:a16="http://schemas.microsoft.com/office/drawing/2014/main" id="{C580F308-CAF8-F240-A7A5-00FE9CD41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510"/>
              <a:ext cx="576" cy="291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4" name="Rectangle 8">
              <a:extLst>
                <a:ext uri="{FF2B5EF4-FFF2-40B4-BE49-F238E27FC236}">
                  <a16:creationId xmlns:a16="http://schemas.microsoft.com/office/drawing/2014/main" id="{B06146DE-4200-C343-8947-E9153B2BA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750"/>
              <a:ext cx="576" cy="293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5" name="Rectangle 9">
              <a:extLst>
                <a:ext uri="{FF2B5EF4-FFF2-40B4-BE49-F238E27FC236}">
                  <a16:creationId xmlns:a16="http://schemas.microsoft.com/office/drawing/2014/main" id="{38CEE740-E5F8-5647-88B8-623B662E5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990"/>
              <a:ext cx="576" cy="291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6" name="Rectangle 10">
              <a:extLst>
                <a:ext uri="{FF2B5EF4-FFF2-40B4-BE49-F238E27FC236}">
                  <a16:creationId xmlns:a16="http://schemas.microsoft.com/office/drawing/2014/main" id="{D6E83E6F-752A-9A42-BB6A-BAB0AC971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230"/>
              <a:ext cx="576" cy="291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7" name="Rectangle 11">
              <a:extLst>
                <a:ext uri="{FF2B5EF4-FFF2-40B4-BE49-F238E27FC236}">
                  <a16:creationId xmlns:a16="http://schemas.microsoft.com/office/drawing/2014/main" id="{C7D59E89-48C4-5245-A882-9D5D732C7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470"/>
              <a:ext cx="576" cy="291"/>
            </a:xfrm>
            <a:prstGeom prst="rect">
              <a:avLst/>
            </a:prstGeom>
            <a:solidFill>
              <a:srgbClr val="99FFCC"/>
            </a:solidFill>
            <a:ln w="19050">
              <a:solidFill>
                <a:schemeClr val="tx2"/>
              </a:solidFill>
              <a:miter lim="800000"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09" name="Line 13">
              <a:extLst>
                <a:ext uri="{FF2B5EF4-FFF2-40B4-BE49-F238E27FC236}">
                  <a16:creationId xmlns:a16="http://schemas.microsoft.com/office/drawing/2014/main" id="{741CDC69-97B7-694C-B85A-5C8A7608B3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86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0" name="Line 14">
              <a:extLst>
                <a:ext uri="{FF2B5EF4-FFF2-40B4-BE49-F238E27FC236}">
                  <a16:creationId xmlns:a16="http://schemas.microsoft.com/office/drawing/2014/main" id="{E4FC8B8E-591D-D14F-9625-B08BF1D146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10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1" name="Line 15">
              <a:extLst>
                <a:ext uri="{FF2B5EF4-FFF2-40B4-BE49-F238E27FC236}">
                  <a16:creationId xmlns:a16="http://schemas.microsoft.com/office/drawing/2014/main" id="{78BC22E9-4F37-D849-8A84-A9CC5A5FD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34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2" name="Line 16">
              <a:extLst>
                <a:ext uri="{FF2B5EF4-FFF2-40B4-BE49-F238E27FC236}">
                  <a16:creationId xmlns:a16="http://schemas.microsoft.com/office/drawing/2014/main" id="{E654CB2A-0841-5C4D-8DDE-93B623F75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58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3" name="Line 17">
              <a:extLst>
                <a:ext uri="{FF2B5EF4-FFF2-40B4-BE49-F238E27FC236}">
                  <a16:creationId xmlns:a16="http://schemas.microsoft.com/office/drawing/2014/main" id="{1720032E-8836-8F49-8792-65D51D9BE9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82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4" name="Line 18">
              <a:extLst>
                <a:ext uri="{FF2B5EF4-FFF2-40B4-BE49-F238E27FC236}">
                  <a16:creationId xmlns:a16="http://schemas.microsoft.com/office/drawing/2014/main" id="{3A0A8CA7-238F-B94D-B62D-4FBF13E1A1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06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5" name="Line 19">
              <a:extLst>
                <a:ext uri="{FF2B5EF4-FFF2-40B4-BE49-F238E27FC236}">
                  <a16:creationId xmlns:a16="http://schemas.microsoft.com/office/drawing/2014/main" id="{EDC79028-9038-B142-95F5-53864C6E5A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30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6" name="Line 20">
              <a:extLst>
                <a:ext uri="{FF2B5EF4-FFF2-40B4-BE49-F238E27FC236}">
                  <a16:creationId xmlns:a16="http://schemas.microsoft.com/office/drawing/2014/main" id="{C04ABB5F-2123-4747-9B45-47A952791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544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8" name="Line 22">
              <a:extLst>
                <a:ext uri="{FF2B5EF4-FFF2-40B4-BE49-F238E27FC236}">
                  <a16:creationId xmlns:a16="http://schemas.microsoft.com/office/drawing/2014/main" id="{20701BA8-E509-E549-9413-5F7D7BCFBC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91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19" name="Line 23">
              <a:extLst>
                <a:ext uri="{FF2B5EF4-FFF2-40B4-BE49-F238E27FC236}">
                  <a16:creationId xmlns:a16="http://schemas.microsoft.com/office/drawing/2014/main" id="{382CDBF7-5055-274C-9994-3BCD794C2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15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0" name="Line 24">
              <a:extLst>
                <a:ext uri="{FF2B5EF4-FFF2-40B4-BE49-F238E27FC236}">
                  <a16:creationId xmlns:a16="http://schemas.microsoft.com/office/drawing/2014/main" id="{14BF9B88-8BC2-7640-A619-D44CC8402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39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1" name="Line 25">
              <a:extLst>
                <a:ext uri="{FF2B5EF4-FFF2-40B4-BE49-F238E27FC236}">
                  <a16:creationId xmlns:a16="http://schemas.microsoft.com/office/drawing/2014/main" id="{6BE2D14C-9B6A-D44A-AE78-92D636B4F6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63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2" name="Line 26">
              <a:extLst>
                <a:ext uri="{FF2B5EF4-FFF2-40B4-BE49-F238E27FC236}">
                  <a16:creationId xmlns:a16="http://schemas.microsoft.com/office/drawing/2014/main" id="{67385944-1767-BC40-88C1-21E4C36AF7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187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3" name="Line 27">
              <a:extLst>
                <a:ext uri="{FF2B5EF4-FFF2-40B4-BE49-F238E27FC236}">
                  <a16:creationId xmlns:a16="http://schemas.microsoft.com/office/drawing/2014/main" id="{41F1587E-5F7F-7A42-8B7A-DC3A8B1AF5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11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4" name="Line 28">
              <a:extLst>
                <a:ext uri="{FF2B5EF4-FFF2-40B4-BE49-F238E27FC236}">
                  <a16:creationId xmlns:a16="http://schemas.microsoft.com/office/drawing/2014/main" id="{CC8064F3-57B6-E848-91C2-ABFD1E57A6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35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5" name="Line 29">
              <a:extLst>
                <a:ext uri="{FF2B5EF4-FFF2-40B4-BE49-F238E27FC236}">
                  <a16:creationId xmlns:a16="http://schemas.microsoft.com/office/drawing/2014/main" id="{2E325E0C-F121-4241-B36E-BAA28F3D06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68" y="2592"/>
              <a:ext cx="384" cy="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7" name="Line 31">
              <a:extLst>
                <a:ext uri="{FF2B5EF4-FFF2-40B4-BE49-F238E27FC236}">
                  <a16:creationId xmlns:a16="http://schemas.microsoft.com/office/drawing/2014/main" id="{A07EB3DF-746B-3241-855C-BEA2438FAA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100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8" name="Line 32">
              <a:extLst>
                <a:ext uri="{FF2B5EF4-FFF2-40B4-BE49-F238E27FC236}">
                  <a16:creationId xmlns:a16="http://schemas.microsoft.com/office/drawing/2014/main" id="{91C11709-211F-DE46-B92F-4FB482D56D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124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29" name="Line 33">
              <a:extLst>
                <a:ext uri="{FF2B5EF4-FFF2-40B4-BE49-F238E27FC236}">
                  <a16:creationId xmlns:a16="http://schemas.microsoft.com/office/drawing/2014/main" id="{32DD845E-3981-DB41-8912-9565DCC32E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148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0" name="Line 34">
              <a:extLst>
                <a:ext uri="{FF2B5EF4-FFF2-40B4-BE49-F238E27FC236}">
                  <a16:creationId xmlns:a16="http://schemas.microsoft.com/office/drawing/2014/main" id="{689D9830-78B3-D24F-BE9F-0EA4B4C32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172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1" name="Line 35">
              <a:extLst>
                <a:ext uri="{FF2B5EF4-FFF2-40B4-BE49-F238E27FC236}">
                  <a16:creationId xmlns:a16="http://schemas.microsoft.com/office/drawing/2014/main" id="{34FF2B7A-2A9D-2248-B5F9-42635E3CE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196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2" name="Line 36">
              <a:extLst>
                <a:ext uri="{FF2B5EF4-FFF2-40B4-BE49-F238E27FC236}">
                  <a16:creationId xmlns:a16="http://schemas.microsoft.com/office/drawing/2014/main" id="{35BAEBC6-366D-1F4B-A910-8AFD44F29A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20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3" name="Line 37">
              <a:extLst>
                <a:ext uri="{FF2B5EF4-FFF2-40B4-BE49-F238E27FC236}">
                  <a16:creationId xmlns:a16="http://schemas.microsoft.com/office/drawing/2014/main" id="{827C3261-C9F8-A841-9724-C1623E16CE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44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4" name="Line 38">
              <a:extLst>
                <a:ext uri="{FF2B5EF4-FFF2-40B4-BE49-F238E27FC236}">
                  <a16:creationId xmlns:a16="http://schemas.microsoft.com/office/drawing/2014/main" id="{186CE462-1F5A-F44C-820C-ED3ADAAAA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2688"/>
              <a:ext cx="19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7" name="Line 41">
              <a:extLst>
                <a:ext uri="{FF2B5EF4-FFF2-40B4-BE49-F238E27FC236}">
                  <a16:creationId xmlns:a16="http://schemas.microsoft.com/office/drawing/2014/main" id="{56B3D7D4-F01E-CB4B-AEB9-6BF7CD56F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1008"/>
              <a:ext cx="0" cy="187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 type="none" w="sm" len="sm"/>
            </a:ln>
            <a:effectLst/>
          </p:spPr>
          <p:txBody>
            <a:bodyPr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39" name="Rectangle 43">
              <a:extLst>
                <a:ext uri="{FF2B5EF4-FFF2-40B4-BE49-F238E27FC236}">
                  <a16:creationId xmlns:a16="http://schemas.microsoft.com/office/drawing/2014/main" id="{1C713917-BE61-C74B-B6F9-7CB6A1B71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102"/>
              <a:ext cx="5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43" name="Rectangle 47">
              <a:extLst>
                <a:ext uri="{FF2B5EF4-FFF2-40B4-BE49-F238E27FC236}">
                  <a16:creationId xmlns:a16="http://schemas.microsoft.com/office/drawing/2014/main" id="{6E9D6E1A-A0D1-4E40-A0CB-844282153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342"/>
              <a:ext cx="5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46" name="Rectangle 50">
              <a:extLst>
                <a:ext uri="{FF2B5EF4-FFF2-40B4-BE49-F238E27FC236}">
                  <a16:creationId xmlns:a16="http://schemas.microsoft.com/office/drawing/2014/main" id="{D60D0B08-686B-DD4A-B454-B4E685E83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582"/>
              <a:ext cx="5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49" name="Rectangle 53">
              <a:extLst>
                <a:ext uri="{FF2B5EF4-FFF2-40B4-BE49-F238E27FC236}">
                  <a16:creationId xmlns:a16="http://schemas.microsoft.com/office/drawing/2014/main" id="{5582DE19-5B25-FB46-B409-C4C9B0D43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822"/>
              <a:ext cx="5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52" name="Rectangle 56">
              <a:extLst>
                <a:ext uri="{FF2B5EF4-FFF2-40B4-BE49-F238E27FC236}">
                  <a16:creationId xmlns:a16="http://schemas.microsoft.com/office/drawing/2014/main" id="{1CF33ACA-86D4-F249-8438-BB71EB4DD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062"/>
              <a:ext cx="5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55" name="Rectangle 59">
              <a:extLst>
                <a:ext uri="{FF2B5EF4-FFF2-40B4-BE49-F238E27FC236}">
                  <a16:creationId xmlns:a16="http://schemas.microsoft.com/office/drawing/2014/main" id="{4B8351F3-2B10-B849-B4E0-432CF6C70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302"/>
              <a:ext cx="5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311358" name="Rectangle 62">
              <a:extLst>
                <a:ext uri="{FF2B5EF4-FFF2-40B4-BE49-F238E27FC236}">
                  <a16:creationId xmlns:a16="http://schemas.microsoft.com/office/drawing/2014/main" id="{6A827933-F93A-E44E-8407-A857691A7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542"/>
              <a:ext cx="5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 anchor="ctr">
              <a:spAutoFit/>
            </a:bodyPr>
            <a:lstStyle/>
            <a:p>
              <a:pPr>
                <a:defRPr/>
              </a:pPr>
              <a:endParaRPr lang="en-US" sz="2403"/>
            </a:p>
          </p:txBody>
        </p:sp>
        <p:sp>
          <p:nvSpPr>
            <p:cNvPr id="24622" name="Text Box 70">
              <a:extLst>
                <a:ext uri="{FF2B5EF4-FFF2-40B4-BE49-F238E27FC236}">
                  <a16:creationId xmlns:a16="http://schemas.microsoft.com/office/drawing/2014/main" id="{B30DDEEB-6BD8-DF4C-806F-7A80E821A1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81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23" name="Text Box 71">
              <a:extLst>
                <a:ext uri="{FF2B5EF4-FFF2-40B4-BE49-F238E27FC236}">
                  <a16:creationId xmlns:a16="http://schemas.microsoft.com/office/drawing/2014/main" id="{F9B9B1F4-CA8A-EB4D-92BA-C3CBF7009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91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24" name="Text Box 72">
              <a:extLst>
                <a:ext uri="{FF2B5EF4-FFF2-40B4-BE49-F238E27FC236}">
                  <a16:creationId xmlns:a16="http://schemas.microsoft.com/office/drawing/2014/main" id="{302AFC18-CC22-DA43-B4D2-F072BCB77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86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25" name="Text Box 73">
              <a:extLst>
                <a:ext uri="{FF2B5EF4-FFF2-40B4-BE49-F238E27FC236}">
                  <a16:creationId xmlns:a16="http://schemas.microsoft.com/office/drawing/2014/main" id="{807847C7-EC48-9845-A8AF-A369CD750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05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26" name="Text Box 74">
              <a:extLst>
                <a:ext uri="{FF2B5EF4-FFF2-40B4-BE49-F238E27FC236}">
                  <a16:creationId xmlns:a16="http://schemas.microsoft.com/office/drawing/2014/main" id="{6DF770A8-63C8-CB47-A6F4-28001A749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15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27" name="Text Box 75">
              <a:extLst>
                <a:ext uri="{FF2B5EF4-FFF2-40B4-BE49-F238E27FC236}">
                  <a16:creationId xmlns:a16="http://schemas.microsoft.com/office/drawing/2014/main" id="{728CEC7B-6E5B-B640-BCCB-5D6663811B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0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28" name="Text Box 76">
              <a:extLst>
                <a:ext uri="{FF2B5EF4-FFF2-40B4-BE49-F238E27FC236}">
                  <a16:creationId xmlns:a16="http://schemas.microsoft.com/office/drawing/2014/main" id="{118D7357-04C4-5F44-AF64-68EF3798F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29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29" name="Text Box 77">
              <a:extLst>
                <a:ext uri="{FF2B5EF4-FFF2-40B4-BE49-F238E27FC236}">
                  <a16:creationId xmlns:a16="http://schemas.microsoft.com/office/drawing/2014/main" id="{C0A1D696-B61F-C844-A6B8-18E3BFEE7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39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30" name="Text Box 78">
              <a:extLst>
                <a:ext uri="{FF2B5EF4-FFF2-40B4-BE49-F238E27FC236}">
                  <a16:creationId xmlns:a16="http://schemas.microsoft.com/office/drawing/2014/main" id="{5B2EE7B5-FAED-9D4E-8E33-B93F978EEA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34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31" name="Text Box 79">
              <a:extLst>
                <a:ext uri="{FF2B5EF4-FFF2-40B4-BE49-F238E27FC236}">
                  <a16:creationId xmlns:a16="http://schemas.microsoft.com/office/drawing/2014/main" id="{89801E19-12B8-E74A-A83B-A4B960FBA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53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32" name="Text Box 80">
              <a:extLst>
                <a:ext uri="{FF2B5EF4-FFF2-40B4-BE49-F238E27FC236}">
                  <a16:creationId xmlns:a16="http://schemas.microsoft.com/office/drawing/2014/main" id="{9139367F-DE83-214C-8244-484FCC9C0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63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33" name="Text Box 81">
              <a:extLst>
                <a:ext uri="{FF2B5EF4-FFF2-40B4-BE49-F238E27FC236}">
                  <a16:creationId xmlns:a16="http://schemas.microsoft.com/office/drawing/2014/main" id="{CA228484-6BE1-5240-BFBC-C19CD8E3D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34" name="Text Box 82">
              <a:extLst>
                <a:ext uri="{FF2B5EF4-FFF2-40B4-BE49-F238E27FC236}">
                  <a16:creationId xmlns:a16="http://schemas.microsoft.com/office/drawing/2014/main" id="{CAAB9FE3-5FDB-3A44-93A7-7A17D30B7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77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35" name="Text Box 83">
              <a:extLst>
                <a:ext uri="{FF2B5EF4-FFF2-40B4-BE49-F238E27FC236}">
                  <a16:creationId xmlns:a16="http://schemas.microsoft.com/office/drawing/2014/main" id="{9AD19A8C-A0A3-E944-9750-219044CDD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87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36" name="Text Box 84">
              <a:extLst>
                <a:ext uri="{FF2B5EF4-FFF2-40B4-BE49-F238E27FC236}">
                  <a16:creationId xmlns:a16="http://schemas.microsoft.com/office/drawing/2014/main" id="{B8E63949-2BC8-724C-80E0-9DC66FF76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37" name="Text Box 85">
              <a:extLst>
                <a:ext uri="{FF2B5EF4-FFF2-40B4-BE49-F238E27FC236}">
                  <a16:creationId xmlns:a16="http://schemas.microsoft.com/office/drawing/2014/main" id="{A114EAEF-EA64-C943-811C-D15CA04CD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01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38" name="Text Box 86">
              <a:extLst>
                <a:ext uri="{FF2B5EF4-FFF2-40B4-BE49-F238E27FC236}">
                  <a16:creationId xmlns:a16="http://schemas.microsoft.com/office/drawing/2014/main" id="{D12E78AC-5155-7648-ADD9-1C87E386D1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11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39" name="Text Box 87">
              <a:extLst>
                <a:ext uri="{FF2B5EF4-FFF2-40B4-BE49-F238E27FC236}">
                  <a16:creationId xmlns:a16="http://schemas.microsoft.com/office/drawing/2014/main" id="{DF76AE6C-C445-2A44-A568-3321ECD58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6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40" name="Text Box 88">
              <a:extLst>
                <a:ext uri="{FF2B5EF4-FFF2-40B4-BE49-F238E27FC236}">
                  <a16:creationId xmlns:a16="http://schemas.microsoft.com/office/drawing/2014/main" id="{4162EBB3-A134-3042-9A8F-65EBB4123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25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41" name="Text Box 89">
              <a:extLst>
                <a:ext uri="{FF2B5EF4-FFF2-40B4-BE49-F238E27FC236}">
                  <a16:creationId xmlns:a16="http://schemas.microsoft.com/office/drawing/2014/main" id="{9D4D2E0F-DFDA-2147-A335-597422A72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35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42" name="Text Box 90">
              <a:extLst>
                <a:ext uri="{FF2B5EF4-FFF2-40B4-BE49-F238E27FC236}">
                  <a16:creationId xmlns:a16="http://schemas.microsoft.com/office/drawing/2014/main" id="{641BC1DF-7CE6-2942-BCD5-543996D0A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30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24643" name="Text Box 91">
              <a:extLst>
                <a:ext uri="{FF2B5EF4-FFF2-40B4-BE49-F238E27FC236}">
                  <a16:creationId xmlns:a16="http://schemas.microsoft.com/office/drawing/2014/main" id="{3D2C24E6-138E-344E-AF77-724F110716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496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D</a:t>
              </a:r>
            </a:p>
          </p:txBody>
        </p:sp>
        <p:sp>
          <p:nvSpPr>
            <p:cNvPr id="24644" name="Text Box 92">
              <a:extLst>
                <a:ext uri="{FF2B5EF4-FFF2-40B4-BE49-F238E27FC236}">
                  <a16:creationId xmlns:a16="http://schemas.microsoft.com/office/drawing/2014/main" id="{D2817EAF-F45C-9F4A-BF61-C87A86C38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592"/>
              <a:ext cx="14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000"/>
                <a:t>C</a:t>
              </a:r>
            </a:p>
          </p:txBody>
        </p:sp>
        <p:sp>
          <p:nvSpPr>
            <p:cNvPr id="24645" name="Text Box 93">
              <a:extLst>
                <a:ext uri="{FF2B5EF4-FFF2-40B4-BE49-F238E27FC236}">
                  <a16:creationId xmlns:a16="http://schemas.microsoft.com/office/drawing/2014/main" id="{432285CA-6A1F-C541-BB89-00097F994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544"/>
              <a:ext cx="192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 type="none" w="sm" len="sm"/>
                </a14:hiddenLine>
              </a:ext>
            </a:extLst>
          </p:spPr>
          <p:txBody>
            <a:bodyPr lIns="45784" rIns="45784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pitchFamily="2" charset="0"/>
                  <a:ea typeface="ＭＳ Ｐゴシック" panose="020B0600070205080204" pitchFamily="34" charset="-128"/>
                </a:defRPr>
              </a:lvl9pPr>
            </a:lstStyle>
            <a:p>
              <a:pPr algn="r"/>
              <a:r>
                <a:rPr lang="en-US" altLang="en-US" sz="1000"/>
                <a:t>Q+</a:t>
              </a:r>
            </a:p>
          </p:txBody>
        </p:sp>
        <p:sp>
          <p:nvSpPr>
            <p:cNvPr id="311391" name="Text Box 95">
              <a:extLst>
                <a:ext uri="{FF2B5EF4-FFF2-40B4-BE49-F238E27FC236}">
                  <a16:creationId xmlns:a16="http://schemas.microsoft.com/office/drawing/2014/main" id="{24C25768-0043-BC4E-8C2D-1ED071A41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768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7</a:t>
              </a:r>
            </a:p>
          </p:txBody>
        </p:sp>
        <p:sp>
          <p:nvSpPr>
            <p:cNvPr id="311392" name="Text Box 96">
              <a:extLst>
                <a:ext uri="{FF2B5EF4-FFF2-40B4-BE49-F238E27FC236}">
                  <a16:creationId xmlns:a16="http://schemas.microsoft.com/office/drawing/2014/main" id="{83EB3E42-0931-5444-9ABD-EF62A7207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008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6</a:t>
              </a:r>
            </a:p>
          </p:txBody>
        </p:sp>
        <p:sp>
          <p:nvSpPr>
            <p:cNvPr id="311393" name="Text Box 97">
              <a:extLst>
                <a:ext uri="{FF2B5EF4-FFF2-40B4-BE49-F238E27FC236}">
                  <a16:creationId xmlns:a16="http://schemas.microsoft.com/office/drawing/2014/main" id="{9BF84892-F321-2247-931C-D59AE679B9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248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5</a:t>
              </a:r>
            </a:p>
          </p:txBody>
        </p:sp>
        <p:sp>
          <p:nvSpPr>
            <p:cNvPr id="311394" name="Text Box 98">
              <a:extLst>
                <a:ext uri="{FF2B5EF4-FFF2-40B4-BE49-F238E27FC236}">
                  <a16:creationId xmlns:a16="http://schemas.microsoft.com/office/drawing/2014/main" id="{9F762683-87EC-1043-9648-D28273AC81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488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4</a:t>
              </a:r>
            </a:p>
          </p:txBody>
        </p:sp>
        <p:sp>
          <p:nvSpPr>
            <p:cNvPr id="311395" name="Text Box 99">
              <a:extLst>
                <a:ext uri="{FF2B5EF4-FFF2-40B4-BE49-F238E27FC236}">
                  <a16:creationId xmlns:a16="http://schemas.microsoft.com/office/drawing/2014/main" id="{1298FC7E-B64C-FB4A-8567-F98052DF3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728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3</a:t>
              </a:r>
            </a:p>
          </p:txBody>
        </p:sp>
        <p:sp>
          <p:nvSpPr>
            <p:cNvPr id="311396" name="Text Box 100">
              <a:extLst>
                <a:ext uri="{FF2B5EF4-FFF2-40B4-BE49-F238E27FC236}">
                  <a16:creationId xmlns:a16="http://schemas.microsoft.com/office/drawing/2014/main" id="{77630A76-9CE0-264C-9A8C-A353E04D4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968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2</a:t>
              </a:r>
            </a:p>
          </p:txBody>
        </p:sp>
        <p:sp>
          <p:nvSpPr>
            <p:cNvPr id="311397" name="Text Box 101">
              <a:extLst>
                <a:ext uri="{FF2B5EF4-FFF2-40B4-BE49-F238E27FC236}">
                  <a16:creationId xmlns:a16="http://schemas.microsoft.com/office/drawing/2014/main" id="{74BB1866-E147-7B4D-AEAA-3E8CF5F9B6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208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1</a:t>
              </a:r>
            </a:p>
          </p:txBody>
        </p:sp>
        <p:sp>
          <p:nvSpPr>
            <p:cNvPr id="311398" name="Text Box 102">
              <a:extLst>
                <a:ext uri="{FF2B5EF4-FFF2-40B4-BE49-F238E27FC236}">
                  <a16:creationId xmlns:a16="http://schemas.microsoft.com/office/drawing/2014/main" id="{8818CF70-739B-6248-AA31-33FE889D7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48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 algn="r">
                <a:spcBef>
                  <a:spcPct val="50000"/>
                </a:spcBef>
                <a:defRPr/>
              </a:pPr>
              <a:r>
                <a:rPr lang="en-US" sz="2403"/>
                <a:t>i</a:t>
              </a:r>
              <a:r>
                <a:rPr lang="en-US" sz="2403" baseline="-25000"/>
                <a:t>0</a:t>
              </a:r>
            </a:p>
          </p:txBody>
        </p:sp>
        <p:sp>
          <p:nvSpPr>
            <p:cNvPr id="311399" name="Text Box 103">
              <a:extLst>
                <a:ext uri="{FF2B5EF4-FFF2-40B4-BE49-F238E27FC236}">
                  <a16:creationId xmlns:a16="http://schemas.microsoft.com/office/drawing/2014/main" id="{6BBFA834-09D5-C944-AD8A-BDBC2E243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816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7</a:t>
              </a:r>
            </a:p>
          </p:txBody>
        </p:sp>
        <p:sp>
          <p:nvSpPr>
            <p:cNvPr id="311400" name="Text Box 104">
              <a:extLst>
                <a:ext uri="{FF2B5EF4-FFF2-40B4-BE49-F238E27FC236}">
                  <a16:creationId xmlns:a16="http://schemas.microsoft.com/office/drawing/2014/main" id="{CF9095A7-C74E-2E49-BE1C-86EC51A53F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056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6</a:t>
              </a:r>
            </a:p>
          </p:txBody>
        </p:sp>
        <p:sp>
          <p:nvSpPr>
            <p:cNvPr id="311401" name="Text Box 105">
              <a:extLst>
                <a:ext uri="{FF2B5EF4-FFF2-40B4-BE49-F238E27FC236}">
                  <a16:creationId xmlns:a16="http://schemas.microsoft.com/office/drawing/2014/main" id="{54157584-F054-5245-B988-12DCDAF4BF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296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5</a:t>
              </a:r>
            </a:p>
          </p:txBody>
        </p:sp>
        <p:sp>
          <p:nvSpPr>
            <p:cNvPr id="311402" name="Text Box 106">
              <a:extLst>
                <a:ext uri="{FF2B5EF4-FFF2-40B4-BE49-F238E27FC236}">
                  <a16:creationId xmlns:a16="http://schemas.microsoft.com/office/drawing/2014/main" id="{05F0DBAA-83E5-5B4B-AB2C-2A09AD267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536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4</a:t>
              </a:r>
            </a:p>
          </p:txBody>
        </p:sp>
        <p:sp>
          <p:nvSpPr>
            <p:cNvPr id="311403" name="Text Box 107">
              <a:extLst>
                <a:ext uri="{FF2B5EF4-FFF2-40B4-BE49-F238E27FC236}">
                  <a16:creationId xmlns:a16="http://schemas.microsoft.com/office/drawing/2014/main" id="{BD6EC976-DBFC-D743-990E-2239C8F6E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76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3</a:t>
              </a:r>
            </a:p>
          </p:txBody>
        </p:sp>
        <p:sp>
          <p:nvSpPr>
            <p:cNvPr id="311404" name="Text Box 108">
              <a:extLst>
                <a:ext uri="{FF2B5EF4-FFF2-40B4-BE49-F238E27FC236}">
                  <a16:creationId xmlns:a16="http://schemas.microsoft.com/office/drawing/2014/main" id="{1A710F01-E8C1-B44C-9707-09A86571CC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016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2</a:t>
              </a:r>
            </a:p>
          </p:txBody>
        </p:sp>
        <p:sp>
          <p:nvSpPr>
            <p:cNvPr id="311405" name="Text Box 109">
              <a:extLst>
                <a:ext uri="{FF2B5EF4-FFF2-40B4-BE49-F238E27FC236}">
                  <a16:creationId xmlns:a16="http://schemas.microsoft.com/office/drawing/2014/main" id="{C91AF8F8-AEAD-374E-802B-42B3099D2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256"/>
              <a:ext cx="288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1</a:t>
              </a:r>
            </a:p>
          </p:txBody>
        </p:sp>
        <p:sp>
          <p:nvSpPr>
            <p:cNvPr id="311406" name="Text Box 110">
              <a:extLst>
                <a:ext uri="{FF2B5EF4-FFF2-40B4-BE49-F238E27FC236}">
                  <a16:creationId xmlns:a16="http://schemas.microsoft.com/office/drawing/2014/main" id="{58EFA132-2ADB-094F-8043-ED3EE4FD2E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96"/>
              <a:ext cx="288" cy="29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lIns="45784" rIns="45784"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2403"/>
                <a:t>o</a:t>
              </a:r>
              <a:r>
                <a:rPr lang="en-US" sz="2403" baseline="-25000"/>
                <a:t>0</a:t>
              </a:r>
            </a:p>
          </p:txBody>
        </p:sp>
        <p:sp>
          <p:nvSpPr>
            <p:cNvPr id="311411" name="Text Box 115">
              <a:extLst>
                <a:ext uri="{FF2B5EF4-FFF2-40B4-BE49-F238E27FC236}">
                  <a16:creationId xmlns:a16="http://schemas.microsoft.com/office/drawing/2014/main" id="{49E479BD-56DE-D54C-AEBB-30B6511C5A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880"/>
              <a:ext cx="543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  <a:effectLst/>
          </p:spPr>
          <p:txBody>
            <a:bodyPr wrap="none" lIns="45784" rIns="45784">
              <a:spAutoFit/>
            </a:bodyPr>
            <a:lstStyle/>
            <a:p>
              <a:pPr>
                <a:defRPr/>
              </a:pPr>
              <a:r>
                <a:rPr lang="en-US" sz="2403"/>
                <a:t>Clock</a:t>
              </a:r>
            </a:p>
          </p:txBody>
        </p:sp>
      </p:grpSp>
      <p:sp>
        <p:nvSpPr>
          <p:cNvPr id="311413" name="Text Box 117">
            <a:extLst>
              <a:ext uri="{FF2B5EF4-FFF2-40B4-BE49-F238E27FC236}">
                <a16:creationId xmlns:a16="http://schemas.microsoft.com/office/drawing/2014/main" id="{3EDA41F5-A3F6-C841-B04B-B2C2B17EE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963" y="917575"/>
            <a:ext cx="1352550" cy="461963"/>
          </a:xfrm>
          <a:prstGeom prst="rect">
            <a:avLst/>
          </a:prstGeom>
          <a:noFill/>
          <a:ln w="19050">
            <a:noFill/>
            <a:miter lim="800000"/>
            <a:headEnd/>
            <a:tailEnd type="none" w="sm" len="sm"/>
          </a:ln>
          <a:effectLst/>
        </p:spPr>
        <p:txBody>
          <a:bodyPr wrap="none" lIns="45784" rIns="45784">
            <a:spAutoFit/>
          </a:bodyPr>
          <a:lstStyle/>
          <a:p>
            <a:pPr>
              <a:defRPr/>
            </a:pPr>
            <a:r>
              <a:rPr lang="en-US" sz="2403"/>
              <a:t>Structure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9C06AE4-DBD3-CF45-9618-AC479F06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Register Operation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ADAE941E-5D70-954E-8B71-13DC8CF7F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0513" y="3892550"/>
            <a:ext cx="8307387" cy="2551113"/>
          </a:xfrm>
        </p:spPr>
        <p:txBody>
          <a:bodyPr/>
          <a:lstStyle/>
          <a:p>
            <a:pPr lvl="1"/>
            <a:r>
              <a:rPr lang="en-US" altLang="en-US">
                <a:ea typeface="ＭＳ Ｐゴシック" panose="020B0600070205080204" pitchFamily="34" charset="-128"/>
              </a:rPr>
              <a:t>Stores data bits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For most of time acts as barrier between input and output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As clock rises, loads input</a:t>
            </a:r>
          </a:p>
        </p:txBody>
      </p:sp>
      <p:sp>
        <p:nvSpPr>
          <p:cNvPr id="312327" name="Rectangle 7">
            <a:extLst>
              <a:ext uri="{FF2B5EF4-FFF2-40B4-BE49-F238E27FC236}">
                <a16:creationId xmlns:a16="http://schemas.microsoft.com/office/drawing/2014/main" id="{26FEC28B-B8F4-2245-8935-F902370AF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1527175"/>
            <a:ext cx="12811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3" b="0"/>
              <a:t>State = x</a:t>
            </a:r>
          </a:p>
        </p:txBody>
      </p:sp>
      <p:grpSp>
        <p:nvGrpSpPr>
          <p:cNvPr id="312341" name="Group 21">
            <a:extLst>
              <a:ext uri="{FF2B5EF4-FFF2-40B4-BE49-F238E27FC236}">
                <a16:creationId xmlns:a16="http://schemas.microsoft.com/office/drawing/2014/main" id="{780DB539-B627-C64E-BA5A-87CB277A81B1}"/>
              </a:ext>
            </a:extLst>
          </p:cNvPr>
          <p:cNvGrpSpPr>
            <a:grpSpLocks/>
          </p:cNvGrpSpPr>
          <p:nvPr/>
        </p:nvGrpSpPr>
        <p:grpSpPr bwMode="auto">
          <a:xfrm>
            <a:off x="3500438" y="1909763"/>
            <a:ext cx="1912937" cy="1144587"/>
            <a:chOff x="2202" y="1200"/>
            <a:chExt cx="1203" cy="720"/>
          </a:xfrm>
        </p:grpSpPr>
        <p:grpSp>
          <p:nvGrpSpPr>
            <p:cNvPr id="25618" name="Group 8">
              <a:extLst>
                <a:ext uri="{FF2B5EF4-FFF2-40B4-BE49-F238E27FC236}">
                  <a16:creationId xmlns:a16="http://schemas.microsoft.com/office/drawing/2014/main" id="{D33A826F-BDB0-F845-9F37-5ACBE1654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1" y="1200"/>
              <a:ext cx="864" cy="720"/>
              <a:chOff x="2832" y="912"/>
              <a:chExt cx="864" cy="720"/>
            </a:xfrm>
          </p:grpSpPr>
          <p:sp>
            <p:nvSpPr>
              <p:cNvPr id="312329" name="Freeform 9">
                <a:extLst>
                  <a:ext uri="{FF2B5EF4-FFF2-40B4-BE49-F238E27FC236}">
                    <a16:creationId xmlns:a16="http://schemas.microsoft.com/office/drawing/2014/main" id="{45087C46-71A1-5D4B-827A-D6B8A563B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4" y="1344"/>
                <a:ext cx="432" cy="288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240" y="288"/>
                  </a:cxn>
                  <a:cxn ang="0">
                    <a:pos x="240" y="0"/>
                  </a:cxn>
                  <a:cxn ang="0">
                    <a:pos x="432" y="0"/>
                  </a:cxn>
                </a:cxnLst>
                <a:rect l="0" t="0" r="r" b="b"/>
                <a:pathLst>
                  <a:path w="432" h="288">
                    <a:moveTo>
                      <a:pt x="0" y="288"/>
                    </a:moveTo>
                    <a:lnTo>
                      <a:pt x="240" y="288"/>
                    </a:lnTo>
                    <a:lnTo>
                      <a:pt x="240" y="0"/>
                    </a:lnTo>
                    <a:lnTo>
                      <a:pt x="432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12330" name="Rectangle 10">
                <a:extLst>
                  <a:ext uri="{FF2B5EF4-FFF2-40B4-BE49-F238E27FC236}">
                    <a16:creationId xmlns:a16="http://schemas.microsoft.com/office/drawing/2014/main" id="{255B4C54-CFB6-E643-834A-1E24B6D19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912"/>
                <a:ext cx="864" cy="5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403" b="0"/>
                  <a:t>Rising</a:t>
                </a:r>
              </a:p>
              <a:p>
                <a:pPr eaLnBrk="1" hangingPunct="1">
                  <a:defRPr/>
                </a:pPr>
                <a:r>
                  <a:rPr lang="en-US" sz="2403" b="0"/>
                  <a:t>clock</a:t>
                </a:r>
              </a:p>
            </p:txBody>
          </p:sp>
        </p:grpSp>
        <p:sp>
          <p:nvSpPr>
            <p:cNvPr id="312331" name="Rectangle 11">
              <a:extLst>
                <a:ext uri="{FF2B5EF4-FFF2-40B4-BE49-F238E27FC236}">
                  <a16:creationId xmlns:a16="http://schemas.microsoft.com/office/drawing/2014/main" id="{3DD2A31A-7ED0-D048-8C83-8F53896FB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1324"/>
              <a:ext cx="387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3605" b="0">
                  <a:solidFill>
                    <a:srgbClr val="000099"/>
                  </a:solidFill>
                  <a:latin typeface="Wingdings 3" pitchFamily="18" charset="2"/>
                  <a:sym typeface="Wingdings 3" pitchFamily="18" charset="2"/>
                </a:rPr>
                <a:t></a:t>
              </a:r>
            </a:p>
          </p:txBody>
        </p:sp>
      </p:grpSp>
      <p:sp>
        <p:nvSpPr>
          <p:cNvPr id="312333" name="Rectangle 13">
            <a:extLst>
              <a:ext uri="{FF2B5EF4-FFF2-40B4-BE49-F238E27FC236}">
                <a16:creationId xmlns:a16="http://schemas.microsoft.com/office/drawing/2014/main" id="{88BFF198-C739-354E-8A08-9EDE48303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2062163"/>
            <a:ext cx="15224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sz="2403" b="0"/>
              <a:t>Output = x</a:t>
            </a:r>
          </a:p>
        </p:txBody>
      </p:sp>
      <p:sp>
        <p:nvSpPr>
          <p:cNvPr id="312334" name="Rectangle 14">
            <a:extLst>
              <a:ext uri="{FF2B5EF4-FFF2-40B4-BE49-F238E27FC236}">
                <a16:creationId xmlns:a16="http://schemas.microsoft.com/office/drawing/2014/main" id="{0448D58D-DE36-F848-BAFF-EDABEDFC5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2062163"/>
            <a:ext cx="1317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 eaLnBrk="1" hangingPunct="1">
              <a:defRPr/>
            </a:pPr>
            <a:r>
              <a:rPr lang="en-US" sz="2403" b="0"/>
              <a:t>Input = y</a:t>
            </a:r>
          </a:p>
        </p:txBody>
      </p:sp>
      <p:sp>
        <p:nvSpPr>
          <p:cNvPr id="312337" name="AutoShape 17">
            <a:extLst>
              <a:ext uri="{FF2B5EF4-FFF2-40B4-BE49-F238E27FC236}">
                <a16:creationId xmlns:a16="http://schemas.microsoft.com/office/drawing/2014/main" id="{E0BA7B17-A8A1-384A-BC36-84F4994E1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425" y="2519363"/>
            <a:ext cx="458788" cy="228600"/>
          </a:xfrm>
          <a:prstGeom prst="rightArrow">
            <a:avLst>
              <a:gd name="adj1" fmla="val 16667"/>
              <a:gd name="adj2" fmla="val 66667"/>
            </a:avLst>
          </a:prstGeom>
          <a:solidFill>
            <a:srgbClr val="66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3"/>
          </a:p>
        </p:txBody>
      </p:sp>
      <p:sp>
        <p:nvSpPr>
          <p:cNvPr id="312338" name="AutoShape 18">
            <a:extLst>
              <a:ext uri="{FF2B5EF4-FFF2-40B4-BE49-F238E27FC236}">
                <a16:creationId xmlns:a16="http://schemas.microsoft.com/office/drawing/2014/main" id="{198C78D3-4435-A040-810F-2EBAC3B56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5813" y="2519363"/>
            <a:ext cx="457200" cy="228600"/>
          </a:xfrm>
          <a:prstGeom prst="rightArrow">
            <a:avLst>
              <a:gd name="adj1" fmla="val 16667"/>
              <a:gd name="adj2" fmla="val 6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2403"/>
          </a:p>
        </p:txBody>
      </p:sp>
      <p:sp>
        <p:nvSpPr>
          <p:cNvPr id="312325" name="Rectangle 5">
            <a:extLst>
              <a:ext uri="{FF2B5EF4-FFF2-40B4-BE49-F238E27FC236}">
                <a16:creationId xmlns:a16="http://schemas.microsoft.com/office/drawing/2014/main" id="{77AF3729-7640-7C4E-B11E-63833903C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3" y="1985963"/>
            <a:ext cx="228600" cy="12969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r>
              <a:rPr lang="en-US" sz="2003" b="0"/>
              <a:t>x</a:t>
            </a:r>
          </a:p>
        </p:txBody>
      </p:sp>
      <p:grpSp>
        <p:nvGrpSpPr>
          <p:cNvPr id="312343" name="Group 23">
            <a:extLst>
              <a:ext uri="{FF2B5EF4-FFF2-40B4-BE49-F238E27FC236}">
                <a16:creationId xmlns:a16="http://schemas.microsoft.com/office/drawing/2014/main" id="{5EE4E3DC-DEE5-144F-8545-9BD6240F02B8}"/>
              </a:ext>
            </a:extLst>
          </p:cNvPr>
          <p:cNvGrpSpPr>
            <a:grpSpLocks/>
          </p:cNvGrpSpPr>
          <p:nvPr/>
        </p:nvGrpSpPr>
        <p:grpSpPr bwMode="auto">
          <a:xfrm>
            <a:off x="5408613" y="1527175"/>
            <a:ext cx="3025775" cy="1755775"/>
            <a:chOff x="3402" y="960"/>
            <a:chExt cx="1904" cy="1104"/>
          </a:xfrm>
        </p:grpSpPr>
        <p:sp>
          <p:nvSpPr>
            <p:cNvPr id="312332" name="Rectangle 12">
              <a:extLst>
                <a:ext uri="{FF2B5EF4-FFF2-40B4-BE49-F238E27FC236}">
                  <a16:creationId xmlns:a16="http://schemas.microsoft.com/office/drawing/2014/main" id="{06E549FC-2199-3D44-97B6-6AED4B557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324"/>
              <a:ext cx="387" cy="4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sz="3605" b="0">
                  <a:solidFill>
                    <a:srgbClr val="000099"/>
                  </a:solidFill>
                  <a:latin typeface="Wingdings 3" pitchFamily="18" charset="2"/>
                  <a:sym typeface="Wingdings 3" pitchFamily="18" charset="2"/>
                </a:rPr>
                <a:t></a:t>
              </a:r>
            </a:p>
          </p:txBody>
        </p:sp>
        <p:grpSp>
          <p:nvGrpSpPr>
            <p:cNvPr id="25612" name="Group 22">
              <a:extLst>
                <a:ext uri="{FF2B5EF4-FFF2-40B4-BE49-F238E27FC236}">
                  <a16:creationId xmlns:a16="http://schemas.microsoft.com/office/drawing/2014/main" id="{63803BAE-6DEC-244D-88A8-4B740F9160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5" y="960"/>
              <a:ext cx="1421" cy="1104"/>
              <a:chOff x="3885" y="960"/>
              <a:chExt cx="1421" cy="1104"/>
            </a:xfrm>
          </p:grpSpPr>
          <p:sp>
            <p:nvSpPr>
              <p:cNvPr id="312335" name="Rectangle 15">
                <a:extLst>
                  <a:ext uri="{FF2B5EF4-FFF2-40B4-BE49-F238E27FC236}">
                    <a16:creationId xmlns:a16="http://schemas.microsoft.com/office/drawing/2014/main" id="{51DCD27A-C8E2-4D4D-AFF3-197095FC8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5" y="960"/>
                <a:ext cx="806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403" b="0"/>
                  <a:t>State = y</a:t>
                </a:r>
              </a:p>
            </p:txBody>
          </p:sp>
          <p:sp>
            <p:nvSpPr>
              <p:cNvPr id="312336" name="Rectangle 16">
                <a:extLst>
                  <a:ext uri="{FF2B5EF4-FFF2-40B4-BE49-F238E27FC236}">
                    <a16:creationId xmlns:a16="http://schemas.microsoft.com/office/drawing/2014/main" id="{5B3A7E46-4D53-704A-9545-D33187051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9" y="1296"/>
                <a:ext cx="957" cy="2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sz="2403" b="0"/>
                  <a:t>Output = y</a:t>
                </a:r>
              </a:p>
            </p:txBody>
          </p:sp>
          <p:sp>
            <p:nvSpPr>
              <p:cNvPr id="312339" name="AutoShape 19">
                <a:extLst>
                  <a:ext uri="{FF2B5EF4-FFF2-40B4-BE49-F238E27FC236}">
                    <a16:creationId xmlns:a16="http://schemas.microsoft.com/office/drawing/2014/main" id="{8E1B4F6D-8C48-4244-9CD3-53498A83F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5" y="1584"/>
                <a:ext cx="288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12340" name="AutoShape 20">
                <a:extLst>
                  <a:ext uri="{FF2B5EF4-FFF2-40B4-BE49-F238E27FC236}">
                    <a16:creationId xmlns:a16="http://schemas.microsoft.com/office/drawing/2014/main" id="{92652908-1DDB-4646-A30D-FA3494DDD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7" y="1584"/>
                <a:ext cx="290" cy="144"/>
              </a:xfrm>
              <a:prstGeom prst="rightArrow">
                <a:avLst>
                  <a:gd name="adj1" fmla="val 16667"/>
                  <a:gd name="adj2" fmla="val 66667"/>
                </a:avLst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2403"/>
              </a:p>
            </p:txBody>
          </p:sp>
          <p:sp>
            <p:nvSpPr>
              <p:cNvPr id="312326" name="Rectangle 6">
                <a:extLst>
                  <a:ext uri="{FF2B5EF4-FFF2-40B4-BE49-F238E27FC236}">
                    <a16:creationId xmlns:a16="http://schemas.microsoft.com/office/drawing/2014/main" id="{BB530C2D-723B-E243-98AB-A3C06B6BDE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3" y="1248"/>
                <a:ext cx="144" cy="816"/>
              </a:xfrm>
              <a:prstGeom prst="rect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en-US" sz="2003" b="0"/>
                  <a:t>y</a:t>
                </a:r>
              </a:p>
            </p:txBody>
          </p:sp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Content Placeholder 2">
            <a:extLst>
              <a:ext uri="{FF2B5EF4-FFF2-40B4-BE49-F238E27FC236}">
                <a16:creationId xmlns:a16="http://schemas.microsoft.com/office/drawing/2014/main" id="{7ECB2896-0FAB-5946-9DCB-ED03ECF2D6CE}"/>
              </a:ext>
            </a:extLst>
          </p:cNvPr>
          <p:cNvSpPr txBox="1">
            <a:spLocks/>
          </p:cNvSpPr>
          <p:nvPr/>
        </p:nvSpPr>
        <p:spPr bwMode="auto">
          <a:xfrm>
            <a:off x="685800" y="1295400"/>
            <a:ext cx="7467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914400" indent="-4572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Write to a register</a:t>
            </a:r>
          </a:p>
          <a:p>
            <a:pPr lvl="1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</p:txBody>
      </p:sp>
      <p:sp>
        <p:nvSpPr>
          <p:cNvPr id="29698" name="Text Box 7">
            <a:extLst>
              <a:ext uri="{FF2B5EF4-FFF2-40B4-BE49-F238E27FC236}">
                <a16:creationId xmlns:a16="http://schemas.microsoft.com/office/drawing/2014/main" id="{24987727-869E-A74B-8707-67E14C12B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581400"/>
            <a:ext cx="5334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D31</a:t>
            </a:r>
          </a:p>
        </p:txBody>
      </p:sp>
      <p:sp>
        <p:nvSpPr>
          <p:cNvPr id="29699" name="Text Box 8">
            <a:extLst>
              <a:ext uri="{FF2B5EF4-FFF2-40B4-BE49-F238E27FC236}">
                <a16:creationId xmlns:a16="http://schemas.microsoft.com/office/drawing/2014/main" id="{E11E003D-E2EE-FB4C-A75C-98FFEC196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81400"/>
            <a:ext cx="5334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D1</a:t>
            </a:r>
          </a:p>
        </p:txBody>
      </p:sp>
      <p:sp>
        <p:nvSpPr>
          <p:cNvPr id="29700" name="Text Box 9">
            <a:extLst>
              <a:ext uri="{FF2B5EF4-FFF2-40B4-BE49-F238E27FC236}">
                <a16:creationId xmlns:a16="http://schemas.microsoft.com/office/drawing/2014/main" id="{3AF9A4B0-841F-764F-9099-77DB5530F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581400"/>
            <a:ext cx="533400" cy="314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D0</a:t>
            </a:r>
          </a:p>
        </p:txBody>
      </p:sp>
      <p:sp>
        <p:nvSpPr>
          <p:cNvPr id="29701" name="Line 10">
            <a:extLst>
              <a:ext uri="{FF2B5EF4-FFF2-40B4-BE49-F238E27FC236}">
                <a16:creationId xmlns:a16="http://schemas.microsoft.com/office/drawing/2014/main" id="{48E881F0-94CA-9A43-9897-E74BD6BFB5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971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Text Box 11">
            <a:extLst>
              <a:ext uri="{FF2B5EF4-FFF2-40B4-BE49-F238E27FC236}">
                <a16:creationId xmlns:a16="http://schemas.microsoft.com/office/drawing/2014/main" id="{AB205CE3-10FD-CE45-B0F5-F0AE68326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5908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d31</a:t>
            </a:r>
          </a:p>
        </p:txBody>
      </p:sp>
      <p:sp>
        <p:nvSpPr>
          <p:cNvPr id="29703" name="Text Box 12">
            <a:extLst>
              <a:ext uri="{FF2B5EF4-FFF2-40B4-BE49-F238E27FC236}">
                <a16:creationId xmlns:a16="http://schemas.microsoft.com/office/drawing/2014/main" id="{D1A380E8-5DE7-F24D-96EF-CF0AC9922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5908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d1</a:t>
            </a:r>
          </a:p>
        </p:txBody>
      </p:sp>
      <p:sp>
        <p:nvSpPr>
          <p:cNvPr id="29704" name="Text Box 13">
            <a:extLst>
              <a:ext uri="{FF2B5EF4-FFF2-40B4-BE49-F238E27FC236}">
                <a16:creationId xmlns:a16="http://schemas.microsoft.com/office/drawing/2014/main" id="{8B8231E1-04B2-DE47-98F8-4E0338CA3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5908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d0</a:t>
            </a:r>
          </a:p>
        </p:txBody>
      </p:sp>
      <p:sp>
        <p:nvSpPr>
          <p:cNvPr id="29705" name="Line 14">
            <a:extLst>
              <a:ext uri="{FF2B5EF4-FFF2-40B4-BE49-F238E27FC236}">
                <a16:creationId xmlns:a16="http://schemas.microsoft.com/office/drawing/2014/main" id="{815A9DAE-8F8A-0D4D-95B6-B91799D100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2971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Line 15">
            <a:extLst>
              <a:ext uri="{FF2B5EF4-FFF2-40B4-BE49-F238E27FC236}">
                <a16:creationId xmlns:a16="http://schemas.microsoft.com/office/drawing/2014/main" id="{BC77628B-E798-5144-BBBB-EB063EFB4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971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7" name="Line 16">
            <a:extLst>
              <a:ext uri="{FF2B5EF4-FFF2-40B4-BE49-F238E27FC236}">
                <a16:creationId xmlns:a16="http://schemas.microsoft.com/office/drawing/2014/main" id="{09613F8C-1D89-E642-8B89-960799BC18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766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8" name="Line 17">
            <a:extLst>
              <a:ext uri="{FF2B5EF4-FFF2-40B4-BE49-F238E27FC236}">
                <a16:creationId xmlns:a16="http://schemas.microsoft.com/office/drawing/2014/main" id="{91AD95AF-47C0-7645-A36C-3B09528E0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9" name="Line 18">
            <a:extLst>
              <a:ext uri="{FF2B5EF4-FFF2-40B4-BE49-F238E27FC236}">
                <a16:creationId xmlns:a16="http://schemas.microsoft.com/office/drawing/2014/main" id="{CA914285-D5EE-D44A-B8CB-FF9B07511D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Line 19">
            <a:extLst>
              <a:ext uri="{FF2B5EF4-FFF2-40B4-BE49-F238E27FC236}">
                <a16:creationId xmlns:a16="http://schemas.microsoft.com/office/drawing/2014/main" id="{2833E7B6-ED8D-5D44-8218-35D9C1E913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1" name="Text Box 20">
            <a:extLst>
              <a:ext uri="{FF2B5EF4-FFF2-40B4-BE49-F238E27FC236}">
                <a16:creationId xmlns:a16="http://schemas.microsoft.com/office/drawing/2014/main" id="{EBF15EE7-C43B-5D42-8363-87F1F59E0D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124200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write</a:t>
            </a:r>
          </a:p>
        </p:txBody>
      </p:sp>
      <p:sp>
        <p:nvSpPr>
          <p:cNvPr id="29712" name="Line 21">
            <a:extLst>
              <a:ext uri="{FF2B5EF4-FFF2-40B4-BE49-F238E27FC236}">
                <a16:creationId xmlns:a16="http://schemas.microsoft.com/office/drawing/2014/main" id="{F499BD97-B661-F949-84E6-8B1FF0F377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3" name="Line 22">
            <a:extLst>
              <a:ext uri="{FF2B5EF4-FFF2-40B4-BE49-F238E27FC236}">
                <a16:creationId xmlns:a16="http://schemas.microsoft.com/office/drawing/2014/main" id="{114F1ED2-14AD-A243-8A35-9C0436E6B0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4" name="Line 23">
            <a:extLst>
              <a:ext uri="{FF2B5EF4-FFF2-40B4-BE49-F238E27FC236}">
                <a16:creationId xmlns:a16="http://schemas.microsoft.com/office/drawing/2014/main" id="{F936E7BB-D278-D745-880D-3ED81C33F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5" name="Text Box 24">
            <a:extLst>
              <a:ext uri="{FF2B5EF4-FFF2-40B4-BE49-F238E27FC236}">
                <a16:creationId xmlns:a16="http://schemas.microsoft.com/office/drawing/2014/main" id="{8B8E4E23-2ECF-E24A-A40B-E0BB164C5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886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Q</a:t>
            </a:r>
          </a:p>
        </p:txBody>
      </p:sp>
      <p:sp>
        <p:nvSpPr>
          <p:cNvPr id="29716" name="Text Box 25">
            <a:extLst>
              <a:ext uri="{FF2B5EF4-FFF2-40B4-BE49-F238E27FC236}">
                <a16:creationId xmlns:a16="http://schemas.microsoft.com/office/drawing/2014/main" id="{2BBCA4AB-BE8D-4D44-B9D5-AABD5AE47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886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Q</a:t>
            </a:r>
          </a:p>
        </p:txBody>
      </p:sp>
      <p:sp>
        <p:nvSpPr>
          <p:cNvPr id="29717" name="Text Box 26">
            <a:extLst>
              <a:ext uri="{FF2B5EF4-FFF2-40B4-BE49-F238E27FC236}">
                <a16:creationId xmlns:a16="http://schemas.microsoft.com/office/drawing/2014/main" id="{4C07A9C3-5A87-484B-B125-6B884721D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86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Q</a:t>
            </a:r>
          </a:p>
        </p:txBody>
      </p:sp>
      <p:sp>
        <p:nvSpPr>
          <p:cNvPr id="29718" name="Text Box 27">
            <a:extLst>
              <a:ext uri="{FF2B5EF4-FFF2-40B4-BE49-F238E27FC236}">
                <a16:creationId xmlns:a16="http://schemas.microsoft.com/office/drawing/2014/main" id="{D6533B7F-90C2-0D48-9744-1384875AA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3528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C</a:t>
            </a:r>
          </a:p>
        </p:txBody>
      </p:sp>
      <p:sp>
        <p:nvSpPr>
          <p:cNvPr id="29719" name="Text Box 28">
            <a:extLst>
              <a:ext uri="{FF2B5EF4-FFF2-40B4-BE49-F238E27FC236}">
                <a16:creationId xmlns:a16="http://schemas.microsoft.com/office/drawing/2014/main" id="{29D7F312-C6F0-D84C-8729-DFA34BF46B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3528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C</a:t>
            </a:r>
          </a:p>
        </p:txBody>
      </p:sp>
      <p:sp>
        <p:nvSpPr>
          <p:cNvPr id="29720" name="Rectangle 2">
            <a:extLst>
              <a:ext uri="{FF2B5EF4-FFF2-40B4-BE49-F238E27FC236}">
                <a16:creationId xmlns:a16="http://schemas.microsoft.com/office/drawing/2014/main" id="{601A909C-7C2E-9E4B-A9BD-B7C88089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746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u="sng">
                <a:latin typeface="Times New Roman" panose="02020603050405020304" pitchFamily="18" charset="0"/>
              </a:rPr>
              <a:t>Registers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54">
            <a:extLst>
              <a:ext uri="{FF2B5EF4-FFF2-40B4-BE49-F238E27FC236}">
                <a16:creationId xmlns:a16="http://schemas.microsoft.com/office/drawing/2014/main" id="{ECA81A8E-EA9F-6145-ADC1-CDC125A4B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381000"/>
            <a:ext cx="6858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pic>
        <p:nvPicPr>
          <p:cNvPr id="30722" name="Picture 58" descr="reg">
            <a:extLst>
              <a:ext uri="{FF2B5EF4-FFF2-40B4-BE49-F238E27FC236}">
                <a16:creationId xmlns:a16="http://schemas.microsoft.com/office/drawing/2014/main" id="{0AF5B2FF-3D71-5E48-91F8-7CA4E5218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1524000"/>
            <a:ext cx="5257800" cy="447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2">
            <a:extLst>
              <a:ext uri="{FF2B5EF4-FFF2-40B4-BE49-F238E27FC236}">
                <a16:creationId xmlns:a16="http://schemas.microsoft.com/office/drawing/2014/main" id="{90F1112F-8571-1C48-A9BA-87B7C461F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33400"/>
            <a:ext cx="746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u="sng">
                <a:latin typeface="Times New Roman" panose="02020603050405020304" pitchFamily="18" charset="0"/>
              </a:rPr>
              <a:t>Register File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4" name="Content Placeholder 2">
            <a:extLst>
              <a:ext uri="{FF2B5EF4-FFF2-40B4-BE49-F238E27FC236}">
                <a16:creationId xmlns:a16="http://schemas.microsoft.com/office/drawing/2014/main" id="{7A5CC85A-8734-8D41-AFFA-59DD05563A1E}"/>
              </a:ext>
            </a:extLst>
          </p:cNvPr>
          <p:cNvSpPr txBox="1">
            <a:spLocks/>
          </p:cNvSpPr>
          <p:nvPr/>
        </p:nvSpPr>
        <p:spPr bwMode="auto">
          <a:xfrm>
            <a:off x="609600" y="1600200"/>
            <a:ext cx="33528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Register File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Multiple registers</a:t>
            </a:r>
          </a:p>
          <a:p>
            <a:pPr lvl="2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Two read ports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Content Placeholder 2">
            <a:extLst>
              <a:ext uri="{FF2B5EF4-FFF2-40B4-BE49-F238E27FC236}">
                <a16:creationId xmlns:a16="http://schemas.microsoft.com/office/drawing/2014/main" id="{A2E691FB-B206-8344-B60F-582F4B66DB3E}"/>
              </a:ext>
            </a:extLst>
          </p:cNvPr>
          <p:cNvSpPr txBox="1">
            <a:spLocks/>
          </p:cNvSpPr>
          <p:nvPr/>
        </p:nvSpPr>
        <p:spPr bwMode="auto">
          <a:xfrm>
            <a:off x="685800" y="1447800"/>
            <a:ext cx="2362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Register File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Write port</a:t>
            </a:r>
          </a:p>
        </p:txBody>
      </p:sp>
      <p:pic>
        <p:nvPicPr>
          <p:cNvPr id="31746" name="Picture 6" descr="reg2">
            <a:extLst>
              <a:ext uri="{FF2B5EF4-FFF2-40B4-BE49-F238E27FC236}">
                <a16:creationId xmlns:a16="http://schemas.microsoft.com/office/drawing/2014/main" id="{30C5037D-1E7B-EC46-96CC-E2C8646B75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219200"/>
            <a:ext cx="5624513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5" descr="reg4">
            <a:extLst>
              <a:ext uri="{FF2B5EF4-FFF2-40B4-BE49-F238E27FC236}">
                <a16:creationId xmlns:a16="http://schemas.microsoft.com/office/drawing/2014/main" id="{AF248442-9C76-0840-817E-00E9B4750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0"/>
            <a:ext cx="5856288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609285BF-1A82-A846-B655-5CA5FEB30B3E}"/>
              </a:ext>
            </a:extLst>
          </p:cNvPr>
          <p:cNvSpPr txBox="1">
            <a:spLocks/>
          </p:cNvSpPr>
          <p:nvPr/>
        </p:nvSpPr>
        <p:spPr bwMode="auto">
          <a:xfrm>
            <a:off x="533400" y="1295400"/>
            <a:ext cx="2667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Register File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07D366E1-59FE-DE43-A4A3-05039F0DB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09600"/>
            <a:ext cx="7467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u="sng">
                <a:latin typeface="Times New Roman" panose="02020603050405020304" pitchFamily="18" charset="0"/>
              </a:rPr>
              <a:t>Main Memory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DD518C80-EA87-CF45-9D28-4C3FEEF8E741}"/>
              </a:ext>
            </a:extLst>
          </p:cNvPr>
          <p:cNvSpPr txBox="1">
            <a:spLocks/>
          </p:cNvSpPr>
          <p:nvPr/>
        </p:nvSpPr>
        <p:spPr bwMode="auto">
          <a:xfrm>
            <a:off x="457200" y="1295400"/>
            <a:ext cx="3429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8001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2573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Main Memory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A huge register file</a:t>
            </a:r>
          </a:p>
          <a:p>
            <a:pPr lvl="1"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In MIPS, </a:t>
            </a:r>
          </a:p>
          <a:p>
            <a:pPr lvl="2">
              <a:spcBef>
                <a:spcPct val="20000"/>
              </a:spcBef>
              <a:buFontTx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</p:txBody>
      </p:sp>
      <p:sp>
        <p:nvSpPr>
          <p:cNvPr id="33795" name="Text Box 16">
            <a:extLst>
              <a:ext uri="{FF2B5EF4-FFF2-40B4-BE49-F238E27FC236}">
                <a16:creationId xmlns:a16="http://schemas.microsoft.com/office/drawing/2014/main" id="{82151F49-42CA-FE40-9286-70B4D68D9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590800"/>
            <a:ext cx="25146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Data Segment</a:t>
            </a:r>
            <a:endParaRPr lang="en-US" altLang="en-US" sz="1400" b="0"/>
          </a:p>
        </p:txBody>
      </p:sp>
      <p:sp>
        <p:nvSpPr>
          <p:cNvPr id="33796" name="Text Box 17">
            <a:extLst>
              <a:ext uri="{FF2B5EF4-FFF2-40B4-BE49-F238E27FC236}">
                <a16:creationId xmlns:a16="http://schemas.microsoft.com/office/drawing/2014/main" id="{E7D9920B-62C2-EC4C-87C7-EC03C779C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819400"/>
            <a:ext cx="25146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Heap</a:t>
            </a:r>
          </a:p>
          <a:p>
            <a:pPr algn="ctr">
              <a:spcAft>
                <a:spcPts val="1000"/>
              </a:spcAft>
            </a:pPr>
            <a:endParaRPr lang="en-US" altLang="ko-KR" sz="1400" b="0">
              <a:latin typeface="Calibri" panose="020F0502020204030204" pitchFamily="34" charset="0"/>
            </a:endParaRPr>
          </a:p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Stack</a:t>
            </a:r>
            <a:endParaRPr lang="en-US" altLang="en-US" sz="1400" b="0"/>
          </a:p>
        </p:txBody>
      </p:sp>
      <p:sp>
        <p:nvSpPr>
          <p:cNvPr id="33797" name="Text Box 18">
            <a:extLst>
              <a:ext uri="{FF2B5EF4-FFF2-40B4-BE49-F238E27FC236}">
                <a16:creationId xmlns:a16="http://schemas.microsoft.com/office/drawing/2014/main" id="{9E86BEFC-BEB7-794C-BCAC-5405A7178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963988"/>
            <a:ext cx="25146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Kernel (Trap Handler)</a:t>
            </a:r>
            <a:endParaRPr lang="en-US" altLang="en-US" sz="1400" b="0"/>
          </a:p>
        </p:txBody>
      </p:sp>
      <p:sp>
        <p:nvSpPr>
          <p:cNvPr id="33798" name="Text Box 19">
            <a:extLst>
              <a:ext uri="{FF2B5EF4-FFF2-40B4-BE49-F238E27FC236}">
                <a16:creationId xmlns:a16="http://schemas.microsoft.com/office/drawing/2014/main" id="{FE0B1864-E806-E347-94BA-A016E4643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26720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O.S.</a:t>
            </a:r>
            <a:endParaRPr lang="en-US" altLang="en-US" sz="1400" b="0"/>
          </a:p>
        </p:txBody>
      </p:sp>
      <p:sp>
        <p:nvSpPr>
          <p:cNvPr id="33799" name="Text Box 20">
            <a:extLst>
              <a:ext uri="{FF2B5EF4-FFF2-40B4-BE49-F238E27FC236}">
                <a16:creationId xmlns:a16="http://schemas.microsoft.com/office/drawing/2014/main" id="{C65EC810-26DB-1A4E-8500-B80C3A204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700588"/>
            <a:ext cx="25146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Memory Mapped I/O</a:t>
            </a:r>
            <a:endParaRPr lang="en-US" altLang="en-US" sz="1400" b="0"/>
          </a:p>
        </p:txBody>
      </p:sp>
      <p:sp>
        <p:nvSpPr>
          <p:cNvPr id="33800" name="Text Box 21">
            <a:extLst>
              <a:ext uri="{FF2B5EF4-FFF2-40B4-BE49-F238E27FC236}">
                <a16:creationId xmlns:a16="http://schemas.microsoft.com/office/drawing/2014/main" id="{40892299-6998-BC4F-A5F1-809EA25A5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790700"/>
            <a:ext cx="2514600" cy="3429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Calibri" panose="020F0502020204030204" pitchFamily="34" charset="0"/>
              </a:rPr>
              <a:t>Reserved</a:t>
            </a:r>
            <a:endParaRPr lang="en-US" altLang="en-US" sz="1400" b="0"/>
          </a:p>
        </p:txBody>
      </p:sp>
      <p:sp>
        <p:nvSpPr>
          <p:cNvPr id="33801" name="Text Box 22">
            <a:extLst>
              <a:ext uri="{FF2B5EF4-FFF2-40B4-BE49-F238E27FC236}">
                <a16:creationId xmlns:a16="http://schemas.microsoft.com/office/drawing/2014/main" id="{A883516F-AF95-1A4E-BF04-0569A7606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133600"/>
            <a:ext cx="2514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Aft>
                <a:spcPts val="1000"/>
              </a:spcAft>
            </a:pPr>
            <a:r>
              <a:rPr lang="en-US" altLang="ko-KR" sz="1400" b="0">
                <a:latin typeface="Franklin Gothic Book" panose="020B0503020102020204" pitchFamily="34" charset="0"/>
              </a:rPr>
              <a:t>Text Segment – user code</a:t>
            </a:r>
            <a:endParaRPr lang="en-US" altLang="en-US" sz="1400" b="0">
              <a:latin typeface="Franklin Gothic Book" panose="020B0503020102020204" pitchFamily="34" charset="0"/>
            </a:endParaRPr>
          </a:p>
        </p:txBody>
      </p:sp>
      <p:sp>
        <p:nvSpPr>
          <p:cNvPr id="33802" name="Text Box 11">
            <a:extLst>
              <a:ext uri="{FF2B5EF4-FFF2-40B4-BE49-F238E27FC236}">
                <a16:creationId xmlns:a16="http://schemas.microsoft.com/office/drawing/2014/main" id="{81A6FABC-8C4D-764D-B477-5126097E7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6764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0x0000 0000</a:t>
            </a:r>
          </a:p>
        </p:txBody>
      </p:sp>
      <p:sp>
        <p:nvSpPr>
          <p:cNvPr id="33803" name="Text Box 11">
            <a:extLst>
              <a:ext uri="{FF2B5EF4-FFF2-40B4-BE49-F238E27FC236}">
                <a16:creationId xmlns:a16="http://schemas.microsoft.com/office/drawing/2014/main" id="{482C390A-0314-2249-ACBE-5511C6E5E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9812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0x0040 0000</a:t>
            </a:r>
          </a:p>
        </p:txBody>
      </p:sp>
      <p:sp>
        <p:nvSpPr>
          <p:cNvPr id="33804" name="Text Box 11">
            <a:extLst>
              <a:ext uri="{FF2B5EF4-FFF2-40B4-BE49-F238E27FC236}">
                <a16:creationId xmlns:a16="http://schemas.microsoft.com/office/drawing/2014/main" id="{685AF344-7179-AD47-81EC-60C7F90A8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4384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0x1000 0000</a:t>
            </a:r>
          </a:p>
        </p:txBody>
      </p:sp>
      <p:sp>
        <p:nvSpPr>
          <p:cNvPr id="33805" name="Text Box 11">
            <a:extLst>
              <a:ext uri="{FF2B5EF4-FFF2-40B4-BE49-F238E27FC236}">
                <a16:creationId xmlns:a16="http://schemas.microsoft.com/office/drawing/2014/main" id="{9A714BC0-92D7-5D49-AF23-89D3CF1DA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6670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0x1004 0000</a:t>
            </a:r>
          </a:p>
        </p:txBody>
      </p:sp>
      <p:sp>
        <p:nvSpPr>
          <p:cNvPr id="33806" name="Text Box 11">
            <a:extLst>
              <a:ext uri="{FF2B5EF4-FFF2-40B4-BE49-F238E27FC236}">
                <a16:creationId xmlns:a16="http://schemas.microsoft.com/office/drawing/2014/main" id="{16A6B162-3BDA-A244-A95F-46325FA89B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7338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0x8000 0080</a:t>
            </a:r>
          </a:p>
        </p:txBody>
      </p:sp>
      <p:sp>
        <p:nvSpPr>
          <p:cNvPr id="33807" name="Text Box 11">
            <a:extLst>
              <a:ext uri="{FF2B5EF4-FFF2-40B4-BE49-F238E27FC236}">
                <a16:creationId xmlns:a16="http://schemas.microsoft.com/office/drawing/2014/main" id="{31C76697-A3BB-4D48-9AB5-579704C13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1910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400"/>
              <a:t>0x9000 0000</a:t>
            </a:r>
          </a:p>
        </p:txBody>
      </p:sp>
      <p:sp>
        <p:nvSpPr>
          <p:cNvPr id="33808" name="Text Box 11">
            <a:extLst>
              <a:ext uri="{FF2B5EF4-FFF2-40B4-BE49-F238E27FC236}">
                <a16:creationId xmlns:a16="http://schemas.microsoft.com/office/drawing/2014/main" id="{0D72289C-CB4C-CB4E-AAF0-D6BB67EC6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5720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400"/>
              <a:t>0x FFFF 0000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0">
            <a:extLst>
              <a:ext uri="{FF2B5EF4-FFF2-40B4-BE49-F238E27FC236}">
                <a16:creationId xmlns:a16="http://schemas.microsoft.com/office/drawing/2014/main" id="{F75A5AD5-AEDC-1C4A-9A62-9DA6DFA6E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111250"/>
            <a:ext cx="2789237" cy="48736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Kernel virtual memory</a:t>
            </a:r>
          </a:p>
        </p:txBody>
      </p:sp>
      <p:sp>
        <p:nvSpPr>
          <p:cNvPr id="34818" name="Rectangle 71">
            <a:extLst>
              <a:ext uri="{FF2B5EF4-FFF2-40B4-BE49-F238E27FC236}">
                <a16:creationId xmlns:a16="http://schemas.microsoft.com/office/drawing/2014/main" id="{F01DB519-8BA3-C740-96FC-4FFE9FEED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2813050"/>
            <a:ext cx="2789237" cy="6699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Memory mapped region for</a:t>
            </a:r>
          </a:p>
          <a:p>
            <a:r>
              <a:rPr lang="en-US" altLang="en-US" sz="1600" b="0">
                <a:latin typeface="Arial" panose="020B0604020202020204" pitchFamily="34" charset="0"/>
              </a:rPr>
              <a:t>shared libraries</a:t>
            </a:r>
          </a:p>
        </p:txBody>
      </p:sp>
      <p:sp>
        <p:nvSpPr>
          <p:cNvPr id="34819" name="Rectangle 72">
            <a:extLst>
              <a:ext uri="{FF2B5EF4-FFF2-40B4-BE49-F238E27FC236}">
                <a16:creationId xmlns:a16="http://schemas.microsoft.com/office/drawing/2014/main" id="{560BF34E-F83A-1146-B49F-7B06899B7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478213"/>
            <a:ext cx="2789237" cy="723900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4820" name="Rectangle 73">
            <a:extLst>
              <a:ext uri="{FF2B5EF4-FFF2-40B4-BE49-F238E27FC236}">
                <a16:creationId xmlns:a16="http://schemas.microsoft.com/office/drawing/2014/main" id="{56455FD6-E8BD-B449-A9EC-D1209AC92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4205288"/>
            <a:ext cx="2789237" cy="6699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Run-time heap</a:t>
            </a:r>
          </a:p>
          <a:p>
            <a:r>
              <a:rPr lang="en-US" altLang="en-US" sz="1600" b="0">
                <a:latin typeface="Arial" panose="020B0604020202020204" pitchFamily="34" charset="0"/>
              </a:rPr>
              <a:t>(created at runtime by malloc)</a:t>
            </a:r>
          </a:p>
        </p:txBody>
      </p:sp>
      <p:sp>
        <p:nvSpPr>
          <p:cNvPr id="34821" name="Rectangle 74">
            <a:extLst>
              <a:ext uri="{FF2B5EF4-FFF2-40B4-BE49-F238E27FC236}">
                <a16:creationId xmlns:a16="http://schemas.microsoft.com/office/drawing/2014/main" id="{FC349A60-4985-264E-A930-DB37A1DD6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903413"/>
            <a:ext cx="2789237" cy="906462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4822" name="Line 78">
            <a:extLst>
              <a:ext uri="{FF2B5EF4-FFF2-40B4-BE49-F238E27FC236}">
                <a16:creationId xmlns:a16="http://schemas.microsoft.com/office/drawing/2014/main" id="{7E44CCD8-94D8-A14C-8E56-33D26D01A8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4575" y="3808413"/>
            <a:ext cx="0" cy="3810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Rectangle 79">
            <a:extLst>
              <a:ext uri="{FF2B5EF4-FFF2-40B4-BE49-F238E27FC236}">
                <a16:creationId xmlns:a16="http://schemas.microsoft.com/office/drawing/2014/main" id="{C0C88722-C084-8F48-91CE-AE9022391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1568450"/>
            <a:ext cx="2789237" cy="56356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User stack</a:t>
            </a:r>
          </a:p>
          <a:p>
            <a:r>
              <a:rPr lang="en-US" altLang="en-US" sz="1600" b="0">
                <a:latin typeface="Arial" panose="020B0604020202020204" pitchFamily="34" charset="0"/>
              </a:rPr>
              <a:t>(created at runtime)</a:t>
            </a:r>
          </a:p>
        </p:txBody>
      </p:sp>
      <p:sp>
        <p:nvSpPr>
          <p:cNvPr id="34824" name="Line 80">
            <a:extLst>
              <a:ext uri="{FF2B5EF4-FFF2-40B4-BE49-F238E27FC236}">
                <a16:creationId xmlns:a16="http://schemas.microsoft.com/office/drawing/2014/main" id="{AD45181E-A445-9C4C-B9EF-D1AA1471B5A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854575" y="2589213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5" name="Line 81">
            <a:extLst>
              <a:ext uri="{FF2B5EF4-FFF2-40B4-BE49-F238E27FC236}">
                <a16:creationId xmlns:a16="http://schemas.microsoft.com/office/drawing/2014/main" id="{434B0114-1B8D-5340-B92C-A64B9FAD8D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54575" y="2132013"/>
            <a:ext cx="0" cy="2286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26" name="Rectangle 82">
            <a:extLst>
              <a:ext uri="{FF2B5EF4-FFF2-40B4-BE49-F238E27FC236}">
                <a16:creationId xmlns:a16="http://schemas.microsoft.com/office/drawing/2014/main" id="{8D1B61A9-79B0-1D40-AE13-E632E139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6170613"/>
            <a:ext cx="2789238" cy="396875"/>
          </a:xfrm>
          <a:prstGeom prst="rect">
            <a:avLst/>
          </a:prstGeom>
          <a:solidFill>
            <a:srgbClr val="C0C0C0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Unused</a:t>
            </a:r>
          </a:p>
        </p:txBody>
      </p:sp>
      <p:sp>
        <p:nvSpPr>
          <p:cNvPr id="34827" name="Text Box 83">
            <a:extLst>
              <a:ext uri="{FF2B5EF4-FFF2-40B4-BE49-F238E27FC236}">
                <a16:creationId xmlns:a16="http://schemas.microsoft.com/office/drawing/2014/main" id="{CE2AD673-9105-E740-9544-A19067917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8650" y="6357938"/>
            <a:ext cx="2762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34828" name="Text Box 86">
            <a:extLst>
              <a:ext uri="{FF2B5EF4-FFF2-40B4-BE49-F238E27FC236}">
                <a16:creationId xmlns:a16="http://schemas.microsoft.com/office/drawing/2014/main" id="{50846609-D90D-EA43-ABE6-14B97BC48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275" y="762000"/>
            <a:ext cx="11398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Memory</a:t>
            </a:r>
          </a:p>
          <a:p>
            <a:r>
              <a:rPr lang="en-US" altLang="en-US" sz="1600" b="0">
                <a:latin typeface="Arial" panose="020B0604020202020204" pitchFamily="34" charset="0"/>
              </a:rPr>
              <a:t>invisible to</a:t>
            </a:r>
          </a:p>
          <a:p>
            <a:r>
              <a:rPr lang="en-US" altLang="en-US" sz="1600" b="0">
                <a:latin typeface="Arial" panose="020B0604020202020204" pitchFamily="34" charset="0"/>
              </a:rPr>
              <a:t>user code</a:t>
            </a:r>
          </a:p>
        </p:txBody>
      </p:sp>
      <p:sp>
        <p:nvSpPr>
          <p:cNvPr id="34829" name="Line 87">
            <a:extLst>
              <a:ext uri="{FF2B5EF4-FFF2-40B4-BE49-F238E27FC236}">
                <a16:creationId xmlns:a16="http://schemas.microsoft.com/office/drawing/2014/main" id="{F52CBC68-278D-F844-838C-E9C10311D3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02375" y="1065213"/>
            <a:ext cx="0" cy="45720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30" name="Text Box 108">
            <a:extLst>
              <a:ext uri="{FF2B5EF4-FFF2-40B4-BE49-F238E27FC236}">
                <a16:creationId xmlns:a16="http://schemas.microsoft.com/office/drawing/2014/main" id="{CFC11D45-CEF4-8A44-9CFF-68706FA3E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382713"/>
            <a:ext cx="1104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0xc0000000</a:t>
            </a:r>
          </a:p>
        </p:txBody>
      </p:sp>
      <p:sp>
        <p:nvSpPr>
          <p:cNvPr id="34831" name="Text Box 109">
            <a:extLst>
              <a:ext uri="{FF2B5EF4-FFF2-40B4-BE49-F238E27FC236}">
                <a16:creationId xmlns:a16="http://schemas.microsoft.com/office/drawing/2014/main" id="{E296B39F-575A-974B-847D-0A4CB244D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954713"/>
            <a:ext cx="1104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0x08048000</a:t>
            </a:r>
          </a:p>
        </p:txBody>
      </p:sp>
      <p:sp>
        <p:nvSpPr>
          <p:cNvPr id="34832" name="Text Box 114">
            <a:extLst>
              <a:ext uri="{FF2B5EF4-FFF2-40B4-BE49-F238E27FC236}">
                <a16:creationId xmlns:a16="http://schemas.microsoft.com/office/drawing/2014/main" id="{6857D849-4F56-F340-A956-775AB31F0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287713"/>
            <a:ext cx="1104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0x40000000</a:t>
            </a:r>
          </a:p>
        </p:txBody>
      </p:sp>
      <p:sp>
        <p:nvSpPr>
          <p:cNvPr id="34833" name="Rectangle 116">
            <a:extLst>
              <a:ext uri="{FF2B5EF4-FFF2-40B4-BE49-F238E27FC236}">
                <a16:creationId xmlns:a16="http://schemas.microsoft.com/office/drawing/2014/main" id="{661CE14D-865D-FA4D-9085-CF5E32656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4875213"/>
            <a:ext cx="2789238" cy="6699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Read/write data </a:t>
            </a:r>
          </a:p>
        </p:txBody>
      </p:sp>
      <p:sp>
        <p:nvSpPr>
          <p:cNvPr id="34834" name="Rectangle 117">
            <a:extLst>
              <a:ext uri="{FF2B5EF4-FFF2-40B4-BE49-F238E27FC236}">
                <a16:creationId xmlns:a16="http://schemas.microsoft.com/office/drawing/2014/main" id="{9FD0988F-A31C-5149-9C56-23880D873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775" y="5500688"/>
            <a:ext cx="2789238" cy="6699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Read-only code and data</a:t>
            </a:r>
          </a:p>
        </p:txBody>
      </p:sp>
      <p:sp>
        <p:nvSpPr>
          <p:cNvPr id="34835" name="AutoShape 118">
            <a:extLst>
              <a:ext uri="{FF2B5EF4-FFF2-40B4-BE49-F238E27FC236}">
                <a16:creationId xmlns:a16="http://schemas.microsoft.com/office/drawing/2014/main" id="{6525B21A-5AAE-C84A-A9B3-23D6BD1A6C6E}"/>
              </a:ext>
            </a:extLst>
          </p:cNvPr>
          <p:cNvSpPr>
            <a:spLocks/>
          </p:cNvSpPr>
          <p:nvPr/>
        </p:nvSpPr>
        <p:spPr bwMode="auto">
          <a:xfrm>
            <a:off x="6302375" y="4875213"/>
            <a:ext cx="76200" cy="12954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4836" name="Text Box 119">
            <a:extLst>
              <a:ext uri="{FF2B5EF4-FFF2-40B4-BE49-F238E27FC236}">
                <a16:creationId xmlns:a16="http://schemas.microsoft.com/office/drawing/2014/main" id="{3344A170-43BD-6449-944E-8FB3D5940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4775" y="5256213"/>
            <a:ext cx="1738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Loaded from the </a:t>
            </a:r>
          </a:p>
          <a:p>
            <a:r>
              <a:rPr lang="en-US" altLang="en-US" sz="1600" b="0">
                <a:latin typeface="Arial" panose="020B0604020202020204" pitchFamily="34" charset="0"/>
              </a:rPr>
              <a:t>executable file</a:t>
            </a:r>
          </a:p>
        </p:txBody>
      </p:sp>
      <p:sp>
        <p:nvSpPr>
          <p:cNvPr id="34837" name="Text Box 120">
            <a:extLst>
              <a:ext uri="{FF2B5EF4-FFF2-40B4-BE49-F238E27FC236}">
                <a16:creationId xmlns:a16="http://schemas.microsoft.com/office/drawing/2014/main" id="{84AE6578-95AA-354C-965F-C1FC4E77B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2971800"/>
            <a:ext cx="15557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b="0">
                <a:latin typeface="Arial" panose="020B0604020202020204" pitchFamily="34" charset="0"/>
              </a:rPr>
              <a:t>printf() function</a:t>
            </a:r>
          </a:p>
        </p:txBody>
      </p:sp>
      <p:sp>
        <p:nvSpPr>
          <p:cNvPr id="34838" name="Text Box 121">
            <a:extLst>
              <a:ext uri="{FF2B5EF4-FFF2-40B4-BE49-F238E27FC236}">
                <a16:creationId xmlns:a16="http://schemas.microsoft.com/office/drawing/2014/main" id="{107508C1-2712-B343-92F0-AEB27EC80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1003300"/>
            <a:ext cx="11049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>
                <a:latin typeface="Courier New" panose="02070309020205020404" pitchFamily="49" charset="0"/>
              </a:rPr>
              <a:t>0xffffffff</a:t>
            </a:r>
          </a:p>
        </p:txBody>
      </p:sp>
      <p:sp>
        <p:nvSpPr>
          <p:cNvPr id="34839" name="Content Placeholder 2">
            <a:extLst>
              <a:ext uri="{FF2B5EF4-FFF2-40B4-BE49-F238E27FC236}">
                <a16:creationId xmlns:a16="http://schemas.microsoft.com/office/drawing/2014/main" id="{C2EA75B6-B2AE-1044-A82D-F20056DA1E41}"/>
              </a:ext>
            </a:extLst>
          </p:cNvPr>
          <p:cNvSpPr txBox="1">
            <a:spLocks/>
          </p:cNvSpPr>
          <p:nvPr/>
        </p:nvSpPr>
        <p:spPr bwMode="auto">
          <a:xfrm>
            <a:off x="685800" y="533400"/>
            <a:ext cx="3505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Main Memory in ISA 32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1251</TotalTime>
  <Words>532</Words>
  <Application>Microsoft Macintosh PowerPoint</Application>
  <PresentationFormat>On-screen Show (4:3)</PresentationFormat>
  <Paragraphs>256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ＭＳ Ｐゴシック</vt:lpstr>
      <vt:lpstr>Arial</vt:lpstr>
      <vt:lpstr>Calibri</vt:lpstr>
      <vt:lpstr>Courier New</vt:lpstr>
      <vt:lpstr>Franklin Gothic Book</vt:lpstr>
      <vt:lpstr>News Gothic MT</vt:lpstr>
      <vt:lpstr>Times</vt:lpstr>
      <vt:lpstr>Times New Roman</vt:lpstr>
      <vt:lpstr>Wingdings</vt:lpstr>
      <vt:lpstr>Wingdings 2</vt:lpstr>
      <vt:lpstr>Wingdings 3</vt:lpstr>
      <vt:lpstr>Breeze</vt:lpstr>
      <vt:lpstr>Chart</vt:lpstr>
      <vt:lpstr>PowerPoint Presentation</vt:lpstr>
      <vt:lpstr>Storing 1 Bit</vt:lpstr>
      <vt:lpstr>Storing 1 Bit (cont.)</vt:lpstr>
      <vt:lpstr>Physical Analogy</vt:lpstr>
      <vt:lpstr>Storing and Accessing 1 Bit</vt:lpstr>
      <vt:lpstr>1-Bit Latch</vt:lpstr>
      <vt:lpstr>Transparent 1-Bit Latch</vt:lpstr>
      <vt:lpstr>Edge-Triggered Latch</vt:lpstr>
      <vt:lpstr>Registers</vt:lpstr>
      <vt:lpstr>Register Operation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Ryan Balachandran</cp:lastModifiedBy>
  <cp:revision>136</cp:revision>
  <dcterms:created xsi:type="dcterms:W3CDTF">2004-01-20T22:43:44Z</dcterms:created>
  <dcterms:modified xsi:type="dcterms:W3CDTF">2019-11-18T16:14:29Z</dcterms:modified>
</cp:coreProperties>
</file>