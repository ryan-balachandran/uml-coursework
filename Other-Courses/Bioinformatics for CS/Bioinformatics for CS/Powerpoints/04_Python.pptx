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9" r:id="rId2"/>
    <p:sldId id="262" r:id="rId3"/>
    <p:sldId id="460" r:id="rId4"/>
    <p:sldId id="271" r:id="rId5"/>
    <p:sldId id="272" r:id="rId6"/>
    <p:sldId id="263" r:id="rId7"/>
    <p:sldId id="266" r:id="rId8"/>
    <p:sldId id="268" r:id="rId9"/>
    <p:sldId id="276" r:id="rId10"/>
    <p:sldId id="269" r:id="rId11"/>
    <p:sldId id="273" r:id="rId12"/>
    <p:sldId id="274" r:id="rId13"/>
    <p:sldId id="461" r:id="rId14"/>
    <p:sldId id="278" r:id="rId15"/>
    <p:sldId id="279" r:id="rId16"/>
    <p:sldId id="446" r:id="rId17"/>
    <p:sldId id="449" r:id="rId18"/>
    <p:sldId id="451" r:id="rId19"/>
    <p:sldId id="445" r:id="rId20"/>
    <p:sldId id="450" r:id="rId21"/>
    <p:sldId id="280" r:id="rId22"/>
    <p:sldId id="452" r:id="rId23"/>
    <p:sldId id="463" r:id="rId24"/>
    <p:sldId id="281" r:id="rId25"/>
    <p:sldId id="282" r:id="rId26"/>
    <p:sldId id="462" r:id="rId27"/>
    <p:sldId id="284" r:id="rId28"/>
    <p:sldId id="415" r:id="rId29"/>
    <p:sldId id="283" r:id="rId30"/>
    <p:sldId id="399" r:id="rId31"/>
    <p:sldId id="453" r:id="rId32"/>
    <p:sldId id="454" r:id="rId33"/>
    <p:sldId id="447" r:id="rId34"/>
    <p:sldId id="287" r:id="rId35"/>
    <p:sldId id="261" r:id="rId36"/>
    <p:sldId id="288" r:id="rId37"/>
    <p:sldId id="289" r:id="rId38"/>
    <p:sldId id="290" r:id="rId39"/>
    <p:sldId id="292" r:id="rId40"/>
    <p:sldId id="457" r:id="rId41"/>
    <p:sldId id="458" r:id="rId42"/>
    <p:sldId id="459" r:id="rId43"/>
    <p:sldId id="277" r:id="rId44"/>
    <p:sldId id="465" r:id="rId45"/>
    <p:sldId id="466" r:id="rId46"/>
    <p:sldId id="467" r:id="rId47"/>
    <p:sldId id="468" r:id="rId48"/>
    <p:sldId id="469" r:id="rId49"/>
    <p:sldId id="285" r:id="rId50"/>
    <p:sldId id="470" r:id="rId51"/>
    <p:sldId id="471" r:id="rId52"/>
    <p:sldId id="472" r:id="rId5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/>
    <p:restoredTop sz="94682"/>
  </p:normalViewPr>
  <p:slideViewPr>
    <p:cSldViewPr>
      <p:cViewPr varScale="1">
        <p:scale>
          <a:sx n="144" d="100"/>
          <a:sy n="144" d="100"/>
        </p:scale>
        <p:origin x="208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39FD-F844-6F4B-BE52-7AA499A0A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35D3C-F9C0-634A-8C3B-B32974F2D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A0F70-A57A-9845-BDF6-12C6CE9F6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6B855-4D36-B54D-BC72-55CEE5E2E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22168-3D9A-9341-B9E8-7088E56BC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D8637-A691-534C-A839-49608427C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A28D7-6DA6-1144-8DA5-8F08573DA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AE0ED-5F1E-6647-8F83-9C45AD11D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956BA-B636-0B4E-A907-233FEC4C8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F7EE2-9186-7345-A71E-294A5F400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0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EC269-F240-5A43-99B5-898EEA0E2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14128-A7D6-B449-90AD-7B5B04CBE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CE9C9-56BD-744C-8582-D9AECA6D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4D5E0-8976-3047-8857-453A54BBE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94018-05B1-7748-9C83-BFDBF0AB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6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ED6BB-C718-8E4F-90C3-64ABF671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218A0-8F06-784B-BE4A-830A41D15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093E3-77D5-AD4B-A383-B889A78BF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A7531-581C-A640-8734-1D1E1F73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43C64-8C0E-AA4A-AA0D-7CF7B645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14187-5BE8-8E48-B1D2-0A8F03A8D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0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23BF9-6E56-0942-971B-3697F2130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50713-4C6A-8641-B914-58B1EE94E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2A26C-F42F-0B49-AED4-8B847F0C4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22C248-5971-8F42-A796-9A955C3D19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55690-A814-0C46-ADAA-AECFAB30E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45DAA8-D8F7-E948-B216-02CCA88AD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6EEAD-9D43-3340-965F-CBCC937D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92BA64-CC2F-4F49-9C89-BFFE4A8F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76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F8CFD-462B-7944-9A56-2CCB55E4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83B180-C49C-C84E-B84F-59D2ED03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5A6E23-E5BF-904E-931B-B4E8C4FF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CE695-19ED-D847-84C1-D50F6A5E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97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6FAA9E-EDAF-0349-87B6-D2D23107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32D091-ABCF-4D49-8B84-3CE4E0F74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EEC06-7656-DC40-8FB7-98A72808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10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B0FA7-4EA0-E14C-B52B-A35791FD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F9DF8-3190-304F-AAC4-D99153BC5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A6907-D818-F046-A496-16BDF0C6A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E3571-BA1D-3C45-9B10-4B3BE22BF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41DBC-DD84-5C41-BC5F-8A54CA085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45252-DF41-1445-8DED-00644205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5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0BA97-BFDB-E947-A6F5-030ACB960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D8A4B7-F81F-E747-A200-5C5D247BF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742A4-5089-1B43-94A5-3B4E273B7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0C217-85BA-D74A-BBA1-D4105FCE7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9B6D7-61AC-304A-B83E-A2450F293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4A7ED-C24D-2849-8742-FC24C3F2D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1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C9972-F469-2F48-984F-97B7D1DF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858E9-1976-AB45-9B2A-8F8BB5B6F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4D47B-FCEB-C149-8D22-840FEDEA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E3B09-1D9A-9B44-9248-72896114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4D160-FEFA-9342-9C52-1C8ACFA47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56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360188-C315-5346-A832-D11E54283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B7E9B-98A4-654A-9F12-A03427D39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966ED-CA96-124C-8936-E05771408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0DD94-5765-AF45-B29D-B8B3C8BA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32340-F6C5-1D47-9B85-61BAA9FF6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26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40293B-83AE-884D-B222-9806182DE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A8899-C706-B94A-BC0D-27C78ED2D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FA161-7480-814C-ACCE-F6D3D03FE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E5371-1583-0B44-8B1A-04C055C8D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B3A39-E563-1D44-811C-58895E436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6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aconda.com/anaconda/install/windows/" TargetMode="External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cipy.org/doc/numpy/reference/generated/numpy.linalg.eig.html" TargetMode="Externa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4767" y="403936"/>
            <a:ext cx="34734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Why</a:t>
            </a:r>
            <a:r>
              <a:rPr spc="-35" dirty="0"/>
              <a:t> </a:t>
            </a:r>
            <a:r>
              <a:rPr spc="-5" dirty="0"/>
              <a:t>Python?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676400"/>
            <a:ext cx="6630034" cy="3858107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cs typeface="Cambria"/>
              </a:rPr>
              <a:t>Open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Source </a:t>
            </a:r>
            <a:r>
              <a:rPr sz="2400" dirty="0">
                <a:solidFill>
                  <a:srgbClr val="404040"/>
                </a:solidFill>
                <a:cs typeface="Cambria"/>
              </a:rPr>
              <a:t>–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free to </a:t>
            </a:r>
            <a:r>
              <a:rPr sz="2400" dirty="0">
                <a:solidFill>
                  <a:srgbClr val="404040"/>
                </a:solidFill>
                <a:cs typeface="Cambria"/>
              </a:rPr>
              <a:t>install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(compare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to</a:t>
            </a:r>
            <a:r>
              <a:rPr sz="2400" spc="-3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dirty="0">
                <a:solidFill>
                  <a:srgbClr val="404040"/>
                </a:solidFill>
                <a:cs typeface="Cambria"/>
              </a:rPr>
              <a:t>Matlab)</a:t>
            </a:r>
            <a:endParaRPr sz="2400" dirty="0"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8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10" dirty="0">
                <a:solidFill>
                  <a:srgbClr val="404040"/>
                </a:solidFill>
                <a:cs typeface="Cambria"/>
              </a:rPr>
              <a:t>Great </a:t>
            </a:r>
            <a:r>
              <a:rPr sz="2400" dirty="0">
                <a:solidFill>
                  <a:srgbClr val="404040"/>
                </a:solidFill>
                <a:cs typeface="Cambria"/>
              </a:rPr>
              <a:t>online</a:t>
            </a:r>
            <a:r>
              <a:rPr sz="2400" spc="-4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community</a:t>
            </a:r>
            <a:endParaRPr sz="2400" dirty="0"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9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lang="en-US" sz="2400" spc="-45" dirty="0">
                <a:solidFill>
                  <a:srgbClr val="404040"/>
                </a:solidFill>
                <a:cs typeface="Cambria"/>
              </a:rPr>
              <a:t>E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asy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to</a:t>
            </a:r>
            <a:r>
              <a:rPr sz="2400" spc="6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learn</a:t>
            </a:r>
            <a:endParaRPr sz="2400" dirty="0">
              <a:cs typeface="Cambria"/>
            </a:endParaRPr>
          </a:p>
          <a:p>
            <a:pPr marL="241300" marR="193040" indent="-228600">
              <a:lnSpc>
                <a:spcPts val="2590"/>
              </a:lnSpc>
              <a:spcBef>
                <a:spcPts val="61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  <a:tab pos="6007735" algn="l"/>
              </a:tabLst>
            </a:pPr>
            <a:r>
              <a:rPr sz="2400" spc="-10" dirty="0">
                <a:solidFill>
                  <a:srgbClr val="404040"/>
                </a:solidFill>
                <a:cs typeface="Cambria"/>
              </a:rPr>
              <a:t>C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a</a:t>
            </a:r>
            <a:r>
              <a:rPr sz="2400" dirty="0">
                <a:solidFill>
                  <a:srgbClr val="404040"/>
                </a:solidFill>
                <a:cs typeface="Cambria"/>
              </a:rPr>
              <a:t>n</a:t>
            </a:r>
            <a:r>
              <a:rPr sz="2400" spc="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dirty="0">
                <a:solidFill>
                  <a:srgbClr val="404040"/>
                </a:solidFill>
                <a:cs typeface="Cambria"/>
              </a:rPr>
              <a:t>be</a:t>
            </a:r>
            <a:r>
              <a:rPr sz="2400" spc="-2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use</a:t>
            </a:r>
            <a:r>
              <a:rPr sz="2400" dirty="0">
                <a:solidFill>
                  <a:srgbClr val="404040"/>
                </a:solidFill>
                <a:cs typeface="Cambria"/>
              </a:rPr>
              <a:t>d</a:t>
            </a:r>
            <a:r>
              <a:rPr sz="2400" spc="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35" dirty="0">
                <a:solidFill>
                  <a:srgbClr val="404040"/>
                </a:solidFill>
                <a:cs typeface="Cambria"/>
              </a:rPr>
              <a:t>f</a:t>
            </a:r>
            <a:r>
              <a:rPr sz="2400" dirty="0">
                <a:solidFill>
                  <a:srgbClr val="404040"/>
                </a:solidFill>
                <a:cs typeface="Cambria"/>
              </a:rPr>
              <a:t>or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dirty="0">
                <a:solidFill>
                  <a:srgbClr val="404040"/>
                </a:solidFill>
                <a:cs typeface="Cambria"/>
              </a:rPr>
              <a:t>both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d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a</a:t>
            </a:r>
            <a:r>
              <a:rPr sz="2400" spc="5" dirty="0">
                <a:solidFill>
                  <a:srgbClr val="404040"/>
                </a:solidFill>
                <a:cs typeface="Cambria"/>
              </a:rPr>
              <a:t>t</a:t>
            </a:r>
            <a:r>
              <a:rPr sz="2400" dirty="0">
                <a:solidFill>
                  <a:srgbClr val="404040"/>
                </a:solidFill>
                <a:cs typeface="Cambria"/>
              </a:rPr>
              <a:t>a</a:t>
            </a:r>
            <a:r>
              <a:rPr sz="2400" spc="2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dirty="0">
                <a:solidFill>
                  <a:srgbClr val="404040"/>
                </a:solidFill>
                <a:cs typeface="Cambria"/>
              </a:rPr>
              <a:t>scie</a:t>
            </a:r>
            <a:r>
              <a:rPr sz="2400" spc="10" dirty="0">
                <a:solidFill>
                  <a:srgbClr val="404040"/>
                </a:solidFill>
                <a:cs typeface="Cambria"/>
              </a:rPr>
              <a:t>n</a:t>
            </a:r>
            <a:r>
              <a:rPr sz="2400" dirty="0">
                <a:solidFill>
                  <a:srgbClr val="404040"/>
                </a:solidFill>
                <a:cs typeface="Cambria"/>
              </a:rPr>
              <a:t>ce</a:t>
            </a:r>
            <a:r>
              <a:rPr sz="2400" spc="-2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a</a:t>
            </a:r>
            <a:r>
              <a:rPr sz="2400" dirty="0">
                <a:solidFill>
                  <a:srgbClr val="404040"/>
                </a:solidFill>
                <a:cs typeface="Cambria"/>
              </a:rPr>
              <a:t>s</a:t>
            </a:r>
            <a:r>
              <a:rPr sz="2400" spc="2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35" dirty="0">
                <a:solidFill>
                  <a:srgbClr val="404040"/>
                </a:solidFill>
                <a:cs typeface="Cambria"/>
              </a:rPr>
              <a:t>w</a:t>
            </a:r>
            <a:r>
              <a:rPr sz="2400" dirty="0">
                <a:solidFill>
                  <a:srgbClr val="404040"/>
                </a:solidFill>
                <a:cs typeface="Cambria"/>
              </a:rPr>
              <a:t>ell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a</a:t>
            </a:r>
            <a:r>
              <a:rPr sz="2400" dirty="0">
                <a:solidFill>
                  <a:srgbClr val="404040"/>
                </a:solidFill>
                <a:cs typeface="Cambria"/>
              </a:rPr>
              <a:t>s</a:t>
            </a:r>
            <a:r>
              <a:rPr lang="en-US" sz="240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5" dirty="0">
                <a:solidFill>
                  <a:srgbClr val="404040"/>
                </a:solidFill>
                <a:cs typeface="Cambria"/>
              </a:rPr>
              <a:t>t</a:t>
            </a:r>
            <a:r>
              <a:rPr sz="2400" dirty="0">
                <a:solidFill>
                  <a:srgbClr val="404040"/>
                </a:solidFill>
                <a:cs typeface="Cambria"/>
              </a:rPr>
              <a:t>he 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complete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software</a:t>
            </a:r>
            <a:r>
              <a:rPr sz="2400" spc="2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stack.</a:t>
            </a:r>
            <a:endParaRPr sz="2400" dirty="0"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A63112"/>
              </a:buClr>
              <a:buFont typeface="Wingdings"/>
              <a:buChar char=""/>
            </a:pPr>
            <a:endParaRPr sz="2950" dirty="0"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cs typeface="Cambria"/>
              </a:rPr>
              <a:t>Needless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to </a:t>
            </a:r>
            <a:r>
              <a:rPr sz="2400" spc="-65" dirty="0">
                <a:solidFill>
                  <a:srgbClr val="404040"/>
                </a:solidFill>
                <a:cs typeface="Cambria"/>
              </a:rPr>
              <a:t>say, </a:t>
            </a:r>
            <a:r>
              <a:rPr sz="2400" dirty="0">
                <a:solidFill>
                  <a:srgbClr val="404040"/>
                </a:solidFill>
                <a:cs typeface="Cambria"/>
              </a:rPr>
              <a:t>it still has </a:t>
            </a:r>
            <a:r>
              <a:rPr lang="en-US" sz="2400" dirty="0">
                <a:solidFill>
                  <a:srgbClr val="404040"/>
                </a:solidFill>
                <a:cs typeface="Cambria"/>
              </a:rPr>
              <a:t>a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few </a:t>
            </a:r>
            <a:r>
              <a:rPr sz="2400" spc="-20" dirty="0">
                <a:solidFill>
                  <a:srgbClr val="404040"/>
                </a:solidFill>
                <a:cs typeface="Cambria"/>
              </a:rPr>
              <a:t>drawbacks</a:t>
            </a:r>
            <a:r>
              <a:rPr sz="2400" spc="14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too:</a:t>
            </a:r>
            <a:endParaRPr sz="2400" dirty="0">
              <a:cs typeface="Cambria"/>
            </a:endParaRPr>
          </a:p>
          <a:p>
            <a:pPr marL="570230" marR="100965" lvl="1" indent="-228600">
              <a:lnSpc>
                <a:spcPts val="2380"/>
              </a:lnSpc>
              <a:spcBef>
                <a:spcPts val="570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sz="2200" dirty="0">
                <a:solidFill>
                  <a:srgbClr val="404040"/>
                </a:solidFill>
                <a:cs typeface="Cambria"/>
              </a:rPr>
              <a:t>It is an </a:t>
            </a:r>
            <a:r>
              <a:rPr sz="2200" spc="-5" dirty="0">
                <a:solidFill>
                  <a:srgbClr val="404040"/>
                </a:solidFill>
                <a:cs typeface="Cambria"/>
              </a:rPr>
              <a:t>interpreted language </a:t>
            </a:r>
            <a:r>
              <a:rPr sz="2200" spc="-10" dirty="0">
                <a:solidFill>
                  <a:srgbClr val="404040"/>
                </a:solidFill>
                <a:cs typeface="Cambria"/>
              </a:rPr>
              <a:t>rather </a:t>
            </a:r>
            <a:r>
              <a:rPr sz="2200" dirty="0">
                <a:solidFill>
                  <a:srgbClr val="404040"/>
                </a:solidFill>
                <a:cs typeface="Cambria"/>
              </a:rPr>
              <a:t>than </a:t>
            </a:r>
            <a:r>
              <a:rPr sz="2200" spc="5" dirty="0">
                <a:solidFill>
                  <a:srgbClr val="404040"/>
                </a:solidFill>
                <a:cs typeface="Cambria"/>
              </a:rPr>
              <a:t>compiled  </a:t>
            </a:r>
            <a:r>
              <a:rPr sz="2200" spc="-5" dirty="0">
                <a:solidFill>
                  <a:srgbClr val="404040"/>
                </a:solidFill>
                <a:cs typeface="Cambria"/>
              </a:rPr>
              <a:t>language </a:t>
            </a:r>
            <a:r>
              <a:rPr sz="2200" dirty="0">
                <a:solidFill>
                  <a:srgbClr val="404040"/>
                </a:solidFill>
                <a:cs typeface="Cambria"/>
              </a:rPr>
              <a:t>– hence </a:t>
            </a:r>
            <a:r>
              <a:rPr sz="2200" spc="-5" dirty="0">
                <a:solidFill>
                  <a:srgbClr val="404040"/>
                </a:solidFill>
                <a:cs typeface="Cambria"/>
              </a:rPr>
              <a:t>might </a:t>
            </a:r>
            <a:r>
              <a:rPr sz="2200" spc="-15" dirty="0">
                <a:solidFill>
                  <a:srgbClr val="404040"/>
                </a:solidFill>
                <a:cs typeface="Cambria"/>
              </a:rPr>
              <a:t>take </a:t>
            </a:r>
            <a:r>
              <a:rPr sz="2200" dirty="0">
                <a:solidFill>
                  <a:srgbClr val="404040"/>
                </a:solidFill>
                <a:cs typeface="Cambria"/>
              </a:rPr>
              <a:t>up </a:t>
            </a:r>
            <a:r>
              <a:rPr sz="2200" spc="-5" dirty="0">
                <a:solidFill>
                  <a:srgbClr val="404040"/>
                </a:solidFill>
                <a:cs typeface="Cambria"/>
              </a:rPr>
              <a:t>more </a:t>
            </a:r>
            <a:r>
              <a:rPr sz="2200" dirty="0">
                <a:solidFill>
                  <a:srgbClr val="404040"/>
                </a:solidFill>
                <a:cs typeface="Cambria"/>
              </a:rPr>
              <a:t>CPU</a:t>
            </a:r>
            <a:r>
              <a:rPr sz="2200" spc="-65" dirty="0">
                <a:solidFill>
                  <a:srgbClr val="404040"/>
                </a:solidFill>
                <a:cs typeface="Cambria"/>
              </a:rPr>
              <a:t> </a:t>
            </a:r>
            <a:r>
              <a:rPr sz="2200" dirty="0">
                <a:solidFill>
                  <a:srgbClr val="404040"/>
                </a:solidFill>
                <a:cs typeface="Cambria"/>
              </a:rPr>
              <a:t>time.</a:t>
            </a:r>
            <a:endParaRPr sz="2200" dirty="0">
              <a:cs typeface="Cambria"/>
            </a:endParaRPr>
          </a:p>
          <a:p>
            <a:pPr marL="570230" lvl="1" indent="-228600">
              <a:lnSpc>
                <a:spcPct val="100000"/>
              </a:lnSpc>
              <a:spcBef>
                <a:spcPts val="229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sz="2200" dirty="0">
                <a:solidFill>
                  <a:srgbClr val="404040"/>
                </a:solidFill>
                <a:cs typeface="Cambria"/>
              </a:rPr>
              <a:t>It is </a:t>
            </a:r>
            <a:r>
              <a:rPr sz="2200" spc="-5" dirty="0">
                <a:solidFill>
                  <a:srgbClr val="404040"/>
                </a:solidFill>
                <a:cs typeface="Cambria"/>
              </a:rPr>
              <a:t>getting</a:t>
            </a:r>
            <a:r>
              <a:rPr sz="2200" spc="-10" dirty="0">
                <a:solidFill>
                  <a:srgbClr val="404040"/>
                </a:solidFill>
                <a:cs typeface="Cambria"/>
              </a:rPr>
              <a:t> faster</a:t>
            </a:r>
            <a:endParaRPr sz="2200" dirty="0"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8630" y="403936"/>
            <a:ext cx="41236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Object</a:t>
            </a:r>
            <a:r>
              <a:rPr spc="-70" dirty="0"/>
              <a:t> </a:t>
            </a:r>
            <a:r>
              <a:rPr spc="-5" dirty="0"/>
              <a:t>Oriented</a:t>
            </a:r>
          </a:p>
        </p:txBody>
      </p:sp>
      <p:sp>
        <p:nvSpPr>
          <p:cNvPr id="3" name="object 3"/>
          <p:cNvSpPr/>
          <p:nvPr/>
        </p:nvSpPr>
        <p:spPr>
          <a:xfrm>
            <a:off x="377952" y="1676400"/>
            <a:ext cx="8247888" cy="38801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401327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5" dirty="0"/>
              <a:t>Installation, environment, etc.</a:t>
            </a:r>
            <a:endParaRPr sz="4000" spc="-5" dirty="0"/>
          </a:p>
        </p:txBody>
      </p:sp>
    </p:spTree>
    <p:extLst>
      <p:ext uri="{BB962C8B-B14F-4D97-AF65-F5344CB8AC3E}">
        <p14:creationId xmlns:p14="http://schemas.microsoft.com/office/powerpoint/2010/main" val="271250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6417" y="403936"/>
            <a:ext cx="60077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Python 2.7, 3.5, 3.6,</a:t>
            </a:r>
            <a:r>
              <a:rPr spc="-75" dirty="0"/>
              <a:t> </a:t>
            </a:r>
            <a:r>
              <a:rPr dirty="0"/>
              <a:t>3.7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2063241"/>
            <a:ext cx="6240780" cy="2513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choice of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python version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depends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on </a:t>
            </a:r>
            <a:r>
              <a:rPr sz="2400" spc="-20" dirty="0">
                <a:solidFill>
                  <a:srgbClr val="404040"/>
                </a:solidFill>
                <a:latin typeface="Cambria"/>
                <a:cs typeface="Cambria"/>
              </a:rPr>
              <a:t>your 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application</a:t>
            </a:r>
            <a:endParaRPr sz="24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3.*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mostly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backward</a:t>
            </a:r>
            <a:r>
              <a:rPr sz="2400" spc="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compatible</a:t>
            </a:r>
            <a:endParaRPr sz="24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2.7: some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libraries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still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work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2.7</a:t>
            </a:r>
            <a:endParaRPr sz="24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3.4/3.5/3.6/3.7: </a:t>
            </a:r>
            <a:r>
              <a:rPr sz="2400" spc="-30" dirty="0">
                <a:solidFill>
                  <a:srgbClr val="404040"/>
                </a:solidFill>
                <a:latin typeface="Cambria"/>
                <a:cs typeface="Cambria"/>
              </a:rPr>
              <a:t>cleaner, </a:t>
            </a:r>
            <a:r>
              <a:rPr sz="2400" spc="-45" dirty="0">
                <a:solidFill>
                  <a:srgbClr val="404040"/>
                </a:solidFill>
                <a:latin typeface="Cambria"/>
                <a:cs typeface="Cambria"/>
              </a:rPr>
              <a:t>faster,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future</a:t>
            </a:r>
            <a:endParaRPr sz="24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3.</a:t>
            </a:r>
            <a:r>
              <a:rPr lang="en-US" sz="2400" spc="-5" dirty="0">
                <a:solidFill>
                  <a:srgbClr val="404040"/>
                </a:solidFill>
                <a:latin typeface="Cambria"/>
                <a:cs typeface="Cambria"/>
              </a:rPr>
              <a:t>9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 released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in June</a:t>
            </a:r>
            <a:r>
              <a:rPr sz="2400" spc="-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20</a:t>
            </a:r>
            <a:r>
              <a:rPr lang="en-US" sz="2400" spc="-10" dirty="0">
                <a:solidFill>
                  <a:srgbClr val="404040"/>
                </a:solidFill>
                <a:latin typeface="Cambria"/>
                <a:cs typeface="Cambria"/>
              </a:rPr>
              <a:t>20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E31B87F-69D0-9742-8B6E-55759CC8E9E4}"/>
              </a:ext>
            </a:extLst>
          </p:cNvPr>
          <p:cNvSpPr/>
          <p:nvPr/>
        </p:nvSpPr>
        <p:spPr>
          <a:xfrm>
            <a:off x="762000" y="4191000"/>
            <a:ext cx="3962400" cy="5334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111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326" y="403936"/>
            <a:ext cx="36556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Python 2 </a:t>
            </a:r>
            <a:r>
              <a:rPr spc="-10" dirty="0"/>
              <a:t>vs.</a:t>
            </a:r>
            <a:r>
              <a:rPr spc="-95" dirty="0"/>
              <a:t> </a:t>
            </a:r>
            <a:r>
              <a:rPr dirty="0"/>
              <a:t>3</a:t>
            </a:r>
          </a:p>
        </p:txBody>
      </p:sp>
      <p:sp>
        <p:nvSpPr>
          <p:cNvPr id="3" name="object 3"/>
          <p:cNvSpPr/>
          <p:nvPr/>
        </p:nvSpPr>
        <p:spPr>
          <a:xfrm>
            <a:off x="539495" y="2048255"/>
            <a:ext cx="8065008" cy="2761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609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2900" y="38480"/>
            <a:ext cx="671385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4385" marR="5080" indent="-205232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Your </a:t>
            </a:r>
            <a:r>
              <a:rPr spc="-10" dirty="0"/>
              <a:t>Computer: </a:t>
            </a:r>
            <a:r>
              <a:rPr spc="-5" dirty="0"/>
              <a:t>Installing  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989940"/>
            <a:ext cx="6944995" cy="27411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40" dirty="0">
                <a:solidFill>
                  <a:srgbClr val="404040"/>
                </a:solidFill>
                <a:cs typeface="Cambria"/>
              </a:rPr>
              <a:t>Two</a:t>
            </a:r>
            <a:r>
              <a:rPr sz="2400" spc="1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Options:</a:t>
            </a:r>
            <a:endParaRPr sz="2400" dirty="0">
              <a:cs typeface="Cambria"/>
            </a:endParaRPr>
          </a:p>
          <a:p>
            <a:pPr marL="570230" lvl="1" indent="-228600">
              <a:lnSpc>
                <a:spcPct val="100000"/>
              </a:lnSpc>
              <a:spcBef>
                <a:spcPts val="540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sz="2200" dirty="0">
                <a:solidFill>
                  <a:srgbClr val="404040"/>
                </a:solidFill>
                <a:cs typeface="Cambria"/>
              </a:rPr>
              <a:t>Standalone </a:t>
            </a:r>
            <a:r>
              <a:rPr sz="2200" spc="-5" dirty="0">
                <a:solidFill>
                  <a:srgbClr val="404040"/>
                </a:solidFill>
                <a:cs typeface="Cambria"/>
              </a:rPr>
              <a:t>Python</a:t>
            </a:r>
            <a:r>
              <a:rPr sz="2200" spc="-40" dirty="0">
                <a:solidFill>
                  <a:srgbClr val="932308"/>
                </a:solidFill>
                <a:cs typeface="Cambria"/>
              </a:rPr>
              <a:t> </a:t>
            </a:r>
            <a:r>
              <a:rPr sz="2200" u="heavy" dirty="0">
                <a:solidFill>
                  <a:srgbClr val="932308"/>
                </a:solidFill>
                <a:uFill>
                  <a:solidFill>
                    <a:srgbClr val="932308"/>
                  </a:solidFill>
                </a:uFill>
                <a:cs typeface="Cambria"/>
                <a:hlinkClick r:id="rId2"/>
              </a:rPr>
              <a:t>Link</a:t>
            </a:r>
            <a:r>
              <a:rPr lang="ko-KR" altLang="en-US" sz="2200" u="heavy" dirty="0">
                <a:uFill>
                  <a:solidFill>
                    <a:srgbClr val="932308"/>
                  </a:solidFill>
                </a:uFill>
                <a:cs typeface="Cambria"/>
              </a:rPr>
              <a:t> </a:t>
            </a:r>
            <a:r>
              <a:rPr lang="en-US" altLang="ko-KR" sz="2200" u="heavy" dirty="0">
                <a:uFill>
                  <a:solidFill>
                    <a:srgbClr val="932308"/>
                  </a:solidFill>
                </a:uFill>
                <a:cs typeface="Cambria"/>
              </a:rPr>
              <a:t>(</a:t>
            </a:r>
            <a:r>
              <a:rPr lang="en-US" sz="1600" dirty="0">
                <a:hlinkClick r:id="rId2"/>
              </a:rPr>
              <a:t>https://www.python.org/downloads/</a:t>
            </a:r>
            <a:r>
              <a:rPr lang="en-US" altLang="ko-KR" sz="1600" dirty="0"/>
              <a:t>)</a:t>
            </a:r>
            <a:endParaRPr sz="1600" dirty="0">
              <a:cs typeface="Cambria"/>
            </a:endParaRPr>
          </a:p>
          <a:p>
            <a:pPr marL="570230" lvl="1" indent="-228600">
              <a:lnSpc>
                <a:spcPct val="100000"/>
              </a:lnSpc>
              <a:spcBef>
                <a:spcPts val="530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sz="2200" spc="5" dirty="0">
                <a:solidFill>
                  <a:srgbClr val="404040"/>
                </a:solidFill>
                <a:cs typeface="Cambria"/>
              </a:rPr>
              <a:t>Scientific </a:t>
            </a:r>
            <a:r>
              <a:rPr sz="2200" dirty="0">
                <a:solidFill>
                  <a:srgbClr val="404040"/>
                </a:solidFill>
                <a:cs typeface="Cambria"/>
              </a:rPr>
              <a:t>Bundles </a:t>
            </a:r>
            <a:r>
              <a:rPr sz="2200" spc="5" dirty="0">
                <a:solidFill>
                  <a:srgbClr val="404040"/>
                </a:solidFill>
                <a:cs typeface="Cambria"/>
              </a:rPr>
              <a:t>such </a:t>
            </a:r>
            <a:r>
              <a:rPr sz="2200" dirty="0">
                <a:solidFill>
                  <a:srgbClr val="404040"/>
                </a:solidFill>
                <a:cs typeface="Cambria"/>
              </a:rPr>
              <a:t>as Anaconda</a:t>
            </a:r>
            <a:endParaRPr lang="en-US" sz="2200" dirty="0">
              <a:solidFill>
                <a:srgbClr val="404040"/>
              </a:solidFill>
              <a:cs typeface="Cambria"/>
            </a:endParaRPr>
          </a:p>
          <a:p>
            <a:pPr marL="1027430" lvl="2" indent="-228600">
              <a:spcBef>
                <a:spcPts val="530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lang="en-US" sz="2000" dirty="0">
                <a:hlinkClick r:id="rId3"/>
              </a:rPr>
              <a:t>https://docs.anaconda.com/anaconda/install/windows/</a:t>
            </a:r>
            <a:endParaRPr sz="2000" dirty="0"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endParaRPr lang="en-US" sz="2400" spc="-75" dirty="0">
              <a:solidFill>
                <a:srgbClr val="404040"/>
              </a:solidFill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lang="en-US" sz="2400" spc="-5" dirty="0">
                <a:solidFill>
                  <a:srgbClr val="404040"/>
                </a:solidFill>
                <a:cs typeface="Cambria"/>
              </a:rPr>
              <a:t>Anaconda in recommended since it</a:t>
            </a:r>
            <a:r>
              <a:rPr sz="2400" spc="13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dirty="0">
                <a:solidFill>
                  <a:srgbClr val="404040"/>
                </a:solidFill>
                <a:cs typeface="Cambria"/>
              </a:rPr>
              <a:t>contains</a:t>
            </a:r>
            <a:endParaRPr sz="2400" dirty="0"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404040"/>
                </a:solidFill>
                <a:cs typeface="Cambria"/>
              </a:rPr>
              <a:t>most </a:t>
            </a:r>
            <a:r>
              <a:rPr sz="2400" dirty="0">
                <a:solidFill>
                  <a:srgbClr val="404040"/>
                </a:solidFill>
                <a:cs typeface="Cambria"/>
              </a:rPr>
              <a:t>of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the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relevant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libraries</a:t>
            </a:r>
            <a:endParaRPr sz="2400" dirty="0"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6254" y="838200"/>
            <a:ext cx="5071492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Execution -- </a:t>
            </a:r>
            <a:r>
              <a:rPr dirty="0"/>
              <a:t>Python</a:t>
            </a:r>
            <a:r>
              <a:rPr spc="-90" dirty="0"/>
              <a:t> </a:t>
            </a:r>
            <a:r>
              <a:rPr spc="-5" dirty="0"/>
              <a:t>Shell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FDA00B2-2238-BF46-917D-61E2726825BA}"/>
              </a:ext>
            </a:extLst>
          </p:cNvPr>
          <p:cNvSpPr txBox="1"/>
          <p:nvPr/>
        </p:nvSpPr>
        <p:spPr>
          <a:xfrm>
            <a:off x="1219200" y="1752600"/>
            <a:ext cx="6944995" cy="307968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lang="en-US" sz="2400" spc="-40" dirty="0">
                <a:solidFill>
                  <a:srgbClr val="404040"/>
                </a:solidFill>
                <a:cs typeface="Cambria"/>
              </a:rPr>
              <a:t>Python shell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:</a:t>
            </a:r>
            <a:endParaRPr sz="2400" dirty="0">
              <a:cs typeface="Cambria"/>
            </a:endParaRPr>
          </a:p>
          <a:p>
            <a:pPr marL="570230" lvl="1" indent="-228600">
              <a:lnSpc>
                <a:spcPct val="100000"/>
              </a:lnSpc>
              <a:spcBef>
                <a:spcPts val="540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lang="en-US" sz="2200" dirty="0">
                <a:solidFill>
                  <a:srgbClr val="404040"/>
                </a:solidFill>
                <a:cs typeface="Cambria"/>
              </a:rPr>
              <a:t>Standard interactive way of using python</a:t>
            </a:r>
          </a:p>
          <a:p>
            <a:pPr marL="1027430" lvl="2" indent="-228600">
              <a:spcBef>
                <a:spcPts val="540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lang="en-US" sz="2000" dirty="0">
                <a:solidFill>
                  <a:srgbClr val="404040"/>
                </a:solidFill>
                <a:cs typeface="Times New Roman"/>
              </a:rPr>
              <a:t>Runs in terminal (command prompt) window</a:t>
            </a:r>
          </a:p>
          <a:p>
            <a:pPr marL="1027430" lvl="2" indent="-228600">
              <a:spcBef>
                <a:spcPts val="540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lang="en-US" sz="2000" dirty="0">
                <a:solidFill>
                  <a:srgbClr val="404040"/>
                </a:solidFill>
                <a:cs typeface="Times New Roman"/>
              </a:rPr>
              <a:t>Has basic interactive interface</a:t>
            </a:r>
            <a:endParaRPr sz="2000" dirty="0"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endParaRPr lang="en-US" sz="2400" spc="-75" dirty="0">
              <a:solidFill>
                <a:srgbClr val="404040"/>
              </a:solidFill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lang="en-US" sz="2400" spc="-5" dirty="0">
                <a:solidFill>
                  <a:srgbClr val="404040"/>
                </a:solidFill>
                <a:cs typeface="Cambria"/>
              </a:rPr>
              <a:t>Type</a:t>
            </a:r>
          </a:p>
          <a:p>
            <a:pPr marL="698500" lvl="1" indent="-228600"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lang="en-US" sz="2400" spc="-5" dirty="0">
                <a:solidFill>
                  <a:srgbClr val="404040"/>
                </a:solidFill>
                <a:cs typeface="Cambria"/>
              </a:rPr>
              <a:t>python or python3 at command prompt</a:t>
            </a:r>
          </a:p>
          <a:p>
            <a:pPr marL="698500" lvl="1" indent="-228600"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lang="en-US" sz="2400" spc="-5" dirty="0">
                <a:solidFill>
                  <a:srgbClr val="404040"/>
                </a:solidFill>
                <a:cs typeface="Cambria"/>
              </a:rPr>
              <a:t>idle or idle3 to open script window</a:t>
            </a:r>
            <a:endParaRPr sz="2400" dirty="0"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839" y="403936"/>
            <a:ext cx="46107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Jupyter</a:t>
            </a:r>
            <a:r>
              <a:rPr spc="-35" dirty="0"/>
              <a:t> </a:t>
            </a:r>
            <a:r>
              <a:rPr spc="-10" dirty="0"/>
              <a:t>Notebook</a:t>
            </a:r>
          </a:p>
        </p:txBody>
      </p:sp>
      <p:sp>
        <p:nvSpPr>
          <p:cNvPr id="3" name="object 3"/>
          <p:cNvSpPr/>
          <p:nvPr/>
        </p:nvSpPr>
        <p:spPr>
          <a:xfrm>
            <a:off x="438912" y="1418945"/>
            <a:ext cx="8266176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2438400" y="3657600"/>
            <a:ext cx="4084320" cy="25542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2097" y="403936"/>
            <a:ext cx="65614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Some Notes </a:t>
            </a:r>
            <a:r>
              <a:rPr dirty="0"/>
              <a:t>on</a:t>
            </a:r>
            <a:r>
              <a:rPr spc="-5" dirty="0"/>
              <a:t> </a:t>
            </a:r>
            <a:r>
              <a:rPr spc="-10" dirty="0"/>
              <a:t>Notebook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447800"/>
            <a:ext cx="7998156" cy="3211777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marR="5080" indent="-228600">
              <a:lnSpc>
                <a:spcPct val="90100"/>
              </a:lnSpc>
              <a:spcBef>
                <a:spcPts val="38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75" dirty="0">
                <a:solidFill>
                  <a:srgbClr val="404040"/>
                </a:solidFill>
                <a:cs typeface="Cambria"/>
              </a:rPr>
              <a:t>You </a:t>
            </a:r>
            <a:r>
              <a:rPr sz="2400" dirty="0">
                <a:solidFill>
                  <a:srgbClr val="404040"/>
                </a:solidFill>
                <a:cs typeface="Cambria"/>
              </a:rPr>
              <a:t>can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start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Jupyter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notebook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by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writing “jupyter  notebook” </a:t>
            </a:r>
            <a:r>
              <a:rPr sz="2400" dirty="0">
                <a:solidFill>
                  <a:srgbClr val="404040"/>
                </a:solidFill>
                <a:cs typeface="Cambria"/>
              </a:rPr>
              <a:t>on </a:t>
            </a:r>
            <a:r>
              <a:rPr sz="2400" spc="-20" dirty="0">
                <a:solidFill>
                  <a:srgbClr val="404040"/>
                </a:solidFill>
                <a:cs typeface="Cambria"/>
              </a:rPr>
              <a:t>your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terminal </a:t>
            </a:r>
            <a:r>
              <a:rPr sz="2400" dirty="0">
                <a:solidFill>
                  <a:srgbClr val="404040"/>
                </a:solidFill>
                <a:cs typeface="Cambria"/>
              </a:rPr>
              <a:t>/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cmd, </a:t>
            </a:r>
            <a:r>
              <a:rPr sz="2400" dirty="0">
                <a:solidFill>
                  <a:srgbClr val="404040"/>
                </a:solidFill>
                <a:cs typeface="Cambria"/>
              </a:rPr>
              <a:t>depending on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the  OS </a:t>
            </a:r>
            <a:r>
              <a:rPr sz="2400" spc="-20" dirty="0">
                <a:solidFill>
                  <a:srgbClr val="404040"/>
                </a:solidFill>
                <a:cs typeface="Cambria"/>
              </a:rPr>
              <a:t>you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are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working</a:t>
            </a:r>
            <a:r>
              <a:rPr sz="2400" spc="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dirty="0">
                <a:solidFill>
                  <a:srgbClr val="404040"/>
                </a:solidFill>
                <a:cs typeface="Cambria"/>
              </a:rPr>
              <a:t>on</a:t>
            </a:r>
            <a:endParaRPr lang="en-US" sz="2400" dirty="0">
              <a:solidFill>
                <a:srgbClr val="404040"/>
              </a:solidFill>
              <a:cs typeface="Cambria"/>
            </a:endParaRPr>
          </a:p>
          <a:p>
            <a:pPr marL="241300">
              <a:lnSpc>
                <a:spcPts val="2735"/>
              </a:lnSpc>
            </a:pPr>
            <a:endParaRPr sz="2400" dirty="0">
              <a:cs typeface="Cambria"/>
            </a:endParaRPr>
          </a:p>
          <a:p>
            <a:pPr marL="241300" indent="-228600">
              <a:lnSpc>
                <a:spcPts val="2735"/>
              </a:lnSpc>
              <a:spcBef>
                <a:spcPts val="29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cs typeface="Cambria"/>
              </a:rPr>
              <a:t>The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interface shows In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[*]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for </a:t>
            </a:r>
            <a:r>
              <a:rPr sz="2400" dirty="0">
                <a:solidFill>
                  <a:srgbClr val="404040"/>
                </a:solidFill>
                <a:cs typeface="Cambria"/>
              </a:rPr>
              <a:t>inputs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and Out[*]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 for</a:t>
            </a:r>
            <a:endParaRPr sz="2400" dirty="0">
              <a:cs typeface="Cambria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solidFill>
                  <a:srgbClr val="404040"/>
                </a:solidFill>
                <a:cs typeface="Cambria"/>
              </a:rPr>
              <a:t>output.</a:t>
            </a:r>
            <a:endParaRPr lang="en-US" sz="2400" dirty="0">
              <a:solidFill>
                <a:srgbClr val="404040"/>
              </a:solidFill>
              <a:cs typeface="Cambria"/>
            </a:endParaRPr>
          </a:p>
          <a:p>
            <a:pPr marL="241300">
              <a:lnSpc>
                <a:spcPts val="2735"/>
              </a:lnSpc>
            </a:pPr>
            <a:endParaRPr sz="2400" dirty="0">
              <a:cs typeface="Cambria"/>
            </a:endParaRPr>
          </a:p>
          <a:p>
            <a:pPr marL="241300" marR="62230" indent="-228600" algn="just">
              <a:lnSpc>
                <a:spcPct val="90000"/>
              </a:lnSpc>
              <a:spcBef>
                <a:spcPts val="5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75" dirty="0">
                <a:solidFill>
                  <a:srgbClr val="404040"/>
                </a:solidFill>
                <a:cs typeface="Cambria"/>
              </a:rPr>
              <a:t>You </a:t>
            </a:r>
            <a:r>
              <a:rPr sz="2400" dirty="0">
                <a:solidFill>
                  <a:srgbClr val="404040"/>
                </a:solidFill>
                <a:cs typeface="Cambria"/>
              </a:rPr>
              <a:t>can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execute </a:t>
            </a:r>
            <a:r>
              <a:rPr sz="2400" dirty="0">
                <a:solidFill>
                  <a:srgbClr val="404040"/>
                </a:solidFill>
                <a:cs typeface="Cambria"/>
              </a:rPr>
              <a:t>a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code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by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pressing </a:t>
            </a:r>
            <a:r>
              <a:rPr sz="2400" dirty="0">
                <a:solidFill>
                  <a:srgbClr val="404040"/>
                </a:solidFill>
                <a:cs typeface="Cambria"/>
              </a:rPr>
              <a:t>“Shift +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Enter” </a:t>
            </a:r>
            <a:r>
              <a:rPr sz="2400" dirty="0">
                <a:solidFill>
                  <a:srgbClr val="404040"/>
                </a:solidFill>
                <a:cs typeface="Cambria"/>
              </a:rPr>
              <a:t>or  </a:t>
            </a:r>
            <a:r>
              <a:rPr sz="2400" spc="-135" dirty="0">
                <a:solidFill>
                  <a:srgbClr val="404040"/>
                </a:solidFill>
                <a:cs typeface="Cambria"/>
              </a:rPr>
              <a:t>“ALT </a:t>
            </a:r>
            <a:r>
              <a:rPr sz="2400" dirty="0">
                <a:solidFill>
                  <a:srgbClr val="404040"/>
                </a:solidFill>
                <a:cs typeface="Cambria"/>
              </a:rPr>
              <a:t>+ </a:t>
            </a:r>
            <a:r>
              <a:rPr sz="2400" spc="-40" dirty="0">
                <a:solidFill>
                  <a:srgbClr val="404040"/>
                </a:solidFill>
                <a:cs typeface="Cambria"/>
              </a:rPr>
              <a:t>Enter”, </a:t>
            </a:r>
            <a:r>
              <a:rPr sz="2400" dirty="0">
                <a:solidFill>
                  <a:srgbClr val="404040"/>
                </a:solidFill>
                <a:cs typeface="Cambria"/>
              </a:rPr>
              <a:t>if </a:t>
            </a:r>
            <a:r>
              <a:rPr sz="2400" spc="-20" dirty="0">
                <a:solidFill>
                  <a:srgbClr val="404040"/>
                </a:solidFill>
                <a:cs typeface="Cambria"/>
              </a:rPr>
              <a:t>you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want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to </a:t>
            </a:r>
            <a:r>
              <a:rPr sz="2400" dirty="0">
                <a:solidFill>
                  <a:srgbClr val="404040"/>
                </a:solidFill>
                <a:cs typeface="Cambria"/>
              </a:rPr>
              <a:t>insert an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additional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row  </a:t>
            </a:r>
            <a:r>
              <a:rPr sz="2400" spc="-50" dirty="0">
                <a:solidFill>
                  <a:srgbClr val="404040"/>
                </a:solidFill>
                <a:cs typeface="Cambria"/>
              </a:rPr>
              <a:t>after.</a:t>
            </a:r>
            <a:endParaRPr sz="2400" dirty="0"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223828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7525" y="403936"/>
            <a:ext cx="30340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Jupyter</a:t>
            </a:r>
            <a:r>
              <a:rPr spc="-50" dirty="0"/>
              <a:t> </a:t>
            </a:r>
            <a:r>
              <a:rPr dirty="0"/>
              <a:t>Lab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447800"/>
            <a:ext cx="7212965" cy="13430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next-generation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user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interface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for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Project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Jupyter</a:t>
            </a:r>
            <a:endParaRPr sz="24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A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more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flexible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powerful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user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interface</a:t>
            </a:r>
            <a:endParaRPr sz="24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Stable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version </a:t>
            </a:r>
            <a:r>
              <a:rPr sz="2400" spc="-25" dirty="0">
                <a:solidFill>
                  <a:srgbClr val="404040"/>
                </a:solidFill>
                <a:latin typeface="Cambria"/>
                <a:cs typeface="Cambria"/>
              </a:rPr>
              <a:t>was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released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in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February</a:t>
            </a:r>
            <a:r>
              <a:rPr sz="2400" spc="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2018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800" y="3200400"/>
            <a:ext cx="4995672" cy="2810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5623" y="403936"/>
            <a:ext cx="34893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spc="-75" dirty="0"/>
              <a:t> </a:t>
            </a:r>
            <a:r>
              <a:rPr spc="-5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989940"/>
            <a:ext cx="6245556" cy="314893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10" dirty="0">
                <a:solidFill>
                  <a:srgbClr val="404040"/>
                </a:solidFill>
                <a:cs typeface="Cambria"/>
              </a:rPr>
              <a:t>Different </a:t>
            </a:r>
            <a:r>
              <a:rPr sz="2400" spc="-35" dirty="0">
                <a:solidFill>
                  <a:srgbClr val="404040"/>
                </a:solidFill>
                <a:cs typeface="Cambria"/>
              </a:rPr>
              <a:t>ways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to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use</a:t>
            </a:r>
            <a:r>
              <a:rPr sz="2400" spc="7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Python</a:t>
            </a:r>
            <a:endParaRPr sz="2400" dirty="0">
              <a:cs typeface="Cambria"/>
            </a:endParaRPr>
          </a:p>
          <a:p>
            <a:pPr marL="570230" lvl="1" indent="-228600">
              <a:lnSpc>
                <a:spcPct val="100000"/>
              </a:lnSpc>
              <a:spcBef>
                <a:spcPts val="540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sz="2200" spc="-20" dirty="0">
                <a:solidFill>
                  <a:srgbClr val="404040"/>
                </a:solidFill>
                <a:cs typeface="Cambria"/>
              </a:rPr>
              <a:t>Terminal </a:t>
            </a:r>
            <a:r>
              <a:rPr sz="2200" dirty="0">
                <a:solidFill>
                  <a:srgbClr val="404040"/>
                </a:solidFill>
                <a:cs typeface="Cambria"/>
              </a:rPr>
              <a:t>/ Shell</a:t>
            </a:r>
            <a:r>
              <a:rPr sz="2200" spc="-100" dirty="0">
                <a:solidFill>
                  <a:srgbClr val="404040"/>
                </a:solidFill>
                <a:cs typeface="Cambria"/>
              </a:rPr>
              <a:t> </a:t>
            </a:r>
            <a:r>
              <a:rPr sz="2200" dirty="0">
                <a:solidFill>
                  <a:srgbClr val="404040"/>
                </a:solidFill>
                <a:cs typeface="Cambria"/>
              </a:rPr>
              <a:t>based</a:t>
            </a:r>
            <a:endParaRPr sz="2200" dirty="0">
              <a:cs typeface="Cambria"/>
            </a:endParaRPr>
          </a:p>
          <a:p>
            <a:pPr marL="570230" lvl="1" indent="-228600">
              <a:lnSpc>
                <a:spcPct val="100000"/>
              </a:lnSpc>
              <a:spcBef>
                <a:spcPts val="530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sz="2200" spc="-5" dirty="0">
                <a:solidFill>
                  <a:srgbClr val="404040"/>
                </a:solidFill>
                <a:cs typeface="Cambria"/>
              </a:rPr>
              <a:t>IDLE, </a:t>
            </a:r>
            <a:r>
              <a:rPr sz="2200" dirty="0">
                <a:solidFill>
                  <a:srgbClr val="404040"/>
                </a:solidFill>
                <a:cs typeface="Cambria"/>
              </a:rPr>
              <a:t>installed with standalone</a:t>
            </a:r>
            <a:r>
              <a:rPr sz="2200" spc="-85" dirty="0">
                <a:solidFill>
                  <a:srgbClr val="404040"/>
                </a:solidFill>
                <a:cs typeface="Cambria"/>
              </a:rPr>
              <a:t> </a:t>
            </a:r>
            <a:r>
              <a:rPr sz="2200" spc="-5" dirty="0">
                <a:solidFill>
                  <a:srgbClr val="404040"/>
                </a:solidFill>
                <a:cs typeface="Cambria"/>
              </a:rPr>
              <a:t>Python</a:t>
            </a:r>
            <a:endParaRPr sz="2200" dirty="0">
              <a:cs typeface="Cambria"/>
            </a:endParaRPr>
          </a:p>
          <a:p>
            <a:pPr marL="570230" lvl="1" indent="-228600">
              <a:lnSpc>
                <a:spcPct val="100000"/>
              </a:lnSpc>
              <a:spcBef>
                <a:spcPts val="530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sz="2200" spc="-10" dirty="0" err="1">
                <a:solidFill>
                  <a:srgbClr val="404040"/>
                </a:solidFill>
                <a:cs typeface="Cambria"/>
              </a:rPr>
              <a:t>Jupyter</a:t>
            </a:r>
            <a:r>
              <a:rPr sz="2200" spc="-10" dirty="0">
                <a:solidFill>
                  <a:srgbClr val="404040"/>
                </a:solidFill>
                <a:cs typeface="Cambria"/>
              </a:rPr>
              <a:t> </a:t>
            </a:r>
            <a:r>
              <a:rPr sz="2200" spc="-5" dirty="0">
                <a:solidFill>
                  <a:srgbClr val="404040"/>
                </a:solidFill>
                <a:cs typeface="Cambria"/>
              </a:rPr>
              <a:t>notebook</a:t>
            </a:r>
            <a:endParaRPr lang="en-US" sz="2200" spc="-5" dirty="0">
              <a:solidFill>
                <a:srgbClr val="404040"/>
              </a:solidFill>
              <a:cs typeface="Cambria"/>
            </a:endParaRPr>
          </a:p>
          <a:p>
            <a:pPr marL="1027430" lvl="2" indent="-228600">
              <a:spcBef>
                <a:spcPts val="530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lang="en-US" sz="2200" dirty="0">
                <a:cs typeface="Cambria"/>
              </a:rPr>
              <a:t>Tutorial - </a:t>
            </a:r>
            <a:r>
              <a:rPr lang="en-US" dirty="0">
                <a:cs typeface="Cambria"/>
              </a:rPr>
              <a:t>https://</a:t>
            </a:r>
            <a:r>
              <a:rPr lang="en-US" dirty="0" err="1">
                <a:cs typeface="Cambria"/>
              </a:rPr>
              <a:t>www.youtube.com</a:t>
            </a:r>
            <a:r>
              <a:rPr lang="en-US" dirty="0">
                <a:cs typeface="Cambria"/>
              </a:rPr>
              <a:t>/</a:t>
            </a:r>
            <a:r>
              <a:rPr lang="en-US" dirty="0" err="1">
                <a:cs typeface="Cambria"/>
              </a:rPr>
              <a:t>watch?v</a:t>
            </a:r>
            <a:r>
              <a:rPr lang="en-US" dirty="0">
                <a:cs typeface="Cambria"/>
              </a:rPr>
              <a:t>=HW29067qVWk</a:t>
            </a:r>
          </a:p>
          <a:p>
            <a:pPr marL="570230" lvl="1" indent="-228600">
              <a:lnSpc>
                <a:spcPct val="100000"/>
              </a:lnSpc>
              <a:spcBef>
                <a:spcPts val="530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sz="2200" spc="-10" dirty="0" err="1">
                <a:solidFill>
                  <a:srgbClr val="404040"/>
                </a:solidFill>
                <a:cs typeface="Cambria"/>
              </a:rPr>
              <a:t>Jupyter</a:t>
            </a:r>
            <a:r>
              <a:rPr sz="2200" spc="-10" dirty="0">
                <a:solidFill>
                  <a:srgbClr val="404040"/>
                </a:solidFill>
                <a:cs typeface="Cambria"/>
              </a:rPr>
              <a:t> </a:t>
            </a:r>
            <a:r>
              <a:rPr sz="2200" spc="-5" dirty="0">
                <a:solidFill>
                  <a:srgbClr val="404040"/>
                </a:solidFill>
                <a:cs typeface="Cambria"/>
              </a:rPr>
              <a:t>Lab </a:t>
            </a:r>
            <a:r>
              <a:rPr sz="2200" spc="-15" dirty="0">
                <a:solidFill>
                  <a:srgbClr val="404040"/>
                </a:solidFill>
                <a:cs typeface="Cambria"/>
              </a:rPr>
              <a:t>(to </a:t>
            </a:r>
            <a:r>
              <a:rPr sz="2200" dirty="0">
                <a:solidFill>
                  <a:srgbClr val="404040"/>
                </a:solidFill>
                <a:cs typeface="Cambria"/>
              </a:rPr>
              <a:t>replace </a:t>
            </a:r>
            <a:r>
              <a:rPr sz="2200" spc="-10" dirty="0">
                <a:solidFill>
                  <a:srgbClr val="404040"/>
                </a:solidFill>
                <a:cs typeface="Cambria"/>
              </a:rPr>
              <a:t>Jupyter</a:t>
            </a:r>
            <a:r>
              <a:rPr sz="2200" spc="-5" dirty="0">
                <a:solidFill>
                  <a:srgbClr val="404040"/>
                </a:solidFill>
                <a:cs typeface="Cambria"/>
              </a:rPr>
              <a:t> </a:t>
            </a:r>
            <a:r>
              <a:rPr sz="2200" dirty="0">
                <a:solidFill>
                  <a:srgbClr val="404040"/>
                </a:solidFill>
                <a:cs typeface="Cambria"/>
              </a:rPr>
              <a:t>Notebook)</a:t>
            </a:r>
            <a:endParaRPr sz="2200" dirty="0">
              <a:cs typeface="Cambria"/>
            </a:endParaRPr>
          </a:p>
          <a:p>
            <a:pPr marL="570230" lvl="1" indent="-228600">
              <a:lnSpc>
                <a:spcPct val="100000"/>
              </a:lnSpc>
              <a:spcBef>
                <a:spcPts val="530"/>
              </a:spcBef>
              <a:buClr>
                <a:srgbClr val="A63112"/>
              </a:buClr>
              <a:buSzPct val="93181"/>
              <a:buFont typeface="Wingdings"/>
              <a:buChar char=""/>
              <a:tabLst>
                <a:tab pos="570865" algn="l"/>
              </a:tabLst>
            </a:pPr>
            <a:r>
              <a:rPr sz="2200" spc="-15" dirty="0">
                <a:solidFill>
                  <a:srgbClr val="404040"/>
                </a:solidFill>
                <a:cs typeface="Cambria"/>
              </a:rPr>
              <a:t>Spyder</a:t>
            </a:r>
            <a:endParaRPr sz="2200" dirty="0"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1030" y="403936"/>
            <a:ext cx="38220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Python</a:t>
            </a:r>
            <a:r>
              <a:rPr spc="-75" dirty="0"/>
              <a:t> </a:t>
            </a:r>
            <a:r>
              <a:rPr spc="-5" dirty="0"/>
              <a:t>Scripts</a:t>
            </a:r>
          </a:p>
        </p:txBody>
      </p:sp>
      <p:sp>
        <p:nvSpPr>
          <p:cNvPr id="3" name="object 3"/>
          <p:cNvSpPr/>
          <p:nvPr/>
        </p:nvSpPr>
        <p:spPr>
          <a:xfrm>
            <a:off x="844296" y="2362200"/>
            <a:ext cx="7455408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4508E-739A-2F48-829E-3E1417DE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03437"/>
            <a:ext cx="7886700" cy="1325563"/>
          </a:xfrm>
        </p:spPr>
        <p:txBody>
          <a:bodyPr/>
          <a:lstStyle/>
          <a:p>
            <a:r>
              <a:rPr lang="en-US" dirty="0"/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2376108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3014" y="403936"/>
            <a:ext cx="407860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40" dirty="0"/>
              <a:t> </a:t>
            </a:r>
            <a:r>
              <a:rPr spc="-15" dirty="0"/>
              <a:t>Structures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989708"/>
            <a:ext cx="1624965" cy="17824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cs typeface="Cambria"/>
              </a:rPr>
              <a:t>Lists</a:t>
            </a:r>
            <a:endParaRPr sz="2400" dirty="0"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cs typeface="Cambria"/>
              </a:rPr>
              <a:t>Strings</a:t>
            </a:r>
            <a:endParaRPr sz="2400" dirty="0"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15" dirty="0">
                <a:solidFill>
                  <a:srgbClr val="404040"/>
                </a:solidFill>
                <a:cs typeface="Cambria"/>
              </a:rPr>
              <a:t>Tuples</a:t>
            </a:r>
            <a:endParaRPr sz="2400" dirty="0"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cs typeface="Cambria"/>
              </a:rPr>
              <a:t>Dictionary</a:t>
            </a:r>
            <a:endParaRPr sz="2400" dirty="0"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4873" y="403936"/>
            <a:ext cx="12541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2063240"/>
            <a:ext cx="7998156" cy="282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386080" indent="-228600">
              <a:lnSpc>
                <a:spcPct val="100000"/>
              </a:lnSpc>
              <a:spcBef>
                <a:spcPts val="10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cs typeface="Cambria"/>
              </a:rPr>
              <a:t>Lists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are </a:t>
            </a:r>
            <a:r>
              <a:rPr sz="2400" dirty="0">
                <a:solidFill>
                  <a:srgbClr val="404040"/>
                </a:solidFill>
                <a:cs typeface="Cambria"/>
              </a:rPr>
              <a:t>one of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the most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versatile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data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structure </a:t>
            </a:r>
            <a:r>
              <a:rPr sz="2400" dirty="0">
                <a:solidFill>
                  <a:srgbClr val="404040"/>
                </a:solidFill>
                <a:cs typeface="Cambria"/>
              </a:rPr>
              <a:t>in 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Python.</a:t>
            </a:r>
            <a:endParaRPr sz="2400" dirty="0"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cs typeface="Cambria"/>
              </a:rPr>
              <a:t>A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list </a:t>
            </a:r>
            <a:r>
              <a:rPr sz="2400" dirty="0">
                <a:solidFill>
                  <a:srgbClr val="404040"/>
                </a:solidFill>
                <a:cs typeface="Cambria"/>
              </a:rPr>
              <a:t>can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simply </a:t>
            </a:r>
            <a:r>
              <a:rPr sz="2400" dirty="0">
                <a:solidFill>
                  <a:srgbClr val="404040"/>
                </a:solidFill>
                <a:cs typeface="Cambria"/>
              </a:rPr>
              <a:t>be defined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by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writing </a:t>
            </a:r>
            <a:r>
              <a:rPr sz="2400" dirty="0">
                <a:solidFill>
                  <a:srgbClr val="404040"/>
                </a:solidFill>
                <a:cs typeface="Cambria"/>
              </a:rPr>
              <a:t>a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list </a:t>
            </a:r>
            <a:r>
              <a:rPr sz="2400" dirty="0">
                <a:solidFill>
                  <a:srgbClr val="404040"/>
                </a:solidFill>
                <a:cs typeface="Cambria"/>
              </a:rPr>
              <a:t>of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comma 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separated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values </a:t>
            </a:r>
            <a:r>
              <a:rPr sz="2400" dirty="0">
                <a:solidFill>
                  <a:srgbClr val="404040"/>
                </a:solidFill>
                <a:cs typeface="Cambria"/>
              </a:rPr>
              <a:t>in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square</a:t>
            </a:r>
            <a:r>
              <a:rPr sz="2400" spc="1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brackets.</a:t>
            </a:r>
            <a:endParaRPr sz="2400" dirty="0"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cs typeface="Cambria"/>
              </a:rPr>
              <a:t>Lists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might </a:t>
            </a:r>
            <a:r>
              <a:rPr sz="2400" dirty="0">
                <a:solidFill>
                  <a:srgbClr val="404040"/>
                </a:solidFill>
                <a:cs typeface="Cambria"/>
              </a:rPr>
              <a:t>contain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items of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different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types,</a:t>
            </a:r>
            <a:r>
              <a:rPr sz="240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but</a:t>
            </a:r>
            <a:endParaRPr sz="2400" dirty="0"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spc="-15" dirty="0">
                <a:solidFill>
                  <a:srgbClr val="404040"/>
                </a:solidFill>
                <a:cs typeface="Cambria"/>
              </a:rPr>
              <a:t>usually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the items all </a:t>
            </a:r>
            <a:r>
              <a:rPr sz="2400" spc="-30" dirty="0">
                <a:solidFill>
                  <a:srgbClr val="404040"/>
                </a:solidFill>
                <a:cs typeface="Cambria"/>
              </a:rPr>
              <a:t>have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the </a:t>
            </a:r>
            <a:r>
              <a:rPr sz="2400" dirty="0">
                <a:solidFill>
                  <a:srgbClr val="404040"/>
                </a:solidFill>
                <a:cs typeface="Cambria"/>
              </a:rPr>
              <a:t>same</a:t>
            </a:r>
            <a:r>
              <a:rPr sz="2400" spc="7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type.</a:t>
            </a:r>
            <a:endParaRPr sz="2400" dirty="0"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cs typeface="Cambria"/>
              </a:rPr>
              <a:t>Python lists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are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mutable </a:t>
            </a:r>
            <a:r>
              <a:rPr sz="2400" dirty="0">
                <a:solidFill>
                  <a:srgbClr val="404040"/>
                </a:solidFill>
                <a:cs typeface="Cambria"/>
              </a:rPr>
              <a:t>and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individual </a:t>
            </a:r>
            <a:r>
              <a:rPr sz="2400" dirty="0">
                <a:solidFill>
                  <a:srgbClr val="404040"/>
                </a:solidFill>
                <a:cs typeface="Cambria"/>
              </a:rPr>
              <a:t>elements of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dirty="0">
                <a:solidFill>
                  <a:srgbClr val="404040"/>
                </a:solidFill>
                <a:cs typeface="Cambria"/>
              </a:rPr>
              <a:t>a</a:t>
            </a:r>
            <a:endParaRPr sz="2400" dirty="0"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2400" spc="-5" dirty="0">
                <a:solidFill>
                  <a:srgbClr val="404040"/>
                </a:solidFill>
                <a:cs typeface="Cambria"/>
              </a:rPr>
              <a:t>list </a:t>
            </a:r>
            <a:r>
              <a:rPr sz="2400" dirty="0">
                <a:solidFill>
                  <a:srgbClr val="404040"/>
                </a:solidFill>
                <a:cs typeface="Cambria"/>
              </a:rPr>
              <a:t>can be</a:t>
            </a:r>
            <a:r>
              <a:rPr sz="2400" spc="-2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changed.</a:t>
            </a:r>
            <a:endParaRPr sz="2400" dirty="0"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69CA87C-8570-974E-AC4A-602461BEB8CE}"/>
              </a:ext>
            </a:extLst>
          </p:cNvPr>
          <p:cNvSpPr txBox="1">
            <a:spLocks noChangeArrowheads="1"/>
          </p:cNvSpPr>
          <p:nvPr/>
        </p:nvSpPr>
        <p:spPr>
          <a:xfrm>
            <a:off x="434975" y="457200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sz="3600" kern="0" dirty="0">
                <a:latin typeface="+mj-lt"/>
                <a:ea typeface="+mj-ea"/>
                <a:cs typeface="+mj-cs"/>
              </a:rPr>
              <a:t>Lists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D68CA1BE-2C52-2044-B1C9-BDE71ACC2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47800"/>
            <a:ext cx="8229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2001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 dirty="0">
                <a:latin typeface="Franklin Gothic Book" panose="020B0503020102020204" pitchFamily="34" charset="0"/>
              </a:rPr>
              <a:t>Items can be grouped into a list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r>
              <a:rPr lang="en-US" altLang="en-US" sz="2000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 = [1,2,3,4,5]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r>
              <a:rPr lang="en-US" altLang="en-US" b="0" dirty="0">
                <a:latin typeface="Franklin Gothic Book" panose="020B0503020102020204" pitchFamily="34" charset="0"/>
              </a:rPr>
              <a:t>Access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 each value in the list </a:t>
            </a:r>
            <a:r>
              <a:rPr lang="mr-IN" altLang="en-US" sz="2000" b="0" dirty="0">
                <a:latin typeface="Franklin Gothic Book" panose="020B0503020102020204" pitchFamily="34" charset="0"/>
              </a:rPr>
              <a:t>–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 by index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r>
              <a:rPr lang="en-US" altLang="en-US" b="0" dirty="0">
                <a:latin typeface="Franklin Gothic Book" panose="020B0503020102020204" pitchFamily="34" charset="0"/>
              </a:rPr>
              <a:t>Slice: 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access a subset of the list</a:t>
            </a:r>
          </a:p>
          <a:p>
            <a:pPr lvl="2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r>
              <a:rPr lang="en-US" altLang="en-US" sz="2000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[</a:t>
            </a:r>
            <a:r>
              <a:rPr lang="en-US" altLang="en-US" sz="2000" b="0" dirty="0" err="1">
                <a:latin typeface="Franklin Gothic Book" panose="020B0503020102020204" pitchFamily="34" charset="0"/>
              </a:rPr>
              <a:t>f:t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] -- </a:t>
            </a:r>
            <a:r>
              <a:rPr lang="en-US" altLang="en-US" sz="2000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[f], </a:t>
            </a:r>
            <a:r>
              <a:rPr lang="en-US" altLang="en-US" sz="2000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[f+1], </a:t>
            </a:r>
            <a:r>
              <a:rPr lang="mr-IN" altLang="en-US" sz="2000" b="0" dirty="0">
                <a:latin typeface="Franklin Gothic Book" panose="020B0503020102020204" pitchFamily="34" charset="0"/>
              </a:rPr>
              <a:t>…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, </a:t>
            </a:r>
            <a:r>
              <a:rPr lang="en-US" altLang="en-US" sz="2000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[t-1]</a:t>
            </a:r>
          </a:p>
          <a:p>
            <a:pPr lvl="2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r>
              <a:rPr lang="en-US" altLang="en-US" sz="2000" b="0" dirty="0">
                <a:latin typeface="Franklin Gothic Book" panose="020B0503020102020204" pitchFamily="34" charset="0"/>
              </a:rPr>
              <a:t>‘f’ can be omitted if first; ‘t’ can be omitted if last</a:t>
            </a:r>
          </a:p>
          <a:p>
            <a:pPr lvl="2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endParaRPr lang="en-US" altLang="en-US" sz="2000" b="0" dirty="0">
              <a:latin typeface="Franklin Gothic Book" panose="020B05030201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9B2318-3C78-2C44-9D58-6F2E3C1F4094}"/>
              </a:ext>
            </a:extLst>
          </p:cNvPr>
          <p:cNvGraphicFramePr>
            <a:graphicFrameLocks noGrp="1"/>
          </p:cNvGraphicFramePr>
          <p:nvPr/>
        </p:nvGraphicFramePr>
        <p:xfrm>
          <a:off x="1600200" y="3276600"/>
          <a:ext cx="6096000" cy="1375461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07"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Forward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index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765"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News Gothic MT" charset="0"/>
                        <a:ea typeface="ＭＳ Ｐゴシック" charset="-128"/>
                      </a:endParaRP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7D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7D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7D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7D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7D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D7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227"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backward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-5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-4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-3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-2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20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20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ts val="600"/>
                        </a:spcBef>
                        <a:buClr>
                          <a:srgbClr val="215D7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ts val="600"/>
                        </a:spcBef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6FB7D7"/>
                        </a:buClr>
                        <a:buSzPct val="110000"/>
                        <a:buFont typeface="Wingdings 2" charset="2"/>
                        <a:defRPr sz="1600">
                          <a:solidFill>
                            <a:srgbClr val="595959"/>
                          </a:solidFill>
                          <a:latin typeface="News Gothic M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ews Gothic MT" charset="0"/>
                          <a:ea typeface="ＭＳ Ｐゴシック" charset="-128"/>
                        </a:rPr>
                        <a:t>-1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707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A9D9E480-44F7-B644-98D4-AF48AF27D4EF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143000"/>
            <a:ext cx="8229600" cy="5029200"/>
          </a:xfrm>
          <a:prstGeom prst="rect">
            <a:avLst/>
          </a:prstGeom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Slices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dirty="0" err="1">
                <a:latin typeface="Franklin Gothic Book" panose="020B0503020102020204" pitchFamily="34" charset="0"/>
              </a:rPr>
              <a:t>myList</a:t>
            </a: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[</a:t>
            </a:r>
            <a:r>
              <a:rPr lang="en-US" b="0" kern="0" dirty="0" err="1">
                <a:latin typeface="Franklin Gothic Book" pitchFamily="34" charset="0"/>
                <a:ea typeface="+mn-ea"/>
                <a:cs typeface="ＭＳ Ｐゴシック" charset="0"/>
              </a:rPr>
              <a:t>f:t</a:t>
            </a: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]	# items from f through t-1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dirty="0" err="1">
                <a:latin typeface="Franklin Gothic Book" panose="020B0503020102020204" pitchFamily="34" charset="0"/>
              </a:rPr>
              <a:t>myList</a:t>
            </a: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[f:]		# from f through the rest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dirty="0" err="1">
                <a:latin typeface="Franklin Gothic Book" panose="020B0503020102020204" pitchFamily="34" charset="0"/>
              </a:rPr>
              <a:t>myList</a:t>
            </a: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[:t]		# from beginning through </a:t>
            </a:r>
            <a:r>
              <a:rPr lang="en-US" kern="0" dirty="0">
                <a:latin typeface="Franklin Gothic Book" pitchFamily="34" charset="0"/>
                <a:cs typeface="ＭＳ Ｐゴシック" charset="0"/>
              </a:rPr>
              <a:t>t</a:t>
            </a: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-1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dirty="0" err="1">
                <a:latin typeface="Franklin Gothic Book" panose="020B0503020102020204" pitchFamily="34" charset="0"/>
              </a:rPr>
              <a:t>myList</a:t>
            </a: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[:]		# whole items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dirty="0" err="1">
                <a:latin typeface="Franklin Gothic Book" panose="020B0503020102020204" pitchFamily="34" charset="0"/>
              </a:rPr>
              <a:t>myList</a:t>
            </a: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[-2:]		# last two items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dirty="0" err="1">
                <a:latin typeface="Franklin Gothic Book" panose="020B0503020102020204" pitchFamily="34" charset="0"/>
              </a:rPr>
              <a:t>myList</a:t>
            </a: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[:-2]		# whole items except the last two</a:t>
            </a: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endParaRPr lang="en-US" b="0" kern="0" dirty="0">
              <a:latin typeface="Franklin Gothic Book" pitchFamily="34" charset="0"/>
              <a:ea typeface="+mn-ea"/>
              <a:cs typeface="ＭＳ Ｐゴシック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Slices have 3</a:t>
            </a:r>
            <a:r>
              <a:rPr lang="en-US" b="0" kern="0" baseline="30000" dirty="0">
                <a:latin typeface="Franklin Gothic Book" pitchFamily="34" charset="0"/>
                <a:ea typeface="+mn-ea"/>
                <a:cs typeface="ＭＳ Ｐゴシック" charset="0"/>
              </a:rPr>
              <a:t>rd</a:t>
            </a: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 value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dirty="0" err="1">
                <a:latin typeface="Franklin Gothic Book" panose="020B0503020102020204" pitchFamily="34" charset="0"/>
              </a:rPr>
              <a:t>myList</a:t>
            </a: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[</a:t>
            </a:r>
            <a:r>
              <a:rPr lang="en-US" b="0" kern="0" dirty="0" err="1">
                <a:latin typeface="Franklin Gothic Book" pitchFamily="34" charset="0"/>
                <a:ea typeface="+mn-ea"/>
                <a:cs typeface="ＭＳ Ｐゴシック" charset="0"/>
              </a:rPr>
              <a:t>f:t:step</a:t>
            </a: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]  # skip items by step</a:t>
            </a: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Default value of step is 1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dirty="0" err="1">
                <a:latin typeface="Franklin Gothic Book" panose="020B0503020102020204" pitchFamily="34" charset="0"/>
              </a:rPr>
              <a:t>myList</a:t>
            </a: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[::-1] </a:t>
            </a:r>
          </a:p>
        </p:txBody>
      </p:sp>
    </p:spTree>
    <p:extLst>
      <p:ext uri="{BB962C8B-B14F-4D97-AF65-F5344CB8AC3E}">
        <p14:creationId xmlns:p14="http://schemas.microsoft.com/office/powerpoint/2010/main" val="3940703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E79DBD7-6F71-9043-981B-A7F5AE6177F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sz="3600" kern="0" dirty="0">
                <a:latin typeface="+mj-lt"/>
                <a:ea typeface="+mj-ea"/>
                <a:cs typeface="+mj-cs"/>
              </a:rPr>
              <a:t>Examples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BCD8513F-F252-8F42-A265-FDB2CD4C1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478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2001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>
                <a:latin typeface="Franklin Gothic Book" panose="020B0503020102020204" pitchFamily="34" charset="0"/>
              </a:rPr>
              <a:t>In the Python3 IDLE (Shell), enter following statements and write what python prints below statements</a:t>
            </a:r>
          </a:p>
          <a:p>
            <a:pPr lvl="2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endParaRPr lang="en-US" altLang="en-US" sz="2000" b="0">
              <a:latin typeface="Franklin Gothic Book" panose="020B0503020102020204" pitchFamily="34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endParaRPr lang="en-US" altLang="en-US" sz="2000" b="0">
              <a:latin typeface="Franklin Gothic Book" panose="020B0503020102020204" pitchFamily="34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endParaRPr lang="en-US" altLang="en-US" sz="2000" b="0">
              <a:latin typeface="Franklin Gothic Book" panose="020B0503020102020204" pitchFamily="34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endParaRPr lang="en-US" altLang="en-US" sz="2000" b="0">
              <a:latin typeface="Franklin Gothic Book" panose="020B0503020102020204" pitchFamily="34" charset="0"/>
            </a:endParaRPr>
          </a:p>
        </p:txBody>
      </p:sp>
      <p:sp>
        <p:nvSpPr>
          <p:cNvPr id="18435" name="TextBox 2">
            <a:extLst>
              <a:ext uri="{FF2B5EF4-FFF2-40B4-BE49-F238E27FC236}">
                <a16:creationId xmlns:a16="http://schemas.microsoft.com/office/drawing/2014/main" id="{93E64189-AA74-DC4B-BE85-138F83D1C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613025"/>
            <a:ext cx="3577198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0" dirty="0">
                <a:latin typeface="Calibri" panose="020F0502020204030204" pitchFamily="34" charset="0"/>
              </a:rPr>
              <a:t>&gt;&gt;&gt; </a:t>
            </a:r>
            <a:r>
              <a:rPr lang="en-US" altLang="en-US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b="0" dirty="0">
                <a:latin typeface="Calibri" panose="020F0502020204030204" pitchFamily="34" charset="0"/>
              </a:rPr>
              <a:t> = [0,1,2,3,4,5,6]</a:t>
            </a:r>
          </a:p>
          <a:p>
            <a:r>
              <a:rPr lang="en-US" altLang="en-US" b="0" dirty="0">
                <a:latin typeface="Calibri" panose="020F0502020204030204" pitchFamily="34" charset="0"/>
              </a:rPr>
              <a:t>&gt;&gt;&gt; </a:t>
            </a:r>
            <a:r>
              <a:rPr lang="en-US" altLang="en-US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b="0" dirty="0">
                <a:latin typeface="Calibri" panose="020F0502020204030204" pitchFamily="34" charset="0"/>
              </a:rPr>
              <a:t>[0]</a:t>
            </a:r>
          </a:p>
          <a:p>
            <a:endParaRPr lang="en-US" altLang="en-US" b="0" dirty="0">
              <a:latin typeface="Calibri" panose="020F0502020204030204" pitchFamily="34" charset="0"/>
            </a:endParaRPr>
          </a:p>
          <a:p>
            <a:r>
              <a:rPr lang="en-US" altLang="en-US" b="0" dirty="0">
                <a:latin typeface="Calibri" panose="020F0502020204030204" pitchFamily="34" charset="0"/>
              </a:rPr>
              <a:t>&gt;&gt;&gt; </a:t>
            </a:r>
            <a:r>
              <a:rPr lang="en-US" altLang="en-US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b="0" dirty="0">
                <a:latin typeface="Calibri" panose="020F0502020204030204" pitchFamily="34" charset="0"/>
              </a:rPr>
              <a:t>[2]</a:t>
            </a:r>
          </a:p>
          <a:p>
            <a:endParaRPr lang="en-US" altLang="en-US" b="0" dirty="0">
              <a:latin typeface="Calibri" panose="020F0502020204030204" pitchFamily="34" charset="0"/>
            </a:endParaRPr>
          </a:p>
          <a:p>
            <a:r>
              <a:rPr lang="en-US" altLang="en-US" b="0" dirty="0">
                <a:latin typeface="Calibri" panose="020F0502020204030204" pitchFamily="34" charset="0"/>
              </a:rPr>
              <a:t>&gt;&gt;&gt; </a:t>
            </a:r>
            <a:r>
              <a:rPr lang="en-US" altLang="en-US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b="0" dirty="0">
                <a:latin typeface="Calibri" panose="020F0502020204030204" pitchFamily="34" charset="0"/>
              </a:rPr>
              <a:t>[:2]</a:t>
            </a:r>
          </a:p>
          <a:p>
            <a:endParaRPr lang="en-US" altLang="en-US" b="0" dirty="0">
              <a:latin typeface="Calibri" panose="020F0502020204030204" pitchFamily="34" charset="0"/>
            </a:endParaRPr>
          </a:p>
          <a:p>
            <a:r>
              <a:rPr lang="en-US" altLang="en-US" b="0" dirty="0">
                <a:latin typeface="Calibri" panose="020F0502020204030204" pitchFamily="34" charset="0"/>
              </a:rPr>
              <a:t>&gt;&gt;&gt; </a:t>
            </a:r>
            <a:r>
              <a:rPr lang="en-US" altLang="en-US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b="0" dirty="0">
                <a:latin typeface="Calibri" panose="020F0502020204030204" pitchFamily="34" charset="0"/>
              </a:rPr>
              <a:t>[2:]</a:t>
            </a:r>
          </a:p>
          <a:p>
            <a:endParaRPr lang="en-US" altLang="en-US" b="0" dirty="0">
              <a:latin typeface="Calibri" panose="020F0502020204030204" pitchFamily="34" charset="0"/>
            </a:endParaRPr>
          </a:p>
        </p:txBody>
      </p:sp>
      <p:sp>
        <p:nvSpPr>
          <p:cNvPr id="18436" name="TextBox 4">
            <a:extLst>
              <a:ext uri="{FF2B5EF4-FFF2-40B4-BE49-F238E27FC236}">
                <a16:creationId xmlns:a16="http://schemas.microsoft.com/office/drawing/2014/main" id="{B89315F0-74B4-9C4F-BD0E-397BA82EA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971800"/>
            <a:ext cx="28194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0" dirty="0">
                <a:latin typeface="Calibri" panose="020F0502020204030204" pitchFamily="34" charset="0"/>
              </a:rPr>
              <a:t>&gt;&gt;&gt; </a:t>
            </a:r>
            <a:r>
              <a:rPr lang="en-US" altLang="en-US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b="0" dirty="0">
                <a:latin typeface="Calibri" panose="020F0502020204030204" pitchFamily="34" charset="0"/>
              </a:rPr>
              <a:t>[-3:-1]</a:t>
            </a:r>
          </a:p>
          <a:p>
            <a:endParaRPr lang="en-US" altLang="en-US" b="0" dirty="0">
              <a:latin typeface="Calibri" panose="020F0502020204030204" pitchFamily="34" charset="0"/>
            </a:endParaRPr>
          </a:p>
          <a:p>
            <a:r>
              <a:rPr lang="en-US" altLang="en-US" b="0" dirty="0">
                <a:latin typeface="Calibri" panose="020F0502020204030204" pitchFamily="34" charset="0"/>
              </a:rPr>
              <a:t>&gt;&gt;&gt; </a:t>
            </a:r>
            <a:r>
              <a:rPr lang="en-US" altLang="en-US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b="0" dirty="0">
                <a:latin typeface="Calibri" panose="020F0502020204030204" pitchFamily="34" charset="0"/>
              </a:rPr>
              <a:t>[-3:]</a:t>
            </a:r>
          </a:p>
          <a:p>
            <a:endParaRPr lang="en-US" altLang="en-US" b="0" dirty="0">
              <a:latin typeface="Calibri" panose="020F0502020204030204" pitchFamily="34" charset="0"/>
            </a:endParaRPr>
          </a:p>
          <a:p>
            <a:r>
              <a:rPr lang="en-US" altLang="en-US" b="0" dirty="0">
                <a:latin typeface="Calibri" panose="020F0502020204030204" pitchFamily="34" charset="0"/>
              </a:rPr>
              <a:t>&gt;&gt;&gt; </a:t>
            </a:r>
            <a:r>
              <a:rPr lang="en-US" altLang="en-US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b="0" dirty="0">
                <a:latin typeface="Calibri" panose="020F0502020204030204" pitchFamily="34" charset="0"/>
              </a:rPr>
              <a:t>[-3:0]</a:t>
            </a:r>
          </a:p>
          <a:p>
            <a:endParaRPr lang="en-US" altLang="en-US" b="0" dirty="0">
              <a:latin typeface="Calibri" panose="020F0502020204030204" pitchFamily="34" charset="0"/>
            </a:endParaRPr>
          </a:p>
          <a:p>
            <a:r>
              <a:rPr lang="en-US" altLang="en-US" b="0" dirty="0">
                <a:latin typeface="Calibri" panose="020F0502020204030204" pitchFamily="34" charset="0"/>
              </a:rPr>
              <a:t>&gt;&gt;&gt; </a:t>
            </a:r>
            <a:r>
              <a:rPr lang="en-US" altLang="en-US" b="0" dirty="0" err="1">
                <a:latin typeface="Franklin Gothic Book" panose="020B0503020102020204" pitchFamily="34" charset="0"/>
              </a:rPr>
              <a:t>myList</a:t>
            </a:r>
            <a:r>
              <a:rPr lang="en-US" altLang="en-US" b="0" dirty="0">
                <a:latin typeface="Calibri" panose="020F0502020204030204" pitchFamily="34" charset="0"/>
              </a:rPr>
              <a:t>[:-3]</a:t>
            </a:r>
          </a:p>
          <a:p>
            <a:endParaRPr lang="en-US" altLang="en-US" b="0" dirty="0">
              <a:latin typeface="Calibri" panose="020F0502020204030204" pitchFamily="34" charset="0"/>
            </a:endParaRPr>
          </a:p>
          <a:p>
            <a:endParaRPr lang="en-US" altLang="en-US" b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243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CF32337-3779-F34B-8790-CF6A69C686D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sz="3600" kern="0" dirty="0">
                <a:latin typeface="+mj-lt"/>
                <a:ea typeface="+mj-ea"/>
                <a:cs typeface="+mj-cs"/>
              </a:rPr>
              <a:t>Operating with Lists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A42D481-9FA0-7246-91D9-254576C58FF6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24000"/>
            <a:ext cx="6858000" cy="4343400"/>
          </a:xfrm>
          <a:prstGeom prst="rect">
            <a:avLst/>
          </a:prstGeom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Change an element in a list (replace)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endParaRPr lang="en-US" sz="2400" b="0" kern="0" dirty="0">
              <a:latin typeface="Franklin Gothic Book" pitchFamily="34" charset="0"/>
              <a:ea typeface="+mn-ea"/>
              <a:cs typeface="ＭＳ Ｐゴシック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Add an element 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sz="2400" dirty="0" err="1">
                <a:latin typeface="Franklin Gothic Book" panose="020B0503020102020204" pitchFamily="34" charset="0"/>
              </a:rPr>
              <a:t>myList</a:t>
            </a:r>
            <a:r>
              <a:rPr lang="en-US" sz="2400" b="0" kern="0" dirty="0" err="1">
                <a:latin typeface="Franklin Gothic Book" pitchFamily="34" charset="0"/>
                <a:ea typeface="+mn-ea"/>
                <a:cs typeface="ＭＳ Ｐゴシック" charset="0"/>
              </a:rPr>
              <a:t>.append</a:t>
            </a: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()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sz="2400" dirty="0" err="1">
                <a:latin typeface="Franklin Gothic Book" panose="020B0503020102020204" pitchFamily="34" charset="0"/>
              </a:rPr>
              <a:t>myList</a:t>
            </a:r>
            <a:r>
              <a:rPr lang="en-US" sz="2400" b="0" kern="0" dirty="0" err="1">
                <a:latin typeface="Franklin Gothic Book" pitchFamily="34" charset="0"/>
                <a:ea typeface="+mn-ea"/>
                <a:cs typeface="ＭＳ Ｐゴシック" charset="0"/>
              </a:rPr>
              <a:t>.insert</a:t>
            </a: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(0, -1)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75000"/>
              <a:defRPr/>
            </a:pPr>
            <a:endParaRPr lang="en-US" sz="2400" b="0" kern="0" dirty="0">
              <a:latin typeface="Franklin Gothic Book" pitchFamily="34" charset="0"/>
              <a:ea typeface="+mn-ea"/>
              <a:cs typeface="ＭＳ Ｐゴシック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Remove an element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del </a:t>
            </a:r>
            <a:r>
              <a:rPr lang="en-US" altLang="en-US" sz="2400" dirty="0" err="1">
                <a:latin typeface="Franklin Gothic Book" panose="020B0503020102020204" pitchFamily="34" charset="0"/>
              </a:rPr>
              <a:t>myList</a:t>
            </a: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[1]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sz="2400" dirty="0" err="1">
                <a:latin typeface="Franklin Gothic Book" panose="020B0503020102020204" pitchFamily="34" charset="0"/>
              </a:rPr>
              <a:t>myList</a:t>
            </a:r>
            <a:r>
              <a:rPr lang="en-US" sz="2400" b="0" kern="0" dirty="0" err="1">
                <a:latin typeface="Franklin Gothic Book" pitchFamily="34" charset="0"/>
                <a:ea typeface="+mn-ea"/>
                <a:cs typeface="ＭＳ Ｐゴシック" charset="0"/>
              </a:rPr>
              <a:t>.remove</a:t>
            </a: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(3)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endParaRPr lang="en-US" b="0" kern="0" dirty="0">
              <a:latin typeface="Franklin Gothic Book" pitchFamily="34" charset="0"/>
              <a:ea typeface="+mn-ea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636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8DAE3E90-0792-AF4E-BDA0-FB8C988857BE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295400"/>
            <a:ext cx="7620000" cy="5029200"/>
          </a:xfrm>
          <a:prstGeom prst="rect">
            <a:avLst/>
          </a:prstGeom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Sort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sz="2400" dirty="0" err="1">
                <a:latin typeface="Franklin Gothic Book" panose="020B0503020102020204" pitchFamily="34" charset="0"/>
              </a:rPr>
              <a:t>myList</a:t>
            </a:r>
            <a:r>
              <a:rPr lang="en-US" sz="2400" b="0" kern="0" dirty="0" err="1">
                <a:latin typeface="Franklin Gothic Book" pitchFamily="34" charset="0"/>
                <a:ea typeface="+mn-ea"/>
                <a:cs typeface="ＭＳ Ｐゴシック" charset="0"/>
              </a:rPr>
              <a:t>.sort</a:t>
            </a: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()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sz="2400" dirty="0" err="1">
                <a:latin typeface="Franklin Gothic Book" panose="020B0503020102020204" pitchFamily="34" charset="0"/>
              </a:rPr>
              <a:t>myList</a:t>
            </a:r>
            <a:r>
              <a:rPr lang="en-US" sz="2400" b="0" kern="0" dirty="0" err="1">
                <a:latin typeface="Franklin Gothic Book" pitchFamily="34" charset="0"/>
                <a:ea typeface="+mn-ea"/>
                <a:cs typeface="ＭＳ Ｐゴシック" charset="0"/>
              </a:rPr>
              <a:t>.sort</a:t>
            </a: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(reverse=True)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sz="2400" dirty="0" err="1">
                <a:latin typeface="Franklin Gothic Book" panose="020B0503020102020204" pitchFamily="34" charset="0"/>
              </a:rPr>
              <a:t>myList</a:t>
            </a:r>
            <a:r>
              <a:rPr lang="en-US" sz="2400" b="0" kern="0" dirty="0" err="1">
                <a:latin typeface="Franklin Gothic Book" pitchFamily="34" charset="0"/>
                <a:ea typeface="+mn-ea"/>
                <a:cs typeface="ＭＳ Ｐゴシック" charset="0"/>
              </a:rPr>
              <a:t>.sorted</a:t>
            </a: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()	 # does not update original </a:t>
            </a:r>
            <a:r>
              <a:rPr lang="en-US" sz="2400" b="0" kern="0" dirty="0" err="1">
                <a:latin typeface="Franklin Gothic Book" pitchFamily="34" charset="0"/>
                <a:ea typeface="+mn-ea"/>
                <a:cs typeface="ＭＳ Ｐゴシック" charset="0"/>
              </a:rPr>
              <a:t>myList</a:t>
            </a:r>
            <a:endParaRPr lang="en-US" sz="2400" b="0" kern="0" dirty="0">
              <a:latin typeface="Franklin Gothic Book" pitchFamily="34" charset="0"/>
              <a:ea typeface="+mn-ea"/>
              <a:cs typeface="ＭＳ Ｐゴシック" charset="0"/>
            </a:endParaRP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endParaRPr lang="en-US" sz="2400" b="0" kern="0" dirty="0">
              <a:latin typeface="Franklin Gothic Book" pitchFamily="34" charset="0"/>
              <a:ea typeface="+mn-ea"/>
              <a:cs typeface="ＭＳ Ｐゴシック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Reverse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sz="2400" dirty="0" err="1">
                <a:latin typeface="Franklin Gothic Book" panose="020B0503020102020204" pitchFamily="34" charset="0"/>
              </a:rPr>
              <a:t>myList</a:t>
            </a:r>
            <a:r>
              <a:rPr lang="en-US" sz="2400" b="0" kern="0" dirty="0" err="1">
                <a:latin typeface="Franklin Gothic Book" pitchFamily="34" charset="0"/>
                <a:ea typeface="+mn-ea"/>
                <a:cs typeface="ＭＳ Ｐゴシック" charset="0"/>
              </a:rPr>
              <a:t>.reverse</a:t>
            </a: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()</a:t>
            </a: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endParaRPr lang="en-US" sz="2400" b="0" kern="0" dirty="0">
              <a:latin typeface="Franklin Gothic Book" pitchFamily="34" charset="0"/>
              <a:ea typeface="+mn-ea"/>
              <a:cs typeface="ＭＳ Ｐゴシック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# of elements in a list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b="0" kern="0" dirty="0" err="1">
                <a:latin typeface="Franklin Gothic Book" pitchFamily="34" charset="0"/>
                <a:ea typeface="+mn-ea"/>
                <a:cs typeface="ＭＳ Ｐゴシック" charset="0"/>
              </a:rPr>
              <a:t>len</a:t>
            </a: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(</a:t>
            </a:r>
            <a:r>
              <a:rPr lang="en-US" altLang="en-US" sz="2400" dirty="0" err="1">
                <a:latin typeface="Franklin Gothic Book" panose="020B0503020102020204" pitchFamily="34" charset="0"/>
              </a:rPr>
              <a:t>myList</a:t>
            </a: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73514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9692" y="403936"/>
            <a:ext cx="186308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Str</a:t>
            </a:r>
            <a:r>
              <a:rPr spc="10" dirty="0"/>
              <a:t>i</a:t>
            </a:r>
            <a:r>
              <a:rPr spc="-5" dirty="0"/>
              <a:t>n</a:t>
            </a:r>
            <a:r>
              <a:rPr spc="5" dirty="0"/>
              <a:t>g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2063241"/>
            <a:ext cx="7214870" cy="3211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49275" indent="-228600">
              <a:lnSpc>
                <a:spcPct val="100000"/>
              </a:lnSpc>
              <a:spcBef>
                <a:spcPts val="10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cs typeface="Cambria"/>
              </a:rPr>
              <a:t>Strings </a:t>
            </a:r>
            <a:r>
              <a:rPr sz="2400" dirty="0">
                <a:solidFill>
                  <a:srgbClr val="404040"/>
                </a:solidFill>
                <a:cs typeface="Cambria"/>
              </a:rPr>
              <a:t>can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simply </a:t>
            </a:r>
            <a:r>
              <a:rPr sz="2400" dirty="0">
                <a:solidFill>
                  <a:srgbClr val="404040"/>
                </a:solidFill>
                <a:cs typeface="Cambria"/>
              </a:rPr>
              <a:t>be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defined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by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use </a:t>
            </a:r>
            <a:r>
              <a:rPr sz="2400" dirty="0">
                <a:solidFill>
                  <a:srgbClr val="404040"/>
                </a:solidFill>
                <a:cs typeface="Cambria"/>
              </a:rPr>
              <a:t>of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single </a:t>
            </a:r>
            <a:r>
              <a:rPr sz="2400" dirty="0">
                <a:solidFill>
                  <a:srgbClr val="404040"/>
                </a:solidFill>
                <a:cs typeface="Cambria"/>
              </a:rPr>
              <a:t>( ‘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),  double </a:t>
            </a:r>
            <a:r>
              <a:rPr sz="2400" dirty="0">
                <a:solidFill>
                  <a:srgbClr val="404040"/>
                </a:solidFill>
                <a:cs typeface="Cambria"/>
              </a:rPr>
              <a:t>( ” )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or triple </a:t>
            </a:r>
            <a:r>
              <a:rPr sz="2400" dirty="0">
                <a:solidFill>
                  <a:srgbClr val="404040"/>
                </a:solidFill>
                <a:cs typeface="Cambria"/>
              </a:rPr>
              <a:t>(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”’ </a:t>
            </a:r>
            <a:r>
              <a:rPr sz="2400" dirty="0">
                <a:solidFill>
                  <a:srgbClr val="404040"/>
                </a:solidFill>
                <a:cs typeface="Cambria"/>
              </a:rPr>
              <a:t>)</a:t>
            </a:r>
            <a:r>
              <a:rPr sz="2400" spc="-4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commas</a:t>
            </a:r>
            <a:endParaRPr lang="en-US" sz="2400" spc="-5" dirty="0">
              <a:solidFill>
                <a:srgbClr val="404040"/>
              </a:solidFill>
              <a:cs typeface="Cambria"/>
            </a:endParaRPr>
          </a:p>
          <a:p>
            <a:pPr marL="241300" marR="549275" indent="-228600">
              <a:lnSpc>
                <a:spcPct val="100000"/>
              </a:lnSpc>
              <a:spcBef>
                <a:spcPts val="10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endParaRPr sz="2400" dirty="0">
              <a:cs typeface="Cambria"/>
            </a:endParaRPr>
          </a:p>
          <a:p>
            <a:pPr marL="241300" marR="30099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cs typeface="Cambria"/>
              </a:rPr>
              <a:t>Strings enclosed </a:t>
            </a:r>
            <a:r>
              <a:rPr sz="2400" dirty="0">
                <a:solidFill>
                  <a:srgbClr val="404040"/>
                </a:solidFill>
                <a:cs typeface="Cambria"/>
              </a:rPr>
              <a:t>in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tripe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quotes </a:t>
            </a:r>
            <a:r>
              <a:rPr sz="2400" dirty="0">
                <a:solidFill>
                  <a:srgbClr val="404040"/>
                </a:solidFill>
                <a:cs typeface="Cambria"/>
              </a:rPr>
              <a:t>( ”’ )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can </a:t>
            </a:r>
            <a:r>
              <a:rPr sz="2400" dirty="0">
                <a:solidFill>
                  <a:srgbClr val="404040"/>
                </a:solidFill>
                <a:cs typeface="Cambria"/>
              </a:rPr>
              <a:t>span </a:t>
            </a:r>
            <a:r>
              <a:rPr sz="2400" spc="-25" dirty="0">
                <a:solidFill>
                  <a:srgbClr val="404040"/>
                </a:solidFill>
                <a:cs typeface="Cambria"/>
              </a:rPr>
              <a:t>over 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multiple lines </a:t>
            </a:r>
            <a:r>
              <a:rPr sz="2400" dirty="0">
                <a:solidFill>
                  <a:srgbClr val="404040"/>
                </a:solidFill>
                <a:cs typeface="Cambria"/>
              </a:rPr>
              <a:t>and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are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used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frequently </a:t>
            </a:r>
            <a:r>
              <a:rPr sz="2400" dirty="0">
                <a:solidFill>
                  <a:srgbClr val="404040"/>
                </a:solidFill>
                <a:cs typeface="Cambria"/>
              </a:rPr>
              <a:t>in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docstrings 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(Python’s </a:t>
            </a:r>
            <a:r>
              <a:rPr sz="2400" spc="-40" dirty="0">
                <a:solidFill>
                  <a:srgbClr val="404040"/>
                </a:solidFill>
                <a:cs typeface="Cambria"/>
              </a:rPr>
              <a:t>way </a:t>
            </a:r>
            <a:r>
              <a:rPr sz="2400" dirty="0">
                <a:solidFill>
                  <a:srgbClr val="404040"/>
                </a:solidFill>
                <a:cs typeface="Cambria"/>
              </a:rPr>
              <a:t>of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documenting</a:t>
            </a:r>
            <a:r>
              <a:rPr sz="2400" spc="7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functions)</a:t>
            </a:r>
            <a:endParaRPr lang="en-US" sz="2400" spc="-5" dirty="0">
              <a:solidFill>
                <a:srgbClr val="404040"/>
              </a:solidFill>
              <a:cs typeface="Cambria"/>
            </a:endParaRPr>
          </a:p>
          <a:p>
            <a:pPr marL="241300" marR="30099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endParaRPr sz="2400" dirty="0"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cs typeface="Cambria"/>
              </a:rPr>
              <a:t>\ is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used </a:t>
            </a:r>
            <a:r>
              <a:rPr sz="2400" dirty="0">
                <a:solidFill>
                  <a:srgbClr val="404040"/>
                </a:solidFill>
                <a:cs typeface="Cambria"/>
              </a:rPr>
              <a:t>as an escape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35" dirty="0">
                <a:solidFill>
                  <a:srgbClr val="404040"/>
                </a:solidFill>
                <a:cs typeface="Cambria"/>
              </a:rPr>
              <a:t>character.</a:t>
            </a:r>
            <a:endParaRPr sz="2400" dirty="0"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CF32337-3779-F34B-8790-CF6A69C686D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533400"/>
            <a:ext cx="8229600" cy="762000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sz="3600" kern="0" dirty="0">
                <a:latin typeface="+mj-lt"/>
                <a:ea typeface="+mj-ea"/>
                <a:cs typeface="+mj-cs"/>
              </a:rPr>
              <a:t>String and list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A42D481-9FA0-7246-91D9-254576C58FF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47800"/>
            <a:ext cx="8229600" cy="5029200"/>
          </a:xfrm>
          <a:prstGeom prst="rect">
            <a:avLst/>
          </a:prstGeom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b="0" kern="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 the same way</a:t>
            </a: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Slices</a:t>
            </a:r>
          </a:p>
          <a:p>
            <a:pPr marL="1257300" lvl="2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sz="1600" b="0" kern="0" dirty="0" err="1">
                <a:latin typeface="Franklin Gothic Book" pitchFamily="34" charset="0"/>
                <a:cs typeface="ＭＳ Ｐゴシック" charset="0"/>
              </a:rPr>
              <a:t>myStr</a:t>
            </a:r>
            <a:r>
              <a:rPr lang="en-US" sz="1600" b="0" kern="0" dirty="0">
                <a:latin typeface="Franklin Gothic Book" pitchFamily="34" charset="0"/>
                <a:cs typeface="ＭＳ Ｐゴシック" charset="0"/>
              </a:rPr>
              <a:t>[</a:t>
            </a:r>
            <a:r>
              <a:rPr lang="en-US" sz="1600" b="0" kern="0" dirty="0" err="1">
                <a:latin typeface="Franklin Gothic Book" pitchFamily="34" charset="0"/>
                <a:cs typeface="ＭＳ Ｐゴシック" charset="0"/>
              </a:rPr>
              <a:t>start:end</a:t>
            </a:r>
            <a:r>
              <a:rPr lang="en-US" sz="1600" b="0" kern="0" dirty="0">
                <a:latin typeface="Franklin Gothic Book" pitchFamily="34" charset="0"/>
                <a:cs typeface="ＭＳ Ｐゴシック" charset="0"/>
              </a:rPr>
              <a:t>]	# items from start through end-1</a:t>
            </a:r>
          </a:p>
          <a:p>
            <a:pPr marL="1257300" lvl="2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sz="1600" b="0" kern="0" dirty="0" err="1">
                <a:latin typeface="Franklin Gothic Book" pitchFamily="34" charset="0"/>
                <a:cs typeface="ＭＳ Ｐゴシック" charset="0"/>
              </a:rPr>
              <a:t>myStr</a:t>
            </a:r>
            <a:r>
              <a:rPr lang="en-US" sz="1600" b="0" kern="0" dirty="0">
                <a:latin typeface="Franklin Gothic Book" pitchFamily="34" charset="0"/>
                <a:cs typeface="ＭＳ Ｐゴシック" charset="0"/>
              </a:rPr>
              <a:t>[start:]		# from start through the rest</a:t>
            </a:r>
          </a:p>
          <a:p>
            <a:pPr marL="1257300" lvl="2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sz="1600" b="0" kern="0" dirty="0" err="1">
                <a:latin typeface="Franklin Gothic Book" pitchFamily="34" charset="0"/>
                <a:cs typeface="ＭＳ Ｐゴシック" charset="0"/>
              </a:rPr>
              <a:t>myStr</a:t>
            </a:r>
            <a:r>
              <a:rPr lang="en-US" sz="1600" b="0" kern="0" dirty="0">
                <a:latin typeface="Franklin Gothic Book" pitchFamily="34" charset="0"/>
                <a:cs typeface="ＭＳ Ｐゴシック" charset="0"/>
              </a:rPr>
              <a:t>[:end]		# from beginning through end-1</a:t>
            </a:r>
          </a:p>
          <a:p>
            <a:pPr marL="1257300" lvl="2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sz="1600" b="0" kern="0" dirty="0" err="1">
                <a:latin typeface="Franklin Gothic Book" pitchFamily="34" charset="0"/>
                <a:cs typeface="ＭＳ Ｐゴシック" charset="0"/>
              </a:rPr>
              <a:t>myStr</a:t>
            </a:r>
            <a:r>
              <a:rPr lang="en-US" sz="1600" b="0" kern="0" dirty="0">
                <a:latin typeface="Franklin Gothic Book" pitchFamily="34" charset="0"/>
                <a:cs typeface="ＭＳ Ｐゴシック" charset="0"/>
              </a:rPr>
              <a:t>[:]		# whole items</a:t>
            </a:r>
          </a:p>
          <a:p>
            <a:pPr marL="1257300" lvl="2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sz="1600" b="0" kern="0" dirty="0" err="1">
                <a:latin typeface="Franklin Gothic Book" pitchFamily="34" charset="0"/>
                <a:cs typeface="ＭＳ Ｐゴシック" charset="0"/>
              </a:rPr>
              <a:t>myStr</a:t>
            </a:r>
            <a:r>
              <a:rPr lang="en-US" sz="1600" b="0" kern="0" dirty="0">
                <a:latin typeface="Franklin Gothic Book" pitchFamily="34" charset="0"/>
                <a:cs typeface="ＭＳ Ｐゴシック" charset="0"/>
              </a:rPr>
              <a:t>[-2:]		# last two items</a:t>
            </a:r>
          </a:p>
          <a:p>
            <a:pPr marL="1257300" lvl="2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sz="1600" b="0" kern="0" dirty="0" err="1">
                <a:latin typeface="Franklin Gothic Book" pitchFamily="34" charset="0"/>
                <a:cs typeface="ＭＳ Ｐゴシック" charset="0"/>
              </a:rPr>
              <a:t>myStr</a:t>
            </a:r>
            <a:r>
              <a:rPr lang="en-US" sz="1600" b="0" kern="0" dirty="0">
                <a:latin typeface="Franklin Gothic Book" pitchFamily="34" charset="0"/>
                <a:cs typeface="ＭＳ Ｐゴシック" charset="0"/>
              </a:rPr>
              <a:t>[:-2]</a:t>
            </a:r>
          </a:p>
          <a:p>
            <a:pPr marL="1257300" lvl="2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sz="1600" b="0" kern="0" dirty="0">
                <a:latin typeface="Franklin Gothic Book" pitchFamily="34" charset="0"/>
                <a:cs typeface="ＭＳ Ｐゴシック" charset="0"/>
              </a:rPr>
              <a:t>	</a:t>
            </a:r>
            <a:endParaRPr lang="en-US" sz="1600" b="0" kern="0" dirty="0">
              <a:latin typeface="Franklin Gothic Book" pitchFamily="34" charset="0"/>
              <a:ea typeface="+mn-ea"/>
              <a:cs typeface="ＭＳ Ｐゴシック" charset="0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lang="en-US" sz="2800" spc="-5" dirty="0">
                <a:solidFill>
                  <a:srgbClr val="40404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Python strings </a:t>
            </a:r>
            <a:r>
              <a:rPr lang="en-US" sz="2800" spc="-15" dirty="0">
                <a:solidFill>
                  <a:srgbClr val="40404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</a:t>
            </a:r>
            <a:r>
              <a:rPr lang="en-US" sz="2800" spc="-5" dirty="0">
                <a:solidFill>
                  <a:srgbClr val="40404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immutable</a:t>
            </a:r>
          </a:p>
          <a:p>
            <a:pPr marL="698500" lvl="1" indent="-228600">
              <a:spcBef>
                <a:spcPts val="5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lang="en-US" spc="-5" dirty="0">
                <a:solidFill>
                  <a:srgbClr val="40404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operations to change strings</a:t>
            </a:r>
          </a:p>
          <a:p>
            <a:pPr marL="1257300" lvl="2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b="0" kern="0" dirty="0" err="1">
                <a:latin typeface="Franklin Gothic Book" pitchFamily="34" charset="0"/>
                <a:ea typeface="+mn-ea"/>
                <a:cs typeface="ＭＳ Ｐゴシック" charset="0"/>
              </a:rPr>
              <a:t>x.append</a:t>
            </a:r>
            <a:r>
              <a:rPr lang="en-US" b="0" kern="0" dirty="0">
                <a:latin typeface="Franklin Gothic Book" pitchFamily="34" charset="0"/>
                <a:ea typeface="+mn-ea"/>
                <a:cs typeface="ＭＳ Ｐゴシック" charset="0"/>
              </a:rPr>
              <a:t>()</a:t>
            </a:r>
          </a:p>
          <a:p>
            <a:pPr marL="1257300" lvl="2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1800" b="0" kern="0" dirty="0" err="1">
                <a:latin typeface="Franklin Gothic Book" pitchFamily="34" charset="0"/>
                <a:ea typeface="+mn-ea"/>
                <a:cs typeface="ＭＳ Ｐゴシック" charset="0"/>
              </a:rPr>
              <a:t>x.insert</a:t>
            </a:r>
            <a:r>
              <a:rPr lang="en-US" sz="1800" b="0" kern="0" dirty="0">
                <a:latin typeface="Franklin Gothic Book" pitchFamily="34" charset="0"/>
                <a:ea typeface="+mn-ea"/>
                <a:cs typeface="ＭＳ Ｐゴシック" charset="0"/>
              </a:rPr>
              <a:t>(0, -1)</a:t>
            </a:r>
          </a:p>
          <a:p>
            <a:pPr marL="1257300" lvl="2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1800" b="0" kern="0" dirty="0">
                <a:latin typeface="Franklin Gothic Book" pitchFamily="34" charset="0"/>
                <a:ea typeface="+mn-ea"/>
                <a:cs typeface="ＭＳ Ｐゴシック" charset="0"/>
              </a:rPr>
              <a:t>del x[1]</a:t>
            </a:r>
          </a:p>
          <a:p>
            <a:pPr marL="1257300" lvl="2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1800" b="0" kern="0" dirty="0" err="1">
                <a:latin typeface="Franklin Gothic Book" pitchFamily="34" charset="0"/>
                <a:ea typeface="+mn-ea"/>
                <a:cs typeface="ＭＳ Ｐゴシック" charset="0"/>
              </a:rPr>
              <a:t>x.remove</a:t>
            </a:r>
            <a:r>
              <a:rPr lang="en-US" sz="1800" b="0" kern="0" dirty="0">
                <a:latin typeface="Franklin Gothic Book" pitchFamily="34" charset="0"/>
                <a:ea typeface="+mn-ea"/>
                <a:cs typeface="ＭＳ Ｐゴシック" charset="0"/>
              </a:rPr>
              <a:t>(3)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endParaRPr lang="en-US" b="0" kern="0" dirty="0">
              <a:latin typeface="Franklin Gothic Book" pitchFamily="34" charset="0"/>
              <a:ea typeface="+mn-ea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314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CF32337-3779-F34B-8790-CF6A69C686D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sz="3600" kern="0" dirty="0">
                <a:latin typeface="+mj-lt"/>
                <a:ea typeface="+mj-ea"/>
                <a:cs typeface="+mj-cs"/>
              </a:rPr>
              <a:t>zip operator in lists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A42D481-9FA0-7246-91D9-254576C58FF6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24000"/>
            <a:ext cx="7696200" cy="971371"/>
          </a:xfrm>
          <a:prstGeom prst="rect">
            <a:avLst/>
          </a:prstGeom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kern="0" dirty="0">
                <a:latin typeface="Franklin Gothic Book" pitchFamily="34" charset="0"/>
                <a:cs typeface="ＭＳ Ｐゴシック" charset="0"/>
              </a:rPr>
              <a:t>L1,L2,L3,… are lists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kern="0" dirty="0">
                <a:latin typeface="Franklin Gothic Book" pitchFamily="34" charset="0"/>
                <a:cs typeface="ＭＳ Ｐゴシック" charset="0"/>
              </a:rPr>
              <a:t>z</a:t>
            </a:r>
            <a:r>
              <a:rPr lang="en-US" sz="2400" b="0" kern="0" dirty="0">
                <a:latin typeface="Franklin Gothic Book" pitchFamily="34" charset="0"/>
                <a:ea typeface="+mn-ea"/>
                <a:cs typeface="ＭＳ Ｐゴシック" charset="0"/>
              </a:rPr>
              <a:t>ip(L1,L2,L3,..)  # combines elements into a tuple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endParaRPr lang="en-US" sz="2400" b="0" kern="0" dirty="0">
              <a:latin typeface="Franklin Gothic Book" pitchFamily="34" charset="0"/>
              <a:ea typeface="+mn-ea"/>
              <a:cs typeface="ＭＳ Ｐゴシック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endParaRPr lang="en-US" b="0" kern="0" dirty="0">
              <a:latin typeface="Franklin Gothic Book" pitchFamily="34" charset="0"/>
              <a:ea typeface="+mn-ea"/>
              <a:cs typeface="ＭＳ Ｐゴシック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AB7A037-DB4A-0146-B14A-F42BD19F3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27" y="2667000"/>
            <a:ext cx="4153973" cy="382887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b="0" dirty="0">
                <a:latin typeface="+mn-lt"/>
              </a:rPr>
              <a:t>&gt;&gt;&gt; chars = ['</a:t>
            </a:r>
            <a:r>
              <a:rPr lang="en-US" b="0" dirty="0" err="1">
                <a:latin typeface="+mn-lt"/>
              </a:rPr>
              <a:t>a','b','c</a:t>
            </a:r>
            <a:r>
              <a:rPr lang="en-US" b="0" dirty="0">
                <a:latin typeface="+mn-lt"/>
              </a:rPr>
              <a:t>']</a:t>
            </a:r>
          </a:p>
          <a:p>
            <a:r>
              <a:rPr lang="en-US" b="0" dirty="0">
                <a:latin typeface="+mn-lt"/>
              </a:rPr>
              <a:t>&gt;&gt;&gt; </a:t>
            </a:r>
            <a:r>
              <a:rPr lang="en-US" b="0" dirty="0" err="1">
                <a:latin typeface="+mn-lt"/>
              </a:rPr>
              <a:t>val</a:t>
            </a:r>
            <a:r>
              <a:rPr lang="en-US" b="0" dirty="0">
                <a:latin typeface="+mn-lt"/>
              </a:rPr>
              <a:t> = [0,1,2]</a:t>
            </a:r>
          </a:p>
          <a:p>
            <a:endParaRPr lang="en-US" altLang="en-US" b="0" dirty="0">
              <a:latin typeface="Calibri" panose="020F0502020204030204" pitchFamily="34" charset="0"/>
            </a:endParaRPr>
          </a:p>
          <a:p>
            <a:r>
              <a:rPr lang="en-US" b="0" dirty="0">
                <a:latin typeface="+mn-lt"/>
              </a:rPr>
              <a:t>&gt;&gt;&gt; </a:t>
            </a:r>
            <a:r>
              <a:rPr lang="en-US" b="0" dirty="0" err="1">
                <a:latin typeface="+mn-lt"/>
              </a:rPr>
              <a:t>x,y,z</a:t>
            </a:r>
            <a:r>
              <a:rPr lang="en-US" b="0" dirty="0">
                <a:latin typeface="+mn-lt"/>
              </a:rPr>
              <a:t> = zip(chars, </a:t>
            </a:r>
            <a:r>
              <a:rPr lang="en-US" b="0" dirty="0" err="1">
                <a:latin typeface="+mn-lt"/>
              </a:rPr>
              <a:t>val</a:t>
            </a:r>
            <a:r>
              <a:rPr lang="en-US" b="0" dirty="0">
                <a:latin typeface="+mn-lt"/>
              </a:rPr>
              <a:t>)</a:t>
            </a:r>
          </a:p>
          <a:p>
            <a:r>
              <a:rPr lang="en-US" b="0" dirty="0">
                <a:latin typeface="+mn-lt"/>
              </a:rPr>
              <a:t>&gt;&gt;&gt; x</a:t>
            </a:r>
          </a:p>
          <a:p>
            <a:r>
              <a:rPr lang="en-US" b="0" dirty="0">
                <a:latin typeface="+mn-lt"/>
              </a:rPr>
              <a:t>('a', 0)</a:t>
            </a:r>
          </a:p>
          <a:p>
            <a:r>
              <a:rPr lang="en-US" b="0" dirty="0">
                <a:latin typeface="+mn-lt"/>
              </a:rPr>
              <a:t>&gt;&gt;&gt; pairs = list(zip(chars, </a:t>
            </a:r>
            <a:r>
              <a:rPr lang="en-US" b="0" dirty="0" err="1">
                <a:latin typeface="+mn-lt"/>
              </a:rPr>
              <a:t>val</a:t>
            </a:r>
            <a:r>
              <a:rPr lang="en-US" b="0" dirty="0">
                <a:latin typeface="+mn-lt"/>
              </a:rPr>
              <a:t>))</a:t>
            </a:r>
          </a:p>
          <a:p>
            <a:r>
              <a:rPr lang="en-US" b="0" dirty="0">
                <a:latin typeface="+mn-lt"/>
              </a:rPr>
              <a:t>&gt;&gt;&gt; pairs</a:t>
            </a:r>
          </a:p>
          <a:p>
            <a:r>
              <a:rPr lang="en-US" b="0" dirty="0">
                <a:latin typeface="+mn-lt"/>
              </a:rPr>
              <a:t>[('a', 0), ('b', 1), ('c', 2)]</a:t>
            </a:r>
          </a:p>
          <a:p>
            <a:endParaRPr lang="en-US" altLang="en-US" b="0" dirty="0"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1DB86-7188-574F-BFF7-02BDB80C3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818215"/>
            <a:ext cx="3960223" cy="267765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b="0" dirty="0">
                <a:latin typeface="+mn-lt"/>
              </a:rPr>
              <a:t>* unpacks arguments</a:t>
            </a:r>
          </a:p>
          <a:p>
            <a:r>
              <a:rPr lang="en-US" b="0" dirty="0">
                <a:latin typeface="+mn-lt"/>
              </a:rPr>
              <a:t>&gt;&gt;&gt; </a:t>
            </a:r>
            <a:r>
              <a:rPr lang="en-US" b="0" dirty="0" err="1">
                <a:latin typeface="+mn-lt"/>
              </a:rPr>
              <a:t>x,y</a:t>
            </a:r>
            <a:r>
              <a:rPr lang="en-US" b="0" dirty="0">
                <a:latin typeface="+mn-lt"/>
              </a:rPr>
              <a:t>= zip(*pairs)</a:t>
            </a:r>
          </a:p>
          <a:p>
            <a:r>
              <a:rPr lang="en-US" b="0" dirty="0">
                <a:latin typeface="+mn-lt"/>
              </a:rPr>
              <a:t>&gt;&gt;&gt; x</a:t>
            </a:r>
          </a:p>
          <a:p>
            <a:r>
              <a:rPr lang="en-US" b="0" dirty="0">
                <a:latin typeface="+mn-lt"/>
              </a:rPr>
              <a:t>('a', 'b', 'c')</a:t>
            </a:r>
          </a:p>
          <a:p>
            <a:r>
              <a:rPr lang="en-US" b="0" dirty="0">
                <a:latin typeface="+mn-lt"/>
              </a:rPr>
              <a:t>&gt;&gt;&gt; unpack = list(zip(*pairs))</a:t>
            </a:r>
          </a:p>
          <a:p>
            <a:r>
              <a:rPr lang="en-US" b="0" dirty="0">
                <a:latin typeface="+mn-lt"/>
              </a:rPr>
              <a:t>&gt;&gt;&gt; unpack</a:t>
            </a:r>
          </a:p>
          <a:p>
            <a:r>
              <a:rPr lang="en-US" b="0" dirty="0">
                <a:latin typeface="+mn-lt"/>
              </a:rPr>
              <a:t>[('a', 'b', 'c'), (0, 1, 2)]</a:t>
            </a:r>
          </a:p>
        </p:txBody>
      </p:sp>
    </p:spTree>
    <p:extLst>
      <p:ext uri="{BB962C8B-B14F-4D97-AF65-F5344CB8AC3E}">
        <p14:creationId xmlns:p14="http://schemas.microsoft.com/office/powerpoint/2010/main" val="211126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5413" y="403936"/>
            <a:ext cx="17716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T</a:t>
            </a:r>
            <a:r>
              <a:rPr spc="-5" dirty="0"/>
              <a:t>up</a:t>
            </a:r>
            <a:r>
              <a:rPr spc="-25" dirty="0"/>
              <a:t>l</a:t>
            </a:r>
            <a:r>
              <a:rPr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88" y="1476692"/>
            <a:ext cx="7855712" cy="300402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1156335" indent="-228600">
              <a:lnSpc>
                <a:spcPts val="2590"/>
              </a:lnSpc>
              <a:spcBef>
                <a:spcPts val="42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cs typeface="Cambria"/>
              </a:rPr>
              <a:t>A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tuple </a:t>
            </a:r>
            <a:r>
              <a:rPr sz="2400" dirty="0">
                <a:solidFill>
                  <a:srgbClr val="404040"/>
                </a:solidFill>
                <a:cs typeface="Cambria"/>
              </a:rPr>
              <a:t>is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represented by </a:t>
            </a:r>
            <a:r>
              <a:rPr sz="2400" dirty="0">
                <a:solidFill>
                  <a:srgbClr val="404040"/>
                </a:solidFill>
                <a:cs typeface="Cambria"/>
              </a:rPr>
              <a:t>a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number of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values 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separated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by</a:t>
            </a:r>
            <a:r>
              <a:rPr sz="2400" spc="-2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commas.</a:t>
            </a:r>
            <a:endParaRPr lang="en-US" sz="2400" spc="-5" dirty="0">
              <a:solidFill>
                <a:srgbClr val="404040"/>
              </a:solidFill>
              <a:cs typeface="Cambria"/>
            </a:endParaRPr>
          </a:p>
          <a:p>
            <a:pPr marL="698500" marR="1156335" lvl="1" indent="-228600">
              <a:lnSpc>
                <a:spcPts val="2590"/>
              </a:lnSpc>
              <a:spcBef>
                <a:spcPts val="42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lang="en-US" sz="2400" spc="-5" dirty="0">
                <a:solidFill>
                  <a:srgbClr val="404040"/>
                </a:solidFill>
                <a:cs typeface="Cambria"/>
              </a:rPr>
              <a:t>myTuple1 = 3, 4</a:t>
            </a:r>
          </a:p>
          <a:p>
            <a:pPr marL="698500" marR="1156335" lvl="1" indent="-228600">
              <a:lnSpc>
                <a:spcPts val="2590"/>
              </a:lnSpc>
              <a:spcBef>
                <a:spcPts val="42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lang="en-US" sz="2400" spc="-5" dirty="0">
                <a:solidFill>
                  <a:srgbClr val="404040"/>
                </a:solidFill>
                <a:cs typeface="Cambria"/>
              </a:rPr>
              <a:t>myTuple2 = (3,4)</a:t>
            </a:r>
          </a:p>
          <a:p>
            <a:pPr marL="698500" marR="1156335" lvl="1" indent="-228600">
              <a:lnSpc>
                <a:spcPts val="2590"/>
              </a:lnSpc>
              <a:spcBef>
                <a:spcPts val="42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lang="en-US" sz="2400" spc="-5" dirty="0" err="1">
                <a:solidFill>
                  <a:srgbClr val="404040"/>
                </a:solidFill>
                <a:cs typeface="Cambria"/>
              </a:rPr>
              <a:t>x,y</a:t>
            </a:r>
            <a:r>
              <a:rPr lang="en-US" sz="2400" spc="-5" dirty="0">
                <a:solidFill>
                  <a:srgbClr val="404040"/>
                </a:solidFill>
                <a:cs typeface="Cambria"/>
              </a:rPr>
              <a:t>=3,4</a:t>
            </a:r>
          </a:p>
          <a:p>
            <a:pPr marL="698500" marR="1156335" lvl="1" indent="-228600">
              <a:lnSpc>
                <a:spcPts val="2590"/>
              </a:lnSpc>
              <a:spcBef>
                <a:spcPts val="42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endParaRPr sz="2400" dirty="0">
              <a:cs typeface="Cambria"/>
            </a:endParaRPr>
          </a:p>
          <a:p>
            <a:pPr marL="241300" marR="226060" indent="-228600">
              <a:lnSpc>
                <a:spcPts val="2590"/>
              </a:lnSpc>
              <a:spcBef>
                <a:spcPts val="58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15" dirty="0">
                <a:solidFill>
                  <a:srgbClr val="404040"/>
                </a:solidFill>
                <a:cs typeface="Cambria"/>
              </a:rPr>
              <a:t>Tuples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are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immutable </a:t>
            </a:r>
            <a:r>
              <a:rPr sz="2400" dirty="0">
                <a:solidFill>
                  <a:srgbClr val="404040"/>
                </a:solidFill>
                <a:cs typeface="Cambria"/>
              </a:rPr>
              <a:t>and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the </a:t>
            </a:r>
            <a:r>
              <a:rPr sz="2400" dirty="0">
                <a:solidFill>
                  <a:srgbClr val="404040"/>
                </a:solidFill>
                <a:cs typeface="Cambria"/>
              </a:rPr>
              <a:t>output is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surrounded 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by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parentheses </a:t>
            </a:r>
            <a:r>
              <a:rPr sz="2400" dirty="0">
                <a:solidFill>
                  <a:srgbClr val="404040"/>
                </a:solidFill>
                <a:cs typeface="Cambria"/>
              </a:rPr>
              <a:t>so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that nested tuples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are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processed  </a:t>
            </a:r>
            <a:r>
              <a:rPr sz="2400" spc="-35" dirty="0">
                <a:solidFill>
                  <a:srgbClr val="404040"/>
                </a:solidFill>
                <a:cs typeface="Cambria"/>
              </a:rPr>
              <a:t>correctly.</a:t>
            </a:r>
            <a:endParaRPr sz="2400" dirty="0"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8589" y="403936"/>
            <a:ext cx="27692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Dictionary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2063241"/>
            <a:ext cx="7249159" cy="20133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cs typeface="Cambria"/>
              </a:rPr>
              <a:t>Dictionary </a:t>
            </a:r>
            <a:r>
              <a:rPr sz="2400" dirty="0">
                <a:solidFill>
                  <a:srgbClr val="404040"/>
                </a:solidFill>
                <a:cs typeface="Cambria"/>
              </a:rPr>
              <a:t>is an </a:t>
            </a:r>
            <a:r>
              <a:rPr sz="2400" spc="-15" dirty="0">
                <a:solidFill>
                  <a:srgbClr val="FF0000"/>
                </a:solidFill>
                <a:cs typeface="Cambria"/>
              </a:rPr>
              <a:t>unordered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dirty="0">
                <a:solidFill>
                  <a:srgbClr val="404040"/>
                </a:solidFill>
                <a:cs typeface="Cambria"/>
              </a:rPr>
              <a:t>set of </a:t>
            </a:r>
            <a:r>
              <a:rPr sz="2400" spc="-25" dirty="0">
                <a:solidFill>
                  <a:srgbClr val="FF0000"/>
                </a:solidFill>
                <a:cs typeface="Cambria"/>
              </a:rPr>
              <a:t>key: </a:t>
            </a:r>
            <a:r>
              <a:rPr sz="2400" spc="-15" dirty="0">
                <a:solidFill>
                  <a:srgbClr val="FF0000"/>
                </a:solidFill>
                <a:cs typeface="Cambria"/>
              </a:rPr>
              <a:t>value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pairs,  with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the requirement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that the </a:t>
            </a:r>
            <a:r>
              <a:rPr sz="2400" spc="-30" dirty="0">
                <a:solidFill>
                  <a:srgbClr val="404040"/>
                </a:solidFill>
                <a:cs typeface="Cambria"/>
              </a:rPr>
              <a:t>keys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are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unique (within  </a:t>
            </a:r>
            <a:r>
              <a:rPr sz="2400" dirty="0">
                <a:solidFill>
                  <a:srgbClr val="404040"/>
                </a:solidFill>
                <a:cs typeface="Cambria"/>
              </a:rPr>
              <a:t>one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 dictionary).</a:t>
            </a:r>
            <a:endParaRPr sz="2400" dirty="0"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cs typeface="Cambria"/>
              </a:rPr>
              <a:t>A pair of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braces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creates </a:t>
            </a:r>
            <a:r>
              <a:rPr sz="2400" dirty="0">
                <a:solidFill>
                  <a:srgbClr val="404040"/>
                </a:solidFill>
                <a:cs typeface="Cambria"/>
              </a:rPr>
              <a:t>an empty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dictionary:</a:t>
            </a:r>
            <a:r>
              <a:rPr sz="2400" spc="-2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dirty="0">
                <a:solidFill>
                  <a:srgbClr val="404040"/>
                </a:solidFill>
                <a:cs typeface="Cambria"/>
              </a:rPr>
              <a:t>{}.</a:t>
            </a:r>
            <a:endParaRPr lang="en-US" sz="2400" dirty="0">
              <a:solidFill>
                <a:srgbClr val="404040"/>
              </a:solidFill>
              <a:cs typeface="Cambria"/>
            </a:endParaRPr>
          </a:p>
          <a:p>
            <a:pPr marL="698500" lvl="1" indent="-228600"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lang="en-US" sz="2400" dirty="0">
                <a:solidFill>
                  <a:srgbClr val="404040"/>
                </a:solidFill>
                <a:cs typeface="Cambria"/>
              </a:rPr>
              <a:t>Grades = {“a”:80, ”b”:70}</a:t>
            </a:r>
            <a:endParaRPr sz="2400" dirty="0"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4508E-739A-2F48-829E-3E1417DE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03437"/>
            <a:ext cx="7886700" cy="1325563"/>
          </a:xfrm>
        </p:spPr>
        <p:txBody>
          <a:bodyPr/>
          <a:lstStyle/>
          <a:p>
            <a:r>
              <a:rPr lang="en-US" dirty="0"/>
              <a:t>Prog. Control</a:t>
            </a:r>
          </a:p>
        </p:txBody>
      </p:sp>
    </p:spTree>
    <p:extLst>
      <p:ext uri="{BB962C8B-B14F-4D97-AF65-F5344CB8AC3E}">
        <p14:creationId xmlns:p14="http://schemas.microsoft.com/office/powerpoint/2010/main" val="2396488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1761" y="403936"/>
            <a:ext cx="58400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Conditional</a:t>
            </a:r>
            <a:r>
              <a:rPr spc="-70" dirty="0"/>
              <a:t> </a:t>
            </a:r>
            <a:r>
              <a:rPr spc="-5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2063241"/>
            <a:ext cx="67519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cs typeface="Cambria"/>
              </a:rPr>
              <a:t>The most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commonly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used construct </a:t>
            </a:r>
            <a:r>
              <a:rPr sz="2400" dirty="0">
                <a:solidFill>
                  <a:srgbClr val="404040"/>
                </a:solidFill>
                <a:cs typeface="Cambria"/>
              </a:rPr>
              <a:t>is if-else,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with  following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syntax:</a:t>
            </a:r>
            <a:endParaRPr sz="2400" dirty="0"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6000" y="3264408"/>
            <a:ext cx="4114800" cy="1710055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Times New Roman"/>
              <a:cs typeface="Times New Roman"/>
            </a:endParaRPr>
          </a:p>
          <a:p>
            <a:pPr marL="635">
              <a:lnSpc>
                <a:spcPct val="100000"/>
              </a:lnSpc>
            </a:pPr>
            <a:r>
              <a:rPr sz="2000" spc="-5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20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[condition]:</a:t>
            </a:r>
            <a:endParaRPr sz="2000">
              <a:latin typeface="Calibri"/>
              <a:cs typeface="Calibri"/>
            </a:endParaRPr>
          </a:p>
          <a:p>
            <a:pPr marL="915035">
              <a:lnSpc>
                <a:spcPct val="100000"/>
              </a:lnSpc>
              <a:tabLst>
                <a:tab pos="1165860" algn="l"/>
                <a:tab pos="3167380" algn="l"/>
              </a:tabLst>
            </a:pPr>
            <a:r>
              <a:rPr sz="2000" u="heavy" spc="-5" dirty="0">
                <a:solidFill>
                  <a:srgbClr val="333333"/>
                </a:solidFill>
                <a:uFill>
                  <a:solidFill>
                    <a:srgbClr val="323232"/>
                  </a:solidFill>
                </a:uFill>
                <a:latin typeface="Calibri"/>
                <a:cs typeface="Calibri"/>
              </a:rPr>
              <a:t> 	</a:t>
            </a:r>
            <a:r>
              <a:rPr sz="2000" spc="-15" dirty="0">
                <a:solidFill>
                  <a:srgbClr val="333333"/>
                </a:solidFill>
                <a:latin typeface="Calibri"/>
                <a:cs typeface="Calibri"/>
              </a:rPr>
              <a:t>execution </a:t>
            </a:r>
            <a:r>
              <a:rPr sz="2000" spc="-5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20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33"/>
                </a:solidFill>
                <a:latin typeface="Calibri"/>
                <a:cs typeface="Calibri"/>
              </a:rPr>
              <a:t>true</a:t>
            </a:r>
            <a:r>
              <a:rPr sz="2000" u="heavy" dirty="0">
                <a:solidFill>
                  <a:srgbClr val="333333"/>
                </a:solidFill>
                <a:uFill>
                  <a:solidFill>
                    <a:srgbClr val="323232"/>
                  </a:solidFill>
                </a:uFill>
                <a:latin typeface="Calibri"/>
                <a:cs typeface="Calibri"/>
              </a:rPr>
              <a:t> 	</a:t>
            </a:r>
            <a:endParaRPr sz="2000">
              <a:latin typeface="Calibri"/>
              <a:cs typeface="Calibri"/>
            </a:endParaRPr>
          </a:p>
          <a:p>
            <a:pPr marL="635">
              <a:lnSpc>
                <a:spcPct val="100000"/>
              </a:lnSpc>
            </a:pP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else:</a:t>
            </a:r>
            <a:endParaRPr sz="2000">
              <a:latin typeface="Calibri"/>
              <a:cs typeface="Calibri"/>
            </a:endParaRPr>
          </a:p>
          <a:p>
            <a:pPr marL="972819">
              <a:lnSpc>
                <a:spcPct val="100000"/>
              </a:lnSpc>
              <a:tabLst>
                <a:tab pos="1223645" algn="l"/>
                <a:tab pos="3262629" algn="l"/>
              </a:tabLst>
            </a:pPr>
            <a:r>
              <a:rPr sz="2000" u="heavy" spc="-5" dirty="0">
                <a:solidFill>
                  <a:srgbClr val="333333"/>
                </a:solidFill>
                <a:uFill>
                  <a:solidFill>
                    <a:srgbClr val="323232"/>
                  </a:solidFill>
                </a:uFill>
                <a:latin typeface="Calibri"/>
                <a:cs typeface="Calibri"/>
              </a:rPr>
              <a:t> 	</a:t>
            </a:r>
            <a:r>
              <a:rPr sz="2000" spc="-15" dirty="0">
                <a:solidFill>
                  <a:srgbClr val="333333"/>
                </a:solidFill>
                <a:latin typeface="Calibri"/>
                <a:cs typeface="Calibri"/>
              </a:rPr>
              <a:t>execution </a:t>
            </a:r>
            <a:r>
              <a:rPr sz="2000" spc="-5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20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33333"/>
                </a:solidFill>
                <a:latin typeface="Calibri"/>
                <a:cs typeface="Calibri"/>
              </a:rPr>
              <a:t>false</a:t>
            </a:r>
            <a:r>
              <a:rPr sz="2000" u="heavy" dirty="0">
                <a:solidFill>
                  <a:srgbClr val="333333"/>
                </a:solidFill>
                <a:uFill>
                  <a:solidFill>
                    <a:srgbClr val="323232"/>
                  </a:solidFill>
                </a:uFill>
                <a:latin typeface="Calibri"/>
                <a:cs typeface="Calibri"/>
              </a:rPr>
              <a:t> 	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3">
            <a:extLst>
              <a:ext uri="{FF2B5EF4-FFF2-40B4-BE49-F238E27FC236}">
                <a16:creationId xmlns:a16="http://schemas.microsoft.com/office/drawing/2014/main" id="{C595FB37-2F20-B845-B410-F1FF63FA3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363" y="1905000"/>
            <a:ext cx="7696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 dirty="0">
                <a:latin typeface="Franklin Gothic Book" panose="020B0503020102020204" pitchFamily="34" charset="0"/>
              </a:rPr>
              <a:t>Colon(</a:t>
            </a:r>
            <a:r>
              <a:rPr lang="en-US" altLang="en-US" b="0" dirty="0">
                <a:latin typeface="Franklin Gothic Book" panose="020B0503020102020204" pitchFamily="34" charset="0"/>
                <a:sym typeface="Wingdings" pitchFamily="2" charset="2"/>
              </a:rPr>
              <a:t>:) -- </a:t>
            </a:r>
            <a:r>
              <a:rPr lang="en-US" altLang="en-US" b="0" dirty="0">
                <a:latin typeface="Franklin Gothic Book" panose="020B0503020102020204" pitchFamily="34" charset="0"/>
              </a:rPr>
              <a:t>Indicates the end of a Python structure</a:t>
            </a:r>
            <a:endParaRPr lang="en-US" altLang="en-US" b="0" dirty="0">
              <a:solidFill>
                <a:srgbClr val="FF0000"/>
              </a:solidFill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 dirty="0">
                <a:latin typeface="Franklin Gothic Book" panose="020B0503020102020204" pitchFamily="34" charset="0"/>
              </a:rPr>
              <a:t>if (    ):</a:t>
            </a: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 dirty="0">
                <a:latin typeface="Franklin Gothic Book" panose="020B0503020102020204" pitchFamily="34" charset="0"/>
              </a:rPr>
              <a:t>for t in range(0,n):</a:t>
            </a: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 dirty="0">
                <a:latin typeface="Franklin Gothic Book" panose="020B0503020102020204" pitchFamily="34" charset="0"/>
              </a:rPr>
              <a:t>while (     ):</a:t>
            </a: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 dirty="0">
                <a:latin typeface="Franklin Gothic Book" panose="020B0503020102020204" pitchFamily="34" charset="0"/>
              </a:rPr>
              <a:t>def        :</a:t>
            </a: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 dirty="0">
              <a:latin typeface="Franklin Gothic Book" panose="020B0503020102020204" pitchFamily="34" charset="0"/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 dirty="0">
                <a:latin typeface="Franklin Gothic Book" panose="020B0503020102020204" pitchFamily="34" charset="0"/>
              </a:rPr>
              <a:t>Indentation – nesting depth</a:t>
            </a:r>
          </a:p>
          <a:p>
            <a:pPr lvl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 dirty="0">
                <a:latin typeface="Franklin Gothic Book" panose="020B0503020102020204" pitchFamily="34" charset="0"/>
              </a:rPr>
              <a:t>no {}</a:t>
            </a: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 dirty="0">
              <a:latin typeface="Franklin Gothic Book" panose="020B05030201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701E22-294B-2840-BD2F-CF80160251B4}"/>
              </a:ext>
            </a:extLst>
          </p:cNvPr>
          <p:cNvSpPr txBox="1">
            <a:spLocks noChangeArrowheads="1"/>
          </p:cNvSpPr>
          <p:nvPr/>
        </p:nvSpPr>
        <p:spPr>
          <a:xfrm>
            <a:off x="876300" y="762000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3600" kern="0" dirty="0">
                <a:latin typeface="+mj-lt"/>
                <a:ea typeface="+mj-ea"/>
                <a:cs typeface="+mj-cs"/>
              </a:rPr>
              <a:t>Python Structures</a:t>
            </a:r>
          </a:p>
        </p:txBody>
      </p:sp>
    </p:spTree>
    <p:extLst>
      <p:ext uri="{BB962C8B-B14F-4D97-AF65-F5344CB8AC3E}">
        <p14:creationId xmlns:p14="http://schemas.microsoft.com/office/powerpoint/2010/main" val="208776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3804" y="403936"/>
            <a:ext cx="16002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</a:t>
            </a:r>
            <a:r>
              <a:rPr spc="-15" dirty="0"/>
              <a:t>o</a:t>
            </a:r>
            <a:r>
              <a:rPr spc="-5" dirty="0"/>
              <a:t>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2063241"/>
            <a:ext cx="4564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30" dirty="0">
                <a:solidFill>
                  <a:srgbClr val="404040"/>
                </a:solidFill>
                <a:cs typeface="Cambria"/>
              </a:rPr>
              <a:t>For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loops </a:t>
            </a:r>
            <a:r>
              <a:rPr sz="2400" spc="-30" dirty="0">
                <a:solidFill>
                  <a:srgbClr val="404040"/>
                </a:solidFill>
                <a:cs typeface="Cambria"/>
              </a:rPr>
              <a:t>have </a:t>
            </a:r>
            <a:r>
              <a:rPr sz="2400" dirty="0">
                <a:solidFill>
                  <a:srgbClr val="404040"/>
                </a:solidFill>
                <a:cs typeface="Cambria"/>
              </a:rPr>
              <a:t>a simple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 structure</a:t>
            </a:r>
            <a:endParaRPr sz="2400" dirty="0"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4697983"/>
            <a:ext cx="67119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10" dirty="0">
                <a:solidFill>
                  <a:srgbClr val="404040"/>
                </a:solidFill>
                <a:cs typeface="Cambria"/>
              </a:rPr>
              <a:t>Here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“Python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Iterable” </a:t>
            </a:r>
            <a:r>
              <a:rPr sz="2400" dirty="0">
                <a:solidFill>
                  <a:srgbClr val="404040"/>
                </a:solidFill>
                <a:cs typeface="Cambria"/>
              </a:rPr>
              <a:t>can be a list,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tuple </a:t>
            </a:r>
            <a:r>
              <a:rPr sz="2400" dirty="0">
                <a:solidFill>
                  <a:srgbClr val="404040"/>
                </a:solidFill>
                <a:cs typeface="Cambria"/>
              </a:rPr>
              <a:t>or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dirty="0">
                <a:solidFill>
                  <a:srgbClr val="404040"/>
                </a:solidFill>
                <a:cs typeface="Cambria"/>
              </a:rPr>
              <a:t>other</a:t>
            </a:r>
            <a:endParaRPr sz="2400" dirty="0"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2400" spc="-20" dirty="0">
                <a:solidFill>
                  <a:srgbClr val="404040"/>
                </a:solidFill>
                <a:cs typeface="Cambria"/>
              </a:rPr>
              <a:t>advanced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data</a:t>
            </a:r>
            <a:r>
              <a:rPr sz="2400" spc="4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structures</a:t>
            </a:r>
            <a:endParaRPr sz="2400" dirty="0"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8800" y="2825495"/>
            <a:ext cx="3276600" cy="966290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225425" rIns="0" bIns="0" rtlCol="0">
            <a:spAutoFit/>
          </a:bodyPr>
          <a:lstStyle/>
          <a:p>
            <a:pPr marL="635" marR="231140">
              <a:lnSpc>
                <a:spcPct val="100000"/>
              </a:lnSpc>
              <a:spcBef>
                <a:spcPts val="1775"/>
              </a:spcBef>
            </a:pP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for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i in </a:t>
            </a:r>
            <a:r>
              <a:rPr sz="2400" spc="5" dirty="0">
                <a:solidFill>
                  <a:srgbClr val="333333"/>
                </a:solidFill>
                <a:latin typeface="Calibri"/>
                <a:cs typeface="Calibri"/>
              </a:rPr>
              <a:t>[Python</a:t>
            </a:r>
            <a:r>
              <a:rPr sz="2400" spc="-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Iterable]:  </a:t>
            </a:r>
            <a:r>
              <a:rPr lang="en-US" sz="2400" spc="-5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expression(i)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Box 3">
            <a:extLst>
              <a:ext uri="{FF2B5EF4-FFF2-40B4-BE49-F238E27FC236}">
                <a16:creationId xmlns:a16="http://schemas.microsoft.com/office/drawing/2014/main" id="{1F1A6152-04E2-304B-8224-3A35C7C93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850" y="2209800"/>
            <a:ext cx="2133600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Franklin Gothic Book" panose="020B0503020102020204" pitchFamily="34" charset="0"/>
                <a:cs typeface="Arial" panose="020B0604020202020204" pitchFamily="34" charset="0"/>
              </a:rPr>
              <a:t>p=min</a:t>
            </a:r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8318405E-D5C6-954C-88A8-1CF53969130E}"/>
              </a:ext>
            </a:extLst>
          </p:cNvPr>
          <p:cNvSpPr/>
          <p:nvPr/>
        </p:nvSpPr>
        <p:spPr>
          <a:xfrm>
            <a:off x="4495800" y="2819400"/>
            <a:ext cx="2209800" cy="1219200"/>
          </a:xfrm>
          <a:prstGeom prst="flowChartDecisi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Times New Roman" charset="0"/>
              <a:ea typeface="ＭＳ Ｐゴシック" charset="0"/>
              <a:cs typeface="Arial" charset="0"/>
            </a:endParaRPr>
          </a:p>
        </p:txBody>
      </p:sp>
      <p:sp>
        <p:nvSpPr>
          <p:cNvPr id="19459" name="TextBox 5">
            <a:extLst>
              <a:ext uri="{FF2B5EF4-FFF2-40B4-BE49-F238E27FC236}">
                <a16:creationId xmlns:a16="http://schemas.microsoft.com/office/drawing/2014/main" id="{A7400365-3D8E-2140-8070-C29BCAEE9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200400"/>
            <a:ext cx="14668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dirty="0">
                <a:latin typeface="Franklin Gothic Book" panose="020B0503020102020204" pitchFamily="34" charset="0"/>
                <a:cs typeface="Arial" panose="020B0604020202020204" pitchFamily="34" charset="0"/>
              </a:rPr>
              <a:t>p = max-1</a:t>
            </a:r>
          </a:p>
        </p:txBody>
      </p:sp>
      <p:sp>
        <p:nvSpPr>
          <p:cNvPr id="19460" name="TextBox 6">
            <a:extLst>
              <a:ext uri="{FF2B5EF4-FFF2-40B4-BE49-F238E27FC236}">
                <a16:creationId xmlns:a16="http://schemas.microsoft.com/office/drawing/2014/main" id="{89BB1182-17AE-C942-B7E9-3FFD68DD4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0" y="4343400"/>
            <a:ext cx="21336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000">
                <a:latin typeface="Franklin Gothic Book" panose="020B0503020102020204" pitchFamily="34" charset="0"/>
                <a:cs typeface="Arial" panose="020B0604020202020204" pitchFamily="34" charset="0"/>
              </a:rPr>
              <a:t>Do block</a:t>
            </a:r>
          </a:p>
        </p:txBody>
      </p:sp>
      <p:sp>
        <p:nvSpPr>
          <p:cNvPr id="19461" name="TextBox 7">
            <a:extLst>
              <a:ext uri="{FF2B5EF4-FFF2-40B4-BE49-F238E27FC236}">
                <a16:creationId xmlns:a16="http://schemas.microsoft.com/office/drawing/2014/main" id="{A75BA845-855C-924D-91FC-B3DF373E8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0" y="5029200"/>
            <a:ext cx="21336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000">
                <a:latin typeface="Franklin Gothic Book" panose="020B0503020102020204" pitchFamily="34" charset="0"/>
                <a:cs typeface="Arial" panose="020B0604020202020204" pitchFamily="34" charset="0"/>
              </a:rPr>
              <a:t>p = p + interval</a:t>
            </a:r>
          </a:p>
        </p:txBody>
      </p:sp>
      <p:sp>
        <p:nvSpPr>
          <p:cNvPr id="19462" name="TextBox 8">
            <a:extLst>
              <a:ext uri="{FF2B5EF4-FFF2-40B4-BE49-F238E27FC236}">
                <a16:creationId xmlns:a16="http://schemas.microsoft.com/office/drawing/2014/main" id="{FF5B3B47-7352-8B40-AA9A-2DE56797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850" y="5867400"/>
            <a:ext cx="21336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000">
                <a:latin typeface="Franklin Gothic Book" panose="020B0503020102020204" pitchFamily="34" charset="0"/>
                <a:cs typeface="Arial" panose="020B0604020202020204" pitchFamily="34" charset="0"/>
              </a:rPr>
              <a:t>Out of </a:t>
            </a:r>
            <a:r>
              <a:rPr lang="ja-JP" altLang="en-US" sz="2000">
                <a:latin typeface="Franklin Gothic Book" panose="020B0503020102020204" pitchFamily="34" charset="0"/>
                <a:cs typeface="Arial" panose="020B0604020202020204" pitchFamily="34" charset="0"/>
              </a:rPr>
              <a:t>“</a:t>
            </a:r>
            <a:r>
              <a:rPr lang="en-US" altLang="ja-JP" sz="2000">
                <a:latin typeface="Franklin Gothic Book" panose="020B0503020102020204" pitchFamily="34" charset="0"/>
                <a:cs typeface="Arial" panose="020B0604020202020204" pitchFamily="34" charset="0"/>
              </a:rPr>
              <a:t>for</a:t>
            </a:r>
            <a:r>
              <a:rPr lang="ja-JP" altLang="en-US" sz="2000">
                <a:latin typeface="Franklin Gothic Book" panose="020B0503020102020204" pitchFamily="34" charset="0"/>
                <a:cs typeface="Arial" panose="020B0604020202020204" pitchFamily="34" charset="0"/>
              </a:rPr>
              <a:t>”</a:t>
            </a:r>
            <a:endParaRPr lang="en-US" altLang="en-US" sz="2000">
              <a:latin typeface="Franklin Gothic Book" panose="020B0503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90FEB9-B34D-4D46-A285-D4AF843A7329}"/>
              </a:ext>
            </a:extLst>
          </p:cNvPr>
          <p:cNvCxnSpPr>
            <a:stCxn id="19457" idx="2"/>
          </p:cNvCxnSpPr>
          <p:nvPr/>
        </p:nvCxnSpPr>
        <p:spPr>
          <a:xfrm flipH="1">
            <a:off x="5580063" y="2671763"/>
            <a:ext cx="1587" cy="149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5D5D88-566F-7C4D-B16A-B3D46EAB4DC6}"/>
              </a:ext>
            </a:extLst>
          </p:cNvPr>
          <p:cNvCxnSpPr/>
          <p:nvPr/>
        </p:nvCxnSpPr>
        <p:spPr>
          <a:xfrm rot="5400000">
            <a:off x="5446712" y="4173538"/>
            <a:ext cx="271463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651CC0-9219-CB40-94BA-F35CF8FECD10}"/>
              </a:ext>
            </a:extLst>
          </p:cNvPr>
          <p:cNvCxnSpPr/>
          <p:nvPr/>
        </p:nvCxnSpPr>
        <p:spPr>
          <a:xfrm rot="5400000">
            <a:off x="5446712" y="4859338"/>
            <a:ext cx="271463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4646DE-DB95-514B-B31A-70661DA0F0E0}"/>
              </a:ext>
            </a:extLst>
          </p:cNvPr>
          <p:cNvCxnSpPr>
            <a:endCxn id="19462" idx="0"/>
          </p:cNvCxnSpPr>
          <p:nvPr/>
        </p:nvCxnSpPr>
        <p:spPr>
          <a:xfrm flipH="1">
            <a:off x="5581650" y="5410200"/>
            <a:ext cx="1588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D4A9C8-8946-D64F-A8F2-DBD11FF82734}"/>
              </a:ext>
            </a:extLst>
          </p:cNvPr>
          <p:cNvCxnSpPr/>
          <p:nvPr/>
        </p:nvCxnSpPr>
        <p:spPr>
          <a:xfrm flipV="1">
            <a:off x="6724650" y="3429000"/>
            <a:ext cx="609600" cy="1746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14D89A-EF3F-4049-9BA9-43A228C23ACA}"/>
              </a:ext>
            </a:extLst>
          </p:cNvPr>
          <p:cNvCxnSpPr/>
          <p:nvPr/>
        </p:nvCxnSpPr>
        <p:spPr>
          <a:xfrm rot="5400000">
            <a:off x="6305551" y="4457700"/>
            <a:ext cx="2057400" cy="317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996AC8-F1AB-0A4D-A407-4D3C0CE88882}"/>
              </a:ext>
            </a:extLst>
          </p:cNvPr>
          <p:cNvCxnSpPr/>
          <p:nvPr/>
        </p:nvCxnSpPr>
        <p:spPr>
          <a:xfrm rot="10800000">
            <a:off x="5581650" y="5486400"/>
            <a:ext cx="1752600" cy="15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A66558-631D-384B-AA51-9DCA0B6F442F}"/>
              </a:ext>
            </a:extLst>
          </p:cNvPr>
          <p:cNvCxnSpPr/>
          <p:nvPr/>
        </p:nvCxnSpPr>
        <p:spPr>
          <a:xfrm rot="10800000" flipV="1">
            <a:off x="3810000" y="5562600"/>
            <a:ext cx="1752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807764-A468-2A41-B9AF-BAEB5DBE6965}"/>
              </a:ext>
            </a:extLst>
          </p:cNvPr>
          <p:cNvCxnSpPr/>
          <p:nvPr/>
        </p:nvCxnSpPr>
        <p:spPr>
          <a:xfrm rot="5400000" flipH="1" flipV="1">
            <a:off x="2744788" y="4495800"/>
            <a:ext cx="2132012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8FAB00A-E665-CF4E-99AF-486D4778E668}"/>
              </a:ext>
            </a:extLst>
          </p:cNvPr>
          <p:cNvCxnSpPr/>
          <p:nvPr/>
        </p:nvCxnSpPr>
        <p:spPr>
          <a:xfrm>
            <a:off x="3810000" y="3429000"/>
            <a:ext cx="590550" cy="15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73" name="TextBox 19">
            <a:extLst>
              <a:ext uri="{FF2B5EF4-FFF2-40B4-BE49-F238E27FC236}">
                <a16:creationId xmlns:a16="http://schemas.microsoft.com/office/drawing/2014/main" id="{254C1A04-EBE2-DF4C-A41A-223288FE2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0850" y="3048000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cs typeface="Arial" panose="020B0604020202020204" pitchFamily="34" charset="0"/>
              </a:rPr>
              <a:t>true</a:t>
            </a:r>
          </a:p>
        </p:txBody>
      </p:sp>
      <p:sp>
        <p:nvSpPr>
          <p:cNvPr id="19474" name="TextBox 20">
            <a:extLst>
              <a:ext uri="{FF2B5EF4-FFF2-40B4-BE49-F238E27FC236}">
                <a16:creationId xmlns:a16="http://schemas.microsoft.com/office/drawing/2014/main" id="{0CEB4AAC-93D1-DA4D-9BAB-BEAF3EEA4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850" y="3962400"/>
            <a:ext cx="971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cs typeface="Arial" panose="020B0604020202020204" pitchFamily="34" charset="0"/>
              </a:rPr>
              <a:t>false</a:t>
            </a:r>
          </a:p>
        </p:txBody>
      </p:sp>
      <p:sp>
        <p:nvSpPr>
          <p:cNvPr id="19475" name="TextBox 28">
            <a:extLst>
              <a:ext uri="{FF2B5EF4-FFF2-40B4-BE49-F238E27FC236}">
                <a16:creationId xmlns:a16="http://schemas.microsoft.com/office/drawing/2014/main" id="{323D2F60-13E7-4646-B872-FBA9B57EC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752600"/>
            <a:ext cx="3886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0">
                <a:latin typeface="Franklin Gothic Book" panose="020B0503020102020204" pitchFamily="34" charset="0"/>
                <a:cs typeface="Arial" panose="020B0604020202020204" pitchFamily="34" charset="0"/>
              </a:rPr>
              <a:t>for</a:t>
            </a:r>
            <a:r>
              <a:rPr lang="en-US" altLang="en-US" sz="2000" b="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p </a:t>
            </a:r>
            <a:r>
              <a:rPr lang="en-US" altLang="en-US" sz="2000" b="0">
                <a:latin typeface="Franklin Gothic Book" panose="020B0503020102020204" pitchFamily="34" charset="0"/>
                <a:cs typeface="Arial" panose="020B0604020202020204" pitchFamily="34" charset="0"/>
              </a:rPr>
              <a:t>in range(min, max</a:t>
            </a:r>
            <a:r>
              <a:rPr lang="en-US" altLang="ko-KR" sz="2000" b="0">
                <a:latin typeface="Franklin Gothic Book" panose="020B0503020102020204" pitchFamily="34" charset="0"/>
                <a:cs typeface="Arial" panose="020B0604020202020204" pitchFamily="34" charset="0"/>
              </a:rPr>
              <a:t>,</a:t>
            </a:r>
            <a:r>
              <a:rPr lang="ko-KR" altLang="en-US" sz="2000" b="0"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0">
                <a:latin typeface="Franklin Gothic Book" panose="020B0503020102020204" pitchFamily="34" charset="0"/>
                <a:cs typeface="Arial" panose="020B0604020202020204" pitchFamily="34" charset="0"/>
              </a:rPr>
              <a:t>interval</a:t>
            </a:r>
            <a:r>
              <a:rPr lang="en-US" altLang="en-US" sz="2000" b="0">
                <a:latin typeface="Franklin Gothic Book" panose="020B0503020102020204" pitchFamily="34" charset="0"/>
                <a:cs typeface="Arial" panose="020B0604020202020204" pitchFamily="34" charset="0"/>
              </a:rPr>
              <a:t>):</a:t>
            </a:r>
          </a:p>
          <a:p>
            <a:r>
              <a:rPr lang="en-US" altLang="en-US" sz="2000" b="0">
                <a:latin typeface="Franklin Gothic Book" panose="020B0503020102020204" pitchFamily="34" charset="0"/>
                <a:cs typeface="Arial" panose="020B0604020202020204" pitchFamily="34" charset="0"/>
              </a:rPr>
              <a:t>    block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D85067-ABF1-BE41-BEF7-F9D4B64E0423}"/>
              </a:ext>
            </a:extLst>
          </p:cNvPr>
          <p:cNvCxnSpPr>
            <a:endCxn id="19457" idx="1"/>
          </p:cNvCxnSpPr>
          <p:nvPr/>
        </p:nvCxnSpPr>
        <p:spPr>
          <a:xfrm>
            <a:off x="3048000" y="2057400"/>
            <a:ext cx="1466850" cy="3825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CA9C793-F1E6-7F40-A873-E6B4397B54AF}"/>
              </a:ext>
            </a:extLst>
          </p:cNvPr>
          <p:cNvCxnSpPr/>
          <p:nvPr/>
        </p:nvCxnSpPr>
        <p:spPr>
          <a:xfrm>
            <a:off x="3733800" y="2057400"/>
            <a:ext cx="1371600" cy="12192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78" name="Rectangle 2">
            <a:extLst>
              <a:ext uri="{FF2B5EF4-FFF2-40B4-BE49-F238E27FC236}">
                <a16:creationId xmlns:a16="http://schemas.microsoft.com/office/drawing/2014/main" id="{54DF50EA-9B1D-DC40-B6A5-57B29D17F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ja-JP" altLang="en-US" sz="4400" b="0">
                <a:latin typeface="Franklin Gothic Book" panose="020B0503020102020204" pitchFamily="34" charset="0"/>
              </a:rPr>
              <a:t>“</a:t>
            </a:r>
            <a:r>
              <a:rPr lang="en-US" altLang="ja-JP" sz="4400" b="0">
                <a:latin typeface="Franklin Gothic Book" panose="020B0503020102020204" pitchFamily="34" charset="0"/>
              </a:rPr>
              <a:t>for</a:t>
            </a:r>
            <a:r>
              <a:rPr lang="ja-JP" altLang="en-US" sz="4400" b="0">
                <a:latin typeface="Franklin Gothic Book" panose="020B0503020102020204" pitchFamily="34" charset="0"/>
              </a:rPr>
              <a:t>”</a:t>
            </a:r>
            <a:r>
              <a:rPr lang="en-US" altLang="ja-JP" sz="4400" b="0">
                <a:latin typeface="Franklin Gothic Book" panose="020B0503020102020204" pitchFamily="34" charset="0"/>
              </a:rPr>
              <a:t> loop</a:t>
            </a:r>
            <a:endParaRPr lang="en-US" altLang="en-US" sz="4400" b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107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406434" y="609600"/>
            <a:ext cx="7127966" cy="803366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4400" kern="0" dirty="0">
                <a:latin typeface="+mj-lt"/>
                <a:ea typeface="+mj-ea"/>
                <a:cs typeface="+mj-cs"/>
              </a:rPr>
              <a:t>e.g. – Linear Search</a:t>
            </a:r>
            <a:endParaRPr lang="en-US" sz="40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18434" name="Rectangle 3"/>
          <p:cNvSpPr txBox="1">
            <a:spLocks noChangeArrowheads="1"/>
          </p:cNvSpPr>
          <p:nvPr/>
        </p:nvSpPr>
        <p:spPr bwMode="auto">
          <a:xfrm>
            <a:off x="609600" y="1574074"/>
            <a:ext cx="7924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>
                <a:latin typeface="Franklin Gothic Book" charset="0"/>
                <a:cs typeface="Arial" charset="0"/>
              </a:rPr>
              <a:t>n values in </a:t>
            </a:r>
            <a:r>
              <a:rPr lang="en-US" b="0" dirty="0" err="1">
                <a:latin typeface="Franklin Gothic Book" charset="0"/>
                <a:cs typeface="Arial" charset="0"/>
              </a:rPr>
              <a:t>aList</a:t>
            </a:r>
            <a:r>
              <a:rPr lang="en-US" b="0" dirty="0">
                <a:latin typeface="Franklin Gothic Book" charset="0"/>
                <a:cs typeface="Arial" charset="0"/>
              </a:rPr>
              <a:t>[0], </a:t>
            </a:r>
            <a:r>
              <a:rPr lang="en-US" b="0" dirty="0" err="1">
                <a:latin typeface="Franklin Gothic Book" charset="0"/>
                <a:cs typeface="Arial" charset="0"/>
              </a:rPr>
              <a:t>aList</a:t>
            </a:r>
            <a:r>
              <a:rPr lang="en-US" b="0" dirty="0">
                <a:latin typeface="Franklin Gothic Book" charset="0"/>
                <a:cs typeface="Arial" charset="0"/>
              </a:rPr>
              <a:t>[1], . . . </a:t>
            </a:r>
            <a:r>
              <a:rPr lang="en-US" b="0" dirty="0" err="1">
                <a:latin typeface="Franklin Gothic Book" charset="0"/>
                <a:cs typeface="Arial" charset="0"/>
              </a:rPr>
              <a:t>aList</a:t>
            </a:r>
            <a:r>
              <a:rPr lang="en-US" b="0" dirty="0">
                <a:latin typeface="Franklin Gothic Book" charset="0"/>
                <a:cs typeface="Arial" charset="0"/>
              </a:rPr>
              <a:t>[n-1]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>
                <a:latin typeface="Franklin Gothic Book" charset="0"/>
                <a:cs typeface="Arial" charset="0"/>
              </a:rPr>
              <a:t>Compare </a:t>
            </a:r>
            <a:r>
              <a:rPr lang="en-US" b="0" dirty="0" err="1">
                <a:latin typeface="Franklin Gothic Book" charset="0"/>
                <a:cs typeface="Arial" charset="0"/>
              </a:rPr>
              <a:t>aList</a:t>
            </a:r>
            <a:r>
              <a:rPr lang="en-US" b="0" dirty="0">
                <a:latin typeface="Franklin Gothic Book" charset="0"/>
                <a:cs typeface="Arial" charset="0"/>
              </a:rPr>
              <a:t>[0]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>
                <a:latin typeface="Franklin Gothic Book" charset="0"/>
                <a:cs typeface="Arial" charset="0"/>
              </a:rPr>
              <a:t>Match the key, return with index 0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>
                <a:latin typeface="Franklin Gothic Book" charset="0"/>
                <a:cs typeface="Arial" charset="0"/>
              </a:rPr>
              <a:t>else continue comparing with the rest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>
                <a:latin typeface="Franklin Gothic Book" charset="0"/>
                <a:cs typeface="Arial" charset="0"/>
              </a:rPr>
              <a:t>Key is not in the list, return -1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>
                <a:latin typeface="Franklin Gothic Book" charset="0"/>
                <a:cs typeface="Arial" charset="0"/>
              </a:rPr>
              <a:t>Exhaust the search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>
                <a:latin typeface="Franklin Gothic Book" charset="0"/>
                <a:cs typeface="Arial" charset="0"/>
              </a:rPr>
              <a:t>for k in range(0, n):</a:t>
            </a:r>
          </a:p>
          <a:p>
            <a:pPr marL="400050" lvl="1" indent="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</a:pPr>
            <a:r>
              <a:rPr lang="en-US" b="0" dirty="0">
                <a:latin typeface="Franklin Gothic Book" charset="0"/>
                <a:cs typeface="Arial" charset="0"/>
              </a:rPr>
              <a:t>         if key == </a:t>
            </a:r>
            <a:r>
              <a:rPr lang="en-US" b="0" dirty="0" err="1">
                <a:latin typeface="Franklin Gothic Book" charset="0"/>
                <a:cs typeface="Arial" charset="0"/>
              </a:rPr>
              <a:t>aList</a:t>
            </a:r>
            <a:r>
              <a:rPr lang="en-US" b="0" dirty="0">
                <a:latin typeface="Franklin Gothic Book" charset="0"/>
                <a:cs typeface="Arial" charset="0"/>
              </a:rPr>
              <a:t>[k]:</a:t>
            </a:r>
          </a:p>
          <a:p>
            <a:pPr marL="400050" lvl="1" indent="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</a:pPr>
            <a:r>
              <a:rPr lang="en-US" b="0" dirty="0">
                <a:latin typeface="Franklin Gothic Book" charset="0"/>
                <a:cs typeface="Arial" charset="0"/>
              </a:rPr>
              <a:t>	 return k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</a:pPr>
            <a:r>
              <a:rPr lang="en-US" b="0" i="1" dirty="0">
                <a:latin typeface="Franklin Gothic Book" charset="0"/>
                <a:cs typeface="Arial" charset="0"/>
              </a:rPr>
              <a:t>What if key is not in the list ?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marL="457200"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marL="800100" lvl="1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Arial"/>
              <a:buChar char="•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6693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57200" y="609600"/>
            <a:ext cx="8686800" cy="99060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4400" kern="0" dirty="0">
                <a:latin typeface="+mj-lt"/>
                <a:ea typeface="+mj-ea"/>
                <a:cs typeface="+mj-cs"/>
              </a:rPr>
              <a:t>Linear Search</a:t>
            </a:r>
            <a:endParaRPr lang="en-US" sz="40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1447800" y="1981200"/>
            <a:ext cx="4800600" cy="21236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2200" b="0" dirty="0" err="1">
                <a:latin typeface="Calibri" charset="0"/>
                <a:cs typeface="Calibri" charset="0"/>
              </a:rPr>
              <a:t>def</a:t>
            </a:r>
            <a:r>
              <a:rPr lang="ko-KR" altLang="en-US" sz="2200" b="0" dirty="0">
                <a:latin typeface="Calibri" charset="0"/>
                <a:cs typeface="Calibri" charset="0"/>
              </a:rPr>
              <a:t> </a:t>
            </a:r>
            <a:r>
              <a:rPr lang="en-US" altLang="ko-KR" sz="2200" b="0" dirty="0" err="1">
                <a:latin typeface="Calibri" charset="0"/>
                <a:cs typeface="Calibri" charset="0"/>
              </a:rPr>
              <a:t>linearSearch</a:t>
            </a:r>
            <a:r>
              <a:rPr lang="en-US" altLang="ko-KR" sz="2200" b="0" dirty="0">
                <a:latin typeface="Calibri" charset="0"/>
                <a:cs typeface="Calibri" charset="0"/>
              </a:rPr>
              <a:t>(list):</a:t>
            </a:r>
            <a:endParaRPr lang="en-US" sz="2200" b="0" dirty="0">
              <a:latin typeface="Calibri" charset="0"/>
              <a:cs typeface="Calibri" charset="0"/>
            </a:endParaRPr>
          </a:p>
          <a:p>
            <a:r>
              <a:rPr lang="en-US" sz="2200" b="0" dirty="0">
                <a:latin typeface="Calibri" charset="0"/>
                <a:cs typeface="Calibri" charset="0"/>
              </a:rPr>
              <a:t>    max = </a:t>
            </a:r>
            <a:r>
              <a:rPr lang="en-US" sz="2200" b="0" dirty="0" err="1">
                <a:latin typeface="Calibri" charset="0"/>
                <a:cs typeface="Calibri" charset="0"/>
              </a:rPr>
              <a:t>len</a:t>
            </a:r>
            <a:r>
              <a:rPr lang="en-US" sz="2200" b="0" dirty="0">
                <a:latin typeface="Calibri" charset="0"/>
                <a:cs typeface="Calibri" charset="0"/>
              </a:rPr>
              <a:t>(list)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for k in range(0,max):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    if key == list[k]: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        return k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return -1</a:t>
            </a:r>
          </a:p>
        </p:txBody>
      </p:sp>
    </p:spTree>
    <p:extLst>
      <p:ext uri="{BB962C8B-B14F-4D97-AF65-F5344CB8AC3E}">
        <p14:creationId xmlns:p14="http://schemas.microsoft.com/office/powerpoint/2010/main" val="941128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57200" y="609600"/>
            <a:ext cx="8686800" cy="99060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4400" kern="0" dirty="0">
                <a:latin typeface="+mj-lt"/>
                <a:ea typeface="+mj-ea"/>
                <a:cs typeface="+mj-cs"/>
              </a:rPr>
              <a:t>Linear Search</a:t>
            </a:r>
            <a:endParaRPr lang="en-US" sz="40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18434" name="Rectangle 3"/>
          <p:cNvSpPr txBox="1">
            <a:spLocks noChangeArrowheads="1"/>
          </p:cNvSpPr>
          <p:nvPr/>
        </p:nvSpPr>
        <p:spPr bwMode="auto">
          <a:xfrm>
            <a:off x="457200" y="1447800"/>
            <a:ext cx="44958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>
                <a:latin typeface="Franklin Gothic Book" charset="0"/>
                <a:cs typeface="Arial" charset="0"/>
              </a:rPr>
              <a:t>Code can be made more explicit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>
                <a:latin typeface="Franklin Gothic Book" charset="0"/>
                <a:cs typeface="Arial" charset="0"/>
              </a:rPr>
              <a:t>Interested in the key being found or not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>
                <a:latin typeface="Franklin Gothic Book" charset="0"/>
                <a:cs typeface="Arial" charset="0"/>
              </a:rPr>
              <a:t>Use a </a:t>
            </a:r>
            <a:r>
              <a:rPr lang="en-US" b="0" dirty="0" err="1">
                <a:latin typeface="Franklin Gothic Book" charset="0"/>
                <a:cs typeface="Arial" charset="0"/>
              </a:rPr>
              <a:t>boolean</a:t>
            </a:r>
            <a:r>
              <a:rPr lang="en-US" b="0" dirty="0">
                <a:latin typeface="Franklin Gothic Book" charset="0"/>
                <a:cs typeface="Arial" charset="0"/>
              </a:rPr>
              <a:t> variable ‘found’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marL="457200"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marL="800100" lvl="1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Arial"/>
              <a:buChar char="•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5105400" y="1600200"/>
            <a:ext cx="3733800" cy="4493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2200" b="0" dirty="0" err="1">
                <a:latin typeface="Calibri" charset="0"/>
                <a:cs typeface="Calibri" charset="0"/>
              </a:rPr>
              <a:t>def</a:t>
            </a:r>
            <a:r>
              <a:rPr lang="ko-KR" altLang="en-US" sz="2200" b="0" dirty="0">
                <a:latin typeface="Calibri" charset="0"/>
                <a:cs typeface="Calibri" charset="0"/>
              </a:rPr>
              <a:t> </a:t>
            </a:r>
            <a:r>
              <a:rPr lang="en-US" altLang="ko-KR" sz="2200" b="0" dirty="0" err="1">
                <a:latin typeface="Calibri" charset="0"/>
                <a:cs typeface="Calibri" charset="0"/>
              </a:rPr>
              <a:t>linearSearch</a:t>
            </a:r>
            <a:r>
              <a:rPr lang="en-US" altLang="ko-KR" sz="2200" b="0" dirty="0">
                <a:latin typeface="Calibri" charset="0"/>
                <a:cs typeface="Calibri" charset="0"/>
              </a:rPr>
              <a:t>(key, list):</a:t>
            </a:r>
            <a:endParaRPr lang="en-US" sz="2200" b="0" dirty="0">
              <a:latin typeface="Calibri" charset="0"/>
              <a:cs typeface="Calibri" charset="0"/>
            </a:endParaRPr>
          </a:p>
          <a:p>
            <a:r>
              <a:rPr lang="en-US" sz="2200" b="0" dirty="0">
                <a:latin typeface="Calibri" charset="0"/>
                <a:cs typeface="Calibri" charset="0"/>
              </a:rPr>
              <a:t>    max = </a:t>
            </a:r>
            <a:r>
              <a:rPr lang="en-US" sz="2200" b="0" dirty="0" err="1">
                <a:latin typeface="Calibri" charset="0"/>
                <a:cs typeface="Calibri" charset="0"/>
              </a:rPr>
              <a:t>len</a:t>
            </a:r>
            <a:r>
              <a:rPr lang="en-US" sz="2200" b="0" dirty="0">
                <a:latin typeface="Calibri" charset="0"/>
                <a:cs typeface="Calibri" charset="0"/>
              </a:rPr>
              <a:t>(list)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found = False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k = 0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while k&lt;n and not found: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    if key == list[k]: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        found = True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    else: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        k = k+1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if found: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    return k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else:</a:t>
            </a:r>
          </a:p>
          <a:p>
            <a:r>
              <a:rPr lang="en-US" sz="2200" b="0" dirty="0">
                <a:latin typeface="Calibri" charset="0"/>
                <a:cs typeface="Calibri" charset="0"/>
              </a:rPr>
              <a:t>        return -1</a:t>
            </a:r>
          </a:p>
        </p:txBody>
      </p:sp>
    </p:spTree>
    <p:extLst>
      <p:ext uri="{BB962C8B-B14F-4D97-AF65-F5344CB8AC3E}">
        <p14:creationId xmlns:p14="http://schemas.microsoft.com/office/powerpoint/2010/main" val="9932362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0613" y="403936"/>
            <a:ext cx="23799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Libraries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2063241"/>
            <a:ext cx="72701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cs typeface="Cambria"/>
              </a:rPr>
              <a:t>The first step </a:t>
            </a:r>
            <a:r>
              <a:rPr sz="2400" dirty="0">
                <a:solidFill>
                  <a:srgbClr val="404040"/>
                </a:solidFill>
                <a:cs typeface="Cambria"/>
              </a:rPr>
              <a:t>is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obviously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to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learn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to </a:t>
            </a:r>
            <a:r>
              <a:rPr sz="2400" dirty="0">
                <a:solidFill>
                  <a:srgbClr val="404040"/>
                </a:solidFill>
                <a:cs typeface="Cambria"/>
              </a:rPr>
              <a:t>import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them into  our environment.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There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are </a:t>
            </a:r>
            <a:r>
              <a:rPr sz="2400" spc="-20" dirty="0">
                <a:solidFill>
                  <a:srgbClr val="404040"/>
                </a:solidFill>
                <a:cs typeface="Cambria"/>
              </a:rPr>
              <a:t>several </a:t>
            </a:r>
            <a:r>
              <a:rPr sz="2400" spc="-35" dirty="0">
                <a:solidFill>
                  <a:srgbClr val="404040"/>
                </a:solidFill>
                <a:cs typeface="Cambria"/>
              </a:rPr>
              <a:t>ways </a:t>
            </a:r>
            <a:r>
              <a:rPr sz="2400" dirty="0">
                <a:solidFill>
                  <a:srgbClr val="404040"/>
                </a:solidFill>
                <a:cs typeface="Cambria"/>
              </a:rPr>
              <a:t>of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doing </a:t>
            </a:r>
            <a:r>
              <a:rPr sz="2400" dirty="0">
                <a:solidFill>
                  <a:srgbClr val="404040"/>
                </a:solidFill>
                <a:cs typeface="Cambria"/>
              </a:rPr>
              <a:t>so  in</a:t>
            </a:r>
            <a:r>
              <a:rPr sz="2400" spc="-2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Python:</a:t>
            </a:r>
            <a:endParaRPr sz="2400" dirty="0"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0400" y="3313176"/>
            <a:ext cx="3200400" cy="1402080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Times New Roman"/>
              <a:cs typeface="Times New Roman"/>
            </a:endParaRPr>
          </a:p>
          <a:p>
            <a:pPr marL="635">
              <a:lnSpc>
                <a:spcPct val="100000"/>
              </a:lnSpc>
            </a:pPr>
            <a:r>
              <a:rPr sz="2000" b="1" spc="-5" dirty="0">
                <a:solidFill>
                  <a:srgbClr val="333333"/>
                </a:solidFill>
                <a:latin typeface="Calibri"/>
                <a:cs typeface="Calibri"/>
              </a:rPr>
              <a:t>import </a:t>
            </a:r>
            <a:r>
              <a:rPr sz="2000" spc="-15" dirty="0">
                <a:solidFill>
                  <a:srgbClr val="333333"/>
                </a:solidFill>
                <a:latin typeface="Calibri"/>
                <a:cs typeface="Calibri"/>
              </a:rPr>
              <a:t>math </a:t>
            </a:r>
            <a:r>
              <a:rPr sz="2000" b="1" spc="-5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2000" b="1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m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635">
              <a:lnSpc>
                <a:spcPct val="100000"/>
              </a:lnSpc>
            </a:pPr>
            <a:r>
              <a:rPr sz="2000" b="1" spc="-10" dirty="0">
                <a:solidFill>
                  <a:srgbClr val="333333"/>
                </a:solidFill>
                <a:latin typeface="Calibri"/>
                <a:cs typeface="Calibri"/>
              </a:rPr>
              <a:t>from </a:t>
            </a:r>
            <a:r>
              <a:rPr sz="2000" spc="-15" dirty="0">
                <a:solidFill>
                  <a:srgbClr val="333333"/>
                </a:solidFill>
                <a:latin typeface="Calibri"/>
                <a:cs typeface="Calibri"/>
              </a:rPr>
              <a:t>math </a:t>
            </a:r>
            <a:r>
              <a:rPr sz="2000" b="1" spc="-5" dirty="0">
                <a:solidFill>
                  <a:srgbClr val="333333"/>
                </a:solidFill>
                <a:latin typeface="Calibri"/>
                <a:cs typeface="Calibri"/>
              </a:rPr>
              <a:t>import</a:t>
            </a:r>
            <a:r>
              <a:rPr sz="2000" b="1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33"/>
                </a:solidFill>
                <a:latin typeface="Calibri"/>
                <a:cs typeface="Calibri"/>
              </a:rPr>
              <a:t>*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2475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6041" y="403936"/>
            <a:ext cx="59283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Scientific Python</a:t>
            </a:r>
            <a:r>
              <a:rPr spc="-125" dirty="0"/>
              <a:t> </a:t>
            </a:r>
            <a:r>
              <a:rPr dirty="0"/>
              <a:t>Stack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295400"/>
            <a:ext cx="7620000" cy="5158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0609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7023" y="403936"/>
            <a:ext cx="39477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Some</a:t>
            </a:r>
            <a:r>
              <a:rPr spc="-40" dirty="0"/>
              <a:t> </a:t>
            </a:r>
            <a:r>
              <a:rPr spc="-10" dirty="0"/>
              <a:t>Libraries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8511" y="1567529"/>
            <a:ext cx="7686978" cy="3722942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113030" indent="-228600">
              <a:lnSpc>
                <a:spcPct val="90000"/>
              </a:lnSpc>
              <a:spcBef>
                <a:spcPts val="315"/>
              </a:spcBef>
              <a:buClr>
                <a:srgbClr val="A63112"/>
              </a:buClr>
              <a:buSzPct val="94444"/>
              <a:buFont typeface="Wingdings"/>
              <a:buChar char=""/>
              <a:tabLst>
                <a:tab pos="240665" algn="l"/>
                <a:tab pos="241300" algn="l"/>
              </a:tabLst>
            </a:pPr>
            <a:r>
              <a:rPr sz="1800" b="1" dirty="0">
                <a:solidFill>
                  <a:srgbClr val="404040"/>
                </a:solidFill>
                <a:cs typeface="Cambria"/>
              </a:rPr>
              <a:t>NumPy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stands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for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Numerical Python.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The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most powerful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feature </a:t>
            </a:r>
            <a:r>
              <a:rPr sz="1800" dirty="0">
                <a:solidFill>
                  <a:srgbClr val="404040"/>
                </a:solidFill>
                <a:cs typeface="Cambria"/>
              </a:rPr>
              <a:t>of 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NumPy </a:t>
            </a:r>
            <a:r>
              <a:rPr sz="1800" dirty="0">
                <a:solidFill>
                  <a:srgbClr val="404040"/>
                </a:solidFill>
                <a:cs typeface="Cambria"/>
              </a:rPr>
              <a:t>is n-dimensional </a:t>
            </a:r>
            <a:r>
              <a:rPr sz="1800" spc="-30" dirty="0">
                <a:solidFill>
                  <a:srgbClr val="404040"/>
                </a:solidFill>
                <a:cs typeface="Cambria"/>
              </a:rPr>
              <a:t>array.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This library also </a:t>
            </a:r>
            <a:r>
              <a:rPr sz="1800" dirty="0">
                <a:solidFill>
                  <a:srgbClr val="404040"/>
                </a:solidFill>
                <a:cs typeface="Cambria"/>
              </a:rPr>
              <a:t>contains basic linear 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algebra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functions, </a:t>
            </a:r>
            <a:r>
              <a:rPr sz="1800" spc="-15" dirty="0">
                <a:solidFill>
                  <a:srgbClr val="404040"/>
                </a:solidFill>
                <a:cs typeface="Cambria"/>
              </a:rPr>
              <a:t>Fourier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transforms, advanced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random number  capabilities </a:t>
            </a:r>
            <a:r>
              <a:rPr sz="1800" dirty="0">
                <a:solidFill>
                  <a:srgbClr val="404040"/>
                </a:solidFill>
                <a:cs typeface="Cambria"/>
              </a:rPr>
              <a:t>and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tools for integration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with other low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level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languages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like  </a:t>
            </a:r>
            <a:r>
              <a:rPr sz="1800" spc="-15" dirty="0">
                <a:solidFill>
                  <a:srgbClr val="404040"/>
                </a:solidFill>
                <a:cs typeface="Cambria"/>
              </a:rPr>
              <a:t>Fortran, </a:t>
            </a:r>
            <a:r>
              <a:rPr sz="1800" dirty="0">
                <a:solidFill>
                  <a:srgbClr val="404040"/>
                </a:solidFill>
                <a:cs typeface="Cambria"/>
              </a:rPr>
              <a:t>C and</a:t>
            </a:r>
            <a:r>
              <a:rPr sz="1800" spc="-15" dirty="0">
                <a:solidFill>
                  <a:srgbClr val="404040"/>
                </a:solidFill>
                <a:cs typeface="Cambria"/>
              </a:rPr>
              <a:t> </a:t>
            </a:r>
            <a:r>
              <a:rPr sz="1800" dirty="0">
                <a:solidFill>
                  <a:srgbClr val="404040"/>
                </a:solidFill>
                <a:cs typeface="Cambria"/>
              </a:rPr>
              <a:t>C++</a:t>
            </a:r>
            <a:endParaRPr lang="en-US" sz="1800" dirty="0">
              <a:solidFill>
                <a:srgbClr val="404040"/>
              </a:solidFill>
              <a:cs typeface="Cambria"/>
            </a:endParaRPr>
          </a:p>
          <a:p>
            <a:pPr marL="241300" marR="113030" indent="-228600">
              <a:lnSpc>
                <a:spcPct val="90000"/>
              </a:lnSpc>
              <a:spcBef>
                <a:spcPts val="315"/>
              </a:spcBef>
              <a:buClr>
                <a:srgbClr val="A63112"/>
              </a:buClr>
              <a:buSzPct val="94444"/>
              <a:buFont typeface="Wingdings"/>
              <a:buChar char=""/>
              <a:tabLst>
                <a:tab pos="240665" algn="l"/>
                <a:tab pos="241300" algn="l"/>
              </a:tabLst>
            </a:pPr>
            <a:endParaRPr sz="1800" dirty="0">
              <a:cs typeface="Cambria"/>
            </a:endParaRPr>
          </a:p>
          <a:p>
            <a:pPr marL="241300" marR="151765" indent="-228600">
              <a:lnSpc>
                <a:spcPct val="90000"/>
              </a:lnSpc>
              <a:spcBef>
                <a:spcPts val="434"/>
              </a:spcBef>
              <a:buClr>
                <a:srgbClr val="A63112"/>
              </a:buClr>
              <a:buSzPct val="94444"/>
              <a:buFont typeface="Wingdings"/>
              <a:buChar char=""/>
              <a:tabLst>
                <a:tab pos="240665" algn="l"/>
                <a:tab pos="241300" algn="l"/>
              </a:tabLst>
            </a:pPr>
            <a:r>
              <a:rPr sz="1800" b="1" dirty="0">
                <a:solidFill>
                  <a:srgbClr val="404040"/>
                </a:solidFill>
                <a:cs typeface="Cambria"/>
              </a:rPr>
              <a:t>SciPy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stands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for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Scientific Python. SciPy </a:t>
            </a:r>
            <a:r>
              <a:rPr sz="1800" dirty="0">
                <a:solidFill>
                  <a:srgbClr val="404040"/>
                </a:solidFill>
                <a:cs typeface="Cambria"/>
              </a:rPr>
              <a:t>is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built </a:t>
            </a:r>
            <a:r>
              <a:rPr sz="1800" dirty="0">
                <a:solidFill>
                  <a:srgbClr val="404040"/>
                </a:solidFill>
                <a:cs typeface="Cambria"/>
              </a:rPr>
              <a:t>on </a:t>
            </a:r>
            <a:r>
              <a:rPr sz="1800" spc="-30" dirty="0">
                <a:solidFill>
                  <a:srgbClr val="404040"/>
                </a:solidFill>
                <a:cs typeface="Cambria"/>
              </a:rPr>
              <a:t>NumPy.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It </a:t>
            </a:r>
            <a:r>
              <a:rPr sz="1800" dirty="0">
                <a:solidFill>
                  <a:srgbClr val="404040"/>
                </a:solidFill>
                <a:cs typeface="Cambria"/>
              </a:rPr>
              <a:t>is one of 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the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most useful library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for variety </a:t>
            </a:r>
            <a:r>
              <a:rPr sz="1800" dirty="0">
                <a:solidFill>
                  <a:srgbClr val="404040"/>
                </a:solidFill>
                <a:cs typeface="Cambria"/>
              </a:rPr>
              <a:t>of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high level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science </a:t>
            </a:r>
            <a:r>
              <a:rPr sz="1800" dirty="0">
                <a:solidFill>
                  <a:srgbClr val="404040"/>
                </a:solidFill>
                <a:cs typeface="Cambria"/>
              </a:rPr>
              <a:t>and engineering 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modules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like discrete </a:t>
            </a:r>
            <a:r>
              <a:rPr sz="1800" spc="-15" dirty="0">
                <a:solidFill>
                  <a:srgbClr val="404040"/>
                </a:solidFill>
                <a:cs typeface="Cambria"/>
              </a:rPr>
              <a:t>Fourier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transform, </a:t>
            </a:r>
            <a:r>
              <a:rPr sz="1800" dirty="0">
                <a:solidFill>
                  <a:srgbClr val="404040"/>
                </a:solidFill>
                <a:cs typeface="Cambria"/>
              </a:rPr>
              <a:t>Linear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Algebra, Optimization  </a:t>
            </a:r>
            <a:r>
              <a:rPr sz="1800" dirty="0">
                <a:solidFill>
                  <a:srgbClr val="404040"/>
                </a:solidFill>
                <a:cs typeface="Cambria"/>
              </a:rPr>
              <a:t>and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Sparse</a:t>
            </a:r>
            <a:r>
              <a:rPr sz="1800" spc="-45" dirty="0">
                <a:solidFill>
                  <a:srgbClr val="404040"/>
                </a:solidFill>
                <a:cs typeface="Cambria"/>
              </a:rPr>
              <a:t>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matrices.</a:t>
            </a:r>
            <a:endParaRPr lang="en-US" sz="1800" spc="-5" dirty="0">
              <a:solidFill>
                <a:srgbClr val="404040"/>
              </a:solidFill>
              <a:cs typeface="Cambria"/>
            </a:endParaRPr>
          </a:p>
          <a:p>
            <a:pPr marL="241300" marR="151765" indent="-228600">
              <a:lnSpc>
                <a:spcPct val="90000"/>
              </a:lnSpc>
              <a:spcBef>
                <a:spcPts val="434"/>
              </a:spcBef>
              <a:buClr>
                <a:srgbClr val="A63112"/>
              </a:buClr>
              <a:buSzPct val="94444"/>
              <a:buFont typeface="Wingdings"/>
              <a:buChar char=""/>
              <a:tabLst>
                <a:tab pos="240665" algn="l"/>
                <a:tab pos="241300" algn="l"/>
              </a:tabLst>
            </a:pPr>
            <a:endParaRPr sz="1800" dirty="0">
              <a:cs typeface="Cambria"/>
            </a:endParaRPr>
          </a:p>
          <a:p>
            <a:pPr marL="241300" marR="5080" indent="-228600">
              <a:lnSpc>
                <a:spcPct val="90000"/>
              </a:lnSpc>
              <a:spcBef>
                <a:spcPts val="430"/>
              </a:spcBef>
              <a:buClr>
                <a:srgbClr val="A63112"/>
              </a:buClr>
              <a:buSzPct val="94444"/>
              <a:buFont typeface="Wingdings"/>
              <a:buChar char=""/>
              <a:tabLst>
                <a:tab pos="240665" algn="l"/>
                <a:tab pos="241300" algn="l"/>
              </a:tabLst>
            </a:pPr>
            <a:r>
              <a:rPr sz="1800" b="1" spc="-5" dirty="0">
                <a:solidFill>
                  <a:srgbClr val="404040"/>
                </a:solidFill>
                <a:cs typeface="Cambria"/>
              </a:rPr>
              <a:t>Matplotlib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for plotting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vast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variety </a:t>
            </a:r>
            <a:r>
              <a:rPr sz="1800" dirty="0">
                <a:solidFill>
                  <a:srgbClr val="404040"/>
                </a:solidFill>
                <a:cs typeface="Cambria"/>
              </a:rPr>
              <a:t>of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graphs, </a:t>
            </a:r>
            <a:r>
              <a:rPr sz="1800" dirty="0">
                <a:solidFill>
                  <a:srgbClr val="404040"/>
                </a:solidFill>
                <a:cs typeface="Cambria"/>
              </a:rPr>
              <a:t>starting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from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histograms  </a:t>
            </a:r>
            <a:r>
              <a:rPr sz="1800" spc="-20" dirty="0">
                <a:solidFill>
                  <a:srgbClr val="404040"/>
                </a:solidFill>
                <a:cs typeface="Cambria"/>
              </a:rPr>
              <a:t>to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line plots </a:t>
            </a:r>
            <a:r>
              <a:rPr sz="1800" spc="-20" dirty="0">
                <a:solidFill>
                  <a:srgbClr val="404040"/>
                </a:solidFill>
                <a:cs typeface="Cambria"/>
              </a:rPr>
              <a:t>to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heat plots.. </a:t>
            </a:r>
            <a:r>
              <a:rPr sz="1800" spc="-55" dirty="0">
                <a:solidFill>
                  <a:srgbClr val="404040"/>
                </a:solidFill>
                <a:cs typeface="Cambria"/>
              </a:rPr>
              <a:t>You </a:t>
            </a:r>
            <a:r>
              <a:rPr sz="1800" dirty="0">
                <a:solidFill>
                  <a:srgbClr val="404040"/>
                </a:solidFill>
                <a:cs typeface="Cambria"/>
              </a:rPr>
              <a:t>can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use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Pylab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feature </a:t>
            </a:r>
            <a:r>
              <a:rPr sz="1800" dirty="0">
                <a:solidFill>
                  <a:srgbClr val="404040"/>
                </a:solidFill>
                <a:cs typeface="Cambria"/>
              </a:rPr>
              <a:t>in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ipython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notebook 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(ipython notebook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–pylab </a:t>
            </a:r>
            <a:r>
              <a:rPr sz="1800" dirty="0">
                <a:solidFill>
                  <a:srgbClr val="404040"/>
                </a:solidFill>
                <a:cs typeface="Cambria"/>
              </a:rPr>
              <a:t>= inline) </a:t>
            </a:r>
            <a:r>
              <a:rPr sz="1800" spc="-20" dirty="0">
                <a:solidFill>
                  <a:srgbClr val="404040"/>
                </a:solidFill>
                <a:cs typeface="Cambria"/>
              </a:rPr>
              <a:t>to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use these plotting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features </a:t>
            </a:r>
            <a:r>
              <a:rPr sz="1800" dirty="0">
                <a:solidFill>
                  <a:srgbClr val="404040"/>
                </a:solidFill>
                <a:cs typeface="Cambria"/>
              </a:rPr>
              <a:t>inline. 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If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you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ignore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the </a:t>
            </a:r>
            <a:r>
              <a:rPr sz="1800" dirty="0">
                <a:solidFill>
                  <a:srgbClr val="404040"/>
                </a:solidFill>
                <a:cs typeface="Cambria"/>
              </a:rPr>
              <a:t>inline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option, then </a:t>
            </a:r>
            <a:r>
              <a:rPr sz="1800" spc="-10" dirty="0">
                <a:solidFill>
                  <a:srgbClr val="404040"/>
                </a:solidFill>
                <a:cs typeface="Cambria"/>
              </a:rPr>
              <a:t>pylab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converts ipython environment  </a:t>
            </a:r>
            <a:r>
              <a:rPr sz="1800" spc="-20" dirty="0">
                <a:solidFill>
                  <a:srgbClr val="404040"/>
                </a:solidFill>
                <a:cs typeface="Cambria"/>
              </a:rPr>
              <a:t>to </a:t>
            </a:r>
            <a:r>
              <a:rPr sz="1800" dirty="0">
                <a:solidFill>
                  <a:srgbClr val="404040"/>
                </a:solidFill>
                <a:cs typeface="Cambria"/>
              </a:rPr>
              <a:t>an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environment, very similar </a:t>
            </a:r>
            <a:r>
              <a:rPr sz="1800" spc="-20" dirty="0">
                <a:solidFill>
                  <a:srgbClr val="404040"/>
                </a:solidFill>
                <a:cs typeface="Cambria"/>
              </a:rPr>
              <a:t>to </a:t>
            </a:r>
            <a:r>
              <a:rPr sz="1800" spc="-5" dirty="0">
                <a:solidFill>
                  <a:srgbClr val="404040"/>
                </a:solidFill>
                <a:cs typeface="Cambria"/>
              </a:rPr>
              <a:t>Matlab. </a:t>
            </a:r>
            <a:endParaRPr sz="1800" dirty="0"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32756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7023" y="403936"/>
            <a:ext cx="39477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Some</a:t>
            </a:r>
            <a:r>
              <a:rPr spc="-40" dirty="0"/>
              <a:t> </a:t>
            </a:r>
            <a:r>
              <a:rPr spc="-10" dirty="0"/>
              <a:t>Libraries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495742"/>
            <a:ext cx="7219950" cy="4452244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570"/>
              </a:spcBef>
              <a:buClr>
                <a:srgbClr val="A63112"/>
              </a:buClr>
              <a:buSzPct val="95000"/>
              <a:buFont typeface="Wingdings"/>
              <a:buChar char=""/>
              <a:tabLst>
                <a:tab pos="241300" algn="l"/>
              </a:tabLst>
            </a:pPr>
            <a:r>
              <a:rPr sz="2000" b="1" spc="-20" dirty="0">
                <a:solidFill>
                  <a:srgbClr val="404040"/>
                </a:solidFill>
                <a:cs typeface="Cambria"/>
              </a:rPr>
              <a:t>Pandas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for structured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data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operations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and manipulations. It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is  </a:t>
            </a:r>
            <a:r>
              <a:rPr sz="2000" spc="-30" dirty="0">
                <a:solidFill>
                  <a:srgbClr val="404040"/>
                </a:solidFill>
                <a:cs typeface="Cambria"/>
              </a:rPr>
              <a:t>extensively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used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for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data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munging and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preparation. Pandas </a:t>
            </a:r>
            <a:r>
              <a:rPr sz="2000" spc="-30" dirty="0">
                <a:solidFill>
                  <a:srgbClr val="404040"/>
                </a:solidFill>
                <a:cs typeface="Cambria"/>
              </a:rPr>
              <a:t>were 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added </a:t>
            </a:r>
            <a:r>
              <a:rPr sz="2000" spc="-25" dirty="0">
                <a:solidFill>
                  <a:srgbClr val="404040"/>
                </a:solidFill>
                <a:cs typeface="Cambria"/>
              </a:rPr>
              <a:t>relatively </a:t>
            </a:r>
            <a:r>
              <a:rPr sz="2000" spc="-20" dirty="0">
                <a:solidFill>
                  <a:srgbClr val="404040"/>
                </a:solidFill>
                <a:cs typeface="Cambria"/>
              </a:rPr>
              <a:t>recently to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Python and </a:t>
            </a:r>
            <a:r>
              <a:rPr sz="2000" spc="-25" dirty="0">
                <a:solidFill>
                  <a:srgbClr val="404040"/>
                </a:solidFill>
                <a:cs typeface="Cambria"/>
              </a:rPr>
              <a:t>have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been</a:t>
            </a:r>
            <a:r>
              <a:rPr sz="2000" spc="275" dirty="0">
                <a:solidFill>
                  <a:srgbClr val="404040"/>
                </a:solidFill>
                <a:cs typeface="Cambria"/>
              </a:rPr>
              <a:t>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instrumental</a:t>
            </a:r>
            <a:endParaRPr sz="2000" dirty="0">
              <a:cs typeface="Cambria"/>
            </a:endParaRPr>
          </a:p>
          <a:p>
            <a:pPr marL="241300">
              <a:lnSpc>
                <a:spcPts val="1925"/>
              </a:lnSpc>
            </a:pPr>
            <a:r>
              <a:rPr sz="2000" spc="-5" dirty="0">
                <a:solidFill>
                  <a:srgbClr val="404040"/>
                </a:solidFill>
                <a:cs typeface="Cambria"/>
              </a:rPr>
              <a:t>in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boosting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Python’s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usage in data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scientist</a:t>
            </a:r>
            <a:r>
              <a:rPr sz="2000" spc="85" dirty="0">
                <a:solidFill>
                  <a:srgbClr val="404040"/>
                </a:solidFill>
                <a:cs typeface="Cambria"/>
              </a:rPr>
              <a:t> </a:t>
            </a:r>
            <a:r>
              <a:rPr sz="2000" spc="-25" dirty="0">
                <a:solidFill>
                  <a:srgbClr val="404040"/>
                </a:solidFill>
                <a:cs typeface="Cambria"/>
              </a:rPr>
              <a:t>community.</a:t>
            </a:r>
            <a:endParaRPr lang="en-US" sz="2000" spc="-25" dirty="0">
              <a:solidFill>
                <a:srgbClr val="404040"/>
              </a:solidFill>
              <a:cs typeface="Cambria"/>
            </a:endParaRPr>
          </a:p>
          <a:p>
            <a:pPr marL="241300">
              <a:lnSpc>
                <a:spcPts val="1925"/>
              </a:lnSpc>
            </a:pPr>
            <a:endParaRPr sz="2000" dirty="0">
              <a:cs typeface="Cambria"/>
            </a:endParaRPr>
          </a:p>
          <a:p>
            <a:pPr marL="241300" marR="335280" indent="-228600">
              <a:lnSpc>
                <a:spcPct val="80100"/>
              </a:lnSpc>
              <a:spcBef>
                <a:spcPts val="480"/>
              </a:spcBef>
              <a:buClr>
                <a:srgbClr val="A63112"/>
              </a:buClr>
              <a:buSzPct val="95000"/>
              <a:buFont typeface="Wingdings"/>
              <a:buChar char=""/>
              <a:tabLst>
                <a:tab pos="241300" algn="l"/>
              </a:tabLst>
            </a:pPr>
            <a:r>
              <a:rPr sz="2000" b="1" spc="-5" dirty="0">
                <a:solidFill>
                  <a:srgbClr val="404040"/>
                </a:solidFill>
                <a:cs typeface="Cambria"/>
              </a:rPr>
              <a:t>Scikit </a:t>
            </a:r>
            <a:r>
              <a:rPr sz="2000" b="1" spc="-10" dirty="0">
                <a:solidFill>
                  <a:srgbClr val="404040"/>
                </a:solidFill>
                <a:cs typeface="Cambria"/>
              </a:rPr>
              <a:t>Learn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for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machine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learning.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Built on </a:t>
            </a:r>
            <a:r>
              <a:rPr sz="2000" spc="-35" dirty="0">
                <a:solidFill>
                  <a:srgbClr val="404040"/>
                </a:solidFill>
                <a:cs typeface="Cambria"/>
              </a:rPr>
              <a:t>NumPy,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SciPy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and  matplotlib,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this library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contains a lot of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efficient tools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for 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machine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learning and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statistical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modeling including 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classification,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regression,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clustering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and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dimensionality 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reduction.</a:t>
            </a:r>
            <a:endParaRPr lang="en-US" sz="2000" spc="-15" dirty="0">
              <a:solidFill>
                <a:srgbClr val="404040"/>
              </a:solidFill>
              <a:cs typeface="Cambria"/>
            </a:endParaRPr>
          </a:p>
          <a:p>
            <a:pPr marL="241300" marR="335280" indent="-228600">
              <a:lnSpc>
                <a:spcPct val="80100"/>
              </a:lnSpc>
              <a:spcBef>
                <a:spcPts val="480"/>
              </a:spcBef>
              <a:buClr>
                <a:srgbClr val="A63112"/>
              </a:buClr>
              <a:buSzPct val="95000"/>
              <a:buFont typeface="Wingdings"/>
              <a:buChar char=""/>
              <a:tabLst>
                <a:tab pos="241300" algn="l"/>
              </a:tabLst>
            </a:pPr>
            <a:endParaRPr sz="2000" dirty="0">
              <a:cs typeface="Cambria"/>
            </a:endParaRPr>
          </a:p>
          <a:p>
            <a:pPr marL="241300" marR="92075" indent="-228600">
              <a:lnSpc>
                <a:spcPct val="80000"/>
              </a:lnSpc>
              <a:spcBef>
                <a:spcPts val="480"/>
              </a:spcBef>
              <a:buClr>
                <a:srgbClr val="A63112"/>
              </a:buClr>
              <a:buSzPct val="95000"/>
              <a:buFont typeface="Wingdings"/>
              <a:buChar char=""/>
              <a:tabLst>
                <a:tab pos="241300" algn="l"/>
              </a:tabLst>
            </a:pPr>
            <a:r>
              <a:rPr sz="2000" b="1" spc="-10" dirty="0">
                <a:solidFill>
                  <a:srgbClr val="404040"/>
                </a:solidFill>
                <a:cs typeface="Cambria"/>
              </a:rPr>
              <a:t>Statsmodels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for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statistical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modeling. Statsmodels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is a Python  module that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allows users </a:t>
            </a:r>
            <a:r>
              <a:rPr sz="2000" spc="-20" dirty="0">
                <a:solidFill>
                  <a:srgbClr val="404040"/>
                </a:solidFill>
                <a:cs typeface="Cambria"/>
              </a:rPr>
              <a:t>to explore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data,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estimate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statistical 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models, and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perform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statistical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tests.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An </a:t>
            </a:r>
            <a:r>
              <a:rPr sz="2000" spc="-25" dirty="0">
                <a:solidFill>
                  <a:srgbClr val="404040"/>
                </a:solidFill>
                <a:cs typeface="Cambria"/>
              </a:rPr>
              <a:t>extensive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list of 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descriptive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statistics, statistical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tests,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plotting functions, and  result statistics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are available for </a:t>
            </a:r>
            <a:r>
              <a:rPr sz="2000" spc="-20" dirty="0">
                <a:solidFill>
                  <a:srgbClr val="404040"/>
                </a:solidFill>
                <a:cs typeface="Cambria"/>
              </a:rPr>
              <a:t>different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types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of data and each  </a:t>
            </a:r>
            <a:r>
              <a:rPr sz="2000" spc="-30" dirty="0">
                <a:solidFill>
                  <a:srgbClr val="404040"/>
                </a:solidFill>
                <a:cs typeface="Cambria"/>
              </a:rPr>
              <a:t>estimator.</a:t>
            </a:r>
            <a:endParaRPr sz="2000" dirty="0"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9345434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7023" y="403936"/>
            <a:ext cx="39477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Some</a:t>
            </a:r>
            <a:r>
              <a:rPr spc="-40" dirty="0"/>
              <a:t> </a:t>
            </a:r>
            <a:r>
              <a:rPr spc="-10" dirty="0"/>
              <a:t>Libraries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676400"/>
            <a:ext cx="7235825" cy="386651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570"/>
              </a:spcBef>
              <a:buClr>
                <a:srgbClr val="A63112"/>
              </a:buClr>
              <a:buSzPct val="95000"/>
              <a:buFont typeface="Wingdings"/>
              <a:buChar char=""/>
              <a:tabLst>
                <a:tab pos="241300" algn="l"/>
              </a:tabLst>
            </a:pPr>
            <a:r>
              <a:rPr sz="2000" b="1" spc="-10" dirty="0">
                <a:solidFill>
                  <a:srgbClr val="404040"/>
                </a:solidFill>
                <a:cs typeface="Cambria"/>
              </a:rPr>
              <a:t>Seaborn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for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statistical data visualization.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Seaborn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is a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library for 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making </a:t>
            </a:r>
            <a:r>
              <a:rPr sz="2000" spc="-20" dirty="0">
                <a:solidFill>
                  <a:srgbClr val="404040"/>
                </a:solidFill>
                <a:cs typeface="Cambria"/>
              </a:rPr>
              <a:t>attractive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and </a:t>
            </a:r>
            <a:r>
              <a:rPr sz="2000" spc="-20" dirty="0">
                <a:solidFill>
                  <a:srgbClr val="404040"/>
                </a:solidFill>
                <a:cs typeface="Cambria"/>
              </a:rPr>
              <a:t>informative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statistical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graphics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in Python.  It is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based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on matplotlib.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Seaborn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aims </a:t>
            </a:r>
            <a:r>
              <a:rPr sz="2000" spc="-20" dirty="0">
                <a:solidFill>
                  <a:srgbClr val="404040"/>
                </a:solidFill>
                <a:cs typeface="Cambria"/>
              </a:rPr>
              <a:t>to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make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visualization a 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central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part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of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exploring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and understanding</a:t>
            </a:r>
            <a:r>
              <a:rPr sz="2000" spc="125" dirty="0">
                <a:solidFill>
                  <a:srgbClr val="404040"/>
                </a:solidFill>
                <a:cs typeface="Cambria"/>
              </a:rPr>
              <a:t>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data.</a:t>
            </a:r>
            <a:endParaRPr sz="2000" dirty="0">
              <a:cs typeface="Cambria"/>
            </a:endParaRPr>
          </a:p>
          <a:p>
            <a:pPr marL="241300" marR="101600" indent="-228600">
              <a:lnSpc>
                <a:spcPct val="80100"/>
              </a:lnSpc>
              <a:spcBef>
                <a:spcPts val="480"/>
              </a:spcBef>
              <a:buClr>
                <a:srgbClr val="A63112"/>
              </a:buClr>
              <a:buSzPct val="95000"/>
              <a:buFont typeface="Wingdings"/>
              <a:buChar char=""/>
              <a:tabLst>
                <a:tab pos="241300" algn="l"/>
              </a:tabLst>
            </a:pPr>
            <a:r>
              <a:rPr sz="2000" b="1" spc="-15" dirty="0">
                <a:solidFill>
                  <a:srgbClr val="404040"/>
                </a:solidFill>
                <a:cs typeface="Cambria"/>
              </a:rPr>
              <a:t>Bokeh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for creating </a:t>
            </a:r>
            <a:r>
              <a:rPr sz="2000" spc="-25" dirty="0">
                <a:solidFill>
                  <a:srgbClr val="404040"/>
                </a:solidFill>
                <a:cs typeface="Cambria"/>
              </a:rPr>
              <a:t>interactive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plots,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dashboards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and data 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applications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on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modern web-browsers.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It </a:t>
            </a:r>
            <a:r>
              <a:rPr sz="2000" spc="-20" dirty="0">
                <a:solidFill>
                  <a:srgbClr val="404040"/>
                </a:solidFill>
                <a:cs typeface="Cambria"/>
              </a:rPr>
              <a:t>empowers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the user </a:t>
            </a:r>
            <a:r>
              <a:rPr sz="2000" spc="-20" dirty="0">
                <a:solidFill>
                  <a:srgbClr val="404040"/>
                </a:solidFill>
                <a:cs typeface="Cambria"/>
              </a:rPr>
              <a:t>to  generate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elegant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and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concise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graphics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in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the style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of D3.js.  </a:t>
            </a:r>
            <a:r>
              <a:rPr sz="2000" spc="-45" dirty="0">
                <a:solidFill>
                  <a:srgbClr val="404040"/>
                </a:solidFill>
                <a:cs typeface="Cambria"/>
              </a:rPr>
              <a:t>Moreover,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it </a:t>
            </a:r>
            <a:r>
              <a:rPr sz="2000" dirty="0">
                <a:solidFill>
                  <a:srgbClr val="404040"/>
                </a:solidFill>
                <a:cs typeface="Cambria"/>
              </a:rPr>
              <a:t>has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the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capability of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high-performance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interactivity  </a:t>
            </a:r>
            <a:r>
              <a:rPr sz="2000" spc="-30" dirty="0">
                <a:solidFill>
                  <a:srgbClr val="404040"/>
                </a:solidFill>
                <a:cs typeface="Cambria"/>
              </a:rPr>
              <a:t>over </a:t>
            </a:r>
            <a:r>
              <a:rPr sz="2000" spc="-25" dirty="0">
                <a:solidFill>
                  <a:srgbClr val="404040"/>
                </a:solidFill>
                <a:cs typeface="Cambria"/>
              </a:rPr>
              <a:t>very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large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or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streaming</a:t>
            </a:r>
            <a:r>
              <a:rPr sz="2000" spc="145" dirty="0">
                <a:solidFill>
                  <a:srgbClr val="404040"/>
                </a:solidFill>
                <a:cs typeface="Cambria"/>
              </a:rPr>
              <a:t>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datasets.</a:t>
            </a:r>
            <a:endParaRPr sz="2000" dirty="0">
              <a:cs typeface="Cambria"/>
            </a:endParaRPr>
          </a:p>
          <a:p>
            <a:pPr marL="241300" marR="61594" indent="-228600">
              <a:lnSpc>
                <a:spcPct val="80000"/>
              </a:lnSpc>
              <a:spcBef>
                <a:spcPts val="480"/>
              </a:spcBef>
              <a:buClr>
                <a:srgbClr val="A63112"/>
              </a:buClr>
              <a:buSzPct val="95000"/>
              <a:buFont typeface="Wingdings"/>
              <a:buChar char=""/>
              <a:tabLst>
                <a:tab pos="241300" algn="l"/>
              </a:tabLst>
            </a:pPr>
            <a:r>
              <a:rPr sz="2000" b="1" spc="-10" dirty="0">
                <a:solidFill>
                  <a:srgbClr val="404040"/>
                </a:solidFill>
                <a:cs typeface="Cambria"/>
              </a:rPr>
              <a:t>Blaze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for </a:t>
            </a:r>
            <a:r>
              <a:rPr sz="2000" spc="-20" dirty="0">
                <a:solidFill>
                  <a:srgbClr val="404040"/>
                </a:solidFill>
                <a:cs typeface="Cambria"/>
              </a:rPr>
              <a:t>extending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the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capability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of Numpy and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Pandas </a:t>
            </a:r>
            <a:r>
              <a:rPr sz="2000" spc="-20" dirty="0">
                <a:solidFill>
                  <a:srgbClr val="404040"/>
                </a:solidFill>
                <a:cs typeface="Cambria"/>
              </a:rPr>
              <a:t>to 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distributed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and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streaming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datasets. It </a:t>
            </a:r>
            <a:r>
              <a:rPr sz="2000" dirty="0">
                <a:solidFill>
                  <a:srgbClr val="404040"/>
                </a:solidFill>
                <a:cs typeface="Cambria"/>
              </a:rPr>
              <a:t>can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be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used </a:t>
            </a:r>
            <a:r>
              <a:rPr sz="2000" spc="-20" dirty="0">
                <a:solidFill>
                  <a:srgbClr val="404040"/>
                </a:solidFill>
                <a:cs typeface="Cambria"/>
              </a:rPr>
              <a:t>to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access data 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from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a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multitude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of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sources including </a:t>
            </a:r>
            <a:r>
              <a:rPr sz="2000" dirty="0">
                <a:solidFill>
                  <a:srgbClr val="404040"/>
                </a:solidFill>
                <a:cs typeface="Cambria"/>
              </a:rPr>
              <a:t>Bcolz,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MongoDB,  </a:t>
            </a:r>
            <a:r>
              <a:rPr sz="2000" spc="-25" dirty="0">
                <a:solidFill>
                  <a:srgbClr val="404040"/>
                </a:solidFill>
                <a:cs typeface="Cambria"/>
              </a:rPr>
              <a:t>SQLAlchemy,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Apache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Spark, </a:t>
            </a:r>
            <a:r>
              <a:rPr sz="2000" spc="-25" dirty="0">
                <a:solidFill>
                  <a:srgbClr val="404040"/>
                </a:solidFill>
                <a:cs typeface="Cambria"/>
              </a:rPr>
              <a:t>PyTables,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etc. </a:t>
            </a:r>
            <a:r>
              <a:rPr sz="2000" spc="-30" dirty="0">
                <a:solidFill>
                  <a:srgbClr val="404040"/>
                </a:solidFill>
                <a:cs typeface="Cambria"/>
              </a:rPr>
              <a:t>Together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with Bokeh, 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Blaze </a:t>
            </a:r>
            <a:r>
              <a:rPr sz="2000" dirty="0">
                <a:solidFill>
                  <a:srgbClr val="404040"/>
                </a:solidFill>
                <a:cs typeface="Cambria"/>
              </a:rPr>
              <a:t>can act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as a </a:t>
            </a:r>
            <a:r>
              <a:rPr sz="2000" spc="-25" dirty="0">
                <a:solidFill>
                  <a:srgbClr val="404040"/>
                </a:solidFill>
                <a:cs typeface="Cambria"/>
              </a:rPr>
              <a:t>very </a:t>
            </a:r>
            <a:r>
              <a:rPr sz="2000" spc="-15" dirty="0">
                <a:solidFill>
                  <a:srgbClr val="404040"/>
                </a:solidFill>
                <a:cs typeface="Cambria"/>
              </a:rPr>
              <a:t>powerful tool for creating </a:t>
            </a:r>
            <a:r>
              <a:rPr sz="2000" spc="-25" dirty="0">
                <a:solidFill>
                  <a:srgbClr val="404040"/>
                </a:solidFill>
                <a:cs typeface="Cambria"/>
              </a:rPr>
              <a:t>effective 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visualizations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and dashboards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on huge </a:t>
            </a:r>
            <a:r>
              <a:rPr sz="2000" spc="-10" dirty="0">
                <a:solidFill>
                  <a:srgbClr val="404040"/>
                </a:solidFill>
                <a:cs typeface="Cambria"/>
              </a:rPr>
              <a:t>chunks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of</a:t>
            </a:r>
            <a:r>
              <a:rPr sz="2000" spc="25" dirty="0">
                <a:solidFill>
                  <a:srgbClr val="404040"/>
                </a:solidFill>
                <a:cs typeface="Cambria"/>
              </a:rPr>
              <a:t> </a:t>
            </a:r>
            <a:r>
              <a:rPr sz="2000" spc="-5" dirty="0">
                <a:solidFill>
                  <a:srgbClr val="404040"/>
                </a:solidFill>
                <a:cs typeface="Cambria"/>
              </a:rPr>
              <a:t>data.</a:t>
            </a:r>
            <a:endParaRPr sz="2000" dirty="0"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31117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7023" y="403936"/>
            <a:ext cx="39477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Some</a:t>
            </a:r>
            <a:r>
              <a:rPr spc="-40" dirty="0"/>
              <a:t> </a:t>
            </a:r>
            <a:r>
              <a:rPr spc="-10" dirty="0"/>
              <a:t>Libraries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989708"/>
            <a:ext cx="7164070" cy="28803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b="1" dirty="0">
                <a:solidFill>
                  <a:srgbClr val="404040"/>
                </a:solidFill>
                <a:cs typeface="Cambria"/>
              </a:rPr>
              <a:t>os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for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Operating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system </a:t>
            </a:r>
            <a:r>
              <a:rPr sz="2400" dirty="0">
                <a:solidFill>
                  <a:srgbClr val="404040"/>
                </a:solidFill>
                <a:cs typeface="Cambria"/>
              </a:rPr>
              <a:t>and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file</a:t>
            </a:r>
            <a:r>
              <a:rPr sz="2400" spc="1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operations</a:t>
            </a:r>
            <a:endParaRPr sz="2400" dirty="0">
              <a:cs typeface="Cambria"/>
            </a:endParaRPr>
          </a:p>
          <a:p>
            <a:pPr marL="241300" marR="1289685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b="1" spc="-10" dirty="0">
                <a:solidFill>
                  <a:srgbClr val="404040"/>
                </a:solidFill>
                <a:cs typeface="Cambria"/>
              </a:rPr>
              <a:t>networkx </a:t>
            </a:r>
            <a:r>
              <a:rPr sz="2400" dirty="0">
                <a:solidFill>
                  <a:srgbClr val="404040"/>
                </a:solidFill>
                <a:cs typeface="Cambria"/>
              </a:rPr>
              <a:t>and </a:t>
            </a:r>
            <a:r>
              <a:rPr sz="2400" b="1" spc="-15" dirty="0">
                <a:solidFill>
                  <a:srgbClr val="404040"/>
                </a:solidFill>
                <a:cs typeface="Cambria"/>
              </a:rPr>
              <a:t>igraph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for graph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based data  manipulations</a:t>
            </a:r>
            <a:endParaRPr sz="2400" dirty="0"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b="1" spc="-5" dirty="0">
                <a:solidFill>
                  <a:srgbClr val="404040"/>
                </a:solidFill>
                <a:cs typeface="Cambria"/>
              </a:rPr>
              <a:t>regular </a:t>
            </a:r>
            <a:r>
              <a:rPr sz="2400" b="1" spc="-10" dirty="0">
                <a:solidFill>
                  <a:srgbClr val="404040"/>
                </a:solidFill>
                <a:cs typeface="Cambria"/>
              </a:rPr>
              <a:t>expressions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for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finding patterns </a:t>
            </a:r>
            <a:r>
              <a:rPr sz="2400" dirty="0">
                <a:solidFill>
                  <a:srgbClr val="404040"/>
                </a:solidFill>
                <a:cs typeface="Cambria"/>
              </a:rPr>
              <a:t>in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text</a:t>
            </a:r>
            <a:r>
              <a:rPr sz="2400" spc="-55" dirty="0">
                <a:solidFill>
                  <a:srgbClr val="404040"/>
                </a:solidFill>
                <a:cs typeface="Cambria"/>
              </a:rPr>
              <a:t> </a:t>
            </a:r>
            <a:r>
              <a:rPr sz="2400" dirty="0">
                <a:solidFill>
                  <a:srgbClr val="404040"/>
                </a:solidFill>
                <a:cs typeface="Cambria"/>
              </a:rPr>
              <a:t>data</a:t>
            </a:r>
            <a:endParaRPr sz="2400" dirty="0"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5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b="1" dirty="0">
                <a:solidFill>
                  <a:srgbClr val="404040"/>
                </a:solidFill>
                <a:cs typeface="Cambria"/>
              </a:rPr>
              <a:t>BeautifulSoup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for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scrapping web.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It </a:t>
            </a:r>
            <a:r>
              <a:rPr sz="2400" dirty="0">
                <a:solidFill>
                  <a:srgbClr val="404040"/>
                </a:solidFill>
                <a:cs typeface="Cambria"/>
              </a:rPr>
              <a:t>is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inferior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to  Scrapy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as </a:t>
            </a:r>
            <a:r>
              <a:rPr sz="2400" dirty="0">
                <a:solidFill>
                  <a:srgbClr val="404040"/>
                </a:solidFill>
                <a:cs typeface="Cambria"/>
              </a:rPr>
              <a:t>it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will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extract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information </a:t>
            </a:r>
            <a:r>
              <a:rPr sz="2400" spc="-15" dirty="0">
                <a:solidFill>
                  <a:srgbClr val="404040"/>
                </a:solidFill>
                <a:cs typeface="Cambria"/>
              </a:rPr>
              <a:t>from </a:t>
            </a:r>
            <a:r>
              <a:rPr sz="2400" spc="-5" dirty="0">
                <a:solidFill>
                  <a:srgbClr val="404040"/>
                </a:solidFill>
                <a:cs typeface="Cambria"/>
              </a:rPr>
              <a:t>just </a:t>
            </a:r>
            <a:r>
              <a:rPr sz="2400" dirty="0">
                <a:solidFill>
                  <a:srgbClr val="404040"/>
                </a:solidFill>
                <a:cs typeface="Cambria"/>
              </a:rPr>
              <a:t>a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single  webpage </a:t>
            </a:r>
            <a:r>
              <a:rPr sz="2400" dirty="0">
                <a:solidFill>
                  <a:srgbClr val="404040"/>
                </a:solidFill>
                <a:cs typeface="Cambria"/>
              </a:rPr>
              <a:t>in a</a:t>
            </a:r>
            <a:r>
              <a:rPr sz="2400" spc="-30" dirty="0">
                <a:solidFill>
                  <a:srgbClr val="404040"/>
                </a:solidFill>
                <a:cs typeface="Cambria"/>
              </a:rPr>
              <a:t> </a:t>
            </a:r>
            <a:r>
              <a:rPr sz="2400" spc="-10" dirty="0">
                <a:solidFill>
                  <a:srgbClr val="404040"/>
                </a:solidFill>
                <a:cs typeface="Cambria"/>
              </a:rPr>
              <a:t>run.</a:t>
            </a:r>
            <a:endParaRPr sz="2400" dirty="0"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614191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81200" y="495300"/>
            <a:ext cx="5638800" cy="83820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4400" kern="0" dirty="0" err="1">
                <a:latin typeface="+mj-lt"/>
                <a:ea typeface="+mj-ea"/>
                <a:cs typeface="+mj-cs"/>
              </a:rPr>
              <a:t>Numpy</a:t>
            </a:r>
            <a:r>
              <a:rPr lang="en-US" sz="4400" kern="0" dirty="0">
                <a:latin typeface="+mj-lt"/>
                <a:ea typeface="+mj-ea"/>
                <a:cs typeface="+mj-cs"/>
              </a:rPr>
              <a:t>	</a:t>
            </a:r>
            <a:endParaRPr lang="en-US" sz="40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18434" name="Rectangle 3"/>
          <p:cNvSpPr txBox="1">
            <a:spLocks noChangeArrowheads="1"/>
          </p:cNvSpPr>
          <p:nvPr/>
        </p:nvSpPr>
        <p:spPr bwMode="auto">
          <a:xfrm>
            <a:off x="838200" y="1447800"/>
            <a:ext cx="79248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 err="1">
                <a:latin typeface="Franklin Gothic Book" charset="0"/>
                <a:cs typeface="Arial" charset="0"/>
              </a:rPr>
              <a:t>ndarray</a:t>
            </a:r>
            <a:r>
              <a:rPr lang="en-US" b="0" dirty="0">
                <a:latin typeface="Franklin Gothic Book" charset="0"/>
                <a:cs typeface="Arial" charset="0"/>
              </a:rPr>
              <a:t> (n-dimensional array)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i="1" dirty="0" err="1">
                <a:latin typeface="Franklin Gothic Book" charset="0"/>
                <a:cs typeface="Arial" charset="0"/>
              </a:rPr>
              <a:t>ndarray</a:t>
            </a:r>
            <a:r>
              <a:rPr lang="en-US" b="0" dirty="0">
                <a:latin typeface="Franklin Gothic Book" charset="0"/>
                <a:cs typeface="Arial" charset="0"/>
              </a:rPr>
              <a:t> - Multidimensional container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i="1" dirty="0">
                <a:latin typeface="Franklin Gothic Book" charset="0"/>
                <a:cs typeface="Arial" charset="0"/>
              </a:rPr>
              <a:t>shape</a:t>
            </a:r>
            <a:r>
              <a:rPr lang="en-US" b="0" dirty="0">
                <a:latin typeface="Franklin Gothic Book" charset="0"/>
                <a:cs typeface="Arial" charset="0"/>
              </a:rPr>
              <a:t> – defines # of dimensions and sizes in each dimension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i="1" dirty="0" err="1">
                <a:latin typeface="Franklin Gothic Book" charset="0"/>
                <a:cs typeface="Arial" charset="0"/>
              </a:rPr>
              <a:t>dtype</a:t>
            </a:r>
            <a:r>
              <a:rPr lang="en-US" b="0" dirty="0">
                <a:latin typeface="Franklin Gothic Book" charset="0"/>
                <a:cs typeface="Arial" charset="0"/>
              </a:rPr>
              <a:t> - data type</a:t>
            </a:r>
          </a:p>
          <a:p>
            <a:pPr marL="457200"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marL="457200"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marL="800100" lvl="1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Arial"/>
              <a:buChar char="•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CE1580-3FB1-D54C-BF50-37525A9C2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150" y="1828800"/>
            <a:ext cx="5727700" cy="2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047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57400" y="551906"/>
            <a:ext cx="5029200" cy="78486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4400" kern="0" dirty="0" err="1">
                <a:latin typeface="+mj-lt"/>
                <a:ea typeface="+mj-ea"/>
                <a:cs typeface="+mj-cs"/>
              </a:rPr>
              <a:t>Numpy</a:t>
            </a:r>
            <a:r>
              <a:rPr lang="en-US" sz="4400" kern="0" dirty="0">
                <a:latin typeface="+mj-lt"/>
                <a:ea typeface="+mj-ea"/>
                <a:cs typeface="+mj-cs"/>
              </a:rPr>
              <a:t>	</a:t>
            </a:r>
            <a:endParaRPr lang="en-US" sz="40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18434" name="Rectangle 3"/>
          <p:cNvSpPr txBox="1">
            <a:spLocks noChangeArrowheads="1"/>
          </p:cNvSpPr>
          <p:nvPr/>
        </p:nvSpPr>
        <p:spPr bwMode="auto">
          <a:xfrm>
            <a:off x="838200" y="1447800"/>
            <a:ext cx="769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 err="1">
                <a:latin typeface="Franklin Gothic Book" charset="0"/>
                <a:cs typeface="Arial" charset="0"/>
              </a:rPr>
              <a:t>ndarray</a:t>
            </a:r>
            <a:r>
              <a:rPr lang="en-US" b="0" dirty="0">
                <a:latin typeface="Franklin Gothic Book" charset="0"/>
                <a:cs typeface="Arial" charset="0"/>
              </a:rPr>
              <a:t> (n-dimensional array)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marL="457200"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marL="457200"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marL="800100" lvl="1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Arial"/>
              <a:buChar char="•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99B97B-B246-D849-BBCE-65DD480E4CFB}"/>
              </a:ext>
            </a:extLst>
          </p:cNvPr>
          <p:cNvSpPr txBox="1"/>
          <p:nvPr/>
        </p:nvSpPr>
        <p:spPr>
          <a:xfrm>
            <a:off x="1295400" y="2116183"/>
            <a:ext cx="3609704" cy="44012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import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np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x =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([[1,2,3],[4,5,6]])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type(x)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&lt;class '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numpy.ndarray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'&gt;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x.shape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(2, 3)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x.dtype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dtype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('int64')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x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array([[1, 2, 3],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     [4, 5, 6]])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8FBF51-27F1-3E4B-B5E6-436EE347C40F}"/>
              </a:ext>
            </a:extLst>
          </p:cNvPr>
          <p:cNvSpPr/>
          <p:nvPr/>
        </p:nvSpPr>
        <p:spPr>
          <a:xfrm>
            <a:off x="5257800" y="2133600"/>
            <a:ext cx="3609704" cy="43704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sz="2000" dirty="0" err="1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x.T</a:t>
            </a:r>
            <a:endParaRPr lang="en-US" sz="2000" dirty="0">
              <a:solidFill>
                <a:srgbClr val="000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array([[1, 4],</a:t>
            </a: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     [2, 5],</a:t>
            </a: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     [3, 6]])</a:t>
            </a: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sz="2000" dirty="0" err="1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x.flat</a:t>
            </a:r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</a:t>
            </a: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x.shape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=(3,2)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x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array([[1, 2],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     [3, 4],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     [5, 6]])</a:t>
            </a: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224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57200" y="609600"/>
            <a:ext cx="8686800" cy="99060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4400" kern="0" dirty="0" err="1">
                <a:latin typeface="+mj-lt"/>
                <a:ea typeface="+mj-ea"/>
                <a:cs typeface="+mj-cs"/>
              </a:rPr>
              <a:t>Numpy</a:t>
            </a:r>
            <a:r>
              <a:rPr lang="en-US" sz="4400" kern="0" dirty="0">
                <a:latin typeface="+mj-lt"/>
                <a:ea typeface="+mj-ea"/>
                <a:cs typeface="+mj-cs"/>
              </a:rPr>
              <a:t>	</a:t>
            </a:r>
            <a:endParaRPr lang="en-US" sz="40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18434" name="Rectangle 3"/>
          <p:cNvSpPr txBox="1">
            <a:spLocks noChangeArrowheads="1"/>
          </p:cNvSpPr>
          <p:nvPr/>
        </p:nvSpPr>
        <p:spPr bwMode="auto">
          <a:xfrm>
            <a:off x="838200" y="1447800"/>
            <a:ext cx="79248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2"/>
              </a:rPr>
              <a:t>https://docs.scipy.org/doc/numpy/reference/generated/numpy.linalg.eig.html</a:t>
            </a:r>
            <a:endParaRPr lang="en-US" b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r>
              <a:rPr lang="en-US" b="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Linear algebra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marL="457200"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marL="457200"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marL="800100" lvl="1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Arial"/>
              <a:buChar char="•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charset="0"/>
              <a:buChar char="n"/>
            </a:pPr>
            <a:endParaRPr lang="en-US" b="0" dirty="0">
              <a:latin typeface="Franklin Gothic Book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0585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670" y="403936"/>
            <a:ext cx="34867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Why</a:t>
            </a:r>
            <a:r>
              <a:rPr spc="-35" dirty="0"/>
              <a:t> </a:t>
            </a:r>
            <a:r>
              <a:rPr spc="-15" dirty="0"/>
              <a:t>Pandas?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989708"/>
            <a:ext cx="7129780" cy="29533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NumPy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low-level</a:t>
            </a:r>
            <a:r>
              <a:rPr sz="2400" spc="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library</a:t>
            </a:r>
            <a:endParaRPr sz="240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It allows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us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to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deal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with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data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in a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user-friendly;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using  labelled columns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indexes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It allows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us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to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easily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import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data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from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files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such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endParaRPr sz="24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.csv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files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It allows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us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to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perform complex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functions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on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data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….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09800" y="5029200"/>
            <a:ext cx="5715000" cy="1191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71079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9841" y="403936"/>
            <a:ext cx="60845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Pandas </a:t>
            </a:r>
            <a:r>
              <a:rPr dirty="0"/>
              <a:t>Data</a:t>
            </a:r>
            <a:r>
              <a:rPr spc="-40" dirty="0"/>
              <a:t> </a:t>
            </a:r>
            <a:r>
              <a:rPr spc="-15" dirty="0"/>
              <a:t>Structures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989708"/>
            <a:ext cx="1686560" cy="9042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Series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DataFrame</a:t>
            </a:r>
            <a:endParaRPr sz="24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031803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580" y="403936"/>
            <a:ext cx="28936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</a:t>
            </a:r>
            <a:r>
              <a:rPr spc="10" dirty="0"/>
              <a:t>a</a:t>
            </a:r>
            <a:r>
              <a:rPr spc="-105" dirty="0"/>
              <a:t>F</a:t>
            </a:r>
            <a:r>
              <a:rPr spc="-70" dirty="0"/>
              <a:t>r</a:t>
            </a:r>
            <a:r>
              <a:rPr spc="-5" dirty="0"/>
              <a:t>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524000"/>
            <a:ext cx="7070090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The pandas </a:t>
            </a:r>
            <a:r>
              <a:rPr sz="2400" spc="-15" dirty="0">
                <a:solidFill>
                  <a:srgbClr val="C00000"/>
                </a:solidFill>
                <a:latin typeface="Cambria"/>
                <a:cs typeface="Cambria"/>
              </a:rPr>
              <a:t>DataFrame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is a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two-dimensional table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of 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data with column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row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indices.</a:t>
            </a:r>
            <a:endParaRPr sz="24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The columns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are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made up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pandas </a:t>
            </a:r>
            <a:r>
              <a:rPr sz="2400" dirty="0">
                <a:solidFill>
                  <a:srgbClr val="C00000"/>
                </a:solidFill>
                <a:latin typeface="Cambria"/>
                <a:cs typeface="Cambria"/>
              </a:rPr>
              <a:t>Series</a:t>
            </a:r>
            <a:r>
              <a:rPr sz="2400" spc="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objects.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09800" y="3581400"/>
            <a:ext cx="5105400" cy="2755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3271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5621" y="403936"/>
            <a:ext cx="14916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</a:t>
            </a:r>
            <a:r>
              <a:rPr spc="10" dirty="0"/>
              <a:t>n</a:t>
            </a:r>
            <a:r>
              <a:rPr dirty="0"/>
              <a:t>d</a:t>
            </a:r>
            <a:r>
              <a:rPr spc="-40" dirty="0"/>
              <a:t>e</a:t>
            </a:r>
            <a:r>
              <a:rPr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733232"/>
            <a:ext cx="7041515" cy="156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461009" indent="-228600">
              <a:lnSpc>
                <a:spcPct val="100000"/>
              </a:lnSpc>
              <a:spcBef>
                <a:spcPts val="10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The pandas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Index provides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the axis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labels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for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the 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Series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DataFrame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objects.</a:t>
            </a:r>
            <a:endParaRPr sz="2400" dirty="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58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A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pandas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Series has one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Index;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and a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DataFrame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has 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two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 Indices.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2600" y="4343400"/>
            <a:ext cx="5489448" cy="114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26311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580" y="403936"/>
            <a:ext cx="28936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</a:t>
            </a:r>
            <a:r>
              <a:rPr spc="10" dirty="0"/>
              <a:t>a</a:t>
            </a:r>
            <a:r>
              <a:rPr spc="-105" dirty="0"/>
              <a:t>F</a:t>
            </a:r>
            <a:r>
              <a:rPr spc="-70" dirty="0"/>
              <a:t>r</a:t>
            </a:r>
            <a:r>
              <a:rPr spc="-5" dirty="0"/>
              <a:t>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2063241"/>
            <a:ext cx="6071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A63112"/>
              </a:buClr>
              <a:buSzPct val="93750"/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Axis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0 and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axis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1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are </a:t>
            </a:r>
            <a:r>
              <a:rPr sz="2400" spc="-5" dirty="0">
                <a:solidFill>
                  <a:srgbClr val="404040"/>
                </a:solidFill>
                <a:latin typeface="Cambria"/>
                <a:cs typeface="Cambria"/>
              </a:rPr>
              <a:t>similar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to 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NumPy’s </a:t>
            </a:r>
            <a:r>
              <a:rPr sz="2400" spc="-15" dirty="0">
                <a:solidFill>
                  <a:srgbClr val="404040"/>
                </a:solidFill>
                <a:latin typeface="Cambria"/>
                <a:cs typeface="Cambria"/>
              </a:rPr>
              <a:t>axes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6400" y="2895600"/>
            <a:ext cx="5724144" cy="2980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77968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5948" y="403936"/>
            <a:ext cx="67119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Reading </a:t>
            </a:r>
            <a:r>
              <a:rPr dirty="0"/>
              <a:t>and </a:t>
            </a:r>
            <a:r>
              <a:rPr spc="-15" dirty="0"/>
              <a:t>Writing</a:t>
            </a:r>
            <a:r>
              <a:rPr spc="-80" dirty="0"/>
              <a:t> </a:t>
            </a:r>
            <a:r>
              <a:rPr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1676400" y="2551176"/>
            <a:ext cx="6129528" cy="1450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6400" y="4724400"/>
            <a:ext cx="6306311" cy="76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62214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2391" y="403936"/>
            <a:ext cx="49149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Working </a:t>
            </a:r>
            <a:r>
              <a:rPr spc="-5" dirty="0"/>
              <a:t>with</a:t>
            </a:r>
            <a:r>
              <a:rPr spc="-35" dirty="0"/>
              <a:t> </a:t>
            </a:r>
            <a:r>
              <a:rPr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1545336" y="2667000"/>
            <a:ext cx="6239256" cy="205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39609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2391" y="403936"/>
            <a:ext cx="49149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Working </a:t>
            </a:r>
            <a:r>
              <a:rPr spc="-5" dirty="0"/>
              <a:t>with</a:t>
            </a:r>
            <a:r>
              <a:rPr spc="-35" dirty="0"/>
              <a:t> </a:t>
            </a:r>
            <a:r>
              <a:rPr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1676400" y="1527047"/>
            <a:ext cx="6147815" cy="4486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42801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9447" y="403936"/>
            <a:ext cx="47853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Selecting</a:t>
            </a:r>
            <a:r>
              <a:rPr spc="-50" dirty="0"/>
              <a:t> </a:t>
            </a:r>
            <a:r>
              <a:rPr spc="-10" dirty="0"/>
              <a:t>Columns</a:t>
            </a:r>
          </a:p>
        </p:txBody>
      </p:sp>
      <p:sp>
        <p:nvSpPr>
          <p:cNvPr id="3" name="object 3"/>
          <p:cNvSpPr/>
          <p:nvPr/>
        </p:nvSpPr>
        <p:spPr>
          <a:xfrm>
            <a:off x="1066800" y="2743200"/>
            <a:ext cx="6641592" cy="2374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32318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5310" y="403936"/>
            <a:ext cx="39154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Selecting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Cell</a:t>
            </a:r>
          </a:p>
        </p:txBody>
      </p:sp>
      <p:sp>
        <p:nvSpPr>
          <p:cNvPr id="3" name="object 3"/>
          <p:cNvSpPr/>
          <p:nvPr/>
        </p:nvSpPr>
        <p:spPr>
          <a:xfrm>
            <a:off x="1133855" y="4191000"/>
            <a:ext cx="6723888" cy="1246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41044" y="1704213"/>
            <a:ext cx="7315834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"/>
                <a:cs typeface="Cambria"/>
              </a:rPr>
              <a:t>We </a:t>
            </a:r>
            <a:r>
              <a:rPr sz="1800" dirty="0">
                <a:latin typeface="Cambria"/>
                <a:cs typeface="Cambria"/>
              </a:rPr>
              <a:t>can </a:t>
            </a:r>
            <a:r>
              <a:rPr sz="1800" spc="-5" dirty="0">
                <a:latin typeface="Cambria"/>
                <a:cs typeface="Cambria"/>
              </a:rPr>
              <a:t>select </a:t>
            </a:r>
            <a:r>
              <a:rPr sz="1800" dirty="0">
                <a:latin typeface="Cambria"/>
                <a:cs typeface="Cambria"/>
              </a:rPr>
              <a:t>specific </a:t>
            </a:r>
            <a:r>
              <a:rPr sz="1800" spc="-5" dirty="0">
                <a:latin typeface="Cambria"/>
                <a:cs typeface="Cambria"/>
              </a:rPr>
              <a:t>ranges </a:t>
            </a:r>
            <a:r>
              <a:rPr sz="1800" dirty="0">
                <a:latin typeface="Cambria"/>
                <a:cs typeface="Cambria"/>
              </a:rPr>
              <a:t>of data in </a:t>
            </a:r>
            <a:r>
              <a:rPr sz="1800" spc="-5" dirty="0">
                <a:latin typeface="Cambria"/>
                <a:cs typeface="Cambria"/>
              </a:rPr>
              <a:t>both </a:t>
            </a:r>
            <a:r>
              <a:rPr sz="1800" spc="-10" dirty="0">
                <a:latin typeface="Cambria"/>
                <a:cs typeface="Cambria"/>
              </a:rPr>
              <a:t>the row </a:t>
            </a:r>
            <a:r>
              <a:rPr sz="1800" dirty="0">
                <a:latin typeface="Cambria"/>
                <a:cs typeface="Cambria"/>
              </a:rPr>
              <a:t>and </a:t>
            </a:r>
            <a:r>
              <a:rPr sz="1800" spc="-5" dirty="0">
                <a:latin typeface="Cambria"/>
                <a:cs typeface="Cambria"/>
              </a:rPr>
              <a:t>column directions  using either label </a:t>
            </a:r>
            <a:r>
              <a:rPr sz="1800" dirty="0">
                <a:latin typeface="Cambria"/>
                <a:cs typeface="Cambria"/>
              </a:rPr>
              <a:t>or </a:t>
            </a:r>
            <a:r>
              <a:rPr sz="1800" spc="-5" dirty="0">
                <a:latin typeface="Cambria"/>
                <a:cs typeface="Cambria"/>
              </a:rPr>
              <a:t>integer-based indexing. </a:t>
            </a:r>
            <a:r>
              <a:rPr sz="1800" spc="-50" dirty="0">
                <a:latin typeface="Cambria"/>
                <a:cs typeface="Cambria"/>
              </a:rPr>
              <a:t>We </a:t>
            </a:r>
            <a:r>
              <a:rPr sz="1800" dirty="0">
                <a:latin typeface="Cambria"/>
                <a:cs typeface="Cambria"/>
              </a:rPr>
              <a:t>can </a:t>
            </a:r>
            <a:r>
              <a:rPr sz="1800" spc="-5" dirty="0">
                <a:latin typeface="Cambria"/>
                <a:cs typeface="Cambria"/>
              </a:rPr>
              <a:t>use </a:t>
            </a:r>
            <a:r>
              <a:rPr sz="1800" dirty="0">
                <a:latin typeface="Cambria"/>
                <a:cs typeface="Cambria"/>
              </a:rPr>
              <a:t>one of </a:t>
            </a:r>
            <a:r>
              <a:rPr sz="1800" spc="-5" dirty="0">
                <a:latin typeface="Cambria"/>
                <a:cs typeface="Cambria"/>
              </a:rPr>
              <a:t>these  methods: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loc: indexing </a:t>
            </a:r>
            <a:r>
              <a:rPr sz="1800" dirty="0">
                <a:latin typeface="Cambria"/>
                <a:cs typeface="Cambria"/>
              </a:rPr>
              <a:t>via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labels</a:t>
            </a:r>
            <a:endParaRPr sz="18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iloc: indexing </a:t>
            </a:r>
            <a:r>
              <a:rPr sz="1800" dirty="0">
                <a:latin typeface="Cambria"/>
                <a:cs typeface="Cambria"/>
              </a:rPr>
              <a:t>via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integers</a:t>
            </a:r>
            <a:endParaRPr sz="1800">
              <a:latin typeface="Cambria"/>
              <a:cs typeface="Cambria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mbria"/>
                <a:cs typeface="Cambria"/>
              </a:rPr>
              <a:t>at: </a:t>
            </a:r>
            <a:r>
              <a:rPr sz="1800" spc="-10" dirty="0">
                <a:latin typeface="Cambria"/>
                <a:cs typeface="Cambria"/>
              </a:rPr>
              <a:t>returns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scalar</a:t>
            </a:r>
            <a:endParaRPr sz="1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40492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Words>2419</Words>
  <Application>Microsoft Macintosh PowerPoint</Application>
  <PresentationFormat>On-screen Show (4:3)</PresentationFormat>
  <Paragraphs>439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4" baseType="lpstr">
      <vt:lpstr>Arial</vt:lpstr>
      <vt:lpstr>Calibri</vt:lpstr>
      <vt:lpstr>Calibri Light</vt:lpstr>
      <vt:lpstr>Cambria</vt:lpstr>
      <vt:lpstr>Franklin Gothic Book</vt:lpstr>
      <vt:lpstr>Helvetica Neue</vt:lpstr>
      <vt:lpstr>Menlo</vt:lpstr>
      <vt:lpstr>News Gothic MT</vt:lpstr>
      <vt:lpstr>Times</vt:lpstr>
      <vt:lpstr>Times New Roman</vt:lpstr>
      <vt:lpstr>Wingdings</vt:lpstr>
      <vt:lpstr>Office Theme</vt:lpstr>
      <vt:lpstr>Why Python?</vt:lpstr>
      <vt:lpstr>Object Oriented</vt:lpstr>
      <vt:lpstr>Installation, environment, etc.</vt:lpstr>
      <vt:lpstr>Python 2.7, 3.5, 3.6, 3.7</vt:lpstr>
      <vt:lpstr>Python 2 vs. 3</vt:lpstr>
      <vt:lpstr>Your Computer: Installing  Anaconda</vt:lpstr>
      <vt:lpstr>Execution -- Python Shell</vt:lpstr>
      <vt:lpstr>Jupyter Notebook</vt:lpstr>
      <vt:lpstr>Some Notes on Notebook</vt:lpstr>
      <vt:lpstr>Jupyter Lab</vt:lpstr>
      <vt:lpstr>Using Python</vt:lpstr>
      <vt:lpstr>Python Scripts</vt:lpstr>
      <vt:lpstr>Data Structures</vt:lpstr>
      <vt:lpstr>Data Structures</vt:lpstr>
      <vt:lpstr>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Strings</vt:lpstr>
      <vt:lpstr>PowerPoint Presentation</vt:lpstr>
      <vt:lpstr>PowerPoint Presentation</vt:lpstr>
      <vt:lpstr>Tuples</vt:lpstr>
      <vt:lpstr>Dictionary</vt:lpstr>
      <vt:lpstr>Prog. Control</vt:lpstr>
      <vt:lpstr>Conditional Statement</vt:lpstr>
      <vt:lpstr>PowerPoint Presentation</vt:lpstr>
      <vt:lpstr>Loops</vt:lpstr>
      <vt:lpstr>PowerPoint Presentation</vt:lpstr>
      <vt:lpstr>PowerPoint Presentation</vt:lpstr>
      <vt:lpstr>PowerPoint Presentation</vt:lpstr>
      <vt:lpstr>PowerPoint Presentation</vt:lpstr>
      <vt:lpstr>Libraries</vt:lpstr>
      <vt:lpstr>Scientific Python Stack</vt:lpstr>
      <vt:lpstr>Some Libraries</vt:lpstr>
      <vt:lpstr>Some Libraries</vt:lpstr>
      <vt:lpstr>Some Libraries</vt:lpstr>
      <vt:lpstr>Some Libraries</vt:lpstr>
      <vt:lpstr>PowerPoint Presentation</vt:lpstr>
      <vt:lpstr>PowerPoint Presentation</vt:lpstr>
      <vt:lpstr>PowerPoint Presentation</vt:lpstr>
      <vt:lpstr>Why Pandas?</vt:lpstr>
      <vt:lpstr>Pandas Data Structures</vt:lpstr>
      <vt:lpstr>DataFrame</vt:lpstr>
      <vt:lpstr>Index</vt:lpstr>
      <vt:lpstr>DataFrame</vt:lpstr>
      <vt:lpstr>Reading and Writing Data</vt:lpstr>
      <vt:lpstr>Working with Data</vt:lpstr>
      <vt:lpstr>Working with Data</vt:lpstr>
      <vt:lpstr>Selecting Columns</vt:lpstr>
      <vt:lpstr>Selecting a Cell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By: Parisa Rashidi</dc:title>
  <dc:creator>Parisa</dc:creator>
  <cp:lastModifiedBy>Ryan Balachandran</cp:lastModifiedBy>
  <cp:revision>35</cp:revision>
  <dcterms:created xsi:type="dcterms:W3CDTF">2019-09-01T06:45:17Z</dcterms:created>
  <dcterms:modified xsi:type="dcterms:W3CDTF">2021-02-22T22:01:12Z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2018-08-29T00:00:00Z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2019-09-01T00:00:00Z</vt:filetime>
  </property>
</Properties>
</file>