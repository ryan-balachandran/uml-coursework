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85" r:id="rId2"/>
    <p:sldId id="277" r:id="rId3"/>
    <p:sldId id="377" r:id="rId4"/>
    <p:sldId id="483" r:id="rId5"/>
    <p:sldId id="396" r:id="rId6"/>
    <p:sldId id="420" r:id="rId7"/>
    <p:sldId id="484" r:id="rId8"/>
    <p:sldId id="415" r:id="rId9"/>
    <p:sldId id="417" r:id="rId10"/>
    <p:sldId id="425" r:id="rId11"/>
    <p:sldId id="488" r:id="rId12"/>
    <p:sldId id="421" r:id="rId13"/>
    <p:sldId id="428" r:id="rId14"/>
    <p:sldId id="489" r:id="rId15"/>
    <p:sldId id="426" r:id="rId16"/>
    <p:sldId id="490" r:id="rId17"/>
    <p:sldId id="335" r:id="rId18"/>
    <p:sldId id="491" r:id="rId19"/>
    <p:sldId id="422" r:id="rId20"/>
    <p:sldId id="416" r:id="rId21"/>
    <p:sldId id="429" r:id="rId22"/>
    <p:sldId id="476" r:id="rId23"/>
    <p:sldId id="379" r:id="rId24"/>
    <p:sldId id="380" r:id="rId25"/>
    <p:sldId id="459" r:id="rId26"/>
    <p:sldId id="460" r:id="rId27"/>
    <p:sldId id="461" r:id="rId28"/>
    <p:sldId id="462" r:id="rId29"/>
    <p:sldId id="463" r:id="rId30"/>
    <p:sldId id="487" r:id="rId31"/>
    <p:sldId id="464" r:id="rId32"/>
    <p:sldId id="486" r:id="rId33"/>
    <p:sldId id="452" r:id="rId34"/>
    <p:sldId id="453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9"/>
    <p:restoredTop sz="94728"/>
  </p:normalViewPr>
  <p:slideViewPr>
    <p:cSldViewPr snapToGrid="0" snapToObjects="1">
      <p:cViewPr varScale="1">
        <p:scale>
          <a:sx n="143" d="100"/>
          <a:sy n="143" d="100"/>
        </p:scale>
        <p:origin x="199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5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67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3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6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5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6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53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43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27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24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83BF4-3B5B-474A-8B26-5EC9FE5F09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5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CEB90-A68A-B249-B0D8-0E0EFCCB74F7}" type="datetimeFigureOut">
              <a:rPr lang="en-US" smtClean="0"/>
              <a:t>3/1/21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5ACFC-9432-EC44-8071-385493EC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8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reference/generated/numpy.ndarray.flatten.html#numpy.ndarray.flatten" TargetMode="External"/><Relationship Id="rId2" Type="http://schemas.openxmlformats.org/officeDocument/2006/relationships/hyperlink" Target="https://numpy.org/doc/stable/reference/generated/numpy.ndarray.flat.html#numpy.ndarray.flat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umpy.org/doc/stable/reference/generated/numpy.ndarray.reshape.html#numpy.ndarray.reshape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>
          <a:xfrm>
            <a:off x="1304931" y="1244600"/>
            <a:ext cx="7239979" cy="40767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3600" b="1" dirty="0">
                <a:latin typeface="Franklin Gothic Book" panose="020B0503020102020204" pitchFamily="34" charset="0"/>
              </a:rPr>
              <a:t>Joel Grus</a:t>
            </a:r>
            <a:br>
              <a:rPr lang="en-US" sz="3200" dirty="0">
                <a:latin typeface="Arial Black" charset="0"/>
              </a:rPr>
            </a:br>
            <a:br>
              <a:rPr lang="en-US" sz="3200" dirty="0">
                <a:latin typeface="+mn-lt"/>
              </a:rPr>
            </a:b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	Chap. 2 Crash Course in Python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	Chap. 3 Visualizing Data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	Chap. 4 Linear Algebra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	Chap. 10 PCA</a:t>
            </a:r>
          </a:p>
        </p:txBody>
      </p:sp>
    </p:spTree>
    <p:extLst>
      <p:ext uri="{BB962C8B-B14F-4D97-AF65-F5344CB8AC3E}">
        <p14:creationId xmlns:p14="http://schemas.microsoft.com/office/powerpoint/2010/main" val="3550761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>
          <a:xfrm>
            <a:off x="1304931" y="2104696"/>
            <a:ext cx="7239979" cy="245153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800" b="1" dirty="0">
                <a:latin typeface="Franklin Gothic Book" panose="020B0503020102020204" pitchFamily="34" charset="0"/>
              </a:rPr>
              <a:t>Joel Grus</a:t>
            </a:r>
            <a:br>
              <a:rPr lang="en-US" sz="3200" b="1" dirty="0">
                <a:latin typeface="Franklin Gothic Book" panose="020B0503020102020204" pitchFamily="34" charset="0"/>
              </a:rPr>
            </a:br>
            <a:br>
              <a:rPr lang="en-US" sz="3200" b="1" dirty="0">
                <a:latin typeface="Franklin Gothic Book" panose="020B0503020102020204" pitchFamily="34" charset="0"/>
              </a:rPr>
            </a:br>
            <a:r>
              <a:rPr lang="en-US" sz="3200" b="1" dirty="0">
                <a:latin typeface="Franklin Gothic Book" panose="020B0503020102020204" pitchFamily="34" charset="0"/>
              </a:rPr>
              <a:t>Chaps. 14-16 Linear Classifier</a:t>
            </a:r>
          </a:p>
        </p:txBody>
      </p:sp>
    </p:spTree>
    <p:extLst>
      <p:ext uri="{BB962C8B-B14F-4D97-AF65-F5344CB8AC3E}">
        <p14:creationId xmlns:p14="http://schemas.microsoft.com/office/powerpoint/2010/main" val="397932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analysis objectives</a:t>
            </a:r>
          </a:p>
        </p:txBody>
      </p:sp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774" y="1683658"/>
            <a:ext cx="8298283" cy="4397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615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C49D97-E64B-714D-8A36-FDFD7165A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385" y="1949449"/>
            <a:ext cx="3531418" cy="28838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623356-7D07-9445-80EF-827062DC3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397" y="1524001"/>
            <a:ext cx="3060699" cy="349794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4E5D3BB-4959-254F-96DB-4001F42C8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89075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 txBox="1">
            <a:spLocks noChangeArrowheads="1"/>
          </p:cNvSpPr>
          <p:nvPr/>
        </p:nvSpPr>
        <p:spPr bwMode="auto">
          <a:xfrm>
            <a:off x="838200" y="1295400"/>
            <a:ext cx="7696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Connection from input to a neuron has positive/negative weight </a:t>
            </a:r>
            <a:r>
              <a:rPr lang="en-US" sz="2000" b="0" i="1" dirty="0" err="1">
                <a:latin typeface="Franklin Gothic Book" charset="0"/>
                <a:cs typeface="Times New Roman" charset="0"/>
              </a:rPr>
              <a:t>w</a:t>
            </a:r>
            <a:r>
              <a:rPr lang="en-US" sz="2000" b="0" i="1" baseline="-25000" dirty="0" err="1">
                <a:latin typeface="Franklin Gothic Book" charset="0"/>
                <a:cs typeface="Times New Roman" charset="0"/>
              </a:rPr>
              <a:t>ij</a:t>
            </a:r>
            <a:endParaRPr lang="en-US" sz="2000" b="0" i="1" baseline="-2500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Franklin Gothic Book" charset="0"/>
                <a:cs typeface="Times New Roman" charset="0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Input 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 = (x</a:t>
            </a:r>
            <a:r>
              <a:rPr lang="en-US" sz="2000" b="0" baseline="-25000" dirty="0">
                <a:latin typeface="Times New Roman"/>
                <a:cs typeface="Times New Roman"/>
              </a:rPr>
              <a:t>1</a:t>
            </a:r>
            <a:r>
              <a:rPr lang="en-US" sz="2000" b="0" dirty="0">
                <a:latin typeface="Times New Roman"/>
                <a:cs typeface="Times New Roman"/>
              </a:rPr>
              <a:t>, x</a:t>
            </a:r>
            <a:r>
              <a:rPr lang="en-US" sz="2000" b="0" baseline="-25000" dirty="0">
                <a:latin typeface="Times New Roman"/>
                <a:cs typeface="Times New Roman"/>
              </a:rPr>
              <a:t>2</a:t>
            </a:r>
            <a:r>
              <a:rPr lang="en-US" sz="2000" b="0" dirty="0">
                <a:latin typeface="Times New Roman"/>
                <a:cs typeface="Times New Roman"/>
              </a:rPr>
              <a:t>, </a:t>
            </a:r>
            <a:r>
              <a:rPr lang="is-IS" sz="2000" b="0" dirty="0">
                <a:latin typeface="Times New Roman"/>
                <a:cs typeface="Times New Roman"/>
              </a:rPr>
              <a:t>…, x</a:t>
            </a:r>
            <a:r>
              <a:rPr lang="is-IS" sz="2000" b="0" baseline="-25000" dirty="0">
                <a:latin typeface="Times New Roman"/>
                <a:cs typeface="Times New Roman"/>
              </a:rPr>
              <a:t>d</a:t>
            </a:r>
            <a:r>
              <a:rPr lang="is-IS" sz="2000" b="0" dirty="0">
                <a:latin typeface="Times New Roman"/>
                <a:cs typeface="Times New Roman"/>
              </a:rPr>
              <a:t>)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e.g. c</a:t>
            </a:r>
            <a:r>
              <a:rPr lang="is-IS" sz="2000" b="0" dirty="0">
                <a:latin typeface="Times New Roman"/>
                <a:cs typeface="Times New Roman"/>
              </a:rPr>
              <a:t>ustomer profile info (income, debt, employment years,...)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is-IS" sz="2000" b="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O</a:t>
            </a:r>
            <a:r>
              <a:rPr lang="is-IS" sz="2000" b="0" dirty="0">
                <a:latin typeface="Times New Roman"/>
                <a:cs typeface="Times New Roman"/>
              </a:rPr>
              <a:t>utput = 1 	if (</a:t>
            </a:r>
            <a:r>
              <a:rPr lang="en-US" sz="2000" b="0" dirty="0">
                <a:latin typeface="Times New Roman"/>
                <a:cs typeface="Times New Roman"/>
              </a:rPr>
              <a:t>∑</a:t>
            </a:r>
            <a:r>
              <a:rPr lang="en-US" sz="2000" b="0" baseline="-25000" dirty="0">
                <a:latin typeface="Times New Roman"/>
                <a:cs typeface="Times New Roman"/>
              </a:rPr>
              <a:t>d </a:t>
            </a:r>
            <a:r>
              <a:rPr lang="en-US" sz="2000" b="0" dirty="0">
                <a:latin typeface="Times New Roman"/>
                <a:cs typeface="Times New Roman"/>
              </a:rPr>
              <a:t>x</a:t>
            </a:r>
            <a:r>
              <a:rPr lang="en-US" sz="2000" b="0" baseline="-25000" dirty="0">
                <a:latin typeface="Times New Roman"/>
                <a:cs typeface="Times New Roman"/>
              </a:rPr>
              <a:t>i * </a:t>
            </a:r>
            <a:r>
              <a:rPr lang="en-US" sz="2000" b="0" dirty="0" err="1">
                <a:latin typeface="Times New Roman"/>
                <a:cs typeface="Times New Roman"/>
              </a:rPr>
              <a:t>w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 – threshold) &gt; 0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    = -1 	otherwise</a:t>
            </a:r>
          </a:p>
          <a:p>
            <a:pPr lvl="1" eaLnBrk="1" hangingPunct="1">
              <a:spcBef>
                <a:spcPct val="20000"/>
              </a:spcBef>
              <a:buFontTx/>
              <a:buChar char="•"/>
            </a:pP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5842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Single Neuron (Perceptron)</a:t>
            </a:r>
            <a:endParaRPr lang="en-US" sz="2800" i="1" dirty="0">
              <a:latin typeface="Franklin Gothic Book" charset="0"/>
            </a:endParaRPr>
          </a:p>
        </p:txBody>
      </p:sp>
      <p:pic>
        <p:nvPicPr>
          <p:cNvPr id="35843" name="Picture 4" descr="model_000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1714500"/>
            <a:ext cx="5232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001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 txBox="1">
            <a:spLocks noChangeArrowheads="1"/>
          </p:cNvSpPr>
          <p:nvPr/>
        </p:nvSpPr>
        <p:spPr bwMode="auto">
          <a:xfrm>
            <a:off x="838200" y="1295400"/>
            <a:ext cx="7473287" cy="60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Digit Detector</a:t>
            </a:r>
            <a:endParaRPr lang="en-US" sz="2000" b="0" i="1" baseline="-2500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Franklin Gothic Book" charset="0"/>
                <a:cs typeface="Times New Roman" charset="0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lvl="1" eaLnBrk="1" hangingPunct="1">
              <a:spcBef>
                <a:spcPct val="20000"/>
              </a:spcBef>
              <a:buFontTx/>
              <a:buChar char="•"/>
            </a:pP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5842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Perceptron 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5CA094-CEAD-C04E-88C1-BA3D40527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" y="1699427"/>
            <a:ext cx="6307909" cy="45489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D9B7FE-568D-7E45-BBDC-A49E66941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923" y="2301066"/>
            <a:ext cx="2065564" cy="191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92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3"/>
          <p:cNvSpPr txBox="1">
            <a:spLocks noChangeArrowheads="1"/>
          </p:cNvSpPr>
          <p:nvPr/>
        </p:nvSpPr>
        <p:spPr bwMode="auto">
          <a:xfrm>
            <a:off x="838199" y="1073067"/>
            <a:ext cx="7086601" cy="5487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Two inputs, one output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Trained by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lvl="1"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Total input  </a:t>
            </a:r>
            <a:r>
              <a:rPr lang="en-US" sz="1800" b="0" i="1" dirty="0" err="1">
                <a:latin typeface="Franklin Gothic Book" charset="0"/>
              </a:rPr>
              <a:t>x</a:t>
            </a:r>
            <a:r>
              <a:rPr lang="en-US" sz="1800" b="0" i="1" baseline="-25000" dirty="0" err="1">
                <a:latin typeface="Franklin Gothic Book" charset="0"/>
              </a:rPr>
              <a:t>j</a:t>
            </a:r>
            <a:r>
              <a:rPr lang="en-US" sz="1800" b="0" dirty="0">
                <a:latin typeface="Franklin Gothic Book" charset="0"/>
              </a:rPr>
              <a:t> = </a:t>
            </a:r>
            <a:r>
              <a:rPr lang="en-US" sz="1800" b="0" i="1" dirty="0">
                <a:latin typeface="Franklin Gothic Book" charset="0"/>
                <a:cs typeface="Times New Roman" charset="0"/>
              </a:rPr>
              <a:t>w</a:t>
            </a:r>
            <a:r>
              <a:rPr lang="en-US" sz="1800" b="0" i="1" baseline="-25000" dirty="0">
                <a:latin typeface="Franklin Gothic Book" charset="0"/>
                <a:cs typeface="Times New Roman" charset="0"/>
              </a:rPr>
              <a:t>1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</a:t>
            </a:r>
            <a:r>
              <a:rPr lang="en-US" sz="1800" b="0" i="1" dirty="0">
                <a:latin typeface="Franklin Gothic Book" charset="0"/>
                <a:cs typeface="Times New Roman" charset="0"/>
              </a:rPr>
              <a:t>x</a:t>
            </a:r>
            <a:r>
              <a:rPr lang="en-US" sz="1800" b="0" i="1" baseline="-25000" dirty="0">
                <a:latin typeface="Franklin Gothic Book" charset="0"/>
                <a:cs typeface="Times New Roman" charset="0"/>
              </a:rPr>
              <a:t>1</a:t>
            </a:r>
            <a:r>
              <a:rPr lang="en-US" sz="1800" b="0" i="1" dirty="0">
                <a:latin typeface="Franklin Gothic Book" charset="0"/>
                <a:cs typeface="Times New Roman" charset="0"/>
              </a:rPr>
              <a:t> + w</a:t>
            </a:r>
            <a:r>
              <a:rPr lang="en-US" sz="1800" b="0" i="1" baseline="-25000" dirty="0">
                <a:latin typeface="Franklin Gothic Book" charset="0"/>
                <a:cs typeface="Times New Roman" charset="0"/>
              </a:rPr>
              <a:t>2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</a:t>
            </a:r>
            <a:r>
              <a:rPr lang="en-US" sz="1800" b="0" i="1" dirty="0">
                <a:latin typeface="Franklin Gothic Book" charset="0"/>
                <a:cs typeface="Times New Roman" charset="0"/>
              </a:rPr>
              <a:t>x</a:t>
            </a:r>
            <a:r>
              <a:rPr lang="en-US" sz="1800" b="0" i="1" baseline="-25000" dirty="0">
                <a:latin typeface="Franklin Gothic Book" charset="0"/>
                <a:cs typeface="Times New Roman" charset="0"/>
              </a:rPr>
              <a:t>2</a:t>
            </a:r>
            <a:r>
              <a:rPr lang="en-US" sz="1800" b="0" i="1" dirty="0">
                <a:latin typeface="Franklin Gothic Book" charset="0"/>
                <a:cs typeface="Times New Roman" charset="0"/>
              </a:rPr>
              <a:t> + w</a:t>
            </a:r>
            <a:r>
              <a:rPr lang="en-US" sz="1800" b="0" i="1" baseline="-25000" dirty="0">
                <a:latin typeface="Franklin Gothic Book" charset="0"/>
                <a:cs typeface="Times New Roman" charset="0"/>
              </a:rPr>
              <a:t>0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(</a:t>
            </a:r>
            <a:r>
              <a:rPr lang="en-US" sz="1800" b="0" i="1" dirty="0">
                <a:latin typeface="Franklin Gothic Book" charset="0"/>
                <a:cs typeface="Times New Roman" charset="0"/>
              </a:rPr>
              <a:t>w</a:t>
            </a:r>
            <a:r>
              <a:rPr lang="en-US" sz="1800" b="0" i="1" baseline="-25000" dirty="0">
                <a:latin typeface="Franklin Gothic Book" charset="0"/>
                <a:cs typeface="Times New Roman" charset="0"/>
              </a:rPr>
              <a:t>0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 is bias)</a:t>
            </a:r>
          </a:p>
          <a:p>
            <a:pPr lvl="1"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Assume a step function for 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g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(</a:t>
            </a:r>
            <a:r>
              <a:rPr lang="en-US" sz="2000" b="0" dirty="0" err="1">
                <a:latin typeface="Franklin Gothic Book" charset="0"/>
                <a:cs typeface="Times New Roman" charset="0"/>
              </a:rPr>
              <a:t>x</a:t>
            </a:r>
            <a:r>
              <a:rPr lang="en-US" sz="2000" b="0" i="1" baseline="-25000" dirty="0" err="1">
                <a:latin typeface="Franklin Gothic Book" charset="0"/>
                <a:cs typeface="Times New Roman" charset="0"/>
              </a:rPr>
              <a:t>j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)</a:t>
            </a:r>
          </a:p>
          <a:p>
            <a:pPr lvl="1" eaLnBrk="1" hangingPunct="1">
              <a:spcBef>
                <a:spcPct val="20000"/>
              </a:spcBef>
              <a:buFontTx/>
              <a:buChar char="•"/>
            </a:pPr>
            <a:endParaRPr lang="en-US" sz="2000" b="0" i="1" dirty="0">
              <a:latin typeface="Franklin Gothic Book" charset="0"/>
              <a:cs typeface="Times New Roman" charset="0"/>
            </a:endParaRPr>
          </a:p>
          <a:p>
            <a:pPr lvl="1" eaLnBrk="1" hangingPunct="1">
              <a:spcBef>
                <a:spcPct val="20000"/>
              </a:spcBef>
              <a:buFontTx/>
              <a:buChar char="•"/>
            </a:pPr>
            <a:endParaRPr lang="en-US" sz="2000" b="0" i="1" dirty="0">
              <a:latin typeface="Franklin Gothic Book" charset="0"/>
              <a:cs typeface="Times New Roman" charset="0"/>
            </a:endParaRPr>
          </a:p>
          <a:p>
            <a:pPr lvl="1" eaLnBrk="1" hangingPunct="1">
              <a:spcBef>
                <a:spcPct val="20000"/>
              </a:spcBef>
              <a:buFontTx/>
              <a:buChar char="•"/>
            </a:pPr>
            <a:endParaRPr lang="en-US" sz="2000" b="0" i="1" dirty="0">
              <a:latin typeface="Franklin Gothic Book" charset="0"/>
              <a:cs typeface="Times New Roman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000" b="0" dirty="0">
              <a:latin typeface="Franklin Gothic Book" charset="0"/>
              <a:cs typeface="Times New Roman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Can pick  x</a:t>
            </a:r>
            <a:r>
              <a:rPr lang="en-US" sz="2000" b="0" i="1" baseline="-25000" dirty="0">
                <a:latin typeface="Franklin Gothic Book" charset="0"/>
                <a:cs typeface="Times New Roman" charset="0"/>
              </a:rPr>
              <a:t>2</a:t>
            </a:r>
            <a:r>
              <a:rPr lang="en-US" sz="2000" dirty="0"/>
              <a:t> = </a:t>
            </a:r>
            <a:r>
              <a:rPr lang="en-US" sz="2000" b="0" dirty="0">
                <a:latin typeface="Franklin Gothic Book" charset="0"/>
              </a:rPr>
              <a:t>¼ + ½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 x</a:t>
            </a:r>
            <a:r>
              <a:rPr lang="en-US" sz="2000" b="0" i="1" baseline="-25000" dirty="0">
                <a:latin typeface="Franklin Gothic Book" charset="0"/>
                <a:cs typeface="Times New Roman" charset="0"/>
              </a:rPr>
              <a:t>1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i="1" dirty="0">
                <a:latin typeface="Franklin Gothic Book" charset="0"/>
                <a:cs typeface="Times New Roman" charset="0"/>
              </a:rPr>
              <a:t> -</a:t>
            </a:r>
            <a:r>
              <a:rPr lang="en-US" sz="2000" b="0" dirty="0">
                <a:latin typeface="Franklin Gothic Book" charset="0"/>
              </a:rPr>
              <a:t> ½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 x</a:t>
            </a:r>
            <a:r>
              <a:rPr lang="en-US" sz="2000" b="0" i="1" baseline="-25000" dirty="0">
                <a:latin typeface="Franklin Gothic Book" charset="0"/>
                <a:cs typeface="Times New Roman" charset="0"/>
              </a:rPr>
              <a:t>1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 + x</a:t>
            </a:r>
            <a:r>
              <a:rPr lang="en-US" sz="2000" b="0" i="1" baseline="-25000" dirty="0">
                <a:latin typeface="Franklin Gothic Book" charset="0"/>
                <a:cs typeface="Times New Roman" charset="0"/>
              </a:rPr>
              <a:t>2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 - </a:t>
            </a:r>
            <a:r>
              <a:rPr lang="en-US" sz="2000" b="0" dirty="0">
                <a:latin typeface="Franklin Gothic Book" charset="0"/>
              </a:rPr>
              <a:t>¼ 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&gt; 0</a:t>
            </a: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686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>
                <a:latin typeface="Franklin Gothic Book" charset="0"/>
              </a:rPr>
              <a:t>Perceptron Example</a:t>
            </a:r>
            <a:endParaRPr lang="en-US" sz="2800" i="1">
              <a:latin typeface="Franklin Gothic Book" charset="0"/>
            </a:endParaRPr>
          </a:p>
        </p:txBody>
      </p:sp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2401887" y="1720768"/>
            <a:ext cx="21304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/>
              <a:t>(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x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1    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x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2</a:t>
            </a:r>
            <a:r>
              <a:rPr lang="en-US" sz="1600" dirty="0"/>
              <a:t>) →  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y</a:t>
            </a:r>
            <a:endParaRPr lang="en-US" sz="1600" b="0" i="1" baseline="-25000" dirty="0">
              <a:latin typeface="Franklin Gothic Book" charset="0"/>
              <a:cs typeface="Times New Roman" charset="0"/>
            </a:endParaRPr>
          </a:p>
          <a:p>
            <a:pPr eaLnBrk="1" hangingPunct="1"/>
            <a:r>
              <a:rPr lang="en-US" sz="1600" b="0" dirty="0"/>
              <a:t>(0, ½)	1</a:t>
            </a:r>
          </a:p>
          <a:p>
            <a:pPr eaLnBrk="1" hangingPunct="1"/>
            <a:r>
              <a:rPr lang="en-US" sz="1600" b="0" dirty="0"/>
              <a:t>(1,1)		1</a:t>
            </a:r>
          </a:p>
          <a:p>
            <a:pPr eaLnBrk="1" hangingPunct="1"/>
            <a:r>
              <a:rPr lang="en-US" sz="1600" b="0" dirty="0"/>
              <a:t>(1,1/2)	0</a:t>
            </a:r>
          </a:p>
          <a:p>
            <a:pPr eaLnBrk="1" hangingPunct="1"/>
            <a:r>
              <a:rPr lang="en-US" sz="1600" b="0" dirty="0"/>
              <a:t>(0,0)		0</a:t>
            </a:r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2529115" y="3989532"/>
            <a:ext cx="2159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0" i="1" dirty="0">
                <a:latin typeface="Franklin Gothic Book" charset="0"/>
                <a:cs typeface="Times New Roman" charset="0"/>
              </a:rPr>
              <a:t>        w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2</a:t>
            </a:r>
            <a:r>
              <a:rPr lang="en-US" sz="1600" b="0" dirty="0">
                <a:latin typeface="Franklin Gothic Book" charset="0"/>
                <a:cs typeface="Times New Roman" charset="0"/>
              </a:rPr>
              <a:t> 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/2 + w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0 </a:t>
            </a:r>
            <a:r>
              <a:rPr lang="en-US" sz="1600" b="0" dirty="0"/>
              <a:t> &gt; 0</a:t>
            </a:r>
          </a:p>
          <a:p>
            <a:pPr eaLnBrk="1" hangingPunct="1"/>
            <a:r>
              <a:rPr lang="en-US" sz="1600" b="0" i="1" dirty="0">
                <a:latin typeface="Franklin Gothic Book" charset="0"/>
                <a:cs typeface="Times New Roman" charset="0"/>
              </a:rPr>
              <a:t>w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1</a:t>
            </a:r>
            <a:r>
              <a:rPr lang="en-US" sz="1600" b="0" dirty="0">
                <a:latin typeface="Franklin Gothic Book" charset="0"/>
                <a:cs typeface="Times New Roman" charset="0"/>
              </a:rPr>
              <a:t> 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+ w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2</a:t>
            </a:r>
            <a:r>
              <a:rPr lang="en-US" sz="1600" b="0" dirty="0">
                <a:latin typeface="Franklin Gothic Book" charset="0"/>
                <a:cs typeface="Times New Roman" charset="0"/>
              </a:rPr>
              <a:t>      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+ w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0  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&gt; 0</a:t>
            </a:r>
          </a:p>
          <a:p>
            <a:pPr eaLnBrk="1" hangingPunct="1"/>
            <a:r>
              <a:rPr lang="en-US" sz="1600" b="0" i="1" dirty="0">
                <a:latin typeface="Franklin Gothic Book" charset="0"/>
                <a:cs typeface="Times New Roman" charset="0"/>
              </a:rPr>
              <a:t>w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1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 + w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2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/2 + w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0 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&lt; 0</a:t>
            </a:r>
          </a:p>
          <a:p>
            <a:r>
              <a:rPr lang="en-US" sz="1600" b="0" i="1" dirty="0">
                <a:latin typeface="Franklin Gothic Book" charset="0"/>
                <a:cs typeface="Times New Roman" charset="0"/>
              </a:rPr>
              <a:t>			    w</a:t>
            </a:r>
            <a:r>
              <a:rPr lang="en-US" sz="1600" b="0" i="1" baseline="-25000" dirty="0">
                <a:latin typeface="Franklin Gothic Book" charset="0"/>
                <a:cs typeface="Times New Roman" charset="0"/>
              </a:rPr>
              <a:t>0 </a:t>
            </a:r>
            <a:r>
              <a:rPr lang="en-US" sz="1600" b="0" i="1" dirty="0">
                <a:latin typeface="Franklin Gothic Book" charset="0"/>
                <a:cs typeface="Times New Roman" charset="0"/>
              </a:rPr>
              <a:t>&lt; 0</a:t>
            </a:r>
            <a:endParaRPr lang="en-US" sz="1600" b="0" i="1" baseline="-25000" dirty="0">
              <a:latin typeface="Franklin Gothic Book" charset="0"/>
              <a:cs typeface="Times New Roman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B9F068-55EA-C040-A5C6-702128CD6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201" y="482518"/>
            <a:ext cx="2993998" cy="276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55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3"/>
          <p:cNvSpPr txBox="1">
            <a:spLocks noChangeArrowheads="1"/>
          </p:cNvSpPr>
          <p:nvPr/>
        </p:nvSpPr>
        <p:spPr bwMode="auto">
          <a:xfrm>
            <a:off x="954315" y="1083128"/>
            <a:ext cx="7696200" cy="5375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Given dataset: input 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 = (1, x</a:t>
            </a:r>
            <a:r>
              <a:rPr lang="en-US" sz="2000" b="0" baseline="-25000" dirty="0">
                <a:latin typeface="Times New Roman"/>
                <a:cs typeface="Times New Roman"/>
              </a:rPr>
              <a:t>1</a:t>
            </a:r>
            <a:r>
              <a:rPr lang="en-US" sz="2000" b="0" dirty="0">
                <a:latin typeface="Times New Roman"/>
                <a:cs typeface="Times New Roman"/>
              </a:rPr>
              <a:t>, x</a:t>
            </a:r>
            <a:r>
              <a:rPr lang="en-US" sz="2000" b="0" baseline="-25000" dirty="0">
                <a:latin typeface="Times New Roman"/>
                <a:cs typeface="Times New Roman"/>
              </a:rPr>
              <a:t>2</a:t>
            </a:r>
            <a:r>
              <a:rPr lang="en-US" sz="2000" b="0" dirty="0">
                <a:latin typeface="Times New Roman"/>
                <a:cs typeface="Times New Roman"/>
              </a:rPr>
              <a:t>, </a:t>
            </a:r>
            <a:r>
              <a:rPr lang="is-IS" sz="2000" b="0" dirty="0">
                <a:latin typeface="Times New Roman"/>
                <a:cs typeface="Times New Roman"/>
              </a:rPr>
              <a:t>…, x</a:t>
            </a:r>
            <a:r>
              <a:rPr lang="is-IS" sz="2000" b="0" baseline="-25000" dirty="0">
                <a:latin typeface="Times New Roman"/>
                <a:cs typeface="Times New Roman"/>
              </a:rPr>
              <a:t>d</a:t>
            </a:r>
            <a:r>
              <a:rPr lang="is-IS" sz="2000" b="0" dirty="0">
                <a:latin typeface="Times New Roman"/>
                <a:cs typeface="Times New Roman"/>
              </a:rPr>
              <a:t>)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endParaRPr lang="en-U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  (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baseline="-25000" dirty="0">
                <a:latin typeface="Times New Roman"/>
                <a:cs typeface="Times New Roman"/>
              </a:rPr>
              <a:t>1</a:t>
            </a:r>
            <a:r>
              <a:rPr lang="en-US" sz="2000" b="0" dirty="0">
                <a:latin typeface="Times New Roman"/>
                <a:cs typeface="Times New Roman"/>
              </a:rPr>
              <a:t>, y</a:t>
            </a:r>
            <a:r>
              <a:rPr lang="en-US" sz="2000" b="0" baseline="-25000" dirty="0">
                <a:latin typeface="Times New Roman"/>
                <a:cs typeface="Times New Roman"/>
              </a:rPr>
              <a:t>1</a:t>
            </a:r>
            <a:r>
              <a:rPr lang="en-US" sz="2000" b="0" dirty="0">
                <a:latin typeface="Times New Roman"/>
                <a:cs typeface="Times New Roman"/>
              </a:rPr>
              <a:t>), </a:t>
            </a:r>
            <a:r>
              <a:rPr lang="is-IS" sz="2000" b="0" dirty="0">
                <a:latin typeface="Times New Roman"/>
                <a:cs typeface="Times New Roman"/>
              </a:rPr>
              <a:t>… (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, y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</a:t>
            </a:r>
            <a:endParaRPr lang="is-IS" sz="2000" b="0" baseline="300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000" b="0" dirty="0">
              <a:latin typeface="Times New Roman"/>
              <a:cs typeface="Times New Roman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Hypothesis	h(x) = g(∑</a:t>
            </a:r>
            <a:r>
              <a:rPr lang="en-US" sz="2000" b="0" baseline="-25000" dirty="0">
                <a:latin typeface="Times New Roman"/>
                <a:cs typeface="Times New Roman"/>
              </a:rPr>
              <a:t>d </a:t>
            </a:r>
            <a:r>
              <a:rPr lang="en-US" sz="2000" b="0" dirty="0" err="1">
                <a:latin typeface="Times New Roman"/>
                <a:cs typeface="Times New Roman"/>
              </a:rPr>
              <a:t>w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 </a:t>
            </a:r>
            <a:r>
              <a:rPr lang="en-US" sz="2000" b="0" baseline="-25000" dirty="0">
                <a:latin typeface="Times New Roman"/>
                <a:cs typeface="Times New Roman"/>
              </a:rPr>
              <a:t>* </a:t>
            </a:r>
            <a:r>
              <a:rPr lang="en-US" sz="2000" b="0" dirty="0">
                <a:latin typeface="Times New Roman"/>
                <a:cs typeface="Times New Roman"/>
              </a:rPr>
              <a:t>x</a:t>
            </a:r>
            <a:r>
              <a:rPr lang="en-US" sz="2000" b="0" baseline="-25000" dirty="0">
                <a:latin typeface="Times New Roman"/>
                <a:cs typeface="Times New Roman"/>
              </a:rPr>
              <a:t>i </a:t>
            </a:r>
            <a:r>
              <a:rPr lang="en-US" sz="2000" b="0" dirty="0">
                <a:latin typeface="Times New Roman"/>
                <a:cs typeface="Times New Roman"/>
              </a:rPr>
              <a:t>– threshold) 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			= g(∑</a:t>
            </a:r>
            <a:r>
              <a:rPr lang="en-US" sz="2000" b="0" baseline="-25000" dirty="0">
                <a:latin typeface="Times New Roman"/>
                <a:cs typeface="Times New Roman"/>
              </a:rPr>
              <a:t>d </a:t>
            </a:r>
            <a:r>
              <a:rPr lang="en-US" sz="2000" b="0" dirty="0" err="1">
                <a:latin typeface="Times New Roman"/>
                <a:cs typeface="Times New Roman"/>
              </a:rPr>
              <a:t>w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 </a:t>
            </a:r>
            <a:r>
              <a:rPr lang="en-US" sz="2000" b="0" baseline="-25000" dirty="0">
                <a:latin typeface="Times New Roman"/>
                <a:cs typeface="Times New Roman"/>
              </a:rPr>
              <a:t>* </a:t>
            </a:r>
            <a:r>
              <a:rPr lang="en-US" sz="2000" b="0" dirty="0">
                <a:latin typeface="Times New Roman"/>
                <a:cs typeface="Times New Roman"/>
              </a:rPr>
              <a:t>x</a:t>
            </a:r>
            <a:r>
              <a:rPr lang="en-US" sz="2000" b="0" baseline="-25000" dirty="0">
                <a:latin typeface="Times New Roman"/>
                <a:cs typeface="Times New Roman"/>
              </a:rPr>
              <a:t>i  </a:t>
            </a:r>
            <a:r>
              <a:rPr lang="en-US" sz="2000" b="0" dirty="0">
                <a:latin typeface="Times New Roman"/>
                <a:cs typeface="Times New Roman"/>
              </a:rPr>
              <a:t>+ w</a:t>
            </a:r>
            <a:r>
              <a:rPr lang="en-US" sz="2000" b="0" baseline="-25000" dirty="0">
                <a:latin typeface="Times New Roman"/>
                <a:cs typeface="Times New Roman"/>
              </a:rPr>
              <a:t>0</a:t>
            </a:r>
            <a:r>
              <a:rPr lang="en-US" sz="2000" b="0" dirty="0">
                <a:latin typeface="Times New Roman"/>
                <a:cs typeface="Times New Roman"/>
              </a:rPr>
              <a:t> </a:t>
            </a:r>
            <a:r>
              <a:rPr lang="en-US" sz="2000" b="0" baseline="-25000" dirty="0">
                <a:latin typeface="Times New Roman"/>
                <a:cs typeface="Times New Roman"/>
              </a:rPr>
              <a:t>* </a:t>
            </a:r>
            <a:r>
              <a:rPr lang="en-US" sz="2000" b="0" dirty="0">
                <a:latin typeface="Times New Roman"/>
                <a:cs typeface="Times New Roman"/>
              </a:rPr>
              <a:t>x</a:t>
            </a:r>
            <a:r>
              <a:rPr lang="en-US" sz="2000" b="0" baseline="-25000" dirty="0">
                <a:latin typeface="Times New Roman"/>
                <a:cs typeface="Times New Roman"/>
              </a:rPr>
              <a:t>0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When g(.) = sign(.),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000" b="0" dirty="0">
                <a:latin typeface="Times New Roman"/>
                <a:cs typeface="Times New Roman"/>
              </a:rPr>
              <a:t>		h(x) = sign(∑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baseline="-25000" dirty="0">
                <a:latin typeface="Times New Roman"/>
                <a:cs typeface="Times New Roman"/>
              </a:rPr>
              <a:t>=1,d </a:t>
            </a:r>
            <a:r>
              <a:rPr lang="en-US" sz="2000" b="0" dirty="0" err="1">
                <a:latin typeface="Times New Roman"/>
                <a:cs typeface="Times New Roman"/>
              </a:rPr>
              <a:t>w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 </a:t>
            </a:r>
            <a:r>
              <a:rPr lang="en-US" sz="2000" b="0" baseline="-25000" dirty="0">
                <a:latin typeface="Times New Roman"/>
                <a:cs typeface="Times New Roman"/>
              </a:rPr>
              <a:t>* </a:t>
            </a:r>
            <a:r>
              <a:rPr lang="en-US" sz="2000" b="0" dirty="0">
                <a:latin typeface="Times New Roman"/>
                <a:cs typeface="Times New Roman"/>
              </a:rPr>
              <a:t>x</a:t>
            </a:r>
            <a:r>
              <a:rPr lang="en-US" sz="2000" b="0" baseline="-25000" dirty="0">
                <a:latin typeface="Times New Roman"/>
                <a:cs typeface="Times New Roman"/>
              </a:rPr>
              <a:t>i </a:t>
            </a:r>
            <a:r>
              <a:rPr lang="en-US" sz="2000" b="0" dirty="0">
                <a:latin typeface="Times New Roman"/>
                <a:cs typeface="Times New Roman"/>
              </a:rPr>
              <a:t>+ w</a:t>
            </a:r>
            <a:r>
              <a:rPr lang="en-US" sz="2000" b="0" baseline="-25000" dirty="0">
                <a:latin typeface="Times New Roman"/>
                <a:cs typeface="Times New Roman"/>
              </a:rPr>
              <a:t>0</a:t>
            </a:r>
            <a:r>
              <a:rPr lang="en-US" sz="2000" b="0" dirty="0">
                <a:latin typeface="Times New Roman"/>
                <a:cs typeface="Times New Roman"/>
              </a:rPr>
              <a:t>) = sign</a:t>
            </a:r>
            <a:r>
              <a:rPr lang="is-IS" sz="2000" b="0" dirty="0">
                <a:latin typeface="Times New Roman"/>
                <a:cs typeface="Times New Roman"/>
              </a:rPr>
              <a:t>(</a:t>
            </a:r>
            <a:r>
              <a:rPr lang="en-US" sz="2000" b="0" dirty="0">
                <a:latin typeface="Times New Roman"/>
                <a:cs typeface="Times New Roman"/>
              </a:rPr>
              <a:t>∑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baseline="-25000" dirty="0">
                <a:latin typeface="Times New Roman"/>
                <a:cs typeface="Times New Roman"/>
              </a:rPr>
              <a:t>=0,d </a:t>
            </a:r>
            <a:r>
              <a:rPr lang="en-US" sz="2000" b="0" dirty="0" err="1">
                <a:latin typeface="Times New Roman"/>
                <a:cs typeface="Times New Roman"/>
              </a:rPr>
              <a:t>w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 </a:t>
            </a:r>
            <a:r>
              <a:rPr lang="en-US" sz="2000" b="0" baseline="-25000" dirty="0">
                <a:latin typeface="Times New Roman"/>
                <a:cs typeface="Times New Roman"/>
              </a:rPr>
              <a:t>* </a:t>
            </a:r>
            <a:r>
              <a:rPr lang="en-US" sz="2000" b="0" dirty="0">
                <a:latin typeface="Times New Roman"/>
                <a:cs typeface="Times New Roman"/>
              </a:rPr>
              <a:t>x</a:t>
            </a:r>
            <a:r>
              <a:rPr lang="en-US" sz="2000" b="0" baseline="-25000" dirty="0">
                <a:latin typeface="Times New Roman"/>
                <a:cs typeface="Times New Roman"/>
              </a:rPr>
              <a:t>i 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	= sign(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is-IS" sz="2000" b="0" dirty="0">
                <a:latin typeface="Times New Roman"/>
                <a:cs typeface="Times New Roman"/>
              </a:rPr>
              <a:t>Learning Algorithm:</a:t>
            </a:r>
          </a:p>
          <a:p>
            <a:pPr marL="800100" lvl="2" indent="0">
              <a:lnSpc>
                <a:spcPct val="90000"/>
              </a:lnSpc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for misclassified dataset that </a:t>
            </a:r>
            <a:r>
              <a:rPr lang="en-US" sz="2000" b="0" dirty="0">
                <a:latin typeface="Times New Roman"/>
                <a:cs typeface="Times New Roman"/>
              </a:rPr>
              <a:t>sign(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) = h(x) !=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endParaRPr lang="en-US" sz="2000" b="0" baseline="-2500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Franklin Gothic Book" charset="0"/>
                <a:cs typeface="Times New Roman" charset="0"/>
              </a:rPr>
              <a:t>	</a:t>
            </a:r>
            <a:r>
              <a:rPr lang="is-IS" sz="2000" b="0" dirty="0">
                <a:latin typeface="Times New Roman"/>
                <a:cs typeface="Times New Roman"/>
              </a:rPr>
              <a:t> update weights by </a:t>
            </a: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 = 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 + y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 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is-I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if h(x) = -1 where y=1		=&gt;  increase weights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if h(x) = 1  where y= -1	=&gt; decrease weights</a:t>
            </a:r>
            <a:endParaRPr lang="en-US" sz="2000" b="0" dirty="0">
              <a:latin typeface="Franklin Gothic Book" charset="0"/>
              <a:cs typeface="Times New Roman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686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Perceptron</a:t>
            </a:r>
            <a:endParaRPr lang="en-US" sz="2800" i="1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97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Perceptron Learning Algorithm (PLA)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37891" name="TextBox 5"/>
          <p:cNvSpPr txBox="1">
            <a:spLocks noChangeArrowheads="1"/>
          </p:cNvSpPr>
          <p:nvPr/>
        </p:nvSpPr>
        <p:spPr bwMode="auto">
          <a:xfrm>
            <a:off x="1647371" y="1781627"/>
            <a:ext cx="7017658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457200" indent="-457200" eaLnBrk="1" hangingPunct="1">
              <a:buAutoNum type="arabicPeriod"/>
            </a:pPr>
            <a:r>
              <a:rPr lang="en-US" b="0" dirty="0">
                <a:latin typeface="Franklin Gothic Book" charset="0"/>
                <a:cs typeface="Times New Roman" charset="0"/>
              </a:rPr>
              <a:t>Set all </a:t>
            </a:r>
            <a:r>
              <a:rPr lang="en-US" dirty="0">
                <a:latin typeface="Franklin Gothic Book" charset="0"/>
                <a:cs typeface="Times New Roman" charset="0"/>
              </a:rPr>
              <a:t>w</a:t>
            </a:r>
            <a:r>
              <a:rPr lang="en-US" b="0" dirty="0">
                <a:latin typeface="Franklin Gothic Book" charset="0"/>
                <a:cs typeface="Times New Roman" charset="0"/>
              </a:rPr>
              <a:t> to 0</a:t>
            </a:r>
          </a:p>
          <a:p>
            <a:pPr marL="457200" indent="-457200" eaLnBrk="1" hangingPunct="1">
              <a:buAutoNum type="arabicPeriod"/>
            </a:pPr>
            <a:r>
              <a:rPr lang="en-US" b="0" dirty="0">
                <a:latin typeface="Franklin Gothic Book" charset="0"/>
                <a:cs typeface="Times New Roman" charset="0"/>
              </a:rPr>
              <a:t>For N or until weights do not change</a:t>
            </a:r>
          </a:p>
          <a:p>
            <a:pPr marL="0" indent="0" eaLnBrk="1" hangingPunct="1"/>
            <a:r>
              <a:rPr lang="en-US" b="0" dirty="0">
                <a:latin typeface="Franklin Gothic Book" charset="0"/>
                <a:cs typeface="Times New Roman" charset="0"/>
              </a:rPr>
              <a:t>	    for each (</a:t>
            </a:r>
            <a:r>
              <a:rPr lang="en-US" dirty="0" err="1">
                <a:latin typeface="Franklin Gothic Book" charset="0"/>
                <a:cs typeface="Times New Roman" charset="0"/>
              </a:rPr>
              <a:t>x</a:t>
            </a:r>
            <a:r>
              <a:rPr lang="en-US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b="0" dirty="0" err="1">
                <a:latin typeface="Franklin Gothic Book" charset="0"/>
                <a:cs typeface="Times New Roman" charset="0"/>
              </a:rPr>
              <a:t>,y</a:t>
            </a:r>
            <a:r>
              <a:rPr lang="en-US" b="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b="0" dirty="0">
                <a:latin typeface="Franklin Gothic Book" charset="0"/>
                <a:cs typeface="Times New Roman" charset="0"/>
              </a:rPr>
              <a:t>)</a:t>
            </a:r>
          </a:p>
          <a:p>
            <a:pPr marL="0" indent="0" eaLnBrk="1" hangingPunct="1"/>
            <a:r>
              <a:rPr lang="en-US" b="0" dirty="0">
                <a:latin typeface="Franklin Gothic Book" charset="0"/>
                <a:cs typeface="Times New Roman" charset="0"/>
              </a:rPr>
              <a:t>		 [</a:t>
            </a:r>
            <a:r>
              <a:rPr lang="en-US" b="0" i="1" dirty="0">
                <a:latin typeface="Franklin Gothic Book" charset="0"/>
                <a:cs typeface="Times New Roman" charset="0"/>
              </a:rPr>
              <a:t>learning</a:t>
            </a:r>
            <a:r>
              <a:rPr lang="en-US" b="0" dirty="0">
                <a:latin typeface="Franklin Gothic Book" charset="0"/>
                <a:cs typeface="Times New Roman" charset="0"/>
              </a:rPr>
              <a:t>]</a:t>
            </a:r>
          </a:p>
          <a:p>
            <a:pPr marL="0" indent="0"/>
            <a:r>
              <a:rPr lang="en-US" b="0" dirty="0">
                <a:latin typeface="Franklin Gothic Book" charset="0"/>
                <a:cs typeface="Times New Roman" charset="0"/>
              </a:rPr>
              <a:t>		 h(</a:t>
            </a:r>
            <a:r>
              <a:rPr lang="en-US" dirty="0">
                <a:latin typeface="Franklin Gothic Book" charset="0"/>
                <a:cs typeface="Times New Roman" charset="0"/>
              </a:rPr>
              <a:t>x</a:t>
            </a:r>
            <a:r>
              <a:rPr lang="en-US" b="0" baseline="-25000" dirty="0">
                <a:latin typeface="Franklin Gothic Book" charset="0"/>
                <a:cs typeface="Times New Roman" charset="0"/>
              </a:rPr>
              <a:t>i</a:t>
            </a:r>
            <a:r>
              <a:rPr lang="en-US" b="0" dirty="0">
                <a:latin typeface="Franklin Gothic Book" charset="0"/>
                <a:cs typeface="Times New Roman" charset="0"/>
              </a:rPr>
              <a:t>) = </a:t>
            </a:r>
            <a:r>
              <a:rPr lang="en-US" b="0" dirty="0">
                <a:latin typeface="Times New Roman"/>
                <a:cs typeface="Times New Roman"/>
              </a:rPr>
              <a:t>sign(</a:t>
            </a:r>
            <a:r>
              <a:rPr lang="en-US" dirty="0" err="1">
                <a:latin typeface="Times New Roman"/>
                <a:cs typeface="Times New Roman"/>
              </a:rPr>
              <a:t>w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dirty="0" err="1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)</a:t>
            </a:r>
            <a:endParaRPr lang="en-US" b="0" dirty="0">
              <a:latin typeface="Franklin Gothic Book" charset="0"/>
              <a:cs typeface="Times New Roman" charset="0"/>
            </a:endParaRPr>
          </a:p>
          <a:p>
            <a:pPr marL="0" indent="0" eaLnBrk="1" hangingPunct="1"/>
            <a:r>
              <a:rPr lang="en-US" b="0" dirty="0">
                <a:latin typeface="Franklin Gothic Book" charset="0"/>
                <a:cs typeface="Times New Roman" charset="0"/>
              </a:rPr>
              <a:t>	       If </a:t>
            </a:r>
            <a:r>
              <a:rPr lang="en-US" b="0" dirty="0" err="1">
                <a:latin typeface="Franklin Gothic Book" charset="0"/>
                <a:cs typeface="Times New Roman" charset="0"/>
              </a:rPr>
              <a:t>y</a:t>
            </a:r>
            <a:r>
              <a:rPr lang="en-US" b="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b="0" dirty="0">
                <a:latin typeface="Franklin Gothic Book" charset="0"/>
                <a:cs typeface="Times New Roman" charset="0"/>
              </a:rPr>
              <a:t> – h(</a:t>
            </a:r>
            <a:r>
              <a:rPr lang="en-US" dirty="0">
                <a:latin typeface="Franklin Gothic Book" charset="0"/>
                <a:cs typeface="Times New Roman" charset="0"/>
              </a:rPr>
              <a:t>x</a:t>
            </a:r>
            <a:r>
              <a:rPr lang="en-US" b="0" baseline="-25000" dirty="0">
                <a:latin typeface="Franklin Gothic Book" charset="0"/>
                <a:cs typeface="Times New Roman" charset="0"/>
              </a:rPr>
              <a:t>i</a:t>
            </a:r>
            <a:r>
              <a:rPr lang="en-US" b="0" dirty="0">
                <a:latin typeface="Franklin Gothic Book" charset="0"/>
                <a:cs typeface="Times New Roman" charset="0"/>
              </a:rPr>
              <a:t>) == 0, continue</a:t>
            </a:r>
          </a:p>
          <a:p>
            <a:pPr marL="0" indent="0" eaLnBrk="1" hangingPunct="1"/>
            <a:r>
              <a:rPr lang="en-US" b="0" dirty="0">
                <a:latin typeface="Franklin Gothic Book" charset="0"/>
                <a:cs typeface="Times New Roman" charset="0"/>
              </a:rPr>
              <a:t>	       else</a:t>
            </a:r>
          </a:p>
          <a:p>
            <a:pPr marL="0" indent="0" eaLnBrk="1" hangingPunct="1"/>
            <a:r>
              <a:rPr lang="en-US" b="0" dirty="0">
                <a:latin typeface="Franklin Gothic Book" charset="0"/>
                <a:cs typeface="Times New Roman" charset="0"/>
              </a:rPr>
              <a:t>		    </a:t>
            </a:r>
            <a:r>
              <a:rPr lang="en-US" b="0" dirty="0" err="1">
                <a:latin typeface="Franklin Gothic Book" charset="0"/>
                <a:cs typeface="Times New Roman" charset="0"/>
              </a:rPr>
              <a:t>w</a:t>
            </a:r>
            <a:r>
              <a:rPr lang="en-US" b="0" baseline="-25000" dirty="0" err="1">
                <a:latin typeface="Franklin Gothic Book" charset="0"/>
                <a:cs typeface="Times New Roman" charset="0"/>
              </a:rPr>
              <a:t>k</a:t>
            </a:r>
            <a:r>
              <a:rPr lang="en-US" b="0" dirty="0">
                <a:latin typeface="Franklin Gothic Book" charset="0"/>
                <a:cs typeface="Times New Roman" charset="0"/>
              </a:rPr>
              <a:t> = w</a:t>
            </a:r>
            <a:r>
              <a:rPr lang="en-US" b="0" baseline="-25000" dirty="0">
                <a:latin typeface="Franklin Gothic Book" charset="0"/>
                <a:cs typeface="Times New Roman" charset="0"/>
              </a:rPr>
              <a:t>k-1</a:t>
            </a:r>
            <a:r>
              <a:rPr lang="en-US" b="0" dirty="0">
                <a:latin typeface="Franklin Gothic Book" charset="0"/>
                <a:cs typeface="Times New Roman" charset="0"/>
              </a:rPr>
              <a:t> + (</a:t>
            </a:r>
            <a:r>
              <a:rPr lang="en-US" b="0" dirty="0" err="1">
                <a:latin typeface="Franklin Gothic Book" charset="0"/>
                <a:cs typeface="Times New Roman" charset="0"/>
              </a:rPr>
              <a:t>y</a:t>
            </a:r>
            <a:r>
              <a:rPr lang="en-US" b="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b="0" dirty="0">
                <a:latin typeface="Franklin Gothic Book" charset="0"/>
                <a:cs typeface="Times New Roman" charset="0"/>
              </a:rPr>
              <a:t> – h(</a:t>
            </a:r>
            <a:r>
              <a:rPr lang="en-US" dirty="0">
                <a:latin typeface="Franklin Gothic Book" charset="0"/>
                <a:cs typeface="Times New Roman" charset="0"/>
              </a:rPr>
              <a:t>x</a:t>
            </a:r>
            <a:r>
              <a:rPr lang="en-US" b="0" baseline="-25000" dirty="0">
                <a:latin typeface="Franklin Gothic Book" charset="0"/>
                <a:cs typeface="Times New Roman" charset="0"/>
              </a:rPr>
              <a:t>i</a:t>
            </a:r>
            <a:r>
              <a:rPr lang="en-US" b="0" dirty="0">
                <a:latin typeface="Franklin Gothic Book" charset="0"/>
                <a:cs typeface="Times New Roman" charset="0"/>
              </a:rPr>
              <a:t>))</a:t>
            </a:r>
            <a:r>
              <a:rPr lang="en-US" b="0" dirty="0" err="1">
                <a:latin typeface="Franklin Gothic Book" charset="0"/>
                <a:cs typeface="Times New Roman" charset="0"/>
              </a:rPr>
              <a:t>x</a:t>
            </a:r>
            <a:r>
              <a:rPr lang="en-US" b="0" baseline="-25000" dirty="0" err="1">
                <a:latin typeface="Franklin Gothic Book" charset="0"/>
                <a:cs typeface="Times New Roman" charset="0"/>
              </a:rPr>
              <a:t>ik</a:t>
            </a:r>
            <a:endParaRPr lang="en-US" b="0" baseline="-25000" dirty="0">
              <a:latin typeface="Franklin Gothic Book" charset="0"/>
              <a:cs typeface="Times New Roman" charset="0"/>
            </a:endParaRPr>
          </a:p>
          <a:p>
            <a:pPr marL="0" indent="0" eaLnBrk="1" hangingPunct="1"/>
            <a:endParaRPr lang="en-US" sz="2000" b="0" dirty="0"/>
          </a:p>
          <a:p>
            <a:pPr eaLnBrk="1" hangingPunct="1"/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903720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 txBox="1">
            <a:spLocks noChangeArrowheads="1"/>
          </p:cNvSpPr>
          <p:nvPr/>
        </p:nvSpPr>
        <p:spPr bwMode="auto">
          <a:xfrm>
            <a:off x="464456" y="507818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Example: Iris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266B485E-DD90-CB45-A704-7ED5B04B6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456" y="2322256"/>
            <a:ext cx="4947999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/>
            <a:r>
              <a:rPr lang="en-US" sz="1800" b="0" dirty="0" err="1"/>
              <a:t>Sepal_L</a:t>
            </a:r>
            <a:r>
              <a:rPr lang="en-US" sz="1800" b="0" dirty="0"/>
              <a:t>, </a:t>
            </a:r>
            <a:r>
              <a:rPr lang="en-US" sz="1800" b="0" dirty="0" err="1"/>
              <a:t>Sepal_W</a:t>
            </a:r>
            <a:r>
              <a:rPr lang="en-US" sz="1800" b="0" dirty="0"/>
              <a:t>, </a:t>
            </a:r>
            <a:r>
              <a:rPr lang="en-US" sz="1800" b="0" dirty="0" err="1"/>
              <a:t>Petal_L</a:t>
            </a:r>
            <a:r>
              <a:rPr lang="en-US" sz="1800" b="0" dirty="0"/>
              <a:t>, </a:t>
            </a:r>
            <a:r>
              <a:rPr lang="en-US" sz="1800" b="0" dirty="0" err="1"/>
              <a:t>PetalW</a:t>
            </a:r>
            <a:r>
              <a:rPr lang="en-US" sz="1800" b="0" dirty="0"/>
              <a:t>, type</a:t>
            </a:r>
          </a:p>
          <a:p>
            <a:pPr marL="0" indent="0"/>
            <a:r>
              <a:rPr lang="en-US" sz="2000" b="0" dirty="0"/>
              <a:t>6.6,2.9,4.6,1.3,Iris-versicolor</a:t>
            </a:r>
          </a:p>
          <a:p>
            <a:pPr marL="0" indent="0"/>
            <a:r>
              <a:rPr lang="en-US" sz="2000" b="0" dirty="0"/>
              <a:t>6.3,3.3,6,2.5,Iris-virginica</a:t>
            </a:r>
          </a:p>
          <a:p>
            <a:pPr marL="0" indent="0"/>
            <a:r>
              <a:rPr lang="en-US" sz="2000" b="0" dirty="0"/>
              <a:t>7.7,2.6,6.9,2.3,Iris-virginica</a:t>
            </a:r>
          </a:p>
          <a:p>
            <a:pPr marL="0" indent="0"/>
            <a:r>
              <a:rPr lang="en-US" sz="2000" b="0" dirty="0"/>
              <a:t>6.5,3.2,5.1,2,Iris-virginica</a:t>
            </a:r>
          </a:p>
          <a:p>
            <a:pPr marL="0" indent="0"/>
            <a:r>
              <a:rPr lang="en-US" sz="2000" b="0" dirty="0"/>
              <a:t>6.1,2.6,5.6,1.4,Iris-virginica</a:t>
            </a:r>
          </a:p>
          <a:p>
            <a:pPr marL="0" indent="0"/>
            <a:r>
              <a:rPr lang="en-US" sz="2000" b="0" dirty="0"/>
              <a:t>5,2,3.5,1,Iris-versicolor</a:t>
            </a:r>
          </a:p>
          <a:p>
            <a:pPr marL="0" indent="0"/>
            <a:r>
              <a:rPr lang="en-US" sz="2000" b="0" dirty="0"/>
              <a:t>6.7,3.3,5.7,2.1,Iris-virginica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253832E-AE11-A446-A737-CC805D116CC5}"/>
              </a:ext>
            </a:extLst>
          </p:cNvPr>
          <p:cNvSpPr txBox="1">
            <a:spLocks noChangeArrowheads="1"/>
          </p:cNvSpPr>
          <p:nvPr/>
        </p:nvSpPr>
        <p:spPr>
          <a:xfrm>
            <a:off x="1063631" y="1333500"/>
            <a:ext cx="7407269" cy="98875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latin typeface="+mn-lt"/>
              </a:rPr>
              <a:t>https://</a:t>
            </a:r>
            <a:r>
              <a:rPr lang="en-US" sz="3200" dirty="0" err="1">
                <a:latin typeface="+mn-lt"/>
              </a:rPr>
              <a:t>archive.ics.uci.edu</a:t>
            </a:r>
            <a:r>
              <a:rPr lang="en-US" sz="3200" dirty="0">
                <a:latin typeface="+mn-lt"/>
              </a:rPr>
              <a:t>/ml/datasets/iris</a:t>
            </a:r>
            <a:br>
              <a:rPr lang="en-US" sz="3200" dirty="0">
                <a:latin typeface="+mn-lt"/>
              </a:rPr>
            </a:b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87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3"/>
          <p:cNvSpPr txBox="1">
            <a:spLocks noChangeArrowheads="1"/>
          </p:cNvSpPr>
          <p:nvPr/>
        </p:nvSpPr>
        <p:spPr bwMode="auto">
          <a:xfrm>
            <a:off x="1552029" y="1463845"/>
            <a:ext cx="5543182" cy="2764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Times New Roman"/>
                <a:cs typeface="Times New Roman"/>
              </a:rPr>
              <a:t>AB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  <a:r>
              <a:rPr lang="en-US" sz="2000" b="0" baseline="30000" dirty="0">
                <a:latin typeface="Times New Roman"/>
                <a:cs typeface="Times New Roman"/>
              </a:rPr>
              <a:t>T </a:t>
            </a:r>
            <a:r>
              <a:rPr lang="en-US" sz="2000" b="0" dirty="0">
                <a:latin typeface="Times New Roman"/>
                <a:cs typeface="Times New Roman"/>
              </a:rPr>
              <a:t>= </a:t>
            </a:r>
            <a:r>
              <a:rPr lang="en-US" sz="2000" dirty="0">
                <a:latin typeface="Times New Roman"/>
                <a:cs typeface="Times New Roman"/>
              </a:rPr>
              <a:t>B</a:t>
            </a:r>
            <a:r>
              <a:rPr lang="en-US" sz="2000" b="0" baseline="30000" dirty="0">
                <a:latin typeface="Times New Roman"/>
                <a:cs typeface="Times New Roman"/>
              </a:rPr>
              <a:t>T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b="0" baseline="30000" dirty="0">
                <a:latin typeface="Times New Roman"/>
                <a:cs typeface="Times New Roman"/>
              </a:rPr>
              <a:t>T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Times New Roman"/>
                <a:cs typeface="Times New Roman"/>
              </a:rPr>
              <a:t>	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dirty="0">
                <a:latin typeface="Times New Roman"/>
                <a:cs typeface="Times New Roman"/>
              </a:rPr>
              <a:t> = y</a:t>
            </a: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Times New Roman"/>
                <a:cs typeface="Times New Roman"/>
              </a:rPr>
              <a:t>	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dirty="0">
                <a:latin typeface="Times New Roman"/>
                <a:cs typeface="Times New Roman"/>
              </a:rPr>
              <a:t> = </a:t>
            </a:r>
            <a:r>
              <a:rPr lang="en-US" sz="2000" dirty="0" err="1">
                <a:latin typeface="Times New Roman"/>
                <a:cs typeface="Times New Roman"/>
              </a:rPr>
              <a:t>y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b="0" baseline="30000" dirty="0">
                <a:latin typeface="Times New Roman"/>
                <a:cs typeface="Times New Roman"/>
              </a:rPr>
              <a:t>2</a:t>
            </a:r>
            <a:r>
              <a:rPr lang="en-US" sz="2000" dirty="0">
                <a:latin typeface="Times New Roman"/>
                <a:cs typeface="Times New Roman"/>
              </a:rPr>
              <a:t> = A</a:t>
            </a:r>
            <a:r>
              <a:rPr lang="en-US" sz="2000" b="0" baseline="30000" dirty="0">
                <a:latin typeface="Times New Roman"/>
                <a:cs typeface="Times New Roman"/>
              </a:rPr>
              <a:t>T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b="0" dirty="0">
                <a:latin typeface="Times New Roman"/>
                <a:cs typeface="Times New Roman"/>
              </a:rPr>
              <a:t> </a:t>
            </a: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6866" name="Rectangle 2"/>
          <p:cNvSpPr txBox="1">
            <a:spLocks noChangeArrowheads="1"/>
          </p:cNvSpPr>
          <p:nvPr/>
        </p:nvSpPr>
        <p:spPr bwMode="auto">
          <a:xfrm>
            <a:off x="399930" y="536651"/>
            <a:ext cx="455220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matrix</a:t>
            </a:r>
            <a:endParaRPr lang="en-US" sz="2800" i="1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95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3"/>
          <p:cNvSpPr txBox="1">
            <a:spLocks noChangeArrowheads="1"/>
          </p:cNvSpPr>
          <p:nvPr/>
        </p:nvSpPr>
        <p:spPr bwMode="auto">
          <a:xfrm>
            <a:off x="1447243" y="1381930"/>
            <a:ext cx="5440445" cy="5030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input 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 = (1, x</a:t>
            </a:r>
            <a:r>
              <a:rPr lang="en-US" sz="2000" b="0" baseline="-25000" dirty="0">
                <a:latin typeface="Times New Roman"/>
                <a:cs typeface="Times New Roman"/>
              </a:rPr>
              <a:t>1</a:t>
            </a:r>
            <a:r>
              <a:rPr lang="en-US" sz="2000" b="0" dirty="0">
                <a:latin typeface="Times New Roman"/>
                <a:cs typeface="Times New Roman"/>
              </a:rPr>
              <a:t>, x</a:t>
            </a:r>
            <a:r>
              <a:rPr lang="en-US" sz="2000" b="0" baseline="-25000" dirty="0">
                <a:latin typeface="Times New Roman"/>
                <a:cs typeface="Times New Roman"/>
              </a:rPr>
              <a:t>2</a:t>
            </a:r>
            <a:r>
              <a:rPr lang="en-US" sz="2000" b="0" dirty="0">
                <a:latin typeface="Times New Roman"/>
                <a:cs typeface="Times New Roman"/>
              </a:rPr>
              <a:t>, </a:t>
            </a:r>
            <a:r>
              <a:rPr lang="is-IS" sz="2000" b="0" dirty="0">
                <a:latin typeface="Times New Roman"/>
                <a:cs typeface="Times New Roman"/>
              </a:rPr>
              <a:t>…, x</a:t>
            </a:r>
            <a:r>
              <a:rPr lang="is-IS" sz="2000" b="0" baseline="-25000" dirty="0">
                <a:latin typeface="Times New Roman"/>
                <a:cs typeface="Times New Roman"/>
              </a:rPr>
              <a:t>d</a:t>
            </a:r>
            <a:r>
              <a:rPr lang="is-IS" sz="2000" b="0" dirty="0">
                <a:latin typeface="Times New Roman"/>
                <a:cs typeface="Times New Roman"/>
              </a:rPr>
              <a:t>)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b="0" dirty="0">
                <a:latin typeface="Times New Roman"/>
                <a:cs typeface="Times New Roman"/>
              </a:rPr>
              <a:t> --- column vector</a:t>
            </a: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is-IS" sz="2000" b="0" baseline="30000" dirty="0">
                <a:latin typeface="Times New Roman"/>
                <a:cs typeface="Times New Roman"/>
              </a:rPr>
              <a:t>		</a:t>
            </a:r>
            <a:r>
              <a:rPr lang="is-IS" sz="2000" b="0" dirty="0">
                <a:latin typeface="Times New Roman"/>
                <a:cs typeface="Times New Roman"/>
              </a:rPr>
              <a:t>	</a:t>
            </a: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is-IS" sz="2000" b="0" baseline="30000" dirty="0">
                <a:latin typeface="Times New Roman"/>
                <a:cs typeface="Times New Roman"/>
              </a:rPr>
              <a:t>		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output </a:t>
            </a:r>
            <a:r>
              <a:rPr lang="en-US" sz="2000" dirty="0">
                <a:latin typeface="Times New Roman"/>
                <a:cs typeface="Times New Roman"/>
              </a:rPr>
              <a:t>y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			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dirty="0">
                <a:latin typeface="Times New Roman"/>
                <a:cs typeface="Times New Roman"/>
              </a:rPr>
              <a:t> = y</a:t>
            </a:r>
            <a:endParaRPr lang="en-US" sz="2000" b="0" dirty="0">
              <a:latin typeface="Times New Roman"/>
              <a:cs typeface="Times New Roman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686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Analysis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2" name="Left Bracket 1">
            <a:extLst>
              <a:ext uri="{FF2B5EF4-FFF2-40B4-BE49-F238E27FC236}">
                <a16:creationId xmlns:a16="http://schemas.microsoft.com/office/drawing/2014/main" id="{802F448C-7E81-234F-850E-195BA0326738}"/>
              </a:ext>
            </a:extLst>
          </p:cNvPr>
          <p:cNvSpPr/>
          <p:nvPr/>
        </p:nvSpPr>
        <p:spPr>
          <a:xfrm>
            <a:off x="2863989" y="1930947"/>
            <a:ext cx="67001" cy="116851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Bracket 2">
            <a:extLst>
              <a:ext uri="{FF2B5EF4-FFF2-40B4-BE49-F238E27FC236}">
                <a16:creationId xmlns:a16="http://schemas.microsoft.com/office/drawing/2014/main" id="{C0E0D74E-7642-C149-A9DB-CF92869F1BF8}"/>
              </a:ext>
            </a:extLst>
          </p:cNvPr>
          <p:cNvSpPr/>
          <p:nvPr/>
        </p:nvSpPr>
        <p:spPr>
          <a:xfrm>
            <a:off x="6434221" y="1930946"/>
            <a:ext cx="45719" cy="116851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B0CE618D-D078-DA44-848A-3147700DC7ED}"/>
              </a:ext>
            </a:extLst>
          </p:cNvPr>
          <p:cNvSpPr/>
          <p:nvPr/>
        </p:nvSpPr>
        <p:spPr>
          <a:xfrm>
            <a:off x="2865531" y="3754157"/>
            <a:ext cx="45719" cy="27409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5651791B-3644-A544-983F-3FB2A0340217}"/>
              </a:ext>
            </a:extLst>
          </p:cNvPr>
          <p:cNvSpPr/>
          <p:nvPr/>
        </p:nvSpPr>
        <p:spPr>
          <a:xfrm>
            <a:off x="6435057" y="3791256"/>
            <a:ext cx="45719" cy="278538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0CA70-C302-7F49-B762-2C5D9D7D7197}"/>
              </a:ext>
            </a:extLst>
          </p:cNvPr>
          <p:cNvSpPr txBox="1"/>
          <p:nvPr/>
        </p:nvSpPr>
        <p:spPr>
          <a:xfrm>
            <a:off x="2863989" y="4835795"/>
            <a:ext cx="5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w</a:t>
            </a:r>
            <a:r>
              <a:rPr lang="en-US" sz="2400" baseline="30000" dirty="0" err="1"/>
              <a:t>T</a:t>
            </a:r>
            <a:endParaRPr lang="en-US" sz="2400" baseline="30000" dirty="0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30BE788D-6549-AF49-9585-28D18D06FCF1}"/>
              </a:ext>
            </a:extLst>
          </p:cNvPr>
          <p:cNvSpPr/>
          <p:nvPr/>
        </p:nvSpPr>
        <p:spPr>
          <a:xfrm>
            <a:off x="3667296" y="4954767"/>
            <a:ext cx="73152" cy="9144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CE2F0BCC-86FB-964D-A224-3CB84E7D3B87}"/>
              </a:ext>
            </a:extLst>
          </p:cNvPr>
          <p:cNvSpPr/>
          <p:nvPr/>
        </p:nvSpPr>
        <p:spPr>
          <a:xfrm>
            <a:off x="6479940" y="4947655"/>
            <a:ext cx="73152" cy="9144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D714EB97-C4F1-4A42-A7E2-4C1CC25FBB17}"/>
              </a:ext>
            </a:extLst>
          </p:cNvPr>
          <p:cNvSpPr/>
          <p:nvPr/>
        </p:nvSpPr>
        <p:spPr>
          <a:xfrm>
            <a:off x="3516883" y="4947655"/>
            <a:ext cx="73439" cy="237943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731357E3-A5CC-E744-BC54-848C49129EC8}"/>
              </a:ext>
            </a:extLst>
          </p:cNvPr>
          <p:cNvSpPr/>
          <p:nvPr/>
        </p:nvSpPr>
        <p:spPr>
          <a:xfrm>
            <a:off x="2756924" y="4926201"/>
            <a:ext cx="45719" cy="27409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4832C0-1FD4-554C-980A-D5706166F48B}"/>
              </a:ext>
            </a:extLst>
          </p:cNvPr>
          <p:cNvSpPr txBox="1"/>
          <p:nvPr/>
        </p:nvSpPr>
        <p:spPr>
          <a:xfrm>
            <a:off x="4781009" y="5063248"/>
            <a:ext cx="5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61947-9CC9-784F-BAEE-E9878374A0B6}"/>
              </a:ext>
            </a:extLst>
          </p:cNvPr>
          <p:cNvSpPr txBox="1"/>
          <p:nvPr/>
        </p:nvSpPr>
        <p:spPr>
          <a:xfrm>
            <a:off x="2930990" y="1930947"/>
            <a:ext cx="1973085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1	1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x11	x21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x12	x22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x1d	x2d</a:t>
            </a:r>
          </a:p>
        </p:txBody>
      </p:sp>
    </p:spTree>
    <p:extLst>
      <p:ext uri="{BB962C8B-B14F-4D97-AF65-F5344CB8AC3E}">
        <p14:creationId xmlns:p14="http://schemas.microsoft.com/office/powerpoint/2010/main" val="3255394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3"/>
          <p:cNvSpPr txBox="1">
            <a:spLocks noChangeArrowheads="1"/>
          </p:cNvSpPr>
          <p:nvPr/>
        </p:nvSpPr>
        <p:spPr bwMode="auto">
          <a:xfrm>
            <a:off x="166138" y="1078708"/>
            <a:ext cx="4768732" cy="5626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input 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 = (1, x</a:t>
            </a:r>
            <a:r>
              <a:rPr lang="en-US" sz="2000" b="0" baseline="-25000" dirty="0">
                <a:latin typeface="Times New Roman"/>
                <a:cs typeface="Times New Roman"/>
              </a:rPr>
              <a:t>1</a:t>
            </a:r>
            <a:r>
              <a:rPr lang="en-US" sz="2000" b="0" dirty="0">
                <a:latin typeface="Times New Roman"/>
                <a:cs typeface="Times New Roman"/>
              </a:rPr>
              <a:t>, x</a:t>
            </a:r>
            <a:r>
              <a:rPr lang="en-US" sz="2000" b="0" baseline="-25000" dirty="0">
                <a:latin typeface="Times New Roman"/>
                <a:cs typeface="Times New Roman"/>
              </a:rPr>
              <a:t>2</a:t>
            </a:r>
            <a:r>
              <a:rPr lang="en-US" sz="2000" b="0" dirty="0">
                <a:latin typeface="Times New Roman"/>
                <a:cs typeface="Times New Roman"/>
              </a:rPr>
              <a:t>, </a:t>
            </a:r>
            <a:r>
              <a:rPr lang="is-IS" sz="2000" b="0" dirty="0">
                <a:latin typeface="Times New Roman"/>
                <a:cs typeface="Times New Roman"/>
              </a:rPr>
              <a:t>…, x</a:t>
            </a:r>
            <a:r>
              <a:rPr lang="is-IS" sz="2000" b="0" baseline="-25000" dirty="0">
                <a:latin typeface="Times New Roman"/>
                <a:cs typeface="Times New Roman"/>
              </a:rPr>
              <a:t>d</a:t>
            </a:r>
            <a:r>
              <a:rPr lang="is-IS" sz="2000" b="0" dirty="0">
                <a:latin typeface="Times New Roman"/>
                <a:cs typeface="Times New Roman"/>
              </a:rPr>
              <a:t>)</a:t>
            </a:r>
            <a:r>
              <a:rPr lang="is-IS" sz="2000" b="0" baseline="30000" dirty="0">
                <a:latin typeface="Times New Roman"/>
                <a:cs typeface="Times New Roman"/>
              </a:rPr>
              <a:t> </a:t>
            </a:r>
            <a:r>
              <a:rPr lang="is-IS" sz="2000" b="0" dirty="0">
                <a:latin typeface="Times New Roman"/>
                <a:cs typeface="Times New Roman"/>
              </a:rPr>
              <a:t> -- row vector</a:t>
            </a: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is-IS" sz="2000" b="0" baseline="30000" dirty="0">
                <a:latin typeface="Times New Roman"/>
                <a:cs typeface="Times New Roman"/>
              </a:rPr>
              <a:t>		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output </a:t>
            </a:r>
            <a:r>
              <a:rPr lang="en-US" sz="2000" dirty="0" err="1">
                <a:latin typeface="Times New Roman"/>
                <a:cs typeface="Times New Roman"/>
              </a:rPr>
              <a:t>y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endParaRPr lang="en-U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endParaRPr lang="en-US" sz="200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dirty="0">
                <a:latin typeface="Times New Roman"/>
                <a:cs typeface="Times New Roman"/>
              </a:rPr>
              <a:t> = </a:t>
            </a:r>
            <a:r>
              <a:rPr lang="en-US" sz="2000" dirty="0" err="1">
                <a:latin typeface="Times New Roman"/>
                <a:cs typeface="Times New Roman"/>
              </a:rPr>
              <a:t>y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686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455220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Data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2" name="Left Bracket 1">
            <a:extLst>
              <a:ext uri="{FF2B5EF4-FFF2-40B4-BE49-F238E27FC236}">
                <a16:creationId xmlns:a16="http://schemas.microsoft.com/office/drawing/2014/main" id="{802F448C-7E81-234F-850E-195BA0326738}"/>
              </a:ext>
            </a:extLst>
          </p:cNvPr>
          <p:cNvSpPr/>
          <p:nvPr/>
        </p:nvSpPr>
        <p:spPr>
          <a:xfrm rot="5400000">
            <a:off x="2638117" y="1347588"/>
            <a:ext cx="73152" cy="9144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Bracket 2">
            <a:extLst>
              <a:ext uri="{FF2B5EF4-FFF2-40B4-BE49-F238E27FC236}">
                <a16:creationId xmlns:a16="http://schemas.microsoft.com/office/drawing/2014/main" id="{C0E0D74E-7642-C149-A9DB-CF92869F1BF8}"/>
              </a:ext>
            </a:extLst>
          </p:cNvPr>
          <p:cNvSpPr/>
          <p:nvPr/>
        </p:nvSpPr>
        <p:spPr>
          <a:xfrm rot="5400000">
            <a:off x="2652158" y="2812424"/>
            <a:ext cx="73152" cy="9144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B0CE618D-D078-DA44-848A-3147700DC7ED}"/>
              </a:ext>
            </a:extLst>
          </p:cNvPr>
          <p:cNvSpPr/>
          <p:nvPr/>
        </p:nvSpPr>
        <p:spPr>
          <a:xfrm rot="5400000">
            <a:off x="2401376" y="3333244"/>
            <a:ext cx="45719" cy="27409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5651791B-3644-A544-983F-3FB2A0340217}"/>
              </a:ext>
            </a:extLst>
          </p:cNvPr>
          <p:cNvSpPr/>
          <p:nvPr/>
        </p:nvSpPr>
        <p:spPr>
          <a:xfrm rot="5400000">
            <a:off x="2403598" y="4383644"/>
            <a:ext cx="45719" cy="278538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0CA70-C302-7F49-B762-2C5D9D7D7197}"/>
              </a:ext>
            </a:extLst>
          </p:cNvPr>
          <p:cNvSpPr txBox="1"/>
          <p:nvPr/>
        </p:nvSpPr>
        <p:spPr>
          <a:xfrm>
            <a:off x="3201588" y="4840136"/>
            <a:ext cx="5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</a:t>
            </a:r>
            <a:endParaRPr lang="en-US" sz="2400" baseline="30000" dirty="0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30BE788D-6549-AF49-9585-28D18D06FCF1}"/>
              </a:ext>
            </a:extLst>
          </p:cNvPr>
          <p:cNvSpPr/>
          <p:nvPr/>
        </p:nvSpPr>
        <p:spPr>
          <a:xfrm rot="5400000">
            <a:off x="2707812" y="4461249"/>
            <a:ext cx="73152" cy="9144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CE2F0BCC-86FB-964D-A224-3CB84E7D3B87}"/>
              </a:ext>
            </a:extLst>
          </p:cNvPr>
          <p:cNvSpPr/>
          <p:nvPr/>
        </p:nvSpPr>
        <p:spPr>
          <a:xfrm rot="5400000">
            <a:off x="2748418" y="5768368"/>
            <a:ext cx="73152" cy="9144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D714EB97-C4F1-4A42-A7E2-4C1CC25FBB17}"/>
              </a:ext>
            </a:extLst>
          </p:cNvPr>
          <p:cNvSpPr/>
          <p:nvPr/>
        </p:nvSpPr>
        <p:spPr>
          <a:xfrm rot="5400000">
            <a:off x="3355847" y="5224566"/>
            <a:ext cx="73439" cy="237943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731357E3-A5CC-E744-BC54-848C49129EC8}"/>
              </a:ext>
            </a:extLst>
          </p:cNvPr>
          <p:cNvSpPr/>
          <p:nvPr/>
        </p:nvSpPr>
        <p:spPr>
          <a:xfrm rot="5400000">
            <a:off x="3369708" y="4767686"/>
            <a:ext cx="45719" cy="27409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4832C0-1FD4-554C-980A-D5706166F48B}"/>
              </a:ext>
            </a:extLst>
          </p:cNvPr>
          <p:cNvSpPr txBox="1"/>
          <p:nvPr/>
        </p:nvSpPr>
        <p:spPr>
          <a:xfrm>
            <a:off x="2561282" y="5249093"/>
            <a:ext cx="5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x</a:t>
            </a:r>
            <a:r>
              <a:rPr lang="en-US" sz="2400" b="1" baseline="30000" dirty="0" err="1"/>
              <a:t>T</a:t>
            </a:r>
            <a:endParaRPr lang="en-US" sz="2400" baseline="30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F66B6E-FF87-2440-A6D5-200F21D709F5}"/>
              </a:ext>
            </a:extLst>
          </p:cNvPr>
          <p:cNvSpPr txBox="1"/>
          <p:nvPr/>
        </p:nvSpPr>
        <p:spPr>
          <a:xfrm>
            <a:off x="1168991" y="1618536"/>
            <a:ext cx="5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/>
                <a:cs typeface="Times New Roman"/>
              </a:rPr>
              <a:t>x</a:t>
            </a:r>
            <a:r>
              <a:rPr lang="en-US" sz="2400" baseline="30000" dirty="0" err="1">
                <a:latin typeface="Times New Roman"/>
                <a:cs typeface="Times New Roman"/>
              </a:rPr>
              <a:t>T</a:t>
            </a:r>
            <a:endParaRPr lang="en-US" sz="2400" dirty="0"/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A59F23C3-8858-4547-9F64-1BA56300A698}"/>
              </a:ext>
            </a:extLst>
          </p:cNvPr>
          <p:cNvSpPr/>
          <p:nvPr/>
        </p:nvSpPr>
        <p:spPr>
          <a:xfrm rot="5400000">
            <a:off x="4560388" y="4790545"/>
            <a:ext cx="45719" cy="27409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ket 19">
            <a:extLst>
              <a:ext uri="{FF2B5EF4-FFF2-40B4-BE49-F238E27FC236}">
                <a16:creationId xmlns:a16="http://schemas.microsoft.com/office/drawing/2014/main" id="{D7221C6A-BD48-4740-A519-B103DC99A709}"/>
              </a:ext>
            </a:extLst>
          </p:cNvPr>
          <p:cNvSpPr/>
          <p:nvPr/>
        </p:nvSpPr>
        <p:spPr>
          <a:xfrm rot="5400000">
            <a:off x="4562610" y="6086272"/>
            <a:ext cx="45719" cy="278538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0540F0-4793-0E45-A6A3-6421111696B9}"/>
              </a:ext>
            </a:extLst>
          </p:cNvPr>
          <p:cNvSpPr txBox="1"/>
          <p:nvPr/>
        </p:nvSpPr>
        <p:spPr>
          <a:xfrm>
            <a:off x="3841894" y="4766884"/>
            <a:ext cx="5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</a:t>
            </a: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AF024C-EB50-D041-99A6-B7BD6F81148A}"/>
              </a:ext>
            </a:extLst>
          </p:cNvPr>
          <p:cNvSpPr txBox="1"/>
          <p:nvPr/>
        </p:nvSpPr>
        <p:spPr>
          <a:xfrm>
            <a:off x="4509584" y="5307207"/>
            <a:ext cx="5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</a:t>
            </a:r>
            <a:endParaRPr lang="en-US" sz="2400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719E41D3-B3D3-F544-A406-D5943784E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847" y="1097158"/>
            <a:ext cx="3572354" cy="5375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input 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 = (1, x</a:t>
            </a:r>
            <a:r>
              <a:rPr lang="en-US" sz="2000" b="0" baseline="-25000" dirty="0">
                <a:latin typeface="Times New Roman"/>
                <a:cs typeface="Times New Roman"/>
              </a:rPr>
              <a:t>1</a:t>
            </a:r>
            <a:r>
              <a:rPr lang="en-US" sz="2000" b="0" dirty="0">
                <a:latin typeface="Times New Roman"/>
                <a:cs typeface="Times New Roman"/>
              </a:rPr>
              <a:t>, x</a:t>
            </a:r>
            <a:r>
              <a:rPr lang="en-US" sz="2000" b="0" baseline="-25000" dirty="0">
                <a:latin typeface="Times New Roman"/>
                <a:cs typeface="Times New Roman"/>
              </a:rPr>
              <a:t>2</a:t>
            </a:r>
            <a:r>
              <a:rPr lang="en-US" sz="2000" b="0" dirty="0">
                <a:latin typeface="Times New Roman"/>
                <a:cs typeface="Times New Roman"/>
              </a:rPr>
              <a:t>, </a:t>
            </a:r>
            <a:r>
              <a:rPr lang="is-IS" sz="2000" b="0" dirty="0">
                <a:latin typeface="Times New Roman"/>
                <a:cs typeface="Times New Roman"/>
              </a:rPr>
              <a:t>…, x</a:t>
            </a:r>
            <a:r>
              <a:rPr lang="is-IS" sz="2000" b="0" baseline="-25000" dirty="0">
                <a:latin typeface="Times New Roman"/>
                <a:cs typeface="Times New Roman"/>
              </a:rPr>
              <a:t>d</a:t>
            </a:r>
            <a:r>
              <a:rPr lang="is-IS" sz="2000" b="0" dirty="0">
                <a:latin typeface="Times New Roman"/>
                <a:cs typeface="Times New Roman"/>
              </a:rPr>
              <a:t>)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b="0" dirty="0">
                <a:latin typeface="Times New Roman"/>
                <a:cs typeface="Times New Roman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		-- column vector</a:t>
            </a: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is-IS" sz="2000" b="0" baseline="30000" dirty="0">
                <a:latin typeface="Times New Roman"/>
                <a:cs typeface="Times New Roman"/>
              </a:rPr>
              <a:t>		</a:t>
            </a:r>
            <a:r>
              <a:rPr lang="is-IS" sz="2000" b="0" dirty="0">
                <a:latin typeface="Times New Roman"/>
                <a:cs typeface="Times New Roman"/>
              </a:rPr>
              <a:t>	</a:t>
            </a: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is-IS" sz="2000" b="0" baseline="30000" dirty="0">
                <a:latin typeface="Times New Roman"/>
                <a:cs typeface="Times New Roman"/>
              </a:rPr>
              <a:t>		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is-I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baseline="30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output y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endParaRPr lang="en-US" sz="200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dirty="0">
                <a:latin typeface="Times New Roman"/>
                <a:cs typeface="Times New Roman"/>
              </a:rPr>
              <a:t> = y</a:t>
            </a:r>
            <a:endParaRPr lang="en-US" sz="20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77055DFD-7469-224E-8521-79BFFFC0B3A1}"/>
              </a:ext>
            </a:extLst>
          </p:cNvPr>
          <p:cNvSpPr/>
          <p:nvPr/>
        </p:nvSpPr>
        <p:spPr>
          <a:xfrm>
            <a:off x="5403678" y="1806317"/>
            <a:ext cx="67001" cy="116851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ket 36">
            <a:extLst>
              <a:ext uri="{FF2B5EF4-FFF2-40B4-BE49-F238E27FC236}">
                <a16:creationId xmlns:a16="http://schemas.microsoft.com/office/drawing/2014/main" id="{459BB036-69BB-C54B-93D3-813DF45935D0}"/>
              </a:ext>
            </a:extLst>
          </p:cNvPr>
          <p:cNvSpPr/>
          <p:nvPr/>
        </p:nvSpPr>
        <p:spPr>
          <a:xfrm>
            <a:off x="7398045" y="1771621"/>
            <a:ext cx="45719" cy="116851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FEA9BAA7-3F3C-C64A-B763-2105531C3833}"/>
              </a:ext>
            </a:extLst>
          </p:cNvPr>
          <p:cNvSpPr/>
          <p:nvPr/>
        </p:nvSpPr>
        <p:spPr>
          <a:xfrm>
            <a:off x="5405220" y="3629527"/>
            <a:ext cx="45719" cy="27409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ket 38">
            <a:extLst>
              <a:ext uri="{FF2B5EF4-FFF2-40B4-BE49-F238E27FC236}">
                <a16:creationId xmlns:a16="http://schemas.microsoft.com/office/drawing/2014/main" id="{D712C5EC-30EB-9B43-A5B0-B4D200A82991}"/>
              </a:ext>
            </a:extLst>
          </p:cNvPr>
          <p:cNvSpPr/>
          <p:nvPr/>
        </p:nvSpPr>
        <p:spPr>
          <a:xfrm>
            <a:off x="7398045" y="3548191"/>
            <a:ext cx="45719" cy="278538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06C8A4-52CF-2C4F-8B32-97C753AC9908}"/>
              </a:ext>
            </a:extLst>
          </p:cNvPr>
          <p:cNvSpPr txBox="1"/>
          <p:nvPr/>
        </p:nvSpPr>
        <p:spPr>
          <a:xfrm>
            <a:off x="5403678" y="4711165"/>
            <a:ext cx="5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w</a:t>
            </a:r>
            <a:r>
              <a:rPr lang="en-US" sz="2400" baseline="30000" dirty="0" err="1"/>
              <a:t>T</a:t>
            </a:r>
            <a:endParaRPr lang="en-US" sz="2400" baseline="30000" dirty="0"/>
          </a:p>
        </p:txBody>
      </p:sp>
      <p:sp>
        <p:nvSpPr>
          <p:cNvPr id="41" name="Left Bracket 40">
            <a:extLst>
              <a:ext uri="{FF2B5EF4-FFF2-40B4-BE49-F238E27FC236}">
                <a16:creationId xmlns:a16="http://schemas.microsoft.com/office/drawing/2014/main" id="{68381E08-5BE4-9D40-BC24-CEA124EC26EA}"/>
              </a:ext>
            </a:extLst>
          </p:cNvPr>
          <p:cNvSpPr/>
          <p:nvPr/>
        </p:nvSpPr>
        <p:spPr>
          <a:xfrm>
            <a:off x="6206985" y="4830137"/>
            <a:ext cx="73152" cy="9144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ket 41">
            <a:extLst>
              <a:ext uri="{FF2B5EF4-FFF2-40B4-BE49-F238E27FC236}">
                <a16:creationId xmlns:a16="http://schemas.microsoft.com/office/drawing/2014/main" id="{AFB89DD6-F774-8E43-A3C5-7B2544D7BAE6}"/>
              </a:ext>
            </a:extLst>
          </p:cNvPr>
          <p:cNvSpPr/>
          <p:nvPr/>
        </p:nvSpPr>
        <p:spPr>
          <a:xfrm>
            <a:off x="7950464" y="4803214"/>
            <a:ext cx="73152" cy="9144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ket 42">
            <a:extLst>
              <a:ext uri="{FF2B5EF4-FFF2-40B4-BE49-F238E27FC236}">
                <a16:creationId xmlns:a16="http://schemas.microsoft.com/office/drawing/2014/main" id="{7A71451D-FD6F-9840-AC71-D6CB2CB49171}"/>
              </a:ext>
            </a:extLst>
          </p:cNvPr>
          <p:cNvSpPr/>
          <p:nvPr/>
        </p:nvSpPr>
        <p:spPr>
          <a:xfrm>
            <a:off x="6056572" y="4823025"/>
            <a:ext cx="73439" cy="237943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eft Bracket 43">
            <a:extLst>
              <a:ext uri="{FF2B5EF4-FFF2-40B4-BE49-F238E27FC236}">
                <a16:creationId xmlns:a16="http://schemas.microsoft.com/office/drawing/2014/main" id="{6A7568B4-C0EC-014E-ADA8-032BB7982DF5}"/>
              </a:ext>
            </a:extLst>
          </p:cNvPr>
          <p:cNvSpPr/>
          <p:nvPr/>
        </p:nvSpPr>
        <p:spPr>
          <a:xfrm>
            <a:off x="5296613" y="4801571"/>
            <a:ext cx="45719" cy="27409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A8CEE9-6CEB-024F-B53D-875593CBC22C}"/>
              </a:ext>
            </a:extLst>
          </p:cNvPr>
          <p:cNvSpPr txBox="1"/>
          <p:nvPr/>
        </p:nvSpPr>
        <p:spPr>
          <a:xfrm>
            <a:off x="6856456" y="4950480"/>
            <a:ext cx="51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US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50728B-64D5-F645-BD7D-B08F947EA70F}"/>
              </a:ext>
            </a:extLst>
          </p:cNvPr>
          <p:cNvSpPr txBox="1"/>
          <p:nvPr/>
        </p:nvSpPr>
        <p:spPr>
          <a:xfrm>
            <a:off x="5470679" y="1806317"/>
            <a:ext cx="1973085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1	1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x11	x21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x12	x22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is-IS" baseline="30000" dirty="0">
                <a:latin typeface="Times New Roman"/>
                <a:cs typeface="Times New Roman"/>
              </a:rPr>
              <a:t>x1d	x2d</a:t>
            </a:r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89DA198E-86DE-3D40-AF52-3BEA5E464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846" y="449755"/>
            <a:ext cx="240592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Analysis</a:t>
            </a:r>
            <a:endParaRPr lang="en-US" sz="2800" i="1" dirty="0">
              <a:latin typeface="Franklin Gothic Book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6D577E-3437-4E46-9116-03B613D7B77A}"/>
              </a:ext>
            </a:extLst>
          </p:cNvPr>
          <p:cNvCxnSpPr/>
          <p:nvPr/>
        </p:nvCxnSpPr>
        <p:spPr>
          <a:xfrm>
            <a:off x="5017055" y="302227"/>
            <a:ext cx="85965" cy="62595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370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 txBox="1">
            <a:spLocks noChangeArrowheads="1"/>
          </p:cNvSpPr>
          <p:nvPr/>
        </p:nvSpPr>
        <p:spPr bwMode="auto">
          <a:xfrm>
            <a:off x="304800" y="397966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Python/</a:t>
            </a:r>
            <a:r>
              <a:rPr lang="en-US" sz="2800" dirty="0" err="1">
                <a:latin typeface="Franklin Gothic Book" charset="0"/>
              </a:rPr>
              <a:t>numpy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9FE8381-2606-5A4F-A051-DD2B04EA3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261" y="1045666"/>
            <a:ext cx="7323539" cy="4801314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/>
            <a:r>
              <a:rPr lang="en-US" sz="1800" dirty="0">
                <a:latin typeface="+mn-lt"/>
              </a:rPr>
              <a:t>zip</a:t>
            </a:r>
          </a:p>
          <a:p>
            <a:pPr lvl="1"/>
            <a:r>
              <a:rPr lang="en-US" sz="1800" b="0" dirty="0">
                <a:latin typeface="+mn-lt"/>
              </a:rPr>
              <a:t>x=[[1,2],[3,4]]</a:t>
            </a:r>
          </a:p>
          <a:p>
            <a:pPr lvl="1"/>
            <a:r>
              <a:rPr lang="en-US" sz="1800" b="0" dirty="0">
                <a:latin typeface="+mn-lt"/>
              </a:rPr>
              <a:t>y=[5,6]</a:t>
            </a:r>
          </a:p>
          <a:p>
            <a:pPr lvl="1"/>
            <a:r>
              <a:rPr lang="en-US" sz="1800" b="0" dirty="0" err="1">
                <a:latin typeface="+mn-lt"/>
              </a:rPr>
              <a:t>a,b</a:t>
            </a:r>
            <a:r>
              <a:rPr lang="en-US" sz="1800" b="0" dirty="0">
                <a:latin typeface="+mn-lt"/>
              </a:rPr>
              <a:t> = zip(</a:t>
            </a:r>
            <a:r>
              <a:rPr lang="en-US" sz="1800" b="0" dirty="0" err="1">
                <a:latin typeface="+mn-lt"/>
              </a:rPr>
              <a:t>x,y</a:t>
            </a:r>
            <a:r>
              <a:rPr lang="en-US" sz="1800" b="0" dirty="0">
                <a:latin typeface="+mn-lt"/>
              </a:rPr>
              <a:t>)</a:t>
            </a:r>
          </a:p>
          <a:p>
            <a:pPr marL="0" indent="0"/>
            <a:endParaRPr lang="en-US" sz="1800" b="0" dirty="0">
              <a:latin typeface="+mn-lt"/>
            </a:endParaRPr>
          </a:p>
          <a:p>
            <a:pPr marL="0" indent="0"/>
            <a:r>
              <a:rPr lang="en-US" sz="1800" dirty="0">
                <a:latin typeface="+mn-lt"/>
              </a:rPr>
              <a:t>where</a:t>
            </a:r>
          </a:p>
          <a:p>
            <a:pPr marL="400050" lvl="1" indent="0"/>
            <a:r>
              <a:rPr lang="en-US" sz="1800" b="0" dirty="0">
                <a:latin typeface="+mn-lt"/>
              </a:rPr>
              <a:t>a = array([0, 1, 2, 3, 4, 5, 6, 7, 8, 9])</a:t>
            </a:r>
          </a:p>
          <a:p>
            <a:pPr marL="400050" lvl="1" indent="0"/>
            <a:r>
              <a:rPr lang="en-US" sz="1800" b="0" dirty="0" err="1">
                <a:latin typeface="+mn-lt"/>
              </a:rPr>
              <a:t>np.where</a:t>
            </a:r>
            <a:r>
              <a:rPr lang="en-US" sz="1800" b="0" dirty="0">
                <a:latin typeface="+mn-lt"/>
              </a:rPr>
              <a:t>(a &lt; 5, a, 10*a) =&gt; array([ 0, 1, 2, 3, 4, 50, 60, 70, 80, 90])</a:t>
            </a:r>
          </a:p>
          <a:p>
            <a:pPr marL="400050" lvl="1" indent="0"/>
            <a:endParaRPr lang="en-US" sz="1800" b="0" dirty="0">
              <a:latin typeface="+mn-lt"/>
            </a:endParaRPr>
          </a:p>
          <a:p>
            <a:r>
              <a:rPr lang="en-US" sz="1800" dirty="0" err="1">
                <a:latin typeface="+mn-lt"/>
              </a:rPr>
              <a:t>np.ravel</a:t>
            </a:r>
            <a:endParaRPr lang="en-US" sz="1800" dirty="0">
              <a:latin typeface="+mn-lt"/>
            </a:endParaRPr>
          </a:p>
          <a:p>
            <a:pPr lvl="1"/>
            <a:r>
              <a:rPr lang="en-US" sz="1800" b="0" dirty="0">
                <a:latin typeface="+mn-lt"/>
              </a:rPr>
              <a:t>x = </a:t>
            </a:r>
            <a:r>
              <a:rPr lang="en-US" sz="1800" b="0" dirty="0" err="1">
                <a:latin typeface="+mn-lt"/>
              </a:rPr>
              <a:t>np.array</a:t>
            </a:r>
            <a:r>
              <a:rPr lang="en-US" sz="1800" b="0" dirty="0">
                <a:latin typeface="+mn-lt"/>
              </a:rPr>
              <a:t>([[1, 2, 3], [4, 5, 6]])</a:t>
            </a:r>
          </a:p>
          <a:p>
            <a:pPr lvl="1"/>
            <a:r>
              <a:rPr lang="en-US" sz="1800" b="0" dirty="0" err="1">
                <a:latin typeface="+mn-lt"/>
              </a:rPr>
              <a:t>np.ravel</a:t>
            </a:r>
            <a:r>
              <a:rPr lang="en-US" sz="1800" b="0" dirty="0">
                <a:latin typeface="+mn-lt"/>
              </a:rPr>
              <a:t>(x)  =&gt; array([1, 2, 3, 4, 5, 6]) </a:t>
            </a:r>
          </a:p>
          <a:p>
            <a:pPr lvl="1"/>
            <a:endParaRPr lang="en-US" sz="1800" b="0" dirty="0">
              <a:latin typeface="+mn-lt"/>
            </a:endParaRPr>
          </a:p>
          <a:p>
            <a:pPr lvl="1"/>
            <a:r>
              <a:rPr lang="en-US" sz="1800" b="0" dirty="0">
                <a:latin typeface="+mn-lt"/>
                <a:hlinkClick r:id="rId2" tooltip="numpy.ndarray.flat"/>
              </a:rPr>
              <a:t>X.flat</a:t>
            </a:r>
            <a:r>
              <a:rPr lang="en-US" sz="1800" b="0" dirty="0">
                <a:latin typeface="+mn-lt"/>
              </a:rPr>
              <a:t>: 	1-D iterator over an array.</a:t>
            </a:r>
          </a:p>
          <a:p>
            <a:pPr lvl="1"/>
            <a:r>
              <a:rPr lang="en-US" sz="1800" b="0" dirty="0">
                <a:latin typeface="+mn-lt"/>
                <a:hlinkClick r:id="rId3" tooltip="numpy.ndarray.flatten"/>
              </a:rPr>
              <a:t>X.flatten</a:t>
            </a:r>
            <a:r>
              <a:rPr lang="en-US" sz="1800" b="0" dirty="0">
                <a:latin typeface="+mn-lt"/>
              </a:rPr>
              <a:t>:1-D array copy of the elements of an array in row-major order.</a:t>
            </a:r>
          </a:p>
          <a:p>
            <a:pPr lvl="1"/>
            <a:r>
              <a:rPr lang="en-US" sz="1800" b="0" dirty="0" err="1">
                <a:latin typeface="+mn-lt"/>
                <a:hlinkClick r:id="rId4" tooltip="numpy.ndarray.reshape"/>
              </a:rPr>
              <a:t>X.reshape</a:t>
            </a:r>
            <a:r>
              <a:rPr lang="en-US" sz="1800" b="0" dirty="0" err="1">
                <a:latin typeface="+mn-lt"/>
              </a:rPr>
              <a:t>:Change</a:t>
            </a:r>
            <a:r>
              <a:rPr lang="en-US" sz="1800" b="0" dirty="0">
                <a:latin typeface="+mn-lt"/>
              </a:rPr>
              <a:t> the shape of an array without changing its data.</a:t>
            </a:r>
          </a:p>
          <a:p>
            <a:pPr marL="400050" lvl="1" indent="0"/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1523997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Perceptron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9FE8381-2606-5A4F-A051-DD2B04EA3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77" y="3481190"/>
            <a:ext cx="5029200" cy="1477328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/>
            <a:r>
              <a:rPr lang="en-US" sz="1800" b="0" dirty="0"/>
              <a:t>   def </a:t>
            </a:r>
            <a:r>
              <a:rPr lang="en-US" sz="1800" b="0" dirty="0" err="1"/>
              <a:t>net_input</a:t>
            </a:r>
            <a:r>
              <a:rPr lang="en-US" sz="1800" b="0" dirty="0"/>
              <a:t>(self, X):</a:t>
            </a:r>
          </a:p>
          <a:p>
            <a:pPr marL="0" indent="0"/>
            <a:r>
              <a:rPr lang="en-US" sz="1800" b="0" dirty="0"/>
              <a:t>      return </a:t>
            </a:r>
            <a:r>
              <a:rPr lang="en-US" sz="1800" b="0" dirty="0" err="1"/>
              <a:t>np.dot</a:t>
            </a:r>
            <a:r>
              <a:rPr lang="en-US" sz="1800" b="0" dirty="0"/>
              <a:t>(X, </a:t>
            </a:r>
            <a:r>
              <a:rPr lang="en-US" sz="1800" b="0" dirty="0" err="1"/>
              <a:t>self.w</a:t>
            </a:r>
            <a:r>
              <a:rPr lang="en-US" sz="1800" b="0" dirty="0"/>
              <a:t>_[1:]) + </a:t>
            </a:r>
            <a:r>
              <a:rPr lang="en-US" sz="1800" b="0" dirty="0" err="1"/>
              <a:t>self.w</a:t>
            </a:r>
            <a:r>
              <a:rPr lang="en-US" sz="1800" b="0" dirty="0"/>
              <a:t>_[0]</a:t>
            </a:r>
          </a:p>
          <a:p>
            <a:pPr marL="0" indent="0"/>
            <a:endParaRPr lang="en-US" sz="1800" b="0" dirty="0"/>
          </a:p>
          <a:p>
            <a:pPr marL="0" indent="0"/>
            <a:r>
              <a:rPr lang="en-US" sz="1800" b="0" dirty="0"/>
              <a:t>   def predict(self, X):</a:t>
            </a:r>
          </a:p>
          <a:p>
            <a:pPr marL="0" indent="0"/>
            <a:r>
              <a:rPr lang="en-US" sz="1800" b="0" dirty="0"/>
              <a:t>      return </a:t>
            </a:r>
            <a:r>
              <a:rPr lang="en-US" sz="1800" b="0" dirty="0" err="1"/>
              <a:t>np.where</a:t>
            </a:r>
            <a:r>
              <a:rPr lang="en-US" sz="1800" b="0" dirty="0"/>
              <a:t>(</a:t>
            </a:r>
            <a:r>
              <a:rPr lang="en-US" sz="1800" b="0" dirty="0" err="1"/>
              <a:t>self.net_input</a:t>
            </a:r>
            <a:r>
              <a:rPr lang="en-US" sz="1800" b="0" dirty="0"/>
              <a:t>(X) &gt;= 0.0, 1, -1)</a:t>
            </a:r>
            <a:endParaRPr lang="en-US" sz="2000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AB261-5BFB-7740-B1BD-D61D5BA7A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77" y="1676400"/>
            <a:ext cx="5029200" cy="1384995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/>
            <a:r>
              <a:rPr lang="en-US" sz="1800" dirty="0" err="1">
                <a:latin typeface="Times New Roman"/>
                <a:cs typeface="Times New Roman"/>
              </a:rPr>
              <a:t>x</a:t>
            </a:r>
            <a:r>
              <a:rPr lang="en-US" sz="1800" b="0" baseline="30000" dirty="0" err="1">
                <a:latin typeface="Times New Roman"/>
                <a:cs typeface="Times New Roman"/>
              </a:rPr>
              <a:t>T</a:t>
            </a:r>
            <a:r>
              <a:rPr lang="en-US" sz="1800" dirty="0" err="1">
                <a:latin typeface="Times New Roman"/>
                <a:cs typeface="Times New Roman"/>
              </a:rPr>
              <a:t>w</a:t>
            </a:r>
            <a:r>
              <a:rPr lang="en-US" sz="1800" dirty="0">
                <a:latin typeface="Times New Roman"/>
                <a:cs typeface="Times New Roman"/>
              </a:rPr>
              <a:t> = </a:t>
            </a:r>
            <a:r>
              <a:rPr lang="en-US" sz="1800" dirty="0" err="1">
                <a:latin typeface="Times New Roman"/>
                <a:cs typeface="Times New Roman"/>
              </a:rPr>
              <a:t>y</a:t>
            </a:r>
            <a:r>
              <a:rPr lang="en-US" sz="1800" b="0" baseline="30000" dirty="0" err="1">
                <a:latin typeface="Times New Roman"/>
                <a:cs typeface="Times New Roman"/>
              </a:rPr>
              <a:t>T</a:t>
            </a:r>
            <a:endParaRPr lang="en-US" sz="1800" b="0" baseline="30000" dirty="0">
              <a:latin typeface="Times New Roman"/>
              <a:cs typeface="Times New Roman"/>
            </a:endParaRPr>
          </a:p>
          <a:p>
            <a:pPr marL="0" indent="0"/>
            <a:endParaRPr lang="en-US" sz="1800" b="0" baseline="30000" dirty="0">
              <a:latin typeface="Times New Roman"/>
              <a:cs typeface="Times New Roman"/>
            </a:endParaRPr>
          </a:p>
          <a:p>
            <a:pPr marL="0" indent="0"/>
            <a:r>
              <a:rPr lang="en-US" sz="1800" b="0" dirty="0">
                <a:latin typeface="Times New Roman"/>
                <a:cs typeface="Times New Roman"/>
              </a:rPr>
              <a:t>X*w = y</a:t>
            </a:r>
          </a:p>
          <a:p>
            <a:pPr marL="0" indent="0"/>
            <a:r>
              <a:rPr lang="en-US" sz="1800" b="0" dirty="0">
                <a:latin typeface="Times New Roman"/>
                <a:cs typeface="Times New Roman"/>
              </a:rPr>
              <a:t>	t = </a:t>
            </a:r>
            <a:r>
              <a:rPr lang="en-US" sz="1800" b="0" dirty="0" err="1">
                <a:latin typeface="Times New Roman"/>
                <a:cs typeface="Times New Roman"/>
              </a:rPr>
              <a:t>np.dot</a:t>
            </a:r>
            <a:r>
              <a:rPr lang="en-US" sz="1800" b="0" dirty="0">
                <a:latin typeface="Times New Roman"/>
                <a:cs typeface="Times New Roman"/>
              </a:rPr>
              <a:t>(X, w[1:0]) + w[0]</a:t>
            </a:r>
          </a:p>
          <a:p>
            <a:pPr marL="0" indent="0"/>
            <a:r>
              <a:rPr lang="en-US" sz="1800" b="0" dirty="0">
                <a:latin typeface="Times New Roman"/>
                <a:cs typeface="Times New Roman"/>
              </a:rPr>
              <a:t>	h = </a:t>
            </a:r>
            <a:r>
              <a:rPr lang="en-US" sz="1800" b="0" dirty="0" err="1">
                <a:latin typeface="Times New Roman"/>
                <a:cs typeface="Times New Roman"/>
              </a:rPr>
              <a:t>np.where</a:t>
            </a:r>
            <a:r>
              <a:rPr lang="en-US" sz="1800" b="0" dirty="0">
                <a:latin typeface="Times New Roman"/>
                <a:cs typeface="Times New Roman"/>
              </a:rPr>
              <a:t>(t&gt;=0.0, 1, -1)		estimator</a:t>
            </a:r>
          </a:p>
        </p:txBody>
      </p:sp>
    </p:spTree>
    <p:extLst>
      <p:ext uri="{BB962C8B-B14F-4D97-AF65-F5344CB8AC3E}">
        <p14:creationId xmlns:p14="http://schemas.microsoft.com/office/powerpoint/2010/main" val="3142904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Perceptron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266B485E-DD90-CB45-A704-7ED5B04B6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77" y="2028624"/>
            <a:ext cx="7778284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/>
            <a:r>
              <a:rPr lang="en-US" sz="1800" b="0" dirty="0"/>
              <a:t>class Perceptron(object):</a:t>
            </a:r>
          </a:p>
          <a:p>
            <a:pPr marL="0" indent="0"/>
            <a:r>
              <a:rPr lang="en-US" sz="1800" b="0" dirty="0"/>
              <a:t>     def fit(self, X, y):</a:t>
            </a:r>
          </a:p>
          <a:p>
            <a:pPr marL="0" indent="0"/>
            <a:r>
              <a:rPr lang="en-US" sz="1800" b="0" dirty="0"/>
              <a:t>        </a:t>
            </a:r>
            <a:r>
              <a:rPr lang="en-US" sz="1800" b="0" dirty="0" err="1"/>
              <a:t>self.w</a:t>
            </a:r>
            <a:r>
              <a:rPr lang="en-US" sz="1800" b="0" dirty="0"/>
              <a:t>_ = </a:t>
            </a:r>
            <a:r>
              <a:rPr lang="en-US" sz="1800" b="0" dirty="0" err="1"/>
              <a:t>np.zeros</a:t>
            </a:r>
            <a:r>
              <a:rPr lang="en-US" sz="1800" b="0" dirty="0"/>
              <a:t>(1 + </a:t>
            </a:r>
            <a:r>
              <a:rPr lang="en-US" sz="1800" b="0" dirty="0" err="1"/>
              <a:t>X.shape</a:t>
            </a:r>
            <a:r>
              <a:rPr lang="en-US" sz="1800" b="0" dirty="0"/>
              <a:t>[1])		# </a:t>
            </a:r>
            <a:r>
              <a:rPr lang="en-US" sz="1800" dirty="0">
                <a:latin typeface="Franklin Gothic Book" charset="0"/>
                <a:cs typeface="Times New Roman" charset="0"/>
              </a:rPr>
              <a:t>w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= 0</a:t>
            </a:r>
            <a:endParaRPr lang="en-US" sz="1800" b="0" dirty="0"/>
          </a:p>
          <a:p>
            <a:pPr marL="0" indent="0"/>
            <a:r>
              <a:rPr lang="en-US" sz="1800" b="0" dirty="0"/>
              <a:t>        </a:t>
            </a:r>
            <a:r>
              <a:rPr lang="en-US" sz="1800" b="0" dirty="0" err="1"/>
              <a:t>self.errors</a:t>
            </a:r>
            <a:r>
              <a:rPr lang="en-US" sz="1800" b="0" dirty="0"/>
              <a:t>_ = []</a:t>
            </a:r>
          </a:p>
          <a:p>
            <a:pPr marL="0" indent="0"/>
            <a:endParaRPr lang="en-US" sz="1800" b="0" dirty="0"/>
          </a:p>
          <a:p>
            <a:pPr marL="0" indent="0"/>
            <a:r>
              <a:rPr lang="en-US" sz="1800" b="0" dirty="0"/>
              <a:t>        for _ in range(</a:t>
            </a:r>
            <a:r>
              <a:rPr lang="en-US" sz="1800" b="0" dirty="0" err="1"/>
              <a:t>self.iter</a:t>
            </a:r>
            <a:r>
              <a:rPr lang="en-US" sz="1800" b="0" dirty="0"/>
              <a:t>):</a:t>
            </a:r>
          </a:p>
          <a:p>
            <a:pPr marL="0" indent="0"/>
            <a:r>
              <a:rPr lang="en-US" sz="1800" b="0" dirty="0"/>
              <a:t>             errors = 0</a:t>
            </a:r>
          </a:p>
          <a:p>
            <a:pPr marL="0" indent="0"/>
            <a:r>
              <a:rPr lang="en-US" sz="1800" b="0" dirty="0"/>
              <a:t>             n = 0</a:t>
            </a:r>
          </a:p>
          <a:p>
            <a:pPr marL="0" indent="0"/>
            <a:r>
              <a:rPr lang="en-US" sz="1800" b="0" dirty="0"/>
              <a:t>             for xi, target in zip(X, y):			# 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for each (</a:t>
            </a:r>
            <a:r>
              <a:rPr lang="en-US" sz="1800" dirty="0" err="1">
                <a:latin typeface="Franklin Gothic Book" charset="0"/>
                <a:cs typeface="Times New Roman" charset="0"/>
              </a:rPr>
              <a:t>x</a:t>
            </a:r>
            <a:r>
              <a:rPr lang="en-US" sz="180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sz="1800" b="0" dirty="0" err="1">
                <a:latin typeface="Franklin Gothic Book" charset="0"/>
                <a:cs typeface="Times New Roman" charset="0"/>
              </a:rPr>
              <a:t>,y</a:t>
            </a:r>
            <a:r>
              <a:rPr lang="en-US" sz="1800" b="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)</a:t>
            </a:r>
            <a:endParaRPr lang="en-US" sz="1800" b="0" dirty="0"/>
          </a:p>
          <a:p>
            <a:pPr marL="0" indent="0"/>
            <a:r>
              <a:rPr lang="en-US" sz="1800" b="0" dirty="0"/>
              <a:t>                 update = </a:t>
            </a:r>
            <a:r>
              <a:rPr lang="en-US" sz="1800" b="0" dirty="0" err="1"/>
              <a:t>self.eta</a:t>
            </a:r>
            <a:r>
              <a:rPr lang="en-US" sz="1800" b="0" dirty="0"/>
              <a:t> * (target - </a:t>
            </a:r>
            <a:r>
              <a:rPr lang="en-US" sz="1800" b="0" dirty="0" err="1"/>
              <a:t>self.predict</a:t>
            </a:r>
            <a:r>
              <a:rPr lang="en-US" sz="1800" b="0" dirty="0"/>
              <a:t>(xi))</a:t>
            </a:r>
          </a:p>
          <a:p>
            <a:pPr marL="0" indent="0"/>
            <a:r>
              <a:rPr lang="en-US" sz="1800" b="0" dirty="0"/>
              <a:t>                 </a:t>
            </a:r>
            <a:r>
              <a:rPr lang="en-US" sz="1800" b="0" dirty="0" err="1"/>
              <a:t>self.w</a:t>
            </a:r>
            <a:r>
              <a:rPr lang="en-US" sz="1800" b="0" dirty="0"/>
              <a:t>_[1:] += update*xi		#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</a:t>
            </a:r>
            <a:r>
              <a:rPr lang="en-US" sz="1800" b="0" dirty="0" err="1">
                <a:latin typeface="Franklin Gothic Book" charset="0"/>
                <a:cs typeface="Times New Roman" charset="0"/>
              </a:rPr>
              <a:t>w</a:t>
            </a:r>
            <a:r>
              <a:rPr lang="en-US" sz="1800" b="0" baseline="-25000" dirty="0" err="1">
                <a:latin typeface="Franklin Gothic Book" charset="0"/>
                <a:cs typeface="Times New Roman" charset="0"/>
              </a:rPr>
              <a:t>k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= w</a:t>
            </a:r>
            <a:r>
              <a:rPr lang="en-US" sz="1800" b="0" baseline="-25000" dirty="0">
                <a:latin typeface="Franklin Gothic Book" charset="0"/>
                <a:cs typeface="Times New Roman" charset="0"/>
              </a:rPr>
              <a:t>k-1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+ (</a:t>
            </a:r>
            <a:r>
              <a:rPr lang="en-US" sz="1800" b="0" dirty="0" err="1">
                <a:latin typeface="Franklin Gothic Book" charset="0"/>
                <a:cs typeface="Times New Roman" charset="0"/>
              </a:rPr>
              <a:t>y</a:t>
            </a:r>
            <a:r>
              <a:rPr lang="en-US" sz="1800" b="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– h(</a:t>
            </a:r>
            <a:r>
              <a:rPr lang="en-US" sz="1800" dirty="0">
                <a:latin typeface="Franklin Gothic Book" charset="0"/>
                <a:cs typeface="Times New Roman" charset="0"/>
              </a:rPr>
              <a:t>x</a:t>
            </a:r>
            <a:r>
              <a:rPr lang="en-US" sz="1800" b="0" baseline="-25000" dirty="0">
                <a:latin typeface="Franklin Gothic Book" charset="0"/>
                <a:cs typeface="Times New Roman" charset="0"/>
              </a:rPr>
              <a:t>i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))</a:t>
            </a:r>
            <a:r>
              <a:rPr lang="en-US" sz="1800" b="0" dirty="0" err="1">
                <a:latin typeface="Franklin Gothic Book" charset="0"/>
                <a:cs typeface="Times New Roman" charset="0"/>
              </a:rPr>
              <a:t>x</a:t>
            </a:r>
            <a:r>
              <a:rPr lang="en-US" sz="1800" b="0" baseline="-25000" dirty="0" err="1">
                <a:latin typeface="Franklin Gothic Book" charset="0"/>
                <a:cs typeface="Times New Roman" charset="0"/>
              </a:rPr>
              <a:t>ik</a:t>
            </a:r>
            <a:endParaRPr lang="en-US" sz="1800" b="0" dirty="0"/>
          </a:p>
          <a:p>
            <a:pPr marL="0" indent="0"/>
            <a:r>
              <a:rPr lang="en-US" sz="1800" b="0" dirty="0"/>
              <a:t>                 </a:t>
            </a:r>
            <a:r>
              <a:rPr lang="en-US" sz="1800" b="0" dirty="0" err="1"/>
              <a:t>self.w</a:t>
            </a:r>
            <a:r>
              <a:rPr lang="en-US" sz="1800" b="0" dirty="0"/>
              <a:t>_[0]  += update</a:t>
            </a:r>
          </a:p>
          <a:p>
            <a:pPr marL="0" indent="0"/>
            <a:r>
              <a:rPr lang="en-US" sz="1800" b="0" dirty="0"/>
              <a:t>                 errors      += </a:t>
            </a:r>
            <a:r>
              <a:rPr lang="en-US" sz="1800" b="0" dirty="0" err="1"/>
              <a:t>int</a:t>
            </a:r>
            <a:r>
              <a:rPr lang="en-US" sz="1800" b="0" dirty="0"/>
              <a:t>(update != 0.0)</a:t>
            </a:r>
          </a:p>
          <a:p>
            <a:pPr marL="0" indent="0"/>
            <a:r>
              <a:rPr lang="en-US" sz="1800" b="0" dirty="0"/>
              <a:t>                 n += 1</a:t>
            </a:r>
          </a:p>
          <a:p>
            <a:pPr marL="0" indent="0"/>
            <a:r>
              <a:rPr lang="en-US" sz="1800" b="0" dirty="0"/>
              <a:t>             </a:t>
            </a:r>
            <a:r>
              <a:rPr lang="en-US" sz="1800" b="0" dirty="0" err="1"/>
              <a:t>self.errors.append</a:t>
            </a:r>
            <a:r>
              <a:rPr lang="en-US" sz="1800" b="0" dirty="0"/>
              <a:t>(errors)</a:t>
            </a:r>
          </a:p>
          <a:p>
            <a:pPr marL="0" indent="0"/>
            <a:r>
              <a:rPr lang="en-US" sz="1800" b="0" dirty="0"/>
              <a:t>        return self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9FE8381-2606-5A4F-A051-DD2B04EA3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739198"/>
            <a:ext cx="5029200" cy="1477328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/>
            <a:r>
              <a:rPr lang="en-US" sz="1800" b="0" dirty="0"/>
              <a:t>   def </a:t>
            </a:r>
            <a:r>
              <a:rPr lang="en-US" sz="1800" b="0" dirty="0" err="1"/>
              <a:t>net_input</a:t>
            </a:r>
            <a:r>
              <a:rPr lang="en-US" sz="1800" b="0" dirty="0"/>
              <a:t>(self, X):</a:t>
            </a:r>
          </a:p>
          <a:p>
            <a:pPr marL="0" indent="0"/>
            <a:r>
              <a:rPr lang="en-US" sz="1800" b="0" dirty="0"/>
              <a:t>      return </a:t>
            </a:r>
            <a:r>
              <a:rPr lang="en-US" sz="1800" b="0" dirty="0" err="1"/>
              <a:t>np.dot</a:t>
            </a:r>
            <a:r>
              <a:rPr lang="en-US" sz="1800" b="0" dirty="0"/>
              <a:t>(X, </a:t>
            </a:r>
            <a:r>
              <a:rPr lang="en-US" sz="1800" b="0" dirty="0" err="1"/>
              <a:t>self.w</a:t>
            </a:r>
            <a:r>
              <a:rPr lang="en-US" sz="1800" b="0" dirty="0"/>
              <a:t>_[1:]) + </a:t>
            </a:r>
            <a:r>
              <a:rPr lang="en-US" sz="1800" b="0" dirty="0" err="1"/>
              <a:t>self.w</a:t>
            </a:r>
            <a:r>
              <a:rPr lang="en-US" sz="1800" b="0" dirty="0"/>
              <a:t>_[0]</a:t>
            </a:r>
          </a:p>
          <a:p>
            <a:pPr marL="0" indent="0"/>
            <a:endParaRPr lang="en-US" sz="1800" b="0" dirty="0"/>
          </a:p>
          <a:p>
            <a:pPr marL="0" indent="0"/>
            <a:r>
              <a:rPr lang="en-US" sz="1800" b="0" dirty="0"/>
              <a:t>   def predict(self, X):</a:t>
            </a:r>
          </a:p>
          <a:p>
            <a:pPr marL="0" indent="0"/>
            <a:r>
              <a:rPr lang="en-US" sz="1800" b="0" dirty="0"/>
              <a:t>      return </a:t>
            </a:r>
            <a:r>
              <a:rPr lang="en-US" sz="1800" b="0" dirty="0" err="1"/>
              <a:t>np.where</a:t>
            </a:r>
            <a:r>
              <a:rPr lang="en-US" sz="1800" b="0" dirty="0"/>
              <a:t>(</a:t>
            </a:r>
            <a:r>
              <a:rPr lang="en-US" sz="1800" b="0" dirty="0" err="1"/>
              <a:t>self.net_input</a:t>
            </a:r>
            <a:r>
              <a:rPr lang="en-US" sz="1800" b="0" dirty="0"/>
              <a:t>(X) &gt;= 0.0, 1, -1)</a:t>
            </a: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706215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1037075" y="1853832"/>
            <a:ext cx="7294126" cy="233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b="0" baseline="300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500" b="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500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820057" y="1005416"/>
            <a:ext cx="5715000" cy="848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600" dirty="0">
                <a:latin typeface="Franklin Gothic Book" charset="0"/>
              </a:rPr>
              <a:t>Regression</a:t>
            </a:r>
            <a:endParaRPr lang="en-US" sz="3600" i="1" dirty="0">
              <a:latin typeface="Franklin Gothic Book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31049BF-31A6-C149-ABD3-FAD6E781A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475" y="2006232"/>
            <a:ext cx="7294126" cy="359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Franklin Gothic Book" panose="020B0503020102020204" pitchFamily="34" charset="0"/>
                <a:cs typeface="Times New Roman"/>
              </a:rPr>
              <a:t>Statistical modeling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Franklin Gothic Book" panose="020B0503020102020204" pitchFamily="34" charset="0"/>
                <a:cs typeface="Times New Roman"/>
              </a:rPr>
              <a:t>Estimating relationship among variables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b="0" dirty="0">
              <a:latin typeface="Franklin Gothic Book" panose="020B0503020102020204" pitchFamily="34" charset="0"/>
              <a:cs typeface="Times New Roman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Franklin Gothic Book" panose="020B0503020102020204" pitchFamily="34" charset="0"/>
                <a:cs typeface="Times New Roman"/>
              </a:rPr>
              <a:t>Curve fitting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Franklin Gothic Book" panose="020B0503020102020204" pitchFamily="34" charset="0"/>
                <a:cs typeface="Times New Roman"/>
              </a:rPr>
              <a:t>Linear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Franklin Gothic Book" panose="020B0503020102020204" pitchFamily="34" charset="0"/>
                <a:cs typeface="Times New Roman"/>
              </a:rPr>
              <a:t>Polynomial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Franklin Gothic Book" panose="020B0503020102020204" pitchFamily="34" charset="0"/>
                <a:cs typeface="Times New Roman"/>
              </a:rPr>
              <a:t>Logistic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b="0" dirty="0">
              <a:latin typeface="Franklin Gothic Book" panose="020B0503020102020204" pitchFamily="34" charset="0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b="0" dirty="0">
                <a:latin typeface="Franklin Gothic Book" panose="020B0503020102020204" pitchFamily="34" charset="0"/>
                <a:cs typeface="Times New Roman"/>
              </a:rPr>
              <a:t>	</a:t>
            </a:r>
            <a:endParaRPr lang="en-US" b="0" baseline="30000" dirty="0">
              <a:latin typeface="Franklin Gothic Book" panose="020B0503020102020204" pitchFamily="34" charset="0"/>
              <a:cs typeface="Times New Roman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500" b="0" dirty="0">
              <a:latin typeface="Franklin Gothic Book" panose="020B0503020102020204" pitchFamily="34" charset="0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15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5945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1037075" y="1853832"/>
            <a:ext cx="7294126" cy="2338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Given points, find a line with minimum projections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     (x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, y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), (x</a:t>
            </a:r>
            <a:r>
              <a:rPr lang="en-US" b="0" baseline="-25000" dirty="0">
                <a:latin typeface="Times New Roman"/>
                <a:cs typeface="Times New Roman"/>
              </a:rPr>
              <a:t>2</a:t>
            </a:r>
            <a:r>
              <a:rPr lang="en-US" b="0" dirty="0">
                <a:latin typeface="Times New Roman"/>
                <a:cs typeface="Times New Roman"/>
              </a:rPr>
              <a:t>, y</a:t>
            </a:r>
            <a:r>
              <a:rPr lang="en-US" b="0" baseline="-25000" dirty="0">
                <a:latin typeface="Times New Roman"/>
                <a:cs typeface="Times New Roman"/>
              </a:rPr>
              <a:t>2</a:t>
            </a:r>
            <a:r>
              <a:rPr lang="en-US" b="0" dirty="0">
                <a:latin typeface="Times New Roman"/>
                <a:cs typeface="Times New Roman"/>
              </a:rPr>
              <a:t>), </a:t>
            </a:r>
            <a:r>
              <a:rPr lang="is-IS" b="0" dirty="0">
                <a:latin typeface="Times New Roman"/>
                <a:cs typeface="Times New Roman"/>
              </a:rPr>
              <a:t>….. </a:t>
            </a:r>
            <a:r>
              <a:rPr lang="en-US" b="0" dirty="0">
                <a:latin typeface="Times New Roman"/>
                <a:cs typeface="Times New Roman"/>
              </a:rPr>
              <a:t>(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baseline="-25000" dirty="0" err="1">
                <a:latin typeface="Times New Roman"/>
                <a:cs typeface="Times New Roman"/>
              </a:rPr>
              <a:t>N</a:t>
            </a:r>
            <a:r>
              <a:rPr lang="en-US" b="0" dirty="0">
                <a:latin typeface="Times New Roman"/>
                <a:cs typeface="Times New Roman"/>
              </a:rPr>
              <a:t>, </a:t>
            </a:r>
            <a:r>
              <a:rPr lang="en-US" b="0" dirty="0" err="1">
                <a:latin typeface="Times New Roman"/>
                <a:cs typeface="Times New Roman"/>
              </a:rPr>
              <a:t>y</a:t>
            </a:r>
            <a:r>
              <a:rPr lang="en-US" b="0" baseline="-25000" dirty="0" err="1">
                <a:latin typeface="Times New Roman"/>
                <a:cs typeface="Times New Roman"/>
              </a:rPr>
              <a:t>N</a:t>
            </a:r>
            <a:r>
              <a:rPr lang="en-US" b="0" dirty="0">
                <a:latin typeface="Times New Roman"/>
                <a:cs typeface="Times New Roman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b="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Curve fitting with a line</a:t>
            </a:r>
          </a:p>
          <a:p>
            <a:pPr marL="600075" lvl="2" indent="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Times New Roman"/>
                <a:cs typeface="Times New Roman"/>
              </a:rPr>
              <a:t>w </a:t>
            </a:r>
            <a:r>
              <a:rPr lang="en-US" b="0" dirty="0">
                <a:latin typeface="Times New Roman"/>
                <a:cs typeface="Times New Roman"/>
              </a:rPr>
              <a:t>= (w</a:t>
            </a:r>
            <a:r>
              <a:rPr lang="en-US" b="0" baseline="-25000" dirty="0">
                <a:latin typeface="Times New Roman"/>
                <a:cs typeface="Times New Roman"/>
              </a:rPr>
              <a:t>0</a:t>
            </a:r>
            <a:r>
              <a:rPr lang="en-US" b="0" dirty="0">
                <a:latin typeface="Times New Roman"/>
                <a:cs typeface="Times New Roman"/>
              </a:rPr>
              <a:t>, w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)</a:t>
            </a:r>
            <a:r>
              <a:rPr lang="en-US" b="0" baseline="30000" dirty="0">
                <a:latin typeface="Times New Roman"/>
                <a:cs typeface="Times New Roman"/>
              </a:rPr>
              <a:t>T</a:t>
            </a:r>
            <a:r>
              <a:rPr lang="en-US" b="0" dirty="0">
                <a:latin typeface="Times New Roman"/>
                <a:cs typeface="Times New Roman"/>
              </a:rPr>
              <a:t>  for h(</a:t>
            </a:r>
            <a:r>
              <a:rPr lang="en-US" b="0" dirty="0" err="1">
                <a:latin typeface="Times New Roman"/>
                <a:cs typeface="Times New Roman"/>
              </a:rPr>
              <a:t>x,</a:t>
            </a:r>
            <a:r>
              <a:rPr lang="en-US" dirty="0" err="1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) = w</a:t>
            </a:r>
            <a:r>
              <a:rPr lang="en-US" b="0" baseline="-25000" dirty="0">
                <a:latin typeface="Times New Roman"/>
                <a:cs typeface="Times New Roman"/>
              </a:rPr>
              <a:t>0 </a:t>
            </a:r>
            <a:r>
              <a:rPr lang="en-US" b="0" dirty="0">
                <a:latin typeface="Times New Roman"/>
                <a:cs typeface="Times New Roman"/>
              </a:rPr>
              <a:t>+w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x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b="0" baseline="300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500" b="0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sz="1500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820057" y="1005416"/>
            <a:ext cx="5715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dirty="0">
                <a:latin typeface="Franklin Gothic Book" charset="0"/>
              </a:rPr>
              <a:t>Linear Regression</a:t>
            </a:r>
            <a:endParaRPr lang="en-US" sz="3200" i="1" dirty="0">
              <a:latin typeface="Franklin Gothic Book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E42C99-FCE7-074C-AC2F-0D9ADA5BCE9C}"/>
              </a:ext>
            </a:extLst>
          </p:cNvPr>
          <p:cNvSpPr txBox="1"/>
          <p:nvPr/>
        </p:nvSpPr>
        <p:spPr>
          <a:xfrm>
            <a:off x="2090830" y="4391339"/>
            <a:ext cx="831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0</a:t>
            </a:r>
            <a:r>
              <a:rPr lang="en-US" dirty="0"/>
              <a:t>  w</a:t>
            </a:r>
            <a:r>
              <a:rPr lang="en-US" baseline="-25000" dirty="0"/>
              <a:t>1</a:t>
            </a:r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69FCA132-29F5-6747-911E-3D0CFF81773C}"/>
              </a:ext>
            </a:extLst>
          </p:cNvPr>
          <p:cNvSpPr/>
          <p:nvPr/>
        </p:nvSpPr>
        <p:spPr>
          <a:xfrm>
            <a:off x="2874703" y="4513569"/>
            <a:ext cx="34289" cy="50769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Right Bracket 25">
            <a:extLst>
              <a:ext uri="{FF2B5EF4-FFF2-40B4-BE49-F238E27FC236}">
                <a16:creationId xmlns:a16="http://schemas.microsoft.com/office/drawing/2014/main" id="{3216BE40-452D-9342-BD4A-7CDF92324BA5}"/>
              </a:ext>
            </a:extLst>
          </p:cNvPr>
          <p:cNvSpPr/>
          <p:nvPr/>
        </p:nvSpPr>
        <p:spPr>
          <a:xfrm>
            <a:off x="4995737" y="4424340"/>
            <a:ext cx="34289" cy="596919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Right Bracket 26">
            <a:extLst>
              <a:ext uri="{FF2B5EF4-FFF2-40B4-BE49-F238E27FC236}">
                <a16:creationId xmlns:a16="http://schemas.microsoft.com/office/drawing/2014/main" id="{53039EBC-AF7B-0942-97C7-ACBA68BCADA2}"/>
              </a:ext>
            </a:extLst>
          </p:cNvPr>
          <p:cNvSpPr/>
          <p:nvPr/>
        </p:nvSpPr>
        <p:spPr>
          <a:xfrm>
            <a:off x="2769037" y="4519162"/>
            <a:ext cx="55079" cy="178457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1BB6A61F-D0E4-9C46-AEDE-D2B024A68BD5}"/>
              </a:ext>
            </a:extLst>
          </p:cNvPr>
          <p:cNvSpPr/>
          <p:nvPr/>
        </p:nvSpPr>
        <p:spPr>
          <a:xfrm>
            <a:off x="2086229" y="4503072"/>
            <a:ext cx="34289" cy="20557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E09DED-959F-6E4F-AC6F-B7E755396269}"/>
              </a:ext>
            </a:extLst>
          </p:cNvPr>
          <p:cNvSpPr txBox="1"/>
          <p:nvPr/>
        </p:nvSpPr>
        <p:spPr>
          <a:xfrm>
            <a:off x="2947998" y="4427075"/>
            <a:ext cx="2007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1    1   ….</a:t>
            </a:r>
          </a:p>
          <a:p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 x</a:t>
            </a:r>
            <a:r>
              <a:rPr lang="en-US" baseline="-25000" dirty="0"/>
              <a:t>2 </a:t>
            </a:r>
            <a:r>
              <a:rPr lang="en-US" dirty="0"/>
              <a:t>  x</a:t>
            </a:r>
            <a:r>
              <a:rPr lang="en-US" baseline="-25000" dirty="0"/>
              <a:t>3 </a:t>
            </a:r>
            <a:r>
              <a:rPr lang="en-US" dirty="0"/>
              <a:t> ….</a:t>
            </a:r>
            <a:endParaRPr lang="en-US" baseline="-25000" dirty="0"/>
          </a:p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F37270-D4AF-2047-907E-E46305A158A3}"/>
              </a:ext>
            </a:extLst>
          </p:cNvPr>
          <p:cNvSpPr txBox="1"/>
          <p:nvPr/>
        </p:nvSpPr>
        <p:spPr>
          <a:xfrm>
            <a:off x="5138353" y="4651362"/>
            <a:ext cx="43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=</a:t>
            </a:r>
            <a:endParaRPr lang="en-US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A84A24-D25E-6442-8E1C-8767556D1BF4}"/>
              </a:ext>
            </a:extLst>
          </p:cNvPr>
          <p:cNvSpPr txBox="1"/>
          <p:nvPr/>
        </p:nvSpPr>
        <p:spPr>
          <a:xfrm>
            <a:off x="5139164" y="4466661"/>
            <a:ext cx="43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?</a:t>
            </a:r>
            <a:endParaRPr lang="en-US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24DCC3-6454-964F-988D-3D09BEA64DD4}"/>
              </a:ext>
            </a:extLst>
          </p:cNvPr>
          <p:cNvSpPr txBox="1"/>
          <p:nvPr/>
        </p:nvSpPr>
        <p:spPr>
          <a:xfrm>
            <a:off x="5614356" y="4421806"/>
            <a:ext cx="148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r>
              <a:rPr lang="en-US" baseline="-25000" dirty="0"/>
              <a:t>1  </a:t>
            </a:r>
            <a:r>
              <a:rPr lang="en-US" dirty="0"/>
              <a:t>y</a:t>
            </a:r>
            <a:r>
              <a:rPr lang="en-US" baseline="-25000" dirty="0"/>
              <a:t>2</a:t>
            </a:r>
            <a:r>
              <a:rPr lang="en-US" dirty="0"/>
              <a:t>  ….</a:t>
            </a:r>
            <a:endParaRPr lang="en-US" baseline="-25000" dirty="0"/>
          </a:p>
        </p:txBody>
      </p:sp>
      <p:sp>
        <p:nvSpPr>
          <p:cNvPr id="33" name="Right Bracket 32">
            <a:extLst>
              <a:ext uri="{FF2B5EF4-FFF2-40B4-BE49-F238E27FC236}">
                <a16:creationId xmlns:a16="http://schemas.microsoft.com/office/drawing/2014/main" id="{0950DDBA-F10A-A34E-B7E3-8B19E973C59D}"/>
              </a:ext>
            </a:extLst>
          </p:cNvPr>
          <p:cNvSpPr/>
          <p:nvPr/>
        </p:nvSpPr>
        <p:spPr>
          <a:xfrm>
            <a:off x="7246596" y="4480778"/>
            <a:ext cx="34289" cy="287423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86CCF9E9-E84E-7742-B7FF-1CAD6FF45F96}"/>
              </a:ext>
            </a:extLst>
          </p:cNvPr>
          <p:cNvSpPr/>
          <p:nvPr/>
        </p:nvSpPr>
        <p:spPr>
          <a:xfrm>
            <a:off x="5574537" y="4541154"/>
            <a:ext cx="34289" cy="20557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560804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1464144" y="1422400"/>
            <a:ext cx="6402599" cy="477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Find </a:t>
            </a:r>
            <a:r>
              <a:rPr lang="en-US" dirty="0">
                <a:latin typeface="Times New Roman"/>
                <a:cs typeface="Times New Roman"/>
              </a:rPr>
              <a:t>w </a:t>
            </a:r>
            <a:r>
              <a:rPr lang="en-US" b="0" dirty="0">
                <a:latin typeface="Times New Roman"/>
                <a:cs typeface="Times New Roman"/>
              </a:rPr>
              <a:t>that minimizes the error:</a:t>
            </a:r>
            <a:endParaRPr lang="en-US" b="0" baseline="-25000" dirty="0">
              <a:latin typeface="Times New Roman"/>
              <a:cs typeface="Times New Roman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i="1" dirty="0">
                <a:latin typeface="Times New Roman"/>
                <a:cs typeface="Times New Roman"/>
              </a:rPr>
              <a:t>E</a:t>
            </a:r>
            <a:r>
              <a:rPr lang="en-US" b="0" dirty="0">
                <a:latin typeface="Times New Roman"/>
                <a:cs typeface="Times New Roman"/>
              </a:rPr>
              <a:t>(</a:t>
            </a:r>
            <a:r>
              <a:rPr lang="en-US" dirty="0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) </a:t>
            </a:r>
            <a:r>
              <a:rPr lang="en-US" b="0" i="1" dirty="0">
                <a:latin typeface="Times New Roman"/>
                <a:cs typeface="Times New Roman"/>
              </a:rPr>
              <a:t>= </a:t>
            </a:r>
            <a:r>
              <a:rPr lang="en-US" b="0" dirty="0">
                <a:latin typeface="Times New Roman"/>
                <a:cs typeface="Times New Roman"/>
              </a:rPr>
              <a:t>∑</a:t>
            </a:r>
            <a:r>
              <a:rPr lang="en-US" b="0" i="1" baseline="30000" dirty="0">
                <a:latin typeface="Times New Roman"/>
                <a:cs typeface="Times New Roman"/>
              </a:rPr>
              <a:t> </a:t>
            </a:r>
            <a:r>
              <a:rPr lang="en-US" b="0" i="1" baseline="-25000" dirty="0">
                <a:latin typeface="Times New Roman"/>
                <a:cs typeface="Times New Roman"/>
              </a:rPr>
              <a:t>n</a:t>
            </a:r>
            <a:r>
              <a:rPr lang="en-US" b="0" dirty="0">
                <a:latin typeface="Times New Roman"/>
                <a:cs typeface="Times New Roman"/>
              </a:rPr>
              <a:t>(h(x</a:t>
            </a:r>
            <a:r>
              <a:rPr lang="en-US" b="0" baseline="-25000" dirty="0">
                <a:latin typeface="Times New Roman"/>
                <a:cs typeface="Times New Roman"/>
              </a:rPr>
              <a:t>i</a:t>
            </a:r>
            <a:r>
              <a:rPr lang="en-US" b="0" dirty="0">
                <a:latin typeface="Times New Roman"/>
                <a:cs typeface="Times New Roman"/>
              </a:rPr>
              <a:t>, </a:t>
            </a:r>
            <a:r>
              <a:rPr lang="en-US" dirty="0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) – </a:t>
            </a:r>
            <a:r>
              <a:rPr lang="en-US" b="0" dirty="0" err="1">
                <a:latin typeface="Times New Roman"/>
                <a:cs typeface="Times New Roman"/>
              </a:rPr>
              <a:t>y</a:t>
            </a:r>
            <a:r>
              <a:rPr lang="en-US" b="0" baseline="-25000" dirty="0" err="1">
                <a:latin typeface="Times New Roman"/>
                <a:cs typeface="Times New Roman"/>
              </a:rPr>
              <a:t>i</a:t>
            </a:r>
            <a:r>
              <a:rPr lang="en-US" b="0" dirty="0">
                <a:latin typeface="Times New Roman"/>
                <a:cs typeface="Times New Roman"/>
              </a:rPr>
              <a:t>)</a:t>
            </a:r>
            <a:r>
              <a:rPr lang="en-US" b="0" baseline="30000" dirty="0">
                <a:latin typeface="Times New Roman"/>
                <a:cs typeface="Times New Roman"/>
              </a:rPr>
              <a:t>2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b="0" baseline="30000" dirty="0">
              <a:latin typeface="Times New Roman"/>
              <a:cs typeface="Times New Roman"/>
            </a:endParaRPr>
          </a:p>
          <a:p>
            <a:pPr marL="685800" lvl="2" indent="0">
              <a:lnSpc>
                <a:spcPct val="90000"/>
              </a:lnSpc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 	[w</a:t>
            </a:r>
            <a:r>
              <a:rPr lang="en-US" b="0" baseline="-25000" dirty="0">
                <a:latin typeface="Times New Roman"/>
                <a:cs typeface="Times New Roman"/>
              </a:rPr>
              <a:t>0   </a:t>
            </a:r>
            <a:r>
              <a:rPr lang="en-US" b="0" dirty="0">
                <a:latin typeface="Times New Roman"/>
                <a:cs typeface="Times New Roman"/>
              </a:rPr>
              <a:t>w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] 1 </a:t>
            </a:r>
            <a:r>
              <a:rPr lang="ko-KR" altLang="en-US" b="0" dirty="0">
                <a:latin typeface="Times New Roman"/>
                <a:cs typeface="Times New Roman"/>
              </a:rPr>
              <a:t>  </a:t>
            </a:r>
            <a:r>
              <a:rPr lang="en-US" altLang="ko-KR" b="0" dirty="0">
                <a:latin typeface="Times New Roman"/>
                <a:cs typeface="Times New Roman"/>
              </a:rPr>
              <a:t>1</a:t>
            </a:r>
            <a:r>
              <a:rPr lang="ko-KR" altLang="en-US" b="0" dirty="0">
                <a:latin typeface="Times New Roman"/>
                <a:cs typeface="Times New Roman"/>
              </a:rPr>
              <a:t>   </a:t>
            </a:r>
            <a:r>
              <a:rPr lang="en-US" altLang="ko-KR" b="0" dirty="0">
                <a:latin typeface="Times New Roman"/>
                <a:cs typeface="Times New Roman"/>
              </a:rPr>
              <a:t>1</a:t>
            </a:r>
            <a:r>
              <a:rPr lang="ko-KR" altLang="en-US" b="0" dirty="0">
                <a:latin typeface="Times New Roman"/>
                <a:cs typeface="Times New Roman"/>
              </a:rPr>
              <a:t>  </a:t>
            </a:r>
            <a:r>
              <a:rPr lang="en-US" altLang="ko-KR" b="0" dirty="0">
                <a:latin typeface="Times New Roman"/>
                <a:cs typeface="Times New Roman"/>
              </a:rPr>
              <a:t>..</a:t>
            </a:r>
            <a:r>
              <a:rPr lang="en-US" b="0" dirty="0">
                <a:latin typeface="Times New Roman"/>
                <a:cs typeface="Times New Roman"/>
              </a:rPr>
              <a:t> </a:t>
            </a:r>
            <a:r>
              <a:rPr lang="ko-KR" altLang="en-US" b="0" dirty="0">
                <a:latin typeface="Times New Roman"/>
                <a:cs typeface="Times New Roman"/>
              </a:rPr>
              <a:t>  </a:t>
            </a:r>
            <a:r>
              <a:rPr lang="en-US" b="0" dirty="0">
                <a:latin typeface="Times New Roman"/>
                <a:cs typeface="Times New Roman"/>
              </a:rPr>
              <a:t>+ [e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ko-KR" altLang="en-US" b="0" baseline="-25000" dirty="0">
                <a:latin typeface="Times New Roman"/>
                <a:cs typeface="Times New Roman"/>
              </a:rPr>
              <a:t> </a:t>
            </a:r>
            <a:r>
              <a:rPr lang="en-US" b="0" dirty="0">
                <a:latin typeface="Times New Roman"/>
                <a:cs typeface="Times New Roman"/>
              </a:rPr>
              <a:t>e</a:t>
            </a:r>
            <a:r>
              <a:rPr lang="en-US" b="0" baseline="-25000" dirty="0">
                <a:latin typeface="Times New Roman"/>
                <a:cs typeface="Times New Roman"/>
              </a:rPr>
              <a:t>2</a:t>
            </a:r>
            <a:r>
              <a:rPr lang="ko-KR" altLang="en-US" b="0" baseline="-25000" dirty="0">
                <a:latin typeface="Times New Roman"/>
                <a:cs typeface="Times New Roman"/>
              </a:rPr>
              <a:t> </a:t>
            </a:r>
            <a:r>
              <a:rPr lang="en-US" b="0" dirty="0">
                <a:latin typeface="Times New Roman"/>
                <a:cs typeface="Times New Roman"/>
              </a:rPr>
              <a:t>e</a:t>
            </a:r>
            <a:r>
              <a:rPr lang="en-US" altLang="ko-KR" b="0" baseline="-25000" dirty="0">
                <a:latin typeface="Times New Roman"/>
                <a:cs typeface="Times New Roman"/>
              </a:rPr>
              <a:t>3</a:t>
            </a:r>
            <a:r>
              <a:rPr lang="ko-KR" altLang="en-US" b="0" baseline="-25000" dirty="0">
                <a:latin typeface="Times New Roman"/>
                <a:cs typeface="Times New Roman"/>
              </a:rPr>
              <a:t> </a:t>
            </a:r>
            <a:r>
              <a:rPr lang="en-US" altLang="ko-KR" b="0" baseline="-25000" dirty="0">
                <a:latin typeface="Times New Roman"/>
                <a:cs typeface="Times New Roman"/>
              </a:rPr>
              <a:t>…</a:t>
            </a:r>
            <a:r>
              <a:rPr lang="en-US" b="0" dirty="0">
                <a:latin typeface="Times New Roman"/>
                <a:cs typeface="Times New Roman"/>
              </a:rPr>
              <a:t>]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>
                <a:latin typeface="Times New Roman"/>
                <a:cs typeface="Times New Roman"/>
              </a:rPr>
              <a:t>y </a:t>
            </a:r>
            <a:r>
              <a:rPr lang="en-US" b="0" dirty="0">
                <a:latin typeface="Times New Roman"/>
                <a:cs typeface="Times New Roman"/>
              </a:rPr>
              <a:t>= 			</a:t>
            </a:r>
            <a:r>
              <a:rPr lang="ko-KR" altLang="en-US" b="0" dirty="0">
                <a:latin typeface="Times New Roman"/>
                <a:cs typeface="Times New Roman"/>
              </a:rPr>
              <a:t>  </a:t>
            </a:r>
            <a:r>
              <a:rPr lang="en-US" b="0" dirty="0">
                <a:latin typeface="Times New Roman"/>
                <a:cs typeface="Times New Roman"/>
              </a:rPr>
              <a:t>x</a:t>
            </a:r>
            <a:r>
              <a:rPr lang="en-US" b="0" baseline="-25000" dirty="0">
                <a:latin typeface="Times New Roman"/>
                <a:cs typeface="Times New Roman"/>
              </a:rPr>
              <a:t>1 </a:t>
            </a:r>
            <a:r>
              <a:rPr lang="en-US" b="0" dirty="0">
                <a:latin typeface="Times New Roman"/>
                <a:cs typeface="Times New Roman"/>
              </a:rPr>
              <a:t> x</a:t>
            </a:r>
            <a:r>
              <a:rPr lang="en-US" b="0" baseline="-25000" dirty="0">
                <a:latin typeface="Times New Roman"/>
                <a:cs typeface="Times New Roman"/>
              </a:rPr>
              <a:t>2</a:t>
            </a:r>
            <a:r>
              <a:rPr lang="ko-KR" altLang="en-US" b="0" baseline="-25000" dirty="0">
                <a:latin typeface="Times New Roman"/>
                <a:cs typeface="Times New Roman"/>
              </a:rPr>
              <a:t>  </a:t>
            </a:r>
            <a:r>
              <a:rPr lang="en-US" b="0" dirty="0">
                <a:latin typeface="Times New Roman"/>
                <a:cs typeface="Times New Roman"/>
              </a:rPr>
              <a:t>x</a:t>
            </a:r>
            <a:r>
              <a:rPr lang="en-US" b="0" baseline="-25000" dirty="0">
                <a:latin typeface="Times New Roman"/>
                <a:cs typeface="Times New Roman"/>
              </a:rPr>
              <a:t>3</a:t>
            </a:r>
            <a:r>
              <a:rPr lang="en-US" b="0" dirty="0">
                <a:latin typeface="Times New Roman"/>
                <a:cs typeface="Times New Roman"/>
              </a:rPr>
              <a:t> </a:t>
            </a:r>
            <a:r>
              <a:rPr lang="en-US" altLang="ko-KR" b="0" dirty="0">
                <a:latin typeface="Times New Roman"/>
                <a:cs typeface="Times New Roman"/>
              </a:rPr>
              <a:t>..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ko-KR" b="0" dirty="0">
              <a:latin typeface="Times New Roman"/>
              <a:cs typeface="Times New Roman"/>
            </a:endParaRPr>
          </a:p>
          <a:p>
            <a:pPr marL="685800" lvl="2" indent="0">
              <a:lnSpc>
                <a:spcPct val="90000"/>
              </a:lnSpc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 =  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 + e</a:t>
            </a:r>
          </a:p>
          <a:p>
            <a:pPr marL="685800" lvl="2" indent="0">
              <a:lnSpc>
                <a:spcPct val="90000"/>
              </a:lnSpc>
              <a:spcBef>
                <a:spcPct val="20000"/>
              </a:spcBef>
            </a:pPr>
            <a:endParaRPr lang="en-US" b="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/>
                <a:cs typeface="Times New Roman"/>
              </a:rPr>
              <a:t>Error function:</a:t>
            </a:r>
          </a:p>
          <a:p>
            <a:pPr marL="642938" lvl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/>
                <a:cs typeface="Times New Roman"/>
              </a:rPr>
              <a:t>e(w) = [y – 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]</a:t>
            </a:r>
            <a:r>
              <a:rPr lang="en-US" b="0" baseline="30000" dirty="0">
                <a:latin typeface="Times New Roman"/>
                <a:cs typeface="Times New Roman"/>
              </a:rPr>
              <a:t>T</a:t>
            </a:r>
            <a:r>
              <a:rPr lang="en-US" b="0" dirty="0">
                <a:latin typeface="Times New Roman"/>
                <a:cs typeface="Times New Roman"/>
              </a:rPr>
              <a:t> [y – 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]/2</a:t>
            </a:r>
          </a:p>
          <a:p>
            <a:pPr marL="428625" lvl="1" indent="0">
              <a:lnSpc>
                <a:spcPct val="90000"/>
              </a:lnSpc>
              <a:spcBef>
                <a:spcPct val="20000"/>
              </a:spcBef>
            </a:pPr>
            <a:endParaRPr lang="en-US" sz="1500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892629" y="675822"/>
            <a:ext cx="5715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dirty="0">
                <a:latin typeface="Franklin Gothic Book" charset="0"/>
              </a:rPr>
              <a:t>Linear Regression</a:t>
            </a:r>
            <a:endParaRPr lang="en-US" sz="3200" i="1" dirty="0">
              <a:latin typeface="Franklin Gothic Book" charset="0"/>
            </a:endParaRPr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1E68D8BB-753F-1144-BB79-97056CCFA036}"/>
              </a:ext>
            </a:extLst>
          </p:cNvPr>
          <p:cNvSpPr/>
          <p:nvPr/>
        </p:nvSpPr>
        <p:spPr>
          <a:xfrm>
            <a:off x="3959151" y="2547257"/>
            <a:ext cx="73152" cy="9144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9F6D7E7F-28E4-8A4B-9082-756074A9D04F}"/>
              </a:ext>
            </a:extLst>
          </p:cNvPr>
          <p:cNvSpPr/>
          <p:nvPr/>
        </p:nvSpPr>
        <p:spPr>
          <a:xfrm>
            <a:off x="5237274" y="2547257"/>
            <a:ext cx="73152" cy="9144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90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1173858" y="1422399"/>
            <a:ext cx="7215400" cy="4601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Least Square Mean (LSM) Error</a:t>
            </a:r>
          </a:p>
          <a:p>
            <a:pPr marL="642938" lvl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/>
                <a:cs typeface="Times New Roman"/>
              </a:rPr>
              <a:t>e(w) = [y – 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]</a:t>
            </a:r>
            <a:r>
              <a:rPr lang="en-US" b="0" baseline="30000" dirty="0">
                <a:latin typeface="Times New Roman"/>
                <a:cs typeface="Times New Roman"/>
              </a:rPr>
              <a:t>T</a:t>
            </a:r>
            <a:r>
              <a:rPr lang="en-US" b="0" dirty="0">
                <a:latin typeface="Times New Roman"/>
                <a:cs typeface="Times New Roman"/>
              </a:rPr>
              <a:t> [y – 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]/2</a:t>
            </a:r>
          </a:p>
          <a:p>
            <a:pPr marL="642938" lvl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is-IS" b="0" dirty="0">
                <a:latin typeface="Times New Roman"/>
                <a:cs typeface="Times New Roman"/>
              </a:rPr>
              <a:t>ΔE(</a:t>
            </a:r>
            <a:r>
              <a:rPr lang="is-IS" dirty="0">
                <a:latin typeface="Times New Roman"/>
                <a:cs typeface="Times New Roman"/>
              </a:rPr>
              <a:t>w</a:t>
            </a:r>
            <a:r>
              <a:rPr lang="is-IS" b="0" dirty="0">
                <a:latin typeface="Times New Roman"/>
                <a:cs typeface="Times New Roman"/>
              </a:rPr>
              <a:t>) =     e(w)/    w</a:t>
            </a:r>
            <a:endParaRPr lang="en-US" b="0" dirty="0">
              <a:latin typeface="Times New Roman"/>
              <a:cs typeface="Times New Roman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[y – 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]</a:t>
            </a:r>
            <a:r>
              <a:rPr lang="en-US" b="0" baseline="30000" dirty="0">
                <a:latin typeface="Times New Roman"/>
                <a:cs typeface="Times New Roman"/>
              </a:rPr>
              <a:t>T</a:t>
            </a:r>
            <a:r>
              <a:rPr lang="en-US" b="0" dirty="0">
                <a:latin typeface="Times New Roman"/>
                <a:cs typeface="Times New Roman"/>
              </a:rPr>
              <a:t> (-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dirty="0">
                <a:latin typeface="Times New Roman"/>
                <a:cs typeface="Times New Roman"/>
              </a:rPr>
              <a:t>) = 0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x[y – 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]  = 0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 err="1">
                <a:latin typeface="Times New Roman"/>
                <a:cs typeface="Times New Roman"/>
              </a:rPr>
              <a:t>xy</a:t>
            </a:r>
            <a:r>
              <a:rPr lang="en-US" b="0" dirty="0">
                <a:latin typeface="Times New Roman"/>
                <a:cs typeface="Times New Roman"/>
              </a:rPr>
              <a:t> = </a:t>
            </a:r>
            <a:r>
              <a:rPr lang="en-US" b="0" dirty="0" err="1">
                <a:latin typeface="Times New Roman"/>
                <a:cs typeface="Times New Roman"/>
              </a:rPr>
              <a:t>xx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endParaRPr lang="en-US" b="0" dirty="0">
              <a:latin typeface="Times New Roman"/>
              <a:cs typeface="Times New Roman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dirty="0">
              <a:latin typeface="Times New Roman"/>
              <a:cs typeface="Times New Roman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 = (</a:t>
            </a:r>
            <a:r>
              <a:rPr lang="en-US" b="0" dirty="0" err="1">
                <a:latin typeface="Times New Roman"/>
                <a:cs typeface="Times New Roman"/>
              </a:rPr>
              <a:t>xx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b="0" dirty="0">
                <a:latin typeface="Times New Roman"/>
                <a:cs typeface="Times New Roman"/>
              </a:rPr>
              <a:t>)</a:t>
            </a:r>
            <a:r>
              <a:rPr lang="en-US" b="0" baseline="30000" dirty="0">
                <a:latin typeface="Times New Roman"/>
                <a:cs typeface="Times New Roman"/>
              </a:rPr>
              <a:t>-1</a:t>
            </a:r>
            <a:r>
              <a:rPr lang="en-US" b="0" dirty="0">
                <a:latin typeface="Times New Roman"/>
                <a:cs typeface="Times New Roman"/>
              </a:rPr>
              <a:t>x</a:t>
            </a:r>
            <a:r>
              <a:rPr lang="en-US" dirty="0">
                <a:latin typeface="Times New Roman"/>
                <a:cs typeface="Times New Roman"/>
              </a:rPr>
              <a:t>y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For a linear line</a:t>
            </a:r>
          </a:p>
          <a:p>
            <a:pPr lvl="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w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 = ∑(x</a:t>
            </a:r>
            <a:r>
              <a:rPr lang="en-US" b="0" baseline="-25000" dirty="0">
                <a:latin typeface="Times New Roman"/>
                <a:cs typeface="Times New Roman"/>
              </a:rPr>
              <a:t>i</a:t>
            </a:r>
            <a:r>
              <a:rPr lang="en-US" b="0" dirty="0">
                <a:latin typeface="Times New Roman"/>
                <a:cs typeface="Times New Roman"/>
              </a:rPr>
              <a:t>-E[x])(</a:t>
            </a:r>
            <a:r>
              <a:rPr lang="en-US" b="0" dirty="0" err="1">
                <a:latin typeface="Times New Roman"/>
                <a:cs typeface="Times New Roman"/>
              </a:rPr>
              <a:t>y</a:t>
            </a:r>
            <a:r>
              <a:rPr lang="en-US" b="0" baseline="-25000" dirty="0" err="1">
                <a:latin typeface="Times New Roman"/>
                <a:cs typeface="Times New Roman"/>
              </a:rPr>
              <a:t>i</a:t>
            </a:r>
            <a:r>
              <a:rPr lang="en-US" b="0" dirty="0">
                <a:latin typeface="Times New Roman"/>
                <a:cs typeface="Times New Roman"/>
              </a:rPr>
              <a:t>-E[y])/∑(x</a:t>
            </a:r>
            <a:r>
              <a:rPr lang="en-US" b="0" baseline="-25000" dirty="0">
                <a:latin typeface="Times New Roman"/>
                <a:cs typeface="Times New Roman"/>
              </a:rPr>
              <a:t>i</a:t>
            </a:r>
            <a:r>
              <a:rPr lang="en-US" b="0" dirty="0">
                <a:latin typeface="Times New Roman"/>
                <a:cs typeface="Times New Roman"/>
              </a:rPr>
              <a:t>-E[x]))</a:t>
            </a:r>
            <a:r>
              <a:rPr lang="en-US" b="0" baseline="30000" dirty="0">
                <a:latin typeface="Times New Roman"/>
                <a:cs typeface="Times New Roman"/>
              </a:rPr>
              <a:t>2</a:t>
            </a:r>
          </a:p>
          <a:p>
            <a:pPr lvl="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w</a:t>
            </a:r>
            <a:r>
              <a:rPr lang="en-US" b="0" baseline="-25000" dirty="0">
                <a:latin typeface="Times New Roman"/>
                <a:cs typeface="Times New Roman"/>
              </a:rPr>
              <a:t>0 </a:t>
            </a:r>
            <a:r>
              <a:rPr lang="en-US" b="0" dirty="0">
                <a:latin typeface="Times New Roman"/>
                <a:cs typeface="Times New Roman"/>
              </a:rPr>
              <a:t>= E[y] – w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*E[x]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500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775942" y="703079"/>
            <a:ext cx="7613316" cy="864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dirty="0">
                <a:latin typeface="Franklin Gothic Book" charset="0"/>
              </a:rPr>
              <a:t>Linear Regression – Closed-form via LSM</a:t>
            </a:r>
            <a:endParaRPr lang="en-US" sz="3200" i="1" dirty="0">
              <a:latin typeface="Franklin Gothic Book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5FAC1-74F0-0B41-B701-5CEF8BA03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3127332" y="2295893"/>
            <a:ext cx="219356" cy="345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6B27AF-119A-6E44-936C-2F465DC10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4089820" y="2295893"/>
            <a:ext cx="219356" cy="34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84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Linear Regression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266B485E-DD90-CB45-A704-7ED5B04B6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47" y="2448335"/>
            <a:ext cx="7778284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/>
            <a:r>
              <a:rPr lang="en-US" sz="1800" b="0" dirty="0"/>
              <a:t>class </a:t>
            </a:r>
            <a:r>
              <a:rPr lang="en-US" sz="1800" b="0" dirty="0" err="1"/>
              <a:t>LinearRegression</a:t>
            </a:r>
            <a:r>
              <a:rPr lang="en-US" sz="1800" b="0" dirty="0"/>
              <a:t>(object):</a:t>
            </a:r>
          </a:p>
          <a:p>
            <a:pPr marL="0" indent="0"/>
            <a:r>
              <a:rPr lang="en-US" sz="1800" b="0" dirty="0"/>
              <a:t>    def fit(self, X, y):</a:t>
            </a:r>
          </a:p>
          <a:p>
            <a:pPr marL="0" indent="0"/>
            <a:r>
              <a:rPr lang="en-US" sz="1800" b="0" dirty="0"/>
              <a:t>        </a:t>
            </a:r>
            <a:r>
              <a:rPr lang="en-US" sz="1800" b="0" dirty="0" err="1"/>
              <a:t>self.w</a:t>
            </a:r>
            <a:r>
              <a:rPr lang="en-US" sz="1800" b="0" dirty="0"/>
              <a:t>_ = </a:t>
            </a:r>
            <a:r>
              <a:rPr lang="en-US" sz="1800" b="0" dirty="0" err="1"/>
              <a:t>np.zeros</a:t>
            </a:r>
            <a:r>
              <a:rPr lang="en-US" sz="1800" b="0" dirty="0"/>
              <a:t>(</a:t>
            </a:r>
            <a:r>
              <a:rPr lang="en-US" sz="1800" b="0" dirty="0" err="1"/>
              <a:t>X.shape</a:t>
            </a:r>
            <a:r>
              <a:rPr lang="en-US" sz="1800" b="0" dirty="0"/>
              <a:t>[1]+1)</a:t>
            </a:r>
          </a:p>
          <a:p>
            <a:pPr marL="0" indent="0"/>
            <a:r>
              <a:rPr lang="en-US" sz="1800" b="0" dirty="0"/>
              <a:t>        </a:t>
            </a:r>
            <a:r>
              <a:rPr lang="en-US" sz="1800" b="0" dirty="0" err="1"/>
              <a:t>self.cost</a:t>
            </a:r>
            <a:r>
              <a:rPr lang="en-US" sz="1800" b="0" dirty="0"/>
              <a:t>_ = []</a:t>
            </a:r>
          </a:p>
          <a:p>
            <a:pPr marL="0" indent="0"/>
            <a:r>
              <a:rPr lang="en-US" sz="1800" b="0" dirty="0"/>
              <a:t>        for </a:t>
            </a:r>
            <a:r>
              <a:rPr lang="en-US" sz="1800" b="0" dirty="0" err="1"/>
              <a:t>i</a:t>
            </a:r>
            <a:r>
              <a:rPr lang="en-US" sz="1800" b="0" dirty="0"/>
              <a:t> in range(</a:t>
            </a:r>
            <a:r>
              <a:rPr lang="en-US" sz="1800" b="0" dirty="0" err="1"/>
              <a:t>self.iter</a:t>
            </a:r>
            <a:r>
              <a:rPr lang="en-US" sz="1800" b="0" dirty="0"/>
              <a:t>):</a:t>
            </a:r>
          </a:p>
          <a:p>
            <a:pPr marL="0" indent="0"/>
            <a:r>
              <a:rPr lang="en-US" sz="1800" b="0" dirty="0"/>
              <a:t>             output = </a:t>
            </a:r>
            <a:r>
              <a:rPr lang="en-US" sz="1800" b="0" dirty="0" err="1"/>
              <a:t>self.net_input</a:t>
            </a:r>
            <a:r>
              <a:rPr lang="en-US" sz="1800" b="0" dirty="0"/>
              <a:t>(X)			# </a:t>
            </a:r>
            <a:r>
              <a:rPr lang="en-US" sz="1800" b="0" dirty="0" err="1">
                <a:latin typeface="Times New Roman"/>
                <a:cs typeface="Times New Roman"/>
              </a:rPr>
              <a:t>x</a:t>
            </a:r>
            <a:r>
              <a:rPr lang="en-US" sz="1800" b="0" baseline="30000" dirty="0" err="1">
                <a:latin typeface="Times New Roman"/>
                <a:cs typeface="Times New Roman"/>
              </a:rPr>
              <a:t>T</a:t>
            </a:r>
            <a:r>
              <a:rPr lang="en-US" sz="1800" b="0" dirty="0" err="1">
                <a:latin typeface="Times New Roman"/>
                <a:cs typeface="Times New Roman"/>
              </a:rPr>
              <a:t>w</a:t>
            </a:r>
            <a:r>
              <a:rPr lang="en-US" sz="1800" b="0" dirty="0">
                <a:latin typeface="Times New Roman"/>
                <a:cs typeface="Times New Roman"/>
              </a:rPr>
              <a:t> + e</a:t>
            </a:r>
            <a:endParaRPr lang="en-US" sz="1800" b="0" dirty="0"/>
          </a:p>
          <a:p>
            <a:pPr marL="0" indent="0"/>
            <a:r>
              <a:rPr lang="en-US" sz="1800" b="0" dirty="0"/>
              <a:t>             error = y - output</a:t>
            </a:r>
          </a:p>
          <a:p>
            <a:pPr marL="0" indent="0"/>
            <a:endParaRPr lang="en-US" sz="1800" b="0" dirty="0"/>
          </a:p>
          <a:p>
            <a:pPr marL="0" indent="0"/>
            <a:r>
              <a:rPr lang="en-US" sz="1800" b="0" dirty="0"/>
              <a:t>             </a:t>
            </a:r>
            <a:r>
              <a:rPr lang="en-US" sz="1800" b="0" dirty="0" err="1"/>
              <a:t>self.w</a:t>
            </a:r>
            <a:r>
              <a:rPr lang="en-US" sz="1800" b="0" dirty="0"/>
              <a:t>_[1:] += </a:t>
            </a:r>
            <a:r>
              <a:rPr lang="en-US" sz="1800" b="0" dirty="0" err="1"/>
              <a:t>self.eta</a:t>
            </a:r>
            <a:r>
              <a:rPr lang="en-US" sz="1800" b="0" dirty="0"/>
              <a:t> * </a:t>
            </a:r>
            <a:r>
              <a:rPr lang="en-US" sz="1800" b="0" dirty="0" err="1"/>
              <a:t>np.dot</a:t>
            </a:r>
            <a:r>
              <a:rPr lang="en-US" sz="1800" b="0" dirty="0"/>
              <a:t>(X.T, error)</a:t>
            </a:r>
          </a:p>
          <a:p>
            <a:pPr marL="0" indent="0"/>
            <a:r>
              <a:rPr lang="en-US" sz="1800" b="0" dirty="0"/>
              <a:t>             </a:t>
            </a:r>
            <a:r>
              <a:rPr lang="en-US" sz="1800" b="0" dirty="0" err="1"/>
              <a:t>self.w</a:t>
            </a:r>
            <a:r>
              <a:rPr lang="en-US" sz="1800" b="0" dirty="0"/>
              <a:t>_[0]  += </a:t>
            </a:r>
            <a:r>
              <a:rPr lang="en-US" sz="1800" b="0" dirty="0" err="1"/>
              <a:t>self.eta</a:t>
            </a:r>
            <a:r>
              <a:rPr lang="en-US" sz="1800" b="0" dirty="0"/>
              <a:t> * </a:t>
            </a:r>
            <a:r>
              <a:rPr lang="en-US" sz="1800" b="0" dirty="0" err="1"/>
              <a:t>error.sum</a:t>
            </a:r>
            <a:r>
              <a:rPr lang="en-US" sz="1800" b="0" dirty="0"/>
              <a:t>()</a:t>
            </a:r>
          </a:p>
          <a:p>
            <a:pPr marL="0" indent="0"/>
            <a:r>
              <a:rPr lang="en-US" sz="1800" b="0" dirty="0"/>
              <a:t>             cost = </a:t>
            </a:r>
            <a:r>
              <a:rPr lang="en-US" sz="1800" b="0" dirty="0" err="1"/>
              <a:t>np.dot</a:t>
            </a:r>
            <a:r>
              <a:rPr lang="en-US" sz="1800" b="0" dirty="0"/>
              <a:t>(</a:t>
            </a:r>
            <a:r>
              <a:rPr lang="en-US" sz="1800" b="0" dirty="0" err="1"/>
              <a:t>error.T</a:t>
            </a:r>
            <a:r>
              <a:rPr lang="en-US" sz="1800" b="0" dirty="0"/>
              <a:t>, error)/2.0		#(error**2).sum()/2.0</a:t>
            </a:r>
          </a:p>
          <a:p>
            <a:pPr marL="0" indent="0"/>
            <a:r>
              <a:rPr lang="en-US" sz="1800" b="0" dirty="0"/>
              <a:t>            </a:t>
            </a:r>
            <a:r>
              <a:rPr lang="en-US" sz="1800" b="0" dirty="0" err="1"/>
              <a:t>self.cost.append</a:t>
            </a:r>
            <a:r>
              <a:rPr lang="en-US" sz="1800" b="0" dirty="0"/>
              <a:t>(cost)</a:t>
            </a:r>
          </a:p>
          <a:p>
            <a:pPr marL="0" indent="0"/>
            <a:r>
              <a:rPr lang="en-US" sz="1800" b="0" dirty="0"/>
              <a:t>      return self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9FE8381-2606-5A4F-A051-DD2B04EA3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461" y="1114154"/>
            <a:ext cx="5029200" cy="1477328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/>
            <a:r>
              <a:rPr lang="en-US" sz="1800" b="0" dirty="0"/>
              <a:t>def </a:t>
            </a:r>
            <a:r>
              <a:rPr lang="en-US" sz="1800" b="0" dirty="0" err="1"/>
              <a:t>net_input</a:t>
            </a:r>
            <a:r>
              <a:rPr lang="en-US" sz="1800" b="0" dirty="0"/>
              <a:t>(self, X):</a:t>
            </a:r>
          </a:p>
          <a:p>
            <a:pPr marL="0" indent="0"/>
            <a:r>
              <a:rPr lang="en-US" sz="1800" b="0" dirty="0"/>
              <a:t>      return </a:t>
            </a:r>
            <a:r>
              <a:rPr lang="en-US" sz="1800" b="0" dirty="0" err="1"/>
              <a:t>np.dot</a:t>
            </a:r>
            <a:r>
              <a:rPr lang="en-US" sz="1800" b="0" dirty="0"/>
              <a:t>(X, </a:t>
            </a:r>
            <a:r>
              <a:rPr lang="en-US" sz="1800" b="0" dirty="0" err="1"/>
              <a:t>self.w</a:t>
            </a:r>
            <a:r>
              <a:rPr lang="en-US" sz="1800" b="0" dirty="0"/>
              <a:t>_[1:]) + </a:t>
            </a:r>
            <a:r>
              <a:rPr lang="en-US" sz="1800" b="0" dirty="0" err="1"/>
              <a:t>self.w</a:t>
            </a:r>
            <a:r>
              <a:rPr lang="en-US" sz="1800" b="0" dirty="0"/>
              <a:t>_[0]</a:t>
            </a:r>
          </a:p>
          <a:p>
            <a:pPr marL="0" indent="0"/>
            <a:endParaRPr lang="en-US" sz="1800" b="0" dirty="0"/>
          </a:p>
          <a:p>
            <a:pPr marL="0" indent="0"/>
            <a:r>
              <a:rPr lang="en-US" sz="1800" b="0" dirty="0"/>
              <a:t>def predict(self, X):</a:t>
            </a:r>
          </a:p>
          <a:p>
            <a:pPr marL="0" indent="0"/>
            <a:r>
              <a:rPr lang="en-US" sz="1800" b="0" dirty="0"/>
              <a:t>      return </a:t>
            </a:r>
            <a:r>
              <a:rPr lang="en-US" sz="1800" b="0" dirty="0" err="1"/>
              <a:t>np.where</a:t>
            </a:r>
            <a:r>
              <a:rPr lang="en-US" sz="1800" b="0" dirty="0"/>
              <a:t>(</a:t>
            </a:r>
            <a:r>
              <a:rPr lang="en-US" sz="1800" b="0" dirty="0" err="1"/>
              <a:t>self.net_input</a:t>
            </a:r>
            <a:r>
              <a:rPr lang="en-US" sz="1800" b="0" dirty="0"/>
              <a:t>(X) &gt;= 0.0, 1, -1)</a:t>
            </a: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2964107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26" y="1427488"/>
            <a:ext cx="4062883" cy="31388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655" y="1500667"/>
            <a:ext cx="3863718" cy="306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08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950686" y="1480456"/>
            <a:ext cx="8193314" cy="5094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Curve fitting by a polynomial of degree m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>
                <a:latin typeface="Times New Roman"/>
                <a:cs typeface="Times New Roman"/>
              </a:rPr>
              <a:t>w </a:t>
            </a:r>
            <a:r>
              <a:rPr lang="en-US" b="0" dirty="0">
                <a:latin typeface="Times New Roman"/>
                <a:cs typeface="Times New Roman"/>
              </a:rPr>
              <a:t>= (w</a:t>
            </a:r>
            <a:r>
              <a:rPr lang="en-US" b="0" baseline="-25000" dirty="0">
                <a:latin typeface="Times New Roman"/>
                <a:cs typeface="Times New Roman"/>
              </a:rPr>
              <a:t>0</a:t>
            </a:r>
            <a:r>
              <a:rPr lang="en-US" b="0" dirty="0">
                <a:latin typeface="Times New Roman"/>
                <a:cs typeface="Times New Roman"/>
              </a:rPr>
              <a:t>, w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, .. ,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baseline="-25000" dirty="0" err="1">
                <a:latin typeface="Times New Roman"/>
                <a:cs typeface="Times New Roman"/>
              </a:rPr>
              <a:t>m</a:t>
            </a:r>
            <a:r>
              <a:rPr lang="en-US" b="0" dirty="0">
                <a:latin typeface="Times New Roman"/>
                <a:cs typeface="Times New Roman"/>
              </a:rPr>
              <a:t>)  for h(</a:t>
            </a:r>
            <a:r>
              <a:rPr lang="en-US" b="0" dirty="0" err="1">
                <a:latin typeface="Times New Roman"/>
                <a:cs typeface="Times New Roman"/>
              </a:rPr>
              <a:t>x,</a:t>
            </a:r>
            <a:r>
              <a:rPr lang="en-US" dirty="0" err="1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) = w</a:t>
            </a:r>
            <a:r>
              <a:rPr lang="en-US" b="0" baseline="-25000" dirty="0">
                <a:latin typeface="Times New Roman"/>
                <a:cs typeface="Times New Roman"/>
              </a:rPr>
              <a:t>0 </a:t>
            </a:r>
            <a:r>
              <a:rPr lang="en-US" b="0" dirty="0">
                <a:latin typeface="Times New Roman"/>
                <a:cs typeface="Times New Roman"/>
              </a:rPr>
              <a:t>+w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x + w</a:t>
            </a:r>
            <a:r>
              <a:rPr lang="en-US" b="0" baseline="-25000" dirty="0">
                <a:latin typeface="Times New Roman"/>
                <a:cs typeface="Times New Roman"/>
              </a:rPr>
              <a:t>2</a:t>
            </a:r>
            <a:r>
              <a:rPr lang="en-US" b="0" dirty="0">
                <a:latin typeface="Times New Roman"/>
                <a:cs typeface="Times New Roman"/>
              </a:rPr>
              <a:t>x</a:t>
            </a:r>
            <a:r>
              <a:rPr lang="en-US" b="0" baseline="30000" dirty="0">
                <a:latin typeface="Times New Roman"/>
                <a:cs typeface="Times New Roman"/>
              </a:rPr>
              <a:t>2</a:t>
            </a:r>
            <a:r>
              <a:rPr lang="en-US" b="0" dirty="0">
                <a:latin typeface="Times New Roman"/>
                <a:cs typeface="Times New Roman"/>
              </a:rPr>
              <a:t> + </a:t>
            </a:r>
            <a:r>
              <a:rPr lang="is-IS" b="0" dirty="0">
                <a:latin typeface="Times New Roman"/>
                <a:cs typeface="Times New Roman"/>
              </a:rPr>
              <a:t>… </a:t>
            </a:r>
            <a:r>
              <a:rPr lang="en-US" b="0" dirty="0">
                <a:latin typeface="Times New Roman"/>
                <a:cs typeface="Times New Roman"/>
              </a:rPr>
              <a:t>+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baseline="-25000" dirty="0" err="1">
                <a:latin typeface="Times New Roman"/>
                <a:cs typeface="Times New Roman"/>
              </a:rPr>
              <a:t>m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baseline="30000" dirty="0" err="1">
                <a:latin typeface="Times New Roman"/>
                <a:cs typeface="Times New Roman"/>
              </a:rPr>
              <a:t>m</a:t>
            </a:r>
            <a:endParaRPr lang="en-US" b="0" dirty="0">
              <a:latin typeface="Times New Roman"/>
              <a:cs typeface="Times New Roman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Given a dataset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     (x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, y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), (x</a:t>
            </a:r>
            <a:r>
              <a:rPr lang="en-US" b="0" baseline="-25000" dirty="0">
                <a:latin typeface="Times New Roman"/>
                <a:cs typeface="Times New Roman"/>
              </a:rPr>
              <a:t>2</a:t>
            </a:r>
            <a:r>
              <a:rPr lang="en-US" b="0" dirty="0">
                <a:latin typeface="Times New Roman"/>
                <a:cs typeface="Times New Roman"/>
              </a:rPr>
              <a:t>, y</a:t>
            </a:r>
            <a:r>
              <a:rPr lang="en-US" b="0" baseline="-25000" dirty="0">
                <a:latin typeface="Times New Roman"/>
                <a:cs typeface="Times New Roman"/>
              </a:rPr>
              <a:t>2</a:t>
            </a:r>
            <a:r>
              <a:rPr lang="en-US" b="0" dirty="0">
                <a:latin typeface="Times New Roman"/>
                <a:cs typeface="Times New Roman"/>
              </a:rPr>
              <a:t>), </a:t>
            </a:r>
            <a:r>
              <a:rPr lang="is-IS" b="0" dirty="0">
                <a:latin typeface="Times New Roman"/>
                <a:cs typeface="Times New Roman"/>
              </a:rPr>
              <a:t>….. </a:t>
            </a:r>
            <a:r>
              <a:rPr lang="en-US" b="0" dirty="0">
                <a:latin typeface="Times New Roman"/>
                <a:cs typeface="Times New Roman"/>
              </a:rPr>
              <a:t>(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baseline="-25000" dirty="0" err="1">
                <a:latin typeface="Times New Roman"/>
                <a:cs typeface="Times New Roman"/>
              </a:rPr>
              <a:t>N</a:t>
            </a:r>
            <a:r>
              <a:rPr lang="en-US" b="0" dirty="0">
                <a:latin typeface="Times New Roman"/>
                <a:cs typeface="Times New Roman"/>
              </a:rPr>
              <a:t>, </a:t>
            </a:r>
            <a:r>
              <a:rPr lang="en-US" b="0" dirty="0" err="1">
                <a:latin typeface="Times New Roman"/>
                <a:cs typeface="Times New Roman"/>
              </a:rPr>
              <a:t>y</a:t>
            </a:r>
            <a:r>
              <a:rPr lang="en-US" b="0" baseline="-25000" dirty="0" err="1">
                <a:latin typeface="Times New Roman"/>
                <a:cs typeface="Times New Roman"/>
              </a:rPr>
              <a:t>N</a:t>
            </a:r>
            <a:r>
              <a:rPr lang="en-US" b="0" dirty="0">
                <a:latin typeface="Times New Roman"/>
                <a:cs typeface="Times New Roman"/>
              </a:rPr>
              <a:t>)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Find </a:t>
            </a:r>
            <a:r>
              <a:rPr lang="en-US" dirty="0">
                <a:latin typeface="Times New Roman"/>
                <a:cs typeface="Times New Roman"/>
              </a:rPr>
              <a:t>w </a:t>
            </a:r>
            <a:r>
              <a:rPr lang="en-US" b="0" dirty="0">
                <a:latin typeface="Times New Roman"/>
                <a:cs typeface="Times New Roman"/>
              </a:rPr>
              <a:t>that minimizes the error:</a:t>
            </a:r>
            <a:endParaRPr lang="en-US" b="0" baseline="-25000" dirty="0">
              <a:latin typeface="Times New Roman"/>
              <a:cs typeface="Times New Roman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i="1" dirty="0">
                <a:latin typeface="Times New Roman"/>
                <a:cs typeface="Times New Roman"/>
              </a:rPr>
              <a:t>E</a:t>
            </a:r>
            <a:r>
              <a:rPr lang="en-US" b="0" dirty="0">
                <a:latin typeface="Times New Roman"/>
                <a:cs typeface="Times New Roman"/>
              </a:rPr>
              <a:t>(</a:t>
            </a:r>
            <a:r>
              <a:rPr lang="en-US" dirty="0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) </a:t>
            </a:r>
            <a:r>
              <a:rPr lang="en-US" b="0" i="1" dirty="0">
                <a:latin typeface="Times New Roman"/>
                <a:cs typeface="Times New Roman"/>
              </a:rPr>
              <a:t>= </a:t>
            </a:r>
            <a:r>
              <a:rPr lang="en-US" b="0" dirty="0">
                <a:latin typeface="Times New Roman"/>
                <a:cs typeface="Times New Roman"/>
              </a:rPr>
              <a:t>(1/N) ∑</a:t>
            </a:r>
            <a:r>
              <a:rPr lang="en-US" b="0" i="1" baseline="30000" dirty="0">
                <a:latin typeface="Times New Roman"/>
                <a:cs typeface="Times New Roman"/>
              </a:rPr>
              <a:t> </a:t>
            </a:r>
            <a:r>
              <a:rPr lang="en-US" b="0" i="1" baseline="-25000" dirty="0">
                <a:latin typeface="Times New Roman"/>
                <a:cs typeface="Times New Roman"/>
              </a:rPr>
              <a:t>N</a:t>
            </a:r>
            <a:r>
              <a:rPr lang="en-US" b="0" dirty="0">
                <a:latin typeface="Times New Roman"/>
                <a:cs typeface="Times New Roman"/>
              </a:rPr>
              <a:t>(h(x</a:t>
            </a:r>
            <a:r>
              <a:rPr lang="en-US" b="0" baseline="-25000" dirty="0">
                <a:latin typeface="Times New Roman"/>
                <a:cs typeface="Times New Roman"/>
              </a:rPr>
              <a:t>i</a:t>
            </a:r>
            <a:r>
              <a:rPr lang="en-US" b="0" dirty="0">
                <a:latin typeface="Times New Roman"/>
                <a:cs typeface="Times New Roman"/>
              </a:rPr>
              <a:t>, </a:t>
            </a:r>
            <a:r>
              <a:rPr lang="en-US" dirty="0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) – </a:t>
            </a:r>
            <a:r>
              <a:rPr lang="en-US" b="0" dirty="0" err="1">
                <a:latin typeface="Times New Roman"/>
                <a:cs typeface="Times New Roman"/>
              </a:rPr>
              <a:t>y</a:t>
            </a:r>
            <a:r>
              <a:rPr lang="en-US" b="0" baseline="-25000" dirty="0" err="1">
                <a:latin typeface="Times New Roman"/>
                <a:cs typeface="Times New Roman"/>
              </a:rPr>
              <a:t>i</a:t>
            </a:r>
            <a:r>
              <a:rPr lang="en-US" b="0" dirty="0">
                <a:latin typeface="Times New Roman"/>
                <a:cs typeface="Times New Roman"/>
              </a:rPr>
              <a:t>)</a:t>
            </a:r>
            <a:r>
              <a:rPr lang="en-US" b="0" baseline="30000" dirty="0">
                <a:latin typeface="Times New Roman"/>
                <a:cs typeface="Times New Roman"/>
              </a:rPr>
              <a:t>2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Least Square Mean (LSM) Error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y = 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dirty="0">
                <a:latin typeface="Times New Roman"/>
                <a:cs typeface="Times New Roman"/>
              </a:rPr>
              <a:t> + e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 = </a:t>
            </a:r>
            <a:r>
              <a:rPr lang="en-US" sz="2000" b="0" dirty="0">
                <a:latin typeface="Times New Roman"/>
                <a:cs typeface="Times New Roman"/>
              </a:rPr>
              <a:t>(1/N)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dirty="0">
                <a:latin typeface="Times New Roman"/>
                <a:cs typeface="Times New Roman"/>
              </a:rPr>
              <a:t> – y)</a:t>
            </a:r>
            <a:r>
              <a:rPr lang="en-US" sz="2000" b="0" baseline="30000" dirty="0">
                <a:latin typeface="Times New Roman"/>
                <a:cs typeface="Times New Roman"/>
              </a:rPr>
              <a:t>2</a:t>
            </a:r>
          </a:p>
          <a:p>
            <a:pPr lvl="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Δ</a:t>
            </a:r>
            <a:r>
              <a:rPr lang="en-US" sz="2000" b="0" dirty="0">
                <a:latin typeface="Times New Roman"/>
                <a:cs typeface="Times New Roman"/>
              </a:rPr>
              <a:t>E</a:t>
            </a:r>
            <a:r>
              <a:rPr lang="en-US" sz="2000" dirty="0">
                <a:latin typeface="Times New Roman"/>
                <a:cs typeface="Times New Roman"/>
              </a:rPr>
              <a:t>(w) = </a:t>
            </a:r>
            <a:r>
              <a:rPr lang="en-US" sz="2000" b="0" dirty="0">
                <a:latin typeface="Times New Roman"/>
                <a:cs typeface="Times New Roman"/>
              </a:rPr>
              <a:t>(1/N)</a:t>
            </a:r>
            <a:r>
              <a:rPr lang="en-US" sz="2000" dirty="0">
                <a:latin typeface="Times New Roman"/>
                <a:cs typeface="Times New Roman"/>
              </a:rPr>
              <a:t>2X</a:t>
            </a:r>
            <a:r>
              <a:rPr lang="en-US" sz="2000" b="0" baseline="30000" dirty="0">
                <a:latin typeface="Times New Roman"/>
                <a:cs typeface="Times New Roman"/>
              </a:rPr>
              <a:t>T</a:t>
            </a:r>
            <a:r>
              <a:rPr lang="en-US" sz="2000" dirty="0">
                <a:latin typeface="Times New Roman"/>
                <a:cs typeface="Times New Roman"/>
              </a:rPr>
              <a:t>(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dirty="0">
                <a:latin typeface="Times New Roman"/>
                <a:cs typeface="Times New Roman"/>
              </a:rPr>
              <a:t>-y) = 0</a:t>
            </a:r>
          </a:p>
          <a:p>
            <a:pPr lvl="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Xw</a:t>
            </a:r>
            <a:r>
              <a:rPr lang="en-US" sz="2000" dirty="0">
                <a:latin typeface="Times New Roman"/>
                <a:cs typeface="Times New Roman"/>
              </a:rPr>
              <a:t> = 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y</a:t>
            </a:r>
            <a:endParaRPr lang="en-US" sz="2000" dirty="0">
              <a:latin typeface="Times New Roman"/>
              <a:cs typeface="Times New Roman"/>
            </a:endParaRPr>
          </a:p>
          <a:p>
            <a:pPr lvl="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="0" dirty="0">
                <a:latin typeface="Times New Roman"/>
                <a:cs typeface="Times New Roman"/>
              </a:rPr>
              <a:t> = (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baseline="30000" dirty="0">
                <a:latin typeface="Times New Roman"/>
                <a:cs typeface="Times New Roman"/>
              </a:rPr>
              <a:t>T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  <a:r>
              <a:rPr lang="en-US" sz="2000" b="0" baseline="30000" dirty="0">
                <a:latin typeface="Times New Roman"/>
                <a:cs typeface="Times New Roman"/>
              </a:rPr>
              <a:t>-1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baseline="30000" dirty="0">
                <a:latin typeface="Times New Roman"/>
                <a:cs typeface="Times New Roman"/>
              </a:rPr>
              <a:t>T</a:t>
            </a:r>
            <a:r>
              <a:rPr lang="en-US" sz="2000" dirty="0">
                <a:latin typeface="Times New Roman"/>
                <a:cs typeface="Times New Roman"/>
              </a:rPr>
              <a:t>y</a:t>
            </a:r>
          </a:p>
          <a:p>
            <a:pPr lvl="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Pseudo-inverse: (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baseline="30000" dirty="0">
                <a:latin typeface="Times New Roman"/>
                <a:cs typeface="Times New Roman"/>
              </a:rPr>
              <a:t>T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  <a:r>
              <a:rPr lang="en-US" sz="2000" b="0" baseline="30000" dirty="0">
                <a:latin typeface="Times New Roman"/>
                <a:cs typeface="Times New Roman"/>
              </a:rPr>
              <a:t>-1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baseline="30000" dirty="0">
                <a:latin typeface="Times New Roman"/>
                <a:cs typeface="Times New Roman"/>
              </a:rPr>
              <a:t>T</a:t>
            </a:r>
            <a:endParaRPr lang="en-US" sz="2000" dirty="0">
              <a:latin typeface="Times New Roman"/>
              <a:cs typeface="Times New Roman"/>
            </a:endParaRP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500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645886" y="748393"/>
            <a:ext cx="5715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dirty="0">
                <a:latin typeface="Franklin Gothic Book" charset="0"/>
              </a:rPr>
              <a:t>Polynomial Regression</a:t>
            </a:r>
            <a:endParaRPr lang="en-US" sz="3200" i="1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509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1205591" y="1597025"/>
            <a:ext cx="6893379" cy="4861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Target function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h(</a:t>
            </a:r>
            <a:r>
              <a:rPr lang="en-US" b="0" dirty="0" err="1">
                <a:latin typeface="Times New Roman"/>
                <a:cs typeface="Times New Roman"/>
              </a:rPr>
              <a:t>x,</a:t>
            </a:r>
            <a:r>
              <a:rPr lang="en-US" dirty="0" err="1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) = w</a:t>
            </a:r>
            <a:r>
              <a:rPr lang="en-US" b="0" baseline="-25000" dirty="0">
                <a:latin typeface="Times New Roman"/>
                <a:cs typeface="Times New Roman"/>
              </a:rPr>
              <a:t>0 </a:t>
            </a:r>
            <a:r>
              <a:rPr lang="en-US" b="0" dirty="0">
                <a:latin typeface="Times New Roman"/>
                <a:cs typeface="Times New Roman"/>
              </a:rPr>
              <a:t>+w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x + w</a:t>
            </a:r>
            <a:r>
              <a:rPr lang="en-US" b="0" baseline="-25000" dirty="0">
                <a:latin typeface="Times New Roman"/>
                <a:cs typeface="Times New Roman"/>
              </a:rPr>
              <a:t>2</a:t>
            </a:r>
            <a:r>
              <a:rPr lang="en-US" b="0" dirty="0">
                <a:latin typeface="Times New Roman"/>
                <a:cs typeface="Times New Roman"/>
              </a:rPr>
              <a:t>x</a:t>
            </a:r>
            <a:r>
              <a:rPr lang="en-US" b="0" baseline="30000" dirty="0">
                <a:latin typeface="Times New Roman"/>
                <a:cs typeface="Times New Roman"/>
              </a:rPr>
              <a:t>2</a:t>
            </a:r>
            <a:r>
              <a:rPr lang="en-US" b="0" dirty="0">
                <a:latin typeface="Times New Roman"/>
                <a:cs typeface="Times New Roman"/>
              </a:rPr>
              <a:t> + </a:t>
            </a:r>
            <a:r>
              <a:rPr lang="is-IS" b="0" dirty="0">
                <a:latin typeface="Times New Roman"/>
                <a:cs typeface="Times New Roman"/>
              </a:rPr>
              <a:t>… </a:t>
            </a:r>
            <a:r>
              <a:rPr lang="en-US" b="0" dirty="0">
                <a:latin typeface="Times New Roman"/>
                <a:cs typeface="Times New Roman"/>
              </a:rPr>
              <a:t>+</a:t>
            </a:r>
            <a:r>
              <a:rPr lang="en-US" b="0" dirty="0" err="1">
                <a:latin typeface="Times New Roman"/>
                <a:cs typeface="Times New Roman"/>
              </a:rPr>
              <a:t>w</a:t>
            </a:r>
            <a:r>
              <a:rPr lang="en-US" b="0" baseline="-25000" dirty="0" err="1">
                <a:latin typeface="Times New Roman"/>
                <a:cs typeface="Times New Roman"/>
              </a:rPr>
              <a:t>m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baseline="30000" dirty="0" err="1">
                <a:latin typeface="Times New Roman"/>
                <a:cs typeface="Times New Roman"/>
              </a:rPr>
              <a:t>m</a:t>
            </a:r>
            <a:endParaRPr lang="en-US" b="0" baseline="30000" dirty="0">
              <a:latin typeface="Times New Roman"/>
              <a:cs typeface="Times New Roman"/>
            </a:endParaRPr>
          </a:p>
          <a:p>
            <a:pPr marL="342900" lvl="1" indent="0">
              <a:lnSpc>
                <a:spcPct val="90000"/>
              </a:lnSpc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	 = w</a:t>
            </a:r>
            <a:r>
              <a:rPr lang="en-US" b="0" baseline="-25000" dirty="0">
                <a:latin typeface="Times New Roman"/>
                <a:cs typeface="Times New Roman"/>
              </a:rPr>
              <a:t>0 </a:t>
            </a:r>
            <a:r>
              <a:rPr lang="en-US" b="0" dirty="0">
                <a:latin typeface="Times New Roman"/>
                <a:cs typeface="Times New Roman"/>
              </a:rPr>
              <a:t>+ ∑</a:t>
            </a:r>
            <a:r>
              <a:rPr lang="en-US" b="0" i="1" baseline="30000" dirty="0">
                <a:latin typeface="Times New Roman"/>
                <a:cs typeface="Times New Roman"/>
              </a:rPr>
              <a:t> </a:t>
            </a:r>
            <a:r>
              <a:rPr lang="en-US" b="0" i="1" baseline="-25000" dirty="0">
                <a:latin typeface="Times New Roman"/>
                <a:cs typeface="Times New Roman"/>
              </a:rPr>
              <a:t>j=1</a:t>
            </a:r>
            <a:r>
              <a:rPr lang="en-US" b="0" dirty="0">
                <a:latin typeface="Times New Roman"/>
                <a:cs typeface="Times New Roman"/>
              </a:rPr>
              <a:t>w</a:t>
            </a:r>
            <a:r>
              <a:rPr lang="en-US" b="0" baseline="-25000" dirty="0">
                <a:latin typeface="Times New Roman"/>
                <a:cs typeface="Times New Roman"/>
              </a:rPr>
              <a:t>j</a:t>
            </a:r>
            <a:r>
              <a:rPr lang="en-US" b="0" dirty="0">
                <a:latin typeface="Times New Roman"/>
                <a:cs typeface="Times New Roman"/>
              </a:rPr>
              <a:t>x</a:t>
            </a:r>
            <a:r>
              <a:rPr lang="en-US" b="0" baseline="30000" dirty="0">
                <a:latin typeface="Times New Roman"/>
                <a:cs typeface="Times New Roman"/>
              </a:rPr>
              <a:t>j</a:t>
            </a:r>
          </a:p>
          <a:p>
            <a:pPr marL="342900" lvl="1" indent="0">
              <a:lnSpc>
                <a:spcPct val="90000"/>
              </a:lnSpc>
              <a:spcBef>
                <a:spcPct val="20000"/>
              </a:spcBef>
            </a:pPr>
            <a:r>
              <a:rPr lang="en-US" b="0" baseline="30000" dirty="0">
                <a:latin typeface="Times New Roman"/>
                <a:cs typeface="Times New Roman"/>
              </a:rPr>
              <a:t>			 </a:t>
            </a:r>
            <a:endParaRPr lang="en-US" b="0" dirty="0">
              <a:latin typeface="Times New Roman"/>
              <a:cs typeface="Times New Roman"/>
            </a:endParaRPr>
          </a:p>
          <a:p>
            <a:pPr marL="342900" lvl="1" indent="0">
              <a:lnSpc>
                <a:spcPct val="90000"/>
              </a:lnSpc>
              <a:spcBef>
                <a:spcPct val="20000"/>
              </a:spcBef>
            </a:pPr>
            <a:r>
              <a:rPr lang="en-US" b="0" baseline="30000" dirty="0">
                <a:latin typeface="Times New Roman"/>
                <a:cs typeface="Times New Roman"/>
              </a:rPr>
              <a:t>		</a:t>
            </a:r>
            <a:r>
              <a:rPr lang="en-US" b="0" dirty="0">
                <a:latin typeface="Times New Roman"/>
                <a:cs typeface="Times New Roman"/>
              </a:rPr>
              <a:t>	 = ∑</a:t>
            </a:r>
            <a:r>
              <a:rPr lang="en-US" b="0" i="1" baseline="30000" dirty="0">
                <a:latin typeface="Times New Roman"/>
                <a:cs typeface="Times New Roman"/>
              </a:rPr>
              <a:t> </a:t>
            </a:r>
            <a:r>
              <a:rPr lang="en-US" b="0" i="1" baseline="-25000" dirty="0">
                <a:latin typeface="Times New Roman"/>
                <a:cs typeface="Times New Roman"/>
              </a:rPr>
              <a:t>j=0</a:t>
            </a:r>
            <a:r>
              <a:rPr lang="en-US" b="0" dirty="0">
                <a:latin typeface="Times New Roman"/>
                <a:cs typeface="Times New Roman"/>
              </a:rPr>
              <a:t>w</a:t>
            </a:r>
            <a:r>
              <a:rPr lang="en-US" b="0" baseline="-25000" dirty="0">
                <a:latin typeface="Times New Roman"/>
                <a:cs typeface="Times New Roman"/>
              </a:rPr>
              <a:t>j</a:t>
            </a:r>
            <a:r>
              <a:rPr lang="en-US" b="0" dirty="0">
                <a:latin typeface="Times New Roman"/>
                <a:cs typeface="Times New Roman"/>
              </a:rPr>
              <a:t>x</a:t>
            </a:r>
            <a:r>
              <a:rPr lang="en-US" b="0" baseline="30000" dirty="0">
                <a:latin typeface="Times New Roman"/>
                <a:cs typeface="Times New Roman"/>
              </a:rPr>
              <a:t>j</a:t>
            </a:r>
          </a:p>
          <a:p>
            <a:pPr marL="342900" lvl="1" indent="0">
              <a:lnSpc>
                <a:spcPct val="90000"/>
              </a:lnSpc>
              <a:spcBef>
                <a:spcPct val="20000"/>
              </a:spcBef>
            </a:pPr>
            <a:endParaRPr lang="en-US" b="0" baseline="30000" dirty="0">
              <a:latin typeface="Times New Roman"/>
              <a:cs typeface="Times New Roman"/>
            </a:endParaRPr>
          </a:p>
          <a:p>
            <a:pPr marL="342900" lvl="1" indent="0">
              <a:lnSpc>
                <a:spcPct val="90000"/>
              </a:lnSpc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	  = [1 x</a:t>
            </a:r>
            <a:r>
              <a:rPr lang="en-US" b="0" baseline="-25000" dirty="0">
                <a:latin typeface="Times New Roman"/>
                <a:cs typeface="Times New Roman"/>
              </a:rPr>
              <a:t>0</a:t>
            </a:r>
            <a:r>
              <a:rPr lang="en-US" b="0" dirty="0">
                <a:latin typeface="Times New Roman"/>
                <a:cs typeface="Times New Roman"/>
              </a:rPr>
              <a:t>  x</a:t>
            </a:r>
            <a:r>
              <a:rPr lang="en-US" b="0" baseline="-25000" dirty="0">
                <a:latin typeface="Times New Roman"/>
                <a:cs typeface="Times New Roman"/>
              </a:rPr>
              <a:t>1</a:t>
            </a:r>
            <a:r>
              <a:rPr lang="en-US" b="0" dirty="0">
                <a:latin typeface="Times New Roman"/>
                <a:cs typeface="Times New Roman"/>
              </a:rPr>
              <a:t> </a:t>
            </a:r>
            <a:r>
              <a:rPr lang="is-IS" b="0" dirty="0">
                <a:latin typeface="Times New Roman"/>
                <a:cs typeface="Times New Roman"/>
              </a:rPr>
              <a:t>…</a:t>
            </a:r>
            <a:r>
              <a:rPr lang="en-US" b="0" dirty="0">
                <a:latin typeface="Times New Roman"/>
                <a:cs typeface="Times New Roman"/>
              </a:rPr>
              <a:t>  </a:t>
            </a:r>
            <a:r>
              <a:rPr lang="en-US" b="0" dirty="0" err="1">
                <a:latin typeface="Times New Roman"/>
                <a:cs typeface="Times New Roman"/>
              </a:rPr>
              <a:t>x</a:t>
            </a:r>
            <a:r>
              <a:rPr lang="en-US" b="0" baseline="-25000" dirty="0" err="1">
                <a:latin typeface="Times New Roman"/>
                <a:cs typeface="Times New Roman"/>
              </a:rPr>
              <a:t>n</a:t>
            </a:r>
            <a:r>
              <a:rPr lang="en-US" b="0" dirty="0">
                <a:latin typeface="Times New Roman"/>
                <a:cs typeface="Times New Roman"/>
              </a:rPr>
              <a:t>] [w</a:t>
            </a:r>
            <a:r>
              <a:rPr lang="en-US" b="0" baseline="-25000" dirty="0">
                <a:latin typeface="Times New Roman"/>
                <a:cs typeface="Times New Roman"/>
              </a:rPr>
              <a:t>0</a:t>
            </a:r>
            <a:r>
              <a:rPr lang="en-US" b="0" dirty="0">
                <a:latin typeface="Times New Roman"/>
                <a:cs typeface="Times New Roman"/>
              </a:rPr>
              <a:t>]</a:t>
            </a:r>
          </a:p>
          <a:p>
            <a:pPr marL="342900" lvl="1" indent="0">
              <a:lnSpc>
                <a:spcPct val="90000"/>
              </a:lnSpc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				            [w1]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	  = </a:t>
            </a:r>
            <a:r>
              <a:rPr lang="en-US" dirty="0" err="1">
                <a:latin typeface="Times New Roman"/>
                <a:cs typeface="Times New Roman"/>
              </a:rPr>
              <a:t>x</a:t>
            </a:r>
            <a:r>
              <a:rPr lang="en-US" b="0" baseline="30000" dirty="0" err="1">
                <a:latin typeface="Times New Roman"/>
                <a:cs typeface="Times New Roman"/>
              </a:rPr>
              <a:t>T</a:t>
            </a:r>
            <a:r>
              <a:rPr lang="en-US" dirty="0" err="1">
                <a:latin typeface="Times New Roman"/>
                <a:cs typeface="Times New Roman"/>
              </a:rPr>
              <a:t>w</a:t>
            </a:r>
            <a:endParaRPr lang="en-US" dirty="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	</a:t>
            </a:r>
            <a:r>
              <a:rPr lang="en-US" b="0" dirty="0">
                <a:latin typeface="Times New Roman"/>
                <a:cs typeface="Times New Roman"/>
              </a:rPr>
              <a:t>Linear </a:t>
            </a:r>
            <a:r>
              <a:rPr lang="en-US" b="0" dirty="0" err="1">
                <a:latin typeface="Times New Roman"/>
                <a:cs typeface="Times New Roman"/>
              </a:rPr>
              <a:t>w.r.t</a:t>
            </a:r>
            <a:r>
              <a:rPr lang="en-US" b="0" dirty="0">
                <a:latin typeface="Times New Roman"/>
                <a:cs typeface="Times New Roman"/>
              </a:rPr>
              <a:t>. </a:t>
            </a:r>
            <a:r>
              <a:rPr lang="en-US" dirty="0">
                <a:latin typeface="Times New Roman"/>
                <a:cs typeface="Times New Roman"/>
              </a:rPr>
              <a:t>w</a:t>
            </a: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694765" y="747752"/>
            <a:ext cx="5715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dirty="0">
                <a:latin typeface="Franklin Gothic Book" charset="0"/>
              </a:rPr>
              <a:t>Polynomial Regression</a:t>
            </a:r>
            <a:endParaRPr lang="en-US" sz="3200" i="1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352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786210" y="3111500"/>
            <a:ext cx="7654262" cy="3550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lvl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Total input  </a:t>
            </a:r>
            <a:r>
              <a:rPr lang="en-US" sz="1800" b="0" i="1" dirty="0" err="1">
                <a:latin typeface="Franklin Gothic Book" charset="0"/>
              </a:rPr>
              <a:t>x</a:t>
            </a:r>
            <a:r>
              <a:rPr lang="en-US" sz="1800" b="0" i="1" baseline="-25000" dirty="0" err="1">
                <a:latin typeface="Franklin Gothic Book" charset="0"/>
              </a:rPr>
              <a:t>j</a:t>
            </a:r>
            <a:r>
              <a:rPr lang="en-US" sz="1800" b="0" dirty="0">
                <a:latin typeface="Franklin Gothic Book" charset="0"/>
              </a:rPr>
              <a:t> = 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∑</a:t>
            </a:r>
            <a:r>
              <a:rPr lang="en-US" sz="1800" b="0" i="1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sz="1800" b="0" i="1" dirty="0" err="1">
                <a:latin typeface="Franklin Gothic Book" charset="0"/>
                <a:cs typeface="Times New Roman" charset="0"/>
              </a:rPr>
              <a:t>w</a:t>
            </a:r>
            <a:r>
              <a:rPr lang="en-US" sz="1800" b="0" i="1" baseline="-25000" dirty="0" err="1">
                <a:latin typeface="Franklin Gothic Book" charset="0"/>
                <a:cs typeface="Times New Roman" charset="0"/>
              </a:rPr>
              <a:t>ij</a:t>
            </a:r>
            <a:r>
              <a:rPr lang="en-US" sz="1800" b="0" dirty="0">
                <a:latin typeface="Franklin Gothic Book" charset="0"/>
                <a:cs typeface="Times New Roman" charset="0"/>
              </a:rPr>
              <a:t> </a:t>
            </a:r>
            <a:r>
              <a:rPr lang="en-US" sz="1800" b="0" i="1" dirty="0">
                <a:latin typeface="Franklin Gothic Book" charset="0"/>
                <a:cs typeface="Times New Roman" charset="0"/>
              </a:rPr>
              <a:t>x</a:t>
            </a:r>
            <a:r>
              <a:rPr lang="en-US" sz="1800" b="0" i="1" baseline="-25000" dirty="0">
                <a:latin typeface="Franklin Gothic Book" charset="0"/>
                <a:cs typeface="Times New Roman" charset="0"/>
              </a:rPr>
              <a:t>i </a:t>
            </a:r>
            <a:endParaRPr lang="en-US" sz="1800" b="0" dirty="0">
              <a:latin typeface="Franklin Gothic Book" charset="0"/>
              <a:cs typeface="Times New Roman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Output  </a:t>
            </a:r>
            <a:r>
              <a:rPr lang="en-US" sz="2000" b="0" i="1" dirty="0" err="1">
                <a:latin typeface="Franklin Gothic Book" charset="0"/>
              </a:rPr>
              <a:t>y</a:t>
            </a:r>
            <a:r>
              <a:rPr lang="en-US" sz="2000" b="0" i="1" baseline="-25000" dirty="0" err="1">
                <a:latin typeface="Franklin Gothic Book" charset="0"/>
              </a:rPr>
              <a:t>j</a:t>
            </a:r>
            <a:r>
              <a:rPr lang="en-US" sz="2000" b="0" dirty="0">
                <a:latin typeface="Franklin Gothic Book" charset="0"/>
              </a:rPr>
              <a:t> = </a:t>
            </a:r>
            <a:r>
              <a:rPr lang="en-US" sz="2000" b="0" i="1" dirty="0" err="1">
                <a:latin typeface="Franklin Gothic Book" charset="0"/>
                <a:cs typeface="Times New Roman" charset="0"/>
              </a:rPr>
              <a:t>Θ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(</a:t>
            </a:r>
            <a:r>
              <a:rPr lang="en-US" sz="2000" b="0" dirty="0" err="1">
                <a:latin typeface="Franklin Gothic Book" charset="0"/>
                <a:cs typeface="Times New Roman" charset="0"/>
              </a:rPr>
              <a:t>x</a:t>
            </a:r>
            <a:r>
              <a:rPr lang="en-US" sz="2000" b="0" i="1" baseline="-25000" dirty="0" err="1">
                <a:latin typeface="Franklin Gothic Book" charset="0"/>
                <a:cs typeface="Times New Roman" charset="0"/>
              </a:rPr>
              <a:t>j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) </a:t>
            </a:r>
          </a:p>
          <a:p>
            <a:pPr marL="457200" lvl="1" indent="0">
              <a:spcBef>
                <a:spcPct val="20000"/>
              </a:spcBef>
            </a:pPr>
            <a:r>
              <a:rPr lang="en-US" sz="2000" b="0" i="1" dirty="0">
                <a:latin typeface="Franklin Gothic Book" charset="0"/>
                <a:cs typeface="Times New Roman" charset="0"/>
              </a:rPr>
              <a:t>			= 1/(1 + e</a:t>
            </a:r>
            <a:r>
              <a:rPr lang="en-US" sz="2000" b="0" i="1" baseline="30000" dirty="0">
                <a:latin typeface="Franklin Gothic Book" charset="0"/>
                <a:cs typeface="Times New Roman" charset="0"/>
              </a:rPr>
              <a:t>-x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)</a:t>
            </a:r>
          </a:p>
          <a:p>
            <a:pPr marL="800100" lvl="1" indent="-342900">
              <a:spcBef>
                <a:spcPct val="20000"/>
              </a:spcBef>
              <a:buFont typeface="Arial"/>
              <a:buChar char="•"/>
            </a:pPr>
            <a:r>
              <a:rPr lang="en-US" sz="2000" b="0" i="1" dirty="0" err="1">
                <a:latin typeface="Franklin Gothic Book" charset="0"/>
                <a:cs typeface="Times New Roman" charset="0"/>
              </a:rPr>
              <a:t>Θ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(</a:t>
            </a:r>
            <a:r>
              <a:rPr lang="en-US" sz="2000" b="0" dirty="0" err="1">
                <a:latin typeface="Franklin Gothic Book" charset="0"/>
                <a:cs typeface="Times New Roman" charset="0"/>
              </a:rPr>
              <a:t>x</a:t>
            </a:r>
            <a:r>
              <a:rPr lang="en-US" sz="2000" b="0" i="1" baseline="-25000" dirty="0" err="1">
                <a:latin typeface="Franklin Gothic Book" charset="0"/>
                <a:cs typeface="Times New Roman" charset="0"/>
              </a:rPr>
              <a:t>j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)</a:t>
            </a:r>
            <a:endParaRPr lang="en-US" sz="2000" b="0" dirty="0">
              <a:latin typeface="Franklin Gothic Book" charset="0"/>
              <a:cs typeface="Times New Roman" charset="0"/>
            </a:endParaRPr>
          </a:p>
          <a:p>
            <a:pPr marL="1200150" lvl="2" indent="-34290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sigmoid function or tanh()</a:t>
            </a:r>
          </a:p>
          <a:p>
            <a:pPr marL="1200150" lvl="2" indent="-34290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can be interpreted as a probability</a:t>
            </a:r>
          </a:p>
          <a:p>
            <a:pPr lvl="3">
              <a:spcBef>
                <a:spcPct val="20000"/>
              </a:spcBef>
              <a:buFontTx/>
              <a:buChar char="•"/>
            </a:pPr>
            <a:r>
              <a:rPr lang="en-US" sz="1800" b="0" dirty="0">
                <a:latin typeface="Times New Roman"/>
                <a:cs typeface="Times New Roman"/>
              </a:rPr>
              <a:t>input </a:t>
            </a:r>
            <a:r>
              <a:rPr lang="en-US" sz="1800" dirty="0">
                <a:latin typeface="Times New Roman"/>
                <a:cs typeface="Times New Roman"/>
              </a:rPr>
              <a:t> x</a:t>
            </a:r>
            <a:r>
              <a:rPr lang="en-US" sz="1800" b="0" dirty="0">
                <a:latin typeface="Times New Roman"/>
                <a:cs typeface="Times New Roman"/>
              </a:rPr>
              <a:t>: cholesterol level, age, weight, </a:t>
            </a:r>
            <a:r>
              <a:rPr lang="is-IS" sz="1800" b="0" dirty="0">
                <a:latin typeface="Times New Roman"/>
                <a:cs typeface="Times New Roman"/>
              </a:rPr>
              <a:t>…</a:t>
            </a:r>
          </a:p>
          <a:p>
            <a:pPr lvl="3">
              <a:spcBef>
                <a:spcPct val="20000"/>
              </a:spcBef>
              <a:buFontTx/>
              <a:buChar char="•"/>
            </a:pPr>
            <a:r>
              <a:rPr lang="is-IS" sz="1800" b="0" dirty="0">
                <a:latin typeface="Times New Roman"/>
                <a:cs typeface="Times New Roman"/>
              </a:rPr>
              <a:t>Signal </a:t>
            </a:r>
            <a:r>
              <a:rPr lang="is-IS" sz="1800" dirty="0">
                <a:latin typeface="Times New Roman"/>
                <a:cs typeface="Times New Roman"/>
              </a:rPr>
              <a:t>s</a:t>
            </a:r>
            <a:r>
              <a:rPr lang="is-IS" sz="1800" b="0" dirty="0">
                <a:latin typeface="Times New Roman"/>
                <a:cs typeface="Times New Roman"/>
              </a:rPr>
              <a:t> = </a:t>
            </a:r>
            <a:r>
              <a:rPr lang="is-IS" sz="1800" dirty="0">
                <a:latin typeface="Times New Roman"/>
                <a:cs typeface="Times New Roman"/>
              </a:rPr>
              <a:t>w</a:t>
            </a:r>
            <a:r>
              <a:rPr lang="is-IS" sz="1800" b="0" baseline="30000" dirty="0">
                <a:latin typeface="Times New Roman"/>
                <a:cs typeface="Times New Roman"/>
              </a:rPr>
              <a:t>T</a:t>
            </a:r>
            <a:r>
              <a:rPr lang="is-IS" sz="1800" dirty="0">
                <a:latin typeface="Times New Roman"/>
                <a:cs typeface="Times New Roman"/>
              </a:rPr>
              <a:t>x</a:t>
            </a:r>
            <a:endParaRPr lang="en-US" sz="1800" baseline="-25000" dirty="0">
              <a:latin typeface="Times New Roman"/>
              <a:cs typeface="Times New Roman"/>
            </a:endParaRPr>
          </a:p>
          <a:p>
            <a:pPr lvl="3">
              <a:spcBef>
                <a:spcPct val="20000"/>
              </a:spcBef>
              <a:buFontTx/>
              <a:buChar char="•"/>
            </a:pPr>
            <a:r>
              <a:rPr lang="en-US" sz="1800" b="0" dirty="0">
                <a:latin typeface="Times New Roman"/>
                <a:cs typeface="Times New Roman"/>
              </a:rPr>
              <a:t>Output </a:t>
            </a:r>
            <a:r>
              <a:rPr lang="en-US" sz="1800" b="0" i="1" dirty="0" err="1">
                <a:latin typeface="Times New Roman"/>
                <a:cs typeface="Times New Roman"/>
              </a:rPr>
              <a:t>Θ</a:t>
            </a:r>
            <a:r>
              <a:rPr lang="en-US" sz="1800" b="0" dirty="0">
                <a:latin typeface="Times New Roman"/>
                <a:cs typeface="Times New Roman"/>
              </a:rPr>
              <a:t>(</a:t>
            </a:r>
            <a:r>
              <a:rPr lang="en-US" sz="1800" dirty="0">
                <a:latin typeface="Times New Roman"/>
                <a:cs typeface="Times New Roman"/>
              </a:rPr>
              <a:t>s</a:t>
            </a:r>
            <a:r>
              <a:rPr lang="en-US" sz="1800" b="0" dirty="0">
                <a:latin typeface="Times New Roman"/>
                <a:cs typeface="Times New Roman"/>
              </a:rPr>
              <a:t>): prob. of heart attack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sz="1800" b="0" i="1" dirty="0" err="1">
                <a:latin typeface="Times New Roman"/>
                <a:cs typeface="Times New Roman"/>
              </a:rPr>
              <a:t>Θ</a:t>
            </a:r>
            <a:r>
              <a:rPr lang="en-US" sz="1800" b="0" dirty="0">
                <a:latin typeface="Times New Roman"/>
                <a:cs typeface="Times New Roman"/>
              </a:rPr>
              <a:t>(-x) = 1 - </a:t>
            </a:r>
            <a:r>
              <a:rPr lang="en-US" sz="1800" b="0" i="1" dirty="0" err="1">
                <a:latin typeface="Times New Roman"/>
                <a:cs typeface="Times New Roman"/>
              </a:rPr>
              <a:t>Θ</a:t>
            </a:r>
            <a:r>
              <a:rPr lang="en-US" sz="1800" b="0" dirty="0">
                <a:latin typeface="Times New Roman"/>
                <a:cs typeface="Times New Roman"/>
              </a:rPr>
              <a:t>(x),</a:t>
            </a: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Logistic Regression</a:t>
            </a:r>
            <a:endParaRPr lang="en-US" sz="2800" i="1" dirty="0">
              <a:latin typeface="Franklin Gothic Book" charset="0"/>
            </a:endParaRPr>
          </a:p>
        </p:txBody>
      </p:sp>
      <p:pic>
        <p:nvPicPr>
          <p:cNvPr id="4" name="Picture 4" descr="model_000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141" y="1104900"/>
            <a:ext cx="5232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0050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815239" y="1522516"/>
            <a:ext cx="7654262" cy="4489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lvl="1"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For each (</a:t>
            </a:r>
            <a:r>
              <a:rPr lang="en-US" dirty="0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, y), y is generated by probability f(</a:t>
            </a:r>
            <a:r>
              <a:rPr lang="en-US" dirty="0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):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0" dirty="0">
                <a:latin typeface="Times New Roman"/>
                <a:cs typeface="Times New Roman"/>
              </a:rPr>
              <a:t>Plausible error measure based on likelihood: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57200" lvl="1" indent="0"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if h=f, how likely to get y from </a:t>
            </a:r>
            <a:r>
              <a:rPr lang="en-US" dirty="0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 ?</a:t>
            </a:r>
          </a:p>
          <a:p>
            <a:pPr marL="457200" lvl="1" indent="0"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	</a:t>
            </a:r>
            <a:r>
              <a:rPr lang="en-US" sz="2000" b="0" dirty="0">
                <a:latin typeface="Times New Roman"/>
                <a:cs typeface="Times New Roman"/>
              </a:rPr>
              <a:t>p(</a:t>
            </a:r>
            <a:r>
              <a:rPr lang="en-US" sz="2000" b="0" dirty="0" err="1">
                <a:latin typeface="Times New Roman"/>
                <a:cs typeface="Times New Roman"/>
              </a:rPr>
              <a:t>y|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) = 	h(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)       </a:t>
            </a:r>
            <a:r>
              <a:rPr lang="ko-KR" altLang="en-US" sz="2000" b="0" dirty="0">
                <a:latin typeface="Times New Roman"/>
                <a:cs typeface="Times New Roman"/>
              </a:rPr>
              <a:t>    </a:t>
            </a:r>
            <a:r>
              <a:rPr lang="en-US" sz="2000" b="0" dirty="0">
                <a:latin typeface="Times New Roman"/>
                <a:cs typeface="Times New Roman"/>
              </a:rPr>
              <a:t>for y= +1</a:t>
            </a:r>
            <a:endParaRPr lang="en-US" sz="2000" b="0" i="1" dirty="0">
              <a:latin typeface="Times New Roman"/>
              <a:cs typeface="Times New Roman"/>
            </a:endParaRPr>
          </a:p>
          <a:p>
            <a:pPr marL="457200" lvl="1" indent="0">
              <a:spcBef>
                <a:spcPct val="20000"/>
              </a:spcBef>
            </a:pPr>
            <a:r>
              <a:rPr lang="en-US" sz="2000" b="0" i="1" dirty="0">
                <a:latin typeface="Times New Roman"/>
                <a:cs typeface="Times New Roman"/>
              </a:rPr>
              <a:t>			 	</a:t>
            </a:r>
            <a:r>
              <a:rPr lang="en-US" sz="2000" b="0" dirty="0">
                <a:latin typeface="Times New Roman"/>
                <a:cs typeface="Times New Roman"/>
              </a:rPr>
              <a:t>1 – h(x) </a:t>
            </a:r>
            <a:r>
              <a:rPr lang="ko-KR" altLang="en-US" sz="2000" b="0" dirty="0">
                <a:latin typeface="Times New Roman"/>
                <a:cs typeface="Times New Roman"/>
              </a:rPr>
              <a:t>    </a:t>
            </a:r>
            <a:r>
              <a:rPr lang="en-US" sz="2000" b="0" dirty="0">
                <a:latin typeface="Times New Roman"/>
                <a:cs typeface="Times New Roman"/>
              </a:rPr>
              <a:t>for y = -1</a:t>
            </a:r>
          </a:p>
          <a:p>
            <a:pPr marL="457200" lvl="1" indent="0"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57200" lvl="1" indent="0"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Substitute h(</a:t>
            </a:r>
            <a:r>
              <a:rPr lang="en-US" dirty="0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) = </a:t>
            </a:r>
            <a:r>
              <a:rPr lang="en-US" b="0" i="1" dirty="0" err="1">
                <a:latin typeface="Times New Roman"/>
                <a:cs typeface="Times New Roman"/>
              </a:rPr>
              <a:t>Θ</a:t>
            </a:r>
            <a:r>
              <a:rPr lang="en-US" b="0" dirty="0">
                <a:latin typeface="Times New Roman"/>
                <a:cs typeface="Times New Roman"/>
              </a:rPr>
              <a:t>(</a:t>
            </a:r>
            <a:r>
              <a:rPr lang="en-US" dirty="0">
                <a:latin typeface="Times New Roman"/>
                <a:cs typeface="Times New Roman"/>
              </a:rPr>
              <a:t>s</a:t>
            </a:r>
            <a:r>
              <a:rPr lang="en-US" b="0" dirty="0">
                <a:latin typeface="Times New Roman"/>
                <a:cs typeface="Times New Roman"/>
              </a:rPr>
              <a:t>) = </a:t>
            </a:r>
            <a:r>
              <a:rPr lang="en-US" b="0" i="1" dirty="0" err="1">
                <a:latin typeface="Times New Roman"/>
                <a:cs typeface="Times New Roman"/>
              </a:rPr>
              <a:t>Θ</a:t>
            </a:r>
            <a:r>
              <a:rPr lang="en-US" b="0" dirty="0">
                <a:latin typeface="Times New Roman"/>
                <a:cs typeface="Times New Roman"/>
              </a:rPr>
              <a:t>(</a:t>
            </a:r>
            <a:r>
              <a:rPr lang="is-IS" dirty="0">
                <a:latin typeface="Times New Roman"/>
                <a:cs typeface="Times New Roman"/>
              </a:rPr>
              <a:t>w</a:t>
            </a:r>
            <a:r>
              <a:rPr lang="is-IS" b="0" baseline="30000" dirty="0">
                <a:latin typeface="Times New Roman"/>
                <a:cs typeface="Times New Roman"/>
              </a:rPr>
              <a:t>T</a:t>
            </a:r>
            <a:r>
              <a:rPr lang="is-IS" dirty="0">
                <a:latin typeface="Times New Roman"/>
                <a:cs typeface="Times New Roman"/>
              </a:rPr>
              <a:t>x</a:t>
            </a:r>
            <a:r>
              <a:rPr lang="en-US" b="0" dirty="0">
                <a:latin typeface="Times New Roman"/>
                <a:cs typeface="Times New Roman"/>
              </a:rPr>
              <a:t>)</a:t>
            </a:r>
          </a:p>
          <a:p>
            <a:pPr marL="457200" lvl="1" indent="0">
              <a:spcBef>
                <a:spcPct val="20000"/>
              </a:spcBef>
            </a:pPr>
            <a:r>
              <a:rPr lang="en-US" b="0" dirty="0">
                <a:latin typeface="Times New Roman"/>
                <a:cs typeface="Times New Roman"/>
              </a:rPr>
              <a:t>		</a:t>
            </a:r>
            <a:r>
              <a:rPr lang="en-US" sz="2000" b="0" dirty="0">
                <a:latin typeface="Times New Roman"/>
                <a:cs typeface="Times New Roman"/>
              </a:rPr>
              <a:t>Since </a:t>
            </a:r>
            <a:r>
              <a:rPr lang="en-US" sz="2000" b="0" i="1" dirty="0" err="1">
                <a:latin typeface="Times New Roman"/>
                <a:cs typeface="Times New Roman"/>
              </a:rPr>
              <a:t>Θ</a:t>
            </a:r>
            <a:r>
              <a:rPr lang="en-US" sz="2000" b="0" dirty="0">
                <a:latin typeface="Times New Roman"/>
                <a:cs typeface="Times New Roman"/>
              </a:rPr>
              <a:t>(-</a:t>
            </a:r>
            <a:r>
              <a:rPr lang="en-US" sz="2000" dirty="0">
                <a:latin typeface="Times New Roman"/>
                <a:cs typeface="Times New Roman"/>
              </a:rPr>
              <a:t>s</a:t>
            </a:r>
            <a:r>
              <a:rPr lang="en-US" sz="2000" b="0" dirty="0">
                <a:latin typeface="Times New Roman"/>
                <a:cs typeface="Times New Roman"/>
              </a:rPr>
              <a:t>) = 1 - </a:t>
            </a:r>
            <a:r>
              <a:rPr lang="en-US" sz="2000" b="0" i="1" dirty="0" err="1">
                <a:latin typeface="Times New Roman"/>
                <a:cs typeface="Times New Roman"/>
              </a:rPr>
              <a:t>Θ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Times New Roman"/>
                <a:cs typeface="Times New Roman"/>
              </a:rPr>
              <a:t>s</a:t>
            </a:r>
            <a:r>
              <a:rPr lang="en-US" sz="2000" b="0" dirty="0">
                <a:latin typeface="Times New Roman"/>
                <a:cs typeface="Times New Roman"/>
              </a:rPr>
              <a:t>),</a:t>
            </a:r>
          </a:p>
          <a:p>
            <a:pPr marL="457200" lvl="1" indent="0"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	p(</a:t>
            </a:r>
            <a:r>
              <a:rPr lang="en-US" sz="2000" b="0" dirty="0" err="1">
                <a:latin typeface="Times New Roman"/>
                <a:cs typeface="Times New Roman"/>
              </a:rPr>
              <a:t>y|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) = </a:t>
            </a:r>
            <a:r>
              <a:rPr lang="en-US" sz="2000" b="0" dirty="0" err="1">
                <a:latin typeface="Times New Roman"/>
                <a:cs typeface="Times New Roman"/>
              </a:rPr>
              <a:t>Θ</a:t>
            </a:r>
            <a:r>
              <a:rPr lang="en-US" sz="2000" b="0" dirty="0">
                <a:latin typeface="Times New Roman"/>
                <a:cs typeface="Times New Roman"/>
              </a:rPr>
              <a:t>(y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Error Measure</a:t>
            </a:r>
            <a:endParaRPr lang="en-US" sz="2800" i="1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495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748403" y="1405535"/>
            <a:ext cx="7654262" cy="4560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Likelihood of having (</a:t>
            </a:r>
            <a:r>
              <a:rPr lang="en-US" sz="2000" dirty="0">
                <a:latin typeface="Times New Roman"/>
                <a:cs typeface="Times New Roman"/>
              </a:rPr>
              <a:t>x</a:t>
            </a:r>
            <a:r>
              <a:rPr lang="en-US" sz="2000" b="0" baseline="-25000" dirty="0">
                <a:latin typeface="Times New Roman"/>
                <a:cs typeface="Times New Roman"/>
              </a:rPr>
              <a:t>1</a:t>
            </a:r>
            <a:r>
              <a:rPr lang="en-US" sz="2000" b="0" dirty="0">
                <a:latin typeface="Times New Roman"/>
                <a:cs typeface="Times New Roman"/>
              </a:rPr>
              <a:t>,y</a:t>
            </a:r>
            <a:r>
              <a:rPr lang="en-US" sz="2000" b="0" baseline="-25000" dirty="0">
                <a:latin typeface="Times New Roman"/>
                <a:cs typeface="Times New Roman"/>
              </a:rPr>
              <a:t>1</a:t>
            </a:r>
            <a:r>
              <a:rPr lang="en-US" sz="2000" b="0" dirty="0">
                <a:latin typeface="Times New Roman"/>
                <a:cs typeface="Times New Roman"/>
              </a:rPr>
              <a:t>), </a:t>
            </a:r>
            <a:r>
              <a:rPr lang="is-IS" sz="2000" b="0" dirty="0">
                <a:latin typeface="Times New Roman"/>
                <a:cs typeface="Times New Roman"/>
              </a:rPr>
              <a:t>… (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, y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):</a:t>
            </a:r>
          </a:p>
          <a:p>
            <a:pPr marL="57150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	</a:t>
            </a:r>
            <a:r>
              <a:rPr lang="en-US" sz="2000" b="0" dirty="0" err="1">
                <a:latin typeface="Times New Roman"/>
                <a:cs typeface="Times New Roman"/>
              </a:rPr>
              <a:t>Π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i="1" dirty="0">
                <a:latin typeface="Times New Roman"/>
                <a:cs typeface="Times New Roman"/>
              </a:rPr>
              <a:t>p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 err="1">
                <a:latin typeface="Times New Roman"/>
                <a:cs typeface="Times New Roman"/>
              </a:rPr>
              <a:t>|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 </a:t>
            </a:r>
            <a:r>
              <a:rPr lang="en-US" sz="2000" b="0" i="1" dirty="0">
                <a:latin typeface="Times New Roman"/>
                <a:cs typeface="Times New Roman"/>
              </a:rPr>
              <a:t>= </a:t>
            </a:r>
            <a:r>
              <a:rPr lang="en-US" sz="2000" b="0" dirty="0" err="1">
                <a:latin typeface="Times New Roman"/>
                <a:cs typeface="Times New Roman"/>
              </a:rPr>
              <a:t>Π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dirty="0">
                <a:latin typeface="Times New Roman"/>
                <a:cs typeface="Times New Roman"/>
              </a:rPr>
              <a:t>Θ(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</a:p>
          <a:p>
            <a:pPr marL="57150" indent="0">
              <a:spcBef>
                <a:spcPct val="20000"/>
              </a:spcBef>
            </a:pPr>
            <a:endParaRPr lang="is-IS" sz="2000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r>
              <a:rPr lang="is-IS" sz="2000" b="0" dirty="0">
                <a:latin typeface="Times New Roman"/>
                <a:cs typeface="Times New Roman"/>
              </a:rPr>
              <a:t>Maximize   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i="1" baseline="-25000" dirty="0">
                <a:latin typeface="Times New Roman"/>
                <a:cs typeface="Times New Roman"/>
              </a:rPr>
              <a:t> </a:t>
            </a:r>
            <a:r>
              <a:rPr lang="en-US" sz="2000" b="0" i="1" dirty="0" err="1">
                <a:latin typeface="Times New Roman"/>
                <a:cs typeface="Times New Roman"/>
              </a:rPr>
              <a:t>ln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b="0" dirty="0" err="1">
                <a:latin typeface="Times New Roman"/>
                <a:cs typeface="Times New Roman"/>
              </a:rPr>
              <a:t>Θ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))/N</a:t>
            </a:r>
          </a:p>
          <a:p>
            <a:pPr marL="57150" indent="0">
              <a:spcBef>
                <a:spcPct val="20000"/>
              </a:spcBef>
            </a:pPr>
            <a:endParaRPr lang="en-US" sz="2000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	Minimize    -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i="1" baseline="-25000" dirty="0">
                <a:latin typeface="Times New Roman"/>
                <a:cs typeface="Times New Roman"/>
              </a:rPr>
              <a:t> </a:t>
            </a:r>
            <a:r>
              <a:rPr lang="en-US" sz="2000" b="0" i="1" dirty="0" err="1">
                <a:latin typeface="Times New Roman"/>
                <a:cs typeface="Times New Roman"/>
              </a:rPr>
              <a:t>ln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b="0" dirty="0" err="1">
                <a:latin typeface="Times New Roman"/>
                <a:cs typeface="Times New Roman"/>
              </a:rPr>
              <a:t>Θ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))/N</a:t>
            </a:r>
          </a:p>
          <a:p>
            <a:pPr marL="57150" indent="0"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		= 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i="1" dirty="0">
                <a:latin typeface="Times New Roman"/>
                <a:cs typeface="Times New Roman"/>
              </a:rPr>
              <a:t>ln</a:t>
            </a:r>
            <a:r>
              <a:rPr lang="en-US" sz="2000" b="0" dirty="0">
                <a:latin typeface="Times New Roman"/>
                <a:cs typeface="Times New Roman"/>
              </a:rPr>
              <a:t>(1/</a:t>
            </a:r>
            <a:r>
              <a:rPr lang="en-US" sz="2000" b="0" dirty="0" err="1">
                <a:latin typeface="Times New Roman"/>
                <a:cs typeface="Times New Roman"/>
              </a:rPr>
              <a:t>Θ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))/N</a:t>
            </a:r>
          </a:p>
          <a:p>
            <a:pPr marL="57150" indent="0"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		= 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i="1" dirty="0">
                <a:latin typeface="Times New Roman"/>
                <a:cs typeface="Times New Roman"/>
              </a:rPr>
              <a:t>ln</a:t>
            </a:r>
            <a:r>
              <a:rPr lang="en-US" sz="2000" b="0" dirty="0">
                <a:latin typeface="Times New Roman"/>
                <a:cs typeface="Times New Roman"/>
              </a:rPr>
              <a:t>(1 + </a:t>
            </a:r>
            <a:r>
              <a:rPr lang="en-US" sz="2000" b="0" dirty="0" err="1">
                <a:latin typeface="Times New Roman"/>
                <a:cs typeface="Times New Roman"/>
              </a:rPr>
              <a:t>exp</a:t>
            </a:r>
            <a:r>
              <a:rPr lang="en-US" sz="2000" b="0" dirty="0">
                <a:latin typeface="Times New Roman"/>
                <a:cs typeface="Times New Roman"/>
              </a:rPr>
              <a:t>(-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))/N</a:t>
            </a:r>
            <a:endParaRPr lang="en-US" sz="2000" b="0" baseline="3000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Error Measure:</a:t>
            </a:r>
          </a:p>
          <a:p>
            <a:pPr marL="800100" lvl="1" indent="-34290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E(</a:t>
            </a: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="0" dirty="0">
                <a:latin typeface="Times New Roman"/>
                <a:cs typeface="Times New Roman"/>
              </a:rPr>
              <a:t>) = 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dirty="0">
                <a:latin typeface="Times New Roman"/>
                <a:cs typeface="Times New Roman"/>
              </a:rPr>
              <a:t>ln(1 + </a:t>
            </a:r>
            <a:r>
              <a:rPr lang="en-US" sz="2000" b="0" dirty="0" err="1">
                <a:latin typeface="Times New Roman"/>
                <a:cs typeface="Times New Roman"/>
              </a:rPr>
              <a:t>exp</a:t>
            </a:r>
            <a:r>
              <a:rPr lang="en-US" sz="2000" b="0" dirty="0">
                <a:latin typeface="Times New Roman"/>
                <a:cs typeface="Times New Roman"/>
              </a:rPr>
              <a:t>(-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))/N</a:t>
            </a:r>
            <a:endParaRPr lang="en-US" sz="2000" b="0" baseline="30000" dirty="0">
              <a:latin typeface="Times New Roman"/>
              <a:cs typeface="Times New Roman"/>
            </a:endParaRPr>
          </a:p>
          <a:p>
            <a:pPr marL="1200150" lvl="2" indent="-34290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Error Measure</a:t>
            </a:r>
            <a:endParaRPr lang="en-US" sz="2800" i="1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675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564604" y="1257300"/>
            <a:ext cx="7654262" cy="4560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400050">
              <a:spcBef>
                <a:spcPct val="20000"/>
              </a:spcBef>
              <a:buFont typeface="Arial"/>
              <a:buChar char="•"/>
            </a:pPr>
            <a:r>
              <a:rPr lang="en-US" b="0" dirty="0">
                <a:latin typeface="Times New Roman"/>
                <a:cs typeface="Times New Roman"/>
              </a:rPr>
              <a:t>E(</a:t>
            </a:r>
            <a:r>
              <a:rPr lang="en-US" dirty="0">
                <a:latin typeface="Times New Roman"/>
                <a:cs typeface="Times New Roman"/>
              </a:rPr>
              <a:t>w</a:t>
            </a:r>
            <a:r>
              <a:rPr lang="en-US" b="0" dirty="0">
                <a:latin typeface="Times New Roman"/>
                <a:cs typeface="Times New Roman"/>
              </a:rPr>
              <a:t>) = </a:t>
            </a:r>
            <a:r>
              <a:rPr lang="en-US" b="0" dirty="0" err="1">
                <a:latin typeface="Times New Roman"/>
                <a:cs typeface="Times New Roman"/>
              </a:rPr>
              <a:t>Σ</a:t>
            </a:r>
            <a:r>
              <a:rPr lang="en-US" b="0" baseline="-25000" dirty="0" err="1">
                <a:latin typeface="Times New Roman"/>
                <a:cs typeface="Times New Roman"/>
              </a:rPr>
              <a:t>n</a:t>
            </a:r>
            <a:r>
              <a:rPr lang="en-US" b="0" baseline="-25000" dirty="0">
                <a:latin typeface="Times New Roman"/>
                <a:cs typeface="Times New Roman"/>
              </a:rPr>
              <a:t>=1,N</a:t>
            </a:r>
            <a:r>
              <a:rPr lang="en-US" b="0" i="1" dirty="0">
                <a:latin typeface="Times New Roman"/>
                <a:cs typeface="Times New Roman"/>
              </a:rPr>
              <a:t>ln</a:t>
            </a:r>
            <a:r>
              <a:rPr lang="en-US" b="0" dirty="0">
                <a:latin typeface="Times New Roman"/>
                <a:cs typeface="Times New Roman"/>
              </a:rPr>
              <a:t>(1 + </a:t>
            </a:r>
            <a:r>
              <a:rPr lang="en-US" b="0" dirty="0" err="1">
                <a:latin typeface="Times New Roman"/>
                <a:cs typeface="Times New Roman"/>
              </a:rPr>
              <a:t>exp</a:t>
            </a:r>
            <a:r>
              <a:rPr lang="en-US" b="0" dirty="0">
                <a:latin typeface="Times New Roman"/>
                <a:cs typeface="Times New Roman"/>
              </a:rPr>
              <a:t>(-</a:t>
            </a:r>
            <a:r>
              <a:rPr lang="en-US" b="0" dirty="0" err="1">
                <a:latin typeface="Times New Roman"/>
                <a:cs typeface="Times New Roman"/>
              </a:rPr>
              <a:t>y</a:t>
            </a:r>
            <a:r>
              <a:rPr lang="en-US" b="0" baseline="-25000" dirty="0" err="1">
                <a:latin typeface="Times New Roman"/>
                <a:cs typeface="Times New Roman"/>
              </a:rPr>
              <a:t>n</a:t>
            </a:r>
            <a:r>
              <a:rPr lang="is-IS" dirty="0">
                <a:latin typeface="Times New Roman"/>
                <a:cs typeface="Times New Roman"/>
              </a:rPr>
              <a:t>w</a:t>
            </a:r>
            <a:r>
              <a:rPr lang="is-IS" b="0" baseline="30000" dirty="0">
                <a:latin typeface="Times New Roman"/>
                <a:cs typeface="Times New Roman"/>
              </a:rPr>
              <a:t>T</a:t>
            </a:r>
            <a:r>
              <a:rPr lang="is-IS" dirty="0">
                <a:latin typeface="Times New Roman"/>
                <a:cs typeface="Times New Roman"/>
              </a:rPr>
              <a:t>x</a:t>
            </a:r>
            <a:r>
              <a:rPr lang="is-IS" b="0" baseline="-25000" dirty="0">
                <a:latin typeface="Times New Roman"/>
                <a:cs typeface="Times New Roman"/>
              </a:rPr>
              <a:t>n</a:t>
            </a:r>
            <a:r>
              <a:rPr lang="is-IS" b="0" dirty="0">
                <a:latin typeface="Times New Roman"/>
                <a:cs typeface="Times New Roman"/>
              </a:rPr>
              <a:t>))/N</a:t>
            </a: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is-IS" b="0" baseline="30000" dirty="0">
              <a:latin typeface="Times New Roman"/>
              <a:cs typeface="Times New Roman"/>
            </a:endParaRPr>
          </a:p>
          <a:p>
            <a:pPr marL="800100" lvl="1">
              <a:spcBef>
                <a:spcPct val="20000"/>
              </a:spcBef>
              <a:buFont typeface="Arial"/>
              <a:buChar char="•"/>
            </a:pPr>
            <a:r>
              <a:rPr lang="is-IS" sz="2000" b="0" dirty="0">
                <a:latin typeface="Times New Roman"/>
                <a:cs typeface="Times New Roman"/>
              </a:rPr>
              <a:t>Start with 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</a:t>
            </a:r>
          </a:p>
          <a:p>
            <a:pPr marL="800100" lvl="1">
              <a:spcBef>
                <a:spcPct val="20000"/>
              </a:spcBef>
              <a:buFont typeface="Arial"/>
              <a:buChar char="•"/>
            </a:pPr>
            <a:r>
              <a:rPr lang="is-IS" sz="2000" b="0" dirty="0">
                <a:latin typeface="Times New Roman"/>
                <a:cs typeface="Times New Roman"/>
              </a:rPr>
              <a:t>Use fixed step size η with unit vector </a:t>
            </a:r>
            <a:r>
              <a:rPr lang="is-IS" sz="2000" dirty="0">
                <a:latin typeface="Times New Roman"/>
                <a:cs typeface="Times New Roman"/>
              </a:rPr>
              <a:t>v</a:t>
            </a:r>
          </a:p>
          <a:p>
            <a:pPr marL="800100" lvl="1">
              <a:spcBef>
                <a:spcPct val="20000"/>
              </a:spcBef>
              <a:buFont typeface="Arial"/>
              <a:buChar char="•"/>
            </a:pPr>
            <a:endParaRPr lang="is-IS" sz="2000" dirty="0">
              <a:latin typeface="Times New Roman"/>
              <a:cs typeface="Times New Roman"/>
            </a:endParaRPr>
          </a:p>
          <a:p>
            <a:pPr marL="800100" lvl="1">
              <a:spcBef>
                <a:spcPct val="20000"/>
              </a:spcBef>
              <a:buFont typeface="Arial"/>
              <a:buChar char="•"/>
            </a:pPr>
            <a:r>
              <a:rPr lang="is-IS" sz="2000" b="0" dirty="0">
                <a:latin typeface="Times New Roman"/>
                <a:cs typeface="Times New Roman"/>
              </a:rPr>
              <a:t>ΔE = 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(1)) – 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(0))</a:t>
            </a:r>
          </a:p>
          <a:p>
            <a:pPr marL="457200" lvl="1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	= 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 + η</a:t>
            </a:r>
            <a:r>
              <a:rPr lang="is-IS" sz="2000" dirty="0">
                <a:latin typeface="Times New Roman"/>
                <a:cs typeface="Times New Roman"/>
              </a:rPr>
              <a:t>v</a:t>
            </a:r>
            <a:r>
              <a:rPr lang="is-IS" sz="2000" b="0" dirty="0">
                <a:latin typeface="Times New Roman"/>
                <a:cs typeface="Times New Roman"/>
              </a:rPr>
              <a:t>) – 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(0))</a:t>
            </a:r>
          </a:p>
          <a:p>
            <a:pPr marL="457200" lvl="1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	= ηΔE(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(0))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v</a:t>
            </a:r>
            <a:r>
              <a:rPr lang="is-IS" sz="2000" b="0" dirty="0">
                <a:latin typeface="Times New Roman"/>
                <a:cs typeface="Times New Roman"/>
              </a:rPr>
              <a:t> + O(η</a:t>
            </a:r>
            <a:r>
              <a:rPr lang="is-IS" sz="2000" b="0" baseline="30000" dirty="0">
                <a:latin typeface="Times New Roman"/>
                <a:cs typeface="Times New Roman"/>
              </a:rPr>
              <a:t>2</a:t>
            </a:r>
            <a:r>
              <a:rPr lang="is-IS" sz="2000" b="0" dirty="0">
                <a:latin typeface="Times New Roman"/>
                <a:cs typeface="Times New Roman"/>
              </a:rPr>
              <a:t>)</a:t>
            </a:r>
          </a:p>
          <a:p>
            <a:pPr marL="457200" lvl="1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	≥ -η||ΔE(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(0))||</a:t>
            </a:r>
          </a:p>
          <a:p>
            <a:pPr marL="457200" lvl="1" indent="0">
              <a:spcBef>
                <a:spcPct val="20000"/>
              </a:spcBef>
            </a:pPr>
            <a:endParaRPr lang="is-IS" sz="2000" b="0" dirty="0">
              <a:latin typeface="Times New Roman"/>
              <a:cs typeface="Times New Roman"/>
            </a:endParaRPr>
          </a:p>
          <a:p>
            <a:pPr marL="457200" lvl="1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Since </a:t>
            </a:r>
            <a:r>
              <a:rPr lang="is-IS" sz="2000" dirty="0">
                <a:latin typeface="Times New Roman"/>
                <a:cs typeface="Times New Roman"/>
              </a:rPr>
              <a:t>v</a:t>
            </a:r>
            <a:r>
              <a:rPr lang="is-IS" sz="2000" b="0" dirty="0">
                <a:latin typeface="Times New Roman"/>
                <a:cs typeface="Times New Roman"/>
              </a:rPr>
              <a:t> is a unit vector,</a:t>
            </a:r>
          </a:p>
          <a:p>
            <a:pPr marL="457200" lvl="1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	</a:t>
            </a:r>
            <a:r>
              <a:rPr lang="is-IS" sz="2000" dirty="0">
                <a:latin typeface="Times New Roman"/>
                <a:cs typeface="Times New Roman"/>
              </a:rPr>
              <a:t>v</a:t>
            </a:r>
            <a:r>
              <a:rPr lang="is-IS" sz="2000" b="0" dirty="0">
                <a:latin typeface="Times New Roman"/>
                <a:cs typeface="Times New Roman"/>
              </a:rPr>
              <a:t> = -ΔE(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(0))/||ΔE(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(0))||</a:t>
            </a:r>
            <a:endParaRPr lang="is-IS" sz="200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57200" lvl="1" indent="0">
              <a:spcBef>
                <a:spcPct val="20000"/>
              </a:spcBef>
            </a:pPr>
            <a:r>
              <a:rPr lang="is-IS" b="0" dirty="0">
                <a:latin typeface="Times New Roman"/>
                <a:cs typeface="Times New Roman"/>
              </a:rPr>
              <a:t>			</a:t>
            </a:r>
            <a:endParaRPr lang="en-US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Minimizing Error Measure – Gradient Descent</a:t>
            </a:r>
            <a:endParaRPr lang="en-US" sz="2800" i="1" dirty="0">
              <a:latin typeface="Franklin Gothic Book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257300"/>
            <a:ext cx="29337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22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564604" y="1257300"/>
            <a:ext cx="7654262" cy="5444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400050">
              <a:spcBef>
                <a:spcPct val="20000"/>
              </a:spcBef>
              <a:buFont typeface="Arial"/>
              <a:buChar char="•"/>
            </a:pPr>
            <a:r>
              <a:rPr lang="is-IS" b="0" dirty="0">
                <a:latin typeface="Times New Roman"/>
                <a:cs typeface="Times New Roman"/>
              </a:rPr>
              <a:t>η </a:t>
            </a:r>
            <a:r>
              <a:rPr lang="en-US" b="0" dirty="0">
                <a:latin typeface="Times New Roman"/>
                <a:cs typeface="Times New Roman"/>
              </a:rPr>
              <a:t>affects the performance</a:t>
            </a: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Instead of  </a:t>
            </a:r>
            <a:r>
              <a:rPr lang="is-IS" sz="2000" b="0" dirty="0">
                <a:latin typeface="Times New Roman"/>
                <a:cs typeface="Times New Roman"/>
              </a:rPr>
              <a:t>Δ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 = η</a:t>
            </a:r>
            <a:r>
              <a:rPr lang="is-IS" sz="2000" dirty="0">
                <a:latin typeface="Times New Roman"/>
                <a:cs typeface="Times New Roman"/>
              </a:rPr>
              <a:t>v = -</a:t>
            </a:r>
            <a:r>
              <a:rPr lang="is-IS" sz="2000" b="0" dirty="0">
                <a:latin typeface="Times New Roman"/>
                <a:cs typeface="Times New Roman"/>
              </a:rPr>
              <a:t>η ΔE(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(0))/||ΔE(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(0))||</a:t>
            </a:r>
            <a:endParaRPr lang="is-IS" sz="2000" dirty="0">
              <a:latin typeface="Times New Roman"/>
              <a:cs typeface="Times New Roman"/>
            </a:endParaRPr>
          </a:p>
          <a:p>
            <a:pPr marL="57150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use Δ</a:t>
            </a:r>
            <a:r>
              <a:rPr lang="is-IS" sz="2000" dirty="0">
                <a:latin typeface="Times New Roman"/>
                <a:cs typeface="Times New Roman"/>
              </a:rPr>
              <a:t>w = -</a:t>
            </a:r>
            <a:r>
              <a:rPr lang="is-IS" sz="2000" b="0" dirty="0">
                <a:latin typeface="Times New Roman"/>
                <a:cs typeface="Times New Roman"/>
              </a:rPr>
              <a:t>ηΔE(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(0))   (η: learning rate)</a:t>
            </a:r>
          </a:p>
          <a:p>
            <a:pPr marL="800100" lvl="1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R</a:t>
            </a:r>
            <a:r>
              <a:rPr lang="is-IS" sz="2000" b="0" dirty="0">
                <a:latin typeface="Times New Roman"/>
                <a:cs typeface="Times New Roman"/>
              </a:rPr>
              <a:t>ule of thumb: η=0.1			</a:t>
            </a:r>
            <a:endParaRPr lang="en-US" sz="2000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Implementation</a:t>
            </a:r>
            <a:endParaRPr lang="en-US" sz="2800" i="1" dirty="0">
              <a:latin typeface="Franklin Gothic Book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44" y="1785648"/>
            <a:ext cx="73787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33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748403" y="1405535"/>
            <a:ext cx="7654262" cy="4560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40005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Minimize Error Measure:</a:t>
            </a:r>
          </a:p>
          <a:p>
            <a:pPr marL="1200150" lvl="2" indent="-34290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E(</a:t>
            </a: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="0" dirty="0">
                <a:latin typeface="Times New Roman"/>
                <a:cs typeface="Times New Roman"/>
              </a:rPr>
              <a:t>) = 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dirty="0">
                <a:latin typeface="Times New Roman"/>
                <a:cs typeface="Times New Roman"/>
              </a:rPr>
              <a:t>E(h(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),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)/N</a:t>
            </a:r>
            <a:endParaRPr lang="en-US" sz="2000" b="0" baseline="30000" dirty="0">
              <a:latin typeface="Times New Roman"/>
              <a:cs typeface="Times New Roman"/>
            </a:endParaRPr>
          </a:p>
          <a:p>
            <a:pPr marL="857250" lvl="2" indent="0"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	= 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dirty="0">
                <a:latin typeface="Times New Roman"/>
                <a:cs typeface="Times New Roman"/>
              </a:rPr>
              <a:t>ln(1 + </a:t>
            </a:r>
            <a:r>
              <a:rPr lang="en-US" sz="2000" b="0" dirty="0" err="1">
                <a:latin typeface="Times New Roman"/>
                <a:cs typeface="Times New Roman"/>
              </a:rPr>
              <a:t>exp</a:t>
            </a:r>
            <a:r>
              <a:rPr lang="en-US" sz="2000" b="0" dirty="0">
                <a:latin typeface="Times New Roman"/>
                <a:cs typeface="Times New Roman"/>
              </a:rPr>
              <a:t>(-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))/N for logistic</a:t>
            </a: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sz="2000" b="0" baseline="3000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Difficult to apply to ALL samples at one time (batch)</a:t>
            </a:r>
          </a:p>
          <a:p>
            <a:pPr marL="400050">
              <a:spcBef>
                <a:spcPct val="20000"/>
              </a:spcBef>
              <a:buFont typeface="Arial"/>
              <a:buChar char="•"/>
            </a:pPr>
            <a:endParaRPr lang="en-US" sz="2000" b="0" dirty="0">
              <a:latin typeface="Times New Roman"/>
              <a:cs typeface="Times New Roman"/>
            </a:endParaRPr>
          </a:p>
          <a:p>
            <a:pPr marL="400050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Stochastic GD</a:t>
            </a:r>
          </a:p>
          <a:p>
            <a:pPr marL="800100" lvl="1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Pick one (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,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 at a time</a:t>
            </a:r>
          </a:p>
          <a:p>
            <a:pPr marL="800100" lvl="1"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Apply GD to E(h(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),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</a:t>
            </a:r>
          </a:p>
          <a:p>
            <a:pPr marL="800100" lvl="1">
              <a:spcBef>
                <a:spcPct val="20000"/>
              </a:spcBef>
              <a:buFont typeface="Arial"/>
              <a:buChar char="•"/>
            </a:pPr>
            <a:r>
              <a:rPr lang="is-IS" sz="2000" b="0" dirty="0">
                <a:latin typeface="Times New Roman"/>
                <a:cs typeface="Times New Roman"/>
              </a:rPr>
              <a:t>E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[-ΔE(</a:t>
            </a:r>
            <a:r>
              <a:rPr lang="en-US" sz="2000" b="0" dirty="0">
                <a:latin typeface="Times New Roman"/>
                <a:cs typeface="Times New Roman"/>
              </a:rPr>
              <a:t>h(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),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)]         = 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is-IS" sz="2000" b="0" dirty="0">
                <a:latin typeface="Times New Roman"/>
                <a:cs typeface="Times New Roman"/>
              </a:rPr>
              <a:t>Δ</a:t>
            </a:r>
            <a:r>
              <a:rPr lang="en-US" sz="2000" b="0" dirty="0">
                <a:latin typeface="Times New Roman"/>
                <a:cs typeface="Times New Roman"/>
              </a:rPr>
              <a:t>E(h(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),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)/N</a:t>
            </a:r>
          </a:p>
          <a:p>
            <a:pPr marL="514350" lvl="1" indent="0">
              <a:spcBef>
                <a:spcPct val="20000"/>
              </a:spcBef>
            </a:pPr>
            <a:r>
              <a:rPr lang="is-IS" sz="2000" b="0" baseline="30000" dirty="0">
                <a:latin typeface="Times New Roman"/>
                <a:cs typeface="Times New Roman"/>
              </a:rPr>
              <a:t>						</a:t>
            </a:r>
            <a:r>
              <a:rPr lang="is-IS" sz="2000" b="0" dirty="0">
                <a:latin typeface="Times New Roman"/>
                <a:cs typeface="Times New Roman"/>
              </a:rPr>
              <a:t>= -ΔE  (average direction)</a:t>
            </a:r>
            <a:endParaRPr lang="en-US" sz="2000" b="0" baseline="30000" dirty="0">
              <a:latin typeface="Times New Roman"/>
              <a:cs typeface="Times New Roman"/>
            </a:endParaRPr>
          </a:p>
          <a:p>
            <a:pPr marL="800100" lvl="1">
              <a:spcBef>
                <a:spcPct val="20000"/>
              </a:spcBef>
              <a:buFont typeface="Arial"/>
              <a:buChar char="•"/>
            </a:pPr>
            <a:endParaRPr lang="en-US" sz="2000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Gradient Descent</a:t>
            </a:r>
            <a:endParaRPr lang="en-US" sz="2800" i="1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402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 txBox="1">
            <a:spLocks noChangeArrowheads="1"/>
          </p:cNvSpPr>
          <p:nvPr/>
        </p:nvSpPr>
        <p:spPr bwMode="auto">
          <a:xfrm>
            <a:off x="0" y="2133601"/>
            <a:ext cx="466090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514350" indent="-457200">
              <a:spcBef>
                <a:spcPct val="20000"/>
              </a:spcBef>
              <a:buFont typeface="+mj-lt"/>
              <a:buAutoNum type="arabicPeriod"/>
            </a:pPr>
            <a:r>
              <a:rPr lang="en-US" sz="2000" b="0" dirty="0">
                <a:latin typeface="Times New Roman"/>
                <a:cs typeface="Times New Roman"/>
              </a:rPr>
              <a:t>Initialize weights at t=0 to w(0)</a:t>
            </a:r>
          </a:p>
          <a:p>
            <a:pPr marL="514350" indent="-457200">
              <a:spcBef>
                <a:spcPct val="20000"/>
              </a:spcBef>
              <a:buFont typeface="+mj-lt"/>
              <a:buAutoNum type="arabicPeriod"/>
            </a:pPr>
            <a:r>
              <a:rPr lang="en-US" sz="2000" b="0" dirty="0">
                <a:latin typeface="Times New Roman"/>
                <a:cs typeface="Times New Roman"/>
              </a:rPr>
              <a:t>For t = 1,2,</a:t>
            </a:r>
            <a:r>
              <a:rPr lang="is-IS" sz="2000" b="0" dirty="0">
                <a:latin typeface="Times New Roman"/>
                <a:cs typeface="Times New Roman"/>
              </a:rPr>
              <a:t>….</a:t>
            </a:r>
          </a:p>
          <a:p>
            <a:pPr marL="514350" indent="-457200">
              <a:spcBef>
                <a:spcPct val="20000"/>
              </a:spcBef>
              <a:buFont typeface="+mj-lt"/>
              <a:buAutoNum type="arabicPeriod"/>
            </a:pPr>
            <a:r>
              <a:rPr lang="is-IS" sz="2000" b="0" dirty="0">
                <a:latin typeface="Times New Roman"/>
                <a:cs typeface="Times New Roman"/>
              </a:rPr>
              <a:t>    compute the gradient</a:t>
            </a:r>
          </a:p>
          <a:p>
            <a:pPr marL="57150" lvl="2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		  ΔE = - [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 </a:t>
            </a:r>
            <a:r>
              <a:rPr lang="is-IS" sz="2000" b="0" dirty="0">
                <a:latin typeface="Times New Roman"/>
                <a:cs typeface="Times New Roman"/>
              </a:rPr>
              <a:t>/(</a:t>
            </a:r>
            <a:r>
              <a:rPr lang="en-US" sz="2000" b="0" dirty="0">
                <a:latin typeface="Times New Roman"/>
                <a:cs typeface="Times New Roman"/>
              </a:rPr>
              <a:t>1 +</a:t>
            </a:r>
          </a:p>
          <a:p>
            <a:pPr marL="57150" lvl="2" indent="0"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		 exp(-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b="0" dirty="0">
                <a:latin typeface="Times New Roman"/>
                <a:cs typeface="Times New Roman"/>
              </a:rPr>
              <a:t>(t) 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)]/N</a:t>
            </a:r>
            <a:endParaRPr lang="en-US" sz="2000" b="0" baseline="30000" dirty="0">
              <a:latin typeface="Times New Roman"/>
              <a:cs typeface="Times New Roman"/>
            </a:endParaRPr>
          </a:p>
          <a:p>
            <a:pPr marL="57150" indent="0">
              <a:spcBef>
                <a:spcPct val="20000"/>
              </a:spcBef>
            </a:pPr>
            <a:endParaRPr lang="is-IS" sz="2000" b="0" dirty="0">
              <a:latin typeface="Times New Roman"/>
              <a:cs typeface="Times New Roman"/>
            </a:endParaRPr>
          </a:p>
          <a:p>
            <a:pPr marL="457200" lvl="1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    update weights: 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(t+1) = 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(t) – ηΔE</a:t>
            </a:r>
          </a:p>
          <a:p>
            <a:pPr marL="457200" lvl="1" indent="0">
              <a:spcBef>
                <a:spcPct val="20000"/>
              </a:spcBef>
            </a:pPr>
            <a:r>
              <a:rPr lang="is-IS" sz="2000" b="0" dirty="0">
                <a:latin typeface="Times New Roman"/>
                <a:cs typeface="Times New Roman"/>
              </a:rPr>
              <a:t>    until Δ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 &lt; threshold</a:t>
            </a:r>
          </a:p>
          <a:p>
            <a:pPr marL="57150" indent="0">
              <a:spcBef>
                <a:spcPct val="20000"/>
              </a:spcBef>
            </a:pPr>
            <a:endParaRPr lang="is-IS" b="0" dirty="0">
              <a:latin typeface="Times New Roman"/>
              <a:cs typeface="Times New Roman"/>
            </a:endParaRPr>
          </a:p>
          <a:p>
            <a:pPr marL="57150" indent="0">
              <a:spcBef>
                <a:spcPct val="20000"/>
              </a:spcBef>
            </a:pPr>
            <a:r>
              <a:rPr lang="is-IS" b="0" dirty="0">
                <a:latin typeface="Times New Roman"/>
                <a:cs typeface="Times New Roman"/>
              </a:rPr>
              <a:t>		</a:t>
            </a:r>
            <a:endParaRPr lang="en-US" b="0" dirty="0">
              <a:latin typeface="Times New Roman"/>
              <a:cs typeface="Times New Roman"/>
            </a:endParaRPr>
          </a:p>
        </p:txBody>
      </p:sp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Logistic regression algorithm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AE06A91-312A-EC41-BA3B-F538FACDF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214" y="2133601"/>
            <a:ext cx="3916486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457200" indent="-457200" eaLnBrk="1" hangingPunct="1">
              <a:buAutoNum type="arabicPeriod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Set all </a:t>
            </a:r>
            <a:r>
              <a:rPr lang="en-US" sz="2000" dirty="0">
                <a:latin typeface="Franklin Gothic Book" charset="0"/>
                <a:cs typeface="Times New Roman" charset="0"/>
              </a:rPr>
              <a:t>w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 to 0</a:t>
            </a:r>
          </a:p>
          <a:p>
            <a:pPr marL="457200" indent="-457200" eaLnBrk="1" hangingPunct="1">
              <a:buAutoNum type="arabicPeriod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For N or until weights do not change</a:t>
            </a:r>
          </a:p>
          <a:p>
            <a:pPr marL="0" indent="0" eaLnBrk="1" hangingPunct="1"/>
            <a:r>
              <a:rPr lang="en-US" sz="2000" b="0" dirty="0">
                <a:latin typeface="Franklin Gothic Book" charset="0"/>
                <a:cs typeface="Times New Roman" charset="0"/>
              </a:rPr>
              <a:t>	    for each (</a:t>
            </a:r>
            <a:r>
              <a:rPr lang="en-US" sz="2000" dirty="0" err="1">
                <a:latin typeface="Franklin Gothic Book" charset="0"/>
                <a:cs typeface="Times New Roman" charset="0"/>
              </a:rPr>
              <a:t>x</a:t>
            </a:r>
            <a:r>
              <a:rPr lang="en-US" sz="200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sz="2000" b="0" dirty="0" err="1">
                <a:latin typeface="Franklin Gothic Book" charset="0"/>
                <a:cs typeface="Times New Roman" charset="0"/>
              </a:rPr>
              <a:t>,y</a:t>
            </a:r>
            <a:r>
              <a:rPr lang="en-US" sz="2000" b="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)</a:t>
            </a:r>
          </a:p>
          <a:p>
            <a:pPr marL="0" indent="0" eaLnBrk="1" hangingPunct="1"/>
            <a:r>
              <a:rPr lang="en-US" sz="2000" b="0" dirty="0">
                <a:latin typeface="Franklin Gothic Book" charset="0"/>
                <a:cs typeface="Times New Roman" charset="0"/>
              </a:rPr>
              <a:t>		 [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learning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]</a:t>
            </a:r>
          </a:p>
          <a:p>
            <a:pPr marL="0" indent="0"/>
            <a:r>
              <a:rPr lang="en-US" sz="2000" b="0" dirty="0">
                <a:latin typeface="Franklin Gothic Book" charset="0"/>
                <a:cs typeface="Times New Roman" charset="0"/>
              </a:rPr>
              <a:t>		 h(</a:t>
            </a:r>
            <a:r>
              <a:rPr lang="en-US" sz="2000" dirty="0">
                <a:latin typeface="Franklin Gothic Book" charset="0"/>
                <a:cs typeface="Times New Roman" charset="0"/>
              </a:rPr>
              <a:t>x</a:t>
            </a:r>
            <a:r>
              <a:rPr lang="en-US" sz="2000" b="0" baseline="-25000" dirty="0">
                <a:latin typeface="Franklin Gothic Book" charset="0"/>
                <a:cs typeface="Times New Roman" charset="0"/>
              </a:rPr>
              <a:t>i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) = </a:t>
            </a:r>
            <a:r>
              <a:rPr lang="en-US" sz="2000" b="0" dirty="0">
                <a:latin typeface="Times New Roman"/>
                <a:cs typeface="Times New Roman"/>
              </a:rPr>
              <a:t>sign(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  <a:endParaRPr lang="en-US" sz="2000" b="0" dirty="0">
              <a:latin typeface="Franklin Gothic Book" charset="0"/>
              <a:cs typeface="Times New Roman" charset="0"/>
            </a:endParaRPr>
          </a:p>
          <a:p>
            <a:pPr marL="0" indent="0" eaLnBrk="1" hangingPunct="1"/>
            <a:r>
              <a:rPr lang="en-US" sz="2000" b="0" dirty="0">
                <a:latin typeface="Franklin Gothic Book" charset="0"/>
                <a:cs typeface="Times New Roman" charset="0"/>
              </a:rPr>
              <a:t>	       If </a:t>
            </a:r>
            <a:r>
              <a:rPr lang="en-US" sz="2000" b="0" dirty="0" err="1">
                <a:latin typeface="Franklin Gothic Book" charset="0"/>
                <a:cs typeface="Times New Roman" charset="0"/>
              </a:rPr>
              <a:t>y</a:t>
            </a:r>
            <a:r>
              <a:rPr lang="en-US" sz="2000" b="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 – h(</a:t>
            </a:r>
            <a:r>
              <a:rPr lang="en-US" sz="2000" dirty="0">
                <a:latin typeface="Franklin Gothic Book" charset="0"/>
                <a:cs typeface="Times New Roman" charset="0"/>
              </a:rPr>
              <a:t>x</a:t>
            </a:r>
            <a:r>
              <a:rPr lang="en-US" sz="2000" b="0" baseline="-25000" dirty="0">
                <a:latin typeface="Franklin Gothic Book" charset="0"/>
                <a:cs typeface="Times New Roman" charset="0"/>
              </a:rPr>
              <a:t>i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) == 0, continue</a:t>
            </a:r>
          </a:p>
          <a:p>
            <a:pPr marL="0" indent="0" eaLnBrk="1" hangingPunct="1"/>
            <a:r>
              <a:rPr lang="en-US" sz="2000" b="0" dirty="0">
                <a:latin typeface="Franklin Gothic Book" charset="0"/>
                <a:cs typeface="Times New Roman" charset="0"/>
              </a:rPr>
              <a:t>	       else</a:t>
            </a:r>
          </a:p>
          <a:p>
            <a:pPr marL="0" indent="0" eaLnBrk="1" hangingPunct="1"/>
            <a:r>
              <a:rPr lang="en-US" sz="2000" b="0" dirty="0">
                <a:latin typeface="Franklin Gothic Book" charset="0"/>
                <a:cs typeface="Times New Roman" charset="0"/>
              </a:rPr>
              <a:t>		    </a:t>
            </a:r>
            <a:r>
              <a:rPr lang="en-US" sz="2000" b="0" dirty="0" err="1">
                <a:latin typeface="Franklin Gothic Book" charset="0"/>
                <a:cs typeface="Times New Roman" charset="0"/>
              </a:rPr>
              <a:t>w</a:t>
            </a:r>
            <a:r>
              <a:rPr lang="en-US" sz="2000" b="0" baseline="-25000" dirty="0" err="1">
                <a:latin typeface="Franklin Gothic Book" charset="0"/>
                <a:cs typeface="Times New Roman" charset="0"/>
              </a:rPr>
              <a:t>k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 = w</a:t>
            </a:r>
            <a:r>
              <a:rPr lang="en-US" sz="2000" b="0" baseline="-25000" dirty="0">
                <a:latin typeface="Franklin Gothic Book" charset="0"/>
                <a:cs typeface="Times New Roman" charset="0"/>
              </a:rPr>
              <a:t>k-1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 + (</a:t>
            </a:r>
            <a:r>
              <a:rPr lang="en-US" sz="2000" b="0" dirty="0" err="1">
                <a:latin typeface="Franklin Gothic Book" charset="0"/>
                <a:cs typeface="Times New Roman" charset="0"/>
              </a:rPr>
              <a:t>y</a:t>
            </a:r>
            <a:r>
              <a:rPr lang="en-US" sz="2000" b="0" baseline="-25000" dirty="0" err="1">
                <a:latin typeface="Franklin Gothic Book" charset="0"/>
                <a:cs typeface="Times New Roman" charset="0"/>
              </a:rPr>
              <a:t>i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 – h(</a:t>
            </a:r>
            <a:r>
              <a:rPr lang="en-US" sz="2000" dirty="0">
                <a:latin typeface="Franklin Gothic Book" charset="0"/>
                <a:cs typeface="Times New Roman" charset="0"/>
              </a:rPr>
              <a:t>x</a:t>
            </a:r>
            <a:r>
              <a:rPr lang="en-US" sz="2000" b="0" baseline="-25000" dirty="0">
                <a:latin typeface="Franklin Gothic Book" charset="0"/>
                <a:cs typeface="Times New Roman" charset="0"/>
              </a:rPr>
              <a:t>i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))</a:t>
            </a:r>
            <a:r>
              <a:rPr lang="en-US" sz="2000" b="0" dirty="0" err="1">
                <a:latin typeface="Franklin Gothic Book" charset="0"/>
                <a:cs typeface="Times New Roman" charset="0"/>
              </a:rPr>
              <a:t>x</a:t>
            </a:r>
            <a:r>
              <a:rPr lang="en-US" sz="2000" b="0" baseline="-25000" dirty="0" err="1">
                <a:latin typeface="Franklin Gothic Book" charset="0"/>
                <a:cs typeface="Times New Roman" charset="0"/>
              </a:rPr>
              <a:t>ik</a:t>
            </a:r>
            <a:endParaRPr lang="en-US" sz="2000" b="0" baseline="-25000" dirty="0">
              <a:latin typeface="Franklin Gothic Book" charset="0"/>
              <a:cs typeface="Times New Roman" charset="0"/>
            </a:endParaRPr>
          </a:p>
          <a:p>
            <a:pPr marL="0" indent="0" eaLnBrk="1" hangingPunct="1"/>
            <a:endParaRPr lang="en-US" sz="2000" b="0" dirty="0"/>
          </a:p>
          <a:p>
            <a:pPr eaLnBrk="1" hangingPunct="1"/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281382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3"/>
          <p:cNvSpPr txBox="1">
            <a:spLocks noChangeArrowheads="1"/>
          </p:cNvSpPr>
          <p:nvPr/>
        </p:nvSpPr>
        <p:spPr bwMode="auto">
          <a:xfrm>
            <a:off x="768803" y="3239640"/>
            <a:ext cx="3151505" cy="324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0" i="1" dirty="0">
                <a:latin typeface="Times New Roman"/>
                <a:cs typeface="Times New Roman"/>
              </a:rPr>
              <a:t>h</a:t>
            </a:r>
            <a:r>
              <a:rPr lang="en-US" sz="2000" b="0" i="1" baseline="-25000" dirty="0">
                <a:latin typeface="Times New Roman"/>
                <a:cs typeface="Times New Roman"/>
              </a:rPr>
              <a:t>i</a:t>
            </a:r>
            <a:r>
              <a:rPr lang="en-US" sz="2000" b="0" baseline="-25000" dirty="0">
                <a:latin typeface="Times New Roman"/>
                <a:cs typeface="Times New Roman"/>
              </a:rPr>
              <a:t> </a:t>
            </a:r>
            <a:r>
              <a:rPr lang="en-US" sz="2000" b="0" dirty="0">
                <a:latin typeface="Times New Roman"/>
                <a:cs typeface="Times New Roman"/>
              </a:rPr>
              <a:t>= ∑</a:t>
            </a:r>
            <a:r>
              <a:rPr lang="en-US" sz="2000" b="0" baseline="-25000" dirty="0">
                <a:latin typeface="Times New Roman"/>
                <a:cs typeface="Times New Roman"/>
              </a:rPr>
              <a:t>d </a:t>
            </a:r>
            <a:r>
              <a:rPr lang="en-US" sz="2000" b="0" dirty="0">
                <a:latin typeface="Times New Roman"/>
                <a:cs typeface="Times New Roman"/>
              </a:rPr>
              <a:t>x</a:t>
            </a:r>
            <a:r>
              <a:rPr lang="en-US" sz="2000" b="0" baseline="-25000" dirty="0">
                <a:latin typeface="Times New Roman"/>
                <a:cs typeface="Times New Roman"/>
              </a:rPr>
              <a:t>i * </a:t>
            </a:r>
            <a:r>
              <a:rPr lang="en-US" sz="2000" b="0" dirty="0" err="1">
                <a:latin typeface="Times New Roman"/>
                <a:cs typeface="Times New Roman"/>
              </a:rPr>
              <a:t>w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Iterative updates of weights – learning algorithm</a:t>
            </a:r>
            <a:endParaRPr lang="is-IS" sz="2000" b="0" baseline="30000" dirty="0">
              <a:latin typeface="Times New Roman"/>
              <a:cs typeface="Times New Roman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aseline="-25000" dirty="0">
                <a:latin typeface="Times New Roman"/>
                <a:cs typeface="Times New Roman"/>
              </a:rPr>
              <a:t>k+1</a:t>
            </a:r>
            <a:r>
              <a:rPr lang="is-IS" sz="2000" b="0" baseline="-25000" dirty="0">
                <a:latin typeface="Times New Roman"/>
                <a:cs typeface="Times New Roman"/>
              </a:rPr>
              <a:t> </a:t>
            </a:r>
            <a:r>
              <a:rPr lang="is-IS" sz="2000" b="0" dirty="0">
                <a:latin typeface="Times New Roman"/>
                <a:cs typeface="Times New Roman"/>
              </a:rPr>
              <a:t>&lt;- 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aseline="-25000" dirty="0">
                <a:latin typeface="Times New Roman"/>
                <a:cs typeface="Times New Roman"/>
              </a:rPr>
              <a:t>k</a:t>
            </a:r>
            <a:r>
              <a:rPr lang="is-IS" sz="2000" b="0" dirty="0">
                <a:latin typeface="Times New Roman"/>
                <a:cs typeface="Times New Roman"/>
              </a:rPr>
              <a:t> + y</a:t>
            </a:r>
            <a:r>
              <a:rPr lang="is-IS" sz="2000" b="0" baseline="-25000" dirty="0">
                <a:latin typeface="Times New Roman"/>
                <a:cs typeface="Times New Roman"/>
              </a:rPr>
              <a:t>k+1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k+1</a:t>
            </a:r>
            <a:r>
              <a:rPr lang="is-IS" sz="2000" dirty="0">
                <a:latin typeface="Times New Roman"/>
                <a:cs typeface="Times New Roman"/>
              </a:rPr>
              <a:t> </a:t>
            </a:r>
            <a:r>
              <a:rPr lang="is-IS" sz="2000" b="0" dirty="0">
                <a:latin typeface="Times New Roman"/>
                <a:cs typeface="Times New Roman"/>
              </a:rPr>
              <a:t>for misclassified dataset that </a:t>
            </a:r>
            <a:r>
              <a:rPr lang="en-US" sz="2000" b="0" dirty="0">
                <a:latin typeface="Times New Roman"/>
                <a:cs typeface="Times New Roman"/>
              </a:rPr>
              <a:t>sign(</a:t>
            </a:r>
            <a:r>
              <a:rPr lang="en-US" sz="2000" dirty="0" err="1">
                <a:latin typeface="Times New Roman"/>
                <a:cs typeface="Times New Roman"/>
              </a:rPr>
              <a:t>w</a:t>
            </a:r>
            <a:r>
              <a:rPr lang="en-US" sz="2000" b="0" baseline="30000" dirty="0" err="1">
                <a:latin typeface="Times New Roman"/>
                <a:cs typeface="Times New Roman"/>
              </a:rPr>
              <a:t>T</a:t>
            </a:r>
            <a:r>
              <a:rPr lang="en-US" sz="2000" dirty="0" err="1">
                <a:latin typeface="Times New Roman"/>
                <a:cs typeface="Times New Roman"/>
              </a:rPr>
              <a:t>x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) !=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endParaRPr lang="en-US" sz="2000" b="0" dirty="0">
              <a:latin typeface="Franklin Gothic Book" charset="0"/>
              <a:cs typeface="Times New Roman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4818" name="Rectangle 2"/>
          <p:cNvSpPr txBox="1">
            <a:spLocks noChangeArrowheads="1"/>
          </p:cNvSpPr>
          <p:nvPr/>
        </p:nvSpPr>
        <p:spPr bwMode="auto">
          <a:xfrm>
            <a:off x="367392" y="62416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Perceptron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882717-A3A7-7440-902D-216B7D73D448}"/>
              </a:ext>
            </a:extLst>
          </p:cNvPr>
          <p:cNvSpPr/>
          <p:nvPr/>
        </p:nvSpPr>
        <p:spPr>
          <a:xfrm>
            <a:off x="2680698" y="1781814"/>
            <a:ext cx="217170" cy="217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49D5CB-B375-184D-838C-F942F1C0F195}"/>
              </a:ext>
            </a:extLst>
          </p:cNvPr>
          <p:cNvCxnSpPr/>
          <p:nvPr/>
        </p:nvCxnSpPr>
        <p:spPr>
          <a:xfrm>
            <a:off x="2375898" y="1886589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4B33745-F2A9-0C47-BBB8-B75755037050}"/>
              </a:ext>
            </a:extLst>
          </p:cNvPr>
          <p:cNvSpPr/>
          <p:nvPr/>
        </p:nvSpPr>
        <p:spPr>
          <a:xfrm>
            <a:off x="2680698" y="2069469"/>
            <a:ext cx="217170" cy="217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B66706-EC2F-AF4A-B322-E2DBD4AE080E}"/>
              </a:ext>
            </a:extLst>
          </p:cNvPr>
          <p:cNvCxnSpPr/>
          <p:nvPr/>
        </p:nvCxnSpPr>
        <p:spPr>
          <a:xfrm>
            <a:off x="2375898" y="2192024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E7FC715-1E68-F34C-A94C-5C5B9CAB5C04}"/>
              </a:ext>
            </a:extLst>
          </p:cNvPr>
          <p:cNvSpPr/>
          <p:nvPr/>
        </p:nvSpPr>
        <p:spPr>
          <a:xfrm>
            <a:off x="2680698" y="2526034"/>
            <a:ext cx="217170" cy="217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7E8DB1-9945-6841-AE15-82F1A4E6E0C0}"/>
              </a:ext>
            </a:extLst>
          </p:cNvPr>
          <p:cNvCxnSpPr/>
          <p:nvPr/>
        </p:nvCxnSpPr>
        <p:spPr>
          <a:xfrm>
            <a:off x="2375898" y="2630809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28FFA8-BD52-D740-BC45-3EC9984A6F00}"/>
              </a:ext>
            </a:extLst>
          </p:cNvPr>
          <p:cNvCxnSpPr/>
          <p:nvPr/>
        </p:nvCxnSpPr>
        <p:spPr>
          <a:xfrm>
            <a:off x="2375898" y="1581789"/>
            <a:ext cx="521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23E3FE4-879B-EF48-B4DC-1F805689AA7B}"/>
              </a:ext>
            </a:extLst>
          </p:cNvPr>
          <p:cNvSpPr/>
          <p:nvPr/>
        </p:nvSpPr>
        <p:spPr>
          <a:xfrm>
            <a:off x="3855448" y="1990094"/>
            <a:ext cx="522605" cy="461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3A766A57-66B7-7443-964A-C37101DFD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535" y="1510827"/>
            <a:ext cx="365125" cy="2778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17">
            <a:extLst>
              <a:ext uri="{FF2B5EF4-FFF2-40B4-BE49-F238E27FC236}">
                <a16:creationId xmlns:a16="http://schemas.microsoft.com/office/drawing/2014/main" id="{5CF1DFDC-171E-BC47-AAAC-944D2DB61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6306" y="1746617"/>
            <a:ext cx="365125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92E15D-EA1D-F540-AC0B-36A14E1FF9DD}"/>
              </a:ext>
            </a:extLst>
          </p:cNvPr>
          <p:cNvCxnSpPr/>
          <p:nvPr/>
        </p:nvCxnSpPr>
        <p:spPr>
          <a:xfrm>
            <a:off x="2898503" y="1878334"/>
            <a:ext cx="957580" cy="243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43C54A-0C6C-DD48-B866-BDE21F68EDAA}"/>
              </a:ext>
            </a:extLst>
          </p:cNvPr>
          <p:cNvCxnSpPr/>
          <p:nvPr/>
        </p:nvCxnSpPr>
        <p:spPr>
          <a:xfrm>
            <a:off x="2898503" y="1584329"/>
            <a:ext cx="957580" cy="48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8">
            <a:extLst>
              <a:ext uri="{FF2B5EF4-FFF2-40B4-BE49-F238E27FC236}">
                <a16:creationId xmlns:a16="http://schemas.microsoft.com/office/drawing/2014/main" id="{1F736303-2A0E-BB4E-AFFD-CD1EED37E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606" y="1978664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Box 19">
            <a:extLst>
              <a:ext uri="{FF2B5EF4-FFF2-40B4-BE49-F238E27FC236}">
                <a16:creationId xmlns:a16="http://schemas.microsoft.com/office/drawing/2014/main" id="{4B7EC9FD-4BC8-084E-A2EA-7EF1459EB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543" y="2385291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504ACA-FAFA-044C-BCFD-6121A483C62A}"/>
              </a:ext>
            </a:extLst>
          </p:cNvPr>
          <p:cNvCxnSpPr/>
          <p:nvPr/>
        </p:nvCxnSpPr>
        <p:spPr>
          <a:xfrm flipV="1">
            <a:off x="2898503" y="2348869"/>
            <a:ext cx="957580" cy="252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7DFADD-9D49-E844-8BEC-1B5ED5AA1CBE}"/>
              </a:ext>
            </a:extLst>
          </p:cNvPr>
          <p:cNvCxnSpPr/>
          <p:nvPr/>
        </p:nvCxnSpPr>
        <p:spPr>
          <a:xfrm>
            <a:off x="2897868" y="2171704"/>
            <a:ext cx="957580" cy="45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0">
            <a:extLst>
              <a:ext uri="{FF2B5EF4-FFF2-40B4-BE49-F238E27FC236}">
                <a16:creationId xmlns:a16="http://schemas.microsoft.com/office/drawing/2014/main" id="{3186DF13-92B9-A34C-AC5D-9BAEBF737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055" y="1428211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D98F48DF-1E14-8844-8D14-0E7D996AF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786" y="1740042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F4CC95EB-A227-FC45-9B62-0FBF8D02A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915" y="2032731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316F646F-87F9-2147-B888-31E6CB5A4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055" y="2480406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CD9E29D-6C31-924F-925E-7B6F36C98E02}"/>
              </a:ext>
            </a:extLst>
          </p:cNvPr>
          <p:cNvSpPr/>
          <p:nvPr/>
        </p:nvSpPr>
        <p:spPr>
          <a:xfrm>
            <a:off x="4770483" y="1978664"/>
            <a:ext cx="522605" cy="461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3" name="Text Box 28">
            <a:extLst>
              <a:ext uri="{FF2B5EF4-FFF2-40B4-BE49-F238E27FC236}">
                <a16:creationId xmlns:a16="http://schemas.microsoft.com/office/drawing/2014/main" id="{C3C3AA5D-077E-434A-A484-C28F83602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8533" y="1886317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EC89188-5CFB-FA4F-9DCD-1C3705D1EFD4}"/>
              </a:ext>
            </a:extLst>
          </p:cNvPr>
          <p:cNvCxnSpPr/>
          <p:nvPr/>
        </p:nvCxnSpPr>
        <p:spPr>
          <a:xfrm>
            <a:off x="4378688" y="2219964"/>
            <a:ext cx="3917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567855-B44C-894C-A40A-629DCB38B02B}"/>
              </a:ext>
            </a:extLst>
          </p:cNvPr>
          <p:cNvCxnSpPr/>
          <p:nvPr/>
        </p:nvCxnSpPr>
        <p:spPr>
          <a:xfrm>
            <a:off x="5293088" y="2218694"/>
            <a:ext cx="3917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5">
            <a:extLst>
              <a:ext uri="{FF2B5EF4-FFF2-40B4-BE49-F238E27FC236}">
                <a16:creationId xmlns:a16="http://schemas.microsoft.com/office/drawing/2014/main" id="{DBD2D5CE-8CEE-D24C-A39A-19B437E1A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43" y="6096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36">
            <a:extLst>
              <a:ext uri="{FF2B5EF4-FFF2-40B4-BE49-F238E27FC236}">
                <a16:creationId xmlns:a16="http://schemas.microsoft.com/office/drawing/2014/main" id="{913A18A1-7D27-4743-A237-27BB7C837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43" y="1524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Text Box 28">
            <a:extLst>
              <a:ext uri="{FF2B5EF4-FFF2-40B4-BE49-F238E27FC236}">
                <a16:creationId xmlns:a16="http://schemas.microsoft.com/office/drawing/2014/main" id="{BDCE1190-A43D-D44E-A4FE-F3B1CA056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2286" y="1910085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400890-6B1B-124F-8575-B56A4B51D121}"/>
              </a:ext>
            </a:extLst>
          </p:cNvPr>
          <p:cNvSpPr txBox="1"/>
          <p:nvPr/>
        </p:nvSpPr>
        <p:spPr>
          <a:xfrm>
            <a:off x="4177392" y="3729453"/>
            <a:ext cx="4795021" cy="2031325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w</a:t>
            </a:r>
            <a:r>
              <a:rPr lang="mr-IN" dirty="0"/>
              <a:t> = np.zeros</a:t>
            </a:r>
            <a:r>
              <a:rPr lang="en-US" dirty="0"/>
              <a:t>(</a:t>
            </a:r>
            <a:r>
              <a:rPr lang="mr-IN" dirty="0"/>
              <a:t>X.shape</a:t>
            </a:r>
            <a:r>
              <a:rPr lang="en-US" dirty="0"/>
              <a:t>[</a:t>
            </a:r>
            <a:r>
              <a:rPr lang="mr-IN" dirty="0"/>
              <a:t>1</a:t>
            </a:r>
            <a:r>
              <a:rPr lang="en-US" dirty="0"/>
              <a:t>] + </a:t>
            </a:r>
            <a:r>
              <a:rPr lang="mr-IN" dirty="0"/>
              <a:t>1</a:t>
            </a:r>
            <a:r>
              <a:rPr lang="en-US" dirty="0"/>
              <a:t>)</a:t>
            </a:r>
            <a:endParaRPr lang="mr-IN" dirty="0"/>
          </a:p>
          <a:p>
            <a:r>
              <a:rPr lang="en-US" dirty="0"/>
              <a:t>   </a:t>
            </a:r>
            <a:r>
              <a:rPr lang="mr-IN" dirty="0" err="1"/>
              <a:t>for</a:t>
            </a:r>
            <a:r>
              <a:rPr lang="mr-IN" dirty="0"/>
              <a:t> i in range</a:t>
            </a:r>
            <a:r>
              <a:rPr lang="en-US" dirty="0"/>
              <a:t>(</a:t>
            </a:r>
            <a:r>
              <a:rPr lang="mr-IN" dirty="0"/>
              <a:t>iter</a:t>
            </a:r>
            <a:r>
              <a:rPr lang="en-US" dirty="0"/>
              <a:t>)</a:t>
            </a:r>
            <a:r>
              <a:rPr lang="mr-IN" dirty="0"/>
              <a:t>:</a:t>
            </a:r>
          </a:p>
          <a:p>
            <a:r>
              <a:rPr lang="en-US" dirty="0"/>
              <a:t>        for xi, y in zip(</a:t>
            </a:r>
            <a:r>
              <a:rPr lang="en-US" dirty="0" err="1"/>
              <a:t>X,y</a:t>
            </a:r>
            <a:r>
              <a:rPr lang="en-US" dirty="0"/>
              <a:t>):</a:t>
            </a:r>
            <a:endParaRPr lang="mr-IN" dirty="0"/>
          </a:p>
          <a:p>
            <a:r>
              <a:rPr lang="mr-IN" dirty="0"/>
              <a:t>     </a:t>
            </a:r>
            <a:r>
              <a:rPr lang="en-US" dirty="0"/>
              <a:t>  </a:t>
            </a:r>
            <a:r>
              <a:rPr lang="mr-IN" dirty="0"/>
              <a:t> error = y – </a:t>
            </a:r>
            <a:r>
              <a:rPr lang="en-US" dirty="0" err="1"/>
              <a:t>np.where</a:t>
            </a:r>
            <a:r>
              <a:rPr lang="en-US" dirty="0"/>
              <a:t>(</a:t>
            </a:r>
            <a:r>
              <a:rPr lang="en-US" dirty="0">
                <a:latin typeface="Times New Roman"/>
                <a:cs typeface="Times New Roman"/>
              </a:rPr>
              <a:t>x</a:t>
            </a:r>
            <a:r>
              <a:rPr lang="en-US" baseline="-25000" dirty="0">
                <a:latin typeface="Times New Roman"/>
                <a:cs typeface="Times New Roman"/>
              </a:rPr>
              <a:t>i </a:t>
            </a:r>
            <a:r>
              <a:rPr lang="en-US" baseline="30000" dirty="0">
                <a:latin typeface="Times New Roman"/>
                <a:cs typeface="Times New Roman"/>
              </a:rPr>
              <a:t>T</a:t>
            </a:r>
            <a:r>
              <a:rPr lang="en-US" baseline="-25000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w</a:t>
            </a:r>
            <a:r>
              <a:rPr lang="en-US" baseline="-25000" dirty="0" err="1">
                <a:latin typeface="Times New Roman"/>
                <a:cs typeface="Times New Roman"/>
              </a:rPr>
              <a:t>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/>
              <a:t>&gt;=0.0, 1, -1)</a:t>
            </a:r>
          </a:p>
          <a:p>
            <a:r>
              <a:rPr lang="mr-IN" dirty="0"/>
              <a:t>      </a:t>
            </a:r>
            <a:r>
              <a:rPr lang="en-US" dirty="0"/>
              <a:t>  w[</a:t>
            </a:r>
            <a:r>
              <a:rPr lang="mr-IN" dirty="0"/>
              <a:t>1:</a:t>
            </a:r>
            <a:r>
              <a:rPr lang="en-US" dirty="0"/>
              <a:t>]</a:t>
            </a:r>
            <a:r>
              <a:rPr lang="mr-IN" dirty="0"/>
              <a:t> </a:t>
            </a:r>
            <a:r>
              <a:rPr lang="en-US" dirty="0"/>
              <a:t> += </a:t>
            </a:r>
            <a:r>
              <a:rPr lang="mr-IN" dirty="0"/>
              <a:t> eta * np.dot</a:t>
            </a:r>
            <a:r>
              <a:rPr lang="en-US" dirty="0"/>
              <a:t>(</a:t>
            </a:r>
            <a:r>
              <a:rPr lang="mr-IN" dirty="0"/>
              <a:t>X, error</a:t>
            </a:r>
            <a:r>
              <a:rPr lang="en-US" dirty="0"/>
              <a:t>)</a:t>
            </a:r>
            <a:endParaRPr lang="mr-IN" dirty="0"/>
          </a:p>
          <a:p>
            <a:r>
              <a:rPr lang="mr-IN" dirty="0"/>
              <a:t>      </a:t>
            </a:r>
            <a:r>
              <a:rPr lang="en-US" dirty="0"/>
              <a:t>  w[</a:t>
            </a:r>
            <a:r>
              <a:rPr lang="mr-IN" dirty="0"/>
              <a:t>0</a:t>
            </a:r>
            <a:r>
              <a:rPr lang="en-US" dirty="0"/>
              <a:t>]</a:t>
            </a:r>
            <a:r>
              <a:rPr lang="mr-IN" dirty="0"/>
              <a:t> </a:t>
            </a:r>
            <a:r>
              <a:rPr lang="en-US" dirty="0"/>
              <a:t>  += </a:t>
            </a:r>
            <a:r>
              <a:rPr lang="mr-IN" dirty="0"/>
              <a:t> eta * </a:t>
            </a:r>
            <a:r>
              <a:rPr lang="mr-IN" dirty="0" err="1"/>
              <a:t>error</a:t>
            </a:r>
            <a:endParaRPr lang="mr-IN" dirty="0"/>
          </a:p>
          <a:p>
            <a:r>
              <a:rPr lang="mr-IN" dirty="0"/>
              <a:t>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803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3"/>
          <p:cNvSpPr txBox="1">
            <a:spLocks noChangeArrowheads="1"/>
          </p:cNvSpPr>
          <p:nvPr/>
        </p:nvSpPr>
        <p:spPr bwMode="auto">
          <a:xfrm>
            <a:off x="416353" y="3221315"/>
            <a:ext cx="3972180" cy="308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Linear Regression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i="1" dirty="0">
                <a:latin typeface="Times New Roman"/>
                <a:cs typeface="Times New Roman"/>
              </a:rPr>
              <a:t>E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="0" dirty="0">
                <a:latin typeface="Times New Roman"/>
                <a:cs typeface="Times New Roman"/>
              </a:rPr>
              <a:t>) </a:t>
            </a:r>
            <a:r>
              <a:rPr lang="en-US" sz="2000" b="0" i="1" dirty="0">
                <a:latin typeface="Times New Roman"/>
                <a:cs typeface="Times New Roman"/>
              </a:rPr>
              <a:t>= </a:t>
            </a:r>
            <a:r>
              <a:rPr lang="en-US" sz="2000" b="0" dirty="0">
                <a:latin typeface="Times New Roman"/>
                <a:cs typeface="Times New Roman"/>
              </a:rPr>
              <a:t>∑</a:t>
            </a:r>
            <a:r>
              <a:rPr lang="en-US" sz="2000" b="0" i="1" baseline="30000" dirty="0">
                <a:latin typeface="Times New Roman"/>
                <a:cs typeface="Times New Roman"/>
              </a:rPr>
              <a:t> </a:t>
            </a:r>
            <a:r>
              <a:rPr lang="en-US" sz="2000" b="0" i="1" baseline="-25000" dirty="0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(h(x</a:t>
            </a:r>
            <a:r>
              <a:rPr lang="en-US" sz="2000" b="0" baseline="-25000" dirty="0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, </a:t>
            </a: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="0" dirty="0">
                <a:latin typeface="Times New Roman"/>
                <a:cs typeface="Times New Roman"/>
              </a:rPr>
              <a:t>) –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  <a:r>
              <a:rPr lang="en-US" sz="2000" b="0" baseline="30000" dirty="0">
                <a:latin typeface="Times New Roman"/>
                <a:cs typeface="Times New Roman"/>
              </a:rPr>
              <a:t>2</a:t>
            </a:r>
            <a:r>
              <a:rPr lang="en-US" sz="2000" b="0" dirty="0">
                <a:latin typeface="Times New Roman"/>
                <a:cs typeface="Times New Roman"/>
              </a:rPr>
              <a:t>/2</a:t>
            </a:r>
            <a:endParaRPr lang="en-US" sz="2000" b="0" baseline="30000" dirty="0">
              <a:latin typeface="Times New Roman"/>
              <a:cs typeface="Times New Roman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Minimize </a:t>
            </a:r>
            <a:r>
              <a:rPr lang="en-US" sz="2000" b="0" i="1" dirty="0">
                <a:latin typeface="Times New Roman"/>
                <a:cs typeface="Times New Roman"/>
              </a:rPr>
              <a:t>E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</a:t>
            </a:r>
            <a:r>
              <a:rPr lang="is-IS" sz="2000" b="0" dirty="0">
                <a:latin typeface="Times New Roman"/>
                <a:cs typeface="Times New Roman"/>
              </a:rPr>
              <a:t> ΔE(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) = 0</a:t>
            </a:r>
            <a:endParaRPr lang="en-US" sz="2000" b="0" dirty="0">
              <a:latin typeface="Times New Roman"/>
              <a:cs typeface="Times New Roman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Gradient descent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4818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Linear Regression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A160E5-0593-CC4B-A869-839B2C953453}"/>
              </a:ext>
            </a:extLst>
          </p:cNvPr>
          <p:cNvSpPr/>
          <p:nvPr/>
        </p:nvSpPr>
        <p:spPr>
          <a:xfrm>
            <a:off x="2680698" y="1723758"/>
            <a:ext cx="217170" cy="217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9EB77A9-278E-C64D-ACC1-340968331B5E}"/>
              </a:ext>
            </a:extLst>
          </p:cNvPr>
          <p:cNvCxnSpPr/>
          <p:nvPr/>
        </p:nvCxnSpPr>
        <p:spPr>
          <a:xfrm>
            <a:off x="2375898" y="1828533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1463C6E-F892-9648-AED0-1622BA15E803}"/>
              </a:ext>
            </a:extLst>
          </p:cNvPr>
          <p:cNvSpPr/>
          <p:nvPr/>
        </p:nvSpPr>
        <p:spPr>
          <a:xfrm>
            <a:off x="2680698" y="2011413"/>
            <a:ext cx="217170" cy="217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59A71B-51ED-3240-8018-0103279FDD83}"/>
              </a:ext>
            </a:extLst>
          </p:cNvPr>
          <p:cNvCxnSpPr/>
          <p:nvPr/>
        </p:nvCxnSpPr>
        <p:spPr>
          <a:xfrm>
            <a:off x="2375898" y="2133968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B6501C8-456C-2F4A-A312-032374430102}"/>
              </a:ext>
            </a:extLst>
          </p:cNvPr>
          <p:cNvSpPr/>
          <p:nvPr/>
        </p:nvSpPr>
        <p:spPr>
          <a:xfrm>
            <a:off x="2680698" y="2467978"/>
            <a:ext cx="217170" cy="217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E85AF7-1E99-3F47-AB3F-DBB57ECA99D1}"/>
              </a:ext>
            </a:extLst>
          </p:cNvPr>
          <p:cNvCxnSpPr/>
          <p:nvPr/>
        </p:nvCxnSpPr>
        <p:spPr>
          <a:xfrm>
            <a:off x="2375898" y="2572753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F6E6CD-D280-7A42-B941-9C9963933497}"/>
              </a:ext>
            </a:extLst>
          </p:cNvPr>
          <p:cNvCxnSpPr/>
          <p:nvPr/>
        </p:nvCxnSpPr>
        <p:spPr>
          <a:xfrm>
            <a:off x="2375898" y="1523733"/>
            <a:ext cx="521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93C62054-A66A-E546-B737-5610640431F2}"/>
              </a:ext>
            </a:extLst>
          </p:cNvPr>
          <p:cNvSpPr/>
          <p:nvPr/>
        </p:nvSpPr>
        <p:spPr>
          <a:xfrm>
            <a:off x="3855448" y="1932038"/>
            <a:ext cx="522605" cy="461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E788DE53-2837-DE4A-960D-D0EEFCFDE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535" y="1452771"/>
            <a:ext cx="365125" cy="2778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546CFA7E-C1EF-3141-B18F-11A16198C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6306" y="1688561"/>
            <a:ext cx="365125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D7B820-D36F-914E-A088-5B77C3D89473}"/>
              </a:ext>
            </a:extLst>
          </p:cNvPr>
          <p:cNvCxnSpPr/>
          <p:nvPr/>
        </p:nvCxnSpPr>
        <p:spPr>
          <a:xfrm>
            <a:off x="2898503" y="1820278"/>
            <a:ext cx="957580" cy="243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D24606-15FC-B040-9E02-DDC8CD5991A0}"/>
              </a:ext>
            </a:extLst>
          </p:cNvPr>
          <p:cNvCxnSpPr/>
          <p:nvPr/>
        </p:nvCxnSpPr>
        <p:spPr>
          <a:xfrm>
            <a:off x="2898503" y="1526273"/>
            <a:ext cx="957580" cy="48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8">
            <a:extLst>
              <a:ext uri="{FF2B5EF4-FFF2-40B4-BE49-F238E27FC236}">
                <a16:creationId xmlns:a16="http://schemas.microsoft.com/office/drawing/2014/main" id="{536E909E-2BC7-5144-9D4E-1D965FA13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606" y="1920608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 Box 19">
            <a:extLst>
              <a:ext uri="{FF2B5EF4-FFF2-40B4-BE49-F238E27FC236}">
                <a16:creationId xmlns:a16="http://schemas.microsoft.com/office/drawing/2014/main" id="{F09E19D3-1F7D-9E4A-B8C7-52361A300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543" y="2327235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274BCD-3556-C741-AA05-B9CC4031711C}"/>
              </a:ext>
            </a:extLst>
          </p:cNvPr>
          <p:cNvCxnSpPr/>
          <p:nvPr/>
        </p:nvCxnSpPr>
        <p:spPr>
          <a:xfrm flipV="1">
            <a:off x="2898503" y="2290813"/>
            <a:ext cx="957580" cy="252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AAF1C0-CB7B-F64D-9F71-1ADD5F0EE1D5}"/>
              </a:ext>
            </a:extLst>
          </p:cNvPr>
          <p:cNvCxnSpPr/>
          <p:nvPr/>
        </p:nvCxnSpPr>
        <p:spPr>
          <a:xfrm>
            <a:off x="2897868" y="2113648"/>
            <a:ext cx="957580" cy="45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20">
            <a:extLst>
              <a:ext uri="{FF2B5EF4-FFF2-40B4-BE49-F238E27FC236}">
                <a16:creationId xmlns:a16="http://schemas.microsoft.com/office/drawing/2014/main" id="{8885A0ED-2BB8-9042-9FF4-807259B50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055" y="1370155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7027AB0F-B2F5-3048-8AD7-9DD9F1CB2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786" y="1681986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403B160C-6F6E-5A49-88F6-3D959A67E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915" y="1974675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559A56AD-D976-2A42-BFE3-21ADDD64B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055" y="2422350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9BE3DA-E78D-724B-9D31-E1A8FE88C805}"/>
              </a:ext>
            </a:extLst>
          </p:cNvPr>
          <p:cNvSpPr/>
          <p:nvPr/>
        </p:nvSpPr>
        <p:spPr>
          <a:xfrm>
            <a:off x="4770483" y="1920608"/>
            <a:ext cx="522605" cy="461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A277D3E6-0373-6542-9FE5-8681E7373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8533" y="1828261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E9C28B-F51C-2E41-BE16-89BC5BB8A916}"/>
              </a:ext>
            </a:extLst>
          </p:cNvPr>
          <p:cNvCxnSpPr/>
          <p:nvPr/>
        </p:nvCxnSpPr>
        <p:spPr>
          <a:xfrm>
            <a:off x="4378688" y="2161908"/>
            <a:ext cx="3917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7AA4AF-A3AA-3349-817B-76125067165E}"/>
              </a:ext>
            </a:extLst>
          </p:cNvPr>
          <p:cNvCxnSpPr/>
          <p:nvPr/>
        </p:nvCxnSpPr>
        <p:spPr>
          <a:xfrm>
            <a:off x="5293088" y="2160638"/>
            <a:ext cx="3917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8">
            <a:extLst>
              <a:ext uri="{FF2B5EF4-FFF2-40B4-BE49-F238E27FC236}">
                <a16:creationId xmlns:a16="http://schemas.microsoft.com/office/drawing/2014/main" id="{ABEAA501-A1A9-7742-96C3-15256332D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2286" y="1852029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500D84-7F5C-E54E-B401-7BE39FDFD7C6}"/>
              </a:ext>
            </a:extLst>
          </p:cNvPr>
          <p:cNvSpPr txBox="1"/>
          <p:nvPr/>
        </p:nvSpPr>
        <p:spPr>
          <a:xfrm>
            <a:off x="4536578" y="3183216"/>
            <a:ext cx="4607422" cy="2862322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w</a:t>
            </a:r>
            <a:r>
              <a:rPr lang="mr-IN" dirty="0"/>
              <a:t> = np.zeros</a:t>
            </a:r>
            <a:r>
              <a:rPr lang="en-US" dirty="0"/>
              <a:t>(</a:t>
            </a:r>
            <a:r>
              <a:rPr lang="mr-IN" dirty="0"/>
              <a:t>X.shape</a:t>
            </a:r>
            <a:r>
              <a:rPr lang="en-US" dirty="0"/>
              <a:t>[</a:t>
            </a:r>
            <a:r>
              <a:rPr lang="mr-IN" dirty="0"/>
              <a:t>1</a:t>
            </a:r>
            <a:r>
              <a:rPr lang="en-US" dirty="0"/>
              <a:t>] + </a:t>
            </a:r>
            <a:r>
              <a:rPr lang="mr-IN" dirty="0"/>
              <a:t>1</a:t>
            </a:r>
            <a:r>
              <a:rPr lang="en-US" dirty="0"/>
              <a:t>)</a:t>
            </a:r>
            <a:endParaRPr lang="mr-IN" dirty="0"/>
          </a:p>
          <a:p>
            <a:r>
              <a:rPr lang="en-US" dirty="0"/>
              <a:t>   </a:t>
            </a:r>
            <a:r>
              <a:rPr lang="mr-IN" dirty="0"/>
              <a:t>cost</a:t>
            </a:r>
            <a:r>
              <a:rPr lang="en-US" dirty="0"/>
              <a:t>s =</a:t>
            </a:r>
            <a:r>
              <a:rPr lang="mr-IN" dirty="0"/>
              <a:t> </a:t>
            </a:r>
            <a:r>
              <a:rPr lang="en-US" dirty="0"/>
              <a:t>[]</a:t>
            </a:r>
            <a:endParaRPr lang="mr-IN" dirty="0"/>
          </a:p>
          <a:p>
            <a:r>
              <a:rPr lang="en-US" dirty="0"/>
              <a:t>   </a:t>
            </a:r>
            <a:r>
              <a:rPr lang="mr-IN" dirty="0" err="1"/>
              <a:t>for</a:t>
            </a:r>
            <a:r>
              <a:rPr lang="mr-IN" dirty="0"/>
              <a:t> i in range</a:t>
            </a:r>
            <a:r>
              <a:rPr lang="en-US" dirty="0"/>
              <a:t>(</a:t>
            </a:r>
            <a:r>
              <a:rPr lang="mr-IN" dirty="0"/>
              <a:t>iter</a:t>
            </a:r>
            <a:r>
              <a:rPr lang="en-US" dirty="0"/>
              <a:t>)</a:t>
            </a:r>
            <a:r>
              <a:rPr lang="mr-IN" dirty="0"/>
              <a:t>:</a:t>
            </a:r>
          </a:p>
          <a:p>
            <a:r>
              <a:rPr lang="en-US" dirty="0"/>
              <a:t>        h</a:t>
            </a:r>
            <a:r>
              <a:rPr lang="mr-IN" dirty="0"/>
              <a:t> = np.dot</a:t>
            </a:r>
            <a:r>
              <a:rPr lang="en-US" dirty="0"/>
              <a:t>(</a:t>
            </a:r>
            <a:r>
              <a:rPr lang="mr-IN" dirty="0"/>
              <a:t>X, </a:t>
            </a:r>
            <a:r>
              <a:rPr lang="en-US" dirty="0"/>
              <a:t>w[</a:t>
            </a:r>
            <a:r>
              <a:rPr lang="mr-IN" dirty="0"/>
              <a:t>1</a:t>
            </a:r>
            <a:r>
              <a:rPr lang="en-US" dirty="0"/>
              <a:t>:]</a:t>
            </a:r>
            <a:r>
              <a:rPr lang="mr-IN" dirty="0"/>
              <a:t>) + </a:t>
            </a:r>
            <a:r>
              <a:rPr lang="en-US" dirty="0"/>
              <a:t>w[</a:t>
            </a:r>
            <a:r>
              <a:rPr lang="mr-IN" dirty="0"/>
              <a:t>0</a:t>
            </a:r>
            <a:r>
              <a:rPr lang="en-US" dirty="0"/>
              <a:t>]</a:t>
            </a:r>
            <a:endParaRPr lang="mr-IN" dirty="0"/>
          </a:p>
          <a:p>
            <a:r>
              <a:rPr lang="mr-IN" dirty="0"/>
              <a:t>   </a:t>
            </a:r>
            <a:r>
              <a:rPr lang="en-US" dirty="0"/>
              <a:t> </a:t>
            </a:r>
            <a:r>
              <a:rPr lang="mr-IN" dirty="0" err="1"/>
              <a:t>error</a:t>
            </a:r>
            <a:r>
              <a:rPr lang="mr-IN" dirty="0"/>
              <a:t> = y – </a:t>
            </a:r>
            <a:r>
              <a:rPr lang="en-US" dirty="0"/>
              <a:t>h</a:t>
            </a:r>
          </a:p>
          <a:p>
            <a:r>
              <a:rPr lang="en-US" dirty="0"/>
              <a:t>       w[</a:t>
            </a:r>
            <a:r>
              <a:rPr lang="mr-IN" dirty="0"/>
              <a:t>1:</a:t>
            </a:r>
            <a:r>
              <a:rPr lang="en-US" dirty="0"/>
              <a:t>]</a:t>
            </a:r>
            <a:r>
              <a:rPr lang="mr-IN" dirty="0"/>
              <a:t> </a:t>
            </a:r>
            <a:r>
              <a:rPr lang="en-US" dirty="0"/>
              <a:t> += </a:t>
            </a:r>
            <a:r>
              <a:rPr lang="mr-IN" dirty="0"/>
              <a:t> eta * np.dot</a:t>
            </a:r>
            <a:r>
              <a:rPr lang="en-US" dirty="0"/>
              <a:t>(</a:t>
            </a:r>
            <a:r>
              <a:rPr lang="mr-IN" dirty="0"/>
              <a:t>X.T, error</a:t>
            </a:r>
            <a:r>
              <a:rPr lang="en-US" dirty="0"/>
              <a:t>)</a:t>
            </a:r>
            <a:endParaRPr lang="mr-IN" dirty="0"/>
          </a:p>
          <a:p>
            <a:r>
              <a:rPr lang="mr-IN" dirty="0"/>
              <a:t>   </a:t>
            </a:r>
            <a:r>
              <a:rPr lang="en-US" dirty="0"/>
              <a:t> w[</a:t>
            </a:r>
            <a:r>
              <a:rPr lang="mr-IN" dirty="0"/>
              <a:t>0</a:t>
            </a:r>
            <a:r>
              <a:rPr lang="en-US" dirty="0"/>
              <a:t>]</a:t>
            </a:r>
            <a:r>
              <a:rPr lang="mr-IN" dirty="0"/>
              <a:t>  </a:t>
            </a:r>
            <a:r>
              <a:rPr lang="en-US" dirty="0"/>
              <a:t>  += </a:t>
            </a:r>
            <a:r>
              <a:rPr lang="mr-IN" dirty="0"/>
              <a:t> eta * error.sum</a:t>
            </a:r>
            <a:r>
              <a:rPr lang="en-US" dirty="0"/>
              <a:t>()</a:t>
            </a:r>
            <a:endParaRPr lang="mr-IN" dirty="0"/>
          </a:p>
          <a:p>
            <a:r>
              <a:rPr lang="mr-IN" dirty="0"/>
              <a:t>   </a:t>
            </a:r>
            <a:r>
              <a:rPr lang="en-US" dirty="0"/>
              <a:t> cost =</a:t>
            </a:r>
            <a:r>
              <a:rPr lang="mr-IN" dirty="0"/>
              <a:t> </a:t>
            </a:r>
            <a:r>
              <a:rPr lang="en-US" dirty="0"/>
              <a:t>(error**2).sum()</a:t>
            </a:r>
            <a:r>
              <a:rPr lang="mr-IN" dirty="0"/>
              <a:t>/2.0</a:t>
            </a:r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costs.append</a:t>
            </a:r>
            <a:r>
              <a:rPr lang="en-US" dirty="0"/>
              <a:t>(cost)</a:t>
            </a:r>
            <a:endParaRPr lang="mr-IN" dirty="0"/>
          </a:p>
          <a:p>
            <a:r>
              <a:rPr lang="mr-IN" dirty="0"/>
              <a:t>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75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3"/>
          <p:cNvSpPr txBox="1">
            <a:spLocks noChangeArrowheads="1"/>
          </p:cNvSpPr>
          <p:nvPr/>
        </p:nvSpPr>
        <p:spPr bwMode="auto">
          <a:xfrm>
            <a:off x="0" y="3194646"/>
            <a:ext cx="4242733" cy="308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Franklin Gothic Book" charset="0"/>
                <a:cs typeface="Times New Roman" charset="0"/>
              </a:rPr>
              <a:t>Logistic Regression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sz="2000" b="0" i="1" dirty="0" err="1">
                <a:latin typeface="Franklin Gothic Book" charset="0"/>
              </a:rPr>
              <a:t>h</a:t>
            </a:r>
            <a:r>
              <a:rPr lang="en-US" sz="2000" b="0" i="1" baseline="-25000" dirty="0" err="1">
                <a:latin typeface="Franklin Gothic Book" charset="0"/>
              </a:rPr>
              <a:t>j</a:t>
            </a:r>
            <a:r>
              <a:rPr lang="en-US" sz="2000" b="0" dirty="0">
                <a:latin typeface="Franklin Gothic Book" charset="0"/>
              </a:rPr>
              <a:t> = </a:t>
            </a:r>
            <a:r>
              <a:rPr lang="en-US" sz="2000" b="0" i="1" dirty="0" err="1">
                <a:latin typeface="Franklin Gothic Book" charset="0"/>
                <a:cs typeface="Times New Roman" charset="0"/>
              </a:rPr>
              <a:t>Θ</a:t>
            </a:r>
            <a:r>
              <a:rPr lang="en-US" sz="2000" b="0" dirty="0">
                <a:latin typeface="Franklin Gothic Book" charset="0"/>
                <a:cs typeface="Times New Roman" charset="0"/>
              </a:rPr>
              <a:t>(</a:t>
            </a:r>
            <a:r>
              <a:rPr lang="en-US" sz="2000" b="0" dirty="0" err="1">
                <a:latin typeface="Franklin Gothic Book" charset="0"/>
                <a:cs typeface="Times New Roman" charset="0"/>
              </a:rPr>
              <a:t>x</a:t>
            </a:r>
            <a:r>
              <a:rPr lang="en-US" sz="2000" b="0" i="1" baseline="-25000" dirty="0" err="1">
                <a:latin typeface="Franklin Gothic Book" charset="0"/>
                <a:cs typeface="Times New Roman" charset="0"/>
              </a:rPr>
              <a:t>j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) 	= 1/(1 + e</a:t>
            </a:r>
            <a:r>
              <a:rPr lang="en-US" sz="2000" b="0" i="1" baseline="30000" dirty="0">
                <a:latin typeface="Franklin Gothic Book" charset="0"/>
                <a:cs typeface="Times New Roman" charset="0"/>
              </a:rPr>
              <a:t>-x</a:t>
            </a:r>
            <a:r>
              <a:rPr lang="en-US" sz="2000" b="0" i="1" dirty="0">
                <a:latin typeface="Franklin Gothic Book" charset="0"/>
                <a:cs typeface="Times New Roman" charset="0"/>
              </a:rPr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i="1" dirty="0">
                <a:latin typeface="Times New Roman"/>
                <a:cs typeface="Times New Roman"/>
              </a:rPr>
              <a:t>E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="0" dirty="0">
                <a:latin typeface="Times New Roman"/>
                <a:cs typeface="Times New Roman"/>
              </a:rPr>
              <a:t>) </a:t>
            </a:r>
            <a:r>
              <a:rPr lang="en-US" sz="2000" b="0" i="1" dirty="0">
                <a:latin typeface="Times New Roman"/>
                <a:cs typeface="Times New Roman"/>
              </a:rPr>
              <a:t>= </a:t>
            </a:r>
            <a:r>
              <a:rPr lang="en-US" sz="2000" b="0" dirty="0">
                <a:latin typeface="Times New Roman"/>
                <a:cs typeface="Times New Roman"/>
              </a:rPr>
              <a:t>∑</a:t>
            </a:r>
            <a:r>
              <a:rPr lang="en-US" sz="2000" b="0" i="1" baseline="30000" dirty="0">
                <a:latin typeface="Times New Roman"/>
                <a:cs typeface="Times New Roman"/>
              </a:rPr>
              <a:t> </a:t>
            </a:r>
            <a:r>
              <a:rPr lang="en-US" sz="2000" b="0" i="1" baseline="-25000" dirty="0">
                <a:latin typeface="Times New Roman"/>
                <a:cs typeface="Times New Roman"/>
              </a:rPr>
              <a:t>N</a:t>
            </a:r>
            <a:r>
              <a:rPr lang="en-US" sz="2000" b="0" dirty="0">
                <a:latin typeface="Times New Roman"/>
                <a:cs typeface="Times New Roman"/>
              </a:rPr>
              <a:t>(h(x</a:t>
            </a:r>
            <a:r>
              <a:rPr lang="en-US" sz="2000" b="0" baseline="-25000" dirty="0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, </a:t>
            </a: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="0" dirty="0">
                <a:latin typeface="Times New Roman"/>
                <a:cs typeface="Times New Roman"/>
              </a:rPr>
              <a:t>) – 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i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  <a:r>
              <a:rPr lang="en-US" sz="2000" b="0" baseline="30000" dirty="0">
                <a:latin typeface="Times New Roman"/>
                <a:cs typeface="Times New Roman"/>
              </a:rPr>
              <a:t>2</a:t>
            </a:r>
            <a:r>
              <a:rPr lang="en-US" sz="2000" b="0" dirty="0">
                <a:latin typeface="Times New Roman"/>
                <a:cs typeface="Times New Roman"/>
              </a:rPr>
              <a:t>/2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= </a:t>
            </a:r>
            <a:r>
              <a:rPr lang="en-US" sz="2000" b="0" dirty="0" err="1">
                <a:latin typeface="Times New Roman"/>
                <a:cs typeface="Times New Roman"/>
              </a:rPr>
              <a:t>Σ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en-US" sz="2000" b="0" baseline="-25000" dirty="0">
                <a:latin typeface="Times New Roman"/>
                <a:cs typeface="Times New Roman"/>
              </a:rPr>
              <a:t>=1,N</a:t>
            </a:r>
            <a:r>
              <a:rPr lang="en-US" sz="2000" b="0" dirty="0">
                <a:latin typeface="Times New Roman"/>
                <a:cs typeface="Times New Roman"/>
              </a:rPr>
              <a:t>ln(1 + </a:t>
            </a:r>
            <a:r>
              <a:rPr lang="en-US" sz="2000" b="0" dirty="0" err="1">
                <a:latin typeface="Times New Roman"/>
                <a:cs typeface="Times New Roman"/>
              </a:rPr>
              <a:t>exp</a:t>
            </a:r>
            <a:r>
              <a:rPr lang="en-US" sz="2000" b="0" dirty="0">
                <a:latin typeface="Times New Roman"/>
                <a:cs typeface="Times New Roman"/>
              </a:rPr>
              <a:t>(-</a:t>
            </a:r>
            <a:r>
              <a:rPr lang="en-US" sz="2000" b="0" dirty="0" err="1">
                <a:latin typeface="Times New Roman"/>
                <a:cs typeface="Times New Roman"/>
              </a:rPr>
              <a:t>y</a:t>
            </a:r>
            <a:r>
              <a:rPr lang="en-US" sz="2000" b="0" baseline="-25000" dirty="0" err="1">
                <a:latin typeface="Times New Roman"/>
                <a:cs typeface="Times New Roman"/>
              </a:rPr>
              <a:t>n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baseline="30000" dirty="0">
                <a:latin typeface="Times New Roman"/>
                <a:cs typeface="Times New Roman"/>
              </a:rPr>
              <a:t>T</a:t>
            </a:r>
            <a:r>
              <a:rPr lang="is-IS" sz="2000" dirty="0">
                <a:latin typeface="Times New Roman"/>
                <a:cs typeface="Times New Roman"/>
              </a:rPr>
              <a:t>x</a:t>
            </a:r>
            <a:r>
              <a:rPr lang="is-IS" sz="2000" b="0" baseline="-25000" dirty="0">
                <a:latin typeface="Times New Roman"/>
                <a:cs typeface="Times New Roman"/>
              </a:rPr>
              <a:t>n</a:t>
            </a:r>
            <a:r>
              <a:rPr lang="is-IS" sz="2000" b="0" dirty="0">
                <a:latin typeface="Times New Roman"/>
                <a:cs typeface="Times New Roman"/>
              </a:rPr>
              <a:t>))/N</a:t>
            </a:r>
            <a:endParaRPr lang="en-US" sz="2000" b="0" baseline="30000" dirty="0">
              <a:latin typeface="Times New Roman"/>
              <a:cs typeface="Times New Roman"/>
            </a:endParaRP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endParaRPr lang="en-US" sz="2000" b="0" baseline="30000" dirty="0">
              <a:latin typeface="Times New Roman"/>
              <a:cs typeface="Times New Roman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Minimize </a:t>
            </a:r>
            <a:r>
              <a:rPr lang="en-US" sz="2000" b="0" i="1" dirty="0">
                <a:latin typeface="Times New Roman"/>
                <a:cs typeface="Times New Roman"/>
              </a:rPr>
              <a:t>E</a:t>
            </a:r>
            <a:r>
              <a:rPr lang="en-US" sz="2000" b="0" dirty="0">
                <a:latin typeface="Times New Roman"/>
                <a:cs typeface="Times New Roman"/>
              </a:rPr>
              <a:t>(</a:t>
            </a:r>
            <a:r>
              <a:rPr lang="en-US" sz="2000" dirty="0">
                <a:latin typeface="Times New Roman"/>
                <a:cs typeface="Times New Roman"/>
              </a:rPr>
              <a:t>w</a:t>
            </a:r>
            <a:r>
              <a:rPr lang="en-US" sz="2000" b="0" dirty="0">
                <a:latin typeface="Times New Roman"/>
                <a:cs typeface="Times New Roman"/>
              </a:rPr>
              <a:t>)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</a:pPr>
            <a:r>
              <a:rPr lang="en-US" sz="2000" b="0" dirty="0">
                <a:latin typeface="Times New Roman"/>
                <a:cs typeface="Times New Roman"/>
              </a:rPr>
              <a:t>	</a:t>
            </a:r>
            <a:r>
              <a:rPr lang="is-IS" sz="2000" b="0" dirty="0">
                <a:latin typeface="Times New Roman"/>
                <a:cs typeface="Times New Roman"/>
              </a:rPr>
              <a:t> ΔE(</a:t>
            </a:r>
            <a:r>
              <a:rPr lang="is-IS" sz="2000" dirty="0">
                <a:latin typeface="Times New Roman"/>
                <a:cs typeface="Times New Roman"/>
              </a:rPr>
              <a:t>w</a:t>
            </a:r>
            <a:r>
              <a:rPr lang="is-IS" sz="2000" b="0" dirty="0">
                <a:latin typeface="Times New Roman"/>
                <a:cs typeface="Times New Roman"/>
              </a:rPr>
              <a:t>) = 0</a:t>
            </a:r>
            <a:endParaRPr lang="en-US" sz="2000" b="0" dirty="0">
              <a:latin typeface="Times New Roman"/>
              <a:cs typeface="Times New Roman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/>
                <a:cs typeface="Times New Roman"/>
              </a:rPr>
              <a:t>Gradient descent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sz="2000" b="0" dirty="0">
              <a:latin typeface="Franklin Gothic Book" charset="0"/>
              <a:cs typeface="Times New Roman" charset="0"/>
            </a:endParaRPr>
          </a:p>
        </p:txBody>
      </p:sp>
      <p:sp>
        <p:nvSpPr>
          <p:cNvPr id="34818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7620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Franklin Gothic Book" charset="0"/>
              </a:rPr>
              <a:t>Logistic Regression</a:t>
            </a:r>
            <a:endParaRPr lang="en-US" sz="2800" i="1" dirty="0">
              <a:latin typeface="Franklin Gothic Book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A160E5-0593-CC4B-A869-839B2C953453}"/>
              </a:ext>
            </a:extLst>
          </p:cNvPr>
          <p:cNvSpPr/>
          <p:nvPr/>
        </p:nvSpPr>
        <p:spPr>
          <a:xfrm>
            <a:off x="2680698" y="1723758"/>
            <a:ext cx="217170" cy="217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9EB77A9-278E-C64D-ACC1-340968331B5E}"/>
              </a:ext>
            </a:extLst>
          </p:cNvPr>
          <p:cNvCxnSpPr/>
          <p:nvPr/>
        </p:nvCxnSpPr>
        <p:spPr>
          <a:xfrm>
            <a:off x="2375898" y="1828533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1463C6E-F892-9648-AED0-1622BA15E803}"/>
              </a:ext>
            </a:extLst>
          </p:cNvPr>
          <p:cNvSpPr/>
          <p:nvPr/>
        </p:nvSpPr>
        <p:spPr>
          <a:xfrm>
            <a:off x="2680698" y="2011413"/>
            <a:ext cx="217170" cy="217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59A71B-51ED-3240-8018-0103279FDD83}"/>
              </a:ext>
            </a:extLst>
          </p:cNvPr>
          <p:cNvCxnSpPr/>
          <p:nvPr/>
        </p:nvCxnSpPr>
        <p:spPr>
          <a:xfrm>
            <a:off x="2375898" y="2133968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B6501C8-456C-2F4A-A312-032374430102}"/>
              </a:ext>
            </a:extLst>
          </p:cNvPr>
          <p:cNvSpPr/>
          <p:nvPr/>
        </p:nvSpPr>
        <p:spPr>
          <a:xfrm>
            <a:off x="2680698" y="2467978"/>
            <a:ext cx="217170" cy="2171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E85AF7-1E99-3F47-AB3F-DBB57ECA99D1}"/>
              </a:ext>
            </a:extLst>
          </p:cNvPr>
          <p:cNvCxnSpPr/>
          <p:nvPr/>
        </p:nvCxnSpPr>
        <p:spPr>
          <a:xfrm>
            <a:off x="2375898" y="2572753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F6E6CD-D280-7A42-B941-9C9963933497}"/>
              </a:ext>
            </a:extLst>
          </p:cNvPr>
          <p:cNvCxnSpPr/>
          <p:nvPr/>
        </p:nvCxnSpPr>
        <p:spPr>
          <a:xfrm>
            <a:off x="2375898" y="1523733"/>
            <a:ext cx="521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93C62054-A66A-E546-B737-5610640431F2}"/>
              </a:ext>
            </a:extLst>
          </p:cNvPr>
          <p:cNvSpPr/>
          <p:nvPr/>
        </p:nvSpPr>
        <p:spPr>
          <a:xfrm>
            <a:off x="3855448" y="1932038"/>
            <a:ext cx="522605" cy="461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E788DE53-2837-DE4A-960D-D0EEFCFDE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535" y="1452771"/>
            <a:ext cx="365125" cy="2778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546CFA7E-C1EF-3141-B18F-11A16198C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6306" y="1688561"/>
            <a:ext cx="365125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D7B820-D36F-914E-A088-5B77C3D89473}"/>
              </a:ext>
            </a:extLst>
          </p:cNvPr>
          <p:cNvCxnSpPr/>
          <p:nvPr/>
        </p:nvCxnSpPr>
        <p:spPr>
          <a:xfrm>
            <a:off x="2898503" y="1820278"/>
            <a:ext cx="957580" cy="243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D24606-15FC-B040-9E02-DDC8CD5991A0}"/>
              </a:ext>
            </a:extLst>
          </p:cNvPr>
          <p:cNvCxnSpPr/>
          <p:nvPr/>
        </p:nvCxnSpPr>
        <p:spPr>
          <a:xfrm>
            <a:off x="2898503" y="1526273"/>
            <a:ext cx="957580" cy="48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8">
            <a:extLst>
              <a:ext uri="{FF2B5EF4-FFF2-40B4-BE49-F238E27FC236}">
                <a16:creationId xmlns:a16="http://schemas.microsoft.com/office/drawing/2014/main" id="{536E909E-2BC7-5144-9D4E-1D965FA13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606" y="1920608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 Box 19">
            <a:extLst>
              <a:ext uri="{FF2B5EF4-FFF2-40B4-BE49-F238E27FC236}">
                <a16:creationId xmlns:a16="http://schemas.microsoft.com/office/drawing/2014/main" id="{F09E19D3-1F7D-9E4A-B8C7-52361A300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543" y="2327235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kumimoji="0" lang="en-US" altLang="en-US" sz="12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274BCD-3556-C741-AA05-B9CC4031711C}"/>
              </a:ext>
            </a:extLst>
          </p:cNvPr>
          <p:cNvCxnSpPr/>
          <p:nvPr/>
        </p:nvCxnSpPr>
        <p:spPr>
          <a:xfrm flipV="1">
            <a:off x="2898503" y="2290813"/>
            <a:ext cx="957580" cy="252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AAF1C0-CB7B-F64D-9F71-1ADD5F0EE1D5}"/>
              </a:ext>
            </a:extLst>
          </p:cNvPr>
          <p:cNvCxnSpPr/>
          <p:nvPr/>
        </p:nvCxnSpPr>
        <p:spPr>
          <a:xfrm>
            <a:off x="2897868" y="2113648"/>
            <a:ext cx="957580" cy="45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20">
            <a:extLst>
              <a:ext uri="{FF2B5EF4-FFF2-40B4-BE49-F238E27FC236}">
                <a16:creationId xmlns:a16="http://schemas.microsoft.com/office/drawing/2014/main" id="{8885A0ED-2BB8-9042-9FF4-807259B50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055" y="1370155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7027AB0F-B2F5-3048-8AD7-9DD9F1CB2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786" y="1681986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403B160C-6F6E-5A49-88F6-3D959A67E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915" y="1974675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559A56AD-D976-2A42-BFE3-21ADDD64B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055" y="2422350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x</a:t>
            </a:r>
            <a:r>
              <a:rPr kumimoji="0" lang="en-US" altLang="en-US" sz="1200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9BE3DA-E78D-724B-9D31-E1A8FE88C805}"/>
              </a:ext>
            </a:extLst>
          </p:cNvPr>
          <p:cNvSpPr/>
          <p:nvPr/>
        </p:nvSpPr>
        <p:spPr>
          <a:xfrm>
            <a:off x="4770483" y="1920608"/>
            <a:ext cx="522605" cy="461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A277D3E6-0373-6542-9FE5-8681E7373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8533" y="1828261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E9C28B-F51C-2E41-BE16-89BC5BB8A916}"/>
              </a:ext>
            </a:extLst>
          </p:cNvPr>
          <p:cNvCxnSpPr/>
          <p:nvPr/>
        </p:nvCxnSpPr>
        <p:spPr>
          <a:xfrm>
            <a:off x="4378688" y="2161908"/>
            <a:ext cx="3917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7AA4AF-A3AA-3349-817B-76125067165E}"/>
              </a:ext>
            </a:extLst>
          </p:cNvPr>
          <p:cNvCxnSpPr/>
          <p:nvPr/>
        </p:nvCxnSpPr>
        <p:spPr>
          <a:xfrm>
            <a:off x="5293088" y="2160638"/>
            <a:ext cx="3917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28">
            <a:extLst>
              <a:ext uri="{FF2B5EF4-FFF2-40B4-BE49-F238E27FC236}">
                <a16:creationId xmlns:a16="http://schemas.microsoft.com/office/drawing/2014/main" id="{ABEAA501-A1A9-7742-96C3-15256332D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2286" y="1852029"/>
            <a:ext cx="3746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500D84-7F5C-E54E-B401-7BE39FDFD7C6}"/>
              </a:ext>
            </a:extLst>
          </p:cNvPr>
          <p:cNvSpPr txBox="1"/>
          <p:nvPr/>
        </p:nvSpPr>
        <p:spPr>
          <a:xfrm>
            <a:off x="4114800" y="3006515"/>
            <a:ext cx="5132838" cy="3693319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w</a:t>
            </a:r>
            <a:r>
              <a:rPr lang="mr-IN" dirty="0"/>
              <a:t> = np.zeros</a:t>
            </a:r>
            <a:r>
              <a:rPr lang="en-US" dirty="0"/>
              <a:t>(</a:t>
            </a:r>
            <a:r>
              <a:rPr lang="mr-IN" dirty="0"/>
              <a:t>X.shape</a:t>
            </a:r>
            <a:r>
              <a:rPr lang="en-US" dirty="0"/>
              <a:t>[</a:t>
            </a:r>
            <a:r>
              <a:rPr lang="mr-IN" dirty="0"/>
              <a:t>1</a:t>
            </a:r>
            <a:r>
              <a:rPr lang="en-US" dirty="0"/>
              <a:t>] + </a:t>
            </a:r>
            <a:r>
              <a:rPr lang="mr-IN" dirty="0"/>
              <a:t>1</a:t>
            </a:r>
            <a:r>
              <a:rPr lang="en-US" dirty="0"/>
              <a:t>)</a:t>
            </a:r>
            <a:endParaRPr lang="mr-IN" dirty="0"/>
          </a:p>
          <a:p>
            <a:r>
              <a:rPr lang="en-US" dirty="0"/>
              <a:t>   </a:t>
            </a:r>
            <a:r>
              <a:rPr lang="mr-IN" dirty="0"/>
              <a:t>cost</a:t>
            </a:r>
            <a:r>
              <a:rPr lang="en-US" dirty="0"/>
              <a:t>s =</a:t>
            </a:r>
            <a:r>
              <a:rPr lang="mr-IN" dirty="0"/>
              <a:t> </a:t>
            </a:r>
            <a:r>
              <a:rPr lang="en-US" dirty="0"/>
              <a:t>[]</a:t>
            </a:r>
            <a:endParaRPr lang="mr-IN" dirty="0"/>
          </a:p>
          <a:p>
            <a:r>
              <a:rPr lang="en-US" dirty="0"/>
              <a:t>   </a:t>
            </a:r>
            <a:r>
              <a:rPr lang="mr-IN" dirty="0" err="1"/>
              <a:t>for</a:t>
            </a:r>
            <a:r>
              <a:rPr lang="mr-IN" dirty="0"/>
              <a:t> i in range</a:t>
            </a:r>
            <a:r>
              <a:rPr lang="en-US" dirty="0"/>
              <a:t>(</a:t>
            </a:r>
            <a:r>
              <a:rPr lang="mr-IN" dirty="0"/>
              <a:t>iter</a:t>
            </a:r>
            <a:r>
              <a:rPr lang="en-US" dirty="0"/>
              <a:t>)</a:t>
            </a:r>
            <a:r>
              <a:rPr lang="mr-IN" dirty="0"/>
              <a:t>:</a:t>
            </a:r>
          </a:p>
          <a:p>
            <a:r>
              <a:rPr lang="en-US" dirty="0"/>
              <a:t>        s</a:t>
            </a:r>
            <a:r>
              <a:rPr lang="mr-IN" dirty="0"/>
              <a:t> = np.dot</a:t>
            </a:r>
            <a:r>
              <a:rPr lang="en-US" dirty="0"/>
              <a:t>(</a:t>
            </a:r>
            <a:r>
              <a:rPr lang="mr-IN" dirty="0"/>
              <a:t>X, </a:t>
            </a:r>
            <a:r>
              <a:rPr lang="en-US" dirty="0"/>
              <a:t>w[</a:t>
            </a:r>
            <a:r>
              <a:rPr lang="mr-IN" dirty="0"/>
              <a:t>1</a:t>
            </a:r>
            <a:r>
              <a:rPr lang="en-US" dirty="0"/>
              <a:t>:]</a:t>
            </a:r>
            <a:r>
              <a:rPr lang="mr-IN" dirty="0"/>
              <a:t>) + </a:t>
            </a:r>
            <a:r>
              <a:rPr lang="en-US" dirty="0"/>
              <a:t>w[</a:t>
            </a:r>
            <a:r>
              <a:rPr lang="mr-IN" dirty="0"/>
              <a:t>0</a:t>
            </a:r>
            <a:r>
              <a:rPr lang="en-US" dirty="0"/>
              <a:t>]</a:t>
            </a:r>
            <a:endParaRPr lang="mr-IN" dirty="0"/>
          </a:p>
          <a:p>
            <a:r>
              <a:rPr lang="is-IS" dirty="0">
                <a:latin typeface="Times New Roman"/>
                <a:cs typeface="Times New Roman"/>
              </a:rPr>
              <a:t>       #ΔE = - [</a:t>
            </a:r>
            <a:r>
              <a:rPr lang="en-US" dirty="0" err="1">
                <a:latin typeface="Times New Roman"/>
                <a:cs typeface="Times New Roman"/>
              </a:rPr>
              <a:t>Σ</a:t>
            </a:r>
            <a:r>
              <a:rPr lang="en-US" baseline="-25000" dirty="0" err="1">
                <a:latin typeface="Times New Roman"/>
                <a:cs typeface="Times New Roman"/>
              </a:rPr>
              <a:t>n</a:t>
            </a:r>
            <a:r>
              <a:rPr lang="en-US" baseline="-25000" dirty="0">
                <a:latin typeface="Times New Roman"/>
                <a:cs typeface="Times New Roman"/>
              </a:rPr>
              <a:t>=1,N </a:t>
            </a:r>
            <a:r>
              <a:rPr lang="en-US" dirty="0" err="1">
                <a:latin typeface="Times New Roman"/>
                <a:cs typeface="Times New Roman"/>
              </a:rPr>
              <a:t>y</a:t>
            </a:r>
            <a:r>
              <a:rPr lang="en-US" baseline="-25000" dirty="0" err="1">
                <a:latin typeface="Times New Roman"/>
                <a:cs typeface="Times New Roman"/>
              </a:rPr>
              <a:t>n</a:t>
            </a:r>
            <a:r>
              <a:rPr lang="is-IS" dirty="0">
                <a:latin typeface="Times New Roman"/>
                <a:cs typeface="Times New Roman"/>
              </a:rPr>
              <a:t>x</a:t>
            </a:r>
            <a:r>
              <a:rPr lang="is-IS" baseline="-25000" dirty="0">
                <a:latin typeface="Times New Roman"/>
                <a:cs typeface="Times New Roman"/>
              </a:rPr>
              <a:t>n </a:t>
            </a:r>
            <a:r>
              <a:rPr lang="is-IS" dirty="0">
                <a:latin typeface="Times New Roman"/>
                <a:cs typeface="Times New Roman"/>
              </a:rPr>
              <a:t>/(</a:t>
            </a:r>
            <a:r>
              <a:rPr lang="en-US" dirty="0">
                <a:latin typeface="Times New Roman"/>
                <a:cs typeface="Times New Roman"/>
              </a:rPr>
              <a:t>1 + </a:t>
            </a:r>
            <a:r>
              <a:rPr lang="en-US" dirty="0" err="1">
                <a:latin typeface="Times New Roman"/>
                <a:cs typeface="Times New Roman"/>
              </a:rPr>
              <a:t>exp</a:t>
            </a:r>
            <a:r>
              <a:rPr lang="en-US" dirty="0">
                <a:latin typeface="Times New Roman"/>
                <a:cs typeface="Times New Roman"/>
              </a:rPr>
              <a:t>(-</a:t>
            </a:r>
            <a:r>
              <a:rPr lang="en-US" dirty="0" err="1">
                <a:latin typeface="Times New Roman"/>
                <a:cs typeface="Times New Roman"/>
              </a:rPr>
              <a:t>y</a:t>
            </a:r>
            <a:r>
              <a:rPr lang="en-US" baseline="-25000" dirty="0" err="1">
                <a:latin typeface="Times New Roman"/>
                <a:cs typeface="Times New Roman"/>
              </a:rPr>
              <a:t>n</a:t>
            </a:r>
            <a:r>
              <a:rPr lang="is-IS" dirty="0">
                <a:latin typeface="Times New Roman"/>
                <a:cs typeface="Times New Roman"/>
              </a:rPr>
              <a:t>w</a:t>
            </a:r>
            <a:r>
              <a:rPr lang="is-IS" baseline="30000" dirty="0">
                <a:latin typeface="Times New Roman"/>
                <a:cs typeface="Times New Roman"/>
              </a:rPr>
              <a:t>T</a:t>
            </a:r>
            <a:r>
              <a:rPr lang="is-IS" dirty="0">
                <a:latin typeface="Times New Roman"/>
                <a:cs typeface="Times New Roman"/>
              </a:rPr>
              <a:t>(t) x</a:t>
            </a:r>
            <a:r>
              <a:rPr lang="is-IS" baseline="-25000" dirty="0">
                <a:latin typeface="Times New Roman"/>
                <a:cs typeface="Times New Roman"/>
              </a:rPr>
              <a:t>n</a:t>
            </a:r>
            <a:r>
              <a:rPr lang="is-IS" dirty="0">
                <a:latin typeface="Times New Roman"/>
                <a:cs typeface="Times New Roman"/>
              </a:rPr>
              <a:t>)]/N</a:t>
            </a:r>
            <a:endParaRPr lang="en-US" baseline="30000" dirty="0">
              <a:latin typeface="Times New Roman"/>
              <a:cs typeface="Times New Roman"/>
            </a:endParaRPr>
          </a:p>
          <a:p>
            <a:r>
              <a:rPr lang="en-US" baseline="30000" dirty="0">
                <a:latin typeface="Times New Roman"/>
                <a:cs typeface="Times New Roman"/>
              </a:rPr>
              <a:t>          </a:t>
            </a:r>
            <a:r>
              <a:rPr lang="en-US" dirty="0">
                <a:latin typeface="Times New Roman"/>
                <a:cs typeface="Times New Roman"/>
              </a:rPr>
              <a:t>grad = </a:t>
            </a:r>
            <a:r>
              <a:rPr lang="en-US" dirty="0" err="1">
                <a:latin typeface="Times New Roman"/>
                <a:cs typeface="Times New Roman"/>
              </a:rPr>
              <a:t>np.dot</a:t>
            </a:r>
            <a:r>
              <a:rPr lang="en-US" dirty="0">
                <a:latin typeface="Times New Roman"/>
                <a:cs typeface="Times New Roman"/>
              </a:rPr>
              <a:t>(</a:t>
            </a:r>
            <a:r>
              <a:rPr lang="en-US" dirty="0" err="1">
                <a:latin typeface="Times New Roman"/>
                <a:cs typeface="Times New Roman"/>
              </a:rPr>
              <a:t>X.T,y</a:t>
            </a:r>
            <a:r>
              <a:rPr lang="en-US" dirty="0">
                <a:latin typeface="Times New Roman"/>
                <a:cs typeface="Times New Roman"/>
              </a:rPr>
              <a:t>)/(1+np.exp(</a:t>
            </a:r>
            <a:r>
              <a:rPr lang="en-US" dirty="0" err="1">
                <a:latin typeface="Times New Roman"/>
                <a:cs typeface="Times New Roman"/>
              </a:rPr>
              <a:t>np.dot</a:t>
            </a:r>
            <a:r>
              <a:rPr lang="en-US" dirty="0">
                <a:latin typeface="Times New Roman"/>
                <a:cs typeface="Times New Roman"/>
              </a:rPr>
              <a:t>(y, </a:t>
            </a:r>
            <a:r>
              <a:rPr lang="en-US" dirty="0" err="1">
                <a:latin typeface="Times New Roman"/>
                <a:cs typeface="Times New Roman"/>
              </a:rPr>
              <a:t>s.T</a:t>
            </a:r>
            <a:r>
              <a:rPr lang="en-US" dirty="0">
                <a:latin typeface="Times New Roman"/>
                <a:cs typeface="Times New Roman"/>
              </a:rPr>
              <a:t>)))</a:t>
            </a:r>
          </a:p>
          <a:p>
            <a:r>
              <a:rPr lang="en-US" dirty="0">
                <a:latin typeface="Times New Roman"/>
                <a:cs typeface="Times New Roman"/>
              </a:rPr>
              <a:t>       err = -</a:t>
            </a:r>
            <a:r>
              <a:rPr lang="en-US" dirty="0" err="1">
                <a:latin typeface="Times New Roman"/>
                <a:cs typeface="Times New Roman"/>
              </a:rPr>
              <a:t>grad.sum</a:t>
            </a:r>
            <a:r>
              <a:rPr lang="en-US" dirty="0">
                <a:latin typeface="Times New Roman"/>
                <a:cs typeface="Times New Roman"/>
              </a:rPr>
              <a:t>()/</a:t>
            </a:r>
            <a:r>
              <a:rPr lang="en-US" dirty="0" err="1">
                <a:latin typeface="Times New Roman"/>
                <a:cs typeface="Times New Roman"/>
              </a:rPr>
              <a:t>len</a:t>
            </a:r>
            <a:r>
              <a:rPr lang="en-US" dirty="0">
                <a:latin typeface="Times New Roman"/>
                <a:cs typeface="Times New Roman"/>
              </a:rPr>
              <a:t>(y)</a:t>
            </a:r>
          </a:p>
          <a:p>
            <a:r>
              <a:rPr lang="is-IS" dirty="0">
                <a:latin typeface="Times New Roman"/>
                <a:cs typeface="Times New Roman"/>
              </a:rPr>
              <a:t>       #update weights: w(t+1) = w(t) – ηΔE</a:t>
            </a:r>
            <a:endParaRPr lang="en-US" dirty="0"/>
          </a:p>
          <a:p>
            <a:r>
              <a:rPr lang="en-US" dirty="0"/>
              <a:t>       w[</a:t>
            </a:r>
            <a:r>
              <a:rPr lang="mr-IN" dirty="0"/>
              <a:t>1:</a:t>
            </a:r>
            <a:r>
              <a:rPr lang="en-US" dirty="0"/>
              <a:t>]</a:t>
            </a:r>
            <a:r>
              <a:rPr lang="mr-IN" dirty="0"/>
              <a:t> </a:t>
            </a:r>
            <a:r>
              <a:rPr lang="en-US" dirty="0"/>
              <a:t> += </a:t>
            </a:r>
            <a:r>
              <a:rPr lang="mr-IN" dirty="0"/>
              <a:t> eta * </a:t>
            </a:r>
            <a:r>
              <a:rPr lang="en-US" dirty="0"/>
              <a:t>err</a:t>
            </a:r>
            <a:endParaRPr lang="mr-IN" dirty="0"/>
          </a:p>
          <a:p>
            <a:r>
              <a:rPr lang="mr-IN" dirty="0"/>
              <a:t>   </a:t>
            </a:r>
            <a:r>
              <a:rPr lang="en-US" dirty="0"/>
              <a:t> w[</a:t>
            </a:r>
            <a:r>
              <a:rPr lang="mr-IN" dirty="0"/>
              <a:t>0</a:t>
            </a:r>
            <a:r>
              <a:rPr lang="en-US" dirty="0"/>
              <a:t>]</a:t>
            </a:r>
            <a:r>
              <a:rPr lang="mr-IN" dirty="0"/>
              <a:t> </a:t>
            </a:r>
            <a:r>
              <a:rPr lang="en-US" dirty="0"/>
              <a:t>  += </a:t>
            </a:r>
            <a:r>
              <a:rPr lang="mr-IN" dirty="0"/>
              <a:t> eta * </a:t>
            </a:r>
            <a:r>
              <a:rPr lang="mr-IN" dirty="0" err="1"/>
              <a:t>err.sum</a:t>
            </a:r>
            <a:r>
              <a:rPr lang="en-US" dirty="0"/>
              <a:t>()</a:t>
            </a:r>
            <a:endParaRPr lang="mr-IN" dirty="0"/>
          </a:p>
          <a:p>
            <a:r>
              <a:rPr lang="mr-IN" dirty="0"/>
              <a:t>   </a:t>
            </a:r>
            <a:r>
              <a:rPr lang="en-US" dirty="0"/>
              <a:t> cost =</a:t>
            </a:r>
            <a:r>
              <a:rPr lang="mr-IN" dirty="0"/>
              <a:t> </a:t>
            </a:r>
            <a:r>
              <a:rPr lang="en-US" dirty="0"/>
              <a:t>(error**2).sum()</a:t>
            </a:r>
            <a:r>
              <a:rPr lang="mr-IN" dirty="0"/>
              <a:t>/2.0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costs.append</a:t>
            </a:r>
            <a:r>
              <a:rPr lang="en-US" dirty="0"/>
              <a:t>(cost)</a:t>
            </a:r>
            <a:endParaRPr lang="mr-IN" dirty="0"/>
          </a:p>
          <a:p>
            <a:r>
              <a:rPr lang="mr-IN" dirty="0"/>
              <a:t>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46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3357</TotalTime>
  <Words>3212</Words>
  <Application>Microsoft Macintosh PowerPoint</Application>
  <PresentationFormat>On-screen Show (4:3)</PresentationFormat>
  <Paragraphs>484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Black</vt:lpstr>
      <vt:lpstr>Calibri</vt:lpstr>
      <vt:lpstr>Franklin Gothic Book</vt:lpstr>
      <vt:lpstr>Times</vt:lpstr>
      <vt:lpstr>Times New Roman</vt:lpstr>
      <vt:lpstr>Office Theme</vt:lpstr>
      <vt:lpstr>Joel Grus    Chap. 2 Crash Course in Python  Chap. 3 Visualizing Data  Chap. 4 Linear Algebra  Chap. 10 PCA</vt:lpstr>
      <vt:lpstr>Joel Grus  Chaps. 14-16 Linear Classifier</vt:lpstr>
      <vt:lpstr>data analysis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UMass Lowell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Byung Kim</dc:creator>
  <cp:lastModifiedBy>Ryan Balachandran</cp:lastModifiedBy>
  <cp:revision>183</cp:revision>
  <dcterms:created xsi:type="dcterms:W3CDTF">2014-02-04T15:41:02Z</dcterms:created>
  <dcterms:modified xsi:type="dcterms:W3CDTF">2021-03-01T20:22:55Z</dcterms:modified>
</cp:coreProperties>
</file>