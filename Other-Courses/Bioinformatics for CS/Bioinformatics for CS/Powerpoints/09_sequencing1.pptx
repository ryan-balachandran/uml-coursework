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9" r:id="rId1"/>
  </p:sldMasterIdLst>
  <p:notesMasterIdLst>
    <p:notesMasterId r:id="rId17"/>
  </p:notesMasterIdLst>
  <p:handoutMasterIdLst>
    <p:handoutMasterId r:id="rId18"/>
  </p:handoutMasterIdLst>
  <p:sldIdLst>
    <p:sldId id="358" r:id="rId2"/>
    <p:sldId id="374" r:id="rId3"/>
    <p:sldId id="413" r:id="rId4"/>
    <p:sldId id="360" r:id="rId5"/>
    <p:sldId id="411" r:id="rId6"/>
    <p:sldId id="363" r:id="rId7"/>
    <p:sldId id="373" r:id="rId8"/>
    <p:sldId id="357" r:id="rId9"/>
    <p:sldId id="309" r:id="rId10"/>
    <p:sldId id="364" r:id="rId11"/>
    <p:sldId id="365" r:id="rId12"/>
    <p:sldId id="375" r:id="rId13"/>
    <p:sldId id="376" r:id="rId14"/>
    <p:sldId id="377" r:id="rId15"/>
    <p:sldId id="369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22"/>
    <p:restoredTop sz="95523"/>
  </p:normalViewPr>
  <p:slideViewPr>
    <p:cSldViewPr>
      <p:cViewPr varScale="1">
        <p:scale>
          <a:sx n="144" d="100"/>
          <a:sy n="144" d="100"/>
        </p:scale>
        <p:origin x="236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85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A455F1-A24C-9E4D-B458-8734668784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94A37-17BF-9B4F-8CE7-27D0E70934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37363AB-C746-9F4E-B14B-FF107A465620}" type="datetimeFigureOut">
              <a:rPr lang="en-US" altLang="en-US"/>
              <a:pPr>
                <a:defRPr/>
              </a:pPr>
              <a:t>3/29/21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9BAC0-77EC-CD4F-A590-CAF917CED5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7A9498-2CB0-0A46-9C68-7037434C04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53C1D1D-7773-0B45-899B-0CE5CDA862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5991C54-D878-AF4C-9268-5D1CB7DEC7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7DE6EEC3-7162-1245-8F21-A1B7C257AA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89CE430B-0AC4-1542-B432-11E73428EB0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FFCEAD16-A03B-2B4A-A318-711941003C7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419B24E8-57E5-8747-8224-37D75232C2F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7F4CF945-BAD0-6946-9A87-B54AB15AD2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70F6901-3659-B74A-946B-6DA5CB814A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090B4CC7-F90D-5E4B-8EC3-F498964519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BB19BBED-AE81-E546-9EDE-1BE44E97E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FBAD135D-8262-DB43-8CC4-102A0B3B75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B4A4D6E0-E8BC-B24F-B4CA-FCB9D65FC4B4}" type="slidenum">
              <a:rPr lang="en-US" altLang="en-US" sz="1200" b="0">
                <a:latin typeface="Arial" panose="020B0604020202020204" pitchFamily="34" charset="0"/>
              </a:rPr>
              <a:pPr/>
              <a:t>2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A6766D05-B978-A546-847F-AF5782C1E4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16D827BB-2784-3B47-BBB3-15A1E1F84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5CCB6191-E0C8-E34A-A706-79959FCFC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F3B28B2C-5A6D-1146-AC8A-DD99B5128747}" type="slidenum">
              <a:rPr lang="en-US" altLang="en-US" sz="1200" b="0">
                <a:latin typeface="Arial" panose="020B0604020202020204" pitchFamily="34" charset="0"/>
              </a:rPr>
              <a:pPr/>
              <a:t>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A4D6323A-EA2A-C34C-89B8-837207A500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0646331D-8ADA-A04C-8336-BD839AE09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4FE9364B-0C39-1B40-89CD-016B63AFE3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3747E42D-EE70-344E-ADEE-53295B2F7672}" type="slidenum">
              <a:rPr lang="en-US" altLang="en-US" sz="1200" b="0">
                <a:latin typeface="Arial" panose="020B0604020202020204" pitchFamily="34" charset="0"/>
              </a:rPr>
              <a:pPr/>
              <a:t>4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35F1F176-7EC0-C44E-A5FF-14AD72BE3F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4B9CC6D0-CB5A-3F40-BAA3-BD2A70E10C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FEFA5A6C-97D3-E74F-85B6-5B1022026D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895CABF3-0973-2F42-A99C-8E2A44EE1F9E}" type="slidenum">
              <a:rPr lang="en-US" altLang="en-US" sz="1200" b="0">
                <a:latin typeface="Arial" panose="020B0604020202020204" pitchFamily="34" charset="0"/>
              </a:rPr>
              <a:pPr/>
              <a:t>5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>
            <a:extLst>
              <a:ext uri="{FF2B5EF4-FFF2-40B4-BE49-F238E27FC236}">
                <a16:creationId xmlns:a16="http://schemas.microsoft.com/office/drawing/2014/main" id="{AB86AC00-1BCD-9847-B314-56634F8094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0" name="Notes Placeholder 2">
            <a:extLst>
              <a:ext uri="{FF2B5EF4-FFF2-40B4-BE49-F238E27FC236}">
                <a16:creationId xmlns:a16="http://schemas.microsoft.com/office/drawing/2014/main" id="{02173ED3-0566-804B-A64B-DDC9400027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D9191843-5090-3A42-AB40-BB756E0E3A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AC6FA6C5-DA11-B349-B69D-BFB2A258C348}" type="slidenum">
              <a:rPr lang="en-US" altLang="en-US" sz="1200" b="0">
                <a:latin typeface="Arial" panose="020B0604020202020204" pitchFamily="34" charset="0"/>
              </a:rPr>
              <a:pPr/>
              <a:t>6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CF02F5DF-86EE-6149-B21E-9AC422170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5B65C8CD-0734-6C4D-8F4D-25D0890A2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E7D2C0D1-3891-2547-86AA-F0482E7E3D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07B71B2-E48E-EB4C-9DEF-777088F7D9C4}" type="slidenum">
              <a:rPr lang="en-US" altLang="en-US" sz="1200" b="0">
                <a:latin typeface="Arial" panose="020B0604020202020204" pitchFamily="34" charset="0"/>
              </a:rPr>
              <a:pPr/>
              <a:t>7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84285BC2-63EE-164F-9D65-D627DF96D8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ADC4547E-355E-824F-95A4-90E06F6507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690F08A1-DF3D-6742-A0FE-6AA6A9A0F6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F91E3ED1-0811-3442-B30B-899D0D6A2D25}" type="slidenum">
              <a:rPr lang="en-US" altLang="en-US" sz="1200" b="0">
                <a:latin typeface="Arial" panose="020B0604020202020204" pitchFamily="34" charset="0"/>
              </a:rPr>
              <a:pPr/>
              <a:t>8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E159E3CA-807C-9E48-8590-73926D5BFA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E41661E1-B79A-8B46-8E87-F3D54F8C7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18C09EC6-BE2D-8E44-B6A0-EEE38A1AE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60FB702-7731-6048-A08F-085A701C7049}" type="slidenum">
              <a:rPr lang="en-US" altLang="en-US" sz="1200" b="0">
                <a:latin typeface="Arial" panose="020B0604020202020204" pitchFamily="34" charset="0"/>
              </a:rPr>
              <a:pPr/>
              <a:t>9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536574A-FA73-AD43-9FE0-D9BA1F032B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05AC57F2-BDD7-7343-888C-63B8B7C3D2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96D31E0-D8A3-E345-9D89-0F7F40F637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5083CB27-8B8A-A740-9661-B21C9F0AA89F}" type="slidenum">
              <a:rPr lang="en-US" altLang="en-US" sz="1200" b="0">
                <a:latin typeface="Arial" panose="020B0604020202020204" pitchFamily="34" charset="0"/>
              </a:rPr>
              <a:pPr/>
              <a:t>10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F21E6F40-C673-B548-8121-7562E6A2CB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2A474408-0E5A-0C4D-B64A-9529EBE40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F3C847AD-E654-7742-8D40-CDDD338D23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D61A7340-99C5-5C49-B30F-FCFAFC3182FF}" type="slidenum">
              <a:rPr lang="en-US" altLang="en-US" sz="1200" b="0">
                <a:latin typeface="Arial" panose="020B0604020202020204" pitchFamily="34" charset="0"/>
              </a:rPr>
              <a:pPr/>
              <a:t>11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9DC51A87-9003-B840-8317-254EFAC7B0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91333754-C905-6649-BF77-0F90392B7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A66F2401-AF77-724F-8248-145BCB114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EC3C4019-3BFC-7C43-A8AF-0D089E3C957F}" type="slidenum">
              <a:rPr lang="en-US" altLang="en-US" sz="1200" b="0">
                <a:latin typeface="Arial" panose="020B0604020202020204" pitchFamily="34" charset="0"/>
              </a:rPr>
              <a:pPr/>
              <a:t>12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B1202848-F469-634D-8CFD-6AF3994911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AE282C2A-7F13-C44C-9BB6-3C8B03867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22AA7126-8A58-3F47-A2EB-8D7DCC8ED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A497D0F5-9C83-4D45-A09A-09C491CCE6BC}" type="slidenum">
              <a:rPr lang="en-US" altLang="en-US" sz="1200" b="0">
                <a:latin typeface="Arial" panose="020B0604020202020204" pitchFamily="34" charset="0"/>
              </a:rPr>
              <a:pPr/>
              <a:t>13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76DB54D4-970D-D34F-974F-6D1F767E8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51225D00-ABF9-E847-93D9-DED485DB08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47487A6F-8B43-8642-AEA7-1B6C3E75A2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9pPr>
          </a:lstStyle>
          <a:p>
            <a:fld id="{B4E636A7-F48A-6A4C-91D6-68423DADC8D0}" type="slidenum">
              <a:rPr lang="en-US" altLang="en-US" sz="1200" b="0">
                <a:latin typeface="Arial" panose="020B0604020202020204" pitchFamily="34" charset="0"/>
              </a:rPr>
              <a:pPr/>
              <a:t>14</a:t>
            </a:fld>
            <a:endParaRPr lang="en-US" altLang="en-US" sz="1200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498214F2-101F-0948-B343-6A9FC41C21D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CDE5EE42-AEEE-5648-BD72-BC1B8B77305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en-US" altLang="en-US" b="0">
                <a:latin typeface="Times New Roman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50530FC4-4B37-3B4C-8347-D18483BC0683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b="0">
                <a:latin typeface="Times New Roman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DA39075C-68AC-F349-908C-0CB8FECC815F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568DD3F2-D217-1B41-987D-B36AD508E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FB13D926-D4E8-D547-AD8F-2A2B6083E2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E4D0F340-1F35-0A44-8859-D6B2C7CEB0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2F0C246E-F996-6F4E-975A-ED4D4A59AE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561D9E54-9719-5D4F-97F3-2E72EBF9B6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E331F9E-8BA8-4747-A9A8-C9D2655966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4519DCC9-6C9E-0D4D-BC10-3CD8B71734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DBCF9758-DE3E-804E-8CAF-7C63C2E89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8CF3ED91-95D1-C94D-96A8-A3B9766DA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BC7ACE4E-A12A-AC43-8377-8E1F20BA0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1pPr>
                <a:lvl2pPr marL="742950" indent="-28575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2pPr>
                <a:lvl3pPr marL="11430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3pPr>
                <a:lvl4pPr marL="16002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4pPr>
                <a:lvl5pPr marL="2057400" indent="-228600" eaLnBrk="0" hangingPunct="0"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" charset="0"/>
                    <a:ea typeface="ＭＳ Ｐゴシック" charset="-128"/>
                  </a:defRPr>
                </a:lvl9pPr>
              </a:lstStyle>
              <a:p>
                <a:pPr eaLnBrk="1" hangingPunct="1">
                  <a:defRPr/>
                </a:pPr>
                <a:endParaRPr lang="en-US" altLang="en-US" b="0">
                  <a:latin typeface="Times New Roman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018DBE8F-3C08-7B4F-B103-D2CFD6596C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3BBD664B-1553-EF42-AC96-58FDFD5AB6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ECBD017C-1E99-0F47-97CA-E842349742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AD8153B-F9B0-4A47-AEAB-2B6788CFD2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7734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C9038C-BDC6-D94F-84FE-F6391AFD21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D51680D-4F16-E347-A667-44782940EE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531B1-ABA1-C541-BDA4-006E527410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572D9ED-2C5B-CF40-8504-FFC6679D374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53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859ED8C-9680-434D-B906-C14511A33A1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E345226-BB1D-934B-9301-BB7B84F4F37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FDFDB2-643D-8F46-8E26-4A9E07A9A9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CAB5989-9BFD-4145-BC6C-3C7BC704E92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43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B7DC3C9-02E7-8540-A8D8-F01BC49C27F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6D7491A-84FC-9F4E-821D-76D2FB7448A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6B153F-2B20-8F49-A405-2F5306B410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2904900-50A7-0944-8D71-1AFC6FCB525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56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610D668-0A3E-0F48-A0D0-E2D7318CC2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D0635C6-0DDB-4045-AA96-0395517643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386657-9D10-6049-9320-B406A23DDA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5939AC09-1CE0-BE40-8CEB-388D9B39270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7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F0AC02-AEEA-224A-9F2F-8EB923D14DF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32EF7A-447A-C247-BF90-DF663169B14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0070DB-553A-5F44-B421-97B5F150BB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E8A2D45E-826E-FC42-8715-5FAD1D8DD70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42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DFC9280D-0BD4-1742-BF12-01114EC48E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0222A83-E8A4-C741-A711-77FE5292DD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625900-8091-124E-A6EF-76CD5A8092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5FF26DA2-3A0A-9D4C-9F50-FCA110468A1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12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4FAC6C-4E73-7344-A157-41F22005A2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B26EA0C-C538-C145-8728-80C13C90A13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BB33AC-C5EC-7D48-8A35-B58582DABE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FC86CE18-1A4F-394B-97D6-D900C570175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45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82A4548-02E8-1D41-B970-5E39FE69ABF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A8ED8A7-6A82-E842-8582-14F00C75132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4EC46B-703B-9540-9E0F-954F123AF2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D27259D1-380E-D747-8519-C04879B4D31C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2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2CBA418-85E6-144C-84AA-DC6B2D2F7F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E1B87-FD78-2643-8351-20A213DCA88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326DDA-9EE8-2B4D-921F-1B8506329E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378A424-3B9F-784A-9A5C-AFCD0BCDEAEA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7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762000"/>
            <a:ext cx="20574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762000"/>
            <a:ext cx="6019800" cy="5105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7EA765E-93DE-D147-8E26-2C6E26FCFD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D196CE-2265-4F43-B9C5-1A6B4CE4544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857C46-83ED-3245-B191-3BD3B116F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BE38A34-9F08-3048-A83C-91B2982450A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41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08627C-EA63-2C4C-864B-C526D10FB0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56A32F5-7CB3-2744-B56B-7AC29FB9099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D6A6CE-1C65-5B49-8C9C-4B1BF413C9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7946DBF0-6CC1-8E45-AD33-69786886DF7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52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B67DC9-976B-8B4C-B2E4-D5696F6C876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DD1572C-B911-A742-825B-982B1C3AA0A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3EF4B-B2C9-0740-887A-D69F484364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E08E942-AF94-6C4A-B637-03E038D128F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10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DE0FD5D3-C74B-7545-84DC-1DB50DE2274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88CF23A3-CC1B-5641-8CEA-8BA8048313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Arial Black" panose="020B0604020202020204" pitchFamily="34" charset="0"/>
              </a:defRPr>
            </a:lvl1pPr>
          </a:lstStyle>
          <a:p>
            <a:pPr>
              <a:defRPr/>
            </a:pPr>
            <a:fld id="{5DB42A4D-6055-A84F-A486-75DCB50FB8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01FC4CFC-9D3C-7846-B1C6-689496CFB6D0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649AB5A6-E1F1-1840-9DD7-10051CA40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algn="ctr" eaLnBrk="1" hangingPunct="1">
                <a:defRPr/>
              </a:pPr>
              <a:endParaRPr lang="en-US" altLang="en-US" b="0">
                <a:latin typeface="Times New Roman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15316071-6EAB-DA46-B4E1-E7165AA46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b="0">
                <a:latin typeface="Times New Roman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BBB50F96-18E1-CA40-A567-C8B93321A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E495C06B-ECA7-1D4D-99DA-52C89736D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D70CD786-8D58-574C-8714-0CB69BB49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B0070E27-2CBF-D146-A55A-358A033AE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441EF7CB-91B2-2946-A019-1B2BE2CE9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b="0">
                <a:latin typeface="Times New Roman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55C7AADF-AFFE-6A4D-B674-AEFD49188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82AB2358-AE94-3C49-B09D-83596FE8C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1pPr>
              <a:lvl2pPr marL="742950" indent="-28575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2pPr>
              <a:lvl3pPr marL="11430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3pPr>
              <a:lvl4pPr marL="16002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4pPr>
              <a:lvl5pPr marL="2057400" indent="-228600" eaLnBrk="0" hangingPunct="0"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" charset="0"/>
                  <a:ea typeface="ＭＳ Ｐゴシック" charset="-128"/>
                </a:defRPr>
              </a:lvl9pPr>
            </a:lstStyle>
            <a:p>
              <a:pPr eaLnBrk="1" hangingPunct="1">
                <a:defRPr/>
              </a:pPr>
              <a:endParaRPr lang="en-US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761ED668-2A9A-3E43-98FA-0304D95275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7620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1BB88362-13AD-FE46-9A99-FE38886A8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6B9DDAB3-B7AE-BF4A-BA5E-B46E3655438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18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000">
          <a:solidFill>
            <a:schemeClr val="tx1"/>
          </a:solidFill>
          <a:latin typeface="+mj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>
          <a:solidFill>
            <a:schemeClr val="tx1"/>
          </a:solidFill>
          <a:latin typeface="+mj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hanacademy.org/science/high-school-biology/hs-molecular-genetics/hs-biotechnology/v/the-polymerase-chain-reaction-pc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ideo.search.yahoo.com/search/video?p=sanger+sequencing+animation&amp;fr=yhs-invalid#id=10&amp;vid=d19f22b72060f8eedad21b4954710f41&amp;action=view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0DD1E2E2-42D9-CC44-A088-2AF76C4CE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600200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4000" dirty="0">
                <a:latin typeface="Helvetica Neue" panose="02000503000000020004" pitchFamily="2" charset="0"/>
              </a:rPr>
              <a:t>DNA Sequencing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4000" dirty="0">
              <a:latin typeface="Helvetica Neue" panose="02000503000000020004" pitchFamily="2" charset="0"/>
            </a:endParaRPr>
          </a:p>
          <a:p>
            <a:pPr marL="571500" indent="-571500" eaLnBrk="1" hangingPunct="1">
              <a:spcBef>
                <a:spcPct val="0"/>
              </a:spcBef>
              <a:buClrTx/>
              <a:buSzTx/>
              <a:defRPr/>
            </a:pPr>
            <a:r>
              <a:rPr lang="en-US" altLang="en-US" sz="2400" b="0" dirty="0">
                <a:latin typeface="Helvetica Neue" panose="02000503000000020004" pitchFamily="2" charset="0"/>
              </a:rPr>
              <a:t>Sanger Sequencing</a:t>
            </a:r>
          </a:p>
          <a:p>
            <a:pPr marL="571500" indent="-571500" eaLnBrk="1" hangingPunct="1">
              <a:spcBef>
                <a:spcPct val="0"/>
              </a:spcBef>
              <a:buClrTx/>
              <a:buSzTx/>
              <a:defRPr/>
            </a:pPr>
            <a:endParaRPr lang="en-US" altLang="en-US" sz="2400" b="0" dirty="0">
              <a:latin typeface="Helvetica Neue" panose="02000503000000020004" pitchFamily="2" charset="0"/>
            </a:endParaRPr>
          </a:p>
          <a:p>
            <a:pPr marL="571500" indent="-571500" eaLnBrk="1" hangingPunct="1">
              <a:spcBef>
                <a:spcPct val="0"/>
              </a:spcBef>
              <a:buClrTx/>
              <a:buSzTx/>
              <a:defRPr/>
            </a:pPr>
            <a:r>
              <a:rPr lang="en-US" altLang="en-US" sz="2400" b="0" dirty="0">
                <a:latin typeface="Helvetica Neue" panose="02000503000000020004" pitchFamily="2" charset="0"/>
              </a:rPr>
              <a:t>Shotgun Sequencing</a:t>
            </a:r>
          </a:p>
          <a:p>
            <a:pPr marL="1314450" lvl="1" indent="-571500" eaLnBrk="1" hangingPunct="1">
              <a:spcBef>
                <a:spcPct val="0"/>
              </a:spcBef>
              <a:buClrTx/>
              <a:buSzTx/>
              <a:defRPr/>
            </a:pPr>
            <a:r>
              <a:rPr lang="en-US" altLang="en-US" sz="2400" b="0" dirty="0">
                <a:latin typeface="Helvetica Neue" panose="02000503000000020004" pitchFamily="2" charset="0"/>
              </a:rPr>
              <a:t>Partial Digest Problem (PDP)</a:t>
            </a:r>
          </a:p>
          <a:p>
            <a:pPr marL="571500" indent="-571500" eaLnBrk="1" hangingPunct="1">
              <a:spcBef>
                <a:spcPct val="0"/>
              </a:spcBef>
              <a:buClrTx/>
              <a:buSzTx/>
              <a:defRPr/>
            </a:pPr>
            <a:endParaRPr lang="en-US" altLang="en-US" sz="2400" b="0" dirty="0">
              <a:latin typeface="Helvetica Neue" panose="02000503000000020004" pitchFamily="2" charset="0"/>
            </a:endParaRPr>
          </a:p>
          <a:p>
            <a:pPr marL="571500" indent="-571500" eaLnBrk="1" hangingPunct="1">
              <a:spcBef>
                <a:spcPct val="0"/>
              </a:spcBef>
              <a:buClrTx/>
              <a:buSzTx/>
              <a:defRPr/>
            </a:pPr>
            <a:r>
              <a:rPr lang="en-US" altLang="en-US" sz="2400" b="0" dirty="0">
                <a:latin typeface="Helvetica Neue" panose="02000503000000020004" pitchFamily="2" charset="0"/>
              </a:rPr>
              <a:t>Next Generation Sequencing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br>
              <a:rPr lang="en-US" altLang="en-US" sz="3600" dirty="0">
                <a:latin typeface="Helvetica Neue" panose="02000503000000020004" pitchFamily="2" charset="0"/>
              </a:rPr>
            </a:br>
            <a:br>
              <a:rPr lang="en-US" altLang="en-US" sz="3600" dirty="0">
                <a:latin typeface="Helvetica Neue" panose="02000503000000020004" pitchFamily="2" charset="0"/>
              </a:rPr>
            </a:br>
            <a:endParaRPr lang="en-US" altLang="en-US" sz="2000" dirty="0">
              <a:latin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>
            <a:extLst>
              <a:ext uri="{FF2B5EF4-FFF2-40B4-BE49-F238E27FC236}">
                <a16:creationId xmlns:a16="http://schemas.microsoft.com/office/drawing/2014/main" id="{347095EA-96F4-F245-A1F9-E2C11B3CE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179513"/>
            <a:ext cx="8534400" cy="512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 dirty="0">
                <a:latin typeface="Franklin Gothic Book" panose="020B0503020102020204" pitchFamily="34" charset="0"/>
              </a:rPr>
              <a:t>Frederick Sanger, Cambridge, England</a:t>
            </a:r>
            <a:r>
              <a:rPr lang="ko-KR" altLang="en-US" sz="2400" b="0" dirty="0">
                <a:latin typeface="Franklin Gothic Book" panose="020B0503020102020204" pitchFamily="34" charset="0"/>
              </a:rPr>
              <a:t> </a:t>
            </a:r>
            <a:r>
              <a:rPr lang="en-US" altLang="ko-KR" sz="2400" b="0" dirty="0">
                <a:latin typeface="Franklin Gothic Book" panose="020B0503020102020204" pitchFamily="34" charset="0"/>
              </a:rPr>
              <a:t>(1977)</a:t>
            </a:r>
            <a:endParaRPr lang="en-US" altLang="en-US" sz="2400" b="0" dirty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Amplify a sample with PCR (Polymerase Chain Reaction)</a:t>
            </a:r>
          </a:p>
          <a:p>
            <a:pPr lvl="2">
              <a:buSzPct val="75000"/>
            </a:pPr>
            <a:r>
              <a:rPr lang="en-US" altLang="en-US" sz="1800" b="0" dirty="0">
                <a:latin typeface="Helvetica Neue" panose="02000503000000020004" pitchFamily="2" charset="0"/>
                <a:hlinkClick r:id="rId3"/>
              </a:rPr>
              <a:t>https://www.khanacademy.org/science/high-school-biology/hs-molecular-genetics/hs-biotechnology/v/the-polymerase-chain-reaction-pcr</a:t>
            </a:r>
            <a:endParaRPr lang="en-US" altLang="en-US" sz="1800" b="0" dirty="0">
              <a:latin typeface="Helvetica Neue" panose="02000503000000020004" pitchFamily="2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Partition copied DNA into four groups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Each group has one of four bases starved (by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dideoxyNucleotide</a:t>
            </a:r>
            <a:r>
              <a:rPr lang="en-US" altLang="en-US" b="0" dirty="0">
                <a:latin typeface="Franklin Gothic Book" panose="020B0503020102020204" pitchFamily="34" charset="0"/>
              </a:rPr>
              <a:t>, </a:t>
            </a:r>
            <a:r>
              <a:rPr lang="en-US" altLang="en-US" b="0" dirty="0" err="1">
                <a:latin typeface="Franklin Gothic Book" panose="020B0503020102020204" pitchFamily="34" charset="0"/>
              </a:rPr>
              <a:t>ddNTP</a:t>
            </a:r>
            <a:r>
              <a:rPr lang="en-US" altLang="en-US" b="0" dirty="0">
                <a:latin typeface="Franklin Gothic Book" panose="020B0503020102020204" pitchFamily="34" charset="0"/>
              </a:rPr>
              <a:t>)</a:t>
            </a:r>
          </a:p>
          <a:p>
            <a:pPr lvl="2">
              <a:buSzPct val="75000"/>
            </a:pPr>
            <a:r>
              <a:rPr lang="en-US" altLang="en-US" sz="2000" b="0" dirty="0">
                <a:latin typeface="Franklin Gothic Book" panose="020B0503020102020204" pitchFamily="34" charset="0"/>
              </a:rPr>
              <a:t>ACGTAAGCTA with T starved produces ACG and ACGTAAGC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Run experiment with each of four bases starved, producing a ladder (all sub-fragments ending at the base)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 dirty="0">
                <a:latin typeface="Franklin Gothic Book" panose="020B0503020102020204" pitchFamily="34" charset="0"/>
              </a:rPr>
              <a:t>Collect resulting fragments by length (1,000-nt)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 dirty="0">
              <a:latin typeface="Franklin Gothic Book" panose="020B0503020102020204" pitchFamily="34" charset="0"/>
            </a:endParaRPr>
          </a:p>
          <a:p>
            <a:pPr>
              <a:spcBef>
                <a:spcPct val="0"/>
              </a:spcBef>
              <a:buClrTx/>
              <a:buSzTx/>
            </a:pPr>
            <a:r>
              <a:rPr lang="en-US" altLang="en-US" sz="2000" b="0" dirty="0">
                <a:latin typeface="Franklin Gothic Book" panose="020B0503020102020204" pitchFamily="34" charset="0"/>
              </a:rPr>
              <a:t>Animations</a:t>
            </a:r>
          </a:p>
          <a:p>
            <a:pPr lvl="1">
              <a:spcBef>
                <a:spcPct val="0"/>
              </a:spcBef>
              <a:buClrTx/>
              <a:buSzPct val="75000"/>
              <a:buFont typeface="Wingdings" pitchFamily="2" charset="2"/>
              <a:buChar char="n"/>
            </a:pPr>
            <a:r>
              <a:rPr lang="en-US" altLang="en-US" sz="1600" b="0" dirty="0">
                <a:latin typeface="Helvetica Neue" panose="02000503000000020004" pitchFamily="2" charset="0"/>
                <a:hlinkClick r:id="rId4"/>
              </a:rPr>
              <a:t>https://video.search.yahoo.com/search/video?p=sanger+sequencing+animation&amp;fr=yhs-invalid#id=10&amp;vid=d19f22b72060f8eedad21b4954710f41&amp;action=view</a:t>
            </a:r>
            <a:endParaRPr lang="en-US" altLang="en-US" sz="1600" b="0" dirty="0">
              <a:latin typeface="Helvetica Neue" panose="02000503000000020004" pitchFamily="2" charset="0"/>
            </a:endParaRPr>
          </a:p>
          <a:p>
            <a:endParaRPr lang="en-US" altLang="en-US" sz="1600" b="0" dirty="0">
              <a:latin typeface="Helvetica Neue" panose="02000503000000020004" pitchFamily="2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 dirty="0">
              <a:latin typeface="Franklin Gothic Book" panose="020B0503020102020204" pitchFamily="34" charset="0"/>
            </a:endParaRPr>
          </a:p>
        </p:txBody>
      </p:sp>
      <p:sp>
        <p:nvSpPr>
          <p:cNvPr id="18434" name="TextBox 1">
            <a:extLst>
              <a:ext uri="{FF2B5EF4-FFF2-40B4-BE49-F238E27FC236}">
                <a16:creationId xmlns:a16="http://schemas.microsoft.com/office/drawing/2014/main" id="{F734B605-AD35-B240-863B-D46C03C7B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Sanger Sequencing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EF721222-0F15-A045-81B6-B03FF689F3A2}"/>
              </a:ext>
            </a:extLst>
          </p:cNvPr>
          <p:cNvSpPr txBox="1">
            <a:spLocks/>
          </p:cNvSpPr>
          <p:nvPr/>
        </p:nvSpPr>
        <p:spPr bwMode="auto">
          <a:xfrm>
            <a:off x="304800" y="457200"/>
            <a:ext cx="8686800" cy="838200"/>
          </a:xfrm>
          <a:prstGeom prst="rect">
            <a:avLst/>
          </a:prstGeom>
          <a:noFill/>
        </p:spPr>
        <p:txBody>
          <a:bodyPr anchor="ctr">
            <a:normAutofit fontScale="92500"/>
          </a:bodyPr>
          <a:lstStyle/>
          <a:p>
            <a:pPr eaLnBrk="1" hangingPunct="1">
              <a:defRPr/>
            </a:pPr>
            <a:r>
              <a:rPr lang="en-US" sz="3600" dirty="0">
                <a:latin typeface="Franklin Gothic Book" pitchFamily="34" charset="0"/>
                <a:ea typeface="+mj-ea"/>
                <a:cs typeface="+mj-cs"/>
              </a:rPr>
              <a:t>History to Next Generation Sequencing (NGS)</a:t>
            </a:r>
          </a:p>
        </p:txBody>
      </p:sp>
      <p:sp>
        <p:nvSpPr>
          <p:cNvPr id="20482" name="Rectangle 237">
            <a:extLst>
              <a:ext uri="{FF2B5EF4-FFF2-40B4-BE49-F238E27FC236}">
                <a16:creationId xmlns:a16="http://schemas.microsoft.com/office/drawing/2014/main" id="{C36D47AA-0EBD-3048-978F-3230840758E3}"/>
              </a:ext>
            </a:extLst>
          </p:cNvPr>
          <p:cNvSpPr>
            <a:spLocks/>
          </p:cNvSpPr>
          <p:nvPr/>
        </p:nvSpPr>
        <p:spPr bwMode="auto">
          <a:xfrm>
            <a:off x="838200" y="1401763"/>
            <a:ext cx="7772400" cy="492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1977 – Frederick Sanger &amp; Walter Gilbert independently developed the sequencing methods</a:t>
            </a:r>
          </a:p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1980 – they share the Nobel prize</a:t>
            </a:r>
          </a:p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1990 – Human Genome project (HGP) to be completed by 2005, headed by Francis Collins</a:t>
            </a:r>
          </a:p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1997 – Craig Venter founded Celera Genomics with the same goal</a:t>
            </a:r>
          </a:p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2000 – HGP completed</a:t>
            </a:r>
          </a:p>
          <a:p>
            <a:pPr eaLnBrk="1" hangingPunct="1">
              <a:buSzPct val="70000"/>
              <a:buFont typeface="Wingdings" pitchFamily="2" charset="2"/>
              <a:buChar char="§"/>
            </a:pPr>
            <a:r>
              <a:rPr lang="en-US" altLang="en-US" sz="2400" b="0">
                <a:latin typeface="Franklin Gothic Book" panose="020B0503020102020204" pitchFamily="34" charset="0"/>
              </a:rPr>
              <a:t>2010 – project to sequence 10,000 vertebrate genomes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3">
            <a:extLst>
              <a:ext uri="{FF2B5EF4-FFF2-40B4-BE49-F238E27FC236}">
                <a16:creationId xmlns:a16="http://schemas.microsoft.com/office/drawing/2014/main" id="{FA2F5790-9254-E442-840C-F9A7EE84B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4648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714500" indent="-3429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Later, sequencing machines sequence 500-700 nt fragments, called reads</a:t>
            </a:r>
          </a:p>
          <a:p>
            <a:pPr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Break up DNA into fragments, </a:t>
            </a: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</a:rPr>
              <a:t>amplify </a:t>
            </a:r>
            <a:r>
              <a:rPr lang="en-US" altLang="en-US" sz="2000" b="0">
                <a:latin typeface="Franklin Gothic Book" panose="020B0503020102020204" pitchFamily="34" charset="0"/>
              </a:rPr>
              <a:t>with PCR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 b="0">
              <a:solidFill>
                <a:srgbClr val="FF0000"/>
              </a:solidFill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Each fragment is sequenced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 b="0">
              <a:latin typeface="Franklin Gothic Book" panose="020B0503020102020204" pitchFamily="34" charset="0"/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 b="0">
                <a:latin typeface="Franklin Gothic Book" panose="020B0503020102020204" pitchFamily="34" charset="0"/>
              </a:rPr>
              <a:t>Use computer to search for overlap</a:t>
            </a:r>
          </a:p>
          <a:p>
            <a:pPr lvl="1">
              <a:lnSpc>
                <a:spcPct val="90000"/>
              </a:lnSpc>
              <a:buClr>
                <a:schemeClr val="accent1"/>
              </a:buClr>
              <a:buSzPct val="75000"/>
              <a:buFontTx/>
              <a:buNone/>
            </a:pPr>
            <a:r>
              <a:rPr lang="en-US" altLang="en-US" b="0">
                <a:latin typeface="Franklin Gothic Book" panose="020B0503020102020204" pitchFamily="34" charset="0"/>
              </a:rPr>
              <a:t>Build a master sequence</a:t>
            </a:r>
          </a:p>
        </p:txBody>
      </p:sp>
      <p:sp>
        <p:nvSpPr>
          <p:cNvPr id="22530" name="TextBox 1">
            <a:extLst>
              <a:ext uri="{FF2B5EF4-FFF2-40B4-BE49-F238E27FC236}">
                <a16:creationId xmlns:a16="http://schemas.microsoft.com/office/drawing/2014/main" id="{343842EC-B76F-5B46-84B4-E3DF4F8C1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Shot-gun Method</a:t>
            </a:r>
          </a:p>
        </p:txBody>
      </p:sp>
      <p:pic>
        <p:nvPicPr>
          <p:cNvPr id="22531" name="Picture 4" descr="sequencing_0001.jpg">
            <a:extLst>
              <a:ext uri="{FF2B5EF4-FFF2-40B4-BE49-F238E27FC236}">
                <a16:creationId xmlns:a16="http://schemas.microsoft.com/office/drawing/2014/main" id="{1093C408-A8C4-9448-A352-B7ABFCD02D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0"/>
            <a:ext cx="379412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FD3071F-24D1-594F-B4C9-CAC9256B7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79525"/>
            <a:ext cx="5181600" cy="35210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2573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7145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</a:rPr>
              <a:t>Good for short prokaryote genomes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  <a:cs typeface="ＭＳ Ｐゴシック" charset="0"/>
              </a:rPr>
              <a:t>For n fragments, # of possible overlaps is 2n(n-1)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000" b="0" dirty="0">
              <a:latin typeface="Franklin Gothic Book" pitchFamily="34" charset="0"/>
              <a:cs typeface="ＭＳ Ｐゴシック" charset="0"/>
            </a:endParaRP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sz="2000" b="0" dirty="0">
              <a:latin typeface="Franklin Gothic Book" pitchFamily="34" charset="0"/>
              <a:cs typeface="ＭＳ Ｐゴシック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</a:rPr>
              <a:t>Repeats in sequences are problems</a:t>
            </a:r>
            <a:endParaRPr lang="en-US" sz="2000" b="0" kern="0" dirty="0">
              <a:latin typeface="Franklin Gothic Book" pitchFamily="34" charset="0"/>
            </a:endParaRPr>
          </a:p>
        </p:txBody>
      </p:sp>
      <p:sp>
        <p:nvSpPr>
          <p:cNvPr id="24578" name="TextBox 1">
            <a:extLst>
              <a:ext uri="{FF2B5EF4-FFF2-40B4-BE49-F238E27FC236}">
                <a16:creationId xmlns:a16="http://schemas.microsoft.com/office/drawing/2014/main" id="{23E3F2DB-5C26-DA47-B30A-5AF094AA1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Shot-gun Method</a:t>
            </a:r>
          </a:p>
        </p:txBody>
      </p:sp>
      <p:pic>
        <p:nvPicPr>
          <p:cNvPr id="24579" name="Picture 5" descr="sequencing_0002.jpg">
            <a:extLst>
              <a:ext uri="{FF2B5EF4-FFF2-40B4-BE49-F238E27FC236}">
                <a16:creationId xmlns:a16="http://schemas.microsoft.com/office/drawing/2014/main" id="{FDF7211E-4713-4C4B-8254-E689D0F33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057400"/>
            <a:ext cx="3581400" cy="247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3286F4B-F539-414C-A14C-81EA3FD5FD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1600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  <a:cs typeface="ＭＳ Ｐゴシック" charset="0"/>
              </a:defRPr>
            </a:lvl1pPr>
            <a:lvl2pPr marL="8001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2pPr>
            <a:lvl3pPr marL="12573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3pPr>
            <a:lvl4pPr marL="1714500" indent="-3429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b="0" dirty="0">
                <a:latin typeface="Franklin Gothic Book" pitchFamily="34" charset="0"/>
              </a:rPr>
              <a:t>Restriction endonuclease</a:t>
            </a:r>
          </a:p>
          <a:p>
            <a:pPr lvl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  <a:cs typeface="ＭＳ Ｐゴシック" charset="0"/>
              </a:rPr>
              <a:t>An enzyme binding to specific DNA sequences, and making double-stranded cut at or near the sequences</a:t>
            </a:r>
          </a:p>
          <a:p>
            <a:pPr lvl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  <a:cs typeface="ＭＳ Ｐゴシック" charset="0"/>
              </a:rPr>
              <a:t>Type II always cut at the same place (over 2,500 type II)</a:t>
            </a:r>
          </a:p>
          <a:p>
            <a:pPr lvl="1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sz="2000" b="0" dirty="0">
                <a:latin typeface="Franklin Gothic Book" pitchFamily="34" charset="0"/>
                <a:cs typeface="ＭＳ Ｐゴシック" charset="0"/>
              </a:rPr>
              <a:t>e.g., </a:t>
            </a:r>
            <a:r>
              <a:rPr lang="en-US" sz="2000" b="0" i="1" dirty="0" err="1">
                <a:latin typeface="Franklin Gothic Book" pitchFamily="34" charset="0"/>
                <a:cs typeface="ＭＳ Ｐゴシック" charset="0"/>
              </a:rPr>
              <a:t>Hin</a:t>
            </a:r>
            <a:r>
              <a:rPr lang="en-US" sz="2000" b="0" dirty="0" err="1">
                <a:latin typeface="Franklin Gothic Book" pitchFamily="34" charset="0"/>
                <a:cs typeface="ＭＳ Ｐゴシック" charset="0"/>
              </a:rPr>
              <a:t>dII</a:t>
            </a:r>
            <a:r>
              <a:rPr lang="en-US" sz="2000" b="0" dirty="0">
                <a:latin typeface="Franklin Gothic Book" pitchFamily="34" charset="0"/>
                <a:cs typeface="ＭＳ Ｐゴシック" charset="0"/>
              </a:rPr>
              <a:t> cuts at GANTC</a:t>
            </a:r>
            <a:endParaRPr lang="en-US" sz="2000" b="0" kern="0" dirty="0">
              <a:latin typeface="Franklin Gothic Book" pitchFamily="34" charset="0"/>
              <a:cs typeface="ＭＳ Ｐゴシック" charset="0"/>
            </a:endParaRPr>
          </a:p>
        </p:txBody>
      </p:sp>
      <p:sp>
        <p:nvSpPr>
          <p:cNvPr id="26626" name="TextBox 1">
            <a:extLst>
              <a:ext uri="{FF2B5EF4-FFF2-40B4-BE49-F238E27FC236}">
                <a16:creationId xmlns:a16="http://schemas.microsoft.com/office/drawing/2014/main" id="{5286292B-E1F6-2A4E-AFA3-62495D7D2D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Restriction Map</a:t>
            </a:r>
          </a:p>
        </p:txBody>
      </p:sp>
      <p:pic>
        <p:nvPicPr>
          <p:cNvPr id="26627" name="Picture 4" descr="sequence4_1.jpg">
            <a:extLst>
              <a:ext uri="{FF2B5EF4-FFF2-40B4-BE49-F238E27FC236}">
                <a16:creationId xmlns:a16="http://schemas.microsoft.com/office/drawing/2014/main" id="{896CA86A-82B2-5444-87E8-A5E14E524A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355975"/>
            <a:ext cx="6781800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3" descr="sequecing3.jpg">
            <a:extLst>
              <a:ext uri="{FF2B5EF4-FFF2-40B4-BE49-F238E27FC236}">
                <a16:creationId xmlns:a16="http://schemas.microsoft.com/office/drawing/2014/main" id="{FBBA985D-FBD0-1846-BA83-EEC047183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19200"/>
            <a:ext cx="7810500" cy="520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>
            <a:extLst>
              <a:ext uri="{FF2B5EF4-FFF2-40B4-BE49-F238E27FC236}">
                <a16:creationId xmlns:a16="http://schemas.microsoft.com/office/drawing/2014/main" id="{2DF6C991-4708-004F-9E92-6643E24DC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133600"/>
            <a:ext cx="58308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2" name="Rectangle 2">
            <a:extLst>
              <a:ext uri="{FF2B5EF4-FFF2-40B4-BE49-F238E27FC236}">
                <a16:creationId xmlns:a16="http://schemas.microsoft.com/office/drawing/2014/main" id="{85B94EFB-CB7C-D642-9B48-495AEFCDB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685800"/>
            <a:ext cx="7620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Shot-gun Sequencing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340499CB-61B5-D648-9A8B-CD669A27E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533400"/>
            <a:ext cx="7620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Shot-gun Sequencing</a:t>
            </a:r>
          </a:p>
        </p:txBody>
      </p:sp>
      <p:pic>
        <p:nvPicPr>
          <p:cNvPr id="32770" name="Picture 2">
            <a:extLst>
              <a:ext uri="{FF2B5EF4-FFF2-40B4-BE49-F238E27FC236}">
                <a16:creationId xmlns:a16="http://schemas.microsoft.com/office/drawing/2014/main" id="{CDDCE2F1-2CF7-DF47-86C0-28510F4F4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600200"/>
            <a:ext cx="6772275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3">
            <a:extLst>
              <a:ext uri="{FF2B5EF4-FFF2-40B4-BE49-F238E27FC236}">
                <a16:creationId xmlns:a16="http://schemas.microsoft.com/office/drawing/2014/main" id="{96C06F97-AE6A-4C4C-BF4D-39F0CDD15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>
                <a:latin typeface="Franklin Gothic Book" panose="020B0503020102020204" pitchFamily="34" charset="0"/>
              </a:rPr>
              <a:t>Probability of restriction site being cut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800" b="0">
                <a:latin typeface="Franklin Gothic Book" panose="020B0503020102020204" pitchFamily="34" charset="0"/>
              </a:rPr>
              <a:t>= 1: complete digest</a:t>
            </a:r>
          </a:p>
          <a:p>
            <a:pPr lvl="2">
              <a:buSzPct val="75000"/>
            </a:pPr>
            <a:r>
              <a:rPr lang="en-US" altLang="en-US" sz="1800" b="0">
                <a:latin typeface="Franklin Gothic Book" panose="020B0503020102020204" pitchFamily="34" charset="0"/>
              </a:rPr>
              <a:t>Distance between successive cuts is known and accurate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sz="1800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800" b="0">
                <a:latin typeface="Franklin Gothic Book" panose="020B0503020102020204" pitchFamily="34" charset="0"/>
              </a:rPr>
              <a:t>&lt;1 : partial digest</a:t>
            </a:r>
          </a:p>
          <a:p>
            <a:pPr lvl="2">
              <a:buSzPct val="75000"/>
            </a:pPr>
            <a:r>
              <a:rPr lang="en-US" altLang="en-US" sz="1800" b="0">
                <a:latin typeface="Franklin Gothic Book" panose="020B0503020102020204" pitchFamily="34" charset="0"/>
              </a:rPr>
              <a:t>Distances across more than one restriction site are generated</a:t>
            </a:r>
            <a:endParaRPr lang="en-US" altLang="en-US" sz="2000" b="0">
              <a:latin typeface="Franklin Gothic Book" panose="020B0503020102020204" pitchFamily="34" charset="0"/>
            </a:endParaRPr>
          </a:p>
        </p:txBody>
      </p:sp>
      <p:sp>
        <p:nvSpPr>
          <p:cNvPr id="34818" name="TextBox 1">
            <a:extLst>
              <a:ext uri="{FF2B5EF4-FFF2-40B4-BE49-F238E27FC236}">
                <a16:creationId xmlns:a16="http://schemas.microsoft.com/office/drawing/2014/main" id="{B6686075-A4F9-EA4E-B88A-AF9D372B9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Complete and Partial Digest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FA4EA6-3027-AE40-A94B-7DA7563CFF8B}"/>
              </a:ext>
            </a:extLst>
          </p:cNvPr>
          <p:cNvCxnSpPr/>
          <p:nvPr/>
        </p:nvCxnSpPr>
        <p:spPr>
          <a:xfrm>
            <a:off x="2514600" y="2590800"/>
            <a:ext cx="41910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E6B790-7A89-A646-AF58-BC39BFE4A12F}"/>
              </a:ext>
            </a:extLst>
          </p:cNvPr>
          <p:cNvCxnSpPr/>
          <p:nvPr/>
        </p:nvCxnSpPr>
        <p:spPr>
          <a:xfrm rot="5400000">
            <a:off x="2438401" y="2590800"/>
            <a:ext cx="152400" cy="3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A13C0E-00AD-924C-84B4-9D90EFA4A7A5}"/>
              </a:ext>
            </a:extLst>
          </p:cNvPr>
          <p:cNvCxnSpPr/>
          <p:nvPr/>
        </p:nvCxnSpPr>
        <p:spPr>
          <a:xfrm rot="5400000">
            <a:off x="3353594" y="25900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BEC576-744F-C14F-9E83-F6AD9A9721F8}"/>
              </a:ext>
            </a:extLst>
          </p:cNvPr>
          <p:cNvCxnSpPr/>
          <p:nvPr/>
        </p:nvCxnSpPr>
        <p:spPr>
          <a:xfrm rot="5400000">
            <a:off x="4191794" y="25900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7C83E6-622C-874E-8CC8-D239EA8062D8}"/>
              </a:ext>
            </a:extLst>
          </p:cNvPr>
          <p:cNvCxnSpPr/>
          <p:nvPr/>
        </p:nvCxnSpPr>
        <p:spPr>
          <a:xfrm rot="5400000">
            <a:off x="5410994" y="25900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79599F-7276-104A-A77D-6FF76184E5FD}"/>
              </a:ext>
            </a:extLst>
          </p:cNvPr>
          <p:cNvCxnSpPr/>
          <p:nvPr/>
        </p:nvCxnSpPr>
        <p:spPr>
          <a:xfrm rot="5400000">
            <a:off x="6630194" y="25900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F5CA13A-4510-7B4C-AF40-C8B4BED7F37F}"/>
              </a:ext>
            </a:extLst>
          </p:cNvPr>
          <p:cNvCxnSpPr/>
          <p:nvPr/>
        </p:nvCxnSpPr>
        <p:spPr>
          <a:xfrm>
            <a:off x="2514600" y="2819400"/>
            <a:ext cx="9144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169E99-BD97-4647-A30D-F0F1455F72FF}"/>
              </a:ext>
            </a:extLst>
          </p:cNvPr>
          <p:cNvCxnSpPr/>
          <p:nvPr/>
        </p:nvCxnSpPr>
        <p:spPr>
          <a:xfrm>
            <a:off x="3429000" y="2895600"/>
            <a:ext cx="9144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559A63-60A3-C04D-A0BE-6513139FFEF1}"/>
              </a:ext>
            </a:extLst>
          </p:cNvPr>
          <p:cNvCxnSpPr/>
          <p:nvPr/>
        </p:nvCxnSpPr>
        <p:spPr>
          <a:xfrm>
            <a:off x="4343400" y="3048000"/>
            <a:ext cx="11430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DA6B73-8EF0-5A43-8F08-05AF279C122B}"/>
              </a:ext>
            </a:extLst>
          </p:cNvPr>
          <p:cNvCxnSpPr/>
          <p:nvPr/>
        </p:nvCxnSpPr>
        <p:spPr>
          <a:xfrm>
            <a:off x="5562600" y="3200400"/>
            <a:ext cx="12192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9A54F0-8FCB-EE48-92C4-7EECE5683C12}"/>
              </a:ext>
            </a:extLst>
          </p:cNvPr>
          <p:cNvCxnSpPr/>
          <p:nvPr/>
        </p:nvCxnSpPr>
        <p:spPr>
          <a:xfrm>
            <a:off x="2667000" y="4267200"/>
            <a:ext cx="4191000" cy="15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517EFA-7C50-7543-BBCF-F98C7DBB040C}"/>
              </a:ext>
            </a:extLst>
          </p:cNvPr>
          <p:cNvCxnSpPr/>
          <p:nvPr/>
        </p:nvCxnSpPr>
        <p:spPr>
          <a:xfrm rot="5400000">
            <a:off x="2590801" y="4267200"/>
            <a:ext cx="152400" cy="3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B26A78-4EB2-8D41-995A-39B7FC7FB28B}"/>
              </a:ext>
            </a:extLst>
          </p:cNvPr>
          <p:cNvCxnSpPr/>
          <p:nvPr/>
        </p:nvCxnSpPr>
        <p:spPr>
          <a:xfrm rot="5400000">
            <a:off x="3505994" y="42664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819C513-22D1-3941-A8AF-D4FB875D0CF3}"/>
              </a:ext>
            </a:extLst>
          </p:cNvPr>
          <p:cNvCxnSpPr/>
          <p:nvPr/>
        </p:nvCxnSpPr>
        <p:spPr>
          <a:xfrm rot="5400000">
            <a:off x="4344194" y="42664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94CE3C-F782-1F4E-9BB2-7607D2C628AA}"/>
              </a:ext>
            </a:extLst>
          </p:cNvPr>
          <p:cNvCxnSpPr/>
          <p:nvPr/>
        </p:nvCxnSpPr>
        <p:spPr>
          <a:xfrm rot="5400000">
            <a:off x="5563394" y="42664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4C4E933-A7DA-8E4A-B572-E50D3E4FCA22}"/>
              </a:ext>
            </a:extLst>
          </p:cNvPr>
          <p:cNvCxnSpPr/>
          <p:nvPr/>
        </p:nvCxnSpPr>
        <p:spPr>
          <a:xfrm rot="5400000">
            <a:off x="6782594" y="4266406"/>
            <a:ext cx="152400" cy="15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A336A6-1DF1-0B41-A025-196C794D71ED}"/>
              </a:ext>
            </a:extLst>
          </p:cNvPr>
          <p:cNvCxnSpPr/>
          <p:nvPr/>
        </p:nvCxnSpPr>
        <p:spPr>
          <a:xfrm>
            <a:off x="2667000" y="4572000"/>
            <a:ext cx="9144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5D7F9FB-94B1-954A-9AC8-1C5E68BDC20B}"/>
              </a:ext>
            </a:extLst>
          </p:cNvPr>
          <p:cNvCxnSpPr/>
          <p:nvPr/>
        </p:nvCxnSpPr>
        <p:spPr>
          <a:xfrm>
            <a:off x="3581400" y="4648200"/>
            <a:ext cx="9144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6C44EEA-6DEA-0C45-9ECE-2DEA806DDCE1}"/>
              </a:ext>
            </a:extLst>
          </p:cNvPr>
          <p:cNvCxnSpPr/>
          <p:nvPr/>
        </p:nvCxnSpPr>
        <p:spPr>
          <a:xfrm>
            <a:off x="4495800" y="4800600"/>
            <a:ext cx="11430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C01291-92EF-B948-BF70-6238F264BFAB}"/>
              </a:ext>
            </a:extLst>
          </p:cNvPr>
          <p:cNvCxnSpPr/>
          <p:nvPr/>
        </p:nvCxnSpPr>
        <p:spPr>
          <a:xfrm>
            <a:off x="5715000" y="4953000"/>
            <a:ext cx="12192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82953D-58E7-9E42-8314-91FA01997216}"/>
              </a:ext>
            </a:extLst>
          </p:cNvPr>
          <p:cNvCxnSpPr/>
          <p:nvPr/>
        </p:nvCxnSpPr>
        <p:spPr>
          <a:xfrm>
            <a:off x="2667000" y="4953000"/>
            <a:ext cx="18288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B7564C8-35AF-D644-B101-A2366E4B4973}"/>
              </a:ext>
            </a:extLst>
          </p:cNvPr>
          <p:cNvCxnSpPr/>
          <p:nvPr/>
        </p:nvCxnSpPr>
        <p:spPr>
          <a:xfrm>
            <a:off x="2667000" y="5257800"/>
            <a:ext cx="4267200" cy="158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>
            <a:extLst>
              <a:ext uri="{FF2B5EF4-FFF2-40B4-BE49-F238E27FC236}">
                <a16:creationId xmlns:a16="http://schemas.microsoft.com/office/drawing/2014/main" id="{4EE8AFED-9D4D-5747-B1B8-3E5261E3D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>
                <a:latin typeface="Franklin Gothic Book" panose="020B0503020102020204" pitchFamily="34" charset="0"/>
              </a:rPr>
              <a:t> = {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baseline="-25000">
                <a:latin typeface="Franklin Gothic Book" panose="020B0503020102020204" pitchFamily="34" charset="0"/>
              </a:rPr>
              <a:t>1</a:t>
            </a:r>
            <a:r>
              <a:rPr lang="en-US" altLang="en-US" sz="2000" b="0">
                <a:latin typeface="Franklin Gothic Book" panose="020B0503020102020204" pitchFamily="34" charset="0"/>
              </a:rPr>
              <a:t>=0,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2000" b="0">
                <a:latin typeface="Franklin Gothic Book" panose="020B0503020102020204" pitchFamily="34" charset="0"/>
              </a:rPr>
              <a:t>, . . .,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baseline="-25000">
                <a:latin typeface="Franklin Gothic Book" panose="020B0503020102020204" pitchFamily="34" charset="0"/>
              </a:rPr>
              <a:t>n</a:t>
            </a:r>
            <a:r>
              <a:rPr lang="en-US" altLang="en-US" sz="2000" b="0">
                <a:latin typeface="Franklin Gothic Book" panose="020B0503020102020204" pitchFamily="34" charset="0"/>
              </a:rPr>
              <a:t>}: an ordered set of n points on a line</a:t>
            </a:r>
          </a:p>
          <a:p>
            <a:r>
              <a:rPr lang="el-GR" altLang="en-US" sz="2000" b="0">
                <a:latin typeface="Franklin Gothic Book" panose="020B0503020102020204" pitchFamily="34" charset="0"/>
              </a:rPr>
              <a:t>Δ</a:t>
            </a:r>
            <a:r>
              <a:rPr lang="en-US" altLang="en-US" sz="2000" b="0">
                <a:latin typeface="Franklin Gothic Book" panose="020B0503020102020204" pitchFamily="34" charset="0"/>
              </a:rPr>
              <a:t>X = {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i="1" baseline="-25000">
                <a:latin typeface="Franklin Gothic Book" panose="020B0503020102020204" pitchFamily="34" charset="0"/>
              </a:rPr>
              <a:t>i</a:t>
            </a:r>
            <a:r>
              <a:rPr lang="en-US" altLang="en-US" sz="2000" b="0" baseline="-25000">
                <a:latin typeface="Franklin Gothic Book" panose="020B0503020102020204" pitchFamily="34" charset="0"/>
              </a:rPr>
              <a:t> </a:t>
            </a:r>
            <a:r>
              <a:rPr lang="en-US" altLang="en-US" sz="2000" b="0">
                <a:latin typeface="Franklin Gothic Book" panose="020B0503020102020204" pitchFamily="34" charset="0"/>
              </a:rPr>
              <a:t>-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i="1" baseline="-25000">
                <a:latin typeface="Franklin Gothic Book" panose="020B0503020102020204" pitchFamily="34" charset="0"/>
              </a:rPr>
              <a:t>j</a:t>
            </a:r>
            <a:r>
              <a:rPr lang="en-US" altLang="en-US" sz="2000" b="0">
                <a:latin typeface="Franklin Gothic Book" panose="020B0503020102020204" pitchFamily="34" charset="0"/>
              </a:rPr>
              <a:t>| 1</a:t>
            </a:r>
            <a:r>
              <a:rPr lang="en-US" altLang="en-US" sz="2000" b="0" i="1">
                <a:latin typeface="Franklin Gothic Book" panose="020B0503020102020204" pitchFamily="34" charset="0"/>
              </a:rPr>
              <a:t> ≤</a:t>
            </a:r>
            <a:r>
              <a:rPr lang="en-US" altLang="en-US" sz="2000" b="0">
                <a:latin typeface="Franklin Gothic Book" panose="020B0503020102020204" pitchFamily="34" charset="0"/>
              </a:rPr>
              <a:t> </a:t>
            </a:r>
            <a:r>
              <a:rPr lang="en-US" altLang="en-US" sz="2000" b="0" i="1">
                <a:latin typeface="Franklin Gothic Book" panose="020B0503020102020204" pitchFamily="34" charset="0"/>
              </a:rPr>
              <a:t>i</a:t>
            </a:r>
            <a:r>
              <a:rPr lang="en-US" altLang="en-US" sz="2000" b="0">
                <a:latin typeface="Franklin Gothic Book" panose="020B0503020102020204" pitchFamily="34" charset="0"/>
              </a:rPr>
              <a:t>&lt;</a:t>
            </a:r>
            <a:r>
              <a:rPr lang="en-US" altLang="en-US" sz="2000" b="0" i="1">
                <a:latin typeface="Franklin Gothic Book" panose="020B0503020102020204" pitchFamily="34" charset="0"/>
              </a:rPr>
              <a:t>j ≤ n</a:t>
            </a:r>
            <a:r>
              <a:rPr lang="en-US" altLang="en-US" sz="2000" b="0">
                <a:latin typeface="Franklin Gothic Book" panose="020B0503020102020204" pitchFamily="34" charset="0"/>
              </a:rPr>
              <a:t>}: a </a:t>
            </a:r>
            <a:r>
              <a:rPr lang="en-US" altLang="en-US" sz="2000" b="0">
                <a:solidFill>
                  <a:srgbClr val="FF0000"/>
                </a:solidFill>
                <a:latin typeface="Franklin Gothic Book" panose="020B0503020102020204" pitchFamily="34" charset="0"/>
              </a:rPr>
              <a:t>multiset</a:t>
            </a:r>
            <a:r>
              <a:rPr lang="en-US" altLang="en-US" sz="2000" b="0">
                <a:latin typeface="Franklin Gothic Book" panose="020B0503020102020204" pitchFamily="34" charset="0"/>
              </a:rPr>
              <a:t> of pairwise distances with ( </a:t>
            </a:r>
            <a:r>
              <a:rPr lang="en-US" altLang="en-US" sz="2000" b="0" baseline="30000">
                <a:latin typeface="Franklin Gothic Book" panose="020B0503020102020204" pitchFamily="34" charset="0"/>
              </a:rPr>
              <a:t>n</a:t>
            </a:r>
            <a:r>
              <a:rPr lang="en-US" altLang="en-US" sz="20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2000" b="0">
                <a:latin typeface="Franklin Gothic Book" panose="020B0503020102020204" pitchFamily="34" charset="0"/>
              </a:rPr>
              <a:t>) elements</a:t>
            </a:r>
          </a:p>
          <a:p>
            <a:endParaRPr lang="en-US" altLang="en-US" sz="2000" b="0">
              <a:latin typeface="Franklin Gothic Book" panose="020B0503020102020204" pitchFamily="34" charset="0"/>
            </a:endParaRPr>
          </a:p>
          <a:p>
            <a:r>
              <a:rPr lang="en-US" altLang="en-US" sz="2000" b="0">
                <a:latin typeface="Franklin Gothic Book" panose="020B0503020102020204" pitchFamily="34" charset="0"/>
              </a:rPr>
              <a:t>Partial Digest Problem (PDP)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600" b="0">
                <a:latin typeface="Franklin Gothic Book" panose="020B0503020102020204" pitchFamily="34" charset="0"/>
              </a:rPr>
              <a:t>Given a multiset </a:t>
            </a:r>
            <a:r>
              <a:rPr lang="en-US" altLang="en-US" sz="1600" b="0" i="1">
                <a:latin typeface="Franklin Gothic Book" panose="020B0503020102020204" pitchFamily="34" charset="0"/>
              </a:rPr>
              <a:t>L</a:t>
            </a:r>
            <a:r>
              <a:rPr lang="en-US" altLang="en-US" sz="1600" b="0">
                <a:latin typeface="Franklin Gothic Book" panose="020B0503020102020204" pitchFamily="34" charset="0"/>
              </a:rPr>
              <a:t> containing ( </a:t>
            </a:r>
            <a:r>
              <a:rPr lang="en-US" altLang="en-US" sz="1600" b="0" baseline="30000">
                <a:latin typeface="Franklin Gothic Book" panose="020B0503020102020204" pitchFamily="34" charset="0"/>
              </a:rPr>
              <a:t>n</a:t>
            </a:r>
            <a:r>
              <a:rPr lang="en-US" altLang="en-US" sz="16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1600" b="0">
                <a:latin typeface="Franklin Gothic Book" panose="020B0503020102020204" pitchFamily="34" charset="0"/>
              </a:rPr>
              <a:t>) integers of pairwise distances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600" b="0">
                <a:latin typeface="Franklin Gothic Book" panose="020B0503020102020204" pitchFamily="34" charset="0"/>
              </a:rPr>
              <a:t>Find a set </a:t>
            </a:r>
            <a:r>
              <a:rPr lang="en-US" altLang="en-US" sz="1600" b="0" i="1">
                <a:latin typeface="Franklin Gothic Book" panose="020B0503020102020204" pitchFamily="34" charset="0"/>
              </a:rPr>
              <a:t>X</a:t>
            </a:r>
            <a:r>
              <a:rPr lang="en-US" altLang="en-US" sz="1600" b="0">
                <a:latin typeface="Franklin Gothic Book" panose="020B0503020102020204" pitchFamily="34" charset="0"/>
              </a:rPr>
              <a:t> of n integers such than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X = </a:t>
            </a:r>
            <a:r>
              <a:rPr lang="en-US" altLang="en-US" sz="1600" b="0" i="1">
                <a:latin typeface="Franklin Gothic Book" panose="020B0503020102020204" pitchFamily="34" charset="0"/>
              </a:rPr>
              <a:t>L</a:t>
            </a:r>
          </a:p>
          <a:p>
            <a:r>
              <a:rPr lang="en-US" altLang="en-US" sz="2000" b="0">
                <a:latin typeface="Franklin Gothic Book" panose="020B0503020102020204" pitchFamily="34" charset="0"/>
              </a:rPr>
              <a:t>Also, called Turnpike problem, reconstructing highway from pairs of exits</a:t>
            </a:r>
          </a:p>
          <a:p>
            <a:endParaRPr lang="en-US" altLang="en-US" sz="2000" b="0">
              <a:latin typeface="Franklin Gothic Book" panose="020B0503020102020204" pitchFamily="34" charset="0"/>
            </a:endParaRPr>
          </a:p>
          <a:p>
            <a:r>
              <a:rPr lang="en-US" altLang="en-US" sz="2000" b="0">
                <a:latin typeface="Franklin Gothic Book" panose="020B0503020102020204" pitchFamily="34" charset="0"/>
              </a:rPr>
              <a:t>Unique set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>
                <a:latin typeface="Franklin Gothic Book" panose="020B0503020102020204" pitchFamily="34" charset="0"/>
              </a:rPr>
              <a:t> is not always possible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600" b="0">
                <a:latin typeface="Franklin Gothic Book" panose="020B0503020102020204" pitchFamily="34" charset="0"/>
              </a:rPr>
              <a:t>e.g., if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 =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(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+</a:t>
            </a:r>
            <a:r>
              <a:rPr lang="en-US" altLang="en-US" sz="1600" b="0" i="1">
                <a:latin typeface="Franklin Gothic Book" panose="020B0503020102020204" pitchFamily="34" charset="0"/>
              </a:rPr>
              <a:t>v</a:t>
            </a:r>
            <a:r>
              <a:rPr lang="en-US" altLang="en-US" sz="1600" b="0">
                <a:latin typeface="Franklin Gothic Book" panose="020B0503020102020204" pitchFamily="34" charset="0"/>
              </a:rPr>
              <a:t>), where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(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+</a:t>
            </a:r>
            <a:r>
              <a:rPr lang="en-US" altLang="en-US" sz="1600" b="0" i="1">
                <a:latin typeface="Franklin Gothic Book" panose="020B0503020102020204" pitchFamily="34" charset="0"/>
              </a:rPr>
              <a:t>v</a:t>
            </a:r>
            <a:r>
              <a:rPr lang="en-US" altLang="en-US" sz="1600" b="0">
                <a:latin typeface="Franklin Gothic Book" panose="020B0503020102020204" pitchFamily="34" charset="0"/>
              </a:rPr>
              <a:t>) = {a+v|a </a:t>
            </a:r>
            <a:r>
              <a:rPr lang="az-Cyrl-AZ" altLang="en-US" sz="1600" b="0">
                <a:latin typeface="Franklin Gothic Book" panose="020B0503020102020204" pitchFamily="34" charset="0"/>
              </a:rPr>
              <a:t>Є</a:t>
            </a:r>
            <a:r>
              <a:rPr lang="en-US" altLang="en-US" sz="1600" b="0">
                <a:latin typeface="Franklin Gothic Book" panose="020B0503020102020204" pitchFamily="34" charset="0"/>
              </a:rPr>
              <a:t> 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} (one set is a shift of another set)</a:t>
            </a:r>
          </a:p>
          <a:p>
            <a:pPr lvl="2">
              <a:buSzPct val="75000"/>
            </a:pPr>
            <a:r>
              <a:rPr lang="en-US" altLang="en-US" sz="1600" b="0">
                <a:latin typeface="Franklin Gothic Book" panose="020B0503020102020204" pitchFamily="34" charset="0"/>
              </a:rPr>
              <a:t>A = {0,2,4,7,10},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(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+100) = {100, 102, 104, 107, 110}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sz="1600" b="0">
                <a:latin typeface="Franklin Gothic Book" panose="020B0503020102020204" pitchFamily="34" charset="0"/>
              </a:rPr>
              <a:t>e.g., if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 =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(-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)</a:t>
            </a:r>
          </a:p>
          <a:p>
            <a:pPr lvl="2">
              <a:buSzPct val="75000"/>
            </a:pPr>
            <a:r>
              <a:rPr lang="en-US" altLang="en-US" sz="1600" b="0">
                <a:latin typeface="Franklin Gothic Book" panose="020B0503020102020204" pitchFamily="34" charset="0"/>
              </a:rPr>
              <a:t>A = {0,2,4,7,10}, </a:t>
            </a:r>
            <a:r>
              <a:rPr lang="el-GR" altLang="en-US" sz="1600" b="0">
                <a:latin typeface="Franklin Gothic Book" panose="020B0503020102020204" pitchFamily="34" charset="0"/>
              </a:rPr>
              <a:t>Δ</a:t>
            </a:r>
            <a:r>
              <a:rPr lang="en-US" altLang="en-US" sz="1600" b="0">
                <a:latin typeface="Franklin Gothic Book" panose="020B0503020102020204" pitchFamily="34" charset="0"/>
              </a:rPr>
              <a:t>(-</a:t>
            </a:r>
            <a:r>
              <a:rPr lang="en-US" altLang="en-US" sz="1600" b="0" i="1">
                <a:latin typeface="Franklin Gothic Book" panose="020B0503020102020204" pitchFamily="34" charset="0"/>
              </a:rPr>
              <a:t>A</a:t>
            </a:r>
            <a:r>
              <a:rPr lang="en-US" altLang="en-US" sz="1600" b="0">
                <a:latin typeface="Franklin Gothic Book" panose="020B0503020102020204" pitchFamily="34" charset="0"/>
              </a:rPr>
              <a:t>) = {-10, -7, -4, -2, 0}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>
                <a:latin typeface="Franklin Gothic Book" panose="020B0503020102020204" pitchFamily="34" charset="0"/>
              </a:rPr>
              <a:t>In general, U + V and U – V are homometric</a:t>
            </a:r>
          </a:p>
        </p:txBody>
      </p:sp>
      <p:sp>
        <p:nvSpPr>
          <p:cNvPr id="36866" name="TextBox 1">
            <a:extLst>
              <a:ext uri="{FF2B5EF4-FFF2-40B4-BE49-F238E27FC236}">
                <a16:creationId xmlns:a16="http://schemas.microsoft.com/office/drawing/2014/main" id="{53AD5EC9-5096-124B-B99D-30F68B77E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Partial Digest Problem (PDP)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3">
            <a:extLst>
              <a:ext uri="{FF2B5EF4-FFF2-40B4-BE49-F238E27FC236}">
                <a16:creationId xmlns:a16="http://schemas.microsoft.com/office/drawing/2014/main" id="{1BEC5788-0075-8145-97C0-F8FE77512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>
                <a:latin typeface="Franklin Gothic Book" panose="020B0503020102020204" pitchFamily="34" charset="0"/>
              </a:rPr>
              <a:t>Brute force approach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>
                <a:latin typeface="Franklin Gothic Book" panose="020B0503020102020204" pitchFamily="34" charset="0"/>
              </a:rPr>
              <a:t>Given </a:t>
            </a:r>
            <a:r>
              <a:rPr lang="en-US" altLang="en-US" b="0" i="1">
                <a:latin typeface="Franklin Gothic Book" panose="020B0503020102020204" pitchFamily="34" charset="0"/>
              </a:rPr>
              <a:t>L</a:t>
            </a:r>
            <a:r>
              <a:rPr lang="en-US" altLang="en-US" b="0">
                <a:latin typeface="Franklin Gothic Book" panose="020B0503020102020204" pitchFamily="34" charset="0"/>
              </a:rPr>
              <a:t>,</a:t>
            </a: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Compute </a:t>
            </a:r>
            <a:r>
              <a:rPr lang="el-GR" altLang="en-US" sz="2000" b="0">
                <a:latin typeface="Franklin Gothic Book" panose="020B0503020102020204" pitchFamily="34" charset="0"/>
              </a:rPr>
              <a:t>Δ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>
                <a:latin typeface="Franklin Gothic Book" panose="020B0503020102020204" pitchFamily="34" charset="0"/>
              </a:rPr>
              <a:t> for every possible combination of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Until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>
                <a:latin typeface="Franklin Gothic Book" panose="020B0503020102020204" pitchFamily="34" charset="0"/>
              </a:rPr>
              <a:t> is found such that </a:t>
            </a:r>
            <a:r>
              <a:rPr lang="el-GR" altLang="en-US" sz="2000" b="0">
                <a:latin typeface="Franklin Gothic Book" panose="020B0503020102020204" pitchFamily="34" charset="0"/>
              </a:rPr>
              <a:t>Δ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>
                <a:latin typeface="Franklin Gothic Book" panose="020B0503020102020204" pitchFamily="34" charset="0"/>
              </a:rPr>
              <a:t> = </a:t>
            </a:r>
            <a:r>
              <a:rPr lang="en-US" altLang="en-US" sz="2000" b="0" i="1">
                <a:latin typeface="Franklin Gothic Book" panose="020B0503020102020204" pitchFamily="34" charset="0"/>
              </a:rPr>
              <a:t>L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Need to examine (</a:t>
            </a:r>
            <a:r>
              <a:rPr lang="en-US" altLang="en-US" sz="2000" b="0" i="1" baseline="30000">
                <a:latin typeface="Franklin Gothic Book" panose="020B0503020102020204" pitchFamily="34" charset="0"/>
              </a:rPr>
              <a:t>M-1</a:t>
            </a:r>
            <a:r>
              <a:rPr lang="en-US" altLang="en-US" sz="2000" b="0" i="1">
                <a:latin typeface="Franklin Gothic Book" panose="020B0503020102020204" pitchFamily="34" charset="0"/>
              </a:rPr>
              <a:t> </a:t>
            </a:r>
            <a:r>
              <a:rPr lang="en-US" altLang="en-US" sz="2000" b="0" i="1" baseline="-25000">
                <a:latin typeface="Franklin Gothic Book" panose="020B0503020102020204" pitchFamily="34" charset="0"/>
              </a:rPr>
              <a:t>n-2</a:t>
            </a:r>
            <a:r>
              <a:rPr lang="en-US" altLang="en-US" sz="2000" b="0">
                <a:latin typeface="Franklin Gothic Book" panose="020B0503020102020204" pitchFamily="34" charset="0"/>
              </a:rPr>
              <a:t>) different set of positions</a:t>
            </a: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=&gt; </a:t>
            </a:r>
            <a:r>
              <a:rPr lang="en-US" altLang="en-US" sz="2000" b="0" i="1">
                <a:latin typeface="Franklin Gothic Book" panose="020B0503020102020204" pitchFamily="34" charset="0"/>
              </a:rPr>
              <a:t>O</a:t>
            </a:r>
            <a:r>
              <a:rPr lang="en-US" altLang="en-US" sz="2000" b="0">
                <a:latin typeface="Franklin Gothic Book" panose="020B0503020102020204" pitchFamily="34" charset="0"/>
              </a:rPr>
              <a:t>(</a:t>
            </a:r>
            <a:r>
              <a:rPr lang="en-US" altLang="en-US" sz="2000" b="0" i="1">
                <a:latin typeface="Franklin Gothic Book" panose="020B0503020102020204" pitchFamily="34" charset="0"/>
              </a:rPr>
              <a:t>M</a:t>
            </a:r>
            <a:r>
              <a:rPr lang="en-US" altLang="en-US" sz="2000" b="0" i="1" baseline="30000">
                <a:latin typeface="Franklin Gothic Book" panose="020B0503020102020204" pitchFamily="34" charset="0"/>
              </a:rPr>
              <a:t>n-2</a:t>
            </a:r>
            <a:r>
              <a:rPr lang="en-US" altLang="en-US" sz="2000" b="0">
                <a:latin typeface="Franklin Gothic Book" panose="020B0503020102020204" pitchFamily="34" charset="0"/>
              </a:rPr>
              <a:t>) 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</p:txBody>
      </p:sp>
      <p:sp>
        <p:nvSpPr>
          <p:cNvPr id="38914" name="TextBox 1">
            <a:extLst>
              <a:ext uri="{FF2B5EF4-FFF2-40B4-BE49-F238E27FC236}">
                <a16:creationId xmlns:a16="http://schemas.microsoft.com/office/drawing/2014/main" id="{BAA551DE-A45D-034B-8909-E022A3CF0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PDP (1)</a:t>
            </a:r>
          </a:p>
        </p:txBody>
      </p:sp>
      <p:sp>
        <p:nvSpPr>
          <p:cNvPr id="38915" name="TextBox 3">
            <a:extLst>
              <a:ext uri="{FF2B5EF4-FFF2-40B4-BE49-F238E27FC236}">
                <a16:creationId xmlns:a16="http://schemas.microsoft.com/office/drawing/2014/main" id="{0E279524-F1CF-354F-8E36-A81B411BC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895600"/>
            <a:ext cx="50419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BruteForcePDP(</a:t>
            </a:r>
            <a:r>
              <a:rPr lang="en-US" altLang="en-US" sz="1800" b="0" i="1">
                <a:latin typeface="Franklin Gothic Book" panose="020B0503020102020204" pitchFamily="34" charset="0"/>
              </a:rPr>
              <a:t>L, n</a:t>
            </a:r>
            <a:r>
              <a:rPr lang="en-US" altLang="en-US" sz="1800" b="0">
                <a:latin typeface="Franklin Gothic Book" panose="020B0503020102020204" pitchFamily="34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   </a:t>
            </a:r>
            <a:r>
              <a:rPr lang="en-US" altLang="en-US" sz="1800" b="0" i="1">
                <a:latin typeface="Franklin Gothic Book" panose="020B0503020102020204" pitchFamily="34" charset="0"/>
              </a:rPr>
              <a:t>M</a:t>
            </a:r>
            <a:r>
              <a:rPr lang="en-US" altLang="en-US" sz="1800" b="0">
                <a:latin typeface="Franklin Gothic Book" panose="020B0503020102020204" pitchFamily="34" charset="0"/>
              </a:rPr>
              <a:t> </a:t>
            </a:r>
            <a:r>
              <a:rPr lang="en-US" altLang="en-US" sz="1800" b="0" i="1">
                <a:latin typeface="Franklin Gothic Book" panose="020B0503020102020204" pitchFamily="34" charset="0"/>
              </a:rPr>
              <a:t>←</a:t>
            </a:r>
            <a:r>
              <a:rPr lang="en-US" altLang="en-US" sz="1800" b="0">
                <a:latin typeface="Franklin Gothic Book" panose="020B0503020102020204" pitchFamily="34" charset="0"/>
              </a:rPr>
              <a:t> max(</a:t>
            </a:r>
            <a:r>
              <a:rPr lang="en-US" altLang="en-US" sz="1800" b="0" i="1">
                <a:latin typeface="Franklin Gothic Book" panose="020B0503020102020204" pitchFamily="34" charset="0"/>
              </a:rPr>
              <a:t>L</a:t>
            </a:r>
            <a:r>
              <a:rPr lang="en-US" altLang="en-US" sz="1800" b="0">
                <a:latin typeface="Franklin Gothic Book" panose="020B0503020102020204" pitchFamily="34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   for every set of </a:t>
            </a:r>
            <a:r>
              <a:rPr lang="en-US" altLang="en-US" sz="1800" b="0" i="1">
                <a:latin typeface="Franklin Gothic Book" panose="020B0503020102020204" pitchFamily="34" charset="0"/>
              </a:rPr>
              <a:t>n</a:t>
            </a:r>
            <a:r>
              <a:rPr lang="en-US" altLang="en-US" sz="1800" b="0">
                <a:latin typeface="Franklin Gothic Book" panose="020B0503020102020204" pitchFamily="34" charset="0"/>
              </a:rPr>
              <a:t>-2 integers 0&lt;</a:t>
            </a:r>
            <a:r>
              <a:rPr lang="en-US" altLang="en-US" sz="1800" b="0" i="1">
                <a:latin typeface="Franklin Gothic Book" panose="020B0503020102020204" pitchFamily="34" charset="0"/>
              </a:rPr>
              <a:t> 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 . . . &lt;x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n-1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&lt;M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X ← {0 </a:t>
            </a:r>
            <a:r>
              <a:rPr lang="en-US" altLang="en-US" sz="1800" b="0">
                <a:latin typeface="Franklin Gothic Book" panose="020B0503020102020204" pitchFamily="34" charset="0"/>
              </a:rPr>
              <a:t>&lt;</a:t>
            </a:r>
            <a:r>
              <a:rPr lang="en-US" altLang="en-US" sz="1800" b="0" i="1">
                <a:latin typeface="Franklin Gothic Book" panose="020B0503020102020204" pitchFamily="34" charset="0"/>
              </a:rPr>
              <a:t> 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 . . . &lt;x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n-1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&lt;M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</a:t>
            </a:r>
            <a:r>
              <a:rPr lang="en-US" altLang="en-US" sz="1800" b="0">
                <a:latin typeface="Franklin Gothic Book" panose="020B0503020102020204" pitchFamily="34" charset="0"/>
              </a:rPr>
              <a:t>Form</a:t>
            </a:r>
            <a:r>
              <a:rPr lang="en-US" altLang="en-US" sz="1800" b="0" i="1">
                <a:latin typeface="Franklin Gothic Book" panose="020B0503020102020204" pitchFamily="34" charset="0"/>
              </a:rPr>
              <a:t> </a:t>
            </a:r>
            <a:r>
              <a:rPr lang="el-GR" altLang="en-US" sz="1800" b="0" i="1">
                <a:latin typeface="Franklin Gothic Book" panose="020B0503020102020204" pitchFamily="34" charset="0"/>
              </a:rPr>
              <a:t>Δ</a:t>
            </a:r>
            <a:r>
              <a:rPr lang="en-US" altLang="en-US" sz="1800" b="0" i="1">
                <a:latin typeface="Franklin Gothic Book" panose="020B0503020102020204" pitchFamily="34" charset="0"/>
              </a:rPr>
              <a:t>X</a:t>
            </a:r>
            <a:r>
              <a:rPr lang="en-US" altLang="en-US" sz="1800" b="0">
                <a:latin typeface="Franklin Gothic Book" panose="020B0503020102020204" pitchFamily="34" charset="0"/>
              </a:rPr>
              <a:t>  from </a:t>
            </a:r>
            <a:r>
              <a:rPr lang="en-US" altLang="en-US" sz="1800" b="0" i="1">
                <a:latin typeface="Franklin Gothic Book" panose="020B0503020102020204" pitchFamily="34" charset="0"/>
              </a:rPr>
              <a:t>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if </a:t>
            </a:r>
            <a:r>
              <a:rPr lang="el-GR" altLang="en-US" sz="1800" b="0">
                <a:latin typeface="Franklin Gothic Book" panose="020B0503020102020204" pitchFamily="34" charset="0"/>
              </a:rPr>
              <a:t>Δ</a:t>
            </a:r>
            <a:r>
              <a:rPr lang="en-US" altLang="en-US" sz="1800" b="0">
                <a:latin typeface="Franklin Gothic Book" panose="020B0503020102020204" pitchFamily="34" charset="0"/>
              </a:rPr>
              <a:t>X = 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    return 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return </a:t>
            </a:r>
            <a:r>
              <a:rPr lang="ja-JP" altLang="en-US" sz="1800" b="0" i="1">
                <a:latin typeface="Franklin Gothic Book" panose="020B0503020102020204" pitchFamily="34" charset="0"/>
              </a:rPr>
              <a:t>“</a:t>
            </a:r>
            <a:r>
              <a:rPr lang="en-US" altLang="ja-JP" sz="1800" b="0" i="1">
                <a:latin typeface="Franklin Gothic Book" panose="020B0503020102020204" pitchFamily="34" charset="0"/>
              </a:rPr>
              <a:t>No Solution</a:t>
            </a:r>
            <a:r>
              <a:rPr lang="ja-JP" altLang="en-US" sz="1800" b="0" i="1">
                <a:latin typeface="Franklin Gothic Book" panose="020B0503020102020204" pitchFamily="34" charset="0"/>
              </a:rPr>
              <a:t>”</a:t>
            </a:r>
            <a:r>
              <a:rPr lang="en-US" altLang="ja-JP" sz="1800" b="0" baseline="-25000">
                <a:latin typeface="Franklin Gothic Book" panose="020B0503020102020204" pitchFamily="34" charset="0"/>
              </a:rPr>
              <a:t> </a:t>
            </a:r>
            <a:endParaRPr lang="en-US" altLang="en-US" sz="1800" b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>
            <a:extLst>
              <a:ext uri="{FF2B5EF4-FFF2-40B4-BE49-F238E27FC236}">
                <a16:creationId xmlns:a16="http://schemas.microsoft.com/office/drawing/2014/main" id="{EF5F43F5-BEB2-9D4C-95FE-CD58D3E0A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b="0">
                <a:latin typeface="Franklin Gothic Book" panose="020B0503020102020204" pitchFamily="34" charset="0"/>
              </a:rPr>
              <a:t>Brute force approach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r>
              <a:rPr lang="en-US" altLang="en-US" b="0">
                <a:latin typeface="Franklin Gothic Book" panose="020B0503020102020204" pitchFamily="34" charset="0"/>
              </a:rPr>
              <a:t>Given L,</a:t>
            </a: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Identical to BruteForcePDP() except that </a:t>
            </a:r>
            <a:r>
              <a:rPr lang="en-US" altLang="en-US" sz="2000" b="0" i="1">
                <a:latin typeface="Franklin Gothic Book" panose="020B0503020102020204" pitchFamily="34" charset="0"/>
              </a:rPr>
              <a:t>x</a:t>
            </a:r>
            <a:r>
              <a:rPr lang="en-US" altLang="en-US" sz="2000" b="0" i="1" baseline="-25000">
                <a:latin typeface="Franklin Gothic Book" panose="020B0503020102020204" pitchFamily="34" charset="0"/>
              </a:rPr>
              <a:t>i</a:t>
            </a:r>
            <a:r>
              <a:rPr lang="en-US" altLang="en-US" sz="2000" b="0" i="1">
                <a:latin typeface="Franklin Gothic Book" panose="020B0503020102020204" pitchFamily="34" charset="0"/>
              </a:rPr>
              <a:t> </a:t>
            </a:r>
            <a:r>
              <a:rPr lang="az-Cyrl-AZ" altLang="en-US" sz="2000" b="0" i="1">
                <a:latin typeface="Franklin Gothic Book" panose="020B0503020102020204" pitchFamily="34" charset="0"/>
              </a:rPr>
              <a:t>Є</a:t>
            </a:r>
            <a:r>
              <a:rPr lang="en-US" altLang="en-US" sz="2000" b="0" i="1">
                <a:latin typeface="Franklin Gothic Book" panose="020B0503020102020204" pitchFamily="34" charset="0"/>
              </a:rPr>
              <a:t> L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Need to examine (</a:t>
            </a:r>
            <a:r>
              <a:rPr lang="en-US" altLang="en-US" sz="2000" b="0" baseline="30000">
                <a:latin typeface="Franklin Gothic Book" panose="020B0503020102020204" pitchFamily="34" charset="0"/>
              </a:rPr>
              <a:t>|</a:t>
            </a:r>
            <a:r>
              <a:rPr lang="en-US" altLang="en-US" sz="2000" b="0" i="1" baseline="30000">
                <a:latin typeface="Franklin Gothic Book" panose="020B0503020102020204" pitchFamily="34" charset="0"/>
              </a:rPr>
              <a:t>L</a:t>
            </a:r>
            <a:r>
              <a:rPr lang="en-US" altLang="en-US" sz="2000" b="0" baseline="30000">
                <a:latin typeface="Franklin Gothic Book" panose="020B0503020102020204" pitchFamily="34" charset="0"/>
              </a:rPr>
              <a:t>|</a:t>
            </a:r>
            <a:r>
              <a:rPr lang="en-US" altLang="en-US" sz="2000" b="0" i="1" baseline="-25000">
                <a:latin typeface="Franklin Gothic Book" panose="020B0503020102020204" pitchFamily="34" charset="0"/>
              </a:rPr>
              <a:t>n-2</a:t>
            </a:r>
            <a:r>
              <a:rPr lang="en-US" altLang="en-US" sz="2000" b="0">
                <a:latin typeface="Franklin Gothic Book" panose="020B0503020102020204" pitchFamily="34" charset="0"/>
              </a:rPr>
              <a:t>) different set of positions</a:t>
            </a:r>
          </a:p>
          <a:p>
            <a:pPr lvl="2">
              <a:buSzPct val="75000"/>
            </a:pPr>
            <a:r>
              <a:rPr lang="en-US" altLang="en-US" sz="2000" b="0">
                <a:latin typeface="Franklin Gothic Book" panose="020B0503020102020204" pitchFamily="34" charset="0"/>
              </a:rPr>
              <a:t>=&gt; </a:t>
            </a:r>
            <a:r>
              <a:rPr lang="en-US" altLang="en-US" sz="2000" b="0" i="1">
                <a:latin typeface="Franklin Gothic Book" panose="020B0503020102020204" pitchFamily="34" charset="0"/>
              </a:rPr>
              <a:t>O</a:t>
            </a:r>
            <a:r>
              <a:rPr lang="en-US" altLang="en-US" sz="2000" b="0">
                <a:latin typeface="Franklin Gothic Book" panose="020B0503020102020204" pitchFamily="34" charset="0"/>
              </a:rPr>
              <a:t>(</a:t>
            </a:r>
            <a:r>
              <a:rPr lang="en-US" altLang="en-US" sz="2000" b="0" i="1">
                <a:latin typeface="Franklin Gothic Book" panose="020B0503020102020204" pitchFamily="34" charset="0"/>
              </a:rPr>
              <a:t>M</a:t>
            </a:r>
            <a:r>
              <a:rPr lang="en-US" altLang="en-US" sz="2000" b="0" i="1" baseline="30000">
                <a:latin typeface="Franklin Gothic Book" panose="020B0503020102020204" pitchFamily="34" charset="0"/>
              </a:rPr>
              <a:t>2n-4</a:t>
            </a:r>
            <a:r>
              <a:rPr lang="en-US" altLang="en-US" sz="2000" b="0">
                <a:latin typeface="Franklin Gothic Book" panose="020B0503020102020204" pitchFamily="34" charset="0"/>
              </a:rPr>
              <a:t>) 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</a:pPr>
            <a:endParaRPr lang="en-US" altLang="en-US" b="0">
              <a:latin typeface="Franklin Gothic Book" panose="020B0503020102020204" pitchFamily="34" charset="0"/>
            </a:endParaRPr>
          </a:p>
        </p:txBody>
      </p:sp>
      <p:sp>
        <p:nvSpPr>
          <p:cNvPr id="40962" name="TextBox 1">
            <a:extLst>
              <a:ext uri="{FF2B5EF4-FFF2-40B4-BE49-F238E27FC236}">
                <a16:creationId xmlns:a16="http://schemas.microsoft.com/office/drawing/2014/main" id="{25BAA69E-B2C2-2641-9EA8-67077FD95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PDP (2)</a:t>
            </a:r>
          </a:p>
        </p:txBody>
      </p:sp>
      <p:sp>
        <p:nvSpPr>
          <p:cNvPr id="40963" name="TextBox 3">
            <a:extLst>
              <a:ext uri="{FF2B5EF4-FFF2-40B4-BE49-F238E27FC236}">
                <a16:creationId xmlns:a16="http://schemas.microsoft.com/office/drawing/2014/main" id="{F7A441EA-B307-7644-99D5-1EAA3403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590800"/>
            <a:ext cx="61722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BruteForcePDP(L, n)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   M &lt;- max(L)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Franklin Gothic Book" panose="020B0503020102020204" pitchFamily="34" charset="0"/>
              </a:rPr>
              <a:t>   for every set of n-2 integers 0&lt;</a:t>
            </a:r>
            <a:r>
              <a:rPr lang="en-US" altLang="en-US" sz="1800" b="0" i="1">
                <a:latin typeface="Franklin Gothic Book" panose="020B0503020102020204" pitchFamily="34" charset="0"/>
              </a:rPr>
              <a:t> 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 . . . &lt;x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n-1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&lt;M </a:t>
            </a:r>
            <a:r>
              <a:rPr lang="en-US" altLang="en-US" sz="1800" b="0">
                <a:solidFill>
                  <a:srgbClr val="FF0000"/>
                </a:solidFill>
                <a:latin typeface="Franklin Gothic Book" panose="020B0503020102020204" pitchFamily="34" charset="0"/>
              </a:rPr>
              <a:t>from</a:t>
            </a:r>
            <a:r>
              <a:rPr lang="en-US" altLang="en-US" sz="1800" b="0" i="1">
                <a:solidFill>
                  <a:srgbClr val="FF0000"/>
                </a:solidFill>
                <a:latin typeface="Franklin Gothic Book" panose="020B0503020102020204" pitchFamily="34" charset="0"/>
              </a:rPr>
              <a:t> 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X ← {0, </a:t>
            </a:r>
            <a:r>
              <a:rPr lang="en-US" altLang="en-US" sz="1800" b="0">
                <a:latin typeface="Franklin Gothic Book" panose="020B0503020102020204" pitchFamily="34" charset="0"/>
              </a:rPr>
              <a:t>&lt;</a:t>
            </a:r>
            <a:r>
              <a:rPr lang="en-US" altLang="en-US" sz="1800" b="0" i="1">
                <a:latin typeface="Franklin Gothic Book" panose="020B0503020102020204" pitchFamily="34" charset="0"/>
              </a:rPr>
              <a:t> 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2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 . . . &lt;x</a:t>
            </a:r>
            <a:r>
              <a:rPr lang="en-US" altLang="en-US" sz="1800" b="0" baseline="-25000">
                <a:latin typeface="Franklin Gothic Book" panose="020B0503020102020204" pitchFamily="34" charset="0"/>
              </a:rPr>
              <a:t>n-1</a:t>
            </a:r>
            <a:r>
              <a:rPr lang="en-US" altLang="en-US" sz="1800" b="0" i="1">
                <a:latin typeface="Franklin Gothic Book" panose="020B0503020102020204" pitchFamily="34" charset="0"/>
              </a:rPr>
              <a:t> &lt;M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</a:t>
            </a:r>
            <a:r>
              <a:rPr lang="en-US" altLang="en-US" sz="1800" b="0">
                <a:latin typeface="Franklin Gothic Book" panose="020B0503020102020204" pitchFamily="34" charset="0"/>
              </a:rPr>
              <a:t>Form</a:t>
            </a:r>
            <a:r>
              <a:rPr lang="en-US" altLang="en-US" sz="1800" b="0" i="1">
                <a:latin typeface="Franklin Gothic Book" panose="020B0503020102020204" pitchFamily="34" charset="0"/>
              </a:rPr>
              <a:t> </a:t>
            </a:r>
            <a:r>
              <a:rPr lang="el-GR" altLang="en-US" sz="1800" b="0">
                <a:latin typeface="Franklin Gothic Book" panose="020B0503020102020204" pitchFamily="34" charset="0"/>
              </a:rPr>
              <a:t>Δ</a:t>
            </a:r>
            <a:r>
              <a:rPr lang="en-US" altLang="en-US" sz="1800" b="0">
                <a:latin typeface="Franklin Gothic Book" panose="020B0503020102020204" pitchFamily="34" charset="0"/>
              </a:rPr>
              <a:t>X  from 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if </a:t>
            </a:r>
            <a:r>
              <a:rPr lang="el-GR" altLang="en-US" sz="1800" b="0">
                <a:latin typeface="Franklin Gothic Book" panose="020B0503020102020204" pitchFamily="34" charset="0"/>
              </a:rPr>
              <a:t>Δ</a:t>
            </a:r>
            <a:r>
              <a:rPr lang="en-US" altLang="en-US" sz="1800" b="0">
                <a:latin typeface="Franklin Gothic Book" panose="020B0503020102020204" pitchFamily="34" charset="0"/>
              </a:rPr>
              <a:t>X = 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        return 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Franklin Gothic Book" panose="020B0503020102020204" pitchFamily="34" charset="0"/>
              </a:rPr>
              <a:t>   return </a:t>
            </a:r>
            <a:r>
              <a:rPr lang="ja-JP" altLang="en-US" sz="1800" b="0" i="1">
                <a:latin typeface="Franklin Gothic Book" panose="020B0503020102020204" pitchFamily="34" charset="0"/>
              </a:rPr>
              <a:t>“</a:t>
            </a:r>
            <a:r>
              <a:rPr lang="en-US" altLang="ja-JP" sz="1800" b="0" i="1">
                <a:latin typeface="Franklin Gothic Book" panose="020B0503020102020204" pitchFamily="34" charset="0"/>
              </a:rPr>
              <a:t>No Solution</a:t>
            </a:r>
            <a:r>
              <a:rPr lang="ja-JP" altLang="en-US" sz="1800" b="0" i="1">
                <a:latin typeface="Franklin Gothic Book" panose="020B0503020102020204" pitchFamily="34" charset="0"/>
              </a:rPr>
              <a:t>”</a:t>
            </a:r>
            <a:r>
              <a:rPr lang="en-US" altLang="ja-JP" sz="1800" b="0" baseline="-25000">
                <a:latin typeface="Franklin Gothic Book" panose="020B0503020102020204" pitchFamily="34" charset="0"/>
              </a:rPr>
              <a:t> </a:t>
            </a:r>
            <a:endParaRPr lang="en-US" altLang="en-US" sz="1800" b="0">
              <a:latin typeface="Franklin Gothic Book" panose="020B0503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3">
            <a:extLst>
              <a:ext uri="{FF2B5EF4-FFF2-40B4-BE49-F238E27FC236}">
                <a16:creationId xmlns:a16="http://schemas.microsoft.com/office/drawing/2014/main" id="{1A0AFEE0-7E62-E24A-8594-9AA12BE6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19200"/>
            <a:ext cx="8418513" cy="4800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0100" indent="-34290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2573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2400" b="0" dirty="0">
                <a:latin typeface="Franklin Gothic Book" panose="020B0503020102020204" pitchFamily="34" charset="0"/>
              </a:rPr>
              <a:t>Steven </a:t>
            </a:r>
            <a:r>
              <a:rPr lang="en-US" altLang="en-US" sz="2400" b="0" dirty="0" err="1">
                <a:latin typeface="Franklin Gothic Book" panose="020B0503020102020204" pitchFamily="34" charset="0"/>
              </a:rPr>
              <a:t>Skiena</a:t>
            </a:r>
            <a:r>
              <a:rPr lang="en-US" altLang="en-US" sz="2400" b="0" dirty="0">
                <a:latin typeface="Franklin Gothic Book" panose="020B0503020102020204" pitchFamily="34" charset="0"/>
              </a:rPr>
              <a:t>, 1990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Largest in </a:t>
            </a:r>
            <a:r>
              <a:rPr lang="en-US" altLang="en-US" sz="1800" b="0" i="1" dirty="0">
                <a:latin typeface="Franklin Gothic Book" panose="020B0503020102020204" pitchFamily="34" charset="0"/>
              </a:rPr>
              <a:t>L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 determines the two outermost points in </a:t>
            </a:r>
            <a:r>
              <a:rPr lang="en-US" altLang="en-US" sz="1800" b="0" i="1" dirty="0">
                <a:latin typeface="Franklin Gothic Book" panose="020B0503020102020204" pitchFamily="34" charset="0"/>
              </a:rPr>
              <a:t>X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e.g. L = {2,2,3,3,4,5,6,7,8,10}</a:t>
            </a:r>
          </a:p>
          <a:p>
            <a:pPr lvl="2">
              <a:buSzPct val="75000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Pick 10: </a:t>
            </a:r>
          </a:p>
          <a:p>
            <a:pPr lvl="2">
              <a:buSzPct val="75000"/>
              <a:buFontTx/>
              <a:buNone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	X={0,10}</a:t>
            </a:r>
          </a:p>
          <a:p>
            <a:pPr lvl="2">
              <a:buSzPct val="75000"/>
              <a:buFontTx/>
              <a:buNone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	L = {2,2,3,3,4,5,6,7,8)</a:t>
            </a:r>
          </a:p>
          <a:p>
            <a:pPr lvl="2">
              <a:buSzPct val="75000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Pick 8: X={0,2,10}  or X={0,8,10}.     </a:t>
            </a:r>
            <a:r>
              <a:rPr lang="en-US" altLang="en-US" sz="1800" b="0" dirty="0">
                <a:solidFill>
                  <a:srgbClr val="FF0000"/>
                </a:solidFill>
                <a:latin typeface="Franklin Gothic Book" panose="020B0503020102020204" pitchFamily="34" charset="0"/>
              </a:rPr>
              <a:t>X={0,3,8,10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} </a:t>
            </a:r>
            <a:r>
              <a:rPr lang="en-US" altLang="en-US" sz="1800" b="0" strike="sngStrike" dirty="0">
                <a:latin typeface="Franklin Gothic Book" panose="020B0503020102020204" pitchFamily="34" charset="0"/>
              </a:rPr>
              <a:t>X={0,7,8,10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}</a:t>
            </a:r>
          </a:p>
          <a:p>
            <a:pPr lvl="3">
              <a:buClr>
                <a:schemeClr val="accent1"/>
              </a:buClr>
              <a:buSzPct val="75000"/>
              <a:buFontTx/>
              <a:buNone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L = {2,3,3,4,5,6,7}</a:t>
            </a:r>
          </a:p>
          <a:p>
            <a:pPr lvl="2">
              <a:buSzPct val="75000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Pick 7: x</a:t>
            </a:r>
            <a:r>
              <a:rPr lang="en-US" altLang="en-US" sz="1800" b="0" baseline="-25000" dirty="0">
                <a:latin typeface="Franklin Gothic Book" panose="020B0503020102020204" pitchFamily="34" charset="0"/>
              </a:rPr>
              <a:t>3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=3 should include x</a:t>
            </a:r>
            <a:r>
              <a:rPr lang="en-US" altLang="en-US" sz="1800" b="0" baseline="-25000" dirty="0">
                <a:latin typeface="Franklin Gothic Book" panose="020B0503020102020204" pitchFamily="34" charset="0"/>
              </a:rPr>
              <a:t>3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-x</a:t>
            </a:r>
            <a:r>
              <a:rPr lang="en-US" altLang="en-US" sz="1800" b="0" baseline="-25000" dirty="0">
                <a:latin typeface="Franklin Gothic Book" panose="020B0503020102020204" pitchFamily="34" charset="0"/>
              </a:rPr>
              <a:t>2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=1</a:t>
            </a:r>
          </a:p>
          <a:p>
            <a:pPr lvl="2">
              <a:buSzPct val="75000"/>
              <a:buFont typeface="Wingdings" pitchFamily="2" charset="2"/>
              <a:buNone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	</a:t>
            </a:r>
            <a:r>
              <a:rPr lang="en-US" altLang="en-US" sz="1800" b="0" dirty="0">
                <a:solidFill>
                  <a:srgbClr val="FF0000"/>
                </a:solidFill>
                <a:latin typeface="Franklin Gothic Book" panose="020B0503020102020204" pitchFamily="34" charset="0"/>
              </a:rPr>
              <a:t>X={0,2,7,10}</a:t>
            </a:r>
            <a:r>
              <a:rPr lang="en-US" altLang="en-US" sz="1800" b="0" dirty="0">
                <a:latin typeface="Franklin Gothic Book" panose="020B0503020102020204" pitchFamily="34" charset="0"/>
              </a:rPr>
              <a:t>		</a:t>
            </a:r>
            <a:r>
              <a:rPr lang="en-US" altLang="en-US" sz="1800" b="0" strike="sngStrike" dirty="0">
                <a:latin typeface="Franklin Gothic Book" panose="020B0503020102020204" pitchFamily="34" charset="0"/>
              </a:rPr>
              <a:t>X={0,2,3,10}</a:t>
            </a:r>
          </a:p>
          <a:p>
            <a:pPr lvl="2">
              <a:buSzPct val="75000"/>
              <a:buFontTx/>
              <a:buNone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	L = {2,3,4,6}</a:t>
            </a:r>
          </a:p>
          <a:p>
            <a:pPr lvl="2">
              <a:buSzPct val="75000"/>
              <a:defRPr/>
            </a:pPr>
            <a:r>
              <a:rPr lang="en-US" altLang="en-US" sz="1800" b="0" dirty="0">
                <a:latin typeface="Franklin Gothic Book" panose="020B0503020102020204" pitchFamily="34" charset="0"/>
              </a:rPr>
              <a:t>. . . </a:t>
            </a:r>
          </a:p>
          <a:p>
            <a:pPr lvl="1">
              <a:buClr>
                <a:schemeClr val="accent1"/>
              </a:buClr>
              <a:buSzPct val="75000"/>
              <a:buFont typeface="Wingdings" pitchFamily="2" charset="2"/>
              <a:buChar char="n"/>
              <a:defRPr/>
            </a:pPr>
            <a:endParaRPr lang="en-US" altLang="en-US" b="0" dirty="0">
              <a:latin typeface="Franklin Gothic Book" panose="020B0503020102020204" pitchFamily="34" charset="0"/>
            </a:endParaRPr>
          </a:p>
        </p:txBody>
      </p:sp>
      <p:sp>
        <p:nvSpPr>
          <p:cNvPr id="43010" name="TextBox 1">
            <a:extLst>
              <a:ext uri="{FF2B5EF4-FFF2-40B4-BE49-F238E27FC236}">
                <a16:creationId xmlns:a16="http://schemas.microsoft.com/office/drawing/2014/main" id="{17CC28A0-15BE-B84D-93C3-013F087294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7162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>
                <a:latin typeface="Franklin Gothic Book" panose="020B0503020102020204" pitchFamily="34" charset="0"/>
              </a:rPr>
              <a:t>PDP (3)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Box 3">
            <a:extLst>
              <a:ext uri="{FF2B5EF4-FFF2-40B4-BE49-F238E27FC236}">
                <a16:creationId xmlns:a16="http://schemas.microsoft.com/office/drawing/2014/main" id="{FEA9BE0F-CA6B-444F-A31C-77DFB310B0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00200"/>
            <a:ext cx="2667000" cy="3429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PartialDigest(</a:t>
            </a:r>
            <a:r>
              <a:rPr lang="en-US" altLang="en-US" sz="1800" b="0" i="1">
                <a:latin typeface="Times" pitchFamily="2" charset="0"/>
              </a:rPr>
              <a:t>L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</a:t>
            </a:r>
            <a:r>
              <a:rPr lang="en-US" altLang="en-US" sz="1800" b="0" i="1">
                <a:latin typeface="Times" pitchFamily="2" charset="0"/>
              </a:rPr>
              <a:t>width ← max(L)</a:t>
            </a:r>
            <a:r>
              <a:rPr lang="en-US" altLang="en-US" sz="1800" b="0">
                <a:latin typeface="Times" pitchFamily="2" charset="0"/>
              </a:rPr>
              <a:t>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DELETE(</a:t>
            </a:r>
            <a:r>
              <a:rPr lang="en-US" altLang="en-US" sz="1800" b="0" i="1">
                <a:latin typeface="Times" pitchFamily="2" charset="0"/>
              </a:rPr>
              <a:t>width, L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 </a:t>
            </a:r>
            <a:r>
              <a:rPr lang="en-US" altLang="en-US" sz="1800" b="0" i="1">
                <a:latin typeface="Times" pitchFamily="2" charset="0"/>
              </a:rPr>
              <a:t>← </a:t>
            </a:r>
            <a:r>
              <a:rPr lang="en-US" altLang="en-US" sz="1800" b="0">
                <a:latin typeface="Times" pitchFamily="2" charset="0"/>
              </a:rPr>
              <a:t>{0</a:t>
            </a:r>
            <a:r>
              <a:rPr lang="en-US" altLang="en-US" sz="1800" b="0" i="1">
                <a:latin typeface="Times" pitchFamily="2" charset="0"/>
              </a:rPr>
              <a:t>, width</a:t>
            </a:r>
            <a:r>
              <a:rPr lang="en-US" altLang="en-US" sz="1800" b="0">
                <a:latin typeface="Times" pitchFamily="2" charset="0"/>
              </a:rPr>
              <a:t>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 i="1">
                <a:latin typeface="Times" pitchFamily="2" charset="0"/>
              </a:rPr>
              <a:t>   </a:t>
            </a:r>
            <a:r>
              <a:rPr lang="en-US" altLang="en-US" sz="1800" b="0">
                <a:latin typeface="Times" pitchFamily="2" charset="0"/>
              </a:rPr>
              <a:t>PLACE(</a:t>
            </a:r>
            <a:r>
              <a:rPr lang="en-US" altLang="en-US" sz="1800" b="0" i="1">
                <a:latin typeface="Times" pitchFamily="2" charset="0"/>
              </a:rPr>
              <a:t>L, X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 i="1">
              <a:latin typeface="Times" pitchFamily="2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 i="1">
              <a:latin typeface="Times" pitchFamily="2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 i="1">
              <a:latin typeface="Times" pitchFamily="2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b="0">
              <a:latin typeface="Times" pitchFamily="2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[ </a:t>
            </a:r>
            <a:r>
              <a:rPr lang="el-GR" altLang="en-US" sz="1800" b="0">
                <a:latin typeface="Times" pitchFamily="2" charset="0"/>
              </a:rPr>
              <a:t>Δ</a:t>
            </a:r>
            <a:r>
              <a:rPr lang="en-US" altLang="en-US" sz="1800" b="0">
                <a:latin typeface="Times" pitchFamily="2" charset="0"/>
              </a:rPr>
              <a:t>(y, X): multiset of distances between a point y and all points in set X]</a:t>
            </a:r>
          </a:p>
        </p:txBody>
      </p:sp>
      <p:sp>
        <p:nvSpPr>
          <p:cNvPr id="45058" name="TextBox 4">
            <a:extLst>
              <a:ext uri="{FF2B5EF4-FFF2-40B4-BE49-F238E27FC236}">
                <a16:creationId xmlns:a16="http://schemas.microsoft.com/office/drawing/2014/main" id="{13256F48-6635-4C46-B64F-0FAF17153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295400"/>
            <a:ext cx="4800600" cy="5078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>
                <a:solidFill>
                  <a:schemeClr val="tx1"/>
                </a:solidFill>
                <a:latin typeface="Arial Black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PLACE(</a:t>
            </a:r>
            <a:r>
              <a:rPr lang="en-US" altLang="en-US" sz="1800" b="0" i="1">
                <a:latin typeface="Times" pitchFamily="2" charset="0"/>
              </a:rPr>
              <a:t>L, X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if </a:t>
            </a:r>
            <a:r>
              <a:rPr lang="en-US" altLang="en-US" sz="1800" b="0" i="1">
                <a:latin typeface="Times" pitchFamily="2" charset="0"/>
              </a:rPr>
              <a:t>L</a:t>
            </a:r>
            <a:r>
              <a:rPr lang="en-US" altLang="en-US" sz="1800" b="0">
                <a:latin typeface="Times" pitchFamily="2" charset="0"/>
              </a:rPr>
              <a:t> is empty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output </a:t>
            </a:r>
            <a:r>
              <a:rPr lang="en-US" altLang="en-US" sz="1800" b="0" i="1">
                <a:latin typeface="Times" pitchFamily="2" charset="0"/>
              </a:rPr>
              <a:t>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return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</a:t>
            </a:r>
            <a:r>
              <a:rPr lang="en-US" altLang="en-US" sz="1800" b="0" i="1">
                <a:latin typeface="Times" pitchFamily="2" charset="0"/>
              </a:rPr>
              <a:t>y</a:t>
            </a:r>
            <a:r>
              <a:rPr lang="en-US" altLang="en-US" sz="1800" b="0">
                <a:latin typeface="Times" pitchFamily="2" charset="0"/>
              </a:rPr>
              <a:t> </a:t>
            </a:r>
            <a:r>
              <a:rPr lang="en-US" altLang="en-US" sz="1800" b="0" i="1">
                <a:latin typeface="Times" pitchFamily="2" charset="0"/>
              </a:rPr>
              <a:t>← max(L)</a:t>
            </a:r>
            <a:endParaRPr lang="en-US" altLang="en-US" sz="1800" b="0">
              <a:latin typeface="Times" pitchFamily="2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if </a:t>
            </a:r>
            <a:r>
              <a:rPr lang="el-GR" altLang="en-US" sz="1800" b="0" i="1">
                <a:latin typeface="Times" pitchFamily="2" charset="0"/>
              </a:rPr>
              <a:t>Δ</a:t>
            </a:r>
            <a:r>
              <a:rPr lang="en-US" altLang="en-US" sz="1800" b="0" i="1">
                <a:latin typeface="Times" pitchFamily="2" charset="0"/>
              </a:rPr>
              <a:t>(y, X) </a:t>
            </a:r>
            <a:r>
              <a:rPr lang="en-US" altLang="en-US" sz="1800" b="0">
                <a:latin typeface="Times" pitchFamily="2" charset="0"/>
              </a:rPr>
              <a:t>is subset of </a:t>
            </a:r>
            <a:r>
              <a:rPr lang="en-US" altLang="en-US" sz="1800" b="0" i="1">
                <a:latin typeface="Times" pitchFamily="2" charset="0"/>
              </a:rPr>
              <a:t>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add </a:t>
            </a:r>
            <a:r>
              <a:rPr lang="en-US" altLang="en-US" sz="1800" b="0" i="1">
                <a:latin typeface="Times" pitchFamily="2" charset="0"/>
              </a:rPr>
              <a:t>y</a:t>
            </a:r>
            <a:r>
              <a:rPr lang="en-US" altLang="en-US" sz="1800" b="0">
                <a:latin typeface="Times" pitchFamily="2" charset="0"/>
              </a:rPr>
              <a:t> to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 and remove </a:t>
            </a:r>
            <a:r>
              <a:rPr lang="el-GR" altLang="en-US" sz="1800" b="0" i="1">
                <a:latin typeface="Times" pitchFamily="2" charset="0"/>
              </a:rPr>
              <a:t>Δ</a:t>
            </a:r>
            <a:r>
              <a:rPr lang="en-US" altLang="en-US" sz="1800" b="0" i="1">
                <a:latin typeface="Times" pitchFamily="2" charset="0"/>
              </a:rPr>
              <a:t>(y, X)  </a:t>
            </a:r>
            <a:r>
              <a:rPr lang="en-US" altLang="en-US" sz="1800" b="0">
                <a:latin typeface="Times" pitchFamily="2" charset="0"/>
              </a:rPr>
              <a:t>from </a:t>
            </a:r>
            <a:r>
              <a:rPr lang="en-US" altLang="en-US" sz="1800" b="0" i="1">
                <a:latin typeface="Times" pitchFamily="2" charset="0"/>
              </a:rPr>
              <a:t>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PLACE(</a:t>
            </a:r>
            <a:r>
              <a:rPr lang="en-US" altLang="en-US" sz="1800" b="0" i="1">
                <a:latin typeface="Times" pitchFamily="2" charset="0"/>
              </a:rPr>
              <a:t>L</a:t>
            </a:r>
            <a:r>
              <a:rPr lang="en-US" altLang="en-US" sz="1800" b="0">
                <a:latin typeface="Times" pitchFamily="2" charset="0"/>
              </a:rPr>
              <a:t>,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remove </a:t>
            </a:r>
            <a:r>
              <a:rPr lang="en-US" altLang="en-US" sz="1800" b="0" i="1">
                <a:latin typeface="Times" pitchFamily="2" charset="0"/>
              </a:rPr>
              <a:t>y</a:t>
            </a:r>
            <a:r>
              <a:rPr lang="en-US" altLang="en-US" sz="1800" b="0">
                <a:latin typeface="Times" pitchFamily="2" charset="0"/>
              </a:rPr>
              <a:t> from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        add</a:t>
            </a:r>
            <a:r>
              <a:rPr lang="el-GR" altLang="en-US" sz="1800" b="0">
                <a:latin typeface="Times" pitchFamily="2" charset="0"/>
              </a:rPr>
              <a:t> Δ</a:t>
            </a:r>
            <a:r>
              <a:rPr lang="en-US" altLang="en-US" sz="1800" b="0">
                <a:latin typeface="Times" pitchFamily="2" charset="0"/>
              </a:rPr>
              <a:t>(</a:t>
            </a:r>
            <a:r>
              <a:rPr lang="en-US" altLang="en-US" sz="1800" b="0" i="1">
                <a:latin typeface="Times" pitchFamily="2" charset="0"/>
              </a:rPr>
              <a:t>y</a:t>
            </a:r>
            <a:r>
              <a:rPr lang="en-US" altLang="en-US" sz="1800" b="0">
                <a:latin typeface="Times" pitchFamily="2" charset="0"/>
              </a:rPr>
              <a:t>,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)  to </a:t>
            </a:r>
            <a:r>
              <a:rPr lang="en-US" altLang="en-US" sz="1800" b="0" i="1">
                <a:latin typeface="Times" pitchFamily="2" charset="0"/>
              </a:rPr>
              <a:t>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if </a:t>
            </a:r>
            <a:r>
              <a:rPr lang="el-GR" altLang="en-US" sz="1800" b="0">
                <a:latin typeface="Times" pitchFamily="2" charset="0"/>
              </a:rPr>
              <a:t>Δ</a:t>
            </a:r>
            <a:r>
              <a:rPr lang="en-US" altLang="en-US" sz="1800" b="0" i="1">
                <a:latin typeface="Times" pitchFamily="2" charset="0"/>
              </a:rPr>
              <a:t>(width-y, X</a:t>
            </a:r>
            <a:r>
              <a:rPr lang="en-US" altLang="en-US" sz="1800" b="0">
                <a:latin typeface="Times" pitchFamily="2" charset="0"/>
              </a:rPr>
              <a:t>)  is subset of </a:t>
            </a:r>
            <a:r>
              <a:rPr lang="en-US" altLang="en-US" sz="1800" b="0" i="1">
                <a:latin typeface="Times" pitchFamily="2" charset="0"/>
              </a:rPr>
              <a:t>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add </a:t>
            </a:r>
            <a:r>
              <a:rPr lang="en-US" altLang="en-US" sz="1800" b="0" i="1">
                <a:latin typeface="Times" pitchFamily="2" charset="0"/>
              </a:rPr>
              <a:t>width-y</a:t>
            </a:r>
            <a:r>
              <a:rPr lang="en-US" altLang="en-US" sz="1800" b="0">
                <a:latin typeface="Times" pitchFamily="2" charset="0"/>
              </a:rPr>
              <a:t> to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	remove</a:t>
            </a:r>
            <a:r>
              <a:rPr lang="el-GR" altLang="en-US" sz="1800" b="0">
                <a:latin typeface="Times" pitchFamily="2" charset="0"/>
              </a:rPr>
              <a:t> </a:t>
            </a:r>
            <a:r>
              <a:rPr lang="en-US" altLang="en-US" sz="1800" b="0">
                <a:latin typeface="Times" pitchFamily="2" charset="0"/>
              </a:rPr>
              <a:t> </a:t>
            </a:r>
            <a:r>
              <a:rPr lang="el-GR" altLang="en-US" sz="1800" b="0">
                <a:latin typeface="Times" pitchFamily="2" charset="0"/>
              </a:rPr>
              <a:t>Δ</a:t>
            </a:r>
            <a:r>
              <a:rPr lang="en-US" altLang="en-US" sz="1800" b="0" i="1">
                <a:latin typeface="Times" pitchFamily="2" charset="0"/>
              </a:rPr>
              <a:t>(width-y, X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PLACE(</a:t>
            </a:r>
            <a:r>
              <a:rPr lang="en-US" altLang="en-US" sz="1800" b="0" i="1">
                <a:latin typeface="Times" pitchFamily="2" charset="0"/>
              </a:rPr>
              <a:t>L, X</a:t>
            </a:r>
            <a:r>
              <a:rPr lang="en-US" altLang="en-US" sz="1800" b="0">
                <a:latin typeface="Times" pitchFamily="2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remove </a:t>
            </a:r>
            <a:r>
              <a:rPr lang="en-US" altLang="en-US" sz="1800" b="0" i="1">
                <a:latin typeface="Times" pitchFamily="2" charset="0"/>
              </a:rPr>
              <a:t>width-y</a:t>
            </a:r>
            <a:r>
              <a:rPr lang="en-US" altLang="en-US" sz="1800" b="0">
                <a:latin typeface="Times" pitchFamily="2" charset="0"/>
              </a:rPr>
              <a:t> from </a:t>
            </a:r>
            <a:r>
              <a:rPr lang="en-US" altLang="en-US" sz="1800" b="0" i="1">
                <a:latin typeface="Times" pitchFamily="2" charset="0"/>
              </a:rPr>
              <a:t>X</a:t>
            </a:r>
            <a:r>
              <a:rPr lang="en-US" altLang="en-US" sz="1800" b="0">
                <a:latin typeface="Times" pitchFamily="2" charset="0"/>
              </a:rPr>
              <a:t>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               add</a:t>
            </a:r>
            <a:r>
              <a:rPr lang="el-GR" altLang="en-US" sz="1800" b="0">
                <a:latin typeface="Times" pitchFamily="2" charset="0"/>
              </a:rPr>
              <a:t> Δ</a:t>
            </a:r>
            <a:r>
              <a:rPr lang="en-US" altLang="en-US" sz="1800" b="0" i="1">
                <a:latin typeface="Times" pitchFamily="2" charset="0"/>
              </a:rPr>
              <a:t>(width-y, X</a:t>
            </a:r>
            <a:r>
              <a:rPr lang="en-US" altLang="en-US" sz="1800" b="0">
                <a:latin typeface="Times" pitchFamily="2" charset="0"/>
              </a:rPr>
              <a:t>)  to </a:t>
            </a:r>
            <a:r>
              <a:rPr lang="en-US" altLang="en-US" sz="1800" b="0" i="1">
                <a:latin typeface="Times" pitchFamily="2" charset="0"/>
              </a:rPr>
              <a:t>L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return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0">
                <a:latin typeface="Times" pitchFamily="2" charset="0"/>
              </a:rPr>
              <a:t>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0080"/>
      </a:accent1>
      <a:accent2>
        <a:srgbClr val="9999CC"/>
      </a:accent2>
      <a:accent3>
        <a:srgbClr val="FFFFFF"/>
      </a:accent3>
      <a:accent4>
        <a:srgbClr val="000000"/>
      </a:accent4>
      <a:accent5>
        <a:srgbClr val="AAAAC0"/>
      </a:accent5>
      <a:accent6>
        <a:srgbClr val="8A8AB9"/>
      </a:accent6>
      <a:hlink>
        <a:srgbClr val="CCCCE6"/>
      </a:hlink>
      <a:folHlink>
        <a:srgbClr val="B2B2B2"/>
      </a:folHlink>
    </a:clrScheme>
    <a:fontScheme name="Pixel">
      <a:majorFont>
        <a:latin typeface="Arial Black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Pixel 1">
        <a:dk1>
          <a:srgbClr val="666699"/>
        </a:dk1>
        <a:lt1>
          <a:srgbClr val="FFFFFF"/>
        </a:lt1>
        <a:dk2>
          <a:srgbClr val="000066"/>
        </a:dk2>
        <a:lt2>
          <a:srgbClr val="FFFFFF"/>
        </a:lt2>
        <a:accent1>
          <a:srgbClr val="0066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AAB8FF"/>
        </a:accent5>
        <a:accent6>
          <a:srgbClr val="2D2DE7"/>
        </a:accent6>
        <a:hlink>
          <a:srgbClr val="0000C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0000"/>
        </a:dk1>
        <a:lt1>
          <a:srgbClr val="FFFFFF"/>
        </a:lt1>
        <a:dk2>
          <a:srgbClr val="334B49"/>
        </a:dk2>
        <a:lt2>
          <a:srgbClr val="FFFFFF"/>
        </a:lt2>
        <a:accent1>
          <a:srgbClr val="009999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ACACA"/>
        </a:accent5>
        <a:accent6>
          <a:srgbClr val="007373"/>
        </a:accent6>
        <a:hlink>
          <a:srgbClr val="00666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FF9900"/>
        </a:accent1>
        <a:accent2>
          <a:srgbClr val="FCB138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4A032"/>
        </a:accent6>
        <a:hlink>
          <a:srgbClr val="FCC66E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440044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B0AAB0"/>
        </a:accent5>
        <a:accent6>
          <a:srgbClr val="6D0466"/>
        </a:accent6>
        <a:hlink>
          <a:srgbClr val="9F839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5">
        <a:dk1>
          <a:srgbClr val="000000"/>
        </a:dk1>
        <a:lt1>
          <a:srgbClr val="FFFFFF"/>
        </a:lt1>
        <a:dk2>
          <a:srgbClr val="FFFFFF"/>
        </a:dk2>
        <a:lt2>
          <a:srgbClr val="666699"/>
        </a:lt2>
        <a:accent1>
          <a:srgbClr val="779F92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BDCDC7"/>
        </a:accent5>
        <a:accent6>
          <a:srgbClr val="8EB0C3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6">
        <a:dk1>
          <a:srgbClr val="6A0000"/>
        </a:dk1>
        <a:lt1>
          <a:srgbClr val="FFFFFF"/>
        </a:lt1>
        <a:dk2>
          <a:srgbClr val="FFFFFF"/>
        </a:dk2>
        <a:lt2>
          <a:srgbClr val="666699"/>
        </a:lt2>
        <a:accent1>
          <a:srgbClr val="CC3300"/>
        </a:accent1>
        <a:accent2>
          <a:srgbClr val="CC6600"/>
        </a:accent2>
        <a:accent3>
          <a:srgbClr val="FFFFFF"/>
        </a:accent3>
        <a:accent4>
          <a:srgbClr val="590000"/>
        </a:accent4>
        <a:accent5>
          <a:srgbClr val="E2ADAA"/>
        </a:accent5>
        <a:accent6>
          <a:srgbClr val="B95C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7">
        <a:dk1>
          <a:srgbClr val="4F4F77"/>
        </a:dk1>
        <a:lt1>
          <a:srgbClr val="FFFFFF"/>
        </a:lt1>
        <a:dk2>
          <a:srgbClr val="4A7911"/>
        </a:dk2>
        <a:lt2>
          <a:srgbClr val="FFFFFF"/>
        </a:lt2>
        <a:accent1>
          <a:srgbClr val="336600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FFFFFF"/>
        </a:dk2>
        <a:lt2>
          <a:srgbClr val="4F4F77"/>
        </a:lt2>
        <a:accent1>
          <a:srgbClr val="3366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ADB8AA"/>
        </a:accent5>
        <a:accent6>
          <a:srgbClr val="5C8A00"/>
        </a:accent6>
        <a:hlink>
          <a:srgbClr val="99CC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8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8080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0C0"/>
        </a:accent5>
        <a:accent6>
          <a:srgbClr val="008A8A"/>
        </a:accent6>
        <a:hlink>
          <a:srgbClr val="70CAC6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0">
        <a:dk1>
          <a:srgbClr val="4F4F77"/>
        </a:dk1>
        <a:lt1>
          <a:srgbClr val="FFFFFF"/>
        </a:lt1>
        <a:dk2>
          <a:srgbClr val="330000"/>
        </a:dk2>
        <a:lt2>
          <a:srgbClr val="FFFFFF"/>
        </a:lt2>
        <a:accent1>
          <a:srgbClr val="822504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C1ACAA"/>
        </a:accent5>
        <a:accent6>
          <a:srgbClr val="8F2505"/>
        </a:accent6>
        <a:hlink>
          <a:srgbClr val="7C0704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1">
        <a:dk1>
          <a:srgbClr val="333333"/>
        </a:dk1>
        <a:lt1>
          <a:srgbClr val="FFFFFF"/>
        </a:lt1>
        <a:dk2>
          <a:srgbClr val="333399"/>
        </a:dk2>
        <a:lt2>
          <a:srgbClr val="FFFFFF"/>
        </a:lt2>
        <a:accent1>
          <a:srgbClr val="006699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B8CA"/>
        </a:accent5>
        <a:accent6>
          <a:srgbClr val="02799E"/>
        </a:accent6>
        <a:hlink>
          <a:srgbClr val="6699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0080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AAAAC0"/>
        </a:accent5>
        <a:accent6>
          <a:srgbClr val="8A8AB9"/>
        </a:accent6>
        <a:hlink>
          <a:srgbClr val="CCCCE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IntroductionToProgramming</Template>
  <TotalTime>3157</TotalTime>
  <Words>1083</Words>
  <Application>Microsoft Macintosh PowerPoint</Application>
  <PresentationFormat>On-screen Show (4:3)</PresentationFormat>
  <Paragraphs>171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Franklin Gothic Book</vt:lpstr>
      <vt:lpstr>Helvetica Neue</vt:lpstr>
      <vt:lpstr>Times</vt:lpstr>
      <vt:lpstr>Times New Roman</vt:lpstr>
      <vt:lpstr>Wingdings</vt:lpstr>
      <vt:lpstr>Pixel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Georgia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CS1315: Introduction to Media Computation</dc:title>
  <dc:creator>Mark Guzdial</dc:creator>
  <cp:lastModifiedBy>Ryan Balachandran</cp:lastModifiedBy>
  <cp:revision>182</cp:revision>
  <dcterms:created xsi:type="dcterms:W3CDTF">2003-01-10T19:16:18Z</dcterms:created>
  <dcterms:modified xsi:type="dcterms:W3CDTF">2021-03-29T17:24:58Z</dcterms:modified>
</cp:coreProperties>
</file>